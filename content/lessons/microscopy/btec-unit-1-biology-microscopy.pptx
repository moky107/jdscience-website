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7863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796B"/>
                </a:solidFill>
                <a:latin typeface="Calibri"/>
              </a:rPr>
              <a:t>BTEC Level 3  ·  Applied Science  ·  Unit 1  ·  Biology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804672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 i="0" a:ea="Calibri">
                <a:solidFill>
                  <a:srgbClr val="004D40"/>
                </a:solidFill>
                <a:latin typeface="Calibri"/>
              </a:rPr>
              <a:t>BTEC Unit 1 Biology: Microscopy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786384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 a:ea="Calibri">
                <a:solidFill>
                  <a:srgbClr val="475569"/>
                </a:solidFill>
                <a:latin typeface="Calibri"/>
              </a:rPr>
              <a:t>Light and electron microscopes, magnification, resolution and measuring cells.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23560"/>
            <a:ext cx="7863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 a:ea="Calibri">
                <a:solidFill>
                  <a:srgbClr val="009688"/>
                </a:solidFill>
                <a:latin typeface="Calibri"/>
              </a:rPr>
              <a:t>PowerPoint teaching resource</a:t>
            </a:r>
          </a:p>
        </p:txBody>
      </p:sp>
      <p:pic>
        <p:nvPicPr>
          <p:cNvPr id="8" name="Picture 7" descr="light-microsco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1554480"/>
            <a:ext cx="2926080" cy="2926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jdscience-foote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Microscopy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  /  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 i="0" a:ea="Calibri">
                <a:solidFill>
                  <a:srgbClr val="004D40"/>
                </a:solidFill>
                <a:latin typeface="Calibri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475569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11155680" cy="67665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17904"/>
            <a:ext cx="384048" cy="384048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54480"/>
            <a:ext cx="384048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 a:ea="Calibri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536192"/>
            <a:ext cx="1014984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 a:ea="Calibri">
                <a:solidFill>
                  <a:srgbClr val="0F172A"/>
                </a:solidFill>
                <a:latin typeface="Calibri"/>
              </a:rPr>
              <a:t>Describe how a light microscope forms an image and name its main parts.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48840"/>
            <a:ext cx="11155680" cy="67665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295144"/>
            <a:ext cx="384048" cy="384048"/>
          </a:xfrm>
          <a:prstGeom prst="round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331720"/>
            <a:ext cx="384048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 a:ea="Calibri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313432"/>
            <a:ext cx="1014984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 a:ea="Calibri">
                <a:solidFill>
                  <a:srgbClr val="0F172A"/>
                </a:solidFill>
                <a:latin typeface="Calibri"/>
              </a:rPr>
              <a:t>Distinguish magnification from resolution.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926080"/>
            <a:ext cx="11155680" cy="67665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" y="3072384"/>
            <a:ext cx="384048" cy="384048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108960"/>
            <a:ext cx="384048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 a:ea="Calibri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090672"/>
            <a:ext cx="1014984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 a:ea="Calibri">
                <a:solidFill>
                  <a:srgbClr val="0F172A"/>
                </a:solidFill>
                <a:latin typeface="Calibri"/>
              </a:rPr>
              <a:t>Calculate magnification, actual size and image size using the standard triangle.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703320"/>
            <a:ext cx="11155680" cy="67665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" y="3849624"/>
            <a:ext cx="384048" cy="384048"/>
          </a:xfrm>
          <a:prstGeom prst="round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886200"/>
            <a:ext cx="384048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 a:ea="Calibri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867912"/>
            <a:ext cx="1014984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 a:ea="Calibri">
                <a:solidFill>
                  <a:srgbClr val="0F172A"/>
                </a:solidFill>
                <a:latin typeface="Calibri"/>
              </a:rPr>
              <a:t>Compare light and electron microscopes in terms of resolution, magnification and specimen preparation.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480560"/>
            <a:ext cx="11155680" cy="67665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8368" y="4626864"/>
            <a:ext cx="384048" cy="384048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4663440"/>
            <a:ext cx="384048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 a:ea="Calibri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645152"/>
            <a:ext cx="1014984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 a:ea="Calibri">
                <a:solidFill>
                  <a:srgbClr val="0F172A"/>
                </a:solidFill>
                <a:latin typeface="Calibri"/>
              </a:rPr>
              <a:t>Choose an appropriate instrument for a stated observation.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Microscopy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2  /  31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56032"/>
            <a:ext cx="3108960" cy="329184"/>
          </a:xfrm>
          <a:prstGeom prst="round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 a:ea="Calibri">
                <a:solidFill>
                  <a:srgbClr val="FFFFFF"/>
                </a:solidFill>
                <a:latin typeface="Calibri"/>
              </a:rPr>
              <a:t>DO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Prior knowledge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556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 i="0" a:ea="Calibri">
                <a:solidFill>
                  <a:srgbClr val="0F172A"/>
                </a:solidFill>
                <a:latin typeface="Calibri"/>
              </a:rPr>
              <a:t>•  Which knob do you use first when focusing a light microscope — coarse or fine?</a:t>
            </a:r>
          </a:p>
          <a:p>
            <a:pPr algn="l">
              <a:spcAft>
                <a:spcPts val="1000"/>
              </a:spcAft>
            </a:pPr>
            <a:r>
              <a:rPr sz="1800" b="0" i="0" a:ea="Calibri">
                <a:solidFill>
                  <a:srgbClr val="0F172A"/>
                </a:solidFill>
                <a:latin typeface="Calibri"/>
              </a:rPr>
              <a:t>•  Why is a stain often used on a slide?</a:t>
            </a:r>
          </a:p>
          <a:p>
            <a:pPr algn="l">
              <a:spcAft>
                <a:spcPts val="1000"/>
              </a:spcAft>
            </a:pPr>
            <a:r>
              <a:rPr sz="1800" b="0" i="0" a:ea="Calibri">
                <a:solidFill>
                  <a:srgbClr val="0F172A"/>
                </a:solidFill>
                <a:latin typeface="Calibri"/>
              </a:rPr>
              <a:t>•  If a cell is 25 µm long and the image is 25 mm long, what is the magnification?</a:t>
            </a:r>
          </a:p>
          <a:p>
            <a:pPr algn="l">
              <a:spcAft>
                <a:spcPts val="1000"/>
              </a:spcAft>
            </a:pPr>
            <a:r>
              <a:rPr sz="1800" b="0" i="0" a:ea="Calibri">
                <a:solidFill>
                  <a:srgbClr val="0F172A"/>
                </a:solidFill>
                <a:latin typeface="Calibri"/>
              </a:rPr>
              <a:t>•  Which can see viruses more clearly — a school light microscope or an electron microscope?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989320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 a:ea="Calibri">
                <a:solidFill>
                  <a:srgbClr val="9F1239"/>
                </a:solidFill>
                <a:latin typeface="Calibri"/>
              </a:rPr>
              <a:t>Think first — answers are on the next slide.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Microscopy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3  /  31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56032"/>
            <a:ext cx="2194560" cy="329184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2194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 a:ea="Calibri">
                <a:solidFill>
                  <a:srgbClr val="FFFFFF"/>
                </a:solidFill>
                <a:latin typeface="Calibri"/>
              </a:rPr>
              <a:t>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Retrieval answers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 i="0" a:ea="Calibri">
                <a:solidFill>
                  <a:srgbClr val="0F172A"/>
                </a:solidFill>
                <a:latin typeface="Calibri"/>
              </a:rPr>
              <a:t>•  Coarse focus first with the lowest-power objective, then fine focus.</a:t>
            </a:r>
          </a:p>
          <a:p>
            <a:pPr algn="l">
              <a:spcAft>
                <a:spcPts val="1000"/>
              </a:spcAft>
            </a:pPr>
            <a:r>
              <a:rPr sz="1800" b="0" i="0" a:ea="Calibri">
                <a:solidFill>
                  <a:srgbClr val="0F172A"/>
                </a:solidFill>
                <a:latin typeface="Calibri"/>
              </a:rPr>
              <a:t>•  To increase contrast so structures are visible.</a:t>
            </a:r>
          </a:p>
          <a:p>
            <a:pPr algn="l">
              <a:spcAft>
                <a:spcPts val="1000"/>
              </a:spcAft>
            </a:pPr>
            <a:r>
              <a:rPr sz="1800" b="0" i="0" a:ea="Calibri">
                <a:solidFill>
                  <a:srgbClr val="0F172A"/>
                </a:solidFill>
                <a:latin typeface="Calibri"/>
              </a:rPr>
              <a:t>•  25 mm = 25 000 µm. Magnification = 25 000 / 25 = ×1000.</a:t>
            </a:r>
          </a:p>
          <a:p>
            <a:pPr algn="l">
              <a:spcAft>
                <a:spcPts val="1000"/>
              </a:spcAft>
            </a:pPr>
            <a:r>
              <a:rPr sz="1800" b="0" i="0" a:ea="Calibri">
                <a:solidFill>
                  <a:srgbClr val="0F172A"/>
                </a:solidFill>
                <a:latin typeface="Calibri"/>
              </a:rPr>
              <a:t>•  An electron microscope — viruses are usually below the resolution of a light microscope.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Microscopy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4  /  31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69848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 a:ea="Calibri">
                <a:solidFill>
                  <a:srgbClr val="FFFFFF"/>
                </a:solidFill>
                <a:latin typeface="Calibri"/>
              </a:rPr>
              <a:t>The light microscope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6984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 i="0" a:ea="Calibri">
                <a:solidFill>
                  <a:srgbClr val="CCFBF1"/>
                </a:solidFill>
                <a:latin typeface="Calibri"/>
              </a:rPr>
              <a:t>Rays, lenses and contrast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Microscopy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5  /  31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 i="0" a:ea="Calibri">
                <a:solidFill>
                  <a:srgbClr val="004D40"/>
                </a:solidFill>
                <a:latin typeface="Calibri"/>
              </a:rPr>
              <a:t>Light microscope schematic</a:t>
            </a:r>
          </a:p>
        </p:txBody>
      </p:sp>
      <p:pic>
        <p:nvPicPr>
          <p:cNvPr id="4" name="Picture 3" descr="light-microsco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603504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75120" y="11430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 i="0" a:ea="Calibri">
                <a:solidFill>
                  <a:srgbClr val="0F172A"/>
                </a:solidFill>
                <a:latin typeface="Calibri"/>
              </a:rPr>
              <a:t>•  The lamp provides light that passes through the specimen.</a:t>
            </a:r>
          </a:p>
          <a:p>
            <a:pPr algn="l">
              <a:spcAft>
                <a:spcPts val="1000"/>
              </a:spcAft>
            </a:pPr>
            <a:r>
              <a:rPr sz="1700" b="0" i="0" a:ea="Calibri">
                <a:solidFill>
                  <a:srgbClr val="0F172A"/>
                </a:solidFill>
                <a:latin typeface="Calibri"/>
              </a:rPr>
              <a:t>•  The objective lens produces a magnified real image.</a:t>
            </a:r>
          </a:p>
          <a:p>
            <a:pPr algn="l">
              <a:spcAft>
                <a:spcPts val="1000"/>
              </a:spcAft>
            </a:pPr>
            <a:r>
              <a:rPr sz="1700" b="0" i="0" a:ea="Calibri">
                <a:solidFill>
                  <a:srgbClr val="0F172A"/>
                </a:solidFill>
                <a:latin typeface="Calibri"/>
              </a:rPr>
              <a:t>•  The eyepiece magnifies that image again.</a:t>
            </a:r>
          </a:p>
          <a:p>
            <a:pPr algn="l">
              <a:spcAft>
                <a:spcPts val="1000"/>
              </a:spcAft>
            </a:pPr>
            <a:r>
              <a:rPr sz="1700" b="0" i="0" a:ea="Calibri">
                <a:solidFill>
                  <a:srgbClr val="0F172A"/>
                </a:solidFill>
                <a:latin typeface="Calibri"/>
              </a:rPr>
              <a:t>•  Total magnification = eyepiece × objective.</a:t>
            </a:r>
          </a:p>
          <a:p>
            <a:pPr algn="l">
              <a:spcAft>
                <a:spcPts val="1000"/>
              </a:spcAft>
            </a:pPr>
            <a:r>
              <a:rPr sz="1700" b="0" i="0" a:ea="Calibri">
                <a:solidFill>
                  <a:srgbClr val="0F172A"/>
                </a:solidFill>
                <a:latin typeface="Calibri"/>
              </a:rPr>
              <a:t>•  The stage holds the slide; the coarse and fine wheels focus.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715000"/>
            <a:ext cx="6035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475569"/>
                </a:solidFill>
                <a:latin typeface="Calibri"/>
              </a:rPr>
              <a:t>Original apparatus diagram for teaching labels.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jdscience-foote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Microscopy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6  /  31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 i="0" a:ea="Calibri">
                <a:solidFill>
                  <a:srgbClr val="004D40"/>
                </a:solidFill>
                <a:latin typeface="Calibri"/>
              </a:rPr>
              <a:t>Using a light microscope safely and well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Start with the lowest-power objective and the slide central on the stage.</a:t>
            </a:r>
          </a:p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Move the objective close to the slide while watching from the side.</a:t>
            </a:r>
          </a:p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Focus away from the slide using the coarse wheel, then refine with fine focus.</a:t>
            </a:r>
          </a:p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Increase objective power only after the image is sharp.</a:t>
            </a:r>
          </a:p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Use a coverslip to protect lenses and flatten the specimen. Wipe spills; never use the coarse wheel on high power.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Microscopy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7  /  31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 i="0" a:ea="Calibri">
                <a:solidFill>
                  <a:srgbClr val="004D40"/>
                </a:solidFill>
                <a:latin typeface="Calibri"/>
              </a:rPr>
              <a:t>Magnification versus resolution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5532120" cy="493776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91440" cy="49377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 a:ea="Calibri">
                <a:solidFill>
                  <a:srgbClr val="004D40"/>
                </a:solidFill>
                <a:latin typeface="Calibri"/>
              </a:rPr>
              <a:t>Magnification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 i="0" a:ea="Calibri">
                <a:solidFill>
                  <a:srgbClr val="0F172A"/>
                </a:solidFill>
                <a:latin typeface="Calibri"/>
              </a:rPr>
              <a:t>•  How many times larger the image is than the real object</a:t>
            </a:r>
          </a:p>
          <a:p>
            <a:pPr algn="l">
              <a:spcAft>
                <a:spcPts val="1000"/>
              </a:spcAft>
            </a:pPr>
            <a:r>
              <a:rPr sz="1600" b="0" i="0" a:ea="Calibri">
                <a:solidFill>
                  <a:srgbClr val="0F172A"/>
                </a:solidFill>
                <a:latin typeface="Calibri"/>
              </a:rPr>
              <a:t>•  M = image size / actual size</a:t>
            </a:r>
          </a:p>
          <a:p>
            <a:pPr algn="l">
              <a:spcAft>
                <a:spcPts val="1000"/>
              </a:spcAft>
            </a:pPr>
            <a:r>
              <a:rPr sz="1600" b="0" i="0" a:ea="Calibri">
                <a:solidFill>
                  <a:srgbClr val="0F172A"/>
                </a:solidFill>
                <a:latin typeface="Calibri"/>
              </a:rPr>
              <a:t>•  Can be increased with stronger lenses</a:t>
            </a:r>
          </a:p>
          <a:p>
            <a:pPr algn="l">
              <a:spcAft>
                <a:spcPts val="1000"/>
              </a:spcAft>
            </a:pPr>
            <a:r>
              <a:rPr sz="1600" b="0" i="0" a:ea="Calibri">
                <a:solidFill>
                  <a:srgbClr val="0F172A"/>
                </a:solidFill>
                <a:latin typeface="Calibri"/>
              </a:rPr>
              <a:t>•  Empty magnification adds no new detail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51560"/>
            <a:ext cx="5532120" cy="49377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051560"/>
            <a:ext cx="91440" cy="4937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23444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 a:ea="Calibri">
                <a:solidFill>
                  <a:srgbClr val="1E3A5F"/>
                </a:solidFill>
                <a:latin typeface="Calibri"/>
              </a:rPr>
              <a:t>Resolution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73736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 i="0" a:ea="Calibri">
                <a:solidFill>
                  <a:srgbClr val="0F172A"/>
                </a:solidFill>
                <a:latin typeface="Calibri"/>
              </a:rPr>
              <a:t>•  The smallest distance between two points that can still be seen as separate</a:t>
            </a:r>
          </a:p>
          <a:p>
            <a:pPr algn="l">
              <a:spcAft>
                <a:spcPts val="1000"/>
              </a:spcAft>
            </a:pPr>
            <a:r>
              <a:rPr sz="1600" b="0" i="0" a:ea="Calibri">
                <a:solidFill>
                  <a:srgbClr val="0F172A"/>
                </a:solidFill>
                <a:latin typeface="Calibri"/>
              </a:rPr>
              <a:t>•  Limited by the wavelength of the radiation used</a:t>
            </a:r>
          </a:p>
          <a:p>
            <a:pPr algn="l">
              <a:spcAft>
                <a:spcPts val="1000"/>
              </a:spcAft>
            </a:pPr>
            <a:r>
              <a:rPr sz="1600" b="0" i="0" a:ea="Calibri">
                <a:solidFill>
                  <a:srgbClr val="0F172A"/>
                </a:solidFill>
                <a:latin typeface="Calibri"/>
              </a:rPr>
              <a:t>•  Light microscopes: about 0.2 µm</a:t>
            </a:r>
          </a:p>
          <a:p>
            <a:pPr algn="l">
              <a:spcAft>
                <a:spcPts val="1000"/>
              </a:spcAft>
            </a:pPr>
            <a:r>
              <a:rPr sz="1600" b="0" i="0" a:ea="Calibri">
                <a:solidFill>
                  <a:srgbClr val="0F172A"/>
                </a:solidFill>
                <a:latin typeface="Calibri"/>
              </a:rPr>
              <a:t>•  Electron microscopes: about 0.1 nm (much smaller)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Microscopy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8  /  31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 i="0" a:ea="Calibri">
                <a:solidFill>
                  <a:srgbClr val="004D40"/>
                </a:solidFill>
                <a:latin typeface="Calibri"/>
              </a:rPr>
              <a:t>The calculation triangle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Write every quantity in the same unit before dividing.</a:t>
            </a:r>
          </a:p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1 mm = 1000 µm. 1 µm = 1000 nm.</a:t>
            </a:r>
          </a:p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Actual size = image size / magnification.</a:t>
            </a:r>
          </a:p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Image size = actual size × magnification.</a:t>
            </a:r>
          </a:p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Show the substitution and the unit conversion — that is where marks are won.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Microscopy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9  /  31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 i="0" a:ea="Calibri">
                <a:solidFill>
                  <a:srgbClr val="004D40"/>
                </a:solidFill>
                <a:latin typeface="Calibri"/>
              </a:rPr>
              <a:t>Worked example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A mitochondrion image is 40 mm long. Magnification is ×20 000.</a:t>
            </a:r>
          </a:p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Convert 40 mm to µm: 40 × 1000 = 40 000 µm.</a:t>
            </a:r>
          </a:p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Actual size = 40 000 / 20 000 = 2 µm.</a:t>
            </a:r>
          </a:p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Check: mitochondria are typically 1–10 µm, so 2 µm is sensible.</a:t>
            </a:r>
          </a:p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If you forget to convert units, the answer will be wrong by a factor of 1000.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Microscopy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10  /  31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 i="0" a:ea="Calibri">
                <a:solidFill>
                  <a:srgbClr val="004D40"/>
                </a:solidFill>
                <a:latin typeface="Calibri"/>
              </a:rPr>
              <a:t>Worked example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A bacterium is 2.0 µm long. The drawing is 80 mm long.</a:t>
            </a:r>
          </a:p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80 mm = 80 000 µm.</a:t>
            </a:r>
          </a:p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M = 80 000 / 2.0 = ×40 000.</a:t>
            </a:r>
          </a:p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State the answer as ×40 000, not 40 000 alone.</a:t>
            </a:r>
          </a:p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Include a scale bar on drawings in practical work.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Microscopy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11  /  31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56032"/>
            <a:ext cx="3108960" cy="329184"/>
          </a:xfrm>
          <a:prstGeom prst="round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 a:ea="Calibri">
                <a:solidFill>
                  <a:srgbClr val="FFFFFF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Magnification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556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 i="0" a:ea="Calibri">
                <a:solidFill>
                  <a:srgbClr val="0F172A"/>
                </a:solidFill>
                <a:latin typeface="Calibri"/>
              </a:rPr>
              <a:t>•  Image = 15 mm, M = ×400. Find actual size in µm.</a:t>
            </a:r>
          </a:p>
          <a:p>
            <a:pPr algn="l">
              <a:spcAft>
                <a:spcPts val="1000"/>
              </a:spcAft>
            </a:pPr>
            <a:r>
              <a:rPr sz="1800" b="0" i="0" a:ea="Calibri">
                <a:solidFill>
                  <a:srgbClr val="0F172A"/>
                </a:solidFill>
                <a:latin typeface="Calibri"/>
              </a:rPr>
              <a:t>•  Actual = 8 µm, image = 4.0 cm. Find M.</a:t>
            </a:r>
          </a:p>
          <a:p>
            <a:pPr algn="l">
              <a:spcAft>
                <a:spcPts val="1000"/>
              </a:spcAft>
            </a:pPr>
            <a:r>
              <a:rPr sz="1800" b="0" i="0" a:ea="Calibri">
                <a:solidFill>
                  <a:srgbClr val="0F172A"/>
                </a:solidFill>
                <a:latin typeface="Calibri"/>
              </a:rPr>
              <a:t>•  A scale bar labelled 5 µm measures 25 mm on the page. What is 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989320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 a:ea="Calibri">
                <a:solidFill>
                  <a:srgbClr val="9F1239"/>
                </a:solidFill>
                <a:latin typeface="Calibri"/>
              </a:rPr>
              <a:t>Think first — answers are on the next slide.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Microscopy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12  /  31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56032"/>
            <a:ext cx="2194560" cy="329184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2194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 a:ea="Calibri">
                <a:solidFill>
                  <a:srgbClr val="FFFFFF"/>
                </a:solidFill>
                <a:latin typeface="Calibri"/>
              </a:rPr>
              <a:t>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Calculation answers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 i="0" a:ea="Calibri">
                <a:solidFill>
                  <a:srgbClr val="0F172A"/>
                </a:solidFill>
                <a:latin typeface="Calibri"/>
              </a:rPr>
              <a:t>•  15 mm = 15 000 µm. Actual = 15 000 / 400 = 37.5 µm.</a:t>
            </a:r>
          </a:p>
          <a:p>
            <a:pPr algn="l">
              <a:spcAft>
                <a:spcPts val="1000"/>
              </a:spcAft>
            </a:pPr>
            <a:r>
              <a:rPr sz="1800" b="0" i="0" a:ea="Calibri">
                <a:solidFill>
                  <a:srgbClr val="0F172A"/>
                </a:solidFill>
                <a:latin typeface="Calibri"/>
              </a:rPr>
              <a:t>•  4.0 cm = 40 mm = 40 000 µm. M = 40 000 / 8 = ×5000.</a:t>
            </a:r>
          </a:p>
          <a:p>
            <a:pPr algn="l">
              <a:spcAft>
                <a:spcPts val="1000"/>
              </a:spcAft>
            </a:pPr>
            <a:r>
              <a:rPr sz="1800" b="0" i="0" a:ea="Calibri">
                <a:solidFill>
                  <a:srgbClr val="0F172A"/>
                </a:solidFill>
                <a:latin typeface="Calibri"/>
              </a:rPr>
              <a:t>•  25 mm = 25 000 µm. M = 25 000 / 5 = ×5000.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Microscopy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13  /  31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69848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 a:ea="Calibri">
                <a:solidFill>
                  <a:srgbClr val="FFFFFF"/>
                </a:solidFill>
                <a:latin typeface="Calibri"/>
              </a:rPr>
              <a:t>Electron microscopy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6984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 i="0" a:ea="Calibri">
                <a:solidFill>
                  <a:srgbClr val="CCFBF1"/>
                </a:solidFill>
                <a:latin typeface="Calibri"/>
              </a:rPr>
              <a:t>Shorter wavelength, higher resolution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Microscopy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14  /  31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 i="0" a:ea="Calibri">
                <a:solidFill>
                  <a:srgbClr val="004D40"/>
                </a:solidFill>
                <a:latin typeface="Calibri"/>
              </a:rPr>
              <a:t>Transmission and scanning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TEM (transmission): electrons pass through a thin specimen; good internal detail.</a:t>
            </a:r>
          </a:p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SEM (scanning): electrons scan the surface; good 3D surface appearance.</a:t>
            </a:r>
          </a:p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Both require a vacuum, so living specimens cannot be viewed.</a:t>
            </a:r>
          </a:p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Preparation can introduce artefacts — treat images critically.</a:t>
            </a:r>
          </a:p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Colour in published electron micrographs is usually added afterwards.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Microscopy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15  /  31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 i="0" a:ea="Calibri">
                <a:solidFill>
                  <a:srgbClr val="004D40"/>
                </a:solidFill>
                <a:latin typeface="Calibri"/>
              </a:rPr>
              <a:t>Choosing an instrument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56692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07008"/>
            <a:ext cx="371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 a:ea="Calibri">
                <a:solidFill>
                  <a:srgbClr val="FFFFFF"/>
                </a:solidFill>
                <a:latin typeface="Calibri"/>
              </a:rPr>
              <a:t>Need to see…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21480" y="1207008"/>
            <a:ext cx="371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 a:ea="Calibri">
                <a:solidFill>
                  <a:srgbClr val="FFFFFF"/>
                </a:solidFill>
                <a:latin typeface="Calibri"/>
              </a:rPr>
              <a:t>Prefer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40040" y="1207008"/>
            <a:ext cx="371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 a:ea="Calibri">
                <a:solidFill>
                  <a:srgbClr val="FFFFFF"/>
                </a:solidFill>
                <a:latin typeface="Calibri"/>
              </a:rPr>
              <a:t>Why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64208"/>
            <a:ext cx="11155680" cy="566928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73936"/>
            <a:ext cx="371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 a:ea="Calibri">
                <a:solidFill>
                  <a:srgbClr val="0F172A"/>
                </a:solidFill>
                <a:latin typeface="Calibri"/>
              </a:rPr>
              <a:t>Living pond microbes swimming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21480" y="1773936"/>
            <a:ext cx="371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 a:ea="Calibri">
                <a:solidFill>
                  <a:srgbClr val="0F172A"/>
                </a:solidFill>
                <a:latin typeface="Calibri"/>
              </a:rPr>
              <a:t>Light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40040" y="1773936"/>
            <a:ext cx="371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 a:ea="Calibri">
                <a:solidFill>
                  <a:srgbClr val="0F172A"/>
                </a:solidFill>
                <a:latin typeface="Calibri"/>
              </a:rPr>
              <a:t>No vacuum; colour; movement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231136"/>
            <a:ext cx="11155680" cy="56692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340864"/>
            <a:ext cx="371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 a:ea="Calibri">
                <a:solidFill>
                  <a:srgbClr val="0F172A"/>
                </a:solidFill>
                <a:latin typeface="Calibri"/>
              </a:rPr>
              <a:t>Cristae inside a mitochondrion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21480" y="2340864"/>
            <a:ext cx="371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 a:ea="Calibri">
                <a:solidFill>
                  <a:srgbClr val="0F172A"/>
                </a:solidFill>
                <a:latin typeface="Calibri"/>
              </a:rPr>
              <a:t>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40040" y="2340864"/>
            <a:ext cx="371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 a:ea="Calibri">
                <a:solidFill>
                  <a:srgbClr val="0F172A"/>
                </a:solidFill>
                <a:latin typeface="Calibri"/>
              </a:rPr>
              <a:t>High internal resolution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798064"/>
            <a:ext cx="11155680" cy="566928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907792"/>
            <a:ext cx="371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 a:ea="Calibri">
                <a:solidFill>
                  <a:srgbClr val="0F172A"/>
                </a:solidFill>
                <a:latin typeface="Calibri"/>
              </a:rPr>
              <a:t>Surface of a pollen grain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21480" y="2907792"/>
            <a:ext cx="371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 a:ea="Calibri">
                <a:solidFill>
                  <a:srgbClr val="0F172A"/>
                </a:solidFill>
                <a:latin typeface="Calibri"/>
              </a:rPr>
              <a:t>SEM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40040" y="2907792"/>
            <a:ext cx="371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 a:ea="Calibri">
                <a:solidFill>
                  <a:srgbClr val="0F172A"/>
                </a:solidFill>
                <a:latin typeface="Calibri"/>
              </a:rPr>
              <a:t>Surface topography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364992"/>
            <a:ext cx="11155680" cy="56692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474720"/>
            <a:ext cx="371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 a:ea="Calibri">
                <a:solidFill>
                  <a:srgbClr val="0F172A"/>
                </a:solidFill>
                <a:latin typeface="Calibri"/>
              </a:rPr>
              <a:t>Nucleus of an onion cell in class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21480" y="3474720"/>
            <a:ext cx="371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 a:ea="Calibri">
                <a:solidFill>
                  <a:srgbClr val="0F172A"/>
                </a:solidFill>
                <a:latin typeface="Calibri"/>
              </a:rPr>
              <a:t>Light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40040" y="3474720"/>
            <a:ext cx="371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 a:ea="Calibri">
                <a:solidFill>
                  <a:srgbClr val="0F172A"/>
                </a:solidFill>
                <a:latin typeface="Calibri"/>
              </a:rPr>
              <a:t>Large enough; simple prep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Microscopy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16  /  31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56032"/>
            <a:ext cx="2834640" cy="329184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2834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 a:ea="Calibri">
                <a:solidFill>
                  <a:srgbClr val="FFFFFF"/>
                </a:solidFill>
                <a:latin typeface="Calibri"/>
              </a:rPr>
              <a:t>STUDENT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Unit conversions drill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0" y="713232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1" i="0" a:ea="Calibri">
                <a:solidFill>
                  <a:srgbClr val="B45309"/>
                </a:solidFill>
                <a:latin typeface="Calibri"/>
              </a:rPr>
              <a:t>8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 i="0" a:ea="Calibri">
                <a:solidFill>
                  <a:srgbClr val="0F172A"/>
                </a:solidFill>
                <a:latin typeface="Calibri"/>
              </a:rPr>
              <a:t>•  Convert 0.25 mm to µm and to nm.</a:t>
            </a:r>
          </a:p>
          <a:p>
            <a:pPr algn="l">
              <a:spcAft>
                <a:spcPts val="1000"/>
              </a:spcAft>
            </a:pPr>
            <a:r>
              <a:rPr sz="1800" b="0" i="0" a:ea="Calibri">
                <a:solidFill>
                  <a:srgbClr val="0F172A"/>
                </a:solidFill>
                <a:latin typeface="Calibri"/>
              </a:rPr>
              <a:t>•  A drawing of a 30 µm cell is 12 cm wide. Calculate M.</a:t>
            </a:r>
          </a:p>
          <a:p>
            <a:pPr algn="l">
              <a:spcAft>
                <a:spcPts val="1000"/>
              </a:spcAft>
            </a:pPr>
            <a:r>
              <a:rPr sz="1800" b="0" i="0" a:ea="Calibri">
                <a:solidFill>
                  <a:srgbClr val="0F172A"/>
                </a:solidFill>
                <a:latin typeface="Calibri"/>
              </a:rPr>
              <a:t>•  Write a two-sentence explanation of why increasing magnification alone may not reveal two close objects as separate.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Microscopy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17  /  31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56032"/>
            <a:ext cx="2194560" cy="329184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2194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 a:ea="Calibri">
                <a:solidFill>
                  <a:srgbClr val="FFFFFF"/>
                </a:solidFill>
                <a:latin typeface="Calibri"/>
              </a:rPr>
              <a:t>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Drill answers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 i="0" a:ea="Calibri">
                <a:solidFill>
                  <a:srgbClr val="0F172A"/>
                </a:solidFill>
                <a:latin typeface="Calibri"/>
              </a:rPr>
              <a:t>•  0.25 mm = 250 µm = 250 000 nm.</a:t>
            </a:r>
          </a:p>
          <a:p>
            <a:pPr algn="l">
              <a:spcAft>
                <a:spcPts val="1000"/>
              </a:spcAft>
            </a:pPr>
            <a:r>
              <a:rPr sz="1800" b="0" i="0" a:ea="Calibri">
                <a:solidFill>
                  <a:srgbClr val="0F172A"/>
                </a:solidFill>
                <a:latin typeface="Calibri"/>
              </a:rPr>
              <a:t>•  12 cm = 120 mm = 120 000 µm. M = 120 000 / 30 = ×4000.</a:t>
            </a:r>
          </a:p>
          <a:p>
            <a:pPr algn="l">
              <a:spcAft>
                <a:spcPts val="1000"/>
              </a:spcAft>
            </a:pPr>
            <a:r>
              <a:rPr sz="1800" b="0" i="0" a:ea="Calibri">
                <a:solidFill>
                  <a:srgbClr val="0F172A"/>
                </a:solidFill>
                <a:latin typeface="Calibri"/>
              </a:rPr>
              <a:t>•  Resolution, not magnification, limits whether two points appear separate. If they are closer than the resolution, they blur into one.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Microscopy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18  /  31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 i="0" a:ea="Calibri">
                <a:solidFill>
                  <a:srgbClr val="004D40"/>
                </a:solidFill>
                <a:latin typeface="Calibri"/>
              </a:rPr>
              <a:t>Common misconceptions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5532120" cy="1188720"/>
          </a:xfrm>
          <a:prstGeom prst="round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91440" cy="1188720"/>
          </a:xfrm>
          <a:prstGeom prst="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61288"/>
            <a:ext cx="5120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9F1239"/>
                </a:solidFill>
                <a:latin typeface="Calibri"/>
              </a:rPr>
              <a:t>Not quite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35608"/>
            <a:ext cx="512064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Higher magnification always means a clearer image.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51560"/>
            <a:ext cx="5532120" cy="118872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051560"/>
            <a:ext cx="91440" cy="118872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161288"/>
            <a:ext cx="5120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047857"/>
                </a:solidFill>
                <a:latin typeface="Calibri"/>
              </a:rPr>
              <a:t>Instead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435608"/>
            <a:ext cx="512064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Resolution decides useful detail.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77440"/>
            <a:ext cx="5532120" cy="1188720"/>
          </a:xfrm>
          <a:prstGeom prst="round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377440"/>
            <a:ext cx="91440" cy="1188720"/>
          </a:xfrm>
          <a:prstGeom prst="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487168"/>
            <a:ext cx="5120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9F1239"/>
                </a:solidFill>
                <a:latin typeface="Calibri"/>
              </a:rPr>
              <a:t>Not quite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761488"/>
            <a:ext cx="512064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Electron microscopes are used in school practicals on living cells.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377440"/>
            <a:ext cx="5532120" cy="118872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2377440"/>
            <a:ext cx="91440" cy="118872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487168"/>
            <a:ext cx="5120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047857"/>
                </a:solidFill>
                <a:latin typeface="Calibri"/>
              </a:rPr>
              <a:t>Instead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761488"/>
            <a:ext cx="512064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They need a vacuum; living cells are not used.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703320"/>
            <a:ext cx="5532120" cy="1188720"/>
          </a:xfrm>
          <a:prstGeom prst="round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703320"/>
            <a:ext cx="91440" cy="1188720"/>
          </a:xfrm>
          <a:prstGeom prst="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813048"/>
            <a:ext cx="5120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9F1239"/>
                </a:solidFill>
                <a:latin typeface="Calibri"/>
              </a:rPr>
              <a:t>Not quite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087368"/>
            <a:ext cx="512064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µm and nm can be mixed in the same calculation without converting.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703320"/>
            <a:ext cx="5532120" cy="118872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3703320"/>
            <a:ext cx="91440" cy="118872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813048"/>
            <a:ext cx="5120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047857"/>
                </a:solidFill>
                <a:latin typeface="Calibri"/>
              </a:rPr>
              <a:t>Instead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087368"/>
            <a:ext cx="512064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Convert to one unit first.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Microscopy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19  /  31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 i="0" a:ea="Calibri">
                <a:solidFill>
                  <a:srgbClr val="004D40"/>
                </a:solidFill>
                <a:latin typeface="Calibri"/>
              </a:rPr>
              <a:t>Key terminology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55680" cy="56692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07008"/>
            <a:ext cx="557784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 a:ea="Calibri">
                <a:solidFill>
                  <a:srgbClr val="FFFFFF"/>
                </a:solidFill>
                <a:latin typeface="Calibri"/>
              </a:rPr>
              <a:t>Term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80760" y="1207008"/>
            <a:ext cx="557784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 a:ea="Calibri">
                <a:solidFill>
                  <a:srgbClr val="FFFFFF"/>
                </a:solidFill>
                <a:latin typeface="Calibri"/>
              </a:rPr>
              <a:t>Meaning you should be able to write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64208"/>
            <a:ext cx="11155680" cy="566928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73936"/>
            <a:ext cx="557784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 a:ea="Calibri">
                <a:solidFill>
                  <a:srgbClr val="0F172A"/>
                </a:solidFill>
                <a:latin typeface="Calibri"/>
              </a:rPr>
              <a:t>Magnification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1773936"/>
            <a:ext cx="557784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 a:ea="Calibri">
                <a:solidFill>
                  <a:srgbClr val="0F172A"/>
                </a:solidFill>
                <a:latin typeface="Calibri"/>
              </a:rPr>
              <a:t>Image size ÷ actual size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31136"/>
            <a:ext cx="11155680" cy="56692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340864"/>
            <a:ext cx="557784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 a:ea="Calibri">
                <a:solidFill>
                  <a:srgbClr val="0F172A"/>
                </a:solidFill>
                <a:latin typeface="Calibri"/>
              </a:rPr>
              <a:t>Resolution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2340864"/>
            <a:ext cx="557784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 a:ea="Calibri">
                <a:solidFill>
                  <a:srgbClr val="0F172A"/>
                </a:solidFill>
                <a:latin typeface="Calibri"/>
              </a:rPr>
              <a:t>Smallest separable distance between two points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798064"/>
            <a:ext cx="11155680" cy="566928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907792"/>
            <a:ext cx="557784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 a:ea="Calibri">
                <a:solidFill>
                  <a:srgbClr val="0F172A"/>
                </a:solidFill>
                <a:latin typeface="Calibri"/>
              </a:rPr>
              <a:t>Objective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2907792"/>
            <a:ext cx="557784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 a:ea="Calibri">
                <a:solidFill>
                  <a:srgbClr val="0F172A"/>
                </a:solidFill>
                <a:latin typeface="Calibri"/>
              </a:rPr>
              <a:t>Lens nearest the specimen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364992"/>
            <a:ext cx="11155680" cy="56692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474720"/>
            <a:ext cx="557784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 a:ea="Calibri">
                <a:solidFill>
                  <a:srgbClr val="0F172A"/>
                </a:solidFill>
                <a:latin typeface="Calibri"/>
              </a:rPr>
              <a:t>Artefact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3474720"/>
            <a:ext cx="557784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 a:ea="Calibri">
                <a:solidFill>
                  <a:srgbClr val="0F172A"/>
                </a:solidFill>
                <a:latin typeface="Calibri"/>
              </a:rPr>
              <a:t>Structure created by preparation, not present in life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931920"/>
            <a:ext cx="11155680" cy="566928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041648"/>
            <a:ext cx="557784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 a:ea="Calibri">
                <a:solidFill>
                  <a:srgbClr val="0F172A"/>
                </a:solidFill>
                <a:latin typeface="Calibri"/>
              </a:rPr>
              <a:t>Graticule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4041648"/>
            <a:ext cx="557784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 a:ea="Calibri">
                <a:solidFill>
                  <a:srgbClr val="0F172A"/>
                </a:solidFill>
                <a:latin typeface="Calibri"/>
              </a:rPr>
              <a:t>Measuring scale in the eyepiece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Microscopy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20  /  31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 i="0" a:ea="Calibri">
                <a:solidFill>
                  <a:srgbClr val="004D40"/>
                </a:solidFill>
                <a:latin typeface="Calibri"/>
              </a:rPr>
              <a:t>Teacher explanation — unit conversions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Write a conversion line every time: 1 mm = 1000 µm = 1 000 000 nm.</a:t>
            </a:r>
          </a:p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Convert the quantity that is not already in the unit you want.</a:t>
            </a:r>
          </a:p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If both are converted, convert them to the same unit.</a:t>
            </a:r>
          </a:p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A factor-of-1000 error is the most common calculation mistake in this topic.</a:t>
            </a:r>
          </a:p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Estimate: a plant cell is tens of µm, a bacterium a few µm, a virus tens of nm.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Microscopy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21  /  31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 i="0" a:ea="Calibri">
                <a:solidFill>
                  <a:srgbClr val="004D40"/>
                </a:solidFill>
                <a:latin typeface="Calibri"/>
              </a:rPr>
              <a:t>Eyepiece graticule — 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The eyepiece graticule is a ruler you see superimposed on the specimen.</a:t>
            </a:r>
          </a:p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Its divisions are not a fixed number of micrometres — they change with the objective.</a:t>
            </a:r>
          </a:p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You calibrate it using a stage micrometer of known length.</a:t>
            </a:r>
          </a:p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Then: actual size = number of eyepiece divisions × micrometres per division.</a:t>
            </a:r>
          </a:p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Even if you cannot do the practical today, you should be able to describe the steps.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Microscopy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22  /  31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 i="0" a:ea="Calibri">
                <a:solidFill>
                  <a:srgbClr val="004D40"/>
                </a:solidFill>
                <a:latin typeface="Calibri"/>
              </a:rPr>
              <a:t>Stains and contrast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5532120" cy="493776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91440" cy="49377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 a:ea="Calibri">
                <a:solidFill>
                  <a:srgbClr val="004D40"/>
                </a:solidFill>
                <a:latin typeface="Calibri"/>
              </a:rPr>
              <a:t>Why stain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 i="0" a:ea="Calibri">
                <a:solidFill>
                  <a:srgbClr val="0F172A"/>
                </a:solidFill>
                <a:latin typeface="Calibri"/>
              </a:rPr>
              <a:t>•  Many cell parts are colourless in water</a:t>
            </a:r>
          </a:p>
          <a:p>
            <a:pPr algn="l">
              <a:spcAft>
                <a:spcPts val="1000"/>
              </a:spcAft>
            </a:pPr>
            <a:r>
              <a:rPr sz="1600" b="0" i="0" a:ea="Calibri">
                <a:solidFill>
                  <a:srgbClr val="0F172A"/>
                </a:solidFill>
                <a:latin typeface="Calibri"/>
              </a:rPr>
              <a:t>•  Stain binds to some structures more than others</a:t>
            </a:r>
          </a:p>
          <a:p>
            <a:pPr algn="l">
              <a:spcAft>
                <a:spcPts val="1000"/>
              </a:spcAft>
            </a:pPr>
            <a:r>
              <a:rPr sz="1600" b="0" i="0" a:ea="Calibri">
                <a:solidFill>
                  <a:srgbClr val="0F172A"/>
                </a:solidFill>
                <a:latin typeface="Calibri"/>
              </a:rPr>
              <a:t>•  Iodine stains starch; methylene blue stains nuclei</a:t>
            </a:r>
          </a:p>
          <a:p>
            <a:pPr algn="l">
              <a:spcAft>
                <a:spcPts val="1000"/>
              </a:spcAft>
            </a:pPr>
            <a:r>
              <a:rPr sz="1600" b="0" i="0" a:ea="Calibri">
                <a:solidFill>
                  <a:srgbClr val="0F172A"/>
                </a:solidFill>
                <a:latin typeface="Calibri"/>
              </a:rPr>
              <a:t>•  Contrast makes measurement possible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51560"/>
            <a:ext cx="5532120" cy="49377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051560"/>
            <a:ext cx="91440" cy="4937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23444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 a:ea="Calibri">
                <a:solidFill>
                  <a:srgbClr val="1E3A5F"/>
                </a:solidFill>
                <a:latin typeface="Calibri"/>
              </a:rPr>
              <a:t>Limits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73736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 i="0" a:ea="Calibri">
                <a:solidFill>
                  <a:srgbClr val="0F172A"/>
                </a:solidFill>
                <a:latin typeface="Calibri"/>
              </a:rPr>
              <a:t>•  Staining often kills the specimen</a:t>
            </a:r>
          </a:p>
          <a:p>
            <a:pPr algn="l">
              <a:spcAft>
                <a:spcPts val="1000"/>
              </a:spcAft>
            </a:pPr>
            <a:r>
              <a:rPr sz="1600" b="0" i="0" a:ea="Calibri">
                <a:solidFill>
                  <a:srgbClr val="0F172A"/>
                </a:solidFill>
                <a:latin typeface="Calibri"/>
              </a:rPr>
              <a:t>•  Too much stain hides detail</a:t>
            </a:r>
          </a:p>
          <a:p>
            <a:pPr algn="l">
              <a:spcAft>
                <a:spcPts val="1000"/>
              </a:spcAft>
            </a:pPr>
            <a:r>
              <a:rPr sz="1600" b="0" i="0" a:ea="Calibri">
                <a:solidFill>
                  <a:srgbClr val="0F172A"/>
                </a:solidFill>
                <a:latin typeface="Calibri"/>
              </a:rPr>
              <a:t>•  Some structures still need EM to resolve</a:t>
            </a:r>
          </a:p>
          <a:p>
            <a:pPr algn="l">
              <a:spcAft>
                <a:spcPts val="1000"/>
              </a:spcAft>
            </a:pPr>
            <a:r>
              <a:rPr sz="1600" b="0" i="0" a:ea="Calibri">
                <a:solidFill>
                  <a:srgbClr val="0F172A"/>
                </a:solidFill>
                <a:latin typeface="Calibri"/>
              </a:rPr>
              <a:t>•  Stain does not improve resolution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Microscopy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23  /  31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56032"/>
            <a:ext cx="3108960" cy="329184"/>
          </a:xfrm>
          <a:prstGeom prst="round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 a:ea="Calibri">
                <a:solidFill>
                  <a:srgbClr val="FFFFFF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Instrument choice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556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 i="0" a:ea="Calibri">
                <a:solidFill>
                  <a:srgbClr val="0F172A"/>
                </a:solidFill>
                <a:latin typeface="Calibri"/>
              </a:rPr>
              <a:t>•  Which microscope would you choose to watch living yeast budding, and why?</a:t>
            </a:r>
          </a:p>
          <a:p>
            <a:pPr algn="l">
              <a:spcAft>
                <a:spcPts val="1000"/>
              </a:spcAft>
            </a:pPr>
            <a:r>
              <a:rPr sz="1800" b="0" i="0" a:ea="Calibri">
                <a:solidFill>
                  <a:srgbClr val="0F172A"/>
                </a:solidFill>
                <a:latin typeface="Calibri"/>
              </a:rPr>
              <a:t>•  Which would you choose to study the inner membrane of a mitochondrion?</a:t>
            </a:r>
          </a:p>
          <a:p>
            <a:pPr algn="l">
              <a:spcAft>
                <a:spcPts val="1000"/>
              </a:spcAft>
            </a:pPr>
            <a:r>
              <a:rPr sz="1800" b="0" i="0" a:ea="Calibri">
                <a:solidFill>
                  <a:srgbClr val="0F172A"/>
                </a:solidFill>
                <a:latin typeface="Calibri"/>
              </a:rPr>
              <a:t>•  Why might a published SEM image of an insect eye look coloured?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989320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 a:ea="Calibri">
                <a:solidFill>
                  <a:srgbClr val="9F1239"/>
                </a:solidFill>
                <a:latin typeface="Calibri"/>
              </a:rPr>
              <a:t>Think first — answers are on the next slide.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Microscopy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24  /  31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56032"/>
            <a:ext cx="2194560" cy="329184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2194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 a:ea="Calibri">
                <a:solidFill>
                  <a:srgbClr val="FFFFFF"/>
                </a:solidFill>
                <a:latin typeface="Calibri"/>
              </a:rPr>
              <a:t>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Instrument-choice answers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 i="0" a:ea="Calibri">
                <a:solidFill>
                  <a:srgbClr val="0F172A"/>
                </a:solidFill>
                <a:latin typeface="Calibri"/>
              </a:rPr>
              <a:t>•  Light microscope — no vacuum, so living cells can be viewed.</a:t>
            </a:r>
          </a:p>
          <a:p>
            <a:pPr algn="l">
              <a:spcAft>
                <a:spcPts val="1000"/>
              </a:spcAft>
            </a:pPr>
            <a:r>
              <a:rPr sz="1800" b="0" i="0" a:ea="Calibri">
                <a:solidFill>
                  <a:srgbClr val="0F172A"/>
                </a:solidFill>
                <a:latin typeface="Calibri"/>
              </a:rPr>
              <a:t>•  TEM — high internal resolution.</a:t>
            </a:r>
          </a:p>
          <a:p>
            <a:pPr algn="l">
              <a:spcAft>
                <a:spcPts val="1000"/>
              </a:spcAft>
            </a:pPr>
            <a:r>
              <a:rPr sz="1800" b="0" i="0" a:ea="Calibri">
                <a:solidFill>
                  <a:srgbClr val="0F172A"/>
                </a:solidFill>
                <a:latin typeface="Calibri"/>
              </a:rPr>
              <a:t>•  False colour is often added after capture; electrons do not produce a natural colour image.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Microscopy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25  /  31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 i="0" a:ea="Calibri">
                <a:solidFill>
                  <a:srgbClr val="004D40"/>
                </a:solidFill>
                <a:latin typeface="Calibri"/>
              </a:rPr>
              <a:t>Drawing rules for practical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Use a sharp pencil; no sketchy shading.</a:t>
            </a:r>
          </a:p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Give a title and a calculated magnification or a scale bar.</a:t>
            </a:r>
          </a:p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Label with ruled lines that touch the structure.</a:t>
            </a:r>
          </a:p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Draw what you see, not what you remember from a textbook diagram.</a:t>
            </a:r>
          </a:p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These habits are assessed in Unit 1-style practical write-ups.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Microscopy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26  /  31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 i="0" a:ea="Calibri">
                <a:solidFill>
                  <a:srgbClr val="004D40"/>
                </a:solidFill>
                <a:latin typeface="Calibri"/>
              </a:rPr>
              <a:t>How to answer a 4-mark structure item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7040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 i="0" a:ea="Calibri">
                <a:solidFill>
                  <a:srgbClr val="0F172A"/>
                </a:solidFill>
                <a:latin typeface="Calibri"/>
              </a:rPr>
              <a:t>•  In calculations, box the converted values before dividing.</a:t>
            </a:r>
          </a:p>
          <a:p>
            <a:pPr algn="l">
              <a:spcAft>
                <a:spcPts val="1000"/>
              </a:spcAft>
            </a:pPr>
            <a:r>
              <a:rPr sz="1800" b="0" i="0" a:ea="Calibri">
                <a:solidFill>
                  <a:srgbClr val="0F172A"/>
                </a:solidFill>
                <a:latin typeface="Calibri"/>
              </a:rPr>
              <a:t>•  Write × before a magnification answer.</a:t>
            </a:r>
          </a:p>
          <a:p>
            <a:pPr algn="l">
              <a:spcAft>
                <a:spcPts val="1000"/>
              </a:spcAft>
            </a:pPr>
            <a:r>
              <a:rPr sz="1800" b="0" i="0" a:ea="Calibri">
                <a:solidFill>
                  <a:srgbClr val="0F172A"/>
                </a:solidFill>
                <a:latin typeface="Calibri"/>
              </a:rPr>
              <a:t>•  If asked to compare microscopes, mention both magnification and resolution, plus living versus vacuum.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097280"/>
            <a:ext cx="3931920" cy="484632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1097280"/>
            <a:ext cx="91440" cy="48463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280160"/>
            <a:ext cx="3474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 a:ea="Calibri">
                <a:solidFill>
                  <a:srgbClr val="004D40"/>
                </a:solidFill>
                <a:latin typeface="Calibri"/>
              </a:rPr>
              <a:t>Mark-winning habit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783080"/>
            <a:ext cx="3474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 a:ea="Calibri">
                <a:solidFill>
                  <a:srgbClr val="475569"/>
                </a:solidFill>
                <a:latin typeface="Calibri"/>
              </a:rPr>
              <a:t>•  Name the particles.</a:t>
            </a:r>
          </a:p>
          <a:p>
            <a:pPr algn="l">
              <a:spcAft>
                <a:spcPts val="800"/>
              </a:spcAft>
            </a:pPr>
            <a:r>
              <a:rPr sz="1500" b="0" i="0" a:ea="Calibri">
                <a:solidFill>
                  <a:srgbClr val="475569"/>
                </a:solidFill>
                <a:latin typeface="Calibri"/>
              </a:rPr>
              <a:t>•  Name the forces.</a:t>
            </a:r>
          </a:p>
          <a:p>
            <a:pPr algn="l">
              <a:spcAft>
                <a:spcPts val="800"/>
              </a:spcAft>
            </a:pPr>
            <a:r>
              <a:rPr sz="1500" b="0" i="0" a:ea="Calibri">
                <a:solidFill>
                  <a:srgbClr val="475569"/>
                </a:solidFill>
                <a:latin typeface="Calibri"/>
              </a:rPr>
              <a:t>•  Link force to the property.</a:t>
            </a:r>
          </a:p>
          <a:p>
            <a:pPr algn="l">
              <a:spcAft>
                <a:spcPts val="800"/>
              </a:spcAft>
            </a:pPr>
            <a:r>
              <a:rPr sz="1500" b="0" i="0" a:ea="Calibri">
                <a:solidFill>
                  <a:srgbClr val="475569"/>
                </a:solidFill>
                <a:latin typeface="Calibri"/>
              </a:rPr>
              <a:t>•  Avoid 'it' without a noun.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Microscopy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27  /  31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56032"/>
            <a:ext cx="3108960" cy="329184"/>
          </a:xfrm>
          <a:prstGeom prst="round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 a:ea="Calibri">
                <a:solidFill>
                  <a:srgbClr val="FFFFFF"/>
                </a:solidFill>
                <a:latin typeface="Calibri"/>
              </a:rPr>
              <a:t>EXAM-STYLE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Exam-style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556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 i="0" a:ea="Calibri">
                <a:solidFill>
                  <a:srgbClr val="0F172A"/>
                </a:solidFill>
                <a:latin typeface="Calibri"/>
              </a:rPr>
              <a:t>•  Calculate the actual width of a cell if the image is 42 mm wide and the magnification is ×700. Give your answer in µm. (2)</a:t>
            </a:r>
          </a:p>
          <a:p>
            <a:pPr algn="l">
              <a:spcAft>
                <a:spcPts val="1000"/>
              </a:spcAft>
            </a:pPr>
            <a:r>
              <a:rPr sz="1800" b="0" i="0" a:ea="Calibri">
                <a:solidFill>
                  <a:srgbClr val="0F172A"/>
                </a:solidFill>
                <a:latin typeface="Calibri"/>
              </a:rPr>
              <a:t>•  Compare the resolution of a light microscope with that of a TEM and explain the difference. (4)</a:t>
            </a:r>
          </a:p>
          <a:p>
            <a:pPr algn="l">
              <a:spcAft>
                <a:spcPts val="1000"/>
              </a:spcAft>
            </a:pPr>
            <a:r>
              <a:rPr sz="1800" b="0" i="0" a:ea="Calibri">
                <a:solidFill>
                  <a:srgbClr val="0F172A"/>
                </a:solidFill>
                <a:latin typeface="Calibri"/>
              </a:rPr>
              <a:t>•  Give two reasons a scientist might still choose a light microscope rather than an electron microscope. (2)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989320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 a:ea="Calibri">
                <a:solidFill>
                  <a:srgbClr val="9F1239"/>
                </a:solidFill>
                <a:latin typeface="Calibri"/>
              </a:rPr>
              <a:t>Think first — answers are on the next slide.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Microscopy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28  /  31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56032"/>
            <a:ext cx="2194560" cy="329184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2194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 a:ea="Calibri">
                <a:solidFill>
                  <a:srgbClr val="FFFFFF"/>
                </a:solidFill>
                <a:latin typeface="Calibri"/>
              </a:rPr>
              <a:t>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Exam-style answers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 i="0" a:ea="Calibri">
                <a:solidFill>
                  <a:srgbClr val="0F172A"/>
                </a:solidFill>
                <a:latin typeface="Calibri"/>
              </a:rPr>
              <a:t>•  42 mm = 42 000 µm. Actual = 42 000 / 700 = 60 µm.</a:t>
            </a:r>
          </a:p>
          <a:p>
            <a:pPr algn="l">
              <a:spcAft>
                <a:spcPts val="1000"/>
              </a:spcAft>
            </a:pPr>
            <a:r>
              <a:rPr sz="1800" b="0" i="0" a:ea="Calibri">
                <a:solidFill>
                  <a:srgbClr val="0F172A"/>
                </a:solidFill>
                <a:latin typeface="Calibri"/>
              </a:rPr>
              <a:t>•  Light microscope resolution is about 0.2 µm; TEM is much smaller (about 0.1 nm). Electrons have a shorter wavelength than light, so two close points can be distinguished.</a:t>
            </a:r>
          </a:p>
          <a:p>
            <a:pPr algn="l">
              <a:spcAft>
                <a:spcPts val="1000"/>
              </a:spcAft>
            </a:pPr>
            <a:r>
              <a:rPr sz="1800" b="0" i="0" a:ea="Calibri">
                <a:solidFill>
                  <a:srgbClr val="0F172A"/>
                </a:solidFill>
                <a:latin typeface="Calibri"/>
              </a:rPr>
              <a:t>•  Can view living specimens / cheaper / colour / easier sample preparation / portable. (Any two.)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Microscopy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29  /  31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 i="0" a:ea="Calibri">
                <a:solidFill>
                  <a:srgbClr val="004D40"/>
                </a:solidFill>
                <a:latin typeface="Calibri"/>
              </a:rPr>
              <a:t>Plenary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State the magnification formula.</a:t>
            </a:r>
          </a:p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Define resolution in one sentence.</a:t>
            </a:r>
          </a:p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Name one structure you would need an electron microscope to study clearly.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Microscopy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30  /  31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 i="0" a:ea="Calibri">
                <a:solidFill>
                  <a:srgbClr val="004D40"/>
                </a:solidFill>
                <a:latin typeface="Calibri"/>
              </a:rPr>
              <a:t>Independent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Complete the microscopy worksheet, including the calculation page.</a:t>
            </a:r>
          </a:p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Practise unit conversions until they are automatic.</a:t>
            </a:r>
          </a:p>
          <a:p>
            <a:pPr algn="l">
              <a:spcAft>
                <a:spcPts val="1000"/>
              </a:spcAft>
            </a:pPr>
            <a:r>
              <a:rPr sz="1900" b="0" i="0" a:ea="Calibri">
                <a:solidFill>
                  <a:srgbClr val="0F172A"/>
                </a:solidFill>
                <a:latin typeface="Calibri"/>
              </a:rPr>
              <a:t>•  Optional practical: calibrate an eyepiece graticule if your centre has the slides.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Microscopy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31  /  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BTEC Unit 1 Biology: Microscopy</dc:title>
  <dc:subject>BTEC Unit 1 Biology</dc:subject>
  <dc:creator>JDScience</dc:creator>
  <cp:keywords>BTEC Unit 1 Biology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Teaching resource</cp:category>
</cp:coreProperties>
</file>