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77724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a:ea="Calibri">
                <a:solidFill>
                  <a:srgbClr val="00796B"/>
                </a:solidFill>
                <a:latin typeface="Calibri"/>
              </a:rPr>
              <a:t>BTEC Level 3  ·  Applied Science  ·  Unit 1  ·  Biology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83080"/>
            <a:ext cx="7955279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004D40"/>
                </a:solidFill>
                <a:latin typeface="Calibri"/>
              </a:rPr>
              <a:t>BTEC Unit 1 Biology: Microscopy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886200"/>
            <a:ext cx="77724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475569"/>
                </a:solidFill>
                <a:latin typeface="Calibri"/>
              </a:rPr>
              <a:t>Light and electron microscopes, magnification, resolution, unit conversions and instrument choice.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623560"/>
            <a:ext cx="7772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009688"/>
                </a:solidFill>
                <a:latin typeface="Calibri"/>
              </a:rPr>
              <a:t>PowerPoint teaching resource</a:t>
            </a:r>
          </a:p>
        </p:txBody>
      </p:sp>
      <p:pic>
        <p:nvPicPr>
          <p:cNvPr id="8" name="Picture 7" descr="light-microsc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325880"/>
            <a:ext cx="315468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  / 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408176"/>
            <a:ext cx="420624" cy="420624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447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4081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Describe how a light microscope forms an image and name its main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" y="2322576"/>
            <a:ext cx="420624" cy="420624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3591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3225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Distinguish magnification from resolution.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358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" y="3236976"/>
            <a:ext cx="420624" cy="420624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2735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2369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Calculate magnification, actual size and image size using the standard triangle.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502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" y="4151376"/>
            <a:ext cx="420624" cy="420624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1879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1513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Compare light microscopes, TEM and SEM.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8646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" y="5065776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51023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0657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Choose an appropriate instrument for a stated observation.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  / 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LEVEL 3 DEPTH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Beyond GCSE recall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This lesson must progress past simple recall. Use these Level 3 moves in explanations and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11247120" cy="713232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GCSE starting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Unit 1 progression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3432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Turn the magnification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Resolution, not empty magnification, limits useful detail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26664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µm and mm mixed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Convert first: 1 mm = 1000 µm = 1 000 000 nm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739896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EM is always better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Vacuum — living specimens cannot be viewed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53128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Colour EM photos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False colour is added after capture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  / 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Prior knowledge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Which knob do you use first when focusing — coarse or fine?  [1]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Why is a stain often used on a slide?  [1]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 cell is 25 µm long and the image is 25 mm long. What is M?  [2]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Which can see viruses more clearly — a school light microscope or an EM?  [1]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4  / 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Retrieval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252728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289304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52728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Coarse focus first with the lowest-power objective, then fine focus.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38578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448306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484882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8306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To increase contrast so structures are visible.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34156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3643884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68046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43884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25 mm = 25 000 µm. M = 25 000 / 25 = ×1000.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29734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4839462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87603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39462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An electron microscope — viruses are usually below the resolution of a light microscope.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5  / 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1695" cy="7315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400" b="1" i="0" a:ea="Calibri">
                <a:solidFill>
                  <a:srgbClr val="FFFFFF"/>
                </a:solidFill>
                <a:latin typeface="Calibri"/>
              </a:rPr>
              <a:t>The light microscope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54680"/>
            <a:ext cx="1088136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CCFBF1"/>
                </a:solidFill>
                <a:latin typeface="Calibri"/>
              </a:rPr>
              <a:t>Rays, lenses and contrast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6  / 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Light microscope schematic</a:t>
            </a:r>
          </a:p>
        </p:txBody>
      </p:sp>
      <p:pic>
        <p:nvPicPr>
          <p:cNvPr id="4" name="Picture 3" descr="light-microsc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6984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lamp provides light that passes through the specimen.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2996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objective produces a magnified real image.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9008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eyepiece magnifies that image again.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5020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Total magnification = eyepiece × objective.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91032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Start on low power; never use the coarse wheel on high power.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7  / 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Magnification versus resolution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502920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5029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9688"/>
                </a:solidFill>
                <a:latin typeface="Calibri"/>
              </a:rPr>
              <a:t>Magnification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How many times larger the image is than the real object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M = image size / actual size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Can be increased with stronger lenses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Empty magnification adds no new detail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502920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5029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Resolution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Smallest distance at which two points still look separate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Limited by the wavelength of the radiation used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Light microscopes: about 0.2 µm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TEM: about 0.1 nm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8  / 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The calculation triangle</a:t>
            </a:r>
          </a:p>
        </p:txBody>
      </p:sp>
      <p:pic>
        <p:nvPicPr>
          <p:cNvPr id="4" name="Picture 3" descr="mag-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69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Write every quantity in the same unit before dividing.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03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03120"/>
            <a:ext cx="91440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12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1 mm = 1000 µm. 1 µm = 1000 nm.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246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246120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355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Actual size = image size / magnification.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389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389120"/>
            <a:ext cx="91440" cy="105156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498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Show the conversion line — that is where marks are won.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9  / 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377440" cy="310896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3774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Actual size of a mitochondrion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11247120" cy="86868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261872"/>
            <a:ext cx="10881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1E3A5F"/>
                </a:solidFill>
                <a:latin typeface="Calibri"/>
              </a:rPr>
              <a:t>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36192"/>
            <a:ext cx="10881360" cy="4297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 mitochondrion image is 40 mm long. Magnification is ×20 000. Find the actual size in µm.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76272"/>
            <a:ext cx="54864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176272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249424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09688"/>
                </a:solidFill>
                <a:latin typeface="Calibri"/>
              </a:rPr>
              <a:t>Equation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523744"/>
            <a:ext cx="512064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 = I / 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176272"/>
            <a:ext cx="5577840" cy="1051560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176272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2249424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5B21B6"/>
                </a:solidFill>
                <a:latin typeface="Calibri"/>
              </a:rPr>
              <a:t>Substitution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2523744"/>
            <a:ext cx="521208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I = 40 mm = 40 000 µm     M = 20 000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46704"/>
            <a:ext cx="5486400" cy="132588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46704"/>
            <a:ext cx="91440" cy="13258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419856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B45309"/>
                </a:solidFill>
                <a:latin typeface="Calibri"/>
              </a:rPr>
              <a:t>Working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694176"/>
            <a:ext cx="512064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 = 40 000 / 20 000 = 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3346704"/>
            <a:ext cx="5577840" cy="13258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3346704"/>
            <a:ext cx="91440" cy="132588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3419856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Answer + unit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694176"/>
            <a:ext cx="521208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2 µm   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00600"/>
            <a:ext cx="1124712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Check: mitochondria are typically 1–10 µm, so 2 µm is sensible.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10  / 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377440" cy="310896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3774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Calculating magnification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11247120" cy="86868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261872"/>
            <a:ext cx="10881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1E3A5F"/>
                </a:solidFill>
                <a:latin typeface="Calibri"/>
              </a:rPr>
              <a:t>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36192"/>
            <a:ext cx="10881360" cy="4297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 bacterium is 2.0 µm long. The drawing is 80 mm long. Calculate 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76272"/>
            <a:ext cx="54864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176272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249424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09688"/>
                </a:solidFill>
                <a:latin typeface="Calibri"/>
              </a:rPr>
              <a:t>Equation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523744"/>
            <a:ext cx="512064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M = I / 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176272"/>
            <a:ext cx="5577840" cy="1051560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176272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2249424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5B21B6"/>
                </a:solidFill>
                <a:latin typeface="Calibri"/>
              </a:rPr>
              <a:t>Substitution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2523744"/>
            <a:ext cx="521208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I = 80 mm = 80 000 µm     A = 2.0 µm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46704"/>
            <a:ext cx="5486400" cy="132588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46704"/>
            <a:ext cx="91440" cy="13258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419856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B45309"/>
                </a:solidFill>
                <a:latin typeface="Calibri"/>
              </a:rPr>
              <a:t>Working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694176"/>
            <a:ext cx="512064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M = 80 000 / 2.0 = 40 000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3346704"/>
            <a:ext cx="5577840" cy="13258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3346704"/>
            <a:ext cx="91440" cy="132588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3419856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Answer + unit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694176"/>
            <a:ext cx="521208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×40 000   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00600"/>
            <a:ext cx="1124712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Write the ×. Include a scale bar on practical drawings.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11  / 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Scaffold — your turn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210312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21031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43000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9688"/>
                </a:solidFill>
                <a:latin typeface="Calibri"/>
              </a:rPr>
              <a:t>Given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Image width = 15 mm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M = ×400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210312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2103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43000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1E3A5F"/>
                </a:solidFill>
                <a:latin typeface="Calibri"/>
              </a:rPr>
              <a:t>Find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5544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Actual size in µm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291840"/>
            <a:ext cx="2743200" cy="26974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42900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Equation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840480"/>
            <a:ext cx="2468880" cy="1965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 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3291840"/>
            <a:ext cx="2743200" cy="26974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342900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Substitution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840480"/>
            <a:ext cx="2468880" cy="1965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291840"/>
            <a:ext cx="2743200" cy="26974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42900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Working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840480"/>
            <a:ext cx="2468880" cy="1965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 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280" y="3291840"/>
            <a:ext cx="2743200" cy="26974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342900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Answer + unit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840480"/>
            <a:ext cx="2468880" cy="1965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080760"/>
            <a:ext cx="112471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 a:ea="Calibri">
                <a:solidFill>
                  <a:srgbClr val="475569"/>
                </a:solidFill>
                <a:latin typeface="Calibri"/>
              </a:rPr>
              <a:t>Convert 15 mm to µm first.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12  / 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Magnification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11680"/>
            <a:ext cx="3249168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Image = 15 mm, M = ×400. Find actual size in µm.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5008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6528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6176" y="2011680"/>
            <a:ext cx="3249168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Actual = 8 µm, image = 4.0 cm. Find 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2816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4336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3984" y="2011680"/>
            <a:ext cx="3249168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 scale bar labelled 5 µm measures 25 mm on the page. What is M?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13  / 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Calculation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15 mm = 15 000 µm. Actual = 15 000 / 400 = 37.5 µm.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5008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6176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4.0 cm = 40 000 µm. M = 40 000 / 8 = ×5000.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2816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3984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25 mm = 25 000 µm. M = 25 000 / 5 = ×5000.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14  / 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1695" cy="7315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400" b="1" i="0" a:ea="Calibri">
                <a:solidFill>
                  <a:srgbClr val="FFFFFF"/>
                </a:solidFill>
                <a:latin typeface="Calibri"/>
              </a:rPr>
              <a:t>Electron microscopy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54680"/>
            <a:ext cx="1088136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CCFBF1"/>
                </a:solidFill>
                <a:latin typeface="Calibri"/>
              </a:rPr>
              <a:t>Shorter wavelength, higher resolution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15  / 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TEM and SEM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502920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5029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9688"/>
                </a:solidFill>
                <a:latin typeface="Calibri"/>
              </a:rPr>
              <a:t>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Electrons pass through a thin specimen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High internal detail (cristae, thylakoids)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Requires a vacuum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Living specimens cannot be used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502920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5029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SEM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Electrons scan the surface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Good 3D surface appearance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Also requires a vacuum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Colour in published images is usually added later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16  / 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Useful sizes</a:t>
            </a:r>
          </a:p>
        </p:txBody>
      </p:sp>
      <p:pic>
        <p:nvPicPr>
          <p:cNvPr id="4" name="Picture 3" descr="em-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69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 plant cell is tens of µm.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03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03120"/>
            <a:ext cx="91440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12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 bacterium is a few µm.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246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246120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355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 virus is tens of nm.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389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389120"/>
            <a:ext cx="91440" cy="105156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498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If two granules are closer than the resolution, extra magnification only enlarges the blur.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17  / 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Choosing an instrument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1247120" cy="65836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374904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Need to see…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115568"/>
            <a:ext cx="374904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Prefer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1115568"/>
            <a:ext cx="374904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Why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64208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75564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Living pond microbes swimming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9392" y="175564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Light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2" y="175564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No vacuum; colour; movement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22576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414016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Cristae inside a mitochondrion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2" y="2414016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8432" y="2414016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High internal resolution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80944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072384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Surface of a pollen grain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392" y="3072384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SEM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2" y="3072384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Surface topography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639312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730752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Nucleus of an onion cell in class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9392" y="3730752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Light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28432" y="3730752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Large enough; simple prep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18  / 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Eyepiece graticule — the idea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What it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 ruler you see superimposed on the specimen.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Not fixed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micrometre value of a division changes with the objective.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Calibrate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Use a stage micrometer of known length.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Then measure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Actual size = divisions × µm per division.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19  / 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Common misconceptions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Higher magnification always means a clearer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Resolution decides useful detail.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18816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8816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Electron microscopes are used in school practicals on living cells.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718816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718816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They need a vacuum; living cells are not used.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431792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431792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µm and nm can be mixed without converting.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431792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4431792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Convert to one unit first.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20  / 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EXAM-STYLE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11680"/>
            <a:ext cx="3249168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Calculate the actual width of a cell if the image is 42 mm wide at ×700. Give the answer in µm.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5008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6528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4 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6176" y="2011680"/>
            <a:ext cx="3249168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Compare the resolution of a light microscope with that of a TEM and explain the difference.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2816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4336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3984" y="2011680"/>
            <a:ext cx="3249168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Give two reasons a scientist might still choose a light microscope rather than an electron microscope.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21  / 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42 mm = 42 000 µm. Actual = 42 000 / 700 = 60 µm.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5008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6176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Light about 0.2 µm; TEM much smaller (about 0.1 nm) because electrons have a shorter wavelength.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2816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3984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Living specimens / cheaper / colour / easier preparation. (Any two.)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22  / 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Plenary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30–60 seconds each. No notes if you can avoid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State the magnification formula.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50080" y="1463040"/>
            <a:ext cx="457200" cy="45720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Define resolution in one sentence.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60080" y="1463040"/>
            <a:ext cx="457200" cy="457200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Name one structure you would need an electron microscope to study clearly.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23  / 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Independent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28930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4416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30759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Complete the Microscopy worksheet, including the calculation page.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0312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34086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35915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Practise unit conversions until they are automatic.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5468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39242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4728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41071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Optional: calibrate an eyepiece graticule if your centre has the slides.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Microscopy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24  / 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BTEC Unit 1 Biology: Microscopy</dc:title>
  <dc:subject>BTEC Unit 1 Biology</dc:subject>
  <dc:creator>JDScience</dc:creator>
  <cp:keywords>BTEC Unit 1 Biology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Teaching resource</cp:category>
</cp:coreProperties>
</file>