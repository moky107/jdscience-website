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7772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796B"/>
                </a:solidFill>
                <a:latin typeface="Calibri"/>
              </a:rPr>
              <a:t>BTEC Level 3  ·  Applied Science  ·  Unit 1  · 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7955279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004D40"/>
                </a:solidFill>
                <a:latin typeface="Calibri"/>
              </a:rPr>
              <a:t>BTEC Unit 1 Chemistry: Covalent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86200"/>
            <a:ext cx="7772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475569"/>
                </a:solidFill>
                <a:latin typeface="Calibri"/>
              </a:rPr>
              <a:t>Shared pairs, simple molecules, giant covalent networks and structure–property explanations.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23560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009688"/>
                </a:solidFill>
                <a:latin typeface="Calibri"/>
              </a:rPr>
              <a:t>PowerPoint teaching resource</a:t>
            </a:r>
          </a:p>
        </p:txBody>
      </p:sp>
      <p:pic>
        <p:nvPicPr>
          <p:cNvPr id="8" name="Picture 7" descr="covalent-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25880"/>
            <a:ext cx="315468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  / 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08176"/>
            <a:ext cx="420624" cy="42062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081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Describe a covalent bond as a shared pair of electrons attracted to both nuclei.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2322576"/>
            <a:ext cx="420624" cy="42062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591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225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Explain why non-metal atoms share rather than transfer.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358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3236976"/>
            <a:ext cx="420624" cy="42062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735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369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Count shared pairs in H</a:t>
            </a:r>
            <a:r>
              <a:rPr sz="17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700" b="0" i="0" a:ea="Calibri">
                <a:solidFill>
                  <a:srgbClr val="0F172A"/>
                </a:solidFill>
                <a:latin typeface="Calibri"/>
              </a:rPr>
              <a:t>, O</a:t>
            </a:r>
            <a:r>
              <a:rPr sz="17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700" b="0" i="0" a:ea="Calibri">
                <a:solidFill>
                  <a:srgbClr val="0F172A"/>
                </a:solidFill>
                <a:latin typeface="Calibri"/>
              </a:rPr>
              <a:t>, N</a:t>
            </a:r>
            <a:r>
              <a:rPr sz="17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700" b="0" i="0" a:ea="Calibri">
                <a:solidFill>
                  <a:srgbClr val="0F172A"/>
                </a:solidFill>
                <a:latin typeface="Calibri"/>
              </a:rPr>
              <a:t>, CH</a:t>
            </a:r>
            <a:r>
              <a:rPr sz="1700" b="0" i="0" a:ea="Calibri" baseline="-25000">
                <a:solidFill>
                  <a:srgbClr val="0F172A"/>
                </a:solidFill>
                <a:latin typeface="Calibri"/>
              </a:rPr>
              <a:t>4</a:t>
            </a:r>
            <a:r>
              <a:rPr sz="1700" b="0" i="0" a:ea="Calibri">
                <a:solidFill>
                  <a:srgbClr val="0F172A"/>
                </a:solidFill>
                <a:latin typeface="Calibri"/>
              </a:rPr>
              <a:t>, H</a:t>
            </a:r>
            <a:r>
              <a:rPr sz="17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700" b="0" i="0" a:ea="Calibri">
                <a:solidFill>
                  <a:srgbClr val="0F172A"/>
                </a:solidFill>
                <a:latin typeface="Calibri"/>
              </a:rPr>
              <a:t>O and CO</a:t>
            </a:r>
            <a:r>
              <a:rPr sz="17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7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502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" y="4151376"/>
            <a:ext cx="420624" cy="420624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1879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513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Distinguish simple molecular from giant covalent structures.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646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5065776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1023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657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Use structure to explain melting point and electrical conductivity, including graphite.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  / 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LEVEL 3 DEPTH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Beyond GCSE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This lesson must progress past simple recall. Use these Level 3 moves in explanations and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71323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GCSE 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Unit 1 progression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Covalent = sharing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The shared pair is attracted to both nuclei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26664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Covalent substances melt easily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Only simple molecular ones do; diamond does not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9896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Boiling water breaks O–H bonds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Boiling overcomes intermolecular forces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53128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Graphite is just carbon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Delocalised electrons between layers explain conduction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  / 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Prior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How does ionic bonding differ from sharing electrons?  [2]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How many electrons does carbon need for a full outer shell?  [1]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Name two elements that exist as diatomic molecules.  [1]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What is a full outer shell for Period 2 elements?  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4  / 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Retrieval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Ionic bonding is electron transfer and attraction between ions; covalent bonding is sharing.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Four (carbon is 2,4).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Hydrogen, nitrogen, oxygen, fluorine, chlorine, bromine or iodine.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Eight electrons (helium is the exception with two).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5  / 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FFFFFF"/>
                </a:solidFill>
                <a:latin typeface="Calibri"/>
              </a:rPr>
              <a:t>The covalent bond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CCFBF1"/>
                </a:solidFill>
                <a:latin typeface="Calibri"/>
              </a:rPr>
              <a:t>A shared pair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1  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A pair of electrons sitting between two nuclei.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520440" cy="10972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2   Say in 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The shared pair is attracted to both nuclei — that attraction is the bond.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520440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3   Level 3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Do not say atoms ‘want’ electrons. Name the nuclei and the full outer shells.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6  / 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A shared pair of electrons</a:t>
            </a:r>
          </a:p>
        </p:txBody>
      </p:sp>
      <p:pic>
        <p:nvPicPr>
          <p:cNvPr id="4" name="Picture 3" descr="covalent-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10871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Each atom contributes one electron to the shared pair (unless the bond is dative).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602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60270"/>
            <a:ext cx="91440" cy="110871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517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pair is attracted to both nuclei.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604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360420"/>
            <a:ext cx="91440" cy="110871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4518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That mutual attraction is the covalent bond.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5605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560570"/>
            <a:ext cx="91440" cy="110871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6520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Both atoms obtain a more stable outer shell.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742432"/>
            <a:ext cx="6126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HCl as an original schematic — not a copied dot-and-cross from another publisher.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7  / 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Single, double and triple bonds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Single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One shared pair. H–H, Cl–Cl, C–C.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Double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Two shared pairs. O=O, C=O.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Triple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Three shared pairs. N≡N.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Carbon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Regularly forms four covalent bonds in stable molecules.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8  / 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Molecules you must be able to draw</a:t>
            </a:r>
          </a:p>
        </p:txBody>
      </p:sp>
      <p:pic>
        <p:nvPicPr>
          <p:cNvPr id="4" name="Picture 3" descr="covalent-molec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10871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Count the lines: each line is one shared pair.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602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60270"/>
            <a:ext cx="91440" cy="110871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517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Water is bent and has two lone pairs on oxygen.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604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360420"/>
            <a:ext cx="91440" cy="110871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4518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CO</a:t>
            </a:r>
            <a:r>
              <a:rPr sz="14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is linear: O=C=O.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5605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560570"/>
            <a:ext cx="91440" cy="110871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6520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Ammonia has a lone pair and can form a dative bond to H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+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to make NH</a:t>
            </a:r>
            <a:r>
              <a:rPr sz="1400" b="0" i="0" a:ea="Calibri" baseline="-25000">
                <a:solidFill>
                  <a:srgbClr val="0F172A"/>
                </a:solidFill>
                <a:latin typeface="Calibri"/>
              </a:rPr>
              <a:t>4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+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9  / 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Why non-metals share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The electron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Non-metal atoms attract electrons strongly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Transferring several electrons is costly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Sharing lets each atom count the pair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The pair sits between the nuclei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Keep the language scientific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Do not say atoms ‘want’ electrons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Name attraction to both nuclei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State the full outer shell after sharing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Do not mention ions in a covalent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10  / 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FFFFFF"/>
                </a:solidFill>
                <a:latin typeface="Calibri"/>
              </a:rPr>
              <a:t>Two covalent structure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CCFBF1"/>
                </a:solidFill>
                <a:latin typeface="Calibri"/>
              </a:rPr>
              <a:t>The structure word wins the 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1  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Simple molecular versus giant covalent — two different structures.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520440" cy="10972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2   Say in 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Melting iodine overcomes weak forces between I</a:t>
            </a:r>
            <a:r>
              <a:rPr sz="1600" b="0" i="0" a:ea="Calibri" baseline="-25000">
                <a:solidFill>
                  <a:srgbClr val="FFFFFF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FFFFFF"/>
                </a:solidFill>
                <a:latin typeface="Calibri"/>
              </a:rPr>
              <a:t> molecules, not I–I bonds.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520440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3   Level 3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Graphite conducts because electrons are delocalised between layers.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11  / 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Structure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Simple molecular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Strong covalent bonds within molecules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Weak forces between molecules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Low melting and boiling points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Usually do not conduct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Examples: H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O, CO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, I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, CH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Giant covalent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Vast network of covalent bonds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No separate small molecules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Very high melting points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Usually do not conduct (graphite is the exception)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Examples: diamond, graphite, SiO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12  / 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Diamond versus graphite</a:t>
            </a:r>
          </a:p>
        </p:txBody>
      </p:sp>
      <p:pic>
        <p:nvPicPr>
          <p:cNvPr id="4" name="Picture 3" descr="diamond-grap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10871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Diamond: each C bonded to four others — hard, no delocalised electrons.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602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60270"/>
            <a:ext cx="91440" cy="110871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517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Graphite: each C bonded to three others in layers.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604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360420"/>
            <a:ext cx="91440" cy="110871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4518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Spare electrons are delocalised between layers, so graphite conducts.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5605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560570"/>
            <a:ext cx="91440" cy="110871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6520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Layers can slide, so graphite is soft.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13  / 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Silicon dioxide as a giant covalent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Bonding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Each Si is covalently bonded to four O atoms.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Oxygen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Each O is bonded to two Si atoms.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 3D network — not SiO</a:t>
            </a:r>
            <a:r>
              <a:rPr sz="14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molecules.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Properties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Very high melting point; does not conduct; hard.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14  / 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743200" cy="31089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STUDENT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Bond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21792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 a:ea="Calibri">
                <a:solidFill>
                  <a:srgbClr val="B45309"/>
                </a:solidFill>
                <a:latin typeface="Calibri"/>
              </a:rPr>
              <a:t>10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89304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89304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For F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, O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, N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, CH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4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and CO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, state the number of shared pairs.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00528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846832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3408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46832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Identify any lone pairs on the central atom where relevant.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8056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404360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40936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04360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Predict whether each substance is a gas at room temperature using structure, not memory alone.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15  / 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Bond-count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F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: 1 pair. O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: 2 pairs. N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: 3 pairs.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5008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176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CH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4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: 4 pairs; no lone pair on C. CO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: two double bonds; no lone pair on 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2816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3984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All are simple molecules, so intermolecular forces are weak and they are gases at room temperature.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16  / 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A first look at dative bonding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NH</a:t>
            </a:r>
            <a:r>
              <a:rPr sz="1600" b="1" i="0" a:ea="Calibri" baseline="-25000">
                <a:solidFill>
                  <a:srgbClr val="004D40"/>
                </a:solidFill>
                <a:latin typeface="Calibri"/>
              </a:rPr>
              <a:t>4</a:t>
            </a:r>
            <a:r>
              <a:rPr sz="1600" b="1" i="0" a:ea="Calibri" baseline="30000">
                <a:solidFill>
                  <a:srgbClr val="004D40"/>
                </a:solidFill>
                <a:latin typeface="Calibri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fourth N–H bond forms when nitrogen donates its lone pair to H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+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Once formed, that bond is identical to the other N–H bonds.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Elsewhere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Carbon monoxide and some complex ions also contain dative bonds.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Treat it as a special covalent case — not a fourth main bonding type.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17  / 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Breaking covalent bonds is what happens when water boils.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Boiling overcomes intermolecular forces; the O–H bonds remain.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18816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18816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All covalent substances have low melting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18816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18816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Giant covalent structures have very high melting 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1792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31792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Covalent bonds form between a metal and a non-metal.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431792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431792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That pairing usually gives ionic bonding.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18  / 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EXAM-STYLE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3 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Describe how a covalent bond forms in a chlorine molecule.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5008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6528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4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6176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Explain why iodine melts at a much lower temperature than diamond.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6176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6176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6176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6176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6176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52816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4336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3 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3984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Explain why graphite conducts electricity but diamond does not.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3984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3984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53984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53984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53984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19  / 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Each Cl has 7 outer electrons. They share one pair. Both then have 8. The pair is attracted to both nuclei.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5008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176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Iodine is simple molecular — melting overcomes weak forces between I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molecules. Diamond is giant covalent — many strong C–C bonds must break.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2816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3984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Graphite has delocalised electrons between layers. In diamond every outer electron is held in a C–C bond.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20  / 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30–60 seconds each. No notes if you can avoid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Define a covalent bond in one sentence.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1463040"/>
            <a:ext cx="457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Give one simple-molecular and one giant-covalent example.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1463040"/>
            <a:ext cx="457200" cy="4572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Name the mobile particle that allows graphite to conduct.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21  / 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Independent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930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0759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Complete the Covalent Bonding worksheet.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4086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5915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Draw displayed formulae for H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O, NH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3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, CH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4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and CO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2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from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39242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4728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Next lesson: metallic bonding.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Covalent bonding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22  /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BTEC Unit 1 Chemistry: Covalent Bonding</dc:title>
  <dc:subject>BTEC Unit 1 Chemistry</dc:subject>
  <dc:creator>JDScience</dc:creator>
  <cp:keywords>BTEC Unit 1 Chemistry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Teaching resource</cp:category>
</cp:coreProperties>
</file>