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1325880"/>
            <a:ext cx="77724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1" i="0" a:ea="Calibri">
                <a:solidFill>
                  <a:srgbClr val="00796B"/>
                </a:solidFill>
                <a:latin typeface="Calibri"/>
              </a:rPr>
              <a:t>BTEC Level 3  ·  Applied Science  ·  Unit 1  ·  Physics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1783080"/>
            <a:ext cx="7955279" cy="19202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600" b="1" i="0" a:ea="Calibri">
                <a:solidFill>
                  <a:srgbClr val="004D40"/>
                </a:solidFill>
                <a:latin typeface="Calibri"/>
              </a:rPr>
              <a:t>BTEC Unit 1 Physics: Progressive Waves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3886200"/>
            <a:ext cx="7772400" cy="11887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475569"/>
                </a:solidFill>
                <a:latin typeface="Calibri"/>
              </a:rPr>
              <a:t>Displacement, amplitude, wavelength, frequency, period, phase and v = fλ with standard form.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5623560"/>
            <a:ext cx="777240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009688"/>
                </a:solidFill>
                <a:latin typeface="Calibri"/>
              </a:rPr>
              <a:t>PowerPoint teaching resource</a:t>
            </a:r>
          </a:p>
        </p:txBody>
      </p:sp>
      <p:pic>
        <p:nvPicPr>
          <p:cNvPr id="8" name="Picture 7" descr="wave-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5360" y="1325880"/>
            <a:ext cx="3154680" cy="416052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  /  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04672"/>
            <a:ext cx="112471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By the end of this lesson you should be able to: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070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21792" y="1408176"/>
            <a:ext cx="420624" cy="42062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447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4081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Describe a progressive wave as a transfer of energy without a net transfer of matter.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21214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1792" y="2322576"/>
            <a:ext cx="420624" cy="42062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3591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3225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Define amplitude, wavelength, frequency, period and wave speed with SI units.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0358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21792" y="3236976"/>
            <a:ext cx="420624" cy="42062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32735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2369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Use v = fλ and T = 1/f, including standard-form conversions.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39502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1792" y="4151376"/>
            <a:ext cx="420624" cy="42062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21792" y="41879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1513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Read A and λ from a displacement–distance snapshot and T from a time trace.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864608"/>
            <a:ext cx="11247120" cy="84124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21792" y="5065776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21792" y="5102352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065776"/>
            <a:ext cx="102412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700" b="0" i="0" a:ea="Calibri">
                <a:solidFill>
                  <a:srgbClr val="0F172A"/>
                </a:solidFill>
                <a:latin typeface="Calibri"/>
              </a:rPr>
              <a:t>Explain what stays the same, and what changes, when a wave enters a new medium.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  /  27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LEVEL 3 DEPTH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Beyond GCSE recall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143000"/>
            <a:ext cx="1124712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This lesson must progress past simple recall. Use these Level 3 moves in explanations and answers.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600200"/>
            <a:ext cx="11247120" cy="713232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GCSE starting point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80760" y="1728216"/>
            <a:ext cx="5623560" cy="54864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Unit 1 progression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313432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Waves move stuff along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90488" y="2404872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Energy transfers; particles oscillate about equilibrium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3026664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Amplitude is crest to trough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90488" y="3118104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A is measured from the equilibrium line; crest-to-trough is 2A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739896"/>
            <a:ext cx="11247120" cy="713232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v = fλ as a slogan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90488" y="3831336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Derive it: f oscillations each of length λ in one second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4453128"/>
            <a:ext cx="11247120" cy="713232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6692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Frequency changes in glass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90488" y="4544568"/>
            <a:ext cx="5440680" cy="56692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Frequency is fixed by the source; v and λ change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3  /  27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DO NOW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Prior knowledge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1.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does a wave transfer from one place to another?  [1]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188720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18504" y="129844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2.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11112" y="1298448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Give one wave that needs a medium and one that does not.  [2]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20 crests pass a point in 5.0 s, what is the frequency?  [2]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53912" y="3479292"/>
            <a:ext cx="5550408" cy="214426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18504" y="358902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9F1239"/>
                </a:solidFill>
                <a:latin typeface="Calibri"/>
              </a:rPr>
              <a:t>4.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11112" y="3589020"/>
            <a:ext cx="4910328" cy="1888236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What are the SI units of frequency and of wavelength?  [1]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4  /  27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Retrieval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43000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1252728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21792" y="1289304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1252728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Energy (and information).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338578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1792" y="2448306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21792" y="2484882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448306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Needs a medium: sound or water. Does not: electromagnetic waves / light.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534156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1792" y="3643884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1792" y="3680460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643884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 = 20 / 5.0 = 4.0 Hz.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729734"/>
            <a:ext cx="11247120" cy="1122426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21792" y="4839462"/>
            <a:ext cx="365760" cy="36576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1792" y="4876038"/>
            <a:ext cx="36576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43000" y="4839462"/>
            <a:ext cx="10332720" cy="95783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Frequency: hertz (Hz). Wavelength: metre (m).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5  /  27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What a progressive wave 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Energy on the move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6  /  27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A working definition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960120"/>
            <a:ext cx="91440" cy="2436876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Transfer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 progressive wave transfers energy from a source through oscillations of particles or fields.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81344" y="960120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81344" y="960120"/>
            <a:ext cx="91440" cy="2436876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7376" y="1106424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Particles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37376" y="1490472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Oscillations are about an equilibrium position — no net transfer of matter.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3598164"/>
            <a:ext cx="91440" cy="2436876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13232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Snapshot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Displacement against distance at one instant gives A and 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81344" y="3598164"/>
            <a:ext cx="5522976" cy="2436876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81344" y="3598164"/>
            <a:ext cx="91440" cy="2436876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37376" y="3744468"/>
            <a:ext cx="5111496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1" i="0" a:ea="Calibri">
                <a:solidFill>
                  <a:srgbClr val="004D40"/>
                </a:solidFill>
                <a:latin typeface="Calibri"/>
              </a:rPr>
              <a:t>Trace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37376" y="4128516"/>
            <a:ext cx="5111496" cy="17602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Displacement against time at one place gives A and T, then f = 1/T.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7  /  27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Reading a wave snapshot</a:t>
            </a:r>
          </a:p>
        </p:txBody>
      </p:sp>
      <p:pic>
        <p:nvPicPr>
          <p:cNvPr id="4" name="Picture 3" descr="wave-snap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86868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Amplitude A is the maximum displacement from equilibrium.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92024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192024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02996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Wavelength λ is the shortest distance between two points in phase.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288036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2880360"/>
            <a:ext cx="91440" cy="86868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299008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Neighbouring crests (or troughs) are one wavelength apart.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384048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3840480"/>
            <a:ext cx="91440" cy="8686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395020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The equilibrium line is not a trough.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0" y="4800600"/>
            <a:ext cx="5029200" cy="86868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675120" y="4800600"/>
            <a:ext cx="91440" cy="868680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31152" y="4910328"/>
            <a:ext cx="4617720" cy="6858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Crest-to-trough height is 2A.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" y="5742432"/>
            <a:ext cx="612648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Original displacement–distance sketch.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8  /  27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Wave quantities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05840"/>
            <a:ext cx="11247120" cy="658368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Quantity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6898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Symbol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8076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SI unit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92540" y="1115568"/>
            <a:ext cx="2811780" cy="5120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1" i="0" a:ea="Calibri">
                <a:solidFill>
                  <a:srgbClr val="FFFFFF"/>
                </a:solidFill>
                <a:latin typeface="Calibri"/>
              </a:rPr>
              <a:t>Meaning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64208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Displacement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4213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 or 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15391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965692" y="175564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Distance from equilibrium at that instant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2576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Amplitude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4213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5391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65692" y="2414016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Maximum displacement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2980944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Wavelength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4213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λ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15391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5692" y="3072384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Shortest distance between points in phase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3639312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Frequency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4213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5391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Hz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965692" y="3730752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Oscillations per second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4297680"/>
            <a:ext cx="11247120" cy="658368"/>
          </a:xfrm>
          <a:prstGeom prst="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Period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34213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15391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965692" y="4389120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Time for one complete oscillation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956048"/>
            <a:ext cx="11247120" cy="658368"/>
          </a:xfrm>
          <a:prstGeom prst="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504748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Wave speed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342132" y="504748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v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153912" y="504748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m s</a:t>
            </a:r>
            <a:r>
              <a:rPr sz="1300" b="0" i="0" a:ea="Calibri" baseline="30000">
                <a:solidFill>
                  <a:srgbClr val="0F172A"/>
                </a:solidFill>
                <a:latin typeface="Calibri"/>
              </a:rPr>
              <a:t>-1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965692" y="5047488"/>
            <a:ext cx="2702052" cy="53035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300" b="0" i="0" a:ea="Calibri">
                <a:solidFill>
                  <a:srgbClr val="0F172A"/>
                </a:solidFill>
                <a:latin typeface="Calibri"/>
              </a:rPr>
              <a:t>Distance the wave profile travels per second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806440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475569"/>
                </a:solidFill>
                <a:latin typeface="Calibri"/>
              </a:rPr>
              <a:t>Write the unit of v as m s</a:t>
            </a:r>
            <a:r>
              <a:rPr sz="1300" b="0" i="0" a:ea="Calibri" baseline="30000">
                <a:solidFill>
                  <a:srgbClr val="475569"/>
                </a:solidFill>
                <a:latin typeface="Calibri"/>
              </a:rPr>
              <a:t>−1</a:t>
            </a:r>
            <a:r>
              <a:rPr sz="1300" b="0" i="0" a:ea="Calibri">
                <a:solidFill>
                  <a:srgbClr val="475569"/>
                </a:solidFill>
                <a:latin typeface="Calibri"/>
              </a:rPr>
              <a:t>, not just m.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9  /  27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Frequency and period</a:t>
            </a:r>
          </a:p>
        </p:txBody>
      </p:sp>
      <p:pic>
        <p:nvPicPr>
          <p:cNvPr id="4" name="Picture 3" descr="period-frequ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 = 1 / f and f = 1 / 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T = 0.020 s, f = 50 Hz.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f = 2.5 kHz, convert to 2500 Hz first: T = 4.0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−4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Frequency is set by the source, not by the medium.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10  /  27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Phase on a snapshot</a:t>
            </a:r>
          </a:p>
        </p:txBody>
      </p:sp>
      <p:pic>
        <p:nvPicPr>
          <p:cNvPr id="4" name="Picture 3" descr="phase-poi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Points a whole number of wavelengths apart are in phase.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Points 0.5 λ apart are in antiphase.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You cannot read λ from a time graph or T from a distance graph.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Both graphs can look like sine waves — label the axis first.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11  /  27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880360"/>
            <a:ext cx="12191695" cy="73152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965960"/>
            <a:ext cx="10881360" cy="9144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3400" b="1" i="0" a:ea="Calibri">
                <a:solidFill>
                  <a:srgbClr val="FFFFFF"/>
                </a:solidFill>
                <a:latin typeface="Calibri"/>
              </a:rPr>
              <a:t>The wave equation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154680"/>
            <a:ext cx="10881360" cy="822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800" b="0" i="0" a:ea="Calibri">
                <a:solidFill>
                  <a:srgbClr val="CCFBF1"/>
                </a:solidFill>
                <a:latin typeface="Calibri"/>
              </a:rPr>
              <a:t>v = fλ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12  /  27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Why the equation works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260043" y="1234440"/>
            <a:ext cx="512064" cy="512064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60043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5216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In 1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3504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The source produces f oscillations.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501798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39542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542385" y="1234440"/>
            <a:ext cx="512064" cy="512064"/>
          </a:xfrm>
          <a:prstGeom prst="roundRect">
            <a:avLst/>
          </a:prstGeom>
          <a:solidFill>
            <a:srgbClr val="0079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42385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67558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Each one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5846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Occupies a length λ.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4140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1884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824728" y="1234440"/>
            <a:ext cx="512064" cy="512064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824728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49900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So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8188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The profile advances f × λ metres in one second.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66483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04227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107070" y="1234440"/>
            <a:ext cx="512064" cy="512064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07070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32243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That is v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0531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v = fλ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348825" y="3108960"/>
            <a:ext cx="256032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000" b="1" i="0" a:ea="Calibri">
                <a:solidFill>
                  <a:srgbClr val="009688"/>
                </a:solidFill>
                <a:latin typeface="Calibri"/>
              </a:rPr>
              <a:t>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586569" y="1051560"/>
            <a:ext cx="211775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389412" y="1234440"/>
            <a:ext cx="512064" cy="51206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89412" y="1298448"/>
            <a:ext cx="512064" cy="384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714585" y="1920240"/>
            <a:ext cx="1861718" cy="640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004D40"/>
                </a:solidFill>
                <a:latin typeface="Calibri"/>
              </a:rPr>
              <a:t>Rearrange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32873" y="2606040"/>
            <a:ext cx="1825142" cy="29260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0" i="0" a:ea="Calibri">
                <a:solidFill>
                  <a:srgbClr val="0F172A"/>
                </a:solidFill>
                <a:latin typeface="Calibri"/>
              </a:rPr>
              <a:t>f = v / λ     λ = v / f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4" name="Picture 3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5" name="TextBox 3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13  /  27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Sound — tuning fork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tuning fork of frequency 512 Hz produces sound of wavelength 0.65 m in air. Calculate v.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v = fλ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v = 512 Hz × 0.65 m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v = 332.8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333    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(3 s.f.)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This is a sensible speed of sound in air. If the same frequency entered water, v and λ would both increase.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14  /  27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Radio wave — standard form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radio station broadcasts at 100 MHz. Take c = 3.00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 Calculate 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λ = v / 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 = 100 MHz = 1.00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Hz     v = 3.00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λ = (3.00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) / (1.00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) = 3.00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3.00 m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Write the powers of ten on a separate line. Electromagnetic waves in air travel at approximately c.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15  /  27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Standard form you must convert</a:t>
            </a:r>
          </a:p>
        </p:txBody>
      </p:sp>
      <p:pic>
        <p:nvPicPr>
          <p:cNvPr id="4" name="Picture 3" descr="standard-for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1 MHz = 1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6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Hz.  1 GHz = 1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9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Hz.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1 nm = 1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−9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m.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Always convert to Hz and m before using v = fλ.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Worked check: 600 nm light. f = (3.00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) / (6.00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−7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) = 5.00 × 10</a:t>
            </a:r>
            <a:r>
              <a:rPr sz="1400" b="0" i="0" a:ea="Calibri" baseline="30000">
                <a:solidFill>
                  <a:srgbClr val="0F172A"/>
                </a:solidFill>
                <a:latin typeface="Calibri"/>
              </a:rPr>
              <a:t>14</a:t>
            </a:r>
            <a:r>
              <a:rPr sz="1400" b="0" i="0" a:ea="Calibri">
                <a:solidFill>
                  <a:srgbClr val="0F172A"/>
                </a:solidFill>
                <a:latin typeface="Calibri"/>
              </a:rPr>
              <a:t> Hz.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16  /  27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Changing medium — wavefronts</a:t>
            </a:r>
          </a:p>
        </p:txBody>
      </p:sp>
      <p:pic>
        <p:nvPicPr>
          <p:cNvPr id="4" name="Picture 3" descr="wavefront-mediu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960120"/>
            <a:ext cx="6126480" cy="4709160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6675120" y="960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0" y="960120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931152" y="1069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Frequency stays the same at the boundary.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2103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675120" y="2103120"/>
            <a:ext cx="91440" cy="105156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931152" y="2212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speed falls, wavelength shortens — the wavefronts crowd together.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0" y="3246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0" y="3246120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31152" y="3355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If speed rises, wavelength increases.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0" y="4389120"/>
            <a:ext cx="50292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75120" y="4389120"/>
            <a:ext cx="91440" cy="105156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31152" y="4498848"/>
            <a:ext cx="4617720" cy="8686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This is the same logic as light slowing in glass.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17  /  27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E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377440" cy="310896"/>
          </a:xfrm>
          <a:prstGeom prst="roundRect">
            <a:avLst/>
          </a:prstGeom>
          <a:solidFill>
            <a:srgbClr val="0E74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3774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WORKED EXAMPLE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Water waves entering shallows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11247120" cy="86868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188720"/>
            <a:ext cx="91440" cy="86868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6" y="1261872"/>
            <a:ext cx="1088136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1E3A5F"/>
                </a:solidFill>
                <a:latin typeface="Calibri"/>
              </a:rPr>
              <a:t>Question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" y="1536192"/>
            <a:ext cx="10881360" cy="4297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Frequency is 2.0 Hz in both regions. Deep-water speed 0.80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; shallow-water speed 0.50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 Find both wavelengths.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76272"/>
            <a:ext cx="5486400" cy="10515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176272"/>
            <a:ext cx="91440" cy="105156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76656" y="2249424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09688"/>
                </a:solidFill>
                <a:latin typeface="Calibri"/>
              </a:rPr>
              <a:t>Equation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" y="2523744"/>
            <a:ext cx="512064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λ = v / f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26480" y="2176272"/>
            <a:ext cx="5577840" cy="105156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2176272"/>
            <a:ext cx="91440" cy="1051560"/>
          </a:xfrm>
          <a:prstGeom prst="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45936" y="2249424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5B21B6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5936" y="2523744"/>
            <a:ext cx="5212080" cy="6126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 = 2.0 Hz in both regions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46704"/>
            <a:ext cx="5486400" cy="1325880"/>
          </a:xfrm>
          <a:prstGeom prst="round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346704"/>
            <a:ext cx="91440" cy="1325880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76656" y="3419856"/>
            <a:ext cx="512064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B45309"/>
                </a:solidFill>
                <a:latin typeface="Calibri"/>
              </a:rPr>
              <a:t>Working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76656" y="3694176"/>
            <a:ext cx="512064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λ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d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eep = 0.80 / 2.0 = 0.40 m     λ</a:t>
            </a:r>
            <a:r>
              <a:rPr sz="1600" b="0" i="0" a:ea="Calibri" baseline="-25000">
                <a:solidFill>
                  <a:srgbClr val="0F172A"/>
                </a:solidFill>
                <a:latin typeface="Calibri"/>
              </a:rPr>
              <a:t>s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hallow = 0.50 / 2.0 = 0.25 m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26480" y="3346704"/>
            <a:ext cx="5577840" cy="1325880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26480" y="3346704"/>
            <a:ext cx="91440" cy="1325880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345936" y="3419856"/>
            <a:ext cx="5212080" cy="25603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Answer + unit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45936" y="3694176"/>
            <a:ext cx="5212080" cy="8869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0.40 m and 0.25 m    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11247120" cy="12344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475569"/>
                </a:solidFill>
                <a:latin typeface="Calibri"/>
              </a:rPr>
              <a:t>The waves crowd together because speed fell while frequency stayed the same.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18  /  27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Calculation scaffold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210312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2103120"/>
          </a:xfrm>
          <a:prstGeom prst="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114300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9688"/>
                </a:solidFill>
                <a:latin typeface="Calibri"/>
              </a:rPr>
              <a:t>Given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25 cm wavelength</a:t>
            </a:r>
          </a:p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4.0 kHz frequency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2103120"/>
          </a:xfrm>
          <a:prstGeom prst="roundRect">
            <a:avLst/>
          </a:prstGeom>
          <a:solidFill>
            <a:srgbClr val="E8EE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2103120"/>
          </a:xfrm>
          <a:prstGeom prst="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143000"/>
            <a:ext cx="502920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1E3A5F"/>
                </a:solidFill>
                <a:latin typeface="Calibri"/>
              </a:rPr>
              <a:t>Find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155448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500" b="0" i="0" a:ea="Calibri">
                <a:solidFill>
                  <a:srgbClr val="0F172A"/>
                </a:solidFill>
                <a:latin typeface="Calibri"/>
              </a:rPr>
              <a:t>•  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v in m 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Equation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472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Substitution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472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508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Working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508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98280" y="3291840"/>
            <a:ext cx="2743200" cy="2697480"/>
          </a:xfrm>
          <a:prstGeom prst="roundRect">
            <a:avLst/>
          </a:prstGeom>
          <a:solidFill>
            <a:srgbClr val="F8FA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0" y="3429000"/>
            <a:ext cx="246888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1" i="0" a:ea="Calibri">
                <a:solidFill>
                  <a:srgbClr val="004D40"/>
                </a:solidFill>
                <a:latin typeface="Calibri"/>
              </a:rPr>
              <a:t>Answer + unit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235440" y="3840480"/>
            <a:ext cx="2468880" cy="19659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 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080760"/>
            <a:ext cx="11247120" cy="20116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0" i="0" a:ea="Calibri">
                <a:solidFill>
                  <a:srgbClr val="475569"/>
                </a:solidFill>
                <a:latin typeface="Calibri"/>
              </a:rPr>
              <a:t>Convert first: λ = 0.25 m, f = 4000 Hz.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19  /  27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CHECK YOUR UNDERSTANDING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Wave-equation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Water waves have f = 2.5 Hz and λ = 1.2 m. Find v.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6176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microwave oven uses f = 2.45 GHz. Taking c = 3.00 × 10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, find 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4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wave travels 90 m in 0.30 s. If λ = 1.5 m, find f.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20  /  27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Calculation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v = 2.5 × 1.2 = 3.0 m 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f = 2.45 × 10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9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 Hz. λ = (3.00 × 10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8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) / (2.45 × 10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9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) = 0.122 m (12.2 cm).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v = 90 / 0.30 = 300 m s</a:t>
            </a:r>
            <a:r>
              <a:rPr sz="15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500" b="0" i="0" a:ea="Calibri">
                <a:solidFill>
                  <a:srgbClr val="0F172A"/>
                </a:solidFill>
                <a:latin typeface="Calibri"/>
              </a:rPr>
              <a:t>. f = 300 / 1.5 = 200 Hz.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21  /  27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743200" cy="310896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74320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STUDENT ACTIVITY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Graph reading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621792"/>
            <a:ext cx="2560320" cy="292608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400" b="1" i="0" a:ea="Calibri">
                <a:solidFill>
                  <a:srgbClr val="B45309"/>
                </a:solidFill>
                <a:latin typeface="Calibri"/>
              </a:rPr>
              <a:t>10 minutes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143000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289304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25880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289304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From a displacement–distance graph: measure A and λ (use the scale).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315718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40080" y="2462022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2498598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2462022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From a displacement–time graph of the same wave: measure T and calculate f.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3488436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3634740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671316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3634740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Combine f and λ to find v.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4661154"/>
            <a:ext cx="11247120" cy="1081278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4807458"/>
            <a:ext cx="420624" cy="420624"/>
          </a:xfrm>
          <a:prstGeom prst="round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4844034"/>
            <a:ext cx="420624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400" b="1" i="0" a:ea="Calibri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807458"/>
            <a:ext cx="10195560" cy="861822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which quantity you must not read as amplitude (a random displacement).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22  /  27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Common misconceptions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005840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Amplitude is the crest-to-trough height.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1005840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1005840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0" y="1097280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353312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That distance is 2A. Amplitude is measured from the equilibrium line.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718816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718816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Wave speed is how fast a particle travels along the wave.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718816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72200" y="2718816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810256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6288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v is the speed of the wave profile / energy transfer.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431792"/>
            <a:ext cx="5532120" cy="1603248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4431792"/>
            <a:ext cx="82296" cy="1603248"/>
          </a:xfrm>
          <a:prstGeom prst="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85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9F1239"/>
                </a:solidFill>
                <a:latin typeface="Calibri"/>
              </a:rPr>
              <a:t>Not quite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5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Frequency changes when a wave enters glass.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431792"/>
            <a:ext cx="5532120" cy="1603248"/>
          </a:xfrm>
          <a:prstGeom prst="round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72200" y="4431792"/>
            <a:ext cx="82296" cy="1603248"/>
          </a:xfrm>
          <a:prstGeom prst="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523232"/>
            <a:ext cx="5074920" cy="237744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200" b="1" i="0" a:ea="Calibri">
                <a:solidFill>
                  <a:srgbClr val="047857"/>
                </a:solidFill>
                <a:latin typeface="Calibri"/>
              </a:rPr>
              <a:t>Instead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4779264"/>
            <a:ext cx="5074920" cy="1146048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0F172A"/>
                </a:solidFill>
                <a:latin typeface="Calibri"/>
              </a:rPr>
              <a:t>Frequency is fixed by the source.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9" name="Picture 2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23  /  27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3291840" cy="310896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329184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EXAM-STYLE PRACTICE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practice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Define amplitude and wavelength.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55008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6528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2 marks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56176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A loudspeaker produces a note of frequency 680 Hz. The speed of sound is 340 m s</a:t>
            </a:r>
            <a:r>
              <a:rPr sz="1600" b="0" i="0" a:ea="Calibri" baseline="30000">
                <a:solidFill>
                  <a:srgbClr val="0F172A"/>
                </a:solidFill>
                <a:latin typeface="Calibri"/>
              </a:rPr>
              <a:t>−1</a:t>
            </a:r>
            <a:r>
              <a:rPr sz="1600" b="0" i="0" a:ea="Calibri">
                <a:solidFill>
                  <a:srgbClr val="0F172A"/>
                </a:solidFill>
                <a:latin typeface="Calibri"/>
              </a:rPr>
              <a:t>. Calculate the wavelength.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52816" y="1188720"/>
            <a:ext cx="3651504" cy="443484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9F12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84336" y="1426464"/>
            <a:ext cx="2645664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3 marks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53984" y="2011680"/>
            <a:ext cx="3249168" cy="338328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Explain why particles of air do not travel from a singer to a listener even though a sound wave does.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742432"/>
            <a:ext cx="1124712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300" b="1" i="0" a:ea="Calibri">
                <a:solidFill>
                  <a:srgbClr val="9F1239"/>
                </a:solidFill>
                <a:latin typeface="Calibri"/>
              </a:rPr>
              <a:t>Think first — answers are on the next slide.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24  /  27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FD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457200" y="201168"/>
            <a:ext cx="2011680" cy="310896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228600"/>
            <a:ext cx="2011680" cy="283464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100" b="1" i="0" a:ea="Calibri">
                <a:solidFill>
                  <a:srgbClr val="FFFFFF"/>
                </a:solidFill>
                <a:latin typeface="Calibri"/>
              </a:rPr>
              <a:t>ANSWERS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85216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600" b="1" i="0" a:ea="Calibri">
                <a:solidFill>
                  <a:srgbClr val="004D40"/>
                </a:solidFill>
                <a:latin typeface="Calibri"/>
              </a:rPr>
              <a:t>Exam-style answers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40080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Amplitude: maximum displacement from equilibrium. Wavelength: shortest distance between two points oscillating in phase.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55008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437888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37888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56176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λ = v / f = 340 / 680 = 0.50 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52816" y="1188720"/>
            <a:ext cx="3651504" cy="470916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35696" y="1371600"/>
            <a:ext cx="457200" cy="457200"/>
          </a:xfrm>
          <a:prstGeom prst="roundRect">
            <a:avLst/>
          </a:prstGeom>
          <a:solidFill>
            <a:srgbClr val="047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35696" y="1426464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3984" y="2011680"/>
            <a:ext cx="3249168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500" b="0" i="0" a:ea="Calibri">
                <a:solidFill>
                  <a:srgbClr val="0F172A"/>
                </a:solidFill>
                <a:latin typeface="Calibri"/>
              </a:rPr>
              <a:t>Air particles oscillate about fixed average positions. Energy is passed from particle to particle. There is no net movement of air.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25  /  27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Plenary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22960"/>
            <a:ext cx="11247120" cy="32004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400" b="0" i="0" a:ea="Calibri">
                <a:solidFill>
                  <a:srgbClr val="475569"/>
                </a:solidFill>
                <a:latin typeface="Calibri"/>
              </a:rPr>
              <a:t>30–60 seconds each. No notes if you can avoid them.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640080" y="1463040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Write v = fλ and annotate each symbol with a unit.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6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450080" y="1463040"/>
            <a:ext cx="457200" cy="457200"/>
          </a:xfrm>
          <a:prstGeom prst="roundRect">
            <a:avLst/>
          </a:prstGeom>
          <a:solidFill>
            <a:srgbClr val="1E3A5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5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5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Sketch one wavelength and mark A and λ.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7200" y="1280160"/>
            <a:ext cx="3627120" cy="4709160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60080" y="1463040"/>
            <a:ext cx="457200" cy="457200"/>
          </a:xfrm>
          <a:prstGeom prst="roundRect">
            <a:avLst/>
          </a:prstGeom>
          <a:solidFill>
            <a:srgbClr val="5B21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60080" y="1536192"/>
            <a:ext cx="457200" cy="347472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6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0080" y="2103120"/>
            <a:ext cx="3261360" cy="365760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State what stays the same when a wave crosses into a new medium.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26  /  27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37744"/>
            <a:ext cx="1124712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2800" b="1" i="0" a:ea="Calibri">
                <a:solidFill>
                  <a:srgbClr val="004D40"/>
                </a:solidFill>
                <a:latin typeface="Calibri"/>
              </a:rPr>
              <a:t>Independent practice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5156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28930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134416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0759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Complete the Progressive Waves worksheet, including the calculation pages.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10312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40080" y="234086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239572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35915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Practise 1/f and unit conversions (kHz, MHz, GHz, nm, mm).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154680"/>
            <a:ext cx="11247120" cy="932688"/>
          </a:xfrm>
          <a:prstGeom prst="roundRect">
            <a:avLst/>
          </a:prstGeom>
          <a:solidFill>
            <a:srgbClr val="F0FD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457200" cy="457200"/>
          </a:xfrm>
          <a:prstGeom prst="roundRect">
            <a:avLst/>
          </a:prstGeom>
          <a:solidFill>
            <a:srgbClr val="0096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3447288"/>
            <a:ext cx="457200" cy="365760"/>
          </a:xfrm>
          <a:prstGeom prst="rect">
            <a:avLst/>
          </a:prstGeom>
          <a:noFill/>
        </p:spPr>
        <p:txBody>
          <a:bodyPr wrap="square" anchor="t"/>
          <a:lstStyle/>
          <a:p>
            <a:pPr algn="ctr"/>
            <a:r>
              <a:rPr sz="1500" b="1" i="0" a:ea="Calibri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410712"/>
            <a:ext cx="10149840" cy="5029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600" b="0" i="0" a:ea="Calibri">
                <a:solidFill>
                  <a:srgbClr val="0F172A"/>
                </a:solidFill>
                <a:latin typeface="Calibri"/>
              </a:rPr>
              <a:t>Next lesson: transverse and longitudinal behaviour, phase and superposition.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37376"/>
            <a:ext cx="12191695" cy="420624"/>
          </a:xfrm>
          <a:prstGeom prst="rect">
            <a:avLst/>
          </a:prstGeom>
          <a:solidFill>
            <a:srgbClr val="004D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jdscience-footer-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1168" y="6501384"/>
            <a:ext cx="292608" cy="29260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66928" y="6510528"/>
            <a:ext cx="2194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1" i="0" a:ea="Calibri">
                <a:solidFill>
                  <a:srgbClr val="FFFFFF"/>
                </a:solidFill>
                <a:latin typeface="Calibri"/>
              </a:rPr>
              <a:t>jdscience.co.uk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26080" y="6510528"/>
            <a:ext cx="67665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l"/>
            <a:r>
              <a:rPr sz="1100" b="0" i="0" a:ea="Calibri">
                <a:solidFill>
                  <a:srgbClr val="CCFBF1"/>
                </a:solidFill>
                <a:latin typeface="Calibri"/>
              </a:rPr>
              <a:t>Progressive waves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241280" y="6510528"/>
            <a:ext cx="1737360" cy="274320"/>
          </a:xfrm>
          <a:prstGeom prst="rect">
            <a:avLst/>
          </a:prstGeom>
          <a:noFill/>
        </p:spPr>
        <p:txBody>
          <a:bodyPr wrap="square" anchor="t"/>
          <a:lstStyle/>
          <a:p>
            <a:pPr algn="r"/>
            <a:r>
              <a:rPr sz="1100" b="1" i="0" a:ea="Calibri">
                <a:solidFill>
                  <a:srgbClr val="FFFFFF"/>
                </a:solidFill>
                <a:latin typeface="Calibri"/>
              </a:rPr>
              <a:t>27  /  27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BTEC Unit 1 Physics: Progressive Waves</dc:title>
  <dc:subject>BTEC Unit 1 Physics</dc:subject>
  <dc:creator>JDScience</dc:creator>
  <cp:keywords>BTEC Unit 1 Physics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>Teaching resource</cp:category>
</cp:coreProperties>
</file>