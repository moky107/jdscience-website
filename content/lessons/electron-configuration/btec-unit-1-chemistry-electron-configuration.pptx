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7772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796B"/>
                </a:solidFill>
                <a:latin typeface="Calibri"/>
              </a:rPr>
              <a:t>BTEC Level 3  ·  Applied Science  ·  Unit 1  · 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7955279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 a:ea="Calibri">
                <a:solidFill>
                  <a:srgbClr val="004D40"/>
                </a:solidFill>
                <a:latin typeface="Calibri"/>
              </a:rPr>
              <a:t>BTEC Unit 1 Chemistry: Electron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86200"/>
            <a:ext cx="7772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475569"/>
                </a:solidFill>
                <a:latin typeface="Calibri"/>
              </a:rPr>
              <a:t>Shells for the first 20 elements, then s, p and d subshells, Aufbau, orbital boxes and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23560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009688"/>
                </a:solidFill>
                <a:latin typeface="Calibri"/>
              </a:rPr>
              <a:t>PowerPoint teaching resource</a:t>
            </a:r>
          </a:p>
        </p:txBody>
      </p:sp>
      <p:pic>
        <p:nvPicPr>
          <p:cNvPr id="8" name="Picture 7" descr="orbital-bo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25880"/>
            <a:ext cx="315468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  / 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08176"/>
            <a:ext cx="420624" cy="42062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081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Write shell configurations (2,8,8,2) for the first 20 elements as a starting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2322576"/>
            <a:ext cx="420624" cy="420624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591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225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Describe s, p and d subshells and state their capacities.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358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3236976"/>
            <a:ext cx="420624" cy="42062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735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369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Write configurations such as 1s</a:t>
            </a:r>
            <a:r>
              <a:rPr sz="17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7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7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7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700" b="0" i="0" a:ea="Calibri" baseline="30000">
                <a:solidFill>
                  <a:srgbClr val="0F172A"/>
                </a:solidFill>
                <a:latin typeface="Calibri"/>
              </a:rPr>
              <a:t>4</a:t>
            </a:r>
            <a:r>
              <a:rPr sz="1700" b="0" i="0" a:ea="Calibri">
                <a:solidFill>
                  <a:srgbClr val="0F172A"/>
                </a:solidFill>
                <a:latin typeface="Calibri"/>
              </a:rPr>
              <a:t> using the Aufbau order.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502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" y="4151376"/>
            <a:ext cx="420624" cy="420624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1879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513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Draw orbital box diagrams and apply Hund’s rule.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646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5065776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1023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657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Use configuration to predict simple ion charges and identify s, p or d block.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  / 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LEVEL 3 DEPTH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Beyond GCSE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This lesson must progress past simple recall. Use these Level 3 moves in explanations and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71323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GCSE starting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Unit 1 progression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2,8,8 for everything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Keep 2,8,8,2 for Ca, then write 4s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after 3p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26664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Electrons in shells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Subshells, orbitals, opposite spin, Hund’s rule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9896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Ions ‘want a full shell’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State the electron change and the new configuration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53128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Ignore the periodic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Link ns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1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, ns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and ns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np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5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to group number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  / 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Prior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How many electrons can the first shell hold?  [1]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Why do atoms form ions?  [2]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What does the group number of sodium tell you?  [1]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Which particle is rearranged during bonding?  [1]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4  / 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Prior-knowledge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A maximum of two electrons.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To obtain a more stable (often full) outer shell.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Sodium is in Group 1, so it has one outer-shell electron.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Electrons.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5  / 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FFFFFF"/>
                </a:solidFill>
                <a:latin typeface="Calibri"/>
              </a:rPr>
              <a:t>Shells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CCFBF1"/>
                </a:solidFill>
                <a:latin typeface="Calibri"/>
              </a:rPr>
              <a:t>A useful model for the first 20 elements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2044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1  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Maximum 2, then 8, then 8, then 2 — calcium is 2,8,8,2.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3520440" cy="10972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2   Say in 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Electrons occupy the lowest available shell first.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520440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3   Level 3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This is the GCSE starting point. Subshells come next.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6  / 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Electron shells</a:t>
            </a:r>
          </a:p>
        </p:txBody>
      </p:sp>
      <p:pic>
        <p:nvPicPr>
          <p:cNvPr id="4" name="Picture 3" descr="electron-sh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10871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Electrons occupy the lowest available shell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602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60270"/>
            <a:ext cx="91440" cy="110871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517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For the first 20 elements this course uses 2, 8, 8, then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3604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360420"/>
            <a:ext cx="91440" cy="110871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4518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Calcium is 2,8,8,2 — not 2,8,10.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5605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560570"/>
            <a:ext cx="91440" cy="110871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6520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Period number matches the number of occupied shells for main-group atoms.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742432"/>
            <a:ext cx="6126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This is the GCSE starting point. The lesson now moves to subshells.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7  / 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Selected shell configurations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28117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68980" y="1115568"/>
            <a:ext cx="28117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115568"/>
            <a:ext cx="28117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Shells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2540" y="1115568"/>
            <a:ext cx="28117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Common 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2132" y="1755648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755648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5692" y="1755648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none (noble gas)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22576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414016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2132" y="2414016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414016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2,6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5692" y="2414016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O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80944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072384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2132" y="3072384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3072384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2,8,1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5692" y="3072384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Na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39312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730752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2132" y="3730752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3730752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2,8,7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5692" y="3730752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Cl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97680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389120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42132" y="4389120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3912" y="4389120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2,8,8,2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5692" y="4389120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Ca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475569"/>
                </a:solidFill>
                <a:latin typeface="Calibri"/>
              </a:rPr>
              <a:t>Learn the pattern, then rewrite the same atoms in subshell form.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8  / 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Worked example — chlorine shells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60043" y="1234440"/>
            <a:ext cx="512064" cy="51206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43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Chlorine has 17 electrons.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1798" y="3108960"/>
            <a:ext cx="256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 a:ea="Calibri">
                <a:solidFill>
                  <a:srgbClr val="00968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9542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42385" y="1234440"/>
            <a:ext cx="512064" cy="512064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2385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7558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Fill 1st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5846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2 electrons; 15 remain.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4140" y="3108960"/>
            <a:ext cx="256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 a:ea="Calibri">
                <a:solidFill>
                  <a:srgbClr val="00968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1884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24728" y="1234440"/>
            <a:ext cx="512064" cy="51206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728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9900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Fill 2nd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8188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8 electrons; 7 remain.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6483" y="3108960"/>
            <a:ext cx="256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 a:ea="Calibri">
                <a:solidFill>
                  <a:srgbClr val="009688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4227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07070" y="1234440"/>
            <a:ext cx="512064" cy="512064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7070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2243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Write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531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Configuration 2,8,7.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8825" y="3108960"/>
            <a:ext cx="256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 a:ea="Calibri">
                <a:solidFill>
                  <a:srgbClr val="009688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6569" y="1051560"/>
            <a:ext cx="211775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89412" y="1234440"/>
            <a:ext cx="512064" cy="51206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89412" y="1298448"/>
            <a:ext cx="5120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4585" y="1920240"/>
            <a:ext cx="186171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004D40"/>
                </a:solidFill>
                <a:latin typeface="Calibri"/>
              </a:rPr>
              <a:t>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2873" y="2606040"/>
            <a:ext cx="1825142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Cl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is 2,8,8.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9  / 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Write the shell configurations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Nitrogen (Z = 7)  [1]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Magnesium (Z = 12)  [1]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Phosphorus (Z = 15)  [1]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Potassium (Z = 19) and 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(Z = 16)  [2]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10  / 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Shell-configuration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N: 2,5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Mg: 2,8,2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P: 2,8,5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K: 2,8,8,1     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: 2,8,8  (atom is 2,8,6)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11  / 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FFFFFF"/>
                </a:solidFill>
                <a:latin typeface="Calibri"/>
              </a:rPr>
              <a:t>Subshells and orbitals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CCFBF1"/>
                </a:solidFill>
                <a:latin typeface="Calibri"/>
              </a:rPr>
              <a:t>Why 2,8,8 is not the whole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2044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1  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s, p and d capacities: 2, 6 and 10. Boxes with spin arrows.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3520440" cy="10972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2   Say in 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Oxygen is 1s</a:t>
            </a:r>
            <a:r>
              <a:rPr sz="1600" b="0" i="0" a:ea="Calibri" baseline="30000">
                <a:solidFill>
                  <a:srgbClr val="FFFFFF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FFFFFF"/>
                </a:solidFill>
                <a:latin typeface="Calibri"/>
              </a:rPr>
              <a:t> 2s</a:t>
            </a:r>
            <a:r>
              <a:rPr sz="1600" b="0" i="0" a:ea="Calibri" baseline="30000">
                <a:solidFill>
                  <a:srgbClr val="FFFFFF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FFFFFF"/>
                </a:solidFill>
                <a:latin typeface="Calibri"/>
              </a:rPr>
              <a:t> 2p</a:t>
            </a:r>
            <a:r>
              <a:rPr sz="1600" b="0" i="0" a:ea="Calibri" baseline="30000">
                <a:solidFill>
                  <a:srgbClr val="FFFFFF"/>
                </a:solidFill>
                <a:latin typeface="Calibri"/>
              </a:rPr>
              <a:t>4</a:t>
            </a:r>
            <a:r>
              <a:rPr sz="1600" b="0" i="0" a:ea="Calibri">
                <a:solidFill>
                  <a:srgbClr val="FFFFFF"/>
                </a:solidFill>
                <a:latin typeface="Calibri"/>
              </a:rPr>
              <a:t> — four electrons in 2p, not four p subshells.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520440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3   Level 3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Apply Aufbau, Pauli and Hund, then rewrite the ion configuration.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12  / 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Subshell capacities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1 orbital. Maximum 2 electrons. Example: 1s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, 2s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, 3s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3 orbitals. Maximum 6 electrons. Example: 2p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, 3p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5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5 orbitals. Maximum 10 electrons. Used when assigning the d-block.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Orbital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 region that holds two electrons of opposite spin.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13  / 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Aufbau order at this level</a:t>
            </a:r>
          </a:p>
        </p:txBody>
      </p:sp>
      <p:pic>
        <p:nvPicPr>
          <p:cNvPr id="4" name="Picture 3" descr="aufbau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Fill 1s, 2s, 2p, 3s, 3p, then 4s, then 3d.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1168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4s is filled before 3d for isolated atoms of the first transition series.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7180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Oxygen is 1s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4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Calcium is 1s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3s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3p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4s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89204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Always write the superscripts.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14  / 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377440" cy="310896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3774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Phosphorus in subshell 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86868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261872"/>
            <a:ext cx="10881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1E3A5F"/>
                </a:solidFill>
                <a:latin typeface="Calibri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36192"/>
            <a:ext cx="10881360" cy="429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Write the full configuration and the noble-gas shorthand for phosphorus (Z = 15).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76272"/>
            <a:ext cx="54864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76272"/>
            <a:ext cx="9144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49424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09688"/>
                </a:solidFill>
                <a:latin typeface="Calibri"/>
              </a:rPr>
              <a:t>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23744"/>
            <a:ext cx="5120640" cy="6126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Fill lowest subshells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76272"/>
            <a:ext cx="5577840" cy="105156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176272"/>
            <a:ext cx="91440" cy="10515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249424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5B21B6"/>
                </a:solidFill>
                <a:latin typeface="Calibri"/>
              </a:rPr>
              <a:t>Substitution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523744"/>
            <a:ext cx="5212080" cy="6126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15 electrons: 1s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uses 10; 5 remain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46704"/>
            <a:ext cx="5486400" cy="132588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46704"/>
            <a:ext cx="91440" cy="13258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419856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B45309"/>
                </a:solidFill>
                <a:latin typeface="Calibri"/>
              </a:rPr>
              <a:t>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694176"/>
            <a:ext cx="5120640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3s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3p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3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uses the remaining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346704"/>
            <a:ext cx="5577840" cy="13258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346704"/>
            <a:ext cx="91440" cy="1325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419856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Answer + 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694176"/>
            <a:ext cx="5212080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1s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3s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3p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3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    [Ne] 3s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3p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00600"/>
            <a:ext cx="112471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The 3 shows three electrons in 3p, not three p subshells.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15  / 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Orbital boxes — actually drawn</a:t>
            </a:r>
          </a:p>
        </p:txBody>
      </p:sp>
      <p:pic>
        <p:nvPicPr>
          <p:cNvPr id="4" name="Picture 3" descr="orbital-bo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 box is one orbital.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1168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Arrows are electrons. Opposite arrows = opposite spin (Pauli).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7180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Hund: place one electron in each equal-energy orbital before pairing.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Nitrogen 2p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3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: three boxes, one up-arrow in each.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89204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Oxygen 2p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4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: the fourth electron pairs in one 2p box.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742432"/>
            <a:ext cx="6126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You do not need boxes for every exam item, but they stop counting errors.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16  / 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s, p and d blocks</a:t>
            </a:r>
          </a:p>
        </p:txBody>
      </p:sp>
      <p:pic>
        <p:nvPicPr>
          <p:cNvPr id="4" name="Picture 3" descr="spd-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10871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s-block: Groups 1 and 2 — outer electron in an s subshell.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602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60270"/>
            <a:ext cx="91440" cy="110871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517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p-block: Groups 13–18 — outer electron in a p subshell.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3604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360420"/>
            <a:ext cx="91440" cy="110871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4518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d-block: transition metals — filling a d subshell.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5605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560570"/>
            <a:ext cx="91440" cy="110871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6520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Helium is 1s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so it is s-block by configuration.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17  / 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From configuration to ion charge</a:t>
            </a:r>
          </a:p>
        </p:txBody>
      </p:sp>
      <p:pic>
        <p:nvPicPr>
          <p:cNvPr id="4" name="Picture 3" descr="ion-confi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10871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Start from the atom, then add or remove electrons.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602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60270"/>
            <a:ext cx="91440" cy="110871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517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Na 2,8,1 → Na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+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2,8.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3604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360420"/>
            <a:ext cx="91440" cy="110871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4518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O 2,6 → O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2,8  which is also 1s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5605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560570"/>
            <a:ext cx="91440" cy="110871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6520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Mg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2+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and Al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3+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both reach 1s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18  / 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743200" cy="31089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STUDENT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Build configurations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21792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 a:ea="Calibri">
                <a:solidFill>
                  <a:srgbClr val="B45309"/>
                </a:solidFill>
                <a:latin typeface="Calibri"/>
              </a:rPr>
              <a:t>12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0812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89304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89304"/>
            <a:ext cx="10195560" cy="86182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Write full subshell configurations for F, Al, Ar and 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5718"/>
            <a:ext cx="11247120" cy="10812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462022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98598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62022"/>
            <a:ext cx="10195560" cy="86182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Circle the outer-shell electrons.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88436"/>
            <a:ext cx="11247120" cy="10812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634740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71316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34740"/>
            <a:ext cx="10195560" cy="86182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State the most likely ion for F and Al and rewrite the ion configuration.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61154"/>
            <a:ext cx="11247120" cy="10812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807458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44034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07458"/>
            <a:ext cx="10195560" cy="86182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Check a partner’s Ca carefully — 4s comes after 3p.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19  / 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Activity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F: 1s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5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→ F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is 1s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Al: 1s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3s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3p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1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→ Al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3+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is 1s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Ar: 1s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3s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3p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Ca: 1s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3s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3p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4s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20  / 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third shell always holds 18 electrons in first-20 examples.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For K and Ca this course still uses 2,8,8,1 and 2,8,8,2.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18816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18816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2p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4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means four p subshells.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18816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18816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It means four electrons in the 2p subshell.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1792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31792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Ions keep the same configuration as the atom.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431792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431792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Ions have lost or gained electrons.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21  / 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EXAM-STYLE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3 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Write the electron configuration of Mg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2+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and explain why this ion is stable.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5008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6528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2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6176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 student writes chlorine as 2,8,8. Identify the error and give the correct atom configuration.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6176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6176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56176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6176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56176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52816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4336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3 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3984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Explain, using electron configuration, why oxygen typically forms a 2− 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3984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3984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53984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53984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53984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22  / 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Mg atom is 2,8,2 / 1s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3s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. Mg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2+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is 2,8 / 1s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. Full outer shell / noble-gas arrangement.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5008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176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The atom has 17 electrons, not 18. Correct atom configuration is 2,8,7.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2816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3984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Oxygen is 2,6. Gaining two electrons gives 2,8 / 1s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2s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2p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6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. A full outer shell is more stable, so O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forms.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23  / 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30–60 seconds each. No notes if you can avoid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Whiteboard: element, shells, subshells, likely ion — use Na, O and 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1463040"/>
            <a:ext cx="457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Sketch nitrogen 2p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3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boxes from memory.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1463040"/>
            <a:ext cx="457200" cy="4572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State one link between group number and outer electrons.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24  / 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Independent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930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0759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Complete the Electron Configuration worksheet.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4086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5915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Learn configurations for the first 20 elements in both 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39242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4728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Preview ionic bonding: why Na and Cl form NaCl.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009688"/>
                </a:solidFill>
                <a:latin typeface="Calibri"/>
              </a:rPr>
              <a:t>Next lesson: ionic bonding.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Electron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25  / 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BTEC Unit 1 Chemistry: Electron Configuration</dc:title>
  <dc:subject>BTEC Unit 1 Chemistry</dc:subject>
  <dc:creator>JDScience</dc:creator>
  <cp:keywords>BTEC Unit 1 Chemistry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Teaching resource</cp:category>
</cp:coreProperties>
</file>