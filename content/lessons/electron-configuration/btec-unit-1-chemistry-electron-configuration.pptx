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04672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 i="0" a:ea="Calibri">
                <a:solidFill>
                  <a:srgbClr val="004D40"/>
                </a:solidFill>
                <a:latin typeface="Calibri"/>
              </a:rPr>
              <a:t>BTEC Unit 1 Chemistry: Electron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475569"/>
                </a:solidFill>
                <a:latin typeface="Calibri"/>
              </a:rPr>
              <a:t>Shells, subshells and how electron arrangement links to the periodic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electron-sh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926080" cy="2926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384048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5448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3619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Write electron configurations using shells (2,8,8) for the first 20 elements.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295144"/>
            <a:ext cx="384048" cy="384048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3172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1343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Describe s, p and d subshells and state their capacities.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2608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384048" cy="384048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10896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067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Construct configurations using the Aufbau order for s- and p-block elements.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0332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849624"/>
            <a:ext cx="384048" cy="384048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88620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86791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Relate outer-shell electrons to group number for main-group elements.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155680" cy="67665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626864"/>
            <a:ext cx="384048" cy="384048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3440"/>
            <a:ext cx="38404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45152"/>
            <a:ext cx="10149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0F172A"/>
                </a:solidFill>
                <a:latin typeface="Calibri"/>
              </a:rPr>
              <a:t>Use electron arrangement to predict simple ion charges.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How many electrons can the first shell hold?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Why do atoms form ions?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What does the group number of sodium tell you?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particle is rearranged during bonding?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Prior-knowledge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maximum of two electrons.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To obtain a more stable (often full) outer shell.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Sodium is in Group 1, so it has one outer-shell electron.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Electrons.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Shells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Energy levels around the nucleus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Electron shells</a:t>
            </a:r>
          </a:p>
        </p:txBody>
      </p:sp>
      <p:pic>
        <p:nvPicPr>
          <p:cNvPr id="4" name="Picture 3" descr="electron-sh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60350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1430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Electrons occupy the lowest available shell first.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A full outer shell is associated with chemical stability.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Noble gases already have a full outer shell.</a:t>
            </a:r>
          </a:p>
          <a:p>
            <a:pPr algn="l">
              <a:spcAft>
                <a:spcPts val="1000"/>
              </a:spcAft>
            </a:pPr>
            <a:r>
              <a:rPr sz="1700" b="0" i="0" a:ea="Calibri">
                <a:solidFill>
                  <a:srgbClr val="0F172A"/>
                </a:solidFill>
                <a:latin typeface="Calibri"/>
              </a:rPr>
              <a:t>•  Period number matches the number of occupied shells for main-group atoms.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715000"/>
            <a:ext cx="6035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Shell capacity used at BTEC Unit 1: 2, 8, 8 for the first 20 elements.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Shell notation for the first 20 elements (selected)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Element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Shells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20700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Ions commonly formed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73936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None (noble gas)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2,6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340864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O2−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2,8,1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07792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Na+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2,8,7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474720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Cl−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04164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404164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04164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2,8,8,2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041648"/>
            <a:ext cx="27889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Ca2+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chlorine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Chlorine has 17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Fill the first shell: 2 electrons remain 15.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Fill the second shell: 8 electrons remain 7.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Configuration: 2,8,7.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Chlorine commonly gains one electron to become 2,8,8 (Cl−).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Write the shell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Nitrogen (Z = 7)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Magnesium (Z = 12)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Phosphorus (Z = 15)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Potassium (Z = 19)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ion S2− (Z =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Shell-configuration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N: 2,5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Mg: 2,8,2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P: 2,8,5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K: 2,8,8,1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S2−: 2,8,8  (atom is 2,8,6; two electrons added)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FFFFFF"/>
                </a:solidFill>
                <a:latin typeface="Calibri"/>
              </a:rPr>
              <a:t>Subshells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 a:ea="Calibri">
                <a:solidFill>
                  <a:srgbClr val="CCFBF1"/>
                </a:solidFill>
                <a:latin typeface="Calibri"/>
              </a:rPr>
              <a:t>s, p and 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Why subshells are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Shells split into subshells of slightly different energy.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This explains the structure of the periodic table more precisely.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Unit 1 expects you to recognise s, p and d blocks.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should be able to write configurations such as 1s2 2s2 2p6.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Hund's rule and Pauli exclusion are used when drawing orbital boxes.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Subshell capacities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Type and orbitals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 subshell: 1 orbital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 subshell: 3 orbitals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 subshell: 5 orbitals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Each orbital holds a maximum of 2 electrons with opposite spin.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Maximum electrons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s: 2 electrons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p: 6 electrons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d: 10 electrons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The n = 2 shell is 2s + 2p (8 electrons in total).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Aufbau order used at this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Fill 1s, then 2s, then 2p, then 3s, then 3p, then 4s, then 3d.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4s is filled before 3d for isolated atoms of the first row of transition metals.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Write superscripts for electron counts.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Example: oxygen is 1s2 2s2 2p4.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Example: calcium is 1s2 2s2 2p6 3s2 3p6 4s2.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Worked example — phosphorus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Phosphorus has 15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1s2 2s2 2p6 uses 10 electrons; 5 remain.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3s2 3p3 uses the remaining 5.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Full configuration: 1s2 2s2 2p6 3s2 3p3.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Noble-gas shorthand: [Ne] 3s2 3p3.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834640" cy="32918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346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Build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0" y="713232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full subshell configurations for F, Al, Ar and Ca.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Circle the outer-shell electrons.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State the most likely ion for F and Al and rewrite the ion configuration.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Check a partner's Ca configuration carefully — 4s comes after 3p.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Activity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F: 1s2 2s2 2p5 → F− is 1s2 2s2 2p6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Al: 1s2 2s2 2p6 3s2 3p1 → Al3+ is 1s2 2s2 2p6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Ar: 1s2 2s2 2p6 3s2 3p6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Ca: 1s2 2s2 2p6 3s2 3p6 4s2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Link to the periodic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Group 1 atoms have one outer s electron (ns1).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Group 2 atoms have ns2.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Group 7 (17) atoms have ns2 np5.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Noble gases have ns2 np6 (except helium, 1s2).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d-block corresponds to filling 3d (and later d subshells).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Teaching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Outer electrons control bonding and ion charge.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Inner electrons are not usually shown in simple bonding diagrams.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third shell always holds 18 electrons in Unit 1 examples of the first 20 elements.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16128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3560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For K and Ca we still use 2,8,8,1 and 2,8,8,2 at this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2p4 means four p subshells.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37744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37744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6148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It means four electrons in the 2p subshell.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532120" cy="118872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91440" cy="118872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Ions keep the same electron configuration as the atom.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03320"/>
            <a:ext cx="5532120" cy="11887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703320"/>
            <a:ext cx="91440" cy="11887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813048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12064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Ions have lost or gained electrons, so the configuration changes.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Key 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0700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Meaning you should be able to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64208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73936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 main energy level around the nucleus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31136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Subshell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340864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s, p or d division of a shell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98064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Orbital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07792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Region that can hold two electrons of opposite spin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64992"/>
            <a:ext cx="11155680" cy="56692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Aufbau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474720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occupy the lowest available energy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11155680" cy="56692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Outer-shell electrons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041648"/>
            <a:ext cx="55778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in the highest occupied shell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Teacher explanation — why 2,8,8,2 for calcium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Calcium has 20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After 2,8,8 you have used 18 electrons.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The last two occupy the fourth shell, giving 2,8,8,2.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At A-level you will also write 4s2 after 3p6 — same idea, extra detail.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Do not invent a 2,8,10 arrangement for Ca in this course.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Orbital box diagrams (first look)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An orbital is drawn as a box that can hold two arrows (electrons).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Hund's rule: place one electron in each equal-energy orbital before pairing.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 nitrogen 2p3, draw three boxes with one arrow in each.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For oxygen 2p4, the fourth electron pairs in one of the 2p boxes.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do not need full boxes for every exam item, but they stop counting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From configuration to ion charge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532120" cy="49377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" cy="4937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4D40"/>
                </a:solidFill>
                <a:latin typeface="Calibri"/>
              </a:rPr>
              <a:t>Metals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Na 2,8,1 → Na+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Mg 2,8,2 → Mg2+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Al 2,8,3 → Al3+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Lose the outer-shell electrons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532120" cy="4937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51560"/>
            <a:ext cx="91440" cy="4937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Non-metals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O 2,6 → O2−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F 2,7 → F−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Cl 2,8,7 → Cl−</a:t>
            </a:r>
          </a:p>
          <a:p>
            <a:pPr algn="l">
              <a:spcAft>
                <a:spcPts val="1000"/>
              </a:spcAft>
            </a:pPr>
            <a:r>
              <a:rPr sz="1600" b="0" i="0" a:ea="Calibri">
                <a:solidFill>
                  <a:srgbClr val="0F172A"/>
                </a:solidFill>
                <a:latin typeface="Calibri"/>
              </a:rPr>
              <a:t>•  Gain enough electrons to fill the outer shell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Configuration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1s2 2s2 2p6 3s2 3p6 in shell notation.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element of the first 20 is this if the species is a neutral atom?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Which common ions also have this configuration?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Configuration-check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2,8,8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Argon (Z = 18).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Cl−, S2−, K+, Ca2+ (among others).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s, p and d blocks — teaching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s-block: Groups 1 and 2 — outer electrons in an s subshell.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p-block: Groups 3–0 (13–18) — outer electrons in a p subshell.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d-block: transition metals — filling a d subshell.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Helium sits in Group 0 but is 1s2, so it is s-block by configuration.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You only need to assign the block, not memorise every exception.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How to answer a 4-mark structure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7040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If asked for a configuration of an ion, start from the atom, then add or remove electrons.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both shell and subshell forms if the question does not specify.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Link 'full outer shell' to 'more stable' — do not stop at the configuration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097280"/>
            <a:ext cx="3931920" cy="48463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097280"/>
            <a:ext cx="91440" cy="4846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28016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Mark-winning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particles.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Name the forces.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Link force to the property.</a:t>
            </a:r>
          </a:p>
          <a:p>
            <a:pPr algn="l">
              <a:spcAft>
                <a:spcPts val="800"/>
              </a:spcAft>
            </a:pPr>
            <a:r>
              <a:rPr sz="1500" b="0" i="0" a:ea="Calibri">
                <a:solidFill>
                  <a:srgbClr val="475569"/>
                </a:solidFill>
                <a:latin typeface="Calibri"/>
              </a:rPr>
              <a:t>•  Avoid 'it' without a noun.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3108960" cy="329184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Write the electron configuration of Mg2+ and explain why this ion is stable. (3)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A student writes chlorine as 2,8,8. Identify the error and give the correct configuration of the atom. (2)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Explain, using electron configuration, why oxygen typically forms a 2− ion.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28  / 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56032"/>
            <a:ext cx="2194560" cy="329184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Mg atom is 2,8,2 / 1s2 2s2 2p6 3s2. Mg2+ is 2,8 / 1s2 2s2 2p6. This is a full outer shell / noble-gas arrangement, so it is stable.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The atom has 17 electrons, not 18. Correct atom configuration is 2,8,7.</a:t>
            </a:r>
          </a:p>
          <a:p>
            <a:pPr algn="l">
              <a:spcAft>
                <a:spcPts val="1000"/>
              </a:spcAft>
            </a:pPr>
            <a:r>
              <a:rPr sz="1800" b="0" i="0" a:ea="Calibri">
                <a:solidFill>
                  <a:srgbClr val="0F172A"/>
                </a:solidFill>
                <a:latin typeface="Calibri"/>
              </a:rPr>
              <a:t>•  Oxygen is 2,6. Gaining two electrons gives 2,8. A full outer shell is more stable, so O2− 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29  / 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On a whiteboard: element, shell configuration, subshell configuration, likely ion.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Use sodium, oxygen and calcium.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Explain one link between group number and outer electrons.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30  / 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Complete the electron-configuration worksheet.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Learn configurations for the first 20 elements.</a:t>
            </a:r>
          </a:p>
          <a:p>
            <a:pPr algn="l">
              <a:spcAft>
                <a:spcPts val="1000"/>
              </a:spcAft>
            </a:pPr>
            <a:r>
              <a:rPr sz="1900" b="0" i="0" a:ea="Calibri">
                <a:solidFill>
                  <a:srgbClr val="0F172A"/>
                </a:solidFill>
                <a:latin typeface="Calibri"/>
              </a:rPr>
              <a:t>•  Preview ionic bonding: why Na and Cl form NaCl.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Electron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31  / 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Electron Configuration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