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Electron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Shells for the first 20 elements, then s, p and d subshells, Aufbau, orbital boxes and 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orbital-bo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Write shell configurations (2,8,8,2) for the first 20 elements as a starting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s, p and d subshells and state their capacities.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Write configurations such as 1s</a:t>
            </a:r>
            <a:r>
              <a:rPr sz="17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7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7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 using the Aufbau order.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Draw orbital box diagrams and apply Hund’s rule.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configuration to predict simple ion charges and identify s, p or d block.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2,8,8 for everything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Keep 2,8,8,2 for Ca, then write 4s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after 3p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Electrons in shells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Subshells, orbitals, opposite spin, Hund’s rule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Ions ‘want a full shell’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State the electron change and the new configuration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Ignore the periodic 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Link ns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1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, ns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and ns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np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5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to group 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How many electrons can the first shell hold?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do atoms form ions?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does the group number of sodium tell you?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particle is rearranged during bonding?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Prior-knowledge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 maximum of two electrons.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To obtain a more stable (often full) outer shell.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Sodium is in Group 1, so it has one outer-shell electron.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Shells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A useful model for the first 20 elements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Electron shells</a:t>
            </a:r>
          </a:p>
        </p:txBody>
      </p:sp>
      <p:pic>
        <p:nvPicPr>
          <p:cNvPr id="4" name="Picture 3" descr="electron-sh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occupy the lowest available shell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For the first 20 elements this course uses 2, 8, 8, then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Calcium is 2,8,8,2 — not 2,8,10.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Period number matches the number of occupied shells for main-group atoms.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This is the GCSE starting point. The lesson now moves to subshells.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Selected shell configurations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Element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898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Shells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254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Common 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213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69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none (noble gas)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213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69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213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2,8,1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Na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213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2,8,7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69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213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391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2,8,8,2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569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Ca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Learn the pattern, then rewrite the same atoms in subshell form.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Worked example — chlorine shells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60043" y="1234440"/>
            <a:ext cx="512064" cy="51206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0043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Chlorine has 17 electrons.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1798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39542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2385" y="1234440"/>
            <a:ext cx="512064" cy="51206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2385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7558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Fill 1st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846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2 electrons; 15 remain.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4140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1884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24728" y="1234440"/>
            <a:ext cx="512064" cy="51206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4728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9900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Fill 2nd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8188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8 electrons; 7 remain.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483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4227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07070" y="1234440"/>
            <a:ext cx="512064" cy="51206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07070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2243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Write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Configuration 2,8,7.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8825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6569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89412" y="1234440"/>
            <a:ext cx="512064" cy="51206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89412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85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2873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Cl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is 2,8,8.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Write the shell configurations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Nitrogen (Z = 7)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Magnesium (Z = 12)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Phosphorus (Z = 15)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Potassium (Z = 19) and 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(Z = 16)  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Shell-configuration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N: 2,5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Mg: 2,8,2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P: 2,8,5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K: 2,8,8,1    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2,8,8  (atom is 2,8,6)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Subshells and orbitals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Why 2,8,8 is not the whole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Subshell capacities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orbital. Maximum 2 electrons. Example: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,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, 3s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3 orbitals. Maximum 6 electrons. Example: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, 3p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5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5 orbitals. Maximum 10 electrons. Used when assigning the d-block.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Orbital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region that holds two electrons of opposite spin.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Aufbau order at this level</a:t>
            </a:r>
          </a:p>
        </p:txBody>
      </p:sp>
      <p:pic>
        <p:nvPicPr>
          <p:cNvPr id="4" name="Picture 3" descr="aufbau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Fill 1s, 2s, 2p, 3s, 3p, then 4s, then 3d.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4s is filled before 3d for isolated atoms of the first transition series.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Oxygen is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Calcium is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4s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Always write the superscripts.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Phosphorus in subshell 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the full configuration and the noble-gas shorthand for phosphorus (Z = 15).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Fill lowest subshells 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15 electrons: 1s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uses 10; 5 remain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uses the remaining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1s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    [Ne] 3s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The 3 shows three electrons in 3p, not three p subshells.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Orbital boxes — actually drawn</a:t>
            </a:r>
          </a:p>
        </p:txBody>
      </p:sp>
      <p:pic>
        <p:nvPicPr>
          <p:cNvPr id="4" name="Picture 3" descr="orbital-bo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box is one orbital.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Arrows are electrons. Opposite arrows = opposite spin (Pauli).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Hund: place one electron in each equal-energy orbital before pairing.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Nitrogen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: three boxes, one up-arrow in each.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Oxygen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: the fourth electron pairs in one 2p box.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You do not need boxes for every exam item, but they stop counting errors.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s, p and d blocks</a:t>
            </a:r>
          </a:p>
        </p:txBody>
      </p:sp>
      <p:pic>
        <p:nvPicPr>
          <p:cNvPr id="4" name="Picture 3" descr="spd-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s-block: Groups 1 and 2 — outer electron in an s subshell.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p-block: Groups 13–18 — outer electron in a p subshell.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d-block: transition metals — filling a d subshell.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Helium is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so it is s-block by configuration.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From configuration to ion charge</a:t>
            </a:r>
          </a:p>
        </p:txBody>
      </p:sp>
      <p:pic>
        <p:nvPicPr>
          <p:cNvPr id="4" name="Picture 3" descr="ion-conf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Start from the atom, then add or remove electrons.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 2,8,1 → Na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2,8.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 2,6 → O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2,8  which is also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Mg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and Al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both reach 1s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Build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12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full subshell configurations for F, Al, Ar and 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15718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6202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9859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2022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Circle the outer-shell electrons.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88436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3474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7131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34740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most likely ion for F and Al and rewrite the ion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61154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807458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44034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7458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Check a partner’s Ca carefully — 4s comes after 3p.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Activity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5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→ F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is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1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→ Al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3+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is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Ar: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Ca: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4s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third shell always holds 18 electrons in first-20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For K and Ca this course still uses 2,8,8,1 and 2,8,8,2.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2p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means four p subshells.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It means four electrons in the 2p subshell.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keep the same configuration as the atom.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Ions have lost or gained electrons.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the electron configuration of Mg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and explain why this ion is 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student writes chlorine as 2,8,8. Identify the error and give the correct atom configuration.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Explain, using electron configuration, why oxygen typically forms a 2− 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 atom is 2,8,2 /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3s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Mg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is 2,8 /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Full outer shell / noble-gas arrangement.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atom has 17 electrons, not 18. Correct atom configuration is 2,8,7.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Oxygen is 2,6. Gaining two electrons gives 2,8 / 1s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2p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A full outer shell is more stable, so O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forms.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Whiteboard: element, shells, subshells, likely ion — use Na, O and 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Sketch nitrogen 2p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boxes from memory.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one link between group number and outer electrons.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Electron Configuration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Learn configurations for the first 20 elements in both forms.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Preview ionic bonding: why Na and Cl form NaCl.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Next lesson: ionic bonding.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Electron Configuration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