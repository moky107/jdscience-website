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25880"/>
            <a:ext cx="77724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 a:ea="Calibri">
                <a:solidFill>
                  <a:srgbClr val="00796B"/>
                </a:solidFill>
                <a:latin typeface="Calibri"/>
              </a:rPr>
              <a:t>BTEC Level 3  ·  Applied Science  ·  Unit 1  ·  Chemistry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83080"/>
            <a:ext cx="7955279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600" b="1" i="0" a:ea="Calibri">
                <a:solidFill>
                  <a:srgbClr val="004D40"/>
                </a:solidFill>
                <a:latin typeface="Calibri"/>
              </a:rPr>
              <a:t>BTEC Unit 1 Chemistry: Atomic 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886200"/>
            <a:ext cx="777240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475569"/>
                </a:solidFill>
                <a:latin typeface="Calibri"/>
              </a:rPr>
              <a:t>Subatomic particles, nuclide notation, isotopes, A</a:t>
            </a:r>
            <a:r>
              <a:rPr sz="1700" b="0" i="0" a:ea="Calibri" baseline="-25000">
                <a:solidFill>
                  <a:srgbClr val="475569"/>
                </a:solidFill>
                <a:latin typeface="Calibri"/>
              </a:rPr>
              <a:t>r</a:t>
            </a:r>
            <a:r>
              <a:rPr sz="1700" b="0" i="0" a:ea="Calibri">
                <a:solidFill>
                  <a:srgbClr val="475569"/>
                </a:solidFill>
                <a:latin typeface="Calibri"/>
              </a:rPr>
              <a:t> and ion formation — taught as a BTEC Level 3 Unit 1 lesson.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5623560"/>
            <a:ext cx="77724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009688"/>
                </a:solidFill>
                <a:latin typeface="Calibri"/>
              </a:rPr>
              <a:t>PowerPoint teaching resource</a:t>
            </a:r>
          </a:p>
        </p:txBody>
      </p:sp>
      <p:pic>
        <p:nvPicPr>
          <p:cNvPr id="8" name="Picture 7" descr="atom-labell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0" y="1325880"/>
            <a:ext cx="3154680" cy="4160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jdscience-foot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Atomic structure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  /  35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04672"/>
            <a:ext cx="112471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475569"/>
                </a:solidFill>
                <a:latin typeface="Calibri"/>
              </a:rPr>
              <a:t>By the end of this lesson you should be able to: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07008"/>
            <a:ext cx="11247120" cy="84124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" y="1408176"/>
            <a:ext cx="420624" cy="420624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44752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408176"/>
            <a:ext cx="102412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0F172A"/>
                </a:solidFill>
                <a:latin typeface="Calibri"/>
              </a:rPr>
              <a:t>State relative charge, relative mass and location of protons, neutrons and electrons.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21408"/>
            <a:ext cx="11247120" cy="84124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" y="2322576"/>
            <a:ext cx="420624" cy="420624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359152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322576"/>
            <a:ext cx="102412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0F172A"/>
                </a:solidFill>
                <a:latin typeface="Calibri"/>
              </a:rPr>
              <a:t>Use A and Z to calculate protons, neutrons and electrons, including ions.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035808"/>
            <a:ext cx="11247120" cy="84124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1792" y="3236976"/>
            <a:ext cx="420624" cy="420624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3273552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236976"/>
            <a:ext cx="102412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0F172A"/>
                </a:solidFill>
                <a:latin typeface="Calibri"/>
              </a:rPr>
              <a:t>Explain isotopes and why chemical properties stay the same.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950208"/>
            <a:ext cx="11247120" cy="84124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1792" y="4151376"/>
            <a:ext cx="420624" cy="420624"/>
          </a:xfrm>
          <a:prstGeom prst="round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" y="4187952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4151376"/>
            <a:ext cx="102412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0F172A"/>
                </a:solidFill>
                <a:latin typeface="Calibri"/>
              </a:rPr>
              <a:t>Calculate A</a:t>
            </a:r>
            <a:r>
              <a:rPr sz="1700" b="0" i="0" a:ea="Calibri" baseline="-25000">
                <a:solidFill>
                  <a:srgbClr val="0F172A"/>
                </a:solidFill>
                <a:latin typeface="Calibri"/>
              </a:rPr>
              <a:t>r</a:t>
            </a:r>
            <a:r>
              <a:rPr sz="1700" b="0" i="0" a:ea="Calibri">
                <a:solidFill>
                  <a:srgbClr val="0F172A"/>
                </a:solidFill>
                <a:latin typeface="Calibri"/>
              </a:rPr>
              <a:t> from percentage abundances and interpret a simple mass spectrum.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864608"/>
            <a:ext cx="11247120" cy="84124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21792" y="5065776"/>
            <a:ext cx="420624" cy="420624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792" y="5102352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4440" y="5065776"/>
            <a:ext cx="102412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0F172A"/>
                </a:solidFill>
                <a:latin typeface="Calibri"/>
              </a:rPr>
              <a:t>Describe ion formation as a change in electrons, not protons.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Atomic structure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  /  35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3291840" cy="310896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329184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LEVEL 3 DEPTH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Beyond GCSE recall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12471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475569"/>
                </a:solidFill>
                <a:latin typeface="Calibri"/>
              </a:rPr>
              <a:t>This lesson must progress past simple recall. Use these Level 3 moves in explanations and answers.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00200"/>
            <a:ext cx="11247120" cy="713232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728216"/>
            <a:ext cx="56235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GCSE starting 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1728216"/>
            <a:ext cx="56235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Unit 1 progression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313432"/>
            <a:ext cx="11247120" cy="713232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404872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Particles are +1, 0, −1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90488" y="2404872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Use charge arithmetic: charge = protons − electrons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026664"/>
            <a:ext cx="11247120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3118104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Isotopes have different mass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90488" y="3118104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Same Z, different neutrons; chemical properties match because electrons match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739896"/>
            <a:ext cx="11247120" cy="713232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831336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A</a:t>
            </a:r>
            <a:r>
              <a:rPr sz="1300" b="0" i="0" a:ea="Calibri" baseline="-25000">
                <a:solidFill>
                  <a:srgbClr val="0F172A"/>
                </a:solidFill>
                <a:latin typeface="Calibri"/>
              </a:rPr>
              <a:t>r</a:t>
            </a:r>
            <a:r>
              <a:rPr sz="1300" b="0" i="0" a:ea="Calibri">
                <a:solidFill>
                  <a:srgbClr val="0F172A"/>
                </a:solidFill>
                <a:latin typeface="Calibri"/>
              </a:rPr>
              <a:t> is on the periodic table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90488" y="3831336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A</a:t>
            </a:r>
            <a:r>
              <a:rPr sz="1300" b="0" i="0" a:ea="Calibri" baseline="-25000">
                <a:solidFill>
                  <a:srgbClr val="0F172A"/>
                </a:solidFill>
                <a:latin typeface="Calibri"/>
              </a:rPr>
              <a:t>r</a:t>
            </a:r>
            <a:r>
              <a:rPr sz="1300" b="0" i="0" a:ea="Calibri">
                <a:solidFill>
                  <a:srgbClr val="0F172A"/>
                </a:solidFill>
                <a:latin typeface="Calibri"/>
              </a:rPr>
              <a:t> is a weighted mean versus 1/12 of </a:t>
            </a:r>
            <a:r>
              <a:rPr sz="1300" b="0" i="0" a:ea="Calibri" baseline="30000">
                <a:solidFill>
                  <a:srgbClr val="0F172A"/>
                </a:solidFill>
                <a:latin typeface="Calibri"/>
              </a:rPr>
              <a:t>12</a:t>
            </a:r>
            <a:r>
              <a:rPr sz="1300" b="0" i="0" a:ea="Calibri">
                <a:solidFill>
                  <a:srgbClr val="0F172A"/>
                </a:solidFill>
                <a:latin typeface="Calibri"/>
              </a:rPr>
              <a:t>C; no unit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453128"/>
            <a:ext cx="11247120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4544568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Ions are charged atoms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90488" y="4544568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Nucleus unchanged; link to later bonding and electrostatic attraction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Atomic structure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3  /  35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3291840" cy="310896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329184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DO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Prior-knowledge retrieval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5550408" cy="21442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298448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9F1239"/>
                </a:solidFill>
                <a:latin typeface="Calibri"/>
              </a:rPr>
              <a:t>1.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298448"/>
            <a:ext cx="4910328" cy="1888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Name the three subatomic particles found in an atom.  [1]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53912" y="1188720"/>
            <a:ext cx="5550408" cy="21442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18504" y="1298448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9F1239"/>
                </a:solidFill>
                <a:latin typeface="Calibri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11112" y="1298448"/>
            <a:ext cx="4910328" cy="1888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Which particle determines which element an atom is?  [1]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479292"/>
            <a:ext cx="5550408" cy="21442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3589020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9F1239"/>
                </a:solidFill>
                <a:latin typeface="Calibri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589020"/>
            <a:ext cx="4910328" cy="1888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What is the difference between an atom and a molecule?  [2]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53912" y="3479292"/>
            <a:ext cx="5550408" cy="21442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18504" y="3589020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9F1239"/>
                </a:solidFill>
                <a:latin typeface="Calibri"/>
              </a:rPr>
              <a:t>4.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11112" y="3589020"/>
            <a:ext cx="4910328" cy="1888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Is the nucleus positive, negative or neutral — and why?  [2]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742432"/>
            <a:ext cx="112471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Think first — answers are on the next slide.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Atomic structure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4  /  35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2011680" cy="310896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201168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Retrieval answers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43000"/>
            <a:ext cx="11247120" cy="112242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1252728"/>
            <a:ext cx="365760" cy="36576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289304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252728"/>
            <a:ext cx="10332720" cy="957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Proton, neutron and electron.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338578"/>
            <a:ext cx="11247120" cy="112242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1792" y="2448306"/>
            <a:ext cx="365760" cy="36576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2484882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448306"/>
            <a:ext cx="10332720" cy="957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The proton number (atomic number, Z).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534156"/>
            <a:ext cx="11247120" cy="112242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1792" y="3643884"/>
            <a:ext cx="365760" cy="36576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3680460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643884"/>
            <a:ext cx="10332720" cy="957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An atom is a single particle of an element. A molecule contains two or more atoms chemically bonded.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729734"/>
            <a:ext cx="11247120" cy="112242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1792" y="4839462"/>
            <a:ext cx="365760" cy="36576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" y="4876038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839462"/>
            <a:ext cx="10332720" cy="957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Positive — the nucleus contains protons (and uncharged neutrons).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Atomic structure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5  /  35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97280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FFFFFF"/>
                </a:solidFill>
                <a:latin typeface="Calibri"/>
              </a:rPr>
              <a:t>The nuclear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61872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CCFBF1"/>
                </a:solidFill>
                <a:latin typeface="Calibri"/>
              </a:rPr>
              <a:t>A tiny dense nucleus; electrons in shells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65960"/>
            <a:ext cx="3520440" cy="3977639"/>
          </a:xfrm>
          <a:prstGeom prst="roundRect">
            <a:avLst/>
          </a:prstGeom>
          <a:solidFill>
            <a:srgbClr val="003D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965960"/>
            <a:ext cx="3520440" cy="10972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212848"/>
            <a:ext cx="31089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CCFBF1"/>
                </a:solidFill>
                <a:latin typeface="Calibri"/>
              </a:rPr>
              <a:t>1   Look for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788920"/>
            <a:ext cx="3108960" cy="2880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FFFFFF"/>
                </a:solidFill>
                <a:latin typeface="Calibri"/>
              </a:rPr>
              <a:t>A labelled atom with a nucleus, shells, protons, neutrons and electrons.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965960"/>
            <a:ext cx="3520440" cy="3977639"/>
          </a:xfrm>
          <a:prstGeom prst="roundRect">
            <a:avLst/>
          </a:prstGeom>
          <a:solidFill>
            <a:srgbClr val="003D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965960"/>
            <a:ext cx="3520440" cy="109728"/>
          </a:xfrm>
          <a:prstGeom prst="rect">
            <a:avLst/>
          </a:prstGeom>
          <a:solidFill>
            <a:srgbClr val="99F6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44568" y="2212848"/>
            <a:ext cx="31089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CCFBF1"/>
                </a:solidFill>
                <a:latin typeface="Calibri"/>
              </a:rPr>
              <a:t>2   Say in full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2788920"/>
            <a:ext cx="3108960" cy="2880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FFFFFF"/>
                </a:solidFill>
                <a:latin typeface="Calibri"/>
              </a:rPr>
              <a:t>Almost all the mass is in a tiny nucleus. Electrons occupy shells around it.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965960"/>
            <a:ext cx="3520440" cy="3977639"/>
          </a:xfrm>
          <a:prstGeom prst="roundRect">
            <a:avLst/>
          </a:prstGeom>
          <a:solidFill>
            <a:srgbClr val="003D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20" y="1965960"/>
            <a:ext cx="3520440" cy="109728"/>
          </a:xfrm>
          <a:prstGeom prst="rect">
            <a:avLst/>
          </a:prstGeom>
          <a:solidFill>
            <a:srgbClr val="5EEA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47888" y="2212848"/>
            <a:ext cx="31089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CCFBF1"/>
                </a:solidFill>
                <a:latin typeface="Calibri"/>
              </a:rPr>
              <a:t>3   Level 3 move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7888" y="2788920"/>
            <a:ext cx="3108960" cy="2880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FFFFFF"/>
                </a:solidFill>
                <a:latin typeface="Calibri"/>
              </a:rPr>
              <a:t>Chemical behaviour depends on the outer electrons, not on the neutrons.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Atomic structure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6  /  35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A labelled lithium-7 atom</a:t>
            </a:r>
          </a:p>
        </p:txBody>
      </p:sp>
      <p:pic>
        <p:nvPicPr>
          <p:cNvPr id="4" name="Picture 3" descr="atom-labell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60120"/>
            <a:ext cx="6126480" cy="47091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675120" y="96012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75120" y="960120"/>
            <a:ext cx="91440" cy="86868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31152" y="1051560"/>
            <a:ext cx="4617720" cy="7223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Almost all of the mass is in the nucleus.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192024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75120" y="1920240"/>
            <a:ext cx="91440" cy="8686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31152" y="2011680"/>
            <a:ext cx="4617720" cy="7223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The nucleus occupies a tiny fraction of the volume.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288036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75120" y="2880360"/>
            <a:ext cx="91440" cy="86868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31152" y="2971800"/>
            <a:ext cx="4617720" cy="7223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Electrons occupy shells (energy levels).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0" y="384048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75120" y="3840480"/>
            <a:ext cx="91440" cy="8686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31152" y="3931920"/>
            <a:ext cx="4617720" cy="7223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A neutral atom has equal numbers of protons and electrons.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480060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75120" y="4800600"/>
            <a:ext cx="91440" cy="868680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31152" y="4892040"/>
            <a:ext cx="4617720" cy="7223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Chemical behaviour depends on the outer electrons.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5742432"/>
            <a:ext cx="61264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 a:ea="Calibri">
                <a:solidFill>
                  <a:srgbClr val="475569"/>
                </a:solidFill>
                <a:latin typeface="Calibri"/>
              </a:rPr>
              <a:t>Original schematic of </a:t>
            </a:r>
            <a:r>
              <a:rPr sz="1200" b="0" i="0" a:ea="Calibri" baseline="30000">
                <a:solidFill>
                  <a:srgbClr val="475569"/>
                </a:solidFill>
                <a:latin typeface="Calibri"/>
              </a:rPr>
              <a:t>7</a:t>
            </a:r>
            <a:r>
              <a:rPr sz="1200" b="0" i="0" a:ea="Calibri">
                <a:solidFill>
                  <a:srgbClr val="475569"/>
                </a:solidFill>
                <a:latin typeface="Calibri"/>
              </a:rPr>
              <a:t>Li — 3 protons, 4 neutrons, 3 electrons. Not to scale.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jdscience-foot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Atomic structure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7  /  35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Comparing the three particles</a:t>
            </a:r>
          </a:p>
        </p:txBody>
      </p:sp>
      <p:pic>
        <p:nvPicPr>
          <p:cNvPr id="4" name="Picture 3" descr="particle-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60120"/>
            <a:ext cx="6126480" cy="47091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675120" y="960120"/>
            <a:ext cx="5029200" cy="110871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75120" y="960120"/>
            <a:ext cx="91440" cy="110871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31152" y="1051560"/>
            <a:ext cx="4617720" cy="96240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Protons identify the element.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2160270"/>
            <a:ext cx="5029200" cy="110871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75120" y="2160270"/>
            <a:ext cx="91440" cy="110871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31152" y="2251710"/>
            <a:ext cx="4617720" cy="96240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Neutrons change the isotope without changing Z.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3360420"/>
            <a:ext cx="5029200" cy="110871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75120" y="3360420"/>
            <a:ext cx="91440" cy="110871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31152" y="3451860"/>
            <a:ext cx="4617720" cy="96240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Electrons are lost or gained when ions form.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0" y="4560570"/>
            <a:ext cx="5029200" cy="110871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75120" y="4560570"/>
            <a:ext cx="91440" cy="110871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31152" y="4652010"/>
            <a:ext cx="4617720" cy="96240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Relative electron mass is about 1/1836 — treat as negligible in mass number.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jdscience-foot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Atomic structure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8  /  35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Subatomic particles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11247120" cy="658368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15568"/>
            <a:ext cx="281178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Particle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68980" y="1115568"/>
            <a:ext cx="281178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Relative charge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80760" y="1115568"/>
            <a:ext cx="281178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Relative mass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92540" y="1115568"/>
            <a:ext cx="281178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Where found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664208"/>
            <a:ext cx="11247120" cy="658368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755648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Proton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42132" y="1755648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+1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53912" y="1755648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5692" y="1755648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Nucleus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322576"/>
            <a:ext cx="11247120" cy="65836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2414016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Neutron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42132" y="2414016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53912" y="2414016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5692" y="2414016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Nucleus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980944"/>
            <a:ext cx="11247120" cy="658368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3072384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Electron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42132" y="3072384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−1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53912" y="3072384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≈ 1/1836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5692" y="3072384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Shells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806440"/>
            <a:ext cx="112471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475569"/>
                </a:solidFill>
                <a:latin typeface="Calibri"/>
              </a:rPr>
              <a:t>Learn this table exactly. Examiners expect charge and mass, not just names.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Atomic structure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9  /  35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97280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FFFFFF"/>
                </a:solidFill>
                <a:latin typeface="Calibri"/>
              </a:rPr>
              <a:t>Reading a nuclide symbol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61872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CCFBF1"/>
                </a:solidFill>
                <a:latin typeface="Calibri"/>
              </a:rPr>
              <a:t>Mass number top left, atomic number bottom left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65960"/>
            <a:ext cx="3520440" cy="3977639"/>
          </a:xfrm>
          <a:prstGeom prst="roundRect">
            <a:avLst/>
          </a:prstGeom>
          <a:solidFill>
            <a:srgbClr val="003D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965960"/>
            <a:ext cx="3520440" cy="10972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212848"/>
            <a:ext cx="31089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CCFBF1"/>
                </a:solidFill>
                <a:latin typeface="Calibri"/>
              </a:rPr>
              <a:t>1   Look for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788920"/>
            <a:ext cx="3108960" cy="2880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FFFFFF"/>
                </a:solidFill>
                <a:latin typeface="Calibri"/>
              </a:rPr>
              <a:t>A as a superscript, Z as a subscript — written </a:t>
            </a:r>
            <a:r>
              <a:rPr sz="1600" b="0" i="0" a:ea="Calibri" baseline="30000">
                <a:solidFill>
                  <a:srgbClr val="FFFFFF"/>
                </a:solidFill>
                <a:latin typeface="Calibri"/>
              </a:rPr>
              <a:t>23</a:t>
            </a:r>
            <a:r>
              <a:rPr sz="1600" b="0" i="0" a:ea="Calibri" baseline="-25000">
                <a:solidFill>
                  <a:srgbClr val="FFFFFF"/>
                </a:solidFill>
                <a:latin typeface="Calibri"/>
              </a:rPr>
              <a:t>11</a:t>
            </a:r>
            <a:r>
              <a:rPr sz="1600" b="0" i="0" a:ea="Calibri">
                <a:solidFill>
                  <a:srgbClr val="FFFFFF"/>
                </a:solidFill>
                <a:latin typeface="Calibri"/>
              </a:rPr>
              <a:t>Na, never 23Na.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965960"/>
            <a:ext cx="3520440" cy="3977639"/>
          </a:xfrm>
          <a:prstGeom prst="roundRect">
            <a:avLst/>
          </a:prstGeom>
          <a:solidFill>
            <a:srgbClr val="003D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965960"/>
            <a:ext cx="3520440" cy="109728"/>
          </a:xfrm>
          <a:prstGeom prst="rect">
            <a:avLst/>
          </a:prstGeom>
          <a:solidFill>
            <a:srgbClr val="99F6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44568" y="2212848"/>
            <a:ext cx="31089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CCFBF1"/>
                </a:solidFill>
                <a:latin typeface="Calibri"/>
              </a:rPr>
              <a:t>2   Say in full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2788920"/>
            <a:ext cx="3108960" cy="2880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FFFFFF"/>
                </a:solidFill>
                <a:latin typeface="Calibri"/>
              </a:rPr>
              <a:t>Neutrons = A − Z. In a neutral atom, electrons = Z.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965960"/>
            <a:ext cx="3520440" cy="3977639"/>
          </a:xfrm>
          <a:prstGeom prst="roundRect">
            <a:avLst/>
          </a:prstGeom>
          <a:solidFill>
            <a:srgbClr val="003D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20" y="1965960"/>
            <a:ext cx="3520440" cy="109728"/>
          </a:xfrm>
          <a:prstGeom prst="rect">
            <a:avLst/>
          </a:prstGeom>
          <a:solidFill>
            <a:srgbClr val="5EEA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47888" y="2212848"/>
            <a:ext cx="31089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CCFBF1"/>
                </a:solidFill>
                <a:latin typeface="Calibri"/>
              </a:rPr>
              <a:t>3   Level 3 move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7888" y="2788920"/>
            <a:ext cx="3108960" cy="2880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FFFFFF"/>
                </a:solidFill>
                <a:latin typeface="Calibri"/>
              </a:rPr>
              <a:t>For an ion, change electrons only. The nucleus — and the element — stay the same.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Atomic structure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10  /  35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 baseline="30000">
                <a:solidFill>
                  <a:srgbClr val="004D40"/>
                </a:solidFill>
                <a:latin typeface="Calibri"/>
              </a:rPr>
              <a:t>23</a:t>
            </a:r>
            <a:r>
              <a:rPr sz="2800" b="1" i="0" a:ea="Calibri" baseline="-25000">
                <a:solidFill>
                  <a:srgbClr val="004D40"/>
                </a:solidFill>
                <a:latin typeface="Calibri"/>
              </a:rPr>
              <a:t>11</a:t>
            </a:r>
            <a:r>
              <a:rPr sz="2800" b="1" i="0" a:ea="Calibri">
                <a:solidFill>
                  <a:srgbClr val="004D40"/>
                </a:solidFill>
                <a:latin typeface="Calibri"/>
              </a:rPr>
              <a:t>Na</a:t>
            </a:r>
          </a:p>
        </p:txBody>
      </p:sp>
      <p:pic>
        <p:nvPicPr>
          <p:cNvPr id="4" name="Picture 3" descr="sodium-nuc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60120"/>
            <a:ext cx="6126480" cy="47091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675120" y="96012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75120" y="960120"/>
            <a:ext cx="91440" cy="86868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31152" y="1051560"/>
            <a:ext cx="4617720" cy="7223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A = protons + neutrons.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192024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75120" y="1920240"/>
            <a:ext cx="91440" cy="8686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31152" y="2011680"/>
            <a:ext cx="4617720" cy="7223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Z = protons.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288036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75120" y="2880360"/>
            <a:ext cx="91440" cy="86868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31152" y="2971800"/>
            <a:ext cx="4617720" cy="7223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Neutrons = A − Z.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0" y="384048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75120" y="3840480"/>
            <a:ext cx="91440" cy="8686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31152" y="3931920"/>
            <a:ext cx="4617720" cy="7223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Electrons in a neutral atom = Z.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480060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75120" y="4800600"/>
            <a:ext cx="91440" cy="868680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31152" y="4892040"/>
            <a:ext cx="4617720" cy="7223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For an ion, adjust electrons by the charge. The nucleus does not change.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5742432"/>
            <a:ext cx="61264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 a:ea="Calibri">
                <a:solidFill>
                  <a:srgbClr val="475569"/>
                </a:solidFill>
                <a:latin typeface="Calibri"/>
              </a:rPr>
              <a:t>Always write A as a superscript and Z as a subscript — never 23Na as plain text in notes.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jdscience-foot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Atomic structure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11  /  35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2377440" cy="310896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237744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Sodium-23 atom and 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11247120" cy="868680"/>
          </a:xfrm>
          <a:prstGeom prst="round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91440" cy="8686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1261872"/>
            <a:ext cx="10881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1E3A5F"/>
                </a:solidFill>
                <a:latin typeface="Calibri"/>
              </a:rPr>
              <a:t>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536192"/>
            <a:ext cx="10881360" cy="4297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For </a:t>
            </a:r>
            <a:r>
              <a:rPr sz="1600" b="0" i="0" a:ea="Calibri" baseline="30000">
                <a:solidFill>
                  <a:srgbClr val="0F172A"/>
                </a:solidFill>
                <a:latin typeface="Calibri"/>
              </a:rPr>
              <a:t>23</a:t>
            </a:r>
            <a:r>
              <a:rPr sz="1600" b="0" i="0" a:ea="Calibri">
                <a:solidFill>
                  <a:srgbClr val="0F172A"/>
                </a:solidFill>
                <a:latin typeface="Calibri"/>
              </a:rPr>
              <a:t>Na, find protons, neutrons and electrons. Then find electrons in Na</a:t>
            </a:r>
            <a:r>
              <a:rPr sz="1600" b="0" i="0" a:ea="Calibri" baseline="30000">
                <a:solidFill>
                  <a:srgbClr val="0F172A"/>
                </a:solidFill>
                <a:latin typeface="Calibri"/>
              </a:rPr>
              <a:t>+</a:t>
            </a:r>
            <a:r>
              <a:rPr sz="1600" b="0" i="0" a:ea="Calibri">
                <a:solidFill>
                  <a:srgbClr val="0F172A"/>
                </a:solidFill>
                <a:latin typeface="Calibri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76272"/>
            <a:ext cx="5486400" cy="10515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176272"/>
            <a:ext cx="91440" cy="105156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" y="2249424"/>
            <a:ext cx="51206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09688"/>
                </a:solidFill>
                <a:latin typeface="Calibri"/>
              </a:rPr>
              <a:t>Equation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" y="2523744"/>
            <a:ext cx="5120640" cy="6126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neutrons = A − Z     electrons(ion) = Z − charge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2176272"/>
            <a:ext cx="5577840" cy="1051560"/>
          </a:xfrm>
          <a:prstGeom prst="round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176272"/>
            <a:ext cx="91440" cy="10515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2249424"/>
            <a:ext cx="5212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5B21B6"/>
                </a:solidFill>
                <a:latin typeface="Calibri"/>
              </a:rPr>
              <a:t>Substitution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5936" y="2523744"/>
            <a:ext cx="5212080" cy="6126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A = 23    Z = 11    charge of Na</a:t>
            </a:r>
            <a:r>
              <a:rPr sz="1600" b="0" i="0" a:ea="Calibri" baseline="30000">
                <a:solidFill>
                  <a:srgbClr val="0F172A"/>
                </a:solidFill>
                <a:latin typeface="Calibri"/>
              </a:rPr>
              <a:t>+</a:t>
            </a:r>
            <a:r>
              <a:rPr sz="1600" b="0" i="0" a:ea="Calibri">
                <a:solidFill>
                  <a:srgbClr val="0F172A"/>
                </a:solidFill>
                <a:latin typeface="Calibri"/>
              </a:rPr>
              <a:t> is +1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346704"/>
            <a:ext cx="5486400" cy="1325880"/>
          </a:xfrm>
          <a:prstGeom prst="round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346704"/>
            <a:ext cx="91440" cy="13258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" y="3419856"/>
            <a:ext cx="51206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B45309"/>
                </a:solidFill>
                <a:latin typeface="Calibri"/>
              </a:rPr>
              <a:t>Working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" y="3694176"/>
            <a:ext cx="5120640" cy="8869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protons = 11     neutrons = 23 − 11 = 12     electrons (atom) = 11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26480" y="3346704"/>
            <a:ext cx="5577840" cy="1325880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3346704"/>
            <a:ext cx="91440" cy="1325880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3419856"/>
            <a:ext cx="5212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47857"/>
                </a:solidFill>
                <a:latin typeface="Calibri"/>
              </a:rPr>
              <a:t>Answer + unit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45936" y="3694176"/>
            <a:ext cx="5212080" cy="8869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Na</a:t>
            </a:r>
            <a:r>
              <a:rPr sz="1600" b="0" i="0" a:ea="Calibri" baseline="30000">
                <a:solidFill>
                  <a:srgbClr val="0F172A"/>
                </a:solidFill>
                <a:latin typeface="Calibri"/>
              </a:rPr>
              <a:t>+</a:t>
            </a:r>
            <a:r>
              <a:rPr sz="1600" b="0" i="0" a:ea="Calibri">
                <a:solidFill>
                  <a:srgbClr val="0F172A"/>
                </a:solidFill>
                <a:latin typeface="Calibri"/>
              </a:rPr>
              <a:t> has 10 electrons    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800600"/>
            <a:ext cx="11247120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475569"/>
                </a:solidFill>
                <a:latin typeface="Calibri"/>
              </a:rPr>
              <a:t>The ion is still sodium because Z is still 11.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Atomic structure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12  /  35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3291840" cy="310896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329184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WORKED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Calculate p, n and 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5550408" cy="21442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298448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9F1239"/>
                </a:solidFill>
                <a:latin typeface="Calibri"/>
              </a:rPr>
              <a:t>1.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298448"/>
            <a:ext cx="4910328" cy="1888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 baseline="30000">
                <a:solidFill>
                  <a:srgbClr val="0F172A"/>
                </a:solidFill>
                <a:latin typeface="Calibri"/>
              </a:rPr>
              <a:t>12</a:t>
            </a:r>
            <a:r>
              <a:rPr sz="1400" b="0" i="0" a:ea="Calibri">
                <a:solidFill>
                  <a:srgbClr val="0F172A"/>
                </a:solidFill>
                <a:latin typeface="Calibri"/>
              </a:rPr>
              <a:t>C  (neutral atom)  [2]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53912" y="1188720"/>
            <a:ext cx="5550408" cy="21442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18504" y="1298448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9F1239"/>
                </a:solidFill>
                <a:latin typeface="Calibri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11112" y="1298448"/>
            <a:ext cx="4910328" cy="1888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 baseline="30000">
                <a:solidFill>
                  <a:srgbClr val="0F172A"/>
                </a:solidFill>
                <a:latin typeface="Calibri"/>
              </a:rPr>
              <a:t>37</a:t>
            </a:r>
            <a:r>
              <a:rPr sz="1400" b="0" i="0" a:ea="Calibri">
                <a:solidFill>
                  <a:srgbClr val="0F172A"/>
                </a:solidFill>
                <a:latin typeface="Calibri"/>
              </a:rPr>
              <a:t>Cl (neutral atom)  [2]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479292"/>
            <a:ext cx="5550408" cy="21442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3589020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9F1239"/>
                </a:solidFill>
                <a:latin typeface="Calibri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589020"/>
            <a:ext cx="4910328" cy="1888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 baseline="30000">
                <a:solidFill>
                  <a:srgbClr val="0F172A"/>
                </a:solidFill>
                <a:latin typeface="Calibri"/>
              </a:rPr>
              <a:t>27</a:t>
            </a:r>
            <a:r>
              <a:rPr sz="1400" b="0" i="0" a:ea="Calibri">
                <a:solidFill>
                  <a:srgbClr val="0F172A"/>
                </a:solidFill>
                <a:latin typeface="Calibri"/>
              </a:rPr>
              <a:t>Al</a:t>
            </a:r>
            <a:r>
              <a:rPr sz="1400" b="0" i="0" a:ea="Calibri" baseline="30000">
                <a:solidFill>
                  <a:srgbClr val="0F172A"/>
                </a:solidFill>
                <a:latin typeface="Calibri"/>
              </a:rPr>
              <a:t>3+</a:t>
            </a:r>
            <a:r>
              <a:rPr sz="1400" b="0" i="0" a:ea="Calibri">
                <a:solidFill>
                  <a:srgbClr val="0F172A"/>
                </a:solidFill>
                <a:latin typeface="Calibri"/>
              </a:rPr>
              <a:t>  [3]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53912" y="3479292"/>
            <a:ext cx="5550408" cy="21442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18504" y="3589020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9F1239"/>
                </a:solidFill>
                <a:latin typeface="Calibri"/>
              </a:rPr>
              <a:t>4.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11112" y="3589020"/>
            <a:ext cx="4910328" cy="1888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 baseline="30000">
                <a:solidFill>
                  <a:srgbClr val="0F172A"/>
                </a:solidFill>
                <a:latin typeface="Calibri"/>
              </a:rPr>
              <a:t>16</a:t>
            </a:r>
            <a:r>
              <a:rPr sz="1400" b="0" i="0" a:ea="Calibri">
                <a:solidFill>
                  <a:srgbClr val="0F172A"/>
                </a:solidFill>
                <a:latin typeface="Calibri"/>
              </a:rPr>
              <a:t>O</a:t>
            </a:r>
            <a:r>
              <a:rPr sz="1400" b="0" i="0" a:ea="Calibri" baseline="30000">
                <a:solidFill>
                  <a:srgbClr val="0F172A"/>
                </a:solidFill>
                <a:latin typeface="Calibri"/>
              </a:rPr>
              <a:t>2−</a:t>
            </a:r>
            <a:r>
              <a:rPr sz="1400" b="0" i="0" a:ea="Calibri">
                <a:solidFill>
                  <a:srgbClr val="0F172A"/>
                </a:solidFill>
                <a:latin typeface="Calibri"/>
              </a:rPr>
              <a:t>  [3]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742432"/>
            <a:ext cx="112471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Think first — answers are on the next slide.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Atomic structure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13  /  35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2011680" cy="310896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201168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Particle-count answers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43000"/>
            <a:ext cx="11247120" cy="112242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1252728"/>
            <a:ext cx="365760" cy="36576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289304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252728"/>
            <a:ext cx="10332720" cy="957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12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C: 6 p, 6 n, 6 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338578"/>
            <a:ext cx="11247120" cy="112242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1792" y="2448306"/>
            <a:ext cx="365760" cy="36576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2484882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448306"/>
            <a:ext cx="10332720" cy="957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37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Cl: 17 p, 20 n, 17 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534156"/>
            <a:ext cx="11247120" cy="112242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1792" y="3643884"/>
            <a:ext cx="365760" cy="36576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3680460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643884"/>
            <a:ext cx="10332720" cy="957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27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Al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3+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: 13 p, 14 n, 10 e  (13 − 3).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729734"/>
            <a:ext cx="11247120" cy="112242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1792" y="4839462"/>
            <a:ext cx="365760" cy="36576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" y="4876038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839462"/>
            <a:ext cx="10332720" cy="957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16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O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2−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: 8 p, 8 n, 10 e  (8 + 2).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Atomic structure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14  /  35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97280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FFFFFF"/>
                </a:solidFill>
                <a:latin typeface="Calibri"/>
              </a:rPr>
              <a:t>Isotopes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61872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CCFBF1"/>
                </a:solidFill>
                <a:latin typeface="Calibri"/>
              </a:rPr>
              <a:t>Same Z, different neutron number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65960"/>
            <a:ext cx="3520440" cy="3977639"/>
          </a:xfrm>
          <a:prstGeom prst="roundRect">
            <a:avLst/>
          </a:prstGeom>
          <a:solidFill>
            <a:srgbClr val="003D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965960"/>
            <a:ext cx="3520440" cy="10972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212848"/>
            <a:ext cx="31089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CCFBF1"/>
                </a:solidFill>
                <a:latin typeface="Calibri"/>
              </a:rPr>
              <a:t>1   Look for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788920"/>
            <a:ext cx="3108960" cy="2880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FFFFFF"/>
                </a:solidFill>
                <a:latin typeface="Calibri"/>
              </a:rPr>
              <a:t>Two nuclei with the same proton number and different neutron numbers.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965960"/>
            <a:ext cx="3520440" cy="3977639"/>
          </a:xfrm>
          <a:prstGeom prst="roundRect">
            <a:avLst/>
          </a:prstGeom>
          <a:solidFill>
            <a:srgbClr val="003D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965960"/>
            <a:ext cx="3520440" cy="109728"/>
          </a:xfrm>
          <a:prstGeom prst="rect">
            <a:avLst/>
          </a:prstGeom>
          <a:solidFill>
            <a:srgbClr val="99F6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44568" y="2212848"/>
            <a:ext cx="31089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CCFBF1"/>
                </a:solidFill>
                <a:latin typeface="Calibri"/>
              </a:rPr>
              <a:t>2   Say in full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2788920"/>
            <a:ext cx="3108960" cy="2880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FFFFFF"/>
                </a:solidFill>
                <a:latin typeface="Calibri"/>
              </a:rPr>
              <a:t>Isotopes are atoms of the same element with different mass numbers.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965960"/>
            <a:ext cx="3520440" cy="3977639"/>
          </a:xfrm>
          <a:prstGeom prst="roundRect">
            <a:avLst/>
          </a:prstGeom>
          <a:solidFill>
            <a:srgbClr val="003D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20" y="1965960"/>
            <a:ext cx="3520440" cy="109728"/>
          </a:xfrm>
          <a:prstGeom prst="rect">
            <a:avLst/>
          </a:prstGeom>
          <a:solidFill>
            <a:srgbClr val="5EEA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47888" y="2212848"/>
            <a:ext cx="31089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CCFBF1"/>
                </a:solidFill>
                <a:latin typeface="Calibri"/>
              </a:rPr>
              <a:t>3   Level 3 move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7888" y="2788920"/>
            <a:ext cx="3108960" cy="2880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FFFFFF"/>
                </a:solidFill>
                <a:latin typeface="Calibri"/>
              </a:rPr>
              <a:t>Chemical properties match because the electron arrangement is the same.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Atomic structure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15  /  35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Defining isotopes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60120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91440" cy="2436876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106424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Same element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490472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Isotopes have the same proton number, so they are the same element.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1344" y="960120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81344" y="960120"/>
            <a:ext cx="91440" cy="2436876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37376" y="1106424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Different mass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37376" y="1490472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They have different numbers of neutrons and therefore different mass numbers.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598164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598164"/>
            <a:ext cx="91440" cy="2436876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3744468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Chemistry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4128516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Chemical properties are almost identical because the electron arrangement is the same.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1344" y="3598164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1344" y="3598164"/>
            <a:ext cx="91440" cy="2436876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37376" y="3744468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Physics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7376" y="4128516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Mass-dependent properties (density, rate of diffusion) can differ. Some isotopes are radioisotopes.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Atomic structure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16  /  35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Chlorine-35 and chlorine-37</a:t>
            </a:r>
          </a:p>
        </p:txBody>
      </p:sp>
      <p:pic>
        <p:nvPicPr>
          <p:cNvPr id="4" name="Picture 3" descr="isotope-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60120"/>
            <a:ext cx="6126480" cy="47091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675120" y="96012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75120" y="960120"/>
            <a:ext cx="91440" cy="86868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31152" y="1051560"/>
            <a:ext cx="4617720" cy="7223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Both have 17 protons and 17 electrons in the atom.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192024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75120" y="1920240"/>
            <a:ext cx="91440" cy="8686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31152" y="2011680"/>
            <a:ext cx="4617720" cy="7223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 baseline="30000">
                <a:solidFill>
                  <a:srgbClr val="0F172A"/>
                </a:solidFill>
                <a:latin typeface="Calibri"/>
              </a:rPr>
              <a:t>35</a:t>
            </a:r>
            <a:r>
              <a:rPr sz="1400" b="0" i="0" a:ea="Calibri">
                <a:solidFill>
                  <a:srgbClr val="0F172A"/>
                </a:solidFill>
                <a:latin typeface="Calibri"/>
              </a:rPr>
              <a:t>Cl has 18 neutrons; </a:t>
            </a:r>
            <a:r>
              <a:rPr sz="1400" b="0" i="0" a:ea="Calibri" baseline="30000">
                <a:solidFill>
                  <a:srgbClr val="0F172A"/>
                </a:solidFill>
                <a:latin typeface="Calibri"/>
              </a:rPr>
              <a:t>37</a:t>
            </a:r>
            <a:r>
              <a:rPr sz="1400" b="0" i="0" a:ea="Calibri">
                <a:solidFill>
                  <a:srgbClr val="0F172A"/>
                </a:solidFill>
                <a:latin typeface="Calibri"/>
              </a:rPr>
              <a:t>Cl has 20.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288036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75120" y="2880360"/>
            <a:ext cx="91440" cy="86868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31152" y="2971800"/>
            <a:ext cx="4617720" cy="7223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 baseline="30000">
                <a:solidFill>
                  <a:srgbClr val="0F172A"/>
                </a:solidFill>
                <a:latin typeface="Calibri"/>
              </a:rPr>
              <a:t>35</a:t>
            </a:r>
            <a:r>
              <a:rPr sz="1400" b="0" i="0" a:ea="Calibri">
                <a:solidFill>
                  <a:srgbClr val="0F172A"/>
                </a:solidFill>
                <a:latin typeface="Calibri"/>
              </a:rPr>
              <a:t>Cl is more abundant.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0" y="384048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75120" y="3840480"/>
            <a:ext cx="91440" cy="8686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31152" y="3931920"/>
            <a:ext cx="4617720" cy="7223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They react with sodium in the same way.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480060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75120" y="4800600"/>
            <a:ext cx="91440" cy="868680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31152" y="4892040"/>
            <a:ext cx="4617720" cy="7223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Do not say isotopes have different proton numbers.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jdscience-foot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Atomic structure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17  /  35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97280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FFFFFF"/>
                </a:solidFill>
                <a:latin typeface="Calibri"/>
              </a:rPr>
              <a:t>Relative atomic mass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61872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CCFBF1"/>
                </a:solidFill>
                <a:latin typeface="Calibri"/>
              </a:rPr>
              <a:t>A weighted mean, not a mass number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65960"/>
            <a:ext cx="3520440" cy="3977639"/>
          </a:xfrm>
          <a:prstGeom prst="roundRect">
            <a:avLst/>
          </a:prstGeom>
          <a:solidFill>
            <a:srgbClr val="003D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965960"/>
            <a:ext cx="3520440" cy="10972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212848"/>
            <a:ext cx="31089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CCFBF1"/>
                </a:solidFill>
                <a:latin typeface="Calibri"/>
              </a:rPr>
              <a:t>1   Look for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788920"/>
            <a:ext cx="3108960" cy="2880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FFFFFF"/>
                </a:solidFill>
                <a:latin typeface="Calibri"/>
              </a:rPr>
              <a:t>A</a:t>
            </a:r>
            <a:r>
              <a:rPr sz="1600" b="0" i="0" a:ea="Calibri" baseline="-25000">
                <a:solidFill>
                  <a:srgbClr val="FFFFFF"/>
                </a:solidFill>
                <a:latin typeface="Calibri"/>
              </a:rPr>
              <a:t>r</a:t>
            </a:r>
            <a:r>
              <a:rPr sz="1600" b="0" i="0" a:ea="Calibri">
                <a:solidFill>
                  <a:srgbClr val="FFFFFF"/>
                </a:solidFill>
                <a:latin typeface="Calibri"/>
              </a:rPr>
              <a:t> = (Σ percent × mass number) / 100   — no unit.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965960"/>
            <a:ext cx="3520440" cy="3977639"/>
          </a:xfrm>
          <a:prstGeom prst="roundRect">
            <a:avLst/>
          </a:prstGeom>
          <a:solidFill>
            <a:srgbClr val="003D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965960"/>
            <a:ext cx="3520440" cy="109728"/>
          </a:xfrm>
          <a:prstGeom prst="rect">
            <a:avLst/>
          </a:prstGeom>
          <a:solidFill>
            <a:srgbClr val="99F6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44568" y="2212848"/>
            <a:ext cx="31089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CCFBF1"/>
                </a:solidFill>
                <a:latin typeface="Calibri"/>
              </a:rPr>
              <a:t>2   Say in full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2788920"/>
            <a:ext cx="3108960" cy="2880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FFFFFF"/>
                </a:solidFill>
                <a:latin typeface="Calibri"/>
              </a:rPr>
              <a:t>Most elements are mixtures of isotopes, so A</a:t>
            </a:r>
            <a:r>
              <a:rPr sz="1600" b="0" i="0" a:ea="Calibri" baseline="-25000">
                <a:solidFill>
                  <a:srgbClr val="FFFFFF"/>
                </a:solidFill>
                <a:latin typeface="Calibri"/>
              </a:rPr>
              <a:t>r</a:t>
            </a:r>
            <a:r>
              <a:rPr sz="1600" b="0" i="0" a:ea="Calibri">
                <a:solidFill>
                  <a:srgbClr val="FFFFFF"/>
                </a:solidFill>
                <a:latin typeface="Calibri"/>
              </a:rPr>
              <a:t> is rarely a whole number.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965960"/>
            <a:ext cx="3520440" cy="3977639"/>
          </a:xfrm>
          <a:prstGeom prst="roundRect">
            <a:avLst/>
          </a:prstGeom>
          <a:solidFill>
            <a:srgbClr val="003D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20" y="1965960"/>
            <a:ext cx="3520440" cy="109728"/>
          </a:xfrm>
          <a:prstGeom prst="rect">
            <a:avLst/>
          </a:prstGeom>
          <a:solidFill>
            <a:srgbClr val="5EEA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47888" y="2212848"/>
            <a:ext cx="31089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CCFBF1"/>
                </a:solidFill>
                <a:latin typeface="Calibri"/>
              </a:rPr>
              <a:t>3   Level 3 move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7888" y="2788920"/>
            <a:ext cx="3108960" cy="2880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FFFFFF"/>
                </a:solidFill>
                <a:latin typeface="Calibri"/>
              </a:rPr>
              <a:t>Use the abundances in the question. Compare the result with 1/12 of a </a:t>
            </a:r>
            <a:r>
              <a:rPr sz="1600" b="0" i="0" a:ea="Calibri" baseline="30000">
                <a:solidFill>
                  <a:srgbClr val="FFFFFF"/>
                </a:solidFill>
                <a:latin typeface="Calibri"/>
              </a:rPr>
              <a:t>12</a:t>
            </a:r>
            <a:r>
              <a:rPr sz="1600" b="0" i="0" a:ea="Calibri">
                <a:solidFill>
                  <a:srgbClr val="FFFFFF"/>
                </a:solidFill>
                <a:latin typeface="Calibri"/>
              </a:rPr>
              <a:t>C atom.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Atomic structure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18  /  35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Why A</a:t>
            </a:r>
            <a:r>
              <a:rPr sz="2800" b="1" i="0" a:ea="Calibri" baseline="-25000">
                <a:solidFill>
                  <a:srgbClr val="004D40"/>
                </a:solidFill>
                <a:latin typeface="Calibri"/>
              </a:rPr>
              <a:t>r</a:t>
            </a:r>
            <a:r>
              <a:rPr sz="2800" b="1" i="0" a:ea="Calibri">
                <a:solidFill>
                  <a:srgbClr val="004D40"/>
                </a:solidFill>
                <a:latin typeface="Calibri"/>
              </a:rPr>
              <a:t> is not a whole number</a:t>
            </a:r>
          </a:p>
        </p:txBody>
      </p:sp>
      <p:pic>
        <p:nvPicPr>
          <p:cNvPr id="4" name="Picture 3" descr="ar-weigh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60120"/>
            <a:ext cx="6126480" cy="47091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675120" y="960120"/>
            <a:ext cx="5029200" cy="110871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75120" y="960120"/>
            <a:ext cx="91440" cy="110871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31152" y="1051560"/>
            <a:ext cx="4617720" cy="96240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Most elements are mixtures of isotopes.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2160270"/>
            <a:ext cx="5029200" cy="110871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75120" y="2160270"/>
            <a:ext cx="91440" cy="110871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31152" y="2251710"/>
            <a:ext cx="4617720" cy="96240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A</a:t>
            </a:r>
            <a:r>
              <a:rPr sz="1400" b="0" i="0" a:ea="Calibri" baseline="-25000">
                <a:solidFill>
                  <a:srgbClr val="0F172A"/>
                </a:solidFill>
                <a:latin typeface="Calibri"/>
              </a:rPr>
              <a:t>r</a:t>
            </a:r>
            <a:r>
              <a:rPr sz="1400" b="0" i="0" a:ea="Calibri">
                <a:solidFill>
                  <a:srgbClr val="0F172A"/>
                </a:solidFill>
                <a:latin typeface="Calibri"/>
              </a:rPr>
              <a:t> is the weighted mean mass compared with 1/12 of the mass of a </a:t>
            </a:r>
            <a:r>
              <a:rPr sz="1400" b="0" i="0" a:ea="Calibri" baseline="30000">
                <a:solidFill>
                  <a:srgbClr val="0F172A"/>
                </a:solidFill>
                <a:latin typeface="Calibri"/>
              </a:rPr>
              <a:t>12</a:t>
            </a:r>
            <a:r>
              <a:rPr sz="1400" b="0" i="0" a:ea="Calibri">
                <a:solidFill>
                  <a:srgbClr val="0F172A"/>
                </a:solidFill>
                <a:latin typeface="Calibri"/>
              </a:rPr>
              <a:t>C atom.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3360420"/>
            <a:ext cx="5029200" cy="110871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75120" y="3360420"/>
            <a:ext cx="91440" cy="110871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31152" y="3451860"/>
            <a:ext cx="4617720" cy="96240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A</a:t>
            </a:r>
            <a:r>
              <a:rPr sz="1400" b="0" i="0" a:ea="Calibri" baseline="-25000">
                <a:solidFill>
                  <a:srgbClr val="0F172A"/>
                </a:solidFill>
                <a:latin typeface="Calibri"/>
              </a:rPr>
              <a:t>r</a:t>
            </a:r>
            <a:r>
              <a:rPr sz="1400" b="0" i="0" a:ea="Calibri">
                <a:solidFill>
                  <a:srgbClr val="0F172A"/>
                </a:solidFill>
                <a:latin typeface="Calibri"/>
              </a:rPr>
              <a:t> has no unit.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0" y="4560570"/>
            <a:ext cx="5029200" cy="110871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75120" y="4560570"/>
            <a:ext cx="91440" cy="110871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31152" y="4652010"/>
            <a:ext cx="4617720" cy="96240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Use the abundances given in the question — do not memorise them.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jdscience-foot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Atomic structure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19  /  35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Reading a simple mass spectrum</a:t>
            </a:r>
          </a:p>
        </p:txBody>
      </p:sp>
      <p:pic>
        <p:nvPicPr>
          <p:cNvPr id="4" name="Picture 3" descr="mass-spectr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60120"/>
            <a:ext cx="6126480" cy="47091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675120" y="960120"/>
            <a:ext cx="5029200" cy="110871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75120" y="960120"/>
            <a:ext cx="91440" cy="110871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31152" y="1051560"/>
            <a:ext cx="4617720" cy="96240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Peak position is the mass number of that 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2160270"/>
            <a:ext cx="5029200" cy="110871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75120" y="2160270"/>
            <a:ext cx="91440" cy="110871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31152" y="2251710"/>
            <a:ext cx="4617720" cy="96240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Peak height is relative abundance.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3360420"/>
            <a:ext cx="5029200" cy="110871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75120" y="3360420"/>
            <a:ext cx="91440" cy="110871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31152" y="3451860"/>
            <a:ext cx="4617720" cy="96240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Use those heights as the percentages in the A</a:t>
            </a:r>
            <a:r>
              <a:rPr sz="1400" b="0" i="0" a:ea="Calibri" baseline="-25000">
                <a:solidFill>
                  <a:srgbClr val="0F172A"/>
                </a:solidFill>
                <a:latin typeface="Calibri"/>
              </a:rPr>
              <a:t>r</a:t>
            </a:r>
            <a:r>
              <a:rPr sz="1400" b="0" i="0" a:ea="Calibri">
                <a:solidFill>
                  <a:srgbClr val="0F172A"/>
                </a:solidFill>
                <a:latin typeface="Calibri"/>
              </a:rPr>
              <a:t> formula.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0" y="4560570"/>
            <a:ext cx="5029200" cy="110871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75120" y="4560570"/>
            <a:ext cx="91440" cy="110871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31152" y="4652010"/>
            <a:ext cx="4617720" cy="96240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A tiny peak can often be ignored only after you have checked the 3 s.f. effect.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5742432"/>
            <a:ext cx="61264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 a:ea="Calibri">
                <a:solidFill>
                  <a:srgbClr val="475569"/>
                </a:solidFill>
                <a:latin typeface="Calibri"/>
              </a:rPr>
              <a:t>Teaching sketch — not a copied instrument printout.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jdscience-foot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Atomic structure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20  /  35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2377440" cy="310896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237744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Chlorine A</a:t>
            </a:r>
            <a:r>
              <a:rPr sz="2600" b="1" i="0" a:ea="Calibri" baseline="-25000">
                <a:solidFill>
                  <a:srgbClr val="004D40"/>
                </a:solidFill>
                <a:latin typeface="Calibri"/>
              </a:rPr>
              <a:t>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11247120" cy="868680"/>
          </a:xfrm>
          <a:prstGeom prst="round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91440" cy="8686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1261872"/>
            <a:ext cx="10881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1E3A5F"/>
                </a:solidFill>
                <a:latin typeface="Calibri"/>
              </a:rPr>
              <a:t>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536192"/>
            <a:ext cx="10881360" cy="4297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A sample is 75.0% </a:t>
            </a:r>
            <a:r>
              <a:rPr sz="1600" b="0" i="0" a:ea="Calibri" baseline="30000">
                <a:solidFill>
                  <a:srgbClr val="0F172A"/>
                </a:solidFill>
                <a:latin typeface="Calibri"/>
              </a:rPr>
              <a:t>35</a:t>
            </a:r>
            <a:r>
              <a:rPr sz="1600" b="0" i="0" a:ea="Calibri">
                <a:solidFill>
                  <a:srgbClr val="0F172A"/>
                </a:solidFill>
                <a:latin typeface="Calibri"/>
              </a:rPr>
              <a:t>Cl and 25.0% </a:t>
            </a:r>
            <a:r>
              <a:rPr sz="1600" b="0" i="0" a:ea="Calibri" baseline="30000">
                <a:solidFill>
                  <a:srgbClr val="0F172A"/>
                </a:solidFill>
                <a:latin typeface="Calibri"/>
              </a:rPr>
              <a:t>37</a:t>
            </a:r>
            <a:r>
              <a:rPr sz="1600" b="0" i="0" a:ea="Calibri">
                <a:solidFill>
                  <a:srgbClr val="0F172A"/>
                </a:solidFill>
                <a:latin typeface="Calibri"/>
              </a:rPr>
              <a:t>Cl. Calculate A</a:t>
            </a:r>
            <a:r>
              <a:rPr sz="1600" b="0" i="0" a:ea="Calibri" baseline="-25000">
                <a:solidFill>
                  <a:srgbClr val="0F172A"/>
                </a:solidFill>
                <a:latin typeface="Calibri"/>
              </a:rPr>
              <a:t>r</a:t>
            </a:r>
            <a:r>
              <a:rPr sz="1600" b="0" i="0" a:ea="Calibri">
                <a:solidFill>
                  <a:srgbClr val="0F172A"/>
                </a:solidFill>
                <a:latin typeface="Calibri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76272"/>
            <a:ext cx="5486400" cy="10515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176272"/>
            <a:ext cx="91440" cy="105156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" y="2249424"/>
            <a:ext cx="51206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09688"/>
                </a:solidFill>
                <a:latin typeface="Calibri"/>
              </a:rPr>
              <a:t>Equation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" y="2523744"/>
            <a:ext cx="5120640" cy="6126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A</a:t>
            </a:r>
            <a:r>
              <a:rPr sz="1600" b="0" i="0" a:ea="Calibri" baseline="-25000">
                <a:solidFill>
                  <a:srgbClr val="0F172A"/>
                </a:solidFill>
                <a:latin typeface="Calibri"/>
              </a:rPr>
              <a:t>r</a:t>
            </a:r>
            <a:r>
              <a:rPr sz="1600" b="0" i="0" a:ea="Calibri">
                <a:solidFill>
                  <a:srgbClr val="0F172A"/>
                </a:solidFill>
                <a:latin typeface="Calibri"/>
              </a:rPr>
              <a:t> = (Σ percent × mass number) / 100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2176272"/>
            <a:ext cx="5577840" cy="1051560"/>
          </a:xfrm>
          <a:prstGeom prst="round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176272"/>
            <a:ext cx="91440" cy="10515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2249424"/>
            <a:ext cx="5212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5B21B6"/>
                </a:solidFill>
                <a:latin typeface="Calibri"/>
              </a:rPr>
              <a:t>Substitution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5936" y="2523744"/>
            <a:ext cx="5212080" cy="6126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A</a:t>
            </a:r>
            <a:r>
              <a:rPr sz="1600" b="0" i="0" a:ea="Calibri" baseline="-25000">
                <a:solidFill>
                  <a:srgbClr val="0F172A"/>
                </a:solidFill>
                <a:latin typeface="Calibri"/>
              </a:rPr>
              <a:t>r</a:t>
            </a:r>
            <a:r>
              <a:rPr sz="1600" b="0" i="0" a:ea="Calibri">
                <a:solidFill>
                  <a:srgbClr val="0F172A"/>
                </a:solidFill>
                <a:latin typeface="Calibri"/>
              </a:rPr>
              <a:t> = (75.0 × 35 + 25.0 × 37) / 100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346704"/>
            <a:ext cx="5486400" cy="1325880"/>
          </a:xfrm>
          <a:prstGeom prst="round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346704"/>
            <a:ext cx="91440" cy="13258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" y="3419856"/>
            <a:ext cx="51206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B45309"/>
                </a:solidFill>
                <a:latin typeface="Calibri"/>
              </a:rPr>
              <a:t>Working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" y="3694176"/>
            <a:ext cx="5120640" cy="8869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A</a:t>
            </a:r>
            <a:r>
              <a:rPr sz="1600" b="0" i="0" a:ea="Calibri" baseline="-25000">
                <a:solidFill>
                  <a:srgbClr val="0F172A"/>
                </a:solidFill>
                <a:latin typeface="Calibri"/>
              </a:rPr>
              <a:t>r</a:t>
            </a:r>
            <a:r>
              <a:rPr sz="1600" b="0" i="0" a:ea="Calibri">
                <a:solidFill>
                  <a:srgbClr val="0F172A"/>
                </a:solidFill>
                <a:latin typeface="Calibri"/>
              </a:rPr>
              <a:t> = (2625 + 925) / 100 = 3550 / 100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26480" y="3346704"/>
            <a:ext cx="5577840" cy="1325880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3346704"/>
            <a:ext cx="91440" cy="1325880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3419856"/>
            <a:ext cx="5212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47857"/>
                </a:solidFill>
                <a:latin typeface="Calibri"/>
              </a:rPr>
              <a:t>Answer + unit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45936" y="3694176"/>
            <a:ext cx="5212080" cy="8869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35.5     no unit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800600"/>
            <a:ext cx="11247120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475569"/>
                </a:solidFill>
                <a:latin typeface="Calibri"/>
              </a:rPr>
              <a:t>This matches the familiar periodic-table value.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Atomic structure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21  /  35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Your turn — copper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05840"/>
            <a:ext cx="5532120" cy="210312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82296" cy="21031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43000"/>
            <a:ext cx="5029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009688"/>
                </a:solidFill>
                <a:latin typeface="Calibri"/>
              </a:rPr>
              <a:t>Given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69.0% 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63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Cu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31.0% 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65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Cu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005840"/>
            <a:ext cx="5532120" cy="2103120"/>
          </a:xfrm>
          <a:prstGeom prst="round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005840"/>
            <a:ext cx="82296" cy="21031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143000"/>
            <a:ext cx="5029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1E3A5F"/>
                </a:solidFill>
                <a:latin typeface="Calibri"/>
              </a:rPr>
              <a:t>Find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55448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A</a:t>
            </a:r>
            <a:r>
              <a:rPr sz="1500" b="0" i="0" a:ea="Calibri" baseline="-25000">
                <a:solidFill>
                  <a:srgbClr val="0F172A"/>
                </a:solidFill>
                <a:latin typeface="Calibri"/>
              </a:rPr>
              <a:t>r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 to 1 d.p.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291840"/>
            <a:ext cx="2743200" cy="26974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3429000"/>
            <a:ext cx="24688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004D40"/>
                </a:solidFill>
                <a:latin typeface="Calibri"/>
              </a:rPr>
              <a:t>Equation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840480"/>
            <a:ext cx="2468880" cy="1965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 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37560" y="3291840"/>
            <a:ext cx="2743200" cy="26974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0" y="3429000"/>
            <a:ext cx="24688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004D40"/>
                </a:solidFill>
                <a:latin typeface="Calibri"/>
              </a:rPr>
              <a:t>Substitution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3840480"/>
            <a:ext cx="2468880" cy="1965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 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3291840"/>
            <a:ext cx="2743200" cy="26974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3429000"/>
            <a:ext cx="24688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004D40"/>
                </a:solidFill>
                <a:latin typeface="Calibri"/>
              </a:rPr>
              <a:t>Working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3840480"/>
            <a:ext cx="2468880" cy="1965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 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280" y="3291840"/>
            <a:ext cx="2743200" cy="26974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35440" y="3429000"/>
            <a:ext cx="24688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004D40"/>
                </a:solidFill>
                <a:latin typeface="Calibri"/>
              </a:rPr>
              <a:t>Answer + unit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0" y="3840480"/>
            <a:ext cx="2468880" cy="1965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080760"/>
            <a:ext cx="1124712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 a:ea="Calibri">
                <a:solidFill>
                  <a:srgbClr val="475569"/>
                </a:solidFill>
                <a:latin typeface="Calibri"/>
              </a:rPr>
              <a:t>Write every term. Do not skip the division by 100.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Atomic structure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22  /  35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3291840" cy="310896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329184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CHECK YOUR UNDERSTANDING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Relative atomic mass practice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3651504" cy="4434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371600"/>
            <a:ext cx="457200" cy="457200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426464"/>
            <a:ext cx="2645664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2 marks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011680"/>
            <a:ext cx="3249168" cy="1417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Boron is 20.0% </a:t>
            </a:r>
            <a:r>
              <a:rPr sz="1600" b="0" i="0" a:ea="Calibri" baseline="30000">
                <a:solidFill>
                  <a:srgbClr val="0F172A"/>
                </a:solidFill>
                <a:latin typeface="Calibri"/>
              </a:rPr>
              <a:t>10</a:t>
            </a:r>
            <a:r>
              <a:rPr sz="1600" b="0" i="0" a:ea="Calibri">
                <a:solidFill>
                  <a:srgbClr val="0F172A"/>
                </a:solidFill>
                <a:latin typeface="Calibri"/>
              </a:rPr>
              <a:t>B and 80.0% </a:t>
            </a:r>
            <a:r>
              <a:rPr sz="1600" b="0" i="0" a:ea="Calibri" baseline="30000">
                <a:solidFill>
                  <a:srgbClr val="0F172A"/>
                </a:solidFill>
                <a:latin typeface="Calibri"/>
              </a:rPr>
              <a:t>11</a:t>
            </a:r>
            <a:r>
              <a:rPr sz="1600" b="0" i="0" a:ea="Calibri">
                <a:solidFill>
                  <a:srgbClr val="0F172A"/>
                </a:solidFill>
                <a:latin typeface="Calibri"/>
              </a:rPr>
              <a:t>B. Calculate A</a:t>
            </a:r>
            <a:r>
              <a:rPr sz="1600" b="0" i="0" a:ea="Calibri" baseline="-25000">
                <a:solidFill>
                  <a:srgbClr val="0F172A"/>
                </a:solidFill>
                <a:latin typeface="Calibri"/>
              </a:rPr>
              <a:t>r</a:t>
            </a:r>
            <a:r>
              <a:rPr sz="1600" b="0" i="0" a:ea="Calibri">
                <a:solidFill>
                  <a:srgbClr val="0F172A"/>
                </a:solidFill>
                <a:latin typeface="Calibri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520440"/>
            <a:ext cx="3249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475569"/>
                </a:solidFill>
                <a:latin typeface="Calibri"/>
              </a:rPr>
              <a:t>Write a full-sentence answer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3858768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8368" y="4151376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" y="4443984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4736592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255008" y="1188720"/>
            <a:ext cx="3651504" cy="4434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437888" y="1371600"/>
            <a:ext cx="457200" cy="457200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37888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86528" y="1426464"/>
            <a:ext cx="2645664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2 marks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56176" y="2011680"/>
            <a:ext cx="3249168" cy="1417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Copper is 69.0% </a:t>
            </a:r>
            <a:r>
              <a:rPr sz="1600" b="0" i="0" a:ea="Calibri" baseline="30000">
                <a:solidFill>
                  <a:srgbClr val="0F172A"/>
                </a:solidFill>
                <a:latin typeface="Calibri"/>
              </a:rPr>
              <a:t>63</a:t>
            </a:r>
            <a:r>
              <a:rPr sz="1600" b="0" i="0" a:ea="Calibri">
                <a:solidFill>
                  <a:srgbClr val="0F172A"/>
                </a:solidFill>
                <a:latin typeface="Calibri"/>
              </a:rPr>
              <a:t>Cu and 31.0% </a:t>
            </a:r>
            <a:r>
              <a:rPr sz="1600" b="0" i="0" a:ea="Calibri" baseline="30000">
                <a:solidFill>
                  <a:srgbClr val="0F172A"/>
                </a:solidFill>
                <a:latin typeface="Calibri"/>
              </a:rPr>
              <a:t>65</a:t>
            </a:r>
            <a:r>
              <a:rPr sz="1600" b="0" i="0" a:ea="Calibri">
                <a:solidFill>
                  <a:srgbClr val="0F172A"/>
                </a:solidFill>
                <a:latin typeface="Calibri"/>
              </a:rPr>
              <a:t>Cu. Calculate A</a:t>
            </a:r>
            <a:r>
              <a:rPr sz="1600" b="0" i="0" a:ea="Calibri" baseline="-25000">
                <a:solidFill>
                  <a:srgbClr val="0F172A"/>
                </a:solidFill>
                <a:latin typeface="Calibri"/>
              </a:rPr>
              <a:t>r</a:t>
            </a:r>
            <a:r>
              <a:rPr sz="1600" b="0" i="0" a:ea="Calibri">
                <a:solidFill>
                  <a:srgbClr val="0F172A"/>
                </a:solidFill>
                <a:latin typeface="Calibri"/>
              </a:rPr>
              <a:t> to 1 d.p.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56176" y="3520440"/>
            <a:ext cx="3249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475569"/>
                </a:solidFill>
                <a:latin typeface="Calibri"/>
              </a:rPr>
              <a:t>Write a full-sentence answer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56176" y="3858768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56176" y="4151376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456176" y="4443984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56176" y="4736592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052816" y="1188720"/>
            <a:ext cx="3651504" cy="4434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235696" y="1371600"/>
            <a:ext cx="457200" cy="457200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35696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84336" y="1426464"/>
            <a:ext cx="2645664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2 marks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53984" y="2011680"/>
            <a:ext cx="3249168" cy="1417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Why is A</a:t>
            </a:r>
            <a:r>
              <a:rPr sz="1600" b="0" i="0" a:ea="Calibri" baseline="-25000">
                <a:solidFill>
                  <a:srgbClr val="0F172A"/>
                </a:solidFill>
                <a:latin typeface="Calibri"/>
              </a:rPr>
              <a:t>r</a:t>
            </a:r>
            <a:r>
              <a:rPr sz="1600" b="0" i="0" a:ea="Calibri">
                <a:solidFill>
                  <a:srgbClr val="0F172A"/>
                </a:solidFill>
                <a:latin typeface="Calibri"/>
              </a:rPr>
              <a:t> for chlorine not a whole number?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53984" y="3520440"/>
            <a:ext cx="3249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475569"/>
                </a:solidFill>
                <a:latin typeface="Calibri"/>
              </a:rPr>
              <a:t>Write a full-sentence answer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53984" y="3858768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253984" y="4151376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253984" y="4443984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253984" y="4736592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5742432"/>
            <a:ext cx="112471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Think first — answers are on the next slide.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Atomic structure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23  /  35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2011680" cy="310896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201168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A</a:t>
            </a:r>
            <a:r>
              <a:rPr sz="2600" b="1" i="0" a:ea="Calibri" baseline="-25000">
                <a:solidFill>
                  <a:srgbClr val="004D40"/>
                </a:solidFill>
                <a:latin typeface="Calibri"/>
              </a:rPr>
              <a:t>r</a:t>
            </a:r>
            <a:r>
              <a:rPr sz="2600" b="1" i="0" a:ea="Calibri">
                <a:solidFill>
                  <a:srgbClr val="004D40"/>
                </a:solidFill>
                <a:latin typeface="Calibri"/>
              </a:rPr>
              <a:t> answers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3651504" cy="4709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371600"/>
            <a:ext cx="457200" cy="45720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011680"/>
            <a:ext cx="3249168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A</a:t>
            </a:r>
            <a:r>
              <a:rPr sz="1500" b="0" i="0" a:ea="Calibri" baseline="-25000">
                <a:solidFill>
                  <a:srgbClr val="0F172A"/>
                </a:solidFill>
                <a:latin typeface="Calibri"/>
              </a:rPr>
              <a:t>r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(B) = (20×10 + 80×11)/100 = 10.8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5008" y="1188720"/>
            <a:ext cx="3651504" cy="4709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37888" y="1371600"/>
            <a:ext cx="457200" cy="45720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7888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6176" y="2011680"/>
            <a:ext cx="3249168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A</a:t>
            </a:r>
            <a:r>
              <a:rPr sz="1500" b="0" i="0" a:ea="Calibri" baseline="-25000">
                <a:solidFill>
                  <a:srgbClr val="0F172A"/>
                </a:solidFill>
                <a:latin typeface="Calibri"/>
              </a:rPr>
              <a:t>r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(Cu) = (69×63 + 31×65)/100 = 63.6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52816" y="1188720"/>
            <a:ext cx="3651504" cy="4709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35696" y="1371600"/>
            <a:ext cx="457200" cy="45720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35696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3984" y="2011680"/>
            <a:ext cx="3249168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Chlorine is a mixture of 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35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Cl and 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37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Cl, so the weighted mean is not an integer.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Atomic structure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24  /  35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97280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FFFFFF"/>
                </a:solidFill>
                <a:latin typeface="Calibri"/>
              </a:rPr>
              <a:t>Ions from atoms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61872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CCFBF1"/>
                </a:solidFill>
                <a:latin typeface="Calibri"/>
              </a:rPr>
              <a:t>Electrons move; protons do not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65960"/>
            <a:ext cx="3520440" cy="3977639"/>
          </a:xfrm>
          <a:prstGeom prst="roundRect">
            <a:avLst/>
          </a:prstGeom>
          <a:solidFill>
            <a:srgbClr val="003D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965960"/>
            <a:ext cx="3520440" cy="10972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212848"/>
            <a:ext cx="31089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CCFBF1"/>
                </a:solidFill>
                <a:latin typeface="Calibri"/>
              </a:rPr>
              <a:t>1   Look for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788920"/>
            <a:ext cx="3108960" cy="2880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FFFFFF"/>
                </a:solidFill>
                <a:latin typeface="Calibri"/>
              </a:rPr>
              <a:t>Charge = protons − electrons. Na</a:t>
            </a:r>
            <a:r>
              <a:rPr sz="1600" b="0" i="0" a:ea="Calibri" baseline="30000">
                <a:solidFill>
                  <a:srgbClr val="FFFFFF"/>
                </a:solidFill>
                <a:latin typeface="Calibri"/>
              </a:rPr>
              <a:t>+</a:t>
            </a:r>
            <a:r>
              <a:rPr sz="1600" b="0" i="0" a:ea="Calibri">
                <a:solidFill>
                  <a:srgbClr val="FFFFFF"/>
                </a:solidFill>
                <a:latin typeface="Calibri"/>
              </a:rPr>
              <a:t> has 11 p and 10 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965960"/>
            <a:ext cx="3520440" cy="3977639"/>
          </a:xfrm>
          <a:prstGeom prst="roundRect">
            <a:avLst/>
          </a:prstGeom>
          <a:solidFill>
            <a:srgbClr val="003D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965960"/>
            <a:ext cx="3520440" cy="109728"/>
          </a:xfrm>
          <a:prstGeom prst="rect">
            <a:avLst/>
          </a:prstGeom>
          <a:solidFill>
            <a:srgbClr val="99F6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44568" y="2212848"/>
            <a:ext cx="31089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CCFBF1"/>
                </a:solidFill>
                <a:latin typeface="Calibri"/>
              </a:rPr>
              <a:t>2   Say in full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2788920"/>
            <a:ext cx="3108960" cy="2880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FFFFFF"/>
                </a:solidFill>
                <a:latin typeface="Calibri"/>
              </a:rPr>
              <a:t>A cation has lost electrons. An anion has gained electrons.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965960"/>
            <a:ext cx="3520440" cy="3977639"/>
          </a:xfrm>
          <a:prstGeom prst="roundRect">
            <a:avLst/>
          </a:prstGeom>
          <a:solidFill>
            <a:srgbClr val="003D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20" y="1965960"/>
            <a:ext cx="3520440" cy="109728"/>
          </a:xfrm>
          <a:prstGeom prst="rect">
            <a:avLst/>
          </a:prstGeom>
          <a:solidFill>
            <a:srgbClr val="5EEA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47888" y="2212848"/>
            <a:ext cx="31089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CCFBF1"/>
                </a:solidFill>
                <a:latin typeface="Calibri"/>
              </a:rPr>
              <a:t>3   Level 3 move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7888" y="2788920"/>
            <a:ext cx="3108960" cy="2880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FFFFFF"/>
                </a:solidFill>
                <a:latin typeface="Calibri"/>
              </a:rPr>
              <a:t>Z is unchanged, so it is still the same element. Link this to later bonding.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Atomic structure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25  /  35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How a sodium ion forms</a:t>
            </a:r>
          </a:p>
        </p:txBody>
      </p:sp>
      <p:pic>
        <p:nvPicPr>
          <p:cNvPr id="4" name="Picture 3" descr="ion-form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60120"/>
            <a:ext cx="6126480" cy="47091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675120" y="96012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75120" y="960120"/>
            <a:ext cx="91440" cy="86868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31152" y="1051560"/>
            <a:ext cx="4617720" cy="7223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A cation forms when an atom loses electrons.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192024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75120" y="1920240"/>
            <a:ext cx="91440" cy="8686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31152" y="2011680"/>
            <a:ext cx="4617720" cy="7223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An anion forms when an atom gains electrons.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288036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75120" y="2880360"/>
            <a:ext cx="91440" cy="86868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31152" y="2971800"/>
            <a:ext cx="4617720" cy="7223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Z is unchanged, so it is still the same element.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0" y="384048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75120" y="3840480"/>
            <a:ext cx="91440" cy="8686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31152" y="3931920"/>
            <a:ext cx="4617720" cy="7223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Charge number = protons − electrons.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480060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75120" y="4800600"/>
            <a:ext cx="91440" cy="868680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31152" y="4892040"/>
            <a:ext cx="4617720" cy="7223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Metals typically form cations; non-metals typically form anions.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jdscience-foot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Atomic structure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26  /  35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2377440" cy="310896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237744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Aluminium-27 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11247120" cy="868680"/>
          </a:xfrm>
          <a:prstGeom prst="round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91440" cy="8686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1261872"/>
            <a:ext cx="10881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1E3A5F"/>
                </a:solidFill>
                <a:latin typeface="Calibri"/>
              </a:rPr>
              <a:t>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536192"/>
            <a:ext cx="10881360" cy="4297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How many protons, neutrons and electrons has </a:t>
            </a:r>
            <a:r>
              <a:rPr sz="1600" b="0" i="0" a:ea="Calibri" baseline="30000">
                <a:solidFill>
                  <a:srgbClr val="0F172A"/>
                </a:solidFill>
                <a:latin typeface="Calibri"/>
              </a:rPr>
              <a:t>27</a:t>
            </a:r>
            <a:r>
              <a:rPr sz="1600" b="0" i="0" a:ea="Calibri">
                <a:solidFill>
                  <a:srgbClr val="0F172A"/>
                </a:solidFill>
                <a:latin typeface="Calibri"/>
              </a:rPr>
              <a:t>Al</a:t>
            </a:r>
            <a:r>
              <a:rPr sz="1600" b="0" i="0" a:ea="Calibri" baseline="30000">
                <a:solidFill>
                  <a:srgbClr val="0F172A"/>
                </a:solidFill>
                <a:latin typeface="Calibri"/>
              </a:rPr>
              <a:t>3+</a:t>
            </a:r>
            <a:r>
              <a:rPr sz="1600" b="0" i="0" a:ea="Calibri">
                <a:solidFill>
                  <a:srgbClr val="0F172A"/>
                </a:solidFill>
                <a:latin typeface="Calibri"/>
              </a:rPr>
              <a:t>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76272"/>
            <a:ext cx="5486400" cy="10515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176272"/>
            <a:ext cx="91440" cy="105156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" y="2249424"/>
            <a:ext cx="51206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09688"/>
                </a:solidFill>
                <a:latin typeface="Calibri"/>
              </a:rPr>
              <a:t>Equation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" y="2523744"/>
            <a:ext cx="5120640" cy="6126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neutrons = A − Z     electrons = Z − 3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2176272"/>
            <a:ext cx="5577840" cy="1051560"/>
          </a:xfrm>
          <a:prstGeom prst="round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176272"/>
            <a:ext cx="91440" cy="10515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2249424"/>
            <a:ext cx="5212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5B21B6"/>
                </a:solidFill>
                <a:latin typeface="Calibri"/>
              </a:rPr>
              <a:t>Substitution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5936" y="2523744"/>
            <a:ext cx="5212080" cy="6126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A = 27    Z = 13    the 3+ means three electrons lost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346704"/>
            <a:ext cx="5486400" cy="1325880"/>
          </a:xfrm>
          <a:prstGeom prst="round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346704"/>
            <a:ext cx="91440" cy="13258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" y="3419856"/>
            <a:ext cx="51206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B45309"/>
                </a:solidFill>
                <a:latin typeface="Calibri"/>
              </a:rPr>
              <a:t>Working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" y="3694176"/>
            <a:ext cx="5120640" cy="8869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protons = 13     neutrons = 14     electrons = 10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26480" y="3346704"/>
            <a:ext cx="5577840" cy="1325880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3346704"/>
            <a:ext cx="91440" cy="1325880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3419856"/>
            <a:ext cx="5212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47857"/>
                </a:solidFill>
                <a:latin typeface="Calibri"/>
              </a:rPr>
              <a:t>Answer + unit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45936" y="3694176"/>
            <a:ext cx="5212080" cy="8869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13 p, 14 n, 10 e    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800600"/>
            <a:ext cx="11247120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475569"/>
                </a:solidFill>
                <a:latin typeface="Calibri"/>
              </a:rPr>
              <a:t>The ion has the same electron count as neon, but it is still aluminium.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Atomic structure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27  /  35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Chemical versus nuclear change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05840"/>
            <a:ext cx="5532120" cy="502920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82296" cy="50292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70432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 a:ea="Calibri">
                <a:solidFill>
                  <a:srgbClr val="009688"/>
                </a:solidFill>
                <a:latin typeface="Calibri"/>
              </a:rPr>
              <a:t>Chemical (this unit)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502920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Electrons are rearranged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Proton number stays the same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Atoms become ions or form bonds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Identity of the element is unchanged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005840"/>
            <a:ext cx="5532120" cy="5029200"/>
          </a:xfrm>
          <a:prstGeom prst="round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005840"/>
            <a:ext cx="82296" cy="50292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170432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 a:ea="Calibri">
                <a:solidFill>
                  <a:srgbClr val="1E3A5F"/>
                </a:solidFill>
                <a:latin typeface="Calibri"/>
              </a:rPr>
              <a:t>Nuclear (do not confuse)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645920"/>
            <a:ext cx="502920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The nucleus changes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Proton number may change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A different element can form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Not how Na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+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 is produced in a salt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Atomic structure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28  /  35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3017520" cy="310896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301752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MINI-WHITEBOARD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Four nuclide cards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475569"/>
                </a:solidFill>
                <a:latin typeface="Calibri"/>
              </a:rPr>
              <a:t>Draw cards for </a:t>
            </a:r>
            <a:r>
              <a:rPr sz="1600" b="0" i="0" a:ea="Calibri" baseline="30000">
                <a:solidFill>
                  <a:srgbClr val="475569"/>
                </a:solidFill>
                <a:latin typeface="Calibri"/>
              </a:rPr>
              <a:t>24</a:t>
            </a:r>
            <a:r>
              <a:rPr sz="1600" b="0" i="0" a:ea="Calibri">
                <a:solidFill>
                  <a:srgbClr val="475569"/>
                </a:solidFill>
                <a:latin typeface="Calibri"/>
              </a:rPr>
              <a:t>Mg, </a:t>
            </a:r>
            <a:r>
              <a:rPr sz="1600" b="0" i="0" a:ea="Calibri" baseline="30000">
                <a:solidFill>
                  <a:srgbClr val="475569"/>
                </a:solidFill>
                <a:latin typeface="Calibri"/>
              </a:rPr>
              <a:t>24</a:t>
            </a:r>
            <a:r>
              <a:rPr sz="1600" b="0" i="0" a:ea="Calibri">
                <a:solidFill>
                  <a:srgbClr val="475569"/>
                </a:solidFill>
                <a:latin typeface="Calibri"/>
              </a:rPr>
              <a:t>Mg</a:t>
            </a:r>
            <a:r>
              <a:rPr sz="1600" b="0" i="0" a:ea="Calibri" baseline="30000">
                <a:solidFill>
                  <a:srgbClr val="475569"/>
                </a:solidFill>
                <a:latin typeface="Calibri"/>
              </a:rPr>
              <a:t>2+</a:t>
            </a:r>
            <a:r>
              <a:rPr sz="1600" b="0" i="0" a:ea="Calibri">
                <a:solidFill>
                  <a:srgbClr val="475569"/>
                </a:solidFill>
                <a:latin typeface="Calibri"/>
              </a:rPr>
              <a:t>, </a:t>
            </a:r>
            <a:r>
              <a:rPr sz="1600" b="0" i="0" a:ea="Calibri" baseline="30000">
                <a:solidFill>
                  <a:srgbClr val="475569"/>
                </a:solidFill>
                <a:latin typeface="Calibri"/>
              </a:rPr>
              <a:t>19</a:t>
            </a:r>
            <a:r>
              <a:rPr sz="1600" b="0" i="0" a:ea="Calibri">
                <a:solidFill>
                  <a:srgbClr val="475569"/>
                </a:solidFill>
                <a:latin typeface="Calibri"/>
              </a:rPr>
              <a:t>F and </a:t>
            </a:r>
            <a:r>
              <a:rPr sz="1600" b="0" i="0" a:ea="Calibri" baseline="30000">
                <a:solidFill>
                  <a:srgbClr val="475569"/>
                </a:solidFill>
                <a:latin typeface="Calibri"/>
              </a:rPr>
              <a:t>19</a:t>
            </a:r>
            <a:r>
              <a:rPr sz="1600" b="0" i="0" a:ea="Calibri">
                <a:solidFill>
                  <a:srgbClr val="475569"/>
                </a:solidFill>
                <a:latin typeface="Calibri"/>
              </a:rPr>
              <a:t>F</a:t>
            </a:r>
            <a:r>
              <a:rPr sz="1600" b="0" i="0" a:ea="Calibri" baseline="30000">
                <a:solidFill>
                  <a:srgbClr val="475569"/>
                </a:solidFill>
                <a:latin typeface="Calibri"/>
              </a:rPr>
              <a:t>−</a:t>
            </a:r>
            <a:r>
              <a:rPr sz="1600" b="0" i="0" a:ea="Calibri">
                <a:solidFill>
                  <a:srgbClr val="475569"/>
                </a:solidFill>
                <a:latin typeface="Calibri"/>
              </a:rPr>
              <a:t>. Show A, Z, p, n and 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783080"/>
            <a:ext cx="2674620" cy="4114800"/>
          </a:xfrm>
          <a:prstGeom prst="roundRect">
            <a:avLst/>
          </a:prstGeom>
          <a:solidFill>
            <a:srgbClr val="FFFFF4"/>
          </a:solidFill>
          <a:ln w="1587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920240"/>
            <a:ext cx="2345436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 a:ea="Calibri" baseline="30000">
                <a:solidFill>
                  <a:srgbClr val="1E3A5F"/>
                </a:solidFill>
                <a:latin typeface="Calibri"/>
              </a:rPr>
              <a:t>24</a:t>
            </a:r>
            <a:r>
              <a:rPr sz="1500" b="1" i="0" a:ea="Calibri">
                <a:solidFill>
                  <a:srgbClr val="1E3A5F"/>
                </a:solidFill>
                <a:latin typeface="Calibri"/>
              </a:rPr>
              <a:t>Mg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5394960"/>
            <a:ext cx="2345436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 a:ea="Calibri">
                <a:solidFill>
                  <a:srgbClr val="475569"/>
                </a:solidFill>
                <a:latin typeface="Calibri"/>
              </a:rPr>
              <a:t>Write, then hold up.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14700" y="1783080"/>
            <a:ext cx="2674620" cy="4114800"/>
          </a:xfrm>
          <a:prstGeom prst="roundRect">
            <a:avLst/>
          </a:prstGeom>
          <a:solidFill>
            <a:srgbClr val="FFFFF4"/>
          </a:solidFill>
          <a:ln w="1587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9292" y="1920240"/>
            <a:ext cx="2345436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 a:ea="Calibri" baseline="30000">
                <a:solidFill>
                  <a:srgbClr val="1E3A5F"/>
                </a:solidFill>
                <a:latin typeface="Calibri"/>
              </a:rPr>
              <a:t>24</a:t>
            </a:r>
            <a:r>
              <a:rPr sz="1500" b="1" i="0" a:ea="Calibri">
                <a:solidFill>
                  <a:srgbClr val="1E3A5F"/>
                </a:solidFill>
                <a:latin typeface="Calibri"/>
              </a:rPr>
              <a:t>Mg</a:t>
            </a:r>
            <a:r>
              <a:rPr sz="1500" b="1" i="0" a:ea="Calibri" baseline="30000">
                <a:solidFill>
                  <a:srgbClr val="1E3A5F"/>
                </a:solidFill>
                <a:latin typeface="Calibri"/>
              </a:rPr>
              <a:t>2+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9292" y="5394960"/>
            <a:ext cx="2345436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 a:ea="Calibri">
                <a:solidFill>
                  <a:srgbClr val="475569"/>
                </a:solidFill>
                <a:latin typeface="Calibri"/>
              </a:rPr>
              <a:t>Write, then hold up.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783080"/>
            <a:ext cx="2674620" cy="4114800"/>
          </a:xfrm>
          <a:prstGeom prst="roundRect">
            <a:avLst/>
          </a:prstGeom>
          <a:solidFill>
            <a:srgbClr val="FFFFF4"/>
          </a:solidFill>
          <a:ln w="1587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36792" y="1920240"/>
            <a:ext cx="2345436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 a:ea="Calibri" baseline="30000">
                <a:solidFill>
                  <a:srgbClr val="1E3A5F"/>
                </a:solidFill>
                <a:latin typeface="Calibri"/>
              </a:rPr>
              <a:t>19</a:t>
            </a:r>
            <a:r>
              <a:rPr sz="1500" b="1" i="0" a:ea="Calibri">
                <a:solidFill>
                  <a:srgbClr val="1E3A5F"/>
                </a:solidFill>
                <a:latin typeface="Calibri"/>
              </a:rPr>
              <a:t>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6792" y="5394960"/>
            <a:ext cx="2345436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 a:ea="Calibri">
                <a:solidFill>
                  <a:srgbClr val="475569"/>
                </a:solidFill>
                <a:latin typeface="Calibri"/>
              </a:rPr>
              <a:t>Write, then hold up.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29700" y="1783080"/>
            <a:ext cx="2674620" cy="4114800"/>
          </a:xfrm>
          <a:prstGeom prst="roundRect">
            <a:avLst/>
          </a:prstGeom>
          <a:solidFill>
            <a:srgbClr val="FFFFF4"/>
          </a:solidFill>
          <a:ln w="1587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94292" y="1920240"/>
            <a:ext cx="2345436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 a:ea="Calibri" baseline="30000">
                <a:solidFill>
                  <a:srgbClr val="1E3A5F"/>
                </a:solidFill>
                <a:latin typeface="Calibri"/>
              </a:rPr>
              <a:t>19</a:t>
            </a:r>
            <a:r>
              <a:rPr sz="1500" b="1" i="0" a:ea="Calibri">
                <a:solidFill>
                  <a:srgbClr val="1E3A5F"/>
                </a:solidFill>
                <a:latin typeface="Calibri"/>
              </a:rPr>
              <a:t>F</a:t>
            </a:r>
            <a:r>
              <a:rPr sz="1500" b="1" i="0" a:ea="Calibri" baseline="30000">
                <a:solidFill>
                  <a:srgbClr val="1E3A5F"/>
                </a:solidFill>
                <a:latin typeface="Calibri"/>
              </a:rPr>
              <a:t>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94292" y="5394960"/>
            <a:ext cx="2345436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 a:ea="Calibri">
                <a:solidFill>
                  <a:srgbClr val="475569"/>
                </a:solidFill>
                <a:latin typeface="Calibri"/>
              </a:rPr>
              <a:t>Write, then hold up.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Atomic structure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29  /  35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Common misconceptions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05840"/>
            <a:ext cx="5532120" cy="1184148"/>
          </a:xfrm>
          <a:prstGeom prst="round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82296" cy="1184148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097280"/>
            <a:ext cx="50749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9F1239"/>
                </a:solidFill>
                <a:latin typeface="Calibri"/>
              </a:rPr>
              <a:t>Not quite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53312"/>
            <a:ext cx="5074920" cy="7269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The mass number is the number of neutrons.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005840"/>
            <a:ext cx="5532120" cy="1184148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005840"/>
            <a:ext cx="82296" cy="1184148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097280"/>
            <a:ext cx="50749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47857"/>
                </a:solidFill>
                <a:latin typeface="Calibri"/>
              </a:rPr>
              <a:t>Instead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353312"/>
            <a:ext cx="5074920" cy="7269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Mass number is protons plus neutrons.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299716"/>
            <a:ext cx="5532120" cy="1184148"/>
          </a:xfrm>
          <a:prstGeom prst="round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299716"/>
            <a:ext cx="82296" cy="1184148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391156"/>
            <a:ext cx="50749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9F1239"/>
                </a:solidFill>
                <a:latin typeface="Calibri"/>
              </a:rPr>
              <a:t>Not quite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647188"/>
            <a:ext cx="5074920" cy="7269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Electrons sit inside the nucleus with the protons.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2299716"/>
            <a:ext cx="5532120" cy="1184148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2299716"/>
            <a:ext cx="82296" cy="1184148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2391156"/>
            <a:ext cx="50749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47857"/>
                </a:solidFill>
                <a:latin typeface="Calibri"/>
              </a:rPr>
              <a:t>Instead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647188"/>
            <a:ext cx="5074920" cy="7269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Electrons occupy shells outside the nucleus.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593592"/>
            <a:ext cx="5532120" cy="1184148"/>
          </a:xfrm>
          <a:prstGeom prst="round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3593592"/>
            <a:ext cx="82296" cy="1184148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685032"/>
            <a:ext cx="50749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9F1239"/>
                </a:solidFill>
                <a:latin typeface="Calibri"/>
              </a:rPr>
              <a:t>Not quite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3941064"/>
            <a:ext cx="5074920" cy="7269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Isotopes have different numbers of protons.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593592"/>
            <a:ext cx="5532120" cy="1184148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72200" y="3593592"/>
            <a:ext cx="82296" cy="1184148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3685032"/>
            <a:ext cx="50749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47857"/>
                </a:solidFill>
                <a:latin typeface="Calibri"/>
              </a:rPr>
              <a:t>Instead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3941064"/>
            <a:ext cx="5074920" cy="7269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Isotopes have the same protons and different neutrons.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887468"/>
            <a:ext cx="5532120" cy="1184148"/>
          </a:xfrm>
          <a:prstGeom prst="round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4887468"/>
            <a:ext cx="82296" cy="1184148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4978908"/>
            <a:ext cx="50749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9F1239"/>
                </a:solidFill>
                <a:latin typeface="Calibri"/>
              </a:rPr>
              <a:t>Not quite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5234940"/>
            <a:ext cx="5074920" cy="7269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Ions are formed by changing the number of protons.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72200" y="4887468"/>
            <a:ext cx="5532120" cy="1184148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72200" y="4887468"/>
            <a:ext cx="82296" cy="1184148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4978908"/>
            <a:ext cx="50749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47857"/>
                </a:solidFill>
                <a:latin typeface="Calibri"/>
              </a:rPr>
              <a:t>Instead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5234940"/>
            <a:ext cx="5074920" cy="7269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Ions form when electrons are lost or gained.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Atomic structure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30  /  35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3108960" cy="310896"/>
          </a:xfrm>
          <a:prstGeom prst="round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310896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MATCHING TASK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Term and meaning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15568"/>
            <a:ext cx="112471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475569"/>
                </a:solidFill>
                <a:latin typeface="Calibri"/>
              </a:rPr>
              <a:t>Draw lines to match. Then justify one pair.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554480"/>
            <a:ext cx="4846320" cy="81381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64208"/>
            <a:ext cx="4526280" cy="6309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 a:ea="Calibri">
                <a:solidFill>
                  <a:srgbClr val="004D40"/>
                </a:solidFill>
                <a:latin typeface="Calibri"/>
              </a:rPr>
              <a:t>Atomic number, Z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0" y="1554480"/>
            <a:ext cx="4846320" cy="81381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0" y="1664208"/>
            <a:ext cx="4526280" cy="6309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Weighted mean mass versus 1/12 of 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12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1645920"/>
            <a:ext cx="1188720" cy="6766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5B21B6"/>
                </a:solidFill>
                <a:latin typeface="Calibri"/>
              </a:rPr>
              <a:t>— ? 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59736"/>
            <a:ext cx="4846320" cy="81381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569464"/>
            <a:ext cx="4526280" cy="6309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 a:ea="Calibri">
                <a:solidFill>
                  <a:srgbClr val="004D40"/>
                </a:solidFill>
                <a:latin typeface="Calibri"/>
              </a:rPr>
              <a:t>Mass number, 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0" y="2459736"/>
            <a:ext cx="4846320" cy="81381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0880" y="2569464"/>
            <a:ext cx="4526280" cy="6309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Number of protons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2551176"/>
            <a:ext cx="1188720" cy="6766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5B21B6"/>
                </a:solidFill>
                <a:latin typeface="Calibri"/>
              </a:rPr>
              <a:t>— ? —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364992"/>
            <a:ext cx="4846320" cy="81381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474720"/>
            <a:ext cx="4526280" cy="6309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 a:ea="Calibri">
                <a:solidFill>
                  <a:srgbClr val="004D40"/>
                </a:solidFill>
                <a:latin typeface="Calibri"/>
              </a:rPr>
              <a:t>Isotope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0" y="3364992"/>
            <a:ext cx="4846320" cy="81381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0880" y="3474720"/>
            <a:ext cx="4526280" cy="6309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Atom with unequal protons and electrons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0" y="3456432"/>
            <a:ext cx="1188720" cy="6766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5B21B6"/>
                </a:solidFill>
                <a:latin typeface="Calibri"/>
              </a:rPr>
              <a:t>— ? 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270248"/>
            <a:ext cx="4846320" cy="81381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4379976"/>
            <a:ext cx="4526280" cy="6309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 a:ea="Calibri">
                <a:solidFill>
                  <a:srgbClr val="004D40"/>
                </a:solidFill>
                <a:latin typeface="Calibri"/>
              </a:rPr>
              <a:t>Relative atomic mass, A</a:t>
            </a:r>
            <a:r>
              <a:rPr sz="1500" b="1" i="0" a:ea="Calibri" baseline="-25000">
                <a:solidFill>
                  <a:srgbClr val="004D40"/>
                </a:solidFill>
                <a:latin typeface="Calibri"/>
              </a:rPr>
              <a:t>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0" y="4270248"/>
            <a:ext cx="4846320" cy="81381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40880" y="4379976"/>
            <a:ext cx="4526280" cy="6309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Protons plus neutrons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0" y="4361688"/>
            <a:ext cx="1188720" cy="6766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5B21B6"/>
                </a:solidFill>
                <a:latin typeface="Calibri"/>
              </a:rPr>
              <a:t>— ? —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175504"/>
            <a:ext cx="4846320" cy="81381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5285232"/>
            <a:ext cx="4526280" cy="6309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 a:ea="Calibri">
                <a:solidFill>
                  <a:srgbClr val="004D40"/>
                </a:solidFill>
                <a:latin typeface="Calibri"/>
              </a:rPr>
              <a:t>Ion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58000" y="5175504"/>
            <a:ext cx="4846320" cy="81381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40880" y="5285232"/>
            <a:ext cx="4526280" cy="6309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Same Z, different neutron number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0" y="5266944"/>
            <a:ext cx="1188720" cy="6766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5B21B6"/>
                </a:solidFill>
                <a:latin typeface="Calibri"/>
              </a:rPr>
              <a:t>— ? —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Atomic structure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31  /  35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3291840" cy="310896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329184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EXAM-STYLE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Exam-style practice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3651504" cy="4434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371600"/>
            <a:ext cx="457200" cy="457200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426464"/>
            <a:ext cx="2645664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2 marks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011680"/>
            <a:ext cx="3249168" cy="1417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A student writes that </a:t>
            </a:r>
            <a:r>
              <a:rPr sz="1600" b="0" i="0" a:ea="Calibri" baseline="30000">
                <a:solidFill>
                  <a:srgbClr val="0F172A"/>
                </a:solidFill>
                <a:latin typeface="Calibri"/>
              </a:rPr>
              <a:t>14</a:t>
            </a:r>
            <a:r>
              <a:rPr sz="1600" b="0" i="0" a:ea="Calibri">
                <a:solidFill>
                  <a:srgbClr val="0F172A"/>
                </a:solidFill>
                <a:latin typeface="Calibri"/>
              </a:rPr>
              <a:t>C and </a:t>
            </a:r>
            <a:r>
              <a:rPr sz="1600" b="0" i="0" a:ea="Calibri" baseline="30000">
                <a:solidFill>
                  <a:srgbClr val="0F172A"/>
                </a:solidFill>
                <a:latin typeface="Calibri"/>
              </a:rPr>
              <a:t>14</a:t>
            </a:r>
            <a:r>
              <a:rPr sz="1600" b="0" i="0" a:ea="Calibri">
                <a:solidFill>
                  <a:srgbClr val="0F172A"/>
                </a:solidFill>
                <a:latin typeface="Calibri"/>
              </a:rPr>
              <a:t>N are isotopes. Explain why this is incorrect.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520440"/>
            <a:ext cx="3249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475569"/>
                </a:solidFill>
                <a:latin typeface="Calibri"/>
              </a:rPr>
              <a:t>Write a full-sentence answer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3858768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8368" y="4151376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" y="4443984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4736592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255008" y="1188720"/>
            <a:ext cx="3651504" cy="4434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437888" y="1371600"/>
            <a:ext cx="457200" cy="457200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37888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86528" y="1426464"/>
            <a:ext cx="2645664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2 marks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56176" y="2011680"/>
            <a:ext cx="3249168" cy="1417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An element has two isotopes, </a:t>
            </a:r>
            <a:r>
              <a:rPr sz="1600" b="0" i="0" a:ea="Calibri" baseline="30000">
                <a:solidFill>
                  <a:srgbClr val="0F172A"/>
                </a:solidFill>
                <a:latin typeface="Calibri"/>
              </a:rPr>
              <a:t>69</a:t>
            </a:r>
            <a:r>
              <a:rPr sz="1600" b="0" i="0" a:ea="Calibri">
                <a:solidFill>
                  <a:srgbClr val="0F172A"/>
                </a:solidFill>
                <a:latin typeface="Calibri"/>
              </a:rPr>
              <a:t>X (60.0%) and </a:t>
            </a:r>
            <a:r>
              <a:rPr sz="1600" b="0" i="0" a:ea="Calibri" baseline="30000">
                <a:solidFill>
                  <a:srgbClr val="0F172A"/>
                </a:solidFill>
                <a:latin typeface="Calibri"/>
              </a:rPr>
              <a:t>71</a:t>
            </a:r>
            <a:r>
              <a:rPr sz="1600" b="0" i="0" a:ea="Calibri">
                <a:solidFill>
                  <a:srgbClr val="0F172A"/>
                </a:solidFill>
                <a:latin typeface="Calibri"/>
              </a:rPr>
              <a:t>X (40.0%). Calculate A</a:t>
            </a:r>
            <a:r>
              <a:rPr sz="1600" b="0" i="0" a:ea="Calibri" baseline="-25000">
                <a:solidFill>
                  <a:srgbClr val="0F172A"/>
                </a:solidFill>
                <a:latin typeface="Calibri"/>
              </a:rPr>
              <a:t>r</a:t>
            </a:r>
            <a:r>
              <a:rPr sz="1600" b="0" i="0" a:ea="Calibri">
                <a:solidFill>
                  <a:srgbClr val="0F172A"/>
                </a:solidFill>
                <a:latin typeface="Calibri"/>
              </a:rPr>
              <a:t>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56176" y="3520440"/>
            <a:ext cx="3249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475569"/>
                </a:solidFill>
                <a:latin typeface="Calibri"/>
              </a:rPr>
              <a:t>Write a full-sentence answer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56176" y="3858768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56176" y="4151376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456176" y="4443984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56176" y="4736592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052816" y="1188720"/>
            <a:ext cx="3651504" cy="4434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235696" y="1371600"/>
            <a:ext cx="457200" cy="457200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35696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84336" y="1426464"/>
            <a:ext cx="2645664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2 marks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53984" y="2011680"/>
            <a:ext cx="3249168" cy="1417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Explain why atoms are electrically neutral even though they contain charged particles.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53984" y="3520440"/>
            <a:ext cx="3249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475569"/>
                </a:solidFill>
                <a:latin typeface="Calibri"/>
              </a:rPr>
              <a:t>Write a full-sentence answer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53984" y="3858768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253984" y="4151376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253984" y="4443984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253984" y="4736592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5742432"/>
            <a:ext cx="112471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Think first — answers are on the next slide.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Atomic structure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32  /  35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2011680" cy="310896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201168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Exam-style answers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3651504" cy="4709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371600"/>
            <a:ext cx="457200" cy="45720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011680"/>
            <a:ext cx="3249168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Isotopes must have the same proton number. 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14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C has 6 protons; 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14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N has 7, so they are different elements.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5008" y="1188720"/>
            <a:ext cx="3651504" cy="4709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37888" y="1371600"/>
            <a:ext cx="457200" cy="45720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7888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6176" y="2011680"/>
            <a:ext cx="3249168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A</a:t>
            </a:r>
            <a:r>
              <a:rPr sz="1500" b="0" i="0" a:ea="Calibri" baseline="-25000">
                <a:solidFill>
                  <a:srgbClr val="0F172A"/>
                </a:solidFill>
                <a:latin typeface="Calibri"/>
              </a:rPr>
              <a:t>r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 = (60×69 + 40×71)/100 = 69.8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52816" y="1188720"/>
            <a:ext cx="3651504" cy="4709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35696" y="1371600"/>
            <a:ext cx="457200" cy="45720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35696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3984" y="2011680"/>
            <a:ext cx="3249168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The number of protons equals the number of electrons, so the charges cancel.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Atomic structure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33  /  35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Plenary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475569"/>
                </a:solidFill>
                <a:latin typeface="Calibri"/>
              </a:rPr>
              <a:t>30–60 seconds each. No notes if you can avoid them.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2674620" cy="47091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463040"/>
            <a:ext cx="457200" cy="457200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36192"/>
            <a:ext cx="4572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2308860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Define Z and A in one sentence each.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14700" y="1280160"/>
            <a:ext cx="2674620" cy="47091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97580" y="1463040"/>
            <a:ext cx="457200" cy="457200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97580" y="1536192"/>
            <a:ext cx="4572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97580" y="2103120"/>
            <a:ext cx="2308860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Give one pair of isotopes and state what is the same and what is different.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280160"/>
            <a:ext cx="2674620" cy="47091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355080" y="1463040"/>
            <a:ext cx="457200" cy="457200"/>
          </a:xfrm>
          <a:prstGeom prst="round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1536192"/>
            <a:ext cx="4572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2103120"/>
            <a:ext cx="2308860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Write the A</a:t>
            </a:r>
            <a:r>
              <a:rPr sz="1600" b="0" i="0" a:ea="Calibri" baseline="-25000">
                <a:solidFill>
                  <a:srgbClr val="0F172A"/>
                </a:solidFill>
                <a:latin typeface="Calibri"/>
              </a:rPr>
              <a:t>r</a:t>
            </a:r>
            <a:r>
              <a:rPr sz="1600" b="0" i="0" a:ea="Calibri">
                <a:solidFill>
                  <a:srgbClr val="0F172A"/>
                </a:solidFill>
                <a:latin typeface="Calibri"/>
              </a:rPr>
              <a:t> formula and one substitution.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29700" y="1280160"/>
            <a:ext cx="2674620" cy="47091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212580" y="1463040"/>
            <a:ext cx="457200" cy="457200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12580" y="1536192"/>
            <a:ext cx="4572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2580" y="2103120"/>
            <a:ext cx="2308860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Explain in one sentence how a 2− ion forms.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Atomic structure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34  /  35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Independent practice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51560"/>
            <a:ext cx="11247120" cy="93268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289304"/>
            <a:ext cx="457200" cy="457200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44168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1307592"/>
            <a:ext cx="1014984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Complete the Atomic Structure worksheet (writing space is provided).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103120"/>
            <a:ext cx="11247120" cy="93268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340864"/>
            <a:ext cx="457200" cy="457200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395728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359152"/>
            <a:ext cx="1014984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Learn the particle table until you can write it from memory.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154680"/>
            <a:ext cx="11247120" cy="93268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" y="3392424"/>
            <a:ext cx="457200" cy="457200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447288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3410712"/>
            <a:ext cx="1014984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Calculate p, n and e for five nuclides from a periodic table, including one 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806440"/>
            <a:ext cx="112471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009688"/>
                </a:solidFill>
                <a:latin typeface="Calibri"/>
              </a:rPr>
              <a:t>Next lesson: electron configuration, including subshells and orbital boxes.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Atomic structure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35  /  35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BTEC Unit 1 Chemistry: Atomic Structure</dc:title>
  <dc:subject>BTEC Unit 1 Chemistry</dc:subject>
  <dc:creator>JDScience</dc:creator>
  <cp:keywords>BTEC Unit 1 Chemistry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Teaching resource</cp:category>
</cp:coreProperties>
</file>