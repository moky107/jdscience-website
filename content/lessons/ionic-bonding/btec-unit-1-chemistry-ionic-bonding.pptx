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796B"/>
                </a:solidFill>
                <a:latin typeface="Calibri"/>
              </a:rPr>
              <a:t>BTEC Level 3  ·  Applied Science  ·  Unit 1  ·  Chemistry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804672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1" i="0" a:ea="Calibri">
                <a:solidFill>
                  <a:srgbClr val="004D40"/>
                </a:solidFill>
                <a:latin typeface="Calibri"/>
              </a:rPr>
              <a:t>BTEC Unit 1 Chemistry: Ionic Bonding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786384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475569"/>
                </a:solidFill>
                <a:latin typeface="Calibri"/>
              </a:rPr>
              <a:t>Electron transfer, ions, giant lattices and the properties they explain.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23560"/>
            <a:ext cx="78638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009688"/>
                </a:solidFill>
                <a:latin typeface="Calibri"/>
              </a:rPr>
              <a:t>PowerPoint teaching resource</a:t>
            </a:r>
          </a:p>
        </p:txBody>
      </p:sp>
      <p:pic>
        <p:nvPicPr>
          <p:cNvPr id="8" name="Picture 7" descr="ionic-lat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554480"/>
            <a:ext cx="2926080" cy="29260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  / 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475569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55680" cy="67665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517904"/>
            <a:ext cx="384048" cy="384048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554480"/>
            <a:ext cx="38404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536192"/>
            <a:ext cx="10149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0F172A"/>
                </a:solidFill>
                <a:latin typeface="Calibri"/>
              </a:rPr>
              <a:t>Describe ionic bonding as electrostatic attraction between oppositely charged 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48840"/>
            <a:ext cx="11155680" cy="67665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295144"/>
            <a:ext cx="384048" cy="384048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331720"/>
            <a:ext cx="38404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313432"/>
            <a:ext cx="10149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0F172A"/>
                </a:solidFill>
                <a:latin typeface="Calibri"/>
              </a:rPr>
              <a:t>Explain how ions form by electron transfer between metals and non-metals.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926080"/>
            <a:ext cx="11155680" cy="67665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3072384"/>
            <a:ext cx="384048" cy="384048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108960"/>
            <a:ext cx="38404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0672"/>
            <a:ext cx="10149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0F172A"/>
                </a:solidFill>
                <a:latin typeface="Calibri"/>
              </a:rPr>
              <a:t>Draw simple representations of ion formation for binary ionic compounds.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703320"/>
            <a:ext cx="11155680" cy="67665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849624"/>
            <a:ext cx="384048" cy="384048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886200"/>
            <a:ext cx="38404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867912"/>
            <a:ext cx="10149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0F172A"/>
                </a:solidFill>
                <a:latin typeface="Calibri"/>
              </a:rPr>
              <a:t>Describe the giant ionic lattice and use it to explain melting point, electrical conductivity and solubility.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80560"/>
            <a:ext cx="11155680" cy="67665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4626864"/>
            <a:ext cx="384048" cy="384048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663440"/>
            <a:ext cx="38404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4645152"/>
            <a:ext cx="10149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0F172A"/>
                </a:solidFill>
                <a:latin typeface="Calibri"/>
              </a:rPr>
              <a:t>Deduce formulae of simple ionic compounds from ion charges.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  / 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108960" cy="329184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DO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Prior knowledge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What is the charge on a proton and on an electron?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Write the shell configuration of sodium and of chlorine.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Why do Group 1 metals form 1+ ions?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Name one compound you already know that contains 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  / 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194560" cy="329184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Retrieval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Proton +1; electron −1.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Na 2,8,1 and Cl 2,8,7.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They have one outer electron which is lost to leave a full outer shell.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Examples include sodium chloride, copper sulfate or calcium carbonate.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4  / 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6984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 a:ea="Calibri">
                <a:solidFill>
                  <a:srgbClr val="FFFFFF"/>
                </a:solidFill>
                <a:latin typeface="Calibri"/>
              </a:rPr>
              <a:t>What ionic bonding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i="0" a:ea="Calibri">
                <a:solidFill>
                  <a:srgbClr val="CCFBF1"/>
                </a:solidFill>
                <a:latin typeface="Calibri"/>
              </a:rPr>
              <a:t>Transfer, not sharing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5  / 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A precise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Ionic bonding is the strong electrostatic attraction between oppositely charged ions.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It typically forms between a metal and a non-metal.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 metal atom loses electrons; the non-metal atom gains electrons.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 attraction acts in all directions in a giant lattice.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Do not describe ionic bonding as 'sharing electrons'.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6  / 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Electron transfer: sodium and chlorine</a:t>
            </a:r>
          </a:p>
        </p:txBody>
      </p:sp>
      <p:pic>
        <p:nvPicPr>
          <p:cNvPr id="4" name="Picture 3" descr="ion-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603504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0" y="11430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Na starts 2,8,1 and becomes Na+ 2,8.</a:t>
            </a:r>
          </a:p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Cl starts 2,8,7 and becomes Cl− 2,8,8.</a:t>
            </a:r>
          </a:p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One electron is transferred.</a:t>
            </a:r>
          </a:p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The ions then attract strongly.</a:t>
            </a:r>
          </a:p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The compound formed is NaCl.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715000"/>
            <a:ext cx="6035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475569"/>
                </a:solidFill>
                <a:latin typeface="Calibri"/>
              </a:rPr>
              <a:t>Original particle picture of charge imbalance after transfer.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7  / 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Worked example — magnesium oxide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Mg is 2,8,2 and needs to lose two electrons to reach 2,8.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O is 2,6 and needs to gain two electrons to reach 2,8.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One Mg atom supplies both electrons to one O atom.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Ions formed: Mg2+ and O2−.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Formula: MgO. The lattice contains these ions in a 1:1 ratio.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8  / 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Worked example — calcium chloride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Ca is 2,8,8,2 → loses 2 electrons → Ca2+.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Each Cl is 2,8,7 → gains 1 electron → Cl−.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Two Cl atoms are needed for each Ca atom.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Formula: CaCl2.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Check: total positive charge (+2) equals total negative charge (2 × −1).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9  / 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834640" cy="32918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8346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STUDENT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Formulae from charges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5440" y="713232"/>
            <a:ext cx="23774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 a:ea="Calibri">
                <a:solidFill>
                  <a:srgbClr val="B45309"/>
                </a:solidFill>
                <a:latin typeface="Calibri"/>
              </a:rPr>
              <a:t>8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Deduce formulae for compounds of: Na and O; Al and Cl; Mg and N; K and SO4 2−.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Show the charge-balance working.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Name each compound.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10  / 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194560" cy="329184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Formula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Na2O — sodium oxide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AlCl3 — aluminium chloride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Mg3N2 — magnesium nitride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K2SO4 — potassium sulfate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11  / 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6984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 a:ea="Calibri">
                <a:solidFill>
                  <a:srgbClr val="FFFFFF"/>
                </a:solidFill>
                <a:latin typeface="Calibri"/>
              </a:rPr>
              <a:t>The giant ionic lattice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i="0" a:ea="Calibri">
                <a:solidFill>
                  <a:srgbClr val="CCFBF1"/>
                </a:solidFill>
                <a:latin typeface="Calibri"/>
              </a:rPr>
              <a:t>Structure explains properties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12  /  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Giant ionic lattice</a:t>
            </a:r>
          </a:p>
        </p:txBody>
      </p:sp>
      <p:pic>
        <p:nvPicPr>
          <p:cNvPr id="4" name="Picture 3" descr="ionic-lat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603504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0" y="11430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Every cation is surrounded by anions, and vice versa.</a:t>
            </a:r>
          </a:p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The attraction is strong and acts throughout the crystal.</a:t>
            </a:r>
          </a:p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A large amount of energy is needed to separate the ions.</a:t>
            </a:r>
          </a:p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This produces high melting and boiling points.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715000"/>
            <a:ext cx="6035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475569"/>
                </a:solidFill>
                <a:latin typeface="Calibri"/>
              </a:rPr>
              <a:t>Two-dimensional sketch of a three-dimensional lattice.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13  / 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Properties of ionic compounds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5532120" cy="49377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91440" cy="49377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4D40"/>
                </a:solidFill>
                <a:latin typeface="Calibri"/>
              </a:rPr>
              <a:t>Typical observations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High melting and boiling points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Usually soluble in water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Do not conduct when solid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Do conduct when molten or aqueous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Often brittle crystals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51560"/>
            <a:ext cx="5532120" cy="49377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51560"/>
            <a:ext cx="91440" cy="4937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23444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Explanation from 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7373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Strong attractions throughout the lattice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Water molecules can surround and separate ions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Ions are fixed in place, so charge cannot move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Ions become free to move and carry charge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A shift in the lattice lines up like charges, so the crystal splits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14  / 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Electrical conductivity in more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Conduction requires mobile charged particles.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In a solid ionic lattice the ions vibrate but cannot move past one another.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When the solid melts, ions can migrate towards electrodes.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When the solid dissolves, hydrated ions move independently.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This is different from metallic conduction, which uses delocalised electrons.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15  / 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Common misconceptions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5532120" cy="1188720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91440" cy="118872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6128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3560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NaCl molecules travel around in salt solution.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51560"/>
            <a:ext cx="5532120" cy="118872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51560"/>
            <a:ext cx="91440" cy="118872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16128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43560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There are no NaCl molecules; there are separate hydrated Na+ and Cl− 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77440"/>
            <a:ext cx="5532120" cy="1188720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377440"/>
            <a:ext cx="91440" cy="118872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48716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76148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Ionic compounds conduct because electrons jump from ion to ion in the solid.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377440"/>
            <a:ext cx="5532120" cy="118872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2377440"/>
            <a:ext cx="91440" cy="118872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48716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76148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The solid does not conduct; mobile ions are required.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703320"/>
            <a:ext cx="5532120" cy="1188720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703320"/>
            <a:ext cx="91440" cy="118872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81304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08736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A 2+ ion is formed by gaining two protons.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703320"/>
            <a:ext cx="5532120" cy="118872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703320"/>
            <a:ext cx="91440" cy="118872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81304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08736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Charge changes by losing or gaining electrons.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16  / 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Key terminology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1155680" cy="566928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07008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0" y="1207008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Meaning you should be able to write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64208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73936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773936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Charged particle formed by electron loss or gain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231136"/>
            <a:ext cx="11155680" cy="56692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340864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340864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Positive 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798064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07792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Anion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2907792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Negative 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364992"/>
            <a:ext cx="11155680" cy="56692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474720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Giant ionic lattice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3474720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Repeating 3D array of oppositely charged 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931920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041648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Electrostatic attraction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4041648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Force between opposite charges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17  / 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Teacher explanation — why transfer happens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Metal atoms have low attraction for their outer electrons (low ionisation energy).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Non-metal atoms have a strong attraction for extra electrons (high electron affinity / electronegativity).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Transfer produces two ions that both have a full outer shell.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 resulting attraction is much stronger than the energy cost of transfer, so the lattice is stable.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Keep the story as electrons and attraction — not 'metals want to give electrons away' as a motive.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18  / 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Writing formulae without guessing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Write the ions with charges: Al3+ and O2−.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Find the lowest whole numbers that balance charge: 2 × +3 and 3 × −2.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Formula Al2O3. Do not write charges in the final formula.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For polyatomic ions, keep the group intact: Ca2+ and NO3− give Ca(NO3)2.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Brackets are needed when more than one polyatomic ion is present.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19  / 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Common ions to learn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1155680" cy="566928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07008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Name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1480" y="1207008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Formula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40040" y="1207008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Charge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64208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73936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Sodium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21480" y="1773936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Na+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40040" y="1773936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+1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231136"/>
            <a:ext cx="11155680" cy="56692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340864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Magnesium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1480" y="2340864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Mg2+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40040" y="2340864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+2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98064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07792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Aluminium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21480" y="2907792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Al3+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0040" y="2907792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+3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364992"/>
            <a:ext cx="11155680" cy="56692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474720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Oxide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21480" y="3474720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O2−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40040" y="3474720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−2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931920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041648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Chloride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21480" y="4041648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Cl−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40040" y="4041648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−1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498848"/>
            <a:ext cx="11155680" cy="56692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608576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Sulfate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21480" y="4608576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SO42−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40040" y="4608576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−2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65776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5175504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Hydroxide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21480" y="5175504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OH−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40040" y="5175504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−1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5632704"/>
            <a:ext cx="11155680" cy="56692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5742432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Nitrate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21480" y="5742432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NO3−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40040" y="5742432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−1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20  /  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108960" cy="329184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Formulae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Write formulae for potassium oxide, calcium hydroxide and aluminium sulfate.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A compound has ions Fe3+ and O2−. Deduce the formula.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Why is NaO an incorrect formula for sodium oxide?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21  / 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194560" cy="329184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Formulae-check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K2O; Ca(OH)2; Al2(SO4)3.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Fe2O3.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Na+ and O2− must balance as 2:1, so Na2O.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22  / 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Solubility — a careful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Many ionic compounds dissolve in water because water molecules are polar.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 slightly negative oxygen of water attracts cations; the slightly positive hydrogens attract anions.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If hydration of the ions releases enough energy, the lattice separates.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Not every ionic compound is soluble — treat solubility as a typical property, not a law.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Once dissolved, the ions are free to move, so the solution conducts.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23  / 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How to answer a 4-mark structure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7040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A 4-mark bonding answer usually needs: electron transfer, ion charges, electrostatic attraction, lattice.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A property answer needs: named particles + whether they can move + the property.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Do not mention delocalised electrons in an ionic answer.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097280"/>
            <a:ext cx="3931920" cy="484632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0" y="1097280"/>
            <a:ext cx="91440" cy="4846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280160"/>
            <a:ext cx="3474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4D40"/>
                </a:solidFill>
                <a:latin typeface="Calibri"/>
              </a:rPr>
              <a:t>Mark-winning habit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783080"/>
            <a:ext cx="3474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Name the particles.</a:t>
            </a:r>
          </a:p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Name the forces.</a:t>
            </a:r>
          </a:p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Link force to the property.</a:t>
            </a:r>
          </a:p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Avoid 'it' without a noun.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24  / 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108960" cy="329184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EXAM-STYLE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Exam-style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Describe, in terms of electrons, how ionic bonding arises in magnesium oxide. (4)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Explain why sodium chloride has a high melting point but does not conduct electricity as a solid. (4)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Deduce the formula of the compound formed between Al3+ and O2−. Show the charge balance.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25  /  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194560" cy="329184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Exam-style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Mg atom loses 2 electrons to form Mg2+. O atom gains 2 electrons to form O2−. Oppositely charged ions attract electrostatically. A giant lattice of Mg2+ and O2− is formed.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High melting point: strong electrostatic attraction between oppositely charged ions throughout the lattice needs a lot of energy to overcome. Solid does not conduct: ions are not free to move.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Need two Al3+ and three O2− so +6 balances −6. Formula Al2O3.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26  / 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Plenary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Write a 20-word definition of ionic bonding.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Sketch two ions and mark the attraction.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Give one property and its structural explanation.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27  / 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Independent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Complete the ionic bonding worksheet.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Practise formulae until charge balance is automatic.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Next lesson: covalent bonding — sharing rather than transfer.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28  / 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BTEC Unit 1 Chemistry: Ionic Bonding</dc:title>
  <dc:subject>BTEC Unit 1 Chemistry</dc:subject>
  <dc:creator>JDScience</dc:creator>
  <cp:keywords>BTEC Unit 1 Chemistry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Teaching resource</cp:category>
</cp:coreProperties>
</file>