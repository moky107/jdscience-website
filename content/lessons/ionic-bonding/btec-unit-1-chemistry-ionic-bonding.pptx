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7772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796B"/>
                </a:solidFill>
                <a:latin typeface="Calibri"/>
              </a:rPr>
              <a:t>BTEC Level 3  ·  Applied Science  ·  Unit 1  · 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7955279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004D40"/>
                </a:solidFill>
                <a:latin typeface="Calibri"/>
              </a:rPr>
              <a:t>BTEC Unit 1 Chemistry: Ionic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7772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475569"/>
                </a:solidFill>
                <a:latin typeface="Calibri"/>
              </a:rPr>
              <a:t>Electron transfer, electrostatic attraction, giant lattices and structure–property links.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009688"/>
                </a:solidFill>
                <a:latin typeface="Calibri"/>
              </a:rPr>
              <a:t>PowerPoint teaching resource</a:t>
            </a:r>
          </a:p>
        </p:txBody>
      </p:sp>
      <p:pic>
        <p:nvPicPr>
          <p:cNvPr id="8" name="Picture 7" descr="ionic-lat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25880"/>
            <a:ext cx="315468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  / 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420624" cy="42062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081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Define ionic bonding as electrostatic attraction between oppositely charged 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2322576"/>
            <a:ext cx="420624" cy="42062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225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Explain ion formation by electron transfer between metals and non-metals.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358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3236976"/>
            <a:ext cx="420624" cy="42062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735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369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Deduce formulae from ion charges, including polyatomic 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4151376"/>
            <a:ext cx="420624" cy="42062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1879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513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Use the giant lattice to explain melting point, conductivity, brittleness and solubility.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646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5065776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1023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657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Compare conduction in ionic compounds with metallic conduction.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  / 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LEVEL 3 DEPTH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Beyond GCSE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This lesson must progress past simple recall. Use these Level 3 moves in explanations and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71323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GCSE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Unit 1 progression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Metal + non-metal = ionic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Name transfer, ion charges, electrostatic attraction and the lattice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26664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High melting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Strong attraction throughout a giant lattice needs a lot of energy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9896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Conducts when molten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Mobile ions — not electrons — carry the charge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53128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Guess the formula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Balance charge: Al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3+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and O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give Al</a:t>
            </a:r>
            <a:r>
              <a:rPr sz="13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O</a:t>
            </a:r>
            <a:r>
              <a:rPr sz="1300" b="0" i="0" a:ea="Calibri" baseline="-2500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  / 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Prior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What is the charge on a proton and on an electron?  [1]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Write the shell configuration of sodium and of chlorine.  [2]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Why do Group 1 metals form 1+ ions?  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Name one compound you already know that contains ions.  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4  / 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Retrieval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Proton +1; electron −1.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Na 2,8,1 and Cl 2,8,7.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They have one outer electron which is lost to leave a full outer shell.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Examples include sodium chloride, copper sulfate or calcium carbonate.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5  / 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 a:ea="Calibri">
                <a:solidFill>
                  <a:srgbClr val="FFFFFF"/>
                </a:solidFill>
                <a:latin typeface="Calibri"/>
              </a:rPr>
              <a:t>What ionic bonding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CCFBF1"/>
                </a:solidFill>
                <a:latin typeface="Calibri"/>
              </a:rPr>
              <a:t>Transfer, then attraction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6  / 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A precise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The bond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Strong electrostatic attraction between oppositely charged 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Who bonds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Typically a metal and a non-metal.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What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metal loses electrons; the non-metal gains electrons.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Where it 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In all directions throughout a giant lattice.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7  / 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Electron transfer: Na and Cl</a:t>
            </a:r>
          </a:p>
        </p:txBody>
      </p:sp>
      <p:pic>
        <p:nvPicPr>
          <p:cNvPr id="4" name="Picture 3" descr="ion-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6984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Na starts 2,8,1 and becomes Na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2,8.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2996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Cl starts 2,8,7 and becomes Cl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2,8,8.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9008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One electron is transferred.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5020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ions then attract strongly.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91032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compound is NaCl — there are no NaCl molecules.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8  / 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Worked example — magnesium oxide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60043" y="1234440"/>
            <a:ext cx="512064" cy="51206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43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Mg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2,8,2 loses 2 e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→ Mg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1798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9542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2385" y="1234440"/>
            <a:ext cx="512064" cy="51206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2385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7558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5846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2,6 gains 2 e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→ O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4140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1884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24728" y="1234440"/>
            <a:ext cx="512064" cy="51206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9900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8188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One Mg supplies both electrons to one 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6483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4227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7070" y="1234440"/>
            <a:ext cx="512064" cy="51206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7070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2243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Formula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MgO  (charges cancel 1:1)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8825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6569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89412" y="1234440"/>
            <a:ext cx="512064" cy="51206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89412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4585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Lattice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2873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Giant array of Mg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and O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9  / 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Worked example — calcium chloride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60043" y="1234440"/>
            <a:ext cx="512064" cy="51206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43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2,8,8,2 → Ca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1798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9542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2385" y="1234440"/>
            <a:ext cx="512064" cy="51206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2385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7558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5846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Each Cl is 2,8,7 → Cl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4140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1884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24728" y="1234440"/>
            <a:ext cx="512064" cy="51206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9900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8188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Two Cl atoms for each 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6483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4227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7070" y="1234440"/>
            <a:ext cx="512064" cy="51206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7070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2243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+2 balances 2 × −1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8825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6569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89412" y="1234440"/>
            <a:ext cx="512064" cy="51206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89412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4585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Formula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2873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CaCl</a:t>
            </a:r>
            <a:r>
              <a:rPr sz="13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10  / 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Common ions to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5791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3749040" cy="43281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115568"/>
            <a:ext cx="3749040" cy="43281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115568"/>
            <a:ext cx="3749040" cy="43281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Charge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84960"/>
            <a:ext cx="11247120" cy="57912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7640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67640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Na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2" y="167640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+1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64080"/>
            <a:ext cx="11247120" cy="57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25552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Magnesium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25552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Mg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2" y="225552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+2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11247120" cy="57912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83464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Aluminium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83464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Al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3+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2" y="283464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+3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22320"/>
            <a:ext cx="11247120" cy="57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41376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Oxide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341376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O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341376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−2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01440"/>
            <a:ext cx="11247120" cy="57912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99288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Chloride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399288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Cl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2" y="399288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−1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11247120" cy="57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57200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Sulfate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457200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SO</a:t>
            </a:r>
            <a:r>
              <a:rPr sz="1300" b="0" i="0" a:ea="Calibri" baseline="-25000">
                <a:solidFill>
                  <a:srgbClr val="0F172A"/>
                </a:solidFill>
                <a:latin typeface="Calibri"/>
              </a:rPr>
              <a:t>4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457200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−2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59680"/>
            <a:ext cx="11247120" cy="57912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15112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Hydroxide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515112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OH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2" y="515112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−1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638800"/>
            <a:ext cx="11247120" cy="57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573024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Nitrate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573024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NO</a:t>
            </a:r>
            <a:r>
              <a:rPr sz="1300" b="0" i="0" a:ea="Calibri" baseline="-25000">
                <a:solidFill>
                  <a:srgbClr val="0F172A"/>
                </a:solidFill>
                <a:latin typeface="Calibri"/>
              </a:rPr>
              <a:t>3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2" y="5730240"/>
            <a:ext cx="3639312" cy="4511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−1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11  / 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743200" cy="31089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STUDENT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Formulae from charges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21792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 a:ea="Calibri">
                <a:solidFill>
                  <a:srgbClr val="B45309"/>
                </a:solidFill>
                <a:latin typeface="Calibri"/>
              </a:rPr>
              <a:t>8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9304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89304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Deduce formulae for Na and O; Al and Cl; Mg and N; K and SO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4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00528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846832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3408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46832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Show the charge-balance working.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8056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404360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40936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04360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Name each compound.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12  / 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Formula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Na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O — sodium oxide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AlCl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3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— aluminium chloride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Mg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3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— magnesium nitride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K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SO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4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— potassium sulfate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13  / 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 a:ea="Calibri">
                <a:solidFill>
                  <a:srgbClr val="FFFFFF"/>
                </a:solidFill>
                <a:latin typeface="Calibri"/>
              </a:rPr>
              <a:t>The giant ionic lattice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CCFBF1"/>
                </a:solidFill>
                <a:latin typeface="Calibri"/>
              </a:rPr>
              <a:t>Structure explains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14  / 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Giant ionic lattice</a:t>
            </a:r>
          </a:p>
        </p:txBody>
      </p:sp>
      <p:pic>
        <p:nvPicPr>
          <p:cNvPr id="4" name="Picture 3" descr="ionic-lat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69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Every cation is surrounded by anions, and vice versa.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03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03120"/>
            <a:ext cx="9144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12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Attraction is strong and acts throughout the crystal.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46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246120"/>
            <a:ext cx="91440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355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large amount of energy is needed to separate the 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389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389120"/>
            <a:ext cx="91440" cy="10515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498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That produces high melting and boiling 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742432"/>
            <a:ext cx="6126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Two-dimensional sketch of a three-dimensional lattice.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15  / 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Properties of ionic compounds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Typical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High melting and boiling points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Often soluble in water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Do not conduct when solid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Do conduct when molten or aqueous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Often brittle crystals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Explanation from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Strong attractions throughout the lattice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Polar water molecules can surround ions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Ions are fixed, so charge cannot move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Ions become free to move and carry charge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A shift lines up like charges, so the crystal splits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16  / 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Electrical conductivity in more detail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Conduction requires mobile charged particles.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Solid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Ions vibrate but cannot migrate.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Molten / aqueous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Ions move towards electrodes.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Not metallic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Metals conduct using delocalised electrons, not 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17  / 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NaCl molecules travel around in salt 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There are separate hydrated Na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and Cl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8816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18816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Ionic solids conduct because electrons jump from ion to 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18816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18816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solid does not conduct; mobile ions are required.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1792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31792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2+ ion is formed by gaining two protons.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31792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431792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Charge changes by losing or gaining electrons.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18  / 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EXAM-STYLE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4 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3249168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Describe, in terms of electrons, how ionic bonding arises in magnesium oxide.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5008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6528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4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6176" y="2011680"/>
            <a:ext cx="3249168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 why sodium chloride has a high melting point but does not conduct as a solid.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2816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4336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3984" y="2011680"/>
            <a:ext cx="3249168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Deduce the formula of the compound formed between Al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3+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and O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. Show the charge balance.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19  / 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Mg loses 2 e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→ Mg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. O gains 2 e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→ O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. Oppositely charged ions attract. Giant lattice of Mg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and O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5008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Strong electrostatic attraction throughout the lattice → high m.p. Solid ions are not free to move → no conduction.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2816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3984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Two Al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3+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and three O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so +6 balances −6. Formula Al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O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3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20  / 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30–60 seconds each. No notes if you can avoid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Write a 20-word definition of ionic bonding.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463040"/>
            <a:ext cx="457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Sketch two ions and mark the attraction.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463040"/>
            <a:ext cx="457200" cy="4572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Give one property and its structural explanation.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21  / 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Independent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930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0759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Complete the Ionic Bonding worksheet.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4086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915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Practise formulae until charge balance is automatic.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9242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Next lesson: covalent bonding — sharing rather than transfer.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Ionic bonding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22  /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 Unit 1 Chemistry: Ionic Bonding</dc:title>
  <dc:subject>BTEC Unit 1 Chemistry</dc:subject>
  <dc:creator>JDScience</dc:creator>
  <cp:keywords>BTEC Unit 1 Chemistry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Teaching resource</cp:category>
</cp:coreProperties>
</file>