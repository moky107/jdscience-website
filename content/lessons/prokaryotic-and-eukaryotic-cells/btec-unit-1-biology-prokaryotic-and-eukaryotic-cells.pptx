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77724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 a:ea="Calibri">
                <a:solidFill>
                  <a:srgbClr val="00796B"/>
                </a:solidFill>
                <a:latin typeface="Calibri"/>
              </a:rPr>
              <a:t>BTEC Level 3  ·  Applied Science  ·  Unit 1  ·  Biology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83080"/>
            <a:ext cx="7955279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 a:ea="Calibri">
                <a:solidFill>
                  <a:srgbClr val="004D40"/>
                </a:solidFill>
                <a:latin typeface="Calibri"/>
              </a:rPr>
              <a:t>BTEC Unit 1 Biology: Prokaryotic and Eukaryotic Cells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886200"/>
            <a:ext cx="77724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475569"/>
                </a:solidFill>
                <a:latin typeface="Calibri"/>
              </a:rPr>
              <a:t>Ultrastructure, DNA organisation, ribosome type, plasmids and why the comparison matters medically.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623560"/>
            <a:ext cx="77724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009688"/>
                </a:solidFill>
                <a:latin typeface="Calibri"/>
              </a:rPr>
              <a:t>PowerPoint teaching resource</a:t>
            </a:r>
          </a:p>
        </p:txBody>
      </p:sp>
      <p:pic>
        <p:nvPicPr>
          <p:cNvPr id="8" name="Picture 7" descr="prokaryote-ce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325880"/>
            <a:ext cx="3154680" cy="4160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  / 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475569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408176"/>
            <a:ext cx="420624" cy="420624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447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4081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State the defining features of prokaryotic and eukaryotic cells.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" y="2322576"/>
            <a:ext cx="420624" cy="420624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3591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3225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Label a bacterial cell, including wall, DNA loop, plasmid, 70S ribosomes and flagellum where present.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0358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" y="3236976"/>
            <a:ext cx="420624" cy="420624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32735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2369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Compare size, organelles and DNA organisation of the two cell types.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502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" y="4151376"/>
            <a:ext cx="420624" cy="420624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41879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1513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Explain antibiotic selectivity and plasmid transfer of resistance.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8646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1792" y="5065776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51023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50657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Use paired comparison sentences in extended-response items.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  / 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LEVEL 3 DEPTH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Beyond GCSE recall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1247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475569"/>
                </a:solidFill>
                <a:latin typeface="Calibri"/>
              </a:rPr>
              <a:t>This lesson must progress past simple recall. Use these Level 3 moves in explanations and answers.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11247120" cy="713232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28216"/>
            <a:ext cx="5623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GCSE starting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728216"/>
            <a:ext cx="5623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Unit 1 progression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13432"/>
            <a:ext cx="11247120" cy="713232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404872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Bacteria have no nucleus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0488" y="2404872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Name nucleoid, circular DNA, plasmids, 70S ribosomes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26664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118104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Bacteria are simple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0488" y="3118104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Name the missing envelope and membrane-bound organelles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739896"/>
            <a:ext cx="11247120" cy="713232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831336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Antibiotics kill germs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0488" y="3831336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Targets: peptidoglycan wall or 70S ribosomes, absent in human cells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53128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544568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All bacteria are harmful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0488" y="4544568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Useful roles plus resistance via plasmids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  / 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DO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Prior knowledge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298448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Which organelle contains chromosomal DNA in an animal cell?  [1]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3912" y="1188720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29844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298448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Do bacteria have a nucleus?  [1]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9292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58902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89020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Name one useful and one harmful activity of bacteria.  [2]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3912" y="3479292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358902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1112" y="3589020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Which is usually larger, a bacterial cell or an animal cell?  [1]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4  / 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Retrieval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43000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1252728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289304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52728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The nucleus.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38578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" y="2448306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484882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448306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No — their DNA is not enclosed by a nuclear envelope.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34156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" y="3643884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68046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643884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Useful: yoghurt / insulin / decomposition. Harmful: infection / food spoilage.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29734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792" y="4839462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87603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839462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An animal cell is typically larger (about 10–30 µm versus about 1–5 µm).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5  / 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1695" cy="73152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8813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400" b="1" i="0" a:ea="Calibri">
                <a:solidFill>
                  <a:srgbClr val="FFFFFF"/>
                </a:solidFill>
                <a:latin typeface="Calibri"/>
              </a:rPr>
              <a:t>Two fundamental cell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154680"/>
            <a:ext cx="1088136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CCFBF1"/>
                </a:solidFill>
                <a:latin typeface="Calibri"/>
              </a:rPr>
              <a:t>The nucleus is the key divide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6  / 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Definitions that earn marks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91440" cy="24368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Eukaryotic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Nucleus bounded by a nuclear envelope and membrane-bound organelles.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960120"/>
            <a:ext cx="91440" cy="24368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Prokaryotic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No nucleus and no membrane-bound organelles.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598164"/>
            <a:ext cx="91440" cy="243687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Who is who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Animals, plants, fungi and protoctists are eukaryotic. Bacteria and archaea are prokaryotic.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3598164"/>
            <a:ext cx="91440" cy="24368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Viruses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Acellular — not prokaryotic or eukaryotic.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7  / 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Bacterial cell schematic</a:t>
            </a:r>
          </a:p>
        </p:txBody>
      </p:sp>
      <p:pic>
        <p:nvPicPr>
          <p:cNvPr id="4" name="Picture 3" descr="prokaryote-ce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8686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6984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Cell wall (peptidoglycan in many bacteria) gives shape and protection.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92024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92024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02996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membrane still controls exchange.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88036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2880360"/>
            <a:ext cx="91440" cy="86868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299008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DNA is a circular loop in the cytoplasm (nucleoid) — not a nucleus.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84048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3840480"/>
            <a:ext cx="91440" cy="8686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395020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Plasmids are small extra DNA circles and may carry resistance genes.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80060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800600"/>
            <a:ext cx="91440" cy="86868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491032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Ribosomes are 70S. Some species have a flagellum or capsule.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742432"/>
            <a:ext cx="61264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 a:ea="Calibri">
                <a:solidFill>
                  <a:srgbClr val="475569"/>
                </a:solidFill>
                <a:latin typeface="Calibri"/>
              </a:rPr>
              <a:t>Say ‘some bacteria’ for capsule and flagellum.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8  / 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Scale comparison</a:t>
            </a:r>
          </a:p>
        </p:txBody>
      </p:sp>
      <p:pic>
        <p:nvPicPr>
          <p:cNvPr id="4" name="Picture 3" descr="size-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10515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69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Bacteria are typically 1–5 µm.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103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2103120"/>
            <a:ext cx="91440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212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Animal cells are often 10–30 µm.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246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3246120"/>
            <a:ext cx="91440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3355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 small cell has a large surface-area-to-volume ratio, so diffusion can supply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4389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4389120"/>
            <a:ext cx="91440" cy="105156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4498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Viruses are much smaller still and are not cells.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9  / 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Prokaryote versus eukaryote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1247120" cy="658368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15568"/>
            <a:ext cx="374904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Feature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115568"/>
            <a:ext cx="374904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Prokaryote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0" y="1115568"/>
            <a:ext cx="374904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Eukaryote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64208"/>
            <a:ext cx="11247120" cy="65836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755648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Nucleus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79392" y="1755648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Absent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8432" y="1755648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Present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22576"/>
            <a:ext cx="11247120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414016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DNA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9392" y="2414016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Circular loop; plasmids possible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28432" y="2414016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Linear chromosomes in a nucleus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80944"/>
            <a:ext cx="11247120" cy="65836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072384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Membrane-bound organelles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9392" y="3072384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Absent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28432" y="3072384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Present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639312"/>
            <a:ext cx="11247120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730752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Ribosomes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79392" y="3730752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70S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28432" y="3730752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80S (70S in mitochondria/chloroplasts)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297680"/>
            <a:ext cx="11247120" cy="65836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4389120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Typical size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2" y="4389120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1–5 µm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2" y="4389120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10–100 µm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956048"/>
            <a:ext cx="11247120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" y="5047488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Cell wall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79392" y="5047488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Peptidoglycan (many bacteria)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28432" y="5047488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Cellulose / chitin / 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806440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475569"/>
                </a:solidFill>
                <a:latin typeface="Calibri"/>
              </a:rPr>
              <a:t>Each exam row must contrast the same feature.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10  / 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DNA organisation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502920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50292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009688"/>
                </a:solidFill>
                <a:latin typeface="Calibri"/>
              </a:rPr>
              <a:t>Prokaryotic DNA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Usually one circular chromosome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Lies free in the cytoplasm (nucleoid)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May include plasmids that replicate independently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Not packaged as eukaryotic chromatin with histones in the same way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502920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5029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1E3A5F"/>
                </a:solidFill>
                <a:latin typeface="Calibri"/>
              </a:rPr>
              <a:t>Eukaryotic DNA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Several linear chromosomes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Associated with histone proteins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Enclosed by a nuclear envelope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Mitochondria and chloroplasts also contain circular DNA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11  / 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Why the comparison matters medically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91440" cy="24368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Wall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Some antibiotics block peptidoglycan synthesis.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960120"/>
            <a:ext cx="91440" cy="24368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Ribosome target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Some antibiotics bind 70S ribosomes, not 80S.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598164"/>
            <a:ext cx="91440" cy="243687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Selectivity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Those targets are absent or different in human cells.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3598164"/>
            <a:ext cx="91440" cy="24368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Resistance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Plasmids can transfer resistance genes by conjugation.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12  / 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Useful versus harmful bacteria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502920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50292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009688"/>
                </a:solidFill>
                <a:latin typeface="Calibri"/>
              </a:rPr>
              <a:t>Useful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Decomposers in nutrient cycles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Yoghurt and cheese production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Recombinant insulin and other products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Gut bacteria that aid digestion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502920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5029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1E3A5F"/>
                </a:solidFill>
                <a:latin typeface="Calibri"/>
              </a:rPr>
              <a:t>Harmful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Pathogens causing infection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Food spoilage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Toxin production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Antibiotic-resistant strains in hospitals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13  / 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Fungi — a eukaryotic contrast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91440" cy="24368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Nucleus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Fungi are eukaryotic, so they have nuclei.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960120"/>
            <a:ext cx="91440" cy="24368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Wall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Their walls are typically chitin, not cellulose or peptidoglycan.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598164"/>
            <a:ext cx="91440" cy="243687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Form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Yeast is unicellular; mushrooms are multicellular.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3598164"/>
            <a:ext cx="91440" cy="24368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Point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Do not dump all walled cells into one group. Viruses remain outside the comparison.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14  / 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Endosymbiotic hint (Level 3 stretch)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91440" cy="24368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Observation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Mitochondria and chloroplasts have circular DNA and 70S ribosomes.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960120"/>
            <a:ext cx="91440" cy="24368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Idea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These features resemble free-living bacteria.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598164"/>
            <a:ext cx="91440" cy="243687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Theory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organelles may have originated from engulfed prokaryotes.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3598164"/>
            <a:ext cx="91440" cy="24368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Use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 stretch explanation — do not treat it as the whole lesson.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15  / 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743200" cy="310896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74320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STUDENT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Venn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21792"/>
            <a:ext cx="25603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 a:ea="Calibri">
                <a:solidFill>
                  <a:srgbClr val="B45309"/>
                </a:solidFill>
                <a:latin typeface="Calibri"/>
              </a:rPr>
              <a:t>10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11247120" cy="14660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289304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289304"/>
            <a:ext cx="10195560" cy="12466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Draw a two-circle Venn diagram: prokaryote / both / eukaryote.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00528"/>
            <a:ext cx="11247120" cy="14660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846832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883408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846832"/>
            <a:ext cx="10195560" cy="12466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Place: ribosomes, nucleus, cell membrane, plasmids, mitochondria, DNA, cell wall (qualify the chemistry).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258056"/>
            <a:ext cx="11247120" cy="14660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4404360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440936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404360"/>
            <a:ext cx="10195560" cy="12466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Write one sentence on a medical application of a difference you placed on one side only.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16  / 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Common misconceptions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53312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Bacteria have no DNA.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097280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353312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They have DNA; it is not inside a nucleus.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18816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18816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810256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66288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Prokaryotes have no ribosomes.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718816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2718816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810256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6288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They have 70S ribosomes.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431792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431792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23232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779264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All bacteria cause disease.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4431792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4431792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523232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779264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Many are harmless or beneficial.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17  / 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EXAM-STYLE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Exam-style practice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3 marks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11680"/>
            <a:ext cx="3249168" cy="3383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Give three differences between a bacterial cell and an animal cell.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5008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6528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3 marks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6176" y="2011680"/>
            <a:ext cx="3249168" cy="3383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Explain how a plasmid can be medically important.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2816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84336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2 marks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3984" y="2011680"/>
            <a:ext cx="3249168" cy="3383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A student writes that mitochondria prove a cell is prokaryotic. Explain the error.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18  / 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Exam-style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Bacterium: no nucleus / no mitochondria / peptidoglycan wall / circular DNA / 70S / smaller. Animal cell has the opposite of each stated point.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5008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6176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Plasmids can carry antibiotic-resistance genes, can be transferred, and are used as vectors in genetic engineering.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2816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3984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Mitochondria are membrane-bound organelles found in eukaryotes. Their presence shows the cell is eukaryotic.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19  / 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Plenary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475569"/>
                </a:solidFill>
                <a:latin typeface="Calibri"/>
              </a:rPr>
              <a:t>30–60 seconds each. No notes if you can avoid them.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List four labels for a bacterial cell.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50080" y="1463040"/>
            <a:ext cx="457200" cy="45720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State the single best defining difference between the two cell types.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60080" y="1463040"/>
            <a:ext cx="457200" cy="457200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Give one reason viruses are not placed in either group.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20  / 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Independent practice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28930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4416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30759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Complete the prokaryote/eukaryote worksheet.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10312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34086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9572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35915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Practise a six-mark comparison from memory using paired sentences.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15468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339242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44728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41071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Next lesson: seeing these cells — microscopy and magnification.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21  / 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BTEC Unit 1 Biology: Prokaryotic and Eukaryotic Cells</dc:title>
  <dc:subject>BTEC Unit 1 Biology</dc:subject>
  <dc:creator>JDScience</dc:creator>
  <cp:keywords>BTEC Unit 1 Biology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Teaching resource</cp:category>
</cp:coreProperties>
</file>