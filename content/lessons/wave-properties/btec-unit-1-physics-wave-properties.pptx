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25880"/>
            <a:ext cx="77724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 a:ea="Calibri">
                <a:solidFill>
                  <a:srgbClr val="00796B"/>
                </a:solidFill>
                <a:latin typeface="Calibri"/>
              </a:rPr>
              <a:t>BTEC Level 3  ·  Applied Science  ·  Unit 1  ·  Physics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83080"/>
            <a:ext cx="7955279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600" b="1" i="0" a:ea="Calibri">
                <a:solidFill>
                  <a:srgbClr val="004D40"/>
                </a:solidFill>
                <a:latin typeface="Calibri"/>
              </a:rPr>
              <a:t>BTEC Unit 1 Physics: Wave Properties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886200"/>
            <a:ext cx="777240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475569"/>
                </a:solidFill>
                <a:latin typeface="Calibri"/>
              </a:rPr>
              <a:t>Transverse and longitudinal waves, phase, superposition, polarisation and everyday examples.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5623560"/>
            <a:ext cx="77724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009688"/>
                </a:solidFill>
                <a:latin typeface="Calibri"/>
              </a:rPr>
              <a:t>PowerPoint teaching resource</a:t>
            </a:r>
          </a:p>
        </p:txBody>
      </p:sp>
      <p:pic>
        <p:nvPicPr>
          <p:cNvPr id="8" name="Picture 7" descr="long-vs-tra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0" y="1325880"/>
            <a:ext cx="3154680" cy="4160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Wave properties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  /  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04672"/>
            <a:ext cx="112471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475569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07008"/>
            <a:ext cx="11247120" cy="84124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" y="1408176"/>
            <a:ext cx="420624" cy="420624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44752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408176"/>
            <a:ext cx="102412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0F172A"/>
                </a:solidFill>
                <a:latin typeface="Calibri"/>
              </a:rPr>
              <a:t>Distinguish transverse and longitudinal waves with examples and diagrams.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11247120" cy="84124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" y="2322576"/>
            <a:ext cx="420624" cy="420624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359152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322576"/>
            <a:ext cx="102412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0F172A"/>
                </a:solidFill>
                <a:latin typeface="Calibri"/>
              </a:rPr>
              <a:t>Describe compressions, rarefactions, crests and troughs.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035808"/>
            <a:ext cx="11247120" cy="84124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1792" y="3236976"/>
            <a:ext cx="420624" cy="420624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3273552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236976"/>
            <a:ext cx="102412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0F172A"/>
                </a:solidFill>
                <a:latin typeface="Calibri"/>
              </a:rPr>
              <a:t>Explain phase, antiphase and path difference.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950208"/>
            <a:ext cx="11247120" cy="84124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1792" y="4151376"/>
            <a:ext cx="420624" cy="420624"/>
          </a:xfrm>
          <a:prstGeom prst="round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" y="4187952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4151376"/>
            <a:ext cx="102412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0F172A"/>
                </a:solidFill>
                <a:latin typeface="Calibri"/>
              </a:rPr>
              <a:t>State the principle of superposition and recognise constructive and destructive cases.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864608"/>
            <a:ext cx="11247120" cy="84124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1792" y="5065776"/>
            <a:ext cx="420624" cy="420624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" y="5102352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5065776"/>
            <a:ext cx="102412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0F172A"/>
                </a:solidFill>
                <a:latin typeface="Calibri"/>
              </a:rPr>
              <a:t>Use polarisation as evidence that light is transverse and sound is not.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Wave properties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  /  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3291840" cy="310896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329184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LEVEL 3 DEPTH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Beyond GCSE recall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12471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475569"/>
                </a:solidFill>
                <a:latin typeface="Calibri"/>
              </a:rPr>
              <a:t>This lesson must progress past simple recall. Use these Level 3 moves in explanations and answers.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00200"/>
            <a:ext cx="11247120" cy="713232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728216"/>
            <a:ext cx="56235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GCSE starting 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1728216"/>
            <a:ext cx="56235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Unit 1 progression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313432"/>
            <a:ext cx="11247120" cy="713232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404872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Sound is a sine wave so it is transverse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90488" y="2404872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The sine curve is a graph; the oscillation is still parallel to travel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26664"/>
            <a:ext cx="1124712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3118104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Waves destroy each other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0488" y="3118104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Superposition is local; each wave continues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739896"/>
            <a:ext cx="11247120" cy="713232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831336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All waves need air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0488" y="3831336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Electromagnetic waves do not need a medium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453128"/>
            <a:ext cx="1124712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4544568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Polarising sunglasses are a trick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90488" y="4544568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They filter a transverse oscillation plane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Wave properties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3  /  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3291840" cy="310896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329184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DO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Prior knowledge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5550408" cy="21442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298448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9F1239"/>
                </a:solidFill>
                <a:latin typeface="Calibri"/>
              </a:rPr>
              <a:t>1.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298448"/>
            <a:ext cx="4910328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Is light transverse or longitudinal?  [1]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53912" y="1188720"/>
            <a:ext cx="5550408" cy="21442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18504" y="1298448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9F1239"/>
                </a:solidFill>
                <a:latin typeface="Calibri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1112" y="1298448"/>
            <a:ext cx="4910328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Is sound in air transverse or longitudinal?  [1]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479292"/>
            <a:ext cx="5550408" cy="21442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3589020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9F1239"/>
                </a:solidFill>
                <a:latin typeface="Calibri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589020"/>
            <a:ext cx="4910328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What is transferred by a wave?  [1]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53912" y="3479292"/>
            <a:ext cx="5550408" cy="21442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18504" y="3589020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9F1239"/>
                </a:solidFill>
                <a:latin typeface="Calibri"/>
              </a:rPr>
              <a:t>4.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11112" y="3589020"/>
            <a:ext cx="4910328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Name one piece of evidence that light is a wave.  [2]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742432"/>
            <a:ext cx="112471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Think first — answers are on the next slide.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Wave properties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4  /  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2011680" cy="310896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201168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Retrieval answers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43000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1252728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289304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252728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Transverse — oscillations of the electric and magnetic fields are perpendicular to travel.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338578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1792" y="2448306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2484882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448306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Longitudinal — air particles oscillate parallel to the direction of energy transfer.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534156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1792" y="3643884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3680460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643884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Energy.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729734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1792" y="4839462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" y="4876038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839462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Interference / diffraction / polarisation of light.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Wave properties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5  /  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1695" cy="73152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88136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400" b="1" i="0" a:ea="Calibri">
                <a:solidFill>
                  <a:srgbClr val="FFFFFF"/>
                </a:solidFill>
                <a:latin typeface="Calibri"/>
              </a:rPr>
              <a:t>Two families of wave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154680"/>
            <a:ext cx="1088136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 i="0" a:ea="Calibri">
                <a:solidFill>
                  <a:srgbClr val="CCFBF1"/>
                </a:solidFill>
                <a:latin typeface="Calibri"/>
              </a:rPr>
              <a:t>Direction of oscillation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Wave properties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6  /  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Transverse and longitudinal</a:t>
            </a:r>
          </a:p>
        </p:txBody>
      </p:sp>
      <p:pic>
        <p:nvPicPr>
          <p:cNvPr id="4" name="Picture 3" descr="long-vs-tra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60120"/>
            <a:ext cx="6126480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675120" y="960120"/>
            <a:ext cx="5029200" cy="10515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0" y="960120"/>
            <a:ext cx="91440" cy="105156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31152" y="1069848"/>
            <a:ext cx="461772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Transverse: oscillation perpendicular to energy transfer.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2103120"/>
            <a:ext cx="5029200" cy="10515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75120" y="2103120"/>
            <a:ext cx="91440" cy="10515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31152" y="2212848"/>
            <a:ext cx="461772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Examples: water surface waves, waves on a string, all electromagnetic waves.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3246120"/>
            <a:ext cx="5029200" cy="10515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75120" y="3246120"/>
            <a:ext cx="91440" cy="10515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31152" y="3355848"/>
            <a:ext cx="461772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Longitudinal: oscillation parallel to energy transfer.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4389120"/>
            <a:ext cx="5029200" cy="10515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75120" y="4389120"/>
            <a:ext cx="91440" cy="105156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31152" y="4498848"/>
            <a:ext cx="461772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Examples: sound in air, P-waves, compression waves on a slinky.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Wave properties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7  /  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Language for each type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5532120" cy="502920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82296" cy="50292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70432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a:ea="Calibri">
                <a:solidFill>
                  <a:srgbClr val="009688"/>
                </a:solidFill>
                <a:latin typeface="Calibri"/>
              </a:rPr>
              <a:t>Transverse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50292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Crest — maximum positive displacement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Trough — maximum negative displacement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Amplitude — height from equilibrium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Can be polarised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005840"/>
            <a:ext cx="5532120" cy="5029200"/>
          </a:xfrm>
          <a:prstGeom prst="round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005840"/>
            <a:ext cx="82296" cy="50292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170432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a:ea="Calibri">
                <a:solidFill>
                  <a:srgbClr val="1E3A5F"/>
                </a:solidFill>
                <a:latin typeface="Calibri"/>
              </a:rPr>
              <a:t>Longitudinal words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645920"/>
            <a:ext cx="50292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Compression — region of higher pressure / closer particles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Rarefaction — region of lower pressure / more spaced particles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Wavelength — compression to next compression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Cannot be polarised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Wave properties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8  /  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Electromagnetic waves are transverse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60120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91440" cy="2436876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106424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Medium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490472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They do not need a medium.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960120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81344" y="960120"/>
            <a:ext cx="91440" cy="2436876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37376" y="1106424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Speed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37376" y="1490472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They travel at 3.00 × 10</a:t>
            </a:r>
            <a:r>
              <a:rPr sz="1400" b="0" i="0" a:ea="Calibri" baseline="30000">
                <a:solidFill>
                  <a:srgbClr val="0F172A"/>
                </a:solidFill>
                <a:latin typeface="Calibri"/>
              </a:rPr>
              <a:t>8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 m s</a:t>
            </a:r>
            <a:r>
              <a:rPr sz="1400" b="0" i="0" a:ea="Calibri" baseline="30000">
                <a:solidFill>
                  <a:srgbClr val="0F172A"/>
                </a:solidFill>
                <a:latin typeface="Calibri"/>
              </a:rPr>
              <a:t>−1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 in vacuum.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598164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598164"/>
            <a:ext cx="91440" cy="2436876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3744468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Spectrum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4128516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From radio waves to gamma rays.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1344" y="3598164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1344" y="3598164"/>
            <a:ext cx="91440" cy="2436876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7376" y="3744468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Evidence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7376" y="4128516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Polarising filters work because the oscillations have a direction. Sound cannot be polarised.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Wave properties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9  /  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1695" cy="73152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88136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400" b="1" i="0" a:ea="Calibri">
                <a:solidFill>
                  <a:srgbClr val="FFFFFF"/>
                </a:solidFill>
                <a:latin typeface="Calibri"/>
              </a:rPr>
              <a:t>Phase and superposition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154680"/>
            <a:ext cx="1088136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 i="0" a:ea="Calibri">
                <a:solidFill>
                  <a:srgbClr val="CCFBF1"/>
                </a:solidFill>
                <a:latin typeface="Calibri"/>
              </a:rPr>
              <a:t>How waves combine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Wave properties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10  /  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Phase</a:t>
            </a:r>
          </a:p>
        </p:txBody>
      </p:sp>
      <p:pic>
        <p:nvPicPr>
          <p:cNvPr id="4" name="Picture 3" descr="phase-poi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60120"/>
            <a:ext cx="6126480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675120" y="960120"/>
            <a:ext cx="5029200" cy="10515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0" y="960120"/>
            <a:ext cx="91440" cy="105156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31152" y="1069848"/>
            <a:ext cx="461772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Two points are in phase if they reach maxima and minima together.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2103120"/>
            <a:ext cx="5029200" cy="10515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75120" y="2103120"/>
            <a:ext cx="91440" cy="10515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31152" y="2212848"/>
            <a:ext cx="461772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Points separated by a whole number of wavelengths are in phase.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3246120"/>
            <a:ext cx="5029200" cy="10515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75120" y="3246120"/>
            <a:ext cx="91440" cy="10515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31152" y="3355848"/>
            <a:ext cx="461772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Points separated by an odd number of half-wavelengths are in antiphase.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4389120"/>
            <a:ext cx="5029200" cy="10515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75120" y="4389120"/>
            <a:ext cx="91440" cy="105156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31152" y="4498848"/>
            <a:ext cx="461772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Path difference is the extra distance one wave travels compared with another.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Wave properties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11  /  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Principle of superposition</a:t>
            </a:r>
          </a:p>
        </p:txBody>
      </p:sp>
      <p:pic>
        <p:nvPicPr>
          <p:cNvPr id="4" name="Picture 3" descr="super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60120"/>
            <a:ext cx="6126480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675120" y="96012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0" y="960120"/>
            <a:ext cx="91440" cy="86868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31152" y="1069848"/>
            <a:ext cx="461772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When two waves meet, the resultant displacement is the vector sum of the individual displacements.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192024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75120" y="1920240"/>
            <a:ext cx="91440" cy="8686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31152" y="2029968"/>
            <a:ext cx="461772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The waves then continue as if they had not met.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288036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75120" y="2880360"/>
            <a:ext cx="91440" cy="86868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31152" y="2990088"/>
            <a:ext cx="461772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Constructive: displacements in the same direction add.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384048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75120" y="3840480"/>
            <a:ext cx="91440" cy="8686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31152" y="3950208"/>
            <a:ext cx="461772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Destructive: opposite displacements cancel.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480060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0" y="4800600"/>
            <a:ext cx="91440" cy="868680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31152" y="4910328"/>
            <a:ext cx="461772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This is the basis of interference and of later stationary-wave work.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Wave properties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12  /  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2377440" cy="310896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237744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Phase from a photograph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11247120" cy="868680"/>
          </a:xfrm>
          <a:prstGeom prst="round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91440" cy="8686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1261872"/>
            <a:ext cx="10881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1E3A5F"/>
                </a:solidFill>
                <a:latin typeface="Calibri"/>
              </a:rPr>
              <a:t>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36192"/>
            <a:ext cx="10881360" cy="4297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Two crests are 3.0 cm apart on a ripple-tank photograph. The wavelength is 1.5 cm. Are they in phase?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76272"/>
            <a:ext cx="5486400" cy="10515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176272"/>
            <a:ext cx="91440" cy="105156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2249424"/>
            <a:ext cx="5120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09688"/>
                </a:solidFill>
                <a:latin typeface="Calibri"/>
              </a:rPr>
              <a:t>Equation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2523744"/>
            <a:ext cx="5120640" cy="6126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separation / 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2176272"/>
            <a:ext cx="5577840" cy="1051560"/>
          </a:xfrm>
          <a:prstGeom prst="round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176272"/>
            <a:ext cx="91440" cy="10515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2249424"/>
            <a:ext cx="5212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5B21B6"/>
                </a:solidFill>
                <a:latin typeface="Calibri"/>
              </a:rPr>
              <a:t>Substitution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5936" y="2523744"/>
            <a:ext cx="5212080" cy="6126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3.0 / 1.5 = 2.0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346704"/>
            <a:ext cx="5486400" cy="1325880"/>
          </a:xfrm>
          <a:prstGeom prst="round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346704"/>
            <a:ext cx="91440" cy="13258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" y="3419856"/>
            <a:ext cx="5120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B45309"/>
                </a:solidFill>
                <a:latin typeface="Calibri"/>
              </a:rPr>
              <a:t>Working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" y="3694176"/>
            <a:ext cx="5120640" cy="8869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2.0 is a whole number of wavelengths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26480" y="3346704"/>
            <a:ext cx="5577840" cy="1325880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3346704"/>
            <a:ext cx="91440" cy="1325880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3419856"/>
            <a:ext cx="5212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47857"/>
                </a:solidFill>
                <a:latin typeface="Calibri"/>
              </a:rPr>
              <a:t>Answer + unit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45936" y="3694176"/>
            <a:ext cx="5212080" cy="8869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in phase    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800600"/>
            <a:ext cx="11247120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475569"/>
                </a:solidFill>
                <a:latin typeface="Calibri"/>
              </a:rPr>
              <a:t>A crest and the neighbouring trough 0.75 cm apart: 0.75 / 1.5 = 0.5, so they are in antiphase.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Wave properties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13  /  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Path difference preview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60120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91440" cy="2436876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106424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nλ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490472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Constructive interference — the waves arrive in phase.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960120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81344" y="960120"/>
            <a:ext cx="91440" cy="2436876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37376" y="1106424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(n + ½)λ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37376" y="1490472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Destructive interference — the waves arrive in antiphase.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598164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598164"/>
            <a:ext cx="91440" cy="2436876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3744468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Later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4128516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You will use this in Young’s slits and diffraction-grating lessons.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1344" y="3598164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1344" y="3598164"/>
            <a:ext cx="91440" cy="2436876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7376" y="3744468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Word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7376" y="4128516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Use displacement, not ‘the waves add energy and vanish’.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Wave properties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14  /  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Everyday applications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5532120" cy="502920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82296" cy="50292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70432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a:ea="Calibri">
                <a:solidFill>
                  <a:srgbClr val="009688"/>
                </a:solidFill>
                <a:latin typeface="Calibri"/>
              </a:rPr>
              <a:t>Longitudinal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50292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Speaking and hearing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Ultrasound scans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Sonar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Earthquake P-waves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005840"/>
            <a:ext cx="5532120" cy="5029200"/>
          </a:xfrm>
          <a:prstGeom prst="round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005840"/>
            <a:ext cx="82296" cy="50292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170432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a:ea="Calibri">
                <a:solidFill>
                  <a:srgbClr val="1E3A5F"/>
                </a:solidFill>
                <a:latin typeface="Calibri"/>
              </a:rPr>
              <a:t>Transverse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645920"/>
            <a:ext cx="50292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Visible light and radio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Microwaves in ovens and Wi-Fi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Polarising sunglasses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Waves on musical strings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Wave properties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15  /  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Media and wave type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11247120" cy="658368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15568"/>
            <a:ext cx="281178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Wave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68980" y="1115568"/>
            <a:ext cx="281178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Type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80760" y="1115568"/>
            <a:ext cx="281178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Needs a medium?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92540" y="1115568"/>
            <a:ext cx="281178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Typical speed order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64208"/>
            <a:ext cx="11247120" cy="658368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755648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Sound in air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42132" y="1755648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Longitudinal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53912" y="1755648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Yes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5692" y="1755648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10</a:t>
            </a:r>
            <a:r>
              <a:rPr sz="13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300" b="0" i="0" a:ea="Calibri">
                <a:solidFill>
                  <a:srgbClr val="0F172A"/>
                </a:solidFill>
                <a:latin typeface="Calibri"/>
              </a:rPr>
              <a:t> m s</a:t>
            </a:r>
            <a:r>
              <a:rPr sz="1300" b="0" i="0" a:ea="Calibri" baseline="30000">
                <a:solidFill>
                  <a:srgbClr val="0F172A"/>
                </a:solidFill>
                <a:latin typeface="Calibri"/>
              </a:rPr>
              <a:t>−1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22576"/>
            <a:ext cx="11247120" cy="65836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2414016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Ripples on water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42132" y="2414016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Transverse (surface)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53912" y="2414016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Yes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5692" y="2414016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10</a:t>
            </a:r>
            <a:r>
              <a:rPr sz="1300" b="0" i="0" a:ea="Calibri" baseline="30000">
                <a:solidFill>
                  <a:srgbClr val="0F172A"/>
                </a:solidFill>
                <a:latin typeface="Calibri"/>
              </a:rPr>
              <a:t>0</a:t>
            </a:r>
            <a:r>
              <a:rPr sz="1300" b="0" i="0" a:ea="Calibri">
                <a:solidFill>
                  <a:srgbClr val="0F172A"/>
                </a:solidFill>
                <a:latin typeface="Calibri"/>
              </a:rPr>
              <a:t> m s</a:t>
            </a:r>
            <a:r>
              <a:rPr sz="1300" b="0" i="0" a:ea="Calibri" baseline="30000">
                <a:solidFill>
                  <a:srgbClr val="0F172A"/>
                </a:solidFill>
                <a:latin typeface="Calibri"/>
              </a:rPr>
              <a:t>−1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980944"/>
            <a:ext cx="11247120" cy="658368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3072384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Light in vacuum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42132" y="3072384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Transverse EM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53912" y="3072384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No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5692" y="3072384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3.00 × 10</a:t>
            </a:r>
            <a:r>
              <a:rPr sz="1300" b="0" i="0" a:ea="Calibri" baseline="30000">
                <a:solidFill>
                  <a:srgbClr val="0F172A"/>
                </a:solidFill>
                <a:latin typeface="Calibri"/>
              </a:rPr>
              <a:t>8</a:t>
            </a:r>
            <a:r>
              <a:rPr sz="1300" b="0" i="0" a:ea="Calibri">
                <a:solidFill>
                  <a:srgbClr val="0F172A"/>
                </a:solidFill>
                <a:latin typeface="Calibri"/>
              </a:rPr>
              <a:t> m s</a:t>
            </a:r>
            <a:r>
              <a:rPr sz="1300" b="0" i="0" a:ea="Calibri" baseline="30000">
                <a:solidFill>
                  <a:srgbClr val="0F172A"/>
                </a:solidFill>
                <a:latin typeface="Calibri"/>
              </a:rPr>
              <a:t>−1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639312"/>
            <a:ext cx="11247120" cy="65836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52" y="3730752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Waves on a string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42132" y="3730752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Transverse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53912" y="3730752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Yes (the string)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65692" y="3730752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depends on tension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Wave properties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16  /  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Earthquakes — why the distinction matters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5532120" cy="502920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82296" cy="50292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70432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a:ea="Calibri">
                <a:solidFill>
                  <a:srgbClr val="009688"/>
                </a:solidFill>
                <a:latin typeface="Calibri"/>
              </a:rPr>
              <a:t>P-waves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50292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Longitudinal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Travel through solids and liquids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Faster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Detected on the far side of the Earth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005840"/>
            <a:ext cx="5532120" cy="5029200"/>
          </a:xfrm>
          <a:prstGeom prst="round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005840"/>
            <a:ext cx="82296" cy="50292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170432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a:ea="Calibri">
                <a:solidFill>
                  <a:srgbClr val="1E3A5F"/>
                </a:solidFill>
                <a:latin typeface="Calibri"/>
              </a:rPr>
              <a:t>S-waves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645920"/>
            <a:ext cx="50292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Transverse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Do not travel through the liquid outer core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Slower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Do travel through the solid mantle — do not say they ‘cannot travel through the Earth’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Wave properties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17  /  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2743200" cy="310896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274320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STUDENT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Classify and justify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21792"/>
            <a:ext cx="25603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400" b="1" i="0" a:ea="Calibri">
                <a:solidFill>
                  <a:srgbClr val="B45309"/>
                </a:solidFill>
                <a:latin typeface="Calibri"/>
              </a:rPr>
              <a:t>8 minutes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43000"/>
            <a:ext cx="11247120" cy="146608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289304"/>
            <a:ext cx="420624" cy="420624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289304"/>
            <a:ext cx="10195560" cy="12466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For each: ultrasound scan, microwave oven, stadium Mexican wave, earthquake P-wave, stadium sound system.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700528"/>
            <a:ext cx="11247120" cy="146608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" y="2846832"/>
            <a:ext cx="420624" cy="420624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883408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2846832"/>
            <a:ext cx="10195560" cy="12466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State transverse / longitudinal / model only, and name the oscillating particle or field.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258056"/>
            <a:ext cx="11247120" cy="146608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4404360"/>
            <a:ext cx="420624" cy="420624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440936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404360"/>
            <a:ext cx="10195560" cy="12466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Identify one that can be polarised and one that cannot.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Wave properties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18  /  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2011680" cy="310896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201168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Classification checkpoints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43000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1252728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289304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252728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Ultrasound: longitudinal pressure wave in tissue.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338578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1792" y="2448306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2484882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448306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Microwave: transverse electromagnetic wave — can be polarised.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534156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1792" y="3643884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3680460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643884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Mexican wave: a useful model of a transverse pulse, not a physics wave in a medium — treat carefully.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729734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1792" y="4839462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" y="4876038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839462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P-wave: longitudinal. Stadium sound: longitudinal. Sound cannot be polarised.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Wave properties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19  / 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Common misconceptions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5532120" cy="1603248"/>
          </a:xfrm>
          <a:prstGeom prst="round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82296" cy="1603248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097280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9F1239"/>
                </a:solidFill>
                <a:latin typeface="Calibri"/>
              </a:rPr>
              <a:t>Not quite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53312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Sound is a transverse wave because we draw it as a sine curve.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005840"/>
            <a:ext cx="5532120" cy="1603248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005840"/>
            <a:ext cx="82296" cy="1603248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097280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47857"/>
                </a:solidFill>
                <a:latin typeface="Calibri"/>
              </a:rPr>
              <a:t>Instead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353312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The sine curve is a graph of pressure or displacement; the oscillation is still parallel to travel.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718816"/>
            <a:ext cx="5532120" cy="1603248"/>
          </a:xfrm>
          <a:prstGeom prst="round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718816"/>
            <a:ext cx="82296" cy="1603248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810256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9F1239"/>
                </a:solidFill>
                <a:latin typeface="Calibri"/>
              </a:rPr>
              <a:t>Not quite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066288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Waves that cancel are destroyed forever.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2718816"/>
            <a:ext cx="5532120" cy="1603248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2718816"/>
            <a:ext cx="82296" cy="1603248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2810256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47857"/>
                </a:solidFill>
                <a:latin typeface="Calibri"/>
              </a:rPr>
              <a:t>Instead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066288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Each wave continues; cancellation is local and temporary.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431792"/>
            <a:ext cx="5532120" cy="1603248"/>
          </a:xfrm>
          <a:prstGeom prst="round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431792"/>
            <a:ext cx="82296" cy="1603248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523232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9F1239"/>
                </a:solidFill>
                <a:latin typeface="Calibri"/>
              </a:rPr>
              <a:t>Not quite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779264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All waves need air.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4431792"/>
            <a:ext cx="5532120" cy="1603248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72200" y="4431792"/>
            <a:ext cx="82296" cy="1603248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4523232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47857"/>
                </a:solidFill>
                <a:latin typeface="Calibri"/>
              </a:rPr>
              <a:t>Instead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779264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Electromagnetic waves do not.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Wave properties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20  / 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3291840" cy="310896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329184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EXAM-STYLE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Exam-style practice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3651504" cy="4434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371600"/>
            <a:ext cx="457200" cy="457200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426464"/>
            <a:ext cx="264566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4 marks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011680"/>
            <a:ext cx="3249168" cy="3383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Describe the difference between a transverse wave and a longitudinal wave. Give one example of each.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5008" y="1188720"/>
            <a:ext cx="3651504" cy="4434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37888" y="1371600"/>
            <a:ext cx="457200" cy="457200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7888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86528" y="1426464"/>
            <a:ext cx="264566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2 marks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56176" y="2011680"/>
            <a:ext cx="3249168" cy="3383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State the principle of superposition.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52816" y="1188720"/>
            <a:ext cx="3651504" cy="4434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35696" y="1371600"/>
            <a:ext cx="457200" cy="457200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35696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84336" y="1426464"/>
            <a:ext cx="264566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2 marks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3984" y="2011680"/>
            <a:ext cx="3249168" cy="3383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Explain why sound waves from a loudspeaker cannot be polarised.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742432"/>
            <a:ext cx="112471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Think first — answers are on the next slide.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Wave properties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21  /  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2011680" cy="310896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201168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Exam-style answers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3651504" cy="4709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371600"/>
            <a:ext cx="457200" cy="45720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011680"/>
            <a:ext cx="3249168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Transverse: oscillation perpendicular to energy transfer, e.g. light or water waves. Longitudinal: oscillation parallel to energy transfer, e.g. sound in air.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5008" y="1188720"/>
            <a:ext cx="3651504" cy="4709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37888" y="1371600"/>
            <a:ext cx="457200" cy="45720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7888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6176" y="2011680"/>
            <a:ext cx="3249168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When waves meet, the resultant displacement equals the sum of the individual displacements.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52816" y="1188720"/>
            <a:ext cx="3651504" cy="4709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35696" y="1371600"/>
            <a:ext cx="457200" cy="45720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35696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3984" y="2011680"/>
            <a:ext cx="3249168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Polarisation requires a transverse oscillation with a direction that can be filtered. Sound is longitudinal, so there is no such direction to filter.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Wave properties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22  /  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Plenary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475569"/>
                </a:solidFill>
                <a:latin typeface="Calibri"/>
              </a:rPr>
              <a:t>30–60 seconds each. No notes if you can avoid them.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3627120" cy="47091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463040"/>
            <a:ext cx="457200" cy="45720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36192"/>
            <a:ext cx="4572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3261360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Act: model a longitudinal compression, then a transverse oscillation.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7200" y="1280160"/>
            <a:ext cx="3627120" cy="47091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450080" y="1463040"/>
            <a:ext cx="457200" cy="457200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50080" y="1536192"/>
            <a:ext cx="4572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0080" y="2103120"/>
            <a:ext cx="3261360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Write one sentence on superposition using the word displacement.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77200" y="1280160"/>
            <a:ext cx="3627120" cy="47091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60080" y="1463040"/>
            <a:ext cx="457200" cy="457200"/>
          </a:xfrm>
          <a:prstGeom prst="round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0080" y="1536192"/>
            <a:ext cx="4572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0080" y="2103120"/>
            <a:ext cx="3261360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Name one wave that can be polarised and one that cannot.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Wave properties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23  /  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Independent practice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51560"/>
            <a:ext cx="11247120" cy="93268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289304"/>
            <a:ext cx="457200" cy="45720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44168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307592"/>
            <a:ext cx="101498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Complete the Wave Properties worksheet.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103120"/>
            <a:ext cx="11247120" cy="93268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340864"/>
            <a:ext cx="457200" cy="45720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395728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359152"/>
            <a:ext cx="101498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Revise progressive-wave calculations so the two lessons connect.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154680"/>
            <a:ext cx="11247120" cy="93268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3392424"/>
            <a:ext cx="457200" cy="45720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447288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410712"/>
            <a:ext cx="101498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Later Unit 1 lessons apply these ideas to diffraction, interference and refraction.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Wave properties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24  /  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BTEC Unit 1 Physics: Wave Properties</dc:title>
  <dc:subject>BTEC Unit 1 Physics</dc:subject>
  <dc:creator>JDScience</dc:creator>
  <cp:keywords>BTEC Unit 1 Physics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Teaching resource</cp:category>
</cp:coreProperties>
</file>