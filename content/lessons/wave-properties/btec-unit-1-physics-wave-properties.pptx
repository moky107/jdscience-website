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77724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 a:ea="Calibri">
                <a:solidFill>
                  <a:srgbClr val="00796B"/>
                </a:solidFill>
                <a:latin typeface="Calibri"/>
              </a:rPr>
              <a:t>BTEC Level 3  ·  Applied Science  ·  Unit 1  · 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7955279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 a:ea="Calibri">
                <a:solidFill>
                  <a:srgbClr val="004D40"/>
                </a:solidFill>
                <a:latin typeface="Calibri"/>
              </a:rPr>
              <a:t>BTEC Unit 1 Physics: Wave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886200"/>
            <a:ext cx="77724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475569"/>
                </a:solidFill>
                <a:latin typeface="Calibri"/>
              </a:rPr>
              <a:t>Transverse and longitudinal waves, phase, superposition, polarisation and everyday examples.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623560"/>
            <a:ext cx="77724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009688"/>
                </a:solidFill>
                <a:latin typeface="Calibri"/>
              </a:rPr>
              <a:t>PowerPoint teaching resource</a:t>
            </a:r>
          </a:p>
        </p:txBody>
      </p:sp>
      <p:pic>
        <p:nvPicPr>
          <p:cNvPr id="8" name="Picture 7" descr="long-vs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325880"/>
            <a:ext cx="315468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  / 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070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420624" cy="42062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447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081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Distinguish transverse and longitudinal waves with examples and diagrams.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2322576"/>
            <a:ext cx="420624" cy="420624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3591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3225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Describe compressions, rarefactions, crests and troughs.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358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3236976"/>
            <a:ext cx="420624" cy="420624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2369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Explain phase, antiphase and path difference.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502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" y="4151376"/>
            <a:ext cx="420624" cy="420624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41879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513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State the principle of superposition and recognise constructive and destructive cases.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64608"/>
            <a:ext cx="11247120" cy="84124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" y="5065776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65776"/>
            <a:ext cx="102412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0F172A"/>
                </a:solidFill>
                <a:latin typeface="Calibri"/>
              </a:rPr>
              <a:t>Use polarisation as evidence that light is transverse and sound is not.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  / 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LEVEL 3 DEPTH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Beyond GCSE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This lesson must progress past simple recall. Use these Level 3 moves in explanations and answers.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1247120" cy="713232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GCSE starting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728216"/>
            <a:ext cx="56235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Unit 1 progression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3432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Sound is a sine wave so it is transverse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0488" y="2404872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The sine curve is a graph; the oscillation is still parallel to travel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26664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Waves destroy each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118104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Superposition is local; each wave continues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39896"/>
            <a:ext cx="11247120" cy="713232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All waves need 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3831336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Electromagnetic waves do not need a 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53128"/>
            <a:ext cx="112471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Polarising sunglasses are a trick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544568"/>
            <a:ext cx="544068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a:ea="Calibri">
                <a:solidFill>
                  <a:srgbClr val="0F172A"/>
                </a:solidFill>
                <a:latin typeface="Calibri"/>
              </a:rPr>
              <a:t>They filter a transverse oscillation plane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3  / 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DO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Prior knowledge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 light transverse or longitudinal?  [1]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53912" y="1188720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9844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298448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Is sound in air transverse or longitudinal?  [1]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What is transferred by a wave?  [1]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3479292"/>
            <a:ext cx="5550408" cy="21442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358902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 a:ea="Calibri">
                <a:solidFill>
                  <a:srgbClr val="9F1239"/>
                </a:solidFill>
                <a:latin typeface="Calibri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589020"/>
            <a:ext cx="4910328" cy="18882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Name one piece of evidence that light is a wave. 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4  / 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Retrieval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Transverse — oscillations of the electric and magnetic fields are perpendicular to travel.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Longitudinal — air particles oscillate parallel to the direction of energy transfer.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Energy.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Interference / diffraction / polarisation of light.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5  / 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Two families of wave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Direction of oscillation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A transverse snapshot and a compression–rarefaction sketch.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Transverse: oscillation is perpendicular. Longitudinal: it is parallel.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Sound in air cannot be polarised because it is longitudinal.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6  / 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Transverse and longitudinal</a:t>
            </a:r>
          </a:p>
        </p:txBody>
      </p:sp>
      <p:pic>
        <p:nvPicPr>
          <p:cNvPr id="4" name="Picture 3" descr="long-vs-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Transverse: oscillation perpendicular to energy transfer.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Examples: water surface waves, waves on a string, all electromagnetic waves.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Longitudinal: oscillation parallel to energy transfer.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Examples: sound in air, P-waves, compression waves on a slinky.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7  / 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Language for each 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Transverse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Crest — maximum positive displacement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Trough — maximum negative displacement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Amplitude — height from equilibrium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Can be polarised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Longitudinal 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Compression — region of higher pressure / closer particles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Rarefaction — region of lower pressure / more spaced particles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Wavelength — compression to next compression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Cannot be polarised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8  / 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Electromagnetic waves are transverse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do not need a medium.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They travel at 3.00 × 10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8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m s</a:t>
            </a:r>
            <a:r>
              <a:rPr sz="1400" b="0" i="0" a:ea="Calibri" baseline="30000">
                <a:solidFill>
                  <a:srgbClr val="0F172A"/>
                </a:solidFill>
                <a:latin typeface="Calibri"/>
              </a:rPr>
              <a:t>−1</a:t>
            </a:r>
            <a:r>
              <a:rPr sz="1400" b="0" i="0" a:ea="Calibri">
                <a:solidFill>
                  <a:srgbClr val="0F172A"/>
                </a:solidFill>
                <a:latin typeface="Calibri"/>
              </a:rPr>
              <a:t> in vacuum.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Spectrum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From radio waves to gamma rays.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Polarising filters work because the oscillations have a direction. Sound cannot be polarised.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9  / 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 i="0" a:ea="Calibri">
                <a:solidFill>
                  <a:srgbClr val="FFFFFF"/>
                </a:solidFill>
                <a:latin typeface="Calibri"/>
              </a:rPr>
              <a:t>Phase and superposition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700" b="0" i="0" a:ea="Calibri">
                <a:solidFill>
                  <a:srgbClr val="CCFBF1"/>
                </a:solidFill>
                <a:latin typeface="Calibri"/>
              </a:rPr>
              <a:t>How waves combine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20440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1  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Points separated by nλ (in phase) or 0.5 λ (antiphase).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965960"/>
            <a:ext cx="3520440" cy="109728"/>
          </a:xfrm>
          <a:prstGeom prst="rect">
            <a:avLst/>
          </a:prstGeom>
          <a:solidFill>
            <a:srgbClr val="99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2   Say in full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The resultant displacement is the sum of the individual displacements.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520440" cy="3977639"/>
          </a:xfrm>
          <a:prstGeom prst="roundRect">
            <a:avLst/>
          </a:prstGeom>
          <a:solidFill>
            <a:srgbClr val="00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965960"/>
            <a:ext cx="3520440" cy="109728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1284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CCFBF1"/>
                </a:solidFill>
                <a:latin typeface="Calibri"/>
              </a:rPr>
              <a:t>3   Level 3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88920"/>
            <a:ext cx="3108960" cy="2880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FFFFFF"/>
                </a:solidFill>
                <a:latin typeface="Calibri"/>
              </a:rPr>
              <a:t>You cannot read λ from a time graph. Label the axis first.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10  / 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Phase</a:t>
            </a:r>
          </a:p>
        </p:txBody>
      </p:sp>
      <p:pic>
        <p:nvPicPr>
          <p:cNvPr id="4" name="Picture 3" descr="phase-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110871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Two points are in phase if they reach maxima and minima together.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1602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2160270"/>
            <a:ext cx="91440" cy="110871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2517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Points separated by a whole number of wavelengths are in phase.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36042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3360420"/>
            <a:ext cx="91440" cy="110871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345186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Points separated by an odd number of half-wavelengths are in antiphase.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560570"/>
            <a:ext cx="5029200" cy="110871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4560570"/>
            <a:ext cx="91440" cy="110871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4652010"/>
            <a:ext cx="4617720" cy="96240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Path difference is the extra distance one wave travels compared with another.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11  / 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Principle of superposition</a:t>
            </a:r>
          </a:p>
        </p:txBody>
      </p:sp>
      <p:pic>
        <p:nvPicPr>
          <p:cNvPr id="4" name="Picture 3" descr="super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6126480" cy="4709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75120" y="96012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75120" y="960120"/>
            <a:ext cx="91440" cy="868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05156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When two waves meet, the resultant displacement is the vector sum of the individual displacements.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92024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92024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201168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waves then continue as if they had not met.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88036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75120" y="2880360"/>
            <a:ext cx="91440" cy="8686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31152" y="297180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Constructive: displacements in the same direction add.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84048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91440" cy="868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31152" y="393192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Destructive: opposite displacements cancel.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800600"/>
            <a:ext cx="5029200" cy="8686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800600"/>
            <a:ext cx="91440" cy="868680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4892040"/>
            <a:ext cx="4617720" cy="72237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This is the basis of interference and of later stationary-wave 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12  / 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377440" cy="310896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3774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Phase from a photograph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11247120" cy="86868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9144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261872"/>
            <a:ext cx="108813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1E3A5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36192"/>
            <a:ext cx="10881360" cy="4297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Two crests are 3.0 cm apart on a ripple-tank photograph. The wavelength is 1.5 cm. Are they in phase?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76272"/>
            <a:ext cx="5486400" cy="10515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76272"/>
            <a:ext cx="91440" cy="1051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249424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09688"/>
                </a:solidFill>
                <a:latin typeface="Calibri"/>
              </a:rPr>
              <a:t>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23744"/>
            <a:ext cx="512064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separation / 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176272"/>
            <a:ext cx="5577840" cy="1051560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76272"/>
            <a:ext cx="91440" cy="10515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249424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5B21B6"/>
                </a:solidFill>
                <a:latin typeface="Calibri"/>
              </a:rPr>
              <a:t>Substitution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523744"/>
            <a:ext cx="5212080" cy="6126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3.0 / 1.5 = 2.0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46704"/>
            <a:ext cx="5486400" cy="132588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91440" cy="13258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19856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B45309"/>
                </a:solidFill>
                <a:latin typeface="Calibri"/>
              </a:rPr>
              <a:t>Working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94176"/>
            <a:ext cx="512064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2.0 is a whole number of wavelengths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346704"/>
            <a:ext cx="5577840" cy="13258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346704"/>
            <a:ext cx="91440" cy="1325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419856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Answer + unit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694176"/>
            <a:ext cx="5212080" cy="8869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in phase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00600"/>
            <a:ext cx="1124712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475569"/>
                </a:solidFill>
                <a:latin typeface="Calibri"/>
              </a:rPr>
              <a:t>A crest and the neighbouring trough 0.75 cm apart: 0.75 / 1.5 = 0.5, so they are in antiphase.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13  / 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Path difference preview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91440" cy="24368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nλ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Constructive interference — the waves arrive in phase.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960120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81344" y="960120"/>
            <a:ext cx="91440" cy="24368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106424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(n + ½)λ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1490472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Destructive interference — the waves arrive in antiphase.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598164"/>
            <a:ext cx="91440" cy="2436876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You will use this in Young’s slits and diffraction-grating lessons.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598164"/>
            <a:ext cx="5522976" cy="2436876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3598164"/>
            <a:ext cx="91440" cy="2436876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3744468"/>
            <a:ext cx="5111496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 a:ea="Calibri">
                <a:solidFill>
                  <a:srgbClr val="004D40"/>
                </a:solidFill>
                <a:latin typeface="Calibri"/>
              </a:rPr>
              <a:t>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28516"/>
            <a:ext cx="5111496" cy="17602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Use displacement, not ‘the waves add energy and vanish’.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14  / 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Everyday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Longitudinal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Speaking and hearing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Ultrasound scans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Sonar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Earthquake P-waves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Transverse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Visible light and radio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Microwaves in ovens and Wi-Fi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Polarising sunglasses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Waves on musical strings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15  / 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Media and wave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47120" cy="65836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6898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076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Needs a medium?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2540" y="1115568"/>
            <a:ext cx="2811780" cy="5120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Typical speed order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Sound in 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213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Longitudinal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5692" y="1755648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10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2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m 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22576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Ripples on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213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Transverse (surface)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5391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5692" y="2414016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10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0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m 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11247120" cy="658368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Light in vacuum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213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Transverse 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5692" y="3072384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3.00 × 10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8</a:t>
            </a:r>
            <a:r>
              <a:rPr sz="1300" b="0" i="0" a:ea="Calibri">
                <a:solidFill>
                  <a:srgbClr val="0F172A"/>
                </a:solidFill>
                <a:latin typeface="Calibri"/>
              </a:rPr>
              <a:t> m s</a:t>
            </a:r>
            <a:r>
              <a:rPr sz="1300" b="0" i="0" a:ea="Calibri" baseline="30000">
                <a:solidFill>
                  <a:srgbClr val="0F172A"/>
                </a:solidFill>
                <a:latin typeface="Calibri"/>
              </a:rPr>
              <a:t>−1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39312"/>
            <a:ext cx="11247120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Waves on a 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4213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Transverse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Yes (the string)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5692" y="3730752"/>
            <a:ext cx="2702052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 a:ea="Calibri">
                <a:solidFill>
                  <a:srgbClr val="0F172A"/>
                </a:solidFill>
                <a:latin typeface="Calibri"/>
              </a:rPr>
              <a:t>depends on tension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16  / 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Earthquakes — why the distinction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50292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5029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009688"/>
                </a:solidFill>
                <a:latin typeface="Calibri"/>
              </a:rPr>
              <a:t>P-waves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Longitudinal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Travel through solids and liquids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Faster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Detected on the far side of the Earth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502920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5029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170432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a:ea="Calibri">
                <a:solidFill>
                  <a:srgbClr val="1E3A5F"/>
                </a:solidFill>
                <a:latin typeface="Calibri"/>
              </a:rPr>
              <a:t>S-waves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Transverse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not travel through the liquid outer core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Slower</a:t>
            </a:r>
          </a:p>
          <a:p>
            <a:pPr algn="l">
              <a:spcAft>
                <a:spcPts val="1000"/>
              </a:spcAft>
            </a:pPr>
            <a:r>
              <a:rPr sz="1500" b="0" i="0" a:ea="Calibri">
                <a:solidFill>
                  <a:srgbClr val="0F172A"/>
                </a:solidFill>
                <a:latin typeface="Calibri"/>
              </a:rPr>
              <a:t>•  </a:t>
            </a:r>
            <a:r>
              <a:rPr sz="1500" b="0" i="0" a:ea="Calibri">
                <a:solidFill>
                  <a:srgbClr val="0F172A"/>
                </a:solidFill>
                <a:latin typeface="Calibri"/>
              </a:rPr>
              <a:t>Do travel through the solid mantle — do not say they ‘cannot travel through the Earth’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17  / 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743200" cy="31089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74320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STUDENT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Classify and justify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21792"/>
            <a:ext cx="25603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 a:ea="Calibri">
                <a:solidFill>
                  <a:srgbClr val="B45309"/>
                </a:solidFill>
                <a:latin typeface="Calibri"/>
              </a:rPr>
              <a:t>8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9304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289304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For each: ultrasound scan, microwave oven, stadium Mexican wave, earthquake P-wave, stadium sound 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00528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846832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3408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46832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transverse / longitudinal / model only, and name the oscillating particle or 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8056"/>
            <a:ext cx="11247120" cy="14660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404360"/>
            <a:ext cx="420624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0936"/>
            <a:ext cx="42062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04360"/>
            <a:ext cx="10195560" cy="12466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Identify one that can be polarised and one that cannot.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18  / 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Classification checkpoints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1252728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9304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52728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Ultrasound: longitudinal pressure wave in tissue.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8578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" y="2448306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484882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8306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Microwave: transverse electromagnetic wave — can be polarised.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34156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" y="3643884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680460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43884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Mexican wave: a useful model of a transverse pulse, not a physics wave in a medium — treat carefully.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29734"/>
            <a:ext cx="11247120" cy="112242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4839462"/>
            <a:ext cx="365760" cy="36576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876038"/>
            <a:ext cx="365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 a:ea="Calibri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839462"/>
            <a:ext cx="10332720" cy="957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P-wave: longitudinal. Stadium sound: longitudinal. Sound cannot be polarised.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19  / 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Common misconceptions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Sound is a transverse wave because we draw it as a sine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05840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005840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53312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The sine curve is a graph of pressure or displacement; the oscillation is still parallel to travel.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18816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18816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Waves that cancel are destroyed forever.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718816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718816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10256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66288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Each wave continues; cancellation is local and temporary.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1792"/>
            <a:ext cx="5532120" cy="1603248"/>
          </a:xfrm>
          <a:prstGeom prst="round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31792"/>
            <a:ext cx="82296" cy="1603248"/>
          </a:xfrm>
          <a:prstGeom prst="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9F1239"/>
                </a:solidFill>
                <a:latin typeface="Calibri"/>
              </a:rPr>
              <a:t>Not quite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All waves need air.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31792"/>
            <a:ext cx="5532120" cy="16032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4431792"/>
            <a:ext cx="82296" cy="16032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523232"/>
            <a:ext cx="507492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 a:ea="Calibri">
                <a:solidFill>
                  <a:srgbClr val="047857"/>
                </a:solidFill>
                <a:latin typeface="Calibri"/>
              </a:rPr>
              <a:t>Instead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779264"/>
            <a:ext cx="5074920" cy="1146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0F172A"/>
                </a:solidFill>
                <a:latin typeface="Calibri"/>
              </a:rPr>
              <a:t>Electromagnetic waves do not.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20  / 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3291840" cy="310896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29184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EXAM-STYLE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practice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4 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Describe the difference between a transverse wave and a longitudinal wave. Give one example of 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55008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6528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State the principle of superposition.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6176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6176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6176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56176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52816" y="1188720"/>
            <a:ext cx="3651504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9F12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84336" y="1426464"/>
            <a:ext cx="2645664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2 marks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3984" y="2011680"/>
            <a:ext cx="32491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Explain why sound waves from a loudspeaker cannot be polarised.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3984" y="3520440"/>
            <a:ext cx="324916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475569"/>
                </a:solidFill>
                <a:latin typeface="Calibri"/>
              </a:rPr>
              <a:t>Write a full-sentence answer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53984" y="3858768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53984" y="4151376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53984" y="4443984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53984" y="4736592"/>
            <a:ext cx="3249168" cy="158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42432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 a:ea="Calibri">
                <a:solidFill>
                  <a:srgbClr val="9F1239"/>
                </a:solidFill>
                <a:latin typeface="Calibri"/>
              </a:rPr>
              <a:t>Think first — answers are on the next slide.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21  / 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201168"/>
            <a:ext cx="2011680" cy="310896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2011680" cy="2834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 a:ea="Calibri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5216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 a:ea="Calibri">
                <a:solidFill>
                  <a:srgbClr val="004D40"/>
                </a:solidFill>
                <a:latin typeface="Calibri"/>
              </a:rPr>
              <a:t>Exam-style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Transverse: oscillation perpendicular to energy transfer, e.g. light or water waves. Longitudinal: oscillation parallel to energy transfer, e.g. sound in air.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5008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37888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7888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6176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When waves meet, the resultant displacement equals the sum of the individual displacements.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2816" y="1188720"/>
            <a:ext cx="3651504" cy="4709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35696" y="1371600"/>
            <a:ext cx="457200" cy="45720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696" y="1426464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3984" y="2011680"/>
            <a:ext cx="3249168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 a:ea="Calibri">
                <a:solidFill>
                  <a:srgbClr val="0F172A"/>
                </a:solidFill>
                <a:latin typeface="Calibri"/>
              </a:rPr>
              <a:t>Polarisation requires a transverse oscillation with a direction that can be filtered. Sound is longitudinal, so there is no such direction to filter.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22  / 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Plenary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a:ea="Calibri">
                <a:solidFill>
                  <a:srgbClr val="475569"/>
                </a:solidFill>
                <a:latin typeface="Calibri"/>
              </a:rPr>
              <a:t>30–60 seconds each. No notes if you can avoid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Act: model a longitudinal compression, then a transverse oscillation.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0080" y="1463040"/>
            <a:ext cx="45720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Write one sentence on superposition using the word displacement.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7200" y="1280160"/>
            <a:ext cx="3627120" cy="470916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60080" y="1463040"/>
            <a:ext cx="457200" cy="457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1536192"/>
            <a:ext cx="4572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080" y="2103120"/>
            <a:ext cx="3261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Name one wave that can be polarised and one that cannot.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23  / 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a:ea="Calibri">
                <a:solidFill>
                  <a:srgbClr val="004D40"/>
                </a:solidFill>
                <a:latin typeface="Calibri"/>
              </a:rPr>
              <a:t>Independent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930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4416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0759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Complete the Wave Properties worksheet.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34086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35915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Revise progressive-wave calculations so the two lessons 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11247120" cy="932688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92424"/>
            <a:ext cx="45720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 i="0" a:ea="Calibri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10712"/>
            <a:ext cx="10149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 a:ea="Calibri">
                <a:solidFill>
                  <a:srgbClr val="0F172A"/>
                </a:solidFill>
                <a:latin typeface="Calibri"/>
              </a:rPr>
              <a:t>Later Unit 1 lessons apply these ideas to diffraction, interference and refraction.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jdscience-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501384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6928" y="651052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a:ea="Calibri">
                <a:solidFill>
                  <a:srgbClr val="FFFFFF"/>
                </a:solidFill>
                <a:latin typeface="Calibri"/>
              </a:rPr>
              <a:t>jdscience.co.uk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6510528"/>
            <a:ext cx="6766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 a:ea="Calibri">
                <a:solidFill>
                  <a:srgbClr val="CCFBF1"/>
                </a:solidFill>
                <a:latin typeface="Calibri"/>
              </a:rPr>
              <a:t>Wave properties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10528"/>
            <a:ext cx="1737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 i="0" a:ea="Calibri">
                <a:solidFill>
                  <a:srgbClr val="FFFFFF"/>
                </a:solidFill>
                <a:latin typeface="Calibri"/>
              </a:rPr>
              <a:t>24  / 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BTEC Unit 1 Physics: Wave Properties</dc:title>
  <dc:subject>BTEC Unit 1 Physics</dc:subject>
  <dc:creator>JDScience</dc:creator>
  <cp:keywords>BTEC Unit 1 Physics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Teaching resource</cp:category>
</cp:coreProperties>
</file>