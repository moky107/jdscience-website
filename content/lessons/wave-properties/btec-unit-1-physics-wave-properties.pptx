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796B"/>
                </a:solidFill>
                <a:latin typeface="Calibri"/>
              </a:rPr>
              <a:t>BTEC Level 3  ·  Applied Science  ·  Unit 1  ·  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804672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 i="0" a:ea="Calibri">
                <a:solidFill>
                  <a:srgbClr val="004D40"/>
                </a:solidFill>
                <a:latin typeface="Calibri"/>
              </a:rPr>
              <a:t>BTEC Unit 1 Physics: Wave Properties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786384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475569"/>
                </a:solidFill>
                <a:latin typeface="Calibri"/>
              </a:rPr>
              <a:t>Transverse and longitudinal waves, phase, superposition and everyday examples.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23560"/>
            <a:ext cx="7863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009688"/>
                </a:solidFill>
                <a:latin typeface="Calibri"/>
              </a:rPr>
              <a:t>PowerPoint teaching resource</a:t>
            </a:r>
          </a:p>
        </p:txBody>
      </p:sp>
      <p:pic>
        <p:nvPicPr>
          <p:cNvPr id="8" name="Picture 7" descr="long-vs-tr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554480"/>
            <a:ext cx="2926080" cy="2926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  / 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475569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517904"/>
            <a:ext cx="384048" cy="384048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55448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53619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Distinguish transverse and longitudinal waves with examples.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4884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295144"/>
            <a:ext cx="384048" cy="384048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33172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31343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Describe compressions, rarefactions, crests and troughs.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92608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3072384"/>
            <a:ext cx="384048" cy="384048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10896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067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Explain what is meant by phase and path difference.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0332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849624"/>
            <a:ext cx="384048" cy="384048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88620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86791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State the principle of superposition.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8056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4626864"/>
            <a:ext cx="384048" cy="384048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66344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64515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Apply these ideas to sound, water waves and electromagnetic waves.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  / 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108960" cy="329184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DO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Prior knowledge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Is light transverse or longitudinal?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Is sound in air transverse or longitudinal?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What is transferred by a wave?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Name one piece of evidence that light is a wave.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  / 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194560" cy="329184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Retrieval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Transverse — oscillations of the electric and magnetic fields are perpendicular to the direction of travel.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Longitudinal — air particles oscillate parallel to the direction of energy transfer.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Energy.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Interference / diffraction / polarisation of light.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4  / 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FFFFFF"/>
                </a:solidFill>
                <a:latin typeface="Calibri"/>
              </a:rPr>
              <a:t>Two families of wave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 a:ea="Calibri">
                <a:solidFill>
                  <a:srgbClr val="CCFBF1"/>
                </a:solidFill>
                <a:latin typeface="Calibri"/>
              </a:rPr>
              <a:t>Direction of oscillation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5  / 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Transverse and longitudinal</a:t>
            </a:r>
          </a:p>
        </p:txBody>
      </p:sp>
      <p:pic>
        <p:nvPicPr>
          <p:cNvPr id="4" name="Picture 3" descr="long-vs-tr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603504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0" y="11430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Transverse: oscillation perpendicular to energy transfer.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Examples: water surface waves, waves on a string, all electromagnetic waves.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Longitudinal: oscillation parallel to energy transfer.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Examples: sound in air, P-waves from earthquakes, compression waves in a slinky.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715000"/>
            <a:ext cx="6035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475569"/>
                </a:solidFill>
                <a:latin typeface="Calibri"/>
              </a:rPr>
              <a:t>Original comparison of oscillation direction.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6  / 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Language for each type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5532120" cy="49377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91440" cy="49377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4D40"/>
                </a:solidFill>
                <a:latin typeface="Calibri"/>
              </a:rPr>
              <a:t>Transverse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Crest — maximum positive displacement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Trough — maximum negative displacement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Amplitude — height from equilibrium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Can be polarised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51560"/>
            <a:ext cx="5532120" cy="4937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51560"/>
            <a:ext cx="91440" cy="4937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2344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Longitudinal words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7373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Compression — region of higher pressure / closer particles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Rarefaction — region of lower pressure / more spaced particles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Wavelength — compression to next compression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Cannot be polarised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7  / 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Electromagnetic waves are transverse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They do not need a medium.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They travel at 3.00 × 108 m s−1 in vacuum.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They form a spectrum from radio waves to gamma rays.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Polarising filters work because the oscillations have a direction.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Sound cannot be polarised, which is evidence that it is longitudinal.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8  / 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FFFFFF"/>
                </a:solidFill>
                <a:latin typeface="Calibri"/>
              </a:rPr>
              <a:t>Phase and superposition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 a:ea="Calibri">
                <a:solidFill>
                  <a:srgbClr val="CCFBF1"/>
                </a:solidFill>
                <a:latin typeface="Calibri"/>
              </a:rPr>
              <a:t>How waves combine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9  / 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Phase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Two points are in phase if they reach maxima and minima together.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Points separated by a whole number of wavelengths are in phase.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Points separated by an odd number of half-wavelengths are in antiphase.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Phase difference can be given in degrees or radians (360° = 2π rad = one cycle).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Path difference is the extra distance one wave travels compared with another.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10  / 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Principle of superposition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When two waves meet, the resultant displacement is the vector sum of the individual displacements.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 waves then continue as if they had not met.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Constructive superposition: displacements in the same direction add.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Destructive superposition: opposite displacements cancel.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This idea is the basis of interference and of stationary waves (later topics).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11  / 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Worked example — phase from a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Two crests are 3.0 cm apart on a ripple tank photograph. The wavelength is 1.5 cm.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Separation / λ = 3.0 / 1.5 = 2.0, so they are in phase.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 crest and the neighbouring trough are 0.75 cm apart: 0.75 / 1.5 = 0.5, so they are in antiphase.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Always compare the separation with λ, not with amplitude.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If the graph is against time, use T in the same way.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12  / 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834640" cy="32918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8346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STUDENT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Classify and justify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0" y="713232"/>
            <a:ext cx="2377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 a:ea="Calibri">
                <a:solidFill>
                  <a:srgbClr val="B45309"/>
                </a:solidFill>
                <a:latin typeface="Calibri"/>
              </a:rPr>
              <a:t>8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For each: ultrasound scan, microwave oven, stadium Mexican wave, earthquake P-wave, stadium sound system.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State transverse / longitudinal / not a physical wave, and name the oscillating 'particle' or field.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Identify one that can be polarised and one that cannot.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13  / 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194560" cy="329184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Classification checkpoints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Ultrasound: longitudinal pressure wave in tissue.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Microwave: transverse electromagnetic wave.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Mexican wave: a useful model of a transverse pulse along people, not a physics wave in a medium in the usual sense — treat carefully.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P-wave: longitudinal. Stadium sound: longitudinal sound.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Microwaves can be polarised; sound cannot.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14  / 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Media and wave type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56692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07008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Wave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207008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1207008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Needs a medium?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207008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Typical speed order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64208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73936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Sound in air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773936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Longitudinal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1773936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Yes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1773936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10^2 m s−1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31136"/>
            <a:ext cx="11155680" cy="56692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340864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Ripples on water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340864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Transverse (surface)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340864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Yes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2340864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10^0 m s−1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798064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907792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Light in vacuum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2907792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Transverse 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2907792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2907792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10^8 m s−1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364992"/>
            <a:ext cx="11155680" cy="56692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474720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Waves on a string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3474720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Transverse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3474720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Yes (the string)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3474720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depends on tension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15  / 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Common misconceptions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5532120" cy="1188720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91440" cy="118872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6128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3560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Sound is a transverse wave because we draw it as a sine curve.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51560"/>
            <a:ext cx="5532120" cy="118872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51560"/>
            <a:ext cx="91440" cy="11887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16128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43560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The sine curve is a graph of pressure or displacement; the oscillation is still parallel to travel.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77440"/>
            <a:ext cx="5532120" cy="1188720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377440"/>
            <a:ext cx="91440" cy="118872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48716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76148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Waves that cancel are destroyed forever.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377440"/>
            <a:ext cx="5532120" cy="118872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377440"/>
            <a:ext cx="91440" cy="11887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48716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76148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Each wave continues; cancellation is local and temporary.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703320"/>
            <a:ext cx="5532120" cy="1188720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703320"/>
            <a:ext cx="91440" cy="118872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81304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08736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All waves need air.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703320"/>
            <a:ext cx="5532120" cy="118872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703320"/>
            <a:ext cx="91440" cy="11887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81304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08736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Electromagnetic waves do not.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16  / 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Key terminology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56692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07008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1207008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Meaning you should be able to write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73936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Transverse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773936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Oscillation perpendicular to energy transfer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231136"/>
            <a:ext cx="11155680" cy="56692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340864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Longitudinal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340864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Oscillation parallel to energy transfer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798064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07792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In phase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907792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Points that reach maxima together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364992"/>
            <a:ext cx="11155680" cy="56692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474720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Superposition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3474720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Resultant displacement is the sum of individual displacements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931920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041648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Polarisation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4041648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Restricting a transverse oscillation to one plane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17  / 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Teacher explanation — why polarisation is a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Only transverse waves have a direction of oscillation that can be filtered.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 Polaroid filter transmits oscillations in one plane and absorbs the rest.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Two filters at 90° cut out almost all the light.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Sound has no such plane, so it cannot be polarised.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This is evidence, not just a definition, that light is transverse and sound is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18  / 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Path difference and interference preview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If two waves from the same source travel different distances, there is a path difference.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Path difference of nλ → constructive interference (in phase).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Path difference of (n + ½)λ → destructive interference (antiphase).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You will use this in Young's slits and diffraction-grating lessons.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Superposition is the reason bright and dark fringes exist.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19  / 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Everyday applications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5532120" cy="49377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91440" cy="49377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4D40"/>
                </a:solidFill>
                <a:latin typeface="Calibri"/>
              </a:rPr>
              <a:t>Longitudinal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Speaking and hearing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Ultrasound scans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Sonar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Earthquake P-waves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51560"/>
            <a:ext cx="5532120" cy="4937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51560"/>
            <a:ext cx="91440" cy="4937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2344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Transverse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7373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Visible light and radio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Microwaves in ovens and Wi-Fi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Polarising sunglasses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Waves on musical strings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20  / 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108960" cy="329184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Phase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Points are 0.75 m apart on a wave with λ = 0.50 m. What is the path difference in wavelengths, and are they in phase?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Describe the resultant if two equal crests overlap.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Why is a slinky useful for modelling both wave types?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21  / 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194560" cy="329184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Phase-check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0.75 / 0.50 = 1.5 λ, so they are in antiphase / not in phase.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Constructive superposition — a larger crest (double if amplitudes are equal).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You can stretch it sideways (transverse) or push along its length (longitudinal).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22  / 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Earthquakes — a useful pair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P-waves are longitudinal and travel through solids and liquids.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S-waves are transverse and do not travel through the liquid outer core.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This is a real-world reason the distinction matters.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You do not need full seismology, only the wave-type contrast.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Do not say S-waves 'cannot travel through the Earth' — they travel through the solid mantle.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23  / 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How to answer a 4-mark structure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7040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For 'describe the difference', write both types and both directions of oscillation.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Always add an example if the mark scheme is likely to require one.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For superposition, use the word displacement, not 'the waves add energy and vanish'.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097280"/>
            <a:ext cx="3931920" cy="484632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0" y="1097280"/>
            <a:ext cx="91440" cy="4846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280160"/>
            <a:ext cx="3474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Mark-winning habit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783080"/>
            <a:ext cx="3474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Name the particles.</a:t>
            </a:r>
          </a:p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Name the forces.</a:t>
            </a:r>
          </a:p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Link force to the property.</a:t>
            </a:r>
          </a:p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Avoid 'it' without a noun.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24  / 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108960" cy="329184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EXAM-STYLE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Exam-style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Describe the difference between a transverse wave and a longitudinal wave. Give one example of each. (4)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State the principle of superposition. (2)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Explain why sound waves from a loudspeaker cannot be polarised.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25  /  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194560" cy="329184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Exam-style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Transverse: oscillation perpendicular to energy transfer, e.g. light or water waves. Longitudinal: oscillation parallel to energy transfer, e.g. sound in air.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When waves meet, the resultant displacement equals the sum of the individual displacements.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Polarisation requires a transverse oscillation with a direction that can be filtered. Sound is longitudinal, so there is no such direction to filter.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26  / 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Plenary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Act: students stand in a line and model a longitudinal compression, then a transverse oscillation.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Write one sentence on superposition.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Name one wave that can be polarised.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27  / 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Independent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Complete the wave-properties worksheet.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Revise progressive-wave calculations so the two lessons connect.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Later Unit 1 lessons apply these ideas to diffraction, interference and refraction.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28  / 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BTEC Unit 1 Physics: Wave Properties</dc:title>
  <dc:subject>BTEC Unit 1 Physics</dc:subject>
  <dc:creator>JDScience</dc:creator>
  <cp:keywords>BTEC Unit 1 Physics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Teaching resource</cp:category>
</cp:coreProperties>
</file>