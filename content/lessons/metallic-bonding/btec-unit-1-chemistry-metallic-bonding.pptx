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796B"/>
                </a:solidFill>
                <a:latin typeface="Calibri"/>
              </a:rPr>
              <a:t>BTEC Level 3  ·  Applied Science  ·  Unit 1  ·  Chemistry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804672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 i="0" a:ea="Calibri">
                <a:solidFill>
                  <a:srgbClr val="004D40"/>
                </a:solidFill>
                <a:latin typeface="Calibri"/>
              </a:rPr>
              <a:t>BTEC Unit 1 Chemistry: Metallic Bonding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786384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475569"/>
                </a:solidFill>
                <a:latin typeface="Calibri"/>
              </a:rPr>
              <a:t>Positive ions, delocalised electrons and the properties of metals.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23560"/>
            <a:ext cx="7863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009688"/>
                </a:solidFill>
                <a:latin typeface="Calibri"/>
              </a:rPr>
              <a:t>PowerPoint teaching resource</a:t>
            </a:r>
          </a:p>
        </p:txBody>
      </p:sp>
      <p:pic>
        <p:nvPicPr>
          <p:cNvPr id="8" name="Picture 7" descr="metallic-lat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554480"/>
            <a:ext cx="2926080" cy="2926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  / 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475569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17904"/>
            <a:ext cx="384048" cy="384048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55448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53619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Describe metallic bonding as the attraction between positive metal ions and a sea of delocalised electrons.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4884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295144"/>
            <a:ext cx="384048" cy="384048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33172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1343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Explain why metals conduct electricity and heat.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92608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3072384"/>
            <a:ext cx="384048" cy="384048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10896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067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Explain malleability and ductility using the metallic lattice.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0332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849624"/>
            <a:ext cx="384048" cy="384048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88620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86791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Suggest why different metals have different melting points and strengths.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8056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4626864"/>
            <a:ext cx="384048" cy="384048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66344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64515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Compare metallic, ionic and covalent structures.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  / 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108960" cy="329184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Prior knowledge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Are metal atoms more likely to lose or gain electrons?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Why does solid sodium chloride not conduct electricity?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Name two physical properties common to most metals.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What does delocalised mean in everyday language?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  / 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Retrieval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Lose electrons, forming positive ions.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Its ions are not free to move.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Shiny, conduct heat and electricity, malleable, ductile, high melting points (most).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Not fixed in one place; free to move through the structure.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4  / 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FFFFFF"/>
                </a:solidFill>
                <a:latin typeface="Calibri"/>
              </a:rPr>
              <a:t>The metallic lattice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 a:ea="Calibri">
                <a:solidFill>
                  <a:srgbClr val="CCFBF1"/>
                </a:solidFill>
                <a:latin typeface="Calibri"/>
              </a:rPr>
              <a:t>Ions plus a sea of electrons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5  / 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Metallic structure</a:t>
            </a:r>
          </a:p>
        </p:txBody>
      </p:sp>
      <p:pic>
        <p:nvPicPr>
          <p:cNvPr id="4" name="Picture 3" descr="metallic-lat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603504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11430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Metal atoms lose their outer electrons into a shared cloud.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The remaining particles are positive ions packed closely.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Delocalised electrons attract every ion and bind the lattice.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The attraction is strong and non-directional.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715000"/>
            <a:ext cx="6035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475569"/>
                </a:solidFill>
                <a:latin typeface="Calibri"/>
              </a:rPr>
              <a:t>Original schematic of cations in a delocalised electron cloud.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6  / 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A careful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Metallic bonding is the electrostatic attraction between positive metal ions and delocalised electrons.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It is not the same as ionic bonding: there are no anions.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It is not covalent bonding: electrons are not shared in localised pairs between two atoms.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 number of delocalised electrons per atom is often equal to the number of outer-shell electrons.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More delocalised electrons and higher ionic charge generally strengthen the bond.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7  / 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Explaining metallic properties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532120" cy="49377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91440" cy="49377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4D40"/>
                </a:solidFill>
                <a:latin typeface="Calibri"/>
              </a:rPr>
              <a:t>Electrical conductivity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Delocalised electrons are mobile charged particles.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An applied potential difference makes them drift.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The solid therefore conducts.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Molten metals also conduct.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51560"/>
            <a:ext cx="5532120" cy="4937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51560"/>
            <a:ext cx="91440" cy="4937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Thermal conductivity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Electrons transfer kinetic energy rapidly through the lattice.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Ions also vibrate and pass energy to neighbours.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This is why a metal spoon heats quickly in a hot drink.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Name electrons in a full explanation.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8  / 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Malleability and ductility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Layers of positive ions can slide over one another when a force is applied.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 delocalised electrons continue to hold the ions together after the slide.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 metal therefore changes shape instead of shattering.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Malleable: can be hammered into sheets. Ductile: can be drawn into wires.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Ionic crystals shatter because sliding lines up like charges.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9  / 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Strength and melting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Group 1 metals are relatively soft and have lower melting points.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They contribute only one delocalised electron per atom and form 1+ ions.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Transition metals often have higher melting points and are harder.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They can contribute more electrons and have stronger metallic bonding.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Alloys are harder than pure metals because different-sized atoms prevent layers sliding easily.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10  / 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834640" cy="32918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8346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STUDENT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Three-structure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0" y="713232"/>
            <a:ext cx="2377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 a:ea="Calibri">
                <a:solidFill>
                  <a:srgbClr val="B45309"/>
                </a:solidFill>
                <a:latin typeface="Calibri"/>
              </a:rPr>
              <a:t>12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Draw a three-column table: ionic, simple covalent, metallic.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For each, state the particles present, the bonding, melting point (high/low), and whether the solid conducts.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Add one example to each column.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Write one sentence explaining the conductivity difference between copper and solid sodium chloride.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11  / 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Comparison checkpoints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Ionic: ions; electrostatic attraction; high m.p.; solid does not conduct.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Simple covalent: molecules; covalent bonds inside, weak forces between; low m.p.; does not conduct.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Metallic: cations + delocalised electrons; metallic bonding; usually high m.p.; solid does conduct.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Copper has mobile electrons; solid NaCl does not have mobile 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12  / 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532120" cy="1188720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91440" cy="118872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6128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3560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Metals conduct because positive ions flow through the wire.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51560"/>
            <a:ext cx="5532120" cy="118872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51560"/>
            <a:ext cx="91440" cy="11887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16128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43560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The ions stay in the lattice; electrons move.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77440"/>
            <a:ext cx="5532120" cy="1188720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377440"/>
            <a:ext cx="91440" cy="118872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48716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76148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Metallic bonding is a type of covalent bonding.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377440"/>
            <a:ext cx="5532120" cy="118872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377440"/>
            <a:ext cx="91440" cy="11887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48716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76148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Electrons are delocalised, not shared as localised pairs.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703320"/>
            <a:ext cx="5532120" cy="1188720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703320"/>
            <a:ext cx="91440" cy="118872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81304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08736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All metals have very high melting points.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703320"/>
            <a:ext cx="5532120" cy="118872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703320"/>
            <a:ext cx="91440" cy="11887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81304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8736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Mercury is liquid at room temperature; Group 1 metals melt relatively easily.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13  / 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Key terminology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56692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0700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120700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Meaning you should be able to write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73936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Delocalised electron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773936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Electron not fixed to one atom; free to move through the lattice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31136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340864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Metallic bonding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340864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Attraction between metal cations and delocalised electrons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98064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07792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Malleable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907792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Can be hammered into sheets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364992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474720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Ductile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3474720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Can be drawn into wires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931920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04164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Alloy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404164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Mixture of a metal with other elements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14  / 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Teacher explanation — why electrons delocalise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Metal atoms have relatively low ionisation energies and pack closely.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Outer electrons are not tightly held by one nucleus.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They occupy a shared 'sea' belonging to the whole lattice.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 leftover cores are positive ions.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 attraction between the sea and the ions is the metallic bond.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15  / 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Property, particle, explanation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56692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07008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Property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1480" y="1207008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Mobile particle?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40040" y="1207008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One-sentence explanation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64208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73936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Conducts as a solid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21480" y="1773936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Yes — electrons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40040" y="1773936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Delocalised electrons drift in a potential difference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231136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340864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High melting point (most)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1480" y="2340864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No (ions stay packed)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40040" y="2340864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Strong attraction throughout the lattice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98064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07792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Malleable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21480" y="2907792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Electrons stay after sliding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0040" y="2907792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Layers of ions slide; electrons still bind them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364992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474720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Shiny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21480" y="3474720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40040" y="3474720"/>
            <a:ext cx="371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Electrons interact with light at the surface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16  / 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Alloys — why they are harder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In a pure metal the ions are the same size, so layers slide easily.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In an alloy, atoms of a different size distort the layers.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More force is needed to make the layers slide, so the alloy is harder.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Steel (iron plus carbon and other elements) is the everyday example.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Solder and brass are other examples you can name.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17  / 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Compare three solids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532120" cy="49377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91440" cy="49377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4D40"/>
                </a:solidFill>
                <a:latin typeface="Calibri"/>
              </a:rPr>
              <a:t>Copper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Cations + delocalised electrons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Solid conducts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Malleable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Used for wires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51560"/>
            <a:ext cx="5532120" cy="4937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51560"/>
            <a:ext cx="91440" cy="4937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Sodium chloride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Na+ and Cl− ions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Solid does not conduct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Brittle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Conducts when molten or dissolved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18  / 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108960" cy="329184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Metallic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Name the charged particles in solid sodium and in solid sodium chloride.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Which of those solids conducts, and why?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Why is 'metals have ionic bonding' incorrect?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19  / 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Metallic-check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Sodium: Na+ and delocalised electrons. Sodium chloride: Na+ and Cl−.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Solid sodium conducts (mobile electrons). Solid sodium chloride does not (ions fixed).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Ionic bonding requires anions as well as cations. Metals have no anions.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20  / 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834640" cy="32918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8346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STUDENT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Write a six-mark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0" y="713232"/>
            <a:ext cx="2377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 a:ea="Calibri">
                <a:solidFill>
                  <a:srgbClr val="B45309"/>
                </a:solidFill>
                <a:latin typeface="Calibri"/>
              </a:rPr>
              <a:t>8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Question: Compare the structures of copper, diamond and sodium chloride and use them to explain differences in electrical conductivity.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Plan three short paragraphs: particles present; solid conductivity; one extra property.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Swap plans and check that each paragraph names particles.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21  / 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How to answer a 4-mark structure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7040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Write 'delocalised electrons' — 'free electrons' is weaker.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Do not say metal ions flow along the wire.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For alloys, mention different-sized atoms and layers that cannot slide easily.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097280"/>
            <a:ext cx="3931920" cy="484632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0" y="1097280"/>
            <a:ext cx="91440" cy="4846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280160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Mark-winning habit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78308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Name the particles.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Name the forces.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Link force to the property.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Avoid 'it' without a noun.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22  / 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Uses that follow from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Electrical wiring: copper is ductile and a good conductor.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Saucepans: metals conduct heat quickly to the food.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Bridges and frames: strong metallic bonding and, in alloys, hardness.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 thin foil still conducts because the electron sea remains even in a thin sheet.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Link every use back to mobile electrons or sliding layers — that is the scientific point.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23  / 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Mercury — a useful exception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Mercury is a metal that is liquid at room temperature.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Its metallic bonding is relatively weak, so the ions can move past one another.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It still conducts electricity because delocalised electrons remain.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Use it to stop students writing 'all metals have high melting points' as a law.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Health and safety: mercury is toxic — treat it as a property example, not a classroom demo.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24  / 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108960" cy="329184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EXAM-STYLE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Exam-style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Describe the bonding in solid magnesium. (3)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Explain why magnesium conducts electricity as a solid but magnesium oxide does not. (4)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Explain why metals can be drawn into wires. (3)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25  / 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Exam-style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Magnesium consists of Mg2+ ions packed in a lattice. Outer electrons are delocalised. Electrostatic attraction between ions and electrons is metallic bonding.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Mg has delocalised electrons that can move and carry charge. MgO is ionic; in the solid the ions are not free to move, so it does not conduct.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Layers of ions can slide. Delocalised electrons continue to attract the ions, so the metal does not break.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26  / 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Plenary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Complete: 'Metallic bonding is the attraction between … and …'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Give one property explained by sliding layers and one explained by mobile electrons.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State one difference between an alloy and a pure metal in terms of structure.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27  / 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Independent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Complete the metallic bonding worksheet.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Revise all three bonding types together.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Preview intermolecular forces: why CO2 is a gas even though it has strong C=O bonds.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28  / 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BTEC Unit 1 Chemistry: Metallic Bonding</dc:title>
  <dc:subject>BTEC Unit 1 Chemistry</dc:subject>
  <dc:creator>JDScience</dc:creator>
  <cp:keywords>BTEC Unit 1 Chemistry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Teaching resource</cp:category>
</cp:coreProperties>
</file>