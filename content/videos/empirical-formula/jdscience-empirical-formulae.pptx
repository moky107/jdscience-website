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E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CE"/>
                </a:solidFill>
                <a:latin typeface="Calibri"/>
              </a:rPr>
              <a:t>JD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566928"/>
            <a:ext cx="11612880" cy="5815584"/>
          </a:xfrm>
          <a:prstGeom prst="rect">
            <a:avLst/>
          </a:prstGeom>
          <a:solidFill>
            <a:srgbClr val="122A44"/>
          </a:solidFill>
          <a:ln w="15875">
            <a:solidFill>
              <a:srgbClr val="2A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0" y="6473952"/>
            <a:ext cx="12191695" cy="384048"/>
          </a:xfrm>
          <a:prstGeom prst="round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9"/>
                </a:solidFill>
                <a:latin typeface="Calibri"/>
              </a:rPr>
              <a:t>GCSE CHEMISTRY   ·   EMPIRICAL FORMULAE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288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4F7FB"/>
                </a:solidFill>
                <a:latin typeface="Calibri"/>
              </a:rPr>
              <a:t>01  /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Empirical Formulae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B4C9"/>
                </a:solidFill>
                <a:latin typeface="Calibri"/>
              </a:rPr>
              <a:t>Building on relative atomic mass and relative formula mass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27632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8366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What is an empirical formula?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24328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Calculating from masses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21024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7705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Calculating from percentages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17720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737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Two questions to practise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E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CE"/>
                </a:solidFill>
                <a:latin typeface="Calibri"/>
              </a:rPr>
              <a:t>JD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566928"/>
            <a:ext cx="11612880" cy="5815584"/>
          </a:xfrm>
          <a:prstGeom prst="rect">
            <a:avLst/>
          </a:prstGeom>
          <a:solidFill>
            <a:srgbClr val="122A44"/>
          </a:solidFill>
          <a:ln w="15875">
            <a:solidFill>
              <a:srgbClr val="2A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0" y="6473952"/>
            <a:ext cx="12191695" cy="384048"/>
          </a:xfrm>
          <a:prstGeom prst="round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9"/>
                </a:solidFill>
                <a:latin typeface="Calibri"/>
              </a:rPr>
              <a:t>GCSE CHEMISTRY   ·   EMPIRICAL FORMULAE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288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4F7FB"/>
                </a:solidFill>
                <a:latin typeface="Calibri"/>
              </a:rPr>
              <a:t>02  /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an empirical formula?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B4C9"/>
                </a:solidFill>
                <a:latin typeface="Calibri"/>
              </a:rPr>
              <a:t>The simplest whole-number ratio of atoms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27632"/>
            <a:ext cx="11155680" cy="868680"/>
          </a:xfrm>
          <a:prstGeom prst="roundRect">
            <a:avLst/>
          </a:prstGeom>
          <a:solidFill>
            <a:srgbClr val="243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8366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C247"/>
                </a:solidFill>
                <a:latin typeface="Calibri"/>
              </a:rPr>
              <a:t>Empirical formula  =  simplest ratio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24328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Glucose:  C₆H₁₂O₆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21024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7705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6 : 12 : 6   ÷ 6   =   1 : 2 :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17720"/>
            <a:ext cx="11155680" cy="868680"/>
          </a:xfrm>
          <a:prstGeom prst="roundRect">
            <a:avLst/>
          </a:prstGeom>
          <a:solidFill>
            <a:srgbClr val="243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737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C247"/>
                </a:solidFill>
                <a:latin typeface="Calibri"/>
              </a:rPr>
              <a:t>Empirical formula:  CH₂O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E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CE"/>
                </a:solidFill>
                <a:latin typeface="Calibri"/>
              </a:rPr>
              <a:t>JD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566928"/>
            <a:ext cx="11612880" cy="5815584"/>
          </a:xfrm>
          <a:prstGeom prst="rect">
            <a:avLst/>
          </a:prstGeom>
          <a:solidFill>
            <a:srgbClr val="122A44"/>
          </a:solidFill>
          <a:ln w="15875">
            <a:solidFill>
              <a:srgbClr val="2A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0" y="6473952"/>
            <a:ext cx="12191695" cy="384048"/>
          </a:xfrm>
          <a:prstGeom prst="round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9"/>
                </a:solidFill>
                <a:latin typeface="Calibri"/>
              </a:rPr>
              <a:t>GCSE CHEMISTRY   ·   EMPIRICAL FORMULAE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288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4F7FB"/>
                </a:solidFill>
                <a:latin typeface="Calibri"/>
              </a:rPr>
              <a:t>03  /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Empirical formula: key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B4C9"/>
                </a:solidFill>
                <a:latin typeface="Calibri"/>
              </a:rPr>
              <a:t>Ratio, not necessarily the molecular formula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27632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8366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Molecular formula:  C₆H₁₂O₆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24328"/>
            <a:ext cx="11155680" cy="868680"/>
          </a:xfrm>
          <a:prstGeom prst="roundRect">
            <a:avLst/>
          </a:prstGeom>
          <a:solidFill>
            <a:srgbClr val="243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C247"/>
                </a:solidFill>
                <a:latin typeface="Calibri"/>
              </a:rPr>
              <a:t>Empirical formula:  CH₂O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21024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7705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Both describe the same elemental proportions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E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CE"/>
                </a:solidFill>
                <a:latin typeface="Calibri"/>
              </a:rPr>
              <a:t>JD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566928"/>
            <a:ext cx="11612880" cy="5815584"/>
          </a:xfrm>
          <a:prstGeom prst="rect">
            <a:avLst/>
          </a:prstGeom>
          <a:solidFill>
            <a:srgbClr val="122A44"/>
          </a:solidFill>
          <a:ln w="15875">
            <a:solidFill>
              <a:srgbClr val="2A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0" y="6473952"/>
            <a:ext cx="12191695" cy="384048"/>
          </a:xfrm>
          <a:prstGeom prst="round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9"/>
                </a:solidFill>
                <a:latin typeface="Calibri"/>
              </a:rPr>
              <a:t>GCSE CHEMISTRY   ·   EMPIRICAL FORMULAE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288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4F7FB"/>
                </a:solidFill>
                <a:latin typeface="Calibri"/>
              </a:rPr>
              <a:t>04  /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Four-step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B4C9"/>
                </a:solidFill>
                <a:latin typeface="Calibri"/>
              </a:rPr>
              <a:t>From mass data to a chemical formula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27632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8366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1   Write down the mass of each element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24328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2   Divide each mass by its 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21024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7705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3   Divide mole values by the smallest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17720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737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4   Write the whole-number ratio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E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CE"/>
                </a:solidFill>
                <a:latin typeface="Calibri"/>
              </a:rPr>
              <a:t>JD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566928"/>
            <a:ext cx="11612880" cy="5815584"/>
          </a:xfrm>
          <a:prstGeom prst="rect">
            <a:avLst/>
          </a:prstGeom>
          <a:solidFill>
            <a:srgbClr val="122A44"/>
          </a:solidFill>
          <a:ln w="15875">
            <a:solidFill>
              <a:srgbClr val="2A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0" y="6473952"/>
            <a:ext cx="12191695" cy="384048"/>
          </a:xfrm>
          <a:prstGeom prst="round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9"/>
                </a:solidFill>
                <a:latin typeface="Calibri"/>
              </a:rPr>
              <a:t>GCSE CHEMISTRY   ·   EMPIRICAL FORMULAE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288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4F7FB"/>
                </a:solidFill>
                <a:latin typeface="Calibri"/>
              </a:rPr>
              <a:t>05  /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Worked example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B4C9"/>
                </a:solidFill>
                <a:latin typeface="Calibri"/>
              </a:rPr>
              <a:t>Empirical formula from masses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27632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8366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Mg:  2.4 g     Ar = 24     2.4 ÷ 24 = 0.10 mol     0.10 ÷ 0.10 =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24328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O:   1.6 g     Ar = 16     1.6 ÷ 16 = 0.10 mol     0.10 ÷ 0.10 =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21024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7705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Ratio  Mg : O  =  1 :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17720"/>
            <a:ext cx="11155680" cy="868680"/>
          </a:xfrm>
          <a:prstGeom prst="roundRect">
            <a:avLst/>
          </a:prstGeom>
          <a:solidFill>
            <a:srgbClr val="243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737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C247"/>
                </a:solidFill>
                <a:latin typeface="Calibri"/>
              </a:rPr>
              <a:t>Empirical formula  =  MgO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E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CE"/>
                </a:solidFill>
                <a:latin typeface="Calibri"/>
              </a:rPr>
              <a:t>JD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566928"/>
            <a:ext cx="11612880" cy="5815584"/>
          </a:xfrm>
          <a:prstGeom prst="rect">
            <a:avLst/>
          </a:prstGeom>
          <a:solidFill>
            <a:srgbClr val="122A44"/>
          </a:solidFill>
          <a:ln w="15875">
            <a:solidFill>
              <a:srgbClr val="2A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0" y="6473952"/>
            <a:ext cx="12191695" cy="384048"/>
          </a:xfrm>
          <a:prstGeom prst="round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9"/>
                </a:solidFill>
                <a:latin typeface="Calibri"/>
              </a:rPr>
              <a:t>GCSE CHEMISTRY   ·   EMPIRICAL FORMULAE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288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4F7FB"/>
                </a:solidFill>
                <a:latin typeface="Calibri"/>
              </a:rPr>
              <a:t>08  /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Practice question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B4C9"/>
                </a:solidFill>
                <a:latin typeface="Calibri"/>
              </a:rPr>
              <a:t>Pause and try it yourself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27632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8366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Sodium:  4.6 g      Oxygen:  1.6 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24328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Ar(Na) = 23          Ar(O) = 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21024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7705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What is the empirical formula?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17720"/>
            <a:ext cx="11155680" cy="868680"/>
          </a:xfrm>
          <a:prstGeom prst="roundRect">
            <a:avLst/>
          </a:prstGeom>
          <a:solidFill>
            <a:srgbClr val="243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737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C247"/>
                </a:solidFill>
                <a:latin typeface="Calibri"/>
              </a:rPr>
              <a:t>PAUSE THE VIDEO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E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CE"/>
                </a:solidFill>
                <a:latin typeface="Calibri"/>
              </a:rPr>
              <a:t>JD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566928"/>
            <a:ext cx="11612880" cy="5815584"/>
          </a:xfrm>
          <a:prstGeom prst="rect">
            <a:avLst/>
          </a:prstGeom>
          <a:solidFill>
            <a:srgbClr val="122A44"/>
          </a:solidFill>
          <a:ln w="15875">
            <a:solidFill>
              <a:srgbClr val="2A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0" y="6473952"/>
            <a:ext cx="12191695" cy="384048"/>
          </a:xfrm>
          <a:prstGeom prst="round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9"/>
                </a:solidFill>
                <a:latin typeface="Calibri"/>
              </a:rPr>
              <a:t>GCSE CHEMISTRY   ·   EMPIRICAL FORMULAE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288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4F7FB"/>
                </a:solidFill>
                <a:latin typeface="Calibri"/>
              </a:rPr>
              <a:t>09  /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Practice 1  ·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B4C9"/>
                </a:solidFill>
                <a:latin typeface="Calibri"/>
              </a:rPr>
              <a:t>Let’s check your working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27632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8366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Na:  4.6 ÷ 23 = 0.20 mol     0.20 ÷ 0.10 =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24328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O:   1.6 ÷ 16 = 0.10 mol     0.10 ÷ 0.10 =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21024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7705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Ratio  Na : O  =  2 :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17720"/>
            <a:ext cx="11155680" cy="868680"/>
          </a:xfrm>
          <a:prstGeom prst="roundRect">
            <a:avLst/>
          </a:prstGeom>
          <a:solidFill>
            <a:srgbClr val="243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737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C247"/>
                </a:solidFill>
                <a:latin typeface="Calibri"/>
              </a:rPr>
              <a:t>Empirical formula  =  Na₂O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E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CE"/>
                </a:solidFill>
                <a:latin typeface="Calibri"/>
              </a:rPr>
              <a:t>JD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566928"/>
            <a:ext cx="11612880" cy="5815584"/>
          </a:xfrm>
          <a:prstGeom prst="rect">
            <a:avLst/>
          </a:prstGeom>
          <a:solidFill>
            <a:srgbClr val="122A44"/>
          </a:solidFill>
          <a:ln w="15875">
            <a:solidFill>
              <a:srgbClr val="2A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0" y="6473952"/>
            <a:ext cx="12191695" cy="384048"/>
          </a:xfrm>
          <a:prstGeom prst="round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9"/>
                </a:solidFill>
                <a:latin typeface="Calibri"/>
              </a:rPr>
              <a:t>GCSE CHEMISTRY   ·   EMPIRICAL FORMULAE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288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4F7FB"/>
                </a:solidFill>
                <a:latin typeface="Calibri"/>
              </a:rPr>
              <a:t>11  /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Worked example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B4C9"/>
                </a:solidFill>
                <a:latin typeface="Calibri"/>
              </a:rPr>
              <a:t>Empirical formula from percentages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27632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8366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C = 40.0%     H = 6.7%     O = 53.3%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24328"/>
            <a:ext cx="11155680" cy="868680"/>
          </a:xfrm>
          <a:prstGeom prst="roundRect">
            <a:avLst/>
          </a:prstGeom>
          <a:solidFill>
            <a:srgbClr val="243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C247"/>
                </a:solidFill>
                <a:latin typeface="Calibri"/>
              </a:rPr>
              <a:t>Assume a 100 g sample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21024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7705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40.0 g C      6.7 g H      53.3 g 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17720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737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Ar  C = 12,   H = 1,   O =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E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CE"/>
                </a:solidFill>
                <a:latin typeface="Calibri"/>
              </a:rPr>
              <a:t>JD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566928"/>
            <a:ext cx="11612880" cy="5815584"/>
          </a:xfrm>
          <a:prstGeom prst="rect">
            <a:avLst/>
          </a:prstGeom>
          <a:solidFill>
            <a:srgbClr val="122A44"/>
          </a:solidFill>
          <a:ln w="15875">
            <a:solidFill>
              <a:srgbClr val="2A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0" y="6473952"/>
            <a:ext cx="12191695" cy="384048"/>
          </a:xfrm>
          <a:prstGeom prst="round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9"/>
                </a:solidFill>
                <a:latin typeface="Calibri"/>
              </a:rPr>
              <a:t>GCSE CHEMISTRY   ·   EMPIRICAL FORMULAE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288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4F7FB"/>
                </a:solidFill>
                <a:latin typeface="Calibri"/>
              </a:rPr>
              <a:t>12  /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Worked example 2  ·  Working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B4C9"/>
                </a:solidFill>
                <a:latin typeface="Calibri"/>
              </a:rPr>
              <a:t>Divide each mass by Ar, then by the smallest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27632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8366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C:  40.0 ÷ 12 = 3.33 mol     3.33 ÷ 3.33 ≈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24328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H:   6.7 ÷ 1 = 6.70 mol      6.70 ÷ 3.33 ≈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21024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7705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O:  53.3 ÷ 16 = 3.33 mol     3.33 ÷ 3.33 ≈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17720"/>
            <a:ext cx="11155680" cy="868680"/>
          </a:xfrm>
          <a:prstGeom prst="roundRect">
            <a:avLst/>
          </a:prstGeom>
          <a:solidFill>
            <a:srgbClr val="243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737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C247"/>
                </a:solidFill>
                <a:latin typeface="Calibri"/>
              </a:rPr>
              <a:t>Empirical formula  =  CH₂O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E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CE"/>
                </a:solidFill>
                <a:latin typeface="Calibri"/>
              </a:rPr>
              <a:t>JD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566928"/>
            <a:ext cx="11612880" cy="5815584"/>
          </a:xfrm>
          <a:prstGeom prst="rect">
            <a:avLst/>
          </a:prstGeom>
          <a:solidFill>
            <a:srgbClr val="122A44"/>
          </a:solidFill>
          <a:ln w="15875">
            <a:solidFill>
              <a:srgbClr val="2A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0" y="6473952"/>
            <a:ext cx="12191695" cy="384048"/>
          </a:xfrm>
          <a:prstGeom prst="round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9"/>
                </a:solidFill>
                <a:latin typeface="Calibri"/>
              </a:rPr>
              <a:t>GCSE CHEMISTRY   ·   EMPIRICAL FORMULAE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288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4F7FB"/>
                </a:solidFill>
                <a:latin typeface="Calibri"/>
              </a:rPr>
              <a:t>14  /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Practice question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B4C9"/>
                </a:solidFill>
                <a:latin typeface="Calibri"/>
              </a:rPr>
              <a:t>Pause and work through the calculation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27632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8366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Carbon = 52.2%     Hydrogen = 13.0%     Oxygen = 34.8%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24328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Ar:  C = 12,   H = 1,   O = 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21024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7705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Calculate its empirical formula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17720"/>
            <a:ext cx="11155680" cy="868680"/>
          </a:xfrm>
          <a:prstGeom prst="roundRect">
            <a:avLst/>
          </a:prstGeom>
          <a:solidFill>
            <a:srgbClr val="243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737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C247"/>
                </a:solidFill>
                <a:latin typeface="Calibri"/>
              </a:rPr>
              <a:t>PAUSE THE VIDEO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E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CE"/>
                </a:solidFill>
                <a:latin typeface="Calibri"/>
              </a:rPr>
              <a:t>JD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566928"/>
            <a:ext cx="11612880" cy="5815584"/>
          </a:xfrm>
          <a:prstGeom prst="rect">
            <a:avLst/>
          </a:prstGeom>
          <a:solidFill>
            <a:srgbClr val="122A44"/>
          </a:solidFill>
          <a:ln w="15875">
            <a:solidFill>
              <a:srgbClr val="2A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0" y="6473952"/>
            <a:ext cx="12191695" cy="384048"/>
          </a:xfrm>
          <a:prstGeom prst="round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9"/>
                </a:solidFill>
                <a:latin typeface="Calibri"/>
              </a:rPr>
              <a:t>GCSE CHEMISTRY   ·   EMPIRICAL FORMULAE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288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4F7FB"/>
                </a:solidFill>
                <a:latin typeface="Calibri"/>
              </a:rPr>
              <a:t>15  /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Practice 2  ·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B4C9"/>
                </a:solidFill>
                <a:latin typeface="Calibri"/>
              </a:rPr>
              <a:t>Assume 100 g, then divide by Ar and by the smallest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27632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8366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C:  52.2 ÷ 12 = 4.35     4.35 ÷ 2.175 =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24328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H:  13.0 ÷ 1 = 13.0      13.0 ÷ 2.175 ≈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21024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7705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O:  34.8 ÷ 16 = 2.175    2.175 ÷ 2.175 =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17720"/>
            <a:ext cx="11155680" cy="868680"/>
          </a:xfrm>
          <a:prstGeom prst="roundRect">
            <a:avLst/>
          </a:prstGeom>
          <a:solidFill>
            <a:srgbClr val="243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7375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C247"/>
                </a:solidFill>
                <a:latin typeface="Calibri"/>
              </a:rPr>
              <a:t>Empirical formula  =  C₂H₆O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E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64592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4CE"/>
                </a:solidFill>
                <a:latin typeface="Calibri"/>
              </a:rPr>
              <a:t>JD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566928"/>
            <a:ext cx="11612880" cy="5815584"/>
          </a:xfrm>
          <a:prstGeom prst="rect">
            <a:avLst/>
          </a:prstGeom>
          <a:solidFill>
            <a:srgbClr val="122A44"/>
          </a:solidFill>
          <a:ln w="15875">
            <a:solidFill>
              <a:srgbClr val="2A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0" y="6473952"/>
            <a:ext cx="12191695" cy="384048"/>
          </a:xfrm>
          <a:prstGeom prst="round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B4C9"/>
                </a:solidFill>
                <a:latin typeface="Calibri"/>
              </a:rPr>
              <a:t>GCSE CHEMISTRY   ·   EMPIRICAL FORMULAE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288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4F7FB"/>
                </a:solidFill>
                <a:latin typeface="Calibri"/>
              </a:rPr>
              <a:t>18  /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13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Well done!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B4C9"/>
                </a:solidFill>
                <a:latin typeface="Calibri"/>
              </a:rPr>
              <a:t>You have completed both practice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27632"/>
            <a:ext cx="11155680" cy="868680"/>
          </a:xfrm>
          <a:prstGeom prst="roundRect">
            <a:avLst/>
          </a:prstGeom>
          <a:solidFill>
            <a:srgbClr val="243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8366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C247"/>
                </a:solidFill>
                <a:latin typeface="Calibri"/>
              </a:rPr>
              <a:t>From masses:  Na₂O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24328"/>
            <a:ext cx="11155680" cy="868680"/>
          </a:xfrm>
          <a:prstGeom prst="roundRect">
            <a:avLst/>
          </a:prstGeom>
          <a:solidFill>
            <a:srgbClr val="243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C247"/>
                </a:solidFill>
                <a:latin typeface="Calibri"/>
              </a:rPr>
              <a:t>From percentages:  C₂H₆O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21024"/>
            <a:ext cx="11155680" cy="868680"/>
          </a:xfrm>
          <a:prstGeom prst="roundRect">
            <a:avLst/>
          </a:prstGeom>
          <a:solidFill>
            <a:srgbClr val="17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7705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7FB"/>
                </a:solidFill>
                <a:latin typeface="Calibri"/>
              </a:rPr>
              <a:t>JDScience  ·  Learn Smarter. Revise Better. Achieve More.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