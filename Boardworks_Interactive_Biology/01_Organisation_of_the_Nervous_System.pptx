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slide. Click the green arrow on later slides, or press the on-slide buttons. Original Boardworks Flash activities could not be executed; this file rebuilds them with hyperlinks.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Demonstrate Slide Show mode. Buttons do not jump in Normal (edit) 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Menu for jumping around the lesson. Useful when reusing activities.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static teaching slide – scientific wording retained. Diagram is a new 2D reconstruction of retinal circuitry (rods, cones, bipolar and ganglion cells), which appears throughout the series.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click-to-reveal tree. Each button jumps to the next reveal level. Reset returns to the start.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click-to-reveal tree. Each button jumps to the next reveal level. Reset returns to the start.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click-to-reveal tree. Each button jumps to the next reveal level. Reset returns to the start.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click-to-reveal tree. Each button jumps to the next reveal level. Reset returns to the start.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click-to-reveal tree. Each button jumps to the next reveal level. Reset returns to the start.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labelling activity. Each label opens a hidden explanation slide, then Back returns 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comparison diagrams rebuilt. Info buttons open function cards.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Reveal table is a hidden slide so Space will skip it during a straight run-through.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Rebuilt Flash matching activity. Definitions are shuffled (original order). Click a term to highlight its match, or Check to show the full key. Correct pairs: node of Ranvier = gap in myelin; axon = long single fibre; myelin sheath = insulating layer; Schwann cell = cell wrapped around axon; dendrites = highly branched fibres.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Correct = B.</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Flash dropdown and photograph were not recoverable and are not copied. Reconstructed Q&amp;A for classroom use.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slide" Target="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1.xml"/><Relationship Id="rId4" Type="http://schemas.openxmlformats.org/officeDocument/2006/relationships/slide" Target="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12.xml"/><Relationship Id="rId6" Type="http://schemas.openxmlformats.org/officeDocument/2006/relationships/slide" Target="slide19.xml"/><Relationship Id="rId7" Type="http://schemas.openxmlformats.org/officeDocument/2006/relationships/slide" Target="slide25.xml"/><Relationship Id="rId8" Type="http://schemas.openxmlformats.org/officeDocument/2006/relationships/slide" Target="slide32.xml"/><Relationship Id="rId9" Type="http://schemas.openxmlformats.org/officeDocument/2006/relationships/slide" Target="slide42.xml"/><Relationship Id="rId10" Type="http://schemas.openxmlformats.org/officeDocument/2006/relationships/slide" Target="slide47.xml"/><Relationship Id="rId11" Type="http://schemas.openxmlformats.org/officeDocument/2006/relationships/slide" Target="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 Id="rId4" Type="http://schemas.openxmlformats.org/officeDocument/2006/relationships/slide" Target="slide4.xml"/><Relationship Id="rId5" Type="http://schemas.openxmlformats.org/officeDocument/2006/relationships/slide" Target="slide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slide" Target="slide6.xml"/><Relationship Id="rId4" Type="http://schemas.openxmlformats.org/officeDocument/2006/relationships/notesSlide" Target="../notesSlides/notesSlide5.xml"/><Relationship Id="rId5" Type="http://schemas.openxmlformats.org/officeDocument/2006/relationships/slide" Target="slide7.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 Target="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slide" Target="slide6.xml"/><Relationship Id="rId4" Type="http://schemas.openxmlformats.org/officeDocument/2006/relationships/notesSlide" Target="../notesSlides/notesSlide6.xml"/><Relationship Id="rId5" Type="http://schemas.openxmlformats.org/officeDocument/2006/relationships/slide" Target="slide8.xml"/><Relationship Id="rId6" Type="http://schemas.openxmlformats.org/officeDocument/2006/relationships/slide" Target="slide9.xml"/><Relationship Id="rId7" Type="http://schemas.openxmlformats.org/officeDocument/2006/relationships/slide" Target="slide10.xml"/><Relationship Id="rId8" Type="http://schemas.openxmlformats.org/officeDocument/2006/relationships/slide" Target="slide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slide" Target="slide6.xml"/><Relationship Id="rId4" Type="http://schemas.openxmlformats.org/officeDocument/2006/relationships/notesSlide" Target="../notesSlides/notesSlide7.xml"/><Relationship Id="rId5" Type="http://schemas.openxmlformats.org/officeDocument/2006/relationships/slide" Target="slide9.xml"/><Relationship Id="rId6" Type="http://schemas.openxmlformats.org/officeDocument/2006/relationships/slide" Target="slide10.xml"/><Relationship Id="rId7" Type="http://schemas.openxmlformats.org/officeDocument/2006/relationships/slide" Target="slide11.xml"/><Relationship Id="rId8" Type="http://schemas.openxmlformats.org/officeDocument/2006/relationships/slide" Target="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slide" Target="slide6.xml"/><Relationship Id="rId4" Type="http://schemas.openxmlformats.org/officeDocument/2006/relationships/notesSlide" Target="../notesSlides/notesSlide8.xml"/><Relationship Id="rId5" Type="http://schemas.openxmlformats.org/officeDocument/2006/relationships/slide" Target="slide10.xml"/><Relationship Id="rId6" Type="http://schemas.openxmlformats.org/officeDocument/2006/relationships/slide" Target="slide11.xml"/><Relationship Id="rId7" Type="http://schemas.openxmlformats.org/officeDocument/2006/relationships/slide" Target="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slide" Target="slide6.xml"/><Relationship Id="rId4" Type="http://schemas.openxmlformats.org/officeDocument/2006/relationships/slide" Target="slide10.xml"/><Relationship Id="rId5" Type="http://schemas.openxmlformats.org/officeDocument/2006/relationships/notesSlide" Target="../notesSlides/notesSlide9.xml"/><Relationship Id="rId6" Type="http://schemas.openxmlformats.org/officeDocument/2006/relationships/slide" Target="slide11.xml"/><Relationship Id="rId7" Type="http://schemas.openxmlformats.org/officeDocument/2006/relationships/slide" Target="slide9.xml"/><Relationship Id="rId8" Type="http://schemas.openxmlformats.org/officeDocument/2006/relationships/slide" Target="slide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slide" Target="slide12.xml"/><Relationship Id="rId4" Type="http://schemas.openxmlformats.org/officeDocument/2006/relationships/notesSlide" Target="../notesSlides/notesSlide10.xml"/><Relationship Id="rId5" Type="http://schemas.openxmlformats.org/officeDocument/2006/relationships/slide" Target="slide13.xml"/><Relationship Id="rId6" Type="http://schemas.openxmlformats.org/officeDocument/2006/relationships/slide" Target="slide14.xml"/><Relationship Id="rId7" Type="http://schemas.openxmlformats.org/officeDocument/2006/relationships/slide" Target="slide16.xml"/><Relationship Id="rId8" Type="http://schemas.openxmlformats.org/officeDocument/2006/relationships/slide" Target="slide15.xml"/><Relationship Id="rId9" Type="http://schemas.openxmlformats.org/officeDocument/2006/relationships/slide" Target="slide17.xml"/><Relationship Id="rId10" Type="http://schemas.openxmlformats.org/officeDocument/2006/relationships/slide" Target="slide18.xml"/><Relationship Id="rId11" Type="http://schemas.openxmlformats.org/officeDocument/2006/relationships/slide" Target="slide10.xml"/><Relationship Id="rId12" Type="http://schemas.openxmlformats.org/officeDocument/2006/relationships/slide" Target="slide1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notesSlide" Target="../notesSlides/notesSlide11.xml"/><Relationship Id="rId6" Type="http://schemas.openxmlformats.org/officeDocument/2006/relationships/slide" Target="slide20.xml"/><Relationship Id="rId7" Type="http://schemas.openxmlformats.org/officeDocument/2006/relationships/slide" Target="slide21.xml"/><Relationship Id="rId8" Type="http://schemas.openxmlformats.org/officeDocument/2006/relationships/slide" Target="slide22.xml"/><Relationship Id="rId9" Type="http://schemas.openxmlformats.org/officeDocument/2006/relationships/slide" Target="slide12.xml"/><Relationship Id="rId10" Type="http://schemas.openxmlformats.org/officeDocument/2006/relationships/slide" Target="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slide" Target="slide24.xml"/><Relationship Id="rId4" Type="http://schemas.openxmlformats.org/officeDocument/2006/relationships/slide" Target="slide19.xml"/><Relationship Id="rId5" Type="http://schemas.openxmlformats.org/officeDocument/2006/relationships/slide" Target="slide2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 Id="rId3" Type="http://schemas.openxmlformats.org/officeDocument/2006/relationships/notesSlide" Target="../notesSlides/notesSlide13.xml"/><Relationship Id="rId4" Type="http://schemas.openxmlformats.org/officeDocument/2006/relationships/slide" Target="slide26.xml"/><Relationship Id="rId5" Type="http://schemas.openxmlformats.org/officeDocument/2006/relationships/slide" Target="slide27.xml"/><Relationship Id="rId6" Type="http://schemas.openxmlformats.org/officeDocument/2006/relationships/slide" Target="slide28.xml"/><Relationship Id="rId7" Type="http://schemas.openxmlformats.org/officeDocument/2006/relationships/slide" Target="slide29.xml"/><Relationship Id="rId8" Type="http://schemas.openxmlformats.org/officeDocument/2006/relationships/slide" Target="slide30.xml"/><Relationship Id="rId9" Type="http://schemas.openxmlformats.org/officeDocument/2006/relationships/slide" Target="slide31.xml"/><Relationship Id="rId10" Type="http://schemas.openxmlformats.org/officeDocument/2006/relationships/slide" Target="slide23.xml"/><Relationship Id="rId11" Type="http://schemas.openxmlformats.org/officeDocument/2006/relationships/slide" Target="slide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slide" Target="slide34.xml"/><Relationship Id="rId4" Type="http://schemas.openxmlformats.org/officeDocument/2006/relationships/slide" Target="slide33.xml"/><Relationship Id="rId5" Type="http://schemas.openxmlformats.org/officeDocument/2006/relationships/slide" Target="slide35.xml"/><Relationship Id="rId6" Type="http://schemas.openxmlformats.org/officeDocument/2006/relationships/slide" Target="slide36.xml"/><Relationship Id="rId7" Type="http://schemas.openxmlformats.org/officeDocument/2006/relationships/slide" Target="slide25.xml"/><Relationship Id="rId8" Type="http://schemas.openxmlformats.org/officeDocument/2006/relationships/slide" Target="slide3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9.xml"/><Relationship Id="rId3" Type="http://schemas.openxmlformats.org/officeDocument/2006/relationships/slide" Target="slide40.xml"/><Relationship Id="rId4" Type="http://schemas.openxmlformats.org/officeDocument/2006/relationships/slide" Target="slide38.xml"/><Relationship Id="rId5" Type="http://schemas.openxmlformats.org/officeDocument/2006/relationships/slide" Target="slide41.xml"/><Relationship Id="rId6" Type="http://schemas.openxmlformats.org/officeDocument/2006/relationships/slide" Target="slide32.xml"/><Relationship Id="rId7" Type="http://schemas.openxmlformats.org/officeDocument/2006/relationships/slide" Target="slide4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slide" Target="slide43.xml"/><Relationship Id="rId4" Type="http://schemas.openxmlformats.org/officeDocument/2006/relationships/slide" Target="slide44.xml"/><Relationship Id="rId5" Type="http://schemas.openxmlformats.org/officeDocument/2006/relationships/slide" Target="slide45.xml"/><Relationship Id="rId6" Type="http://schemas.openxmlformats.org/officeDocument/2006/relationships/slide" Target="slide46.xml"/><Relationship Id="rId7" Type="http://schemas.openxmlformats.org/officeDocument/2006/relationships/slide" Target="slide37.xml"/><Relationship Id="rId8" Type="http://schemas.openxmlformats.org/officeDocument/2006/relationships/slide" Target="slide4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8.xml"/><Relationship Id="rId3" Type="http://schemas.openxmlformats.org/officeDocument/2006/relationships/slide" Target="slide49.xml"/><Relationship Id="rId4" Type="http://schemas.openxmlformats.org/officeDocument/2006/relationships/slide" Target="slide50.xml"/><Relationship Id="rId5" Type="http://schemas.openxmlformats.org/officeDocument/2006/relationships/slide" Target="slide51.xml"/><Relationship Id="rId6" Type="http://schemas.openxmlformats.org/officeDocument/2006/relationships/slide" Target="slide52.xml"/><Relationship Id="rId7" Type="http://schemas.openxmlformats.org/officeDocument/2006/relationships/slide" Target="slide42.xml"/><Relationship Id="rId8" Type="http://schemas.openxmlformats.org/officeDocument/2006/relationships/slide" Target="slide5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xml"/><Relationship Id="rId3" Type="http://schemas.openxmlformats.org/officeDocument/2006/relationships/slide" Target="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960120"/>
          </a:xfrm>
          <a:prstGeom prst="rect">
            <a:avLst/>
          </a:prstGeom>
          <a:solidFill>
            <a:srgbClr val="3CB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201168"/>
            <a:ext cx="8412480" cy="640080"/>
          </a:xfrm>
          <a:prstGeom prst="rect">
            <a:avLst/>
          </a:prstGeom>
          <a:noFill/>
        </p:spPr>
        <p:txBody>
          <a:bodyPr wrap="square" anchor="t">
            <a:spAutoFit/>
          </a:bodyPr>
          <a:lstStyle/>
          <a:p>
            <a:pPr algn="ctr">
              <a:spcAft>
                <a:spcPts val="400"/>
              </a:spcAft>
            </a:pPr>
            <a:r>
              <a:rPr sz="3200" b="1" i="0">
                <a:solidFill>
                  <a:srgbClr val="FFFFFF"/>
                </a:solidFill>
                <a:latin typeface="Calibri"/>
              </a:rPr>
              <a:t>A2 Biology</a:t>
            </a:r>
          </a:p>
        </p:txBody>
      </p:sp>
      <p:sp>
        <p:nvSpPr>
          <p:cNvPr id="5" name="Rounded Rectangle 4"/>
          <p:cNvSpPr/>
          <p:nvPr/>
        </p:nvSpPr>
        <p:spPr>
          <a:xfrm>
            <a:off x="1280160" y="1097280"/>
            <a:ext cx="6583680" cy="640080"/>
          </a:xfrm>
          <a:prstGeom prst="roundRect">
            <a:avLst>
              <a:gd name="adj" fmla="val 15000"/>
            </a:avLst>
          </a:prstGeom>
          <a:solidFill>
            <a:srgbClr val="C8E6A0"/>
          </a:solidFill>
          <a:ln w="1905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600" b="1" i="0">
                <a:solidFill>
                  <a:srgbClr val="222222"/>
                </a:solidFill>
                <a:latin typeface="Calibri"/>
              </a:rPr>
              <a:t>The Nervous System</a:t>
            </a:r>
          </a:p>
        </p:txBody>
      </p:sp>
      <p:sp>
        <p:nvSpPr>
          <p:cNvPr id="6" name="Rounded Rectangle 5"/>
          <p:cNvSpPr/>
          <p:nvPr/>
        </p:nvSpPr>
        <p:spPr>
          <a:xfrm>
            <a:off x="2194560" y="5623560"/>
            <a:ext cx="4754880" cy="566928"/>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200" b="1" i="0">
                <a:solidFill>
                  <a:srgbClr val="FFFFFF"/>
                </a:solidFill>
                <a:latin typeface="Calibri"/>
              </a:rPr>
              <a:t>Part 1: Organisation</a:t>
            </a:r>
          </a:p>
        </p:txBody>
      </p:sp>
      <p:sp>
        <p:nvSpPr>
          <p:cNvPr id="7" name="TextBox 6"/>
          <p:cNvSpPr txBox="1"/>
          <p:nvPr/>
        </p:nvSpPr>
        <p:spPr>
          <a:xfrm>
            <a:off x="548640" y="6263640"/>
            <a:ext cx="8046720" cy="365760"/>
          </a:xfrm>
          <a:prstGeom prst="rect">
            <a:avLst/>
          </a:prstGeom>
          <a:noFill/>
        </p:spPr>
        <p:txBody>
          <a:bodyPr wrap="square" anchor="t">
            <a:spAutoFit/>
          </a:bodyPr>
          <a:lstStyle/>
          <a:p>
            <a:pPr algn="ctr">
              <a:spcAft>
                <a:spcPts val="400"/>
              </a:spcAft>
            </a:pPr>
            <a:r>
              <a:rPr sz="1200" b="0" i="0">
                <a:solidFill>
                  <a:srgbClr val="5A5A5A"/>
                </a:solidFill>
                <a:latin typeface="Calibri"/>
              </a:rPr>
              <a:t>Interactive reconstruction  ·  Flash-free  ·  Original course © Boardworks Ltd 2009</a:t>
            </a:r>
          </a:p>
        </p:txBody>
      </p:sp>
      <p:sp>
        <p:nvSpPr>
          <p:cNvPr id="8" name="Rectangle 7"/>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 y="6601968"/>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620256"/>
            <a:ext cx="8595360" cy="219456"/>
          </a:xfrm>
          <a:prstGeom prst="rect">
            <a:avLst/>
          </a:prstGeom>
          <a:noFill/>
        </p:spPr>
        <p:txBody>
          <a:bodyPr wrap="square" anchor="t">
            <a:spAutoFit/>
          </a:bodyPr>
          <a:lstStyle/>
          <a:p>
            <a:pPr algn="ctr">
              <a:spcAft>
                <a:spcPts val="400"/>
              </a:spcAft>
            </a:pPr>
            <a:r>
              <a:rPr sz="1000" b="0" i="0">
                <a:solidFill>
                  <a:srgbClr val="6B2D8B"/>
                </a:solidFill>
                <a:latin typeface="Calibri"/>
              </a:rPr>
              <a:t>Original course © Boardworks Ltd 2009. Reconstructed interactive resource.</a:t>
            </a:r>
          </a:p>
        </p:txBody>
      </p:sp>
      <p:sp>
        <p:nvSpPr>
          <p:cNvPr id="11" name="Oval 10">
            <a:hlinkClick r:id="rId4" action="ppaction://hlinksldjump"/>
          </p:cNvPr>
          <p:cNvSpPr/>
          <p:nvPr/>
        </p:nvSpPr>
        <p:spPr>
          <a:xfrm>
            <a:off x="8613648" y="589788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Oval 11"/>
          <p:cNvSpPr/>
          <p:nvPr/>
        </p:nvSpPr>
        <p:spPr>
          <a:xfrm>
            <a:off x="146304" y="589788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pic>
        <p:nvPicPr>
          <p:cNvPr id="13" name="Picture 12" descr="title_retina.png"/>
          <p:cNvPicPr>
            <a:picLocks noChangeAspect="1"/>
          </p:cNvPicPr>
          <p:nvPr/>
        </p:nvPicPr>
        <p:blipFill>
          <a:blip r:embed="rId2"/>
          <a:stretch>
            <a:fillRect/>
          </a:stretch>
        </p:blipFill>
        <p:spPr>
          <a:xfrm>
            <a:off x="2468880" y="1874519"/>
            <a:ext cx="4046726" cy="36118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to use this presentation</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2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4"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p:cNvSpPr/>
          <p:nvPr/>
        </p:nvSpPr>
        <p:spPr>
          <a:xfrm>
            <a:off x="320040" y="868680"/>
            <a:ext cx="8503920" cy="12344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This is a reconstructed classroom presentation. Original 2009 Boardworks activities used Adobe Flash, which no longer runs. Every activity below uses native PowerPoint hyperlinks (no macros, no Flash).</a:t>
            </a:r>
          </a:p>
        </p:txBody>
      </p:sp>
      <p:sp>
        <p:nvSpPr>
          <p:cNvPr id="13" name="Rounded Rectangle 12"/>
          <p:cNvSpPr/>
          <p:nvPr/>
        </p:nvSpPr>
        <p:spPr>
          <a:xfrm>
            <a:off x="365760" y="2240280"/>
            <a:ext cx="2286000" cy="56692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Next / Back arrows</a:t>
            </a:r>
          </a:p>
        </p:txBody>
      </p:sp>
      <p:sp>
        <p:nvSpPr>
          <p:cNvPr id="14" name="TextBox 13"/>
          <p:cNvSpPr txBox="1"/>
          <p:nvPr/>
        </p:nvSpPr>
        <p:spPr>
          <a:xfrm>
            <a:off x="2788920" y="2240280"/>
            <a:ext cx="5943600" cy="566928"/>
          </a:xfrm>
          <a:prstGeom prst="rect">
            <a:avLst/>
          </a:prstGeom>
          <a:noFill/>
        </p:spPr>
        <p:txBody>
          <a:bodyPr wrap="square" anchor="t">
            <a:spAutoFit/>
          </a:bodyPr>
          <a:lstStyle/>
          <a:p>
            <a:pPr algn="l">
              <a:spcAft>
                <a:spcPts val="400"/>
              </a:spcAft>
            </a:pPr>
            <a:r>
              <a:rPr sz="1400" b="0" i="0">
                <a:solidFill>
                  <a:srgbClr val="1A2F5A"/>
                </a:solidFill>
                <a:latin typeface="Calibri"/>
              </a:rPr>
              <a:t>Move through the teaching sequence.</a:t>
            </a:r>
          </a:p>
        </p:txBody>
      </p:sp>
      <p:sp>
        <p:nvSpPr>
          <p:cNvPr id="15" name="Rounded Rectangle 14"/>
          <p:cNvSpPr/>
          <p:nvPr/>
        </p:nvSpPr>
        <p:spPr>
          <a:xfrm>
            <a:off x="365760" y="2898648"/>
            <a:ext cx="2286000" cy="56692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Green buttons</a:t>
            </a:r>
          </a:p>
        </p:txBody>
      </p:sp>
      <p:sp>
        <p:nvSpPr>
          <p:cNvPr id="16" name="TextBox 15"/>
          <p:cNvSpPr txBox="1"/>
          <p:nvPr/>
        </p:nvSpPr>
        <p:spPr>
          <a:xfrm>
            <a:off x="2788920" y="2898648"/>
            <a:ext cx="5943600" cy="566928"/>
          </a:xfrm>
          <a:prstGeom prst="rect">
            <a:avLst/>
          </a:prstGeom>
          <a:noFill/>
        </p:spPr>
        <p:txBody>
          <a:bodyPr wrap="square" anchor="t">
            <a:spAutoFit/>
          </a:bodyPr>
          <a:lstStyle/>
          <a:p>
            <a:pPr algn="l">
              <a:spcAft>
                <a:spcPts val="400"/>
              </a:spcAft>
            </a:pPr>
            <a:r>
              <a:rPr sz="1400" b="0" i="0">
                <a:solidFill>
                  <a:srgbClr val="1A2F5A"/>
                </a:solidFill>
                <a:latin typeface="Calibri"/>
              </a:rPr>
              <a:t>Reveal answers, open an activity, or jump to a labelled structure.</a:t>
            </a:r>
          </a:p>
        </p:txBody>
      </p:sp>
      <p:sp>
        <p:nvSpPr>
          <p:cNvPr id="17" name="Rounded Rectangle 16"/>
          <p:cNvSpPr/>
          <p:nvPr/>
        </p:nvSpPr>
        <p:spPr>
          <a:xfrm>
            <a:off x="365760" y="3557015"/>
            <a:ext cx="2286000" cy="56692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Reset</a:t>
            </a:r>
          </a:p>
        </p:txBody>
      </p:sp>
      <p:sp>
        <p:nvSpPr>
          <p:cNvPr id="18" name="TextBox 17"/>
          <p:cNvSpPr txBox="1"/>
          <p:nvPr/>
        </p:nvSpPr>
        <p:spPr>
          <a:xfrm>
            <a:off x="2788920" y="3557015"/>
            <a:ext cx="5943600" cy="566928"/>
          </a:xfrm>
          <a:prstGeom prst="rect">
            <a:avLst/>
          </a:prstGeom>
          <a:noFill/>
        </p:spPr>
        <p:txBody>
          <a:bodyPr wrap="square" anchor="t">
            <a:spAutoFit/>
          </a:bodyPr>
          <a:lstStyle/>
          <a:p>
            <a:pPr algn="l">
              <a:spcAft>
                <a:spcPts val="400"/>
              </a:spcAft>
            </a:pPr>
            <a:r>
              <a:rPr sz="1400" b="0" i="0">
                <a:solidFill>
                  <a:srgbClr val="1A2F5A"/>
                </a:solidFill>
                <a:latin typeface="Calibri"/>
              </a:rPr>
              <a:t>Returns an activity to its starting slide so you can reuse it in the same lesson.</a:t>
            </a:r>
          </a:p>
        </p:txBody>
      </p:sp>
      <p:sp>
        <p:nvSpPr>
          <p:cNvPr id="19" name="Rounded Rectangle 18"/>
          <p:cNvSpPr/>
          <p:nvPr/>
        </p:nvSpPr>
        <p:spPr>
          <a:xfrm>
            <a:off x="365760" y="4215383"/>
            <a:ext cx="2286000" cy="56692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Check / Show answers</a:t>
            </a:r>
          </a:p>
        </p:txBody>
      </p:sp>
      <p:sp>
        <p:nvSpPr>
          <p:cNvPr id="20" name="TextBox 19"/>
          <p:cNvSpPr txBox="1"/>
          <p:nvPr/>
        </p:nvSpPr>
        <p:spPr>
          <a:xfrm>
            <a:off x="2788920" y="4215383"/>
            <a:ext cx="5943600" cy="566928"/>
          </a:xfrm>
          <a:prstGeom prst="rect">
            <a:avLst/>
          </a:prstGeom>
          <a:noFill/>
        </p:spPr>
        <p:txBody>
          <a:bodyPr wrap="square" anchor="t">
            <a:spAutoFit/>
          </a:bodyPr>
          <a:lstStyle/>
          <a:p>
            <a:pPr algn="l">
              <a:spcAft>
                <a:spcPts val="400"/>
              </a:spcAft>
            </a:pPr>
            <a:r>
              <a:rPr sz="1400" b="0" i="0">
                <a:solidFill>
                  <a:srgbClr val="1A2F5A"/>
                </a:solidFill>
                <a:latin typeface="Calibri"/>
              </a:rPr>
              <a:t>Teacher-controlled reveal. Hidden slides are skipped if you just press Space.</a:t>
            </a:r>
          </a:p>
        </p:txBody>
      </p:sp>
      <p:sp>
        <p:nvSpPr>
          <p:cNvPr id="21" name="Rounded Rectangle 20"/>
          <p:cNvSpPr/>
          <p:nvPr/>
        </p:nvSpPr>
        <p:spPr>
          <a:xfrm>
            <a:off x="365760" y="4873751"/>
            <a:ext cx="2286000" cy="56692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Slide Show mode</a:t>
            </a:r>
          </a:p>
        </p:txBody>
      </p:sp>
      <p:sp>
        <p:nvSpPr>
          <p:cNvPr id="22" name="TextBox 21"/>
          <p:cNvSpPr txBox="1"/>
          <p:nvPr/>
        </p:nvSpPr>
        <p:spPr>
          <a:xfrm>
            <a:off x="2788920" y="4873751"/>
            <a:ext cx="5943600" cy="566928"/>
          </a:xfrm>
          <a:prstGeom prst="rect">
            <a:avLst/>
          </a:prstGeom>
          <a:noFill/>
        </p:spPr>
        <p:txBody>
          <a:bodyPr wrap="square" anchor="t">
            <a:spAutoFit/>
          </a:bodyPr>
          <a:lstStyle/>
          <a:p>
            <a:pPr algn="l">
              <a:spcAft>
                <a:spcPts val="400"/>
              </a:spcAft>
            </a:pPr>
            <a:r>
              <a:rPr sz="1400" b="0" i="0">
                <a:solidFill>
                  <a:srgbClr val="1A2F5A"/>
                </a:solidFill>
                <a:latin typeface="Calibri"/>
              </a:rPr>
              <a:t>Start the slide show (F5). Buttons only jump while the show is running.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Learning outcomes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3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2"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3"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411480" y="914400"/>
            <a:ext cx="8229600" cy="365760"/>
          </a:xfrm>
          <a:prstGeom prst="rect">
            <a:avLst/>
          </a:prstGeom>
          <a:noFill/>
        </p:spPr>
        <p:txBody>
          <a:bodyPr wrap="square" anchor="t">
            <a:spAutoFit/>
          </a:bodyPr>
          <a:lstStyle/>
          <a:p>
            <a:pPr algn="l">
              <a:spcAft>
                <a:spcPts val="400"/>
              </a:spcAft>
            </a:pPr>
            <a:r>
              <a:rPr sz="1600" b="0" i="0">
                <a:solidFill>
                  <a:srgbClr val="1B3A6B"/>
                </a:solidFill>
                <a:latin typeface="Calibri"/>
              </a:rPr>
              <a:t>By the end of this lesson you should be able to:</a:t>
            </a:r>
          </a:p>
        </p:txBody>
      </p:sp>
      <p:sp>
        <p:nvSpPr>
          <p:cNvPr id="13" name="Rounded Rectangle 12"/>
          <p:cNvSpPr/>
          <p:nvPr/>
        </p:nvSpPr>
        <p:spPr>
          <a:xfrm>
            <a:off x="411480" y="1371600"/>
            <a:ext cx="457200" cy="50292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1</a:t>
            </a:r>
          </a:p>
        </p:txBody>
      </p:sp>
      <p:sp>
        <p:nvSpPr>
          <p:cNvPr id="14" name="Rounded Rectangle 13"/>
          <p:cNvSpPr/>
          <p:nvPr/>
        </p:nvSpPr>
        <p:spPr>
          <a:xfrm>
            <a:off x="1005840" y="1371600"/>
            <a:ext cx="7680960" cy="5029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400" b="0" i="0">
                <a:solidFill>
                  <a:srgbClr val="1A2F5A"/>
                </a:solidFill>
                <a:latin typeface="Calibri"/>
              </a:rPr>
              <a:t>Describe the organisation of the human nervous system (CNS and PNS, including somatic and autonomic divisions).</a:t>
            </a:r>
          </a:p>
        </p:txBody>
      </p:sp>
      <p:sp>
        <p:nvSpPr>
          <p:cNvPr id="15" name="Rounded Rectangle 14"/>
          <p:cNvSpPr/>
          <p:nvPr/>
        </p:nvSpPr>
        <p:spPr>
          <a:xfrm>
            <a:off x="411480" y="2029967"/>
            <a:ext cx="457200" cy="50292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2</a:t>
            </a:r>
          </a:p>
        </p:txBody>
      </p:sp>
      <p:sp>
        <p:nvSpPr>
          <p:cNvPr id="16" name="Rounded Rectangle 15"/>
          <p:cNvSpPr/>
          <p:nvPr/>
        </p:nvSpPr>
        <p:spPr>
          <a:xfrm>
            <a:off x="1005840" y="2029967"/>
            <a:ext cx="7680960" cy="5029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400" b="0" i="0">
                <a:solidFill>
                  <a:srgbClr val="1A2F5A"/>
                </a:solidFill>
                <a:latin typeface="Calibri"/>
              </a:rPr>
              <a:t>Label the main parts of a neurone and state the function of each part.</a:t>
            </a:r>
          </a:p>
        </p:txBody>
      </p:sp>
      <p:sp>
        <p:nvSpPr>
          <p:cNvPr id="17" name="Rounded Rectangle 16"/>
          <p:cNvSpPr/>
          <p:nvPr/>
        </p:nvSpPr>
        <p:spPr>
          <a:xfrm>
            <a:off x="411480" y="2688335"/>
            <a:ext cx="457200" cy="50292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3</a:t>
            </a:r>
          </a:p>
        </p:txBody>
      </p:sp>
      <p:sp>
        <p:nvSpPr>
          <p:cNvPr id="18" name="Rounded Rectangle 17"/>
          <p:cNvSpPr/>
          <p:nvPr/>
        </p:nvSpPr>
        <p:spPr>
          <a:xfrm>
            <a:off x="1005840" y="2688335"/>
            <a:ext cx="7680960" cy="5029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400" b="0" i="0">
                <a:solidFill>
                  <a:srgbClr val="1A2F5A"/>
                </a:solidFill>
                <a:latin typeface="Calibri"/>
              </a:rPr>
              <a:t>Compare sensory, relay and motor neurones in terms of structure and direction of impulse.</a:t>
            </a:r>
          </a:p>
        </p:txBody>
      </p:sp>
      <p:sp>
        <p:nvSpPr>
          <p:cNvPr id="19" name="Rounded Rectangle 18"/>
          <p:cNvSpPr/>
          <p:nvPr/>
        </p:nvSpPr>
        <p:spPr>
          <a:xfrm>
            <a:off x="411480" y="3346703"/>
            <a:ext cx="457200" cy="50292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4</a:t>
            </a:r>
          </a:p>
        </p:txBody>
      </p:sp>
      <p:sp>
        <p:nvSpPr>
          <p:cNvPr id="20" name="Rounded Rectangle 19"/>
          <p:cNvSpPr/>
          <p:nvPr/>
        </p:nvSpPr>
        <p:spPr>
          <a:xfrm>
            <a:off x="1005840" y="3346703"/>
            <a:ext cx="7680960" cy="5029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400" b="0" i="0">
                <a:solidFill>
                  <a:srgbClr val="1A2F5A"/>
                </a:solidFill>
                <a:latin typeface="Calibri"/>
              </a:rPr>
              <a:t>Explain how myelination and nodes of Ranvier relate to neurone function.</a:t>
            </a:r>
          </a:p>
        </p:txBody>
      </p:sp>
      <p:sp>
        <p:nvSpPr>
          <p:cNvPr id="21" name="Rounded Rectangle 20"/>
          <p:cNvSpPr/>
          <p:nvPr/>
        </p:nvSpPr>
        <p:spPr>
          <a:xfrm>
            <a:off x="411480" y="4005071"/>
            <a:ext cx="457200" cy="50292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5</a:t>
            </a:r>
          </a:p>
        </p:txBody>
      </p:sp>
      <p:sp>
        <p:nvSpPr>
          <p:cNvPr id="22" name="Rounded Rectangle 21"/>
          <p:cNvSpPr/>
          <p:nvPr/>
        </p:nvSpPr>
        <p:spPr>
          <a:xfrm>
            <a:off x="1005840" y="4005071"/>
            <a:ext cx="7680960" cy="5029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400" b="0" i="0">
                <a:solidFill>
                  <a:srgbClr val="1A2F5A"/>
                </a:solidFill>
                <a:latin typeface="Calibri"/>
              </a:rPr>
              <a:t>Link organisation of the nervous system to clinical work in neurology.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Contents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4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1"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3"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ounded Rectangle 11">
            <a:hlinkClick r:id="rId3" action="ppaction://hlinksldjump"/>
          </p:cNvPr>
          <p:cNvSpPr/>
          <p:nvPr/>
        </p:nvSpPr>
        <p:spPr>
          <a:xfrm>
            <a:off x="1463040" y="960120"/>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1.  the human nervous system</a:t>
            </a:r>
          </a:p>
        </p:txBody>
      </p:sp>
      <p:sp>
        <p:nvSpPr>
          <p:cNvPr id="13" name="Rounded Rectangle 12">
            <a:hlinkClick r:id="rId4" action="ppaction://hlinksldjump"/>
          </p:cNvPr>
          <p:cNvSpPr/>
          <p:nvPr/>
        </p:nvSpPr>
        <p:spPr>
          <a:xfrm>
            <a:off x="1463040" y="1581912"/>
            <a:ext cx="6217920" cy="530352"/>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2.  organisation explorer (click to reveal)</a:t>
            </a:r>
          </a:p>
        </p:txBody>
      </p:sp>
      <p:sp>
        <p:nvSpPr>
          <p:cNvPr id="14" name="Rounded Rectangle 13">
            <a:hlinkClick r:id="rId5" action="ppaction://hlinksldjump"/>
          </p:cNvPr>
          <p:cNvSpPr/>
          <p:nvPr/>
        </p:nvSpPr>
        <p:spPr>
          <a:xfrm>
            <a:off x="1463040" y="2203704"/>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3.  neurone structure – click the labels</a:t>
            </a:r>
          </a:p>
        </p:txBody>
      </p:sp>
      <p:sp>
        <p:nvSpPr>
          <p:cNvPr id="15" name="Rounded Rectangle 14">
            <a:hlinkClick r:id="rId6" action="ppaction://hlinksldjump"/>
          </p:cNvPr>
          <p:cNvSpPr/>
          <p:nvPr/>
        </p:nvSpPr>
        <p:spPr>
          <a:xfrm>
            <a:off x="1463040" y="2825496"/>
            <a:ext cx="6217920" cy="530352"/>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4.  types of neurone</a:t>
            </a:r>
          </a:p>
        </p:txBody>
      </p:sp>
      <p:sp>
        <p:nvSpPr>
          <p:cNvPr id="16" name="Rounded Rectangle 15">
            <a:hlinkClick r:id="rId7" action="ppaction://hlinksldjump"/>
          </p:cNvPr>
          <p:cNvSpPr/>
          <p:nvPr/>
        </p:nvSpPr>
        <p:spPr>
          <a:xfrm>
            <a:off x="1463040" y="3447288"/>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5.  matching activity</a:t>
            </a:r>
          </a:p>
        </p:txBody>
      </p:sp>
      <p:sp>
        <p:nvSpPr>
          <p:cNvPr id="17" name="Rounded Rectangle 16">
            <a:hlinkClick r:id="rId8" action="ppaction://hlinksldjump"/>
          </p:cNvPr>
          <p:cNvSpPr/>
          <p:nvPr/>
        </p:nvSpPr>
        <p:spPr>
          <a:xfrm>
            <a:off x="1463040" y="4069080"/>
            <a:ext cx="6217920" cy="530352"/>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6.  knowledge check</a:t>
            </a:r>
          </a:p>
        </p:txBody>
      </p:sp>
      <p:sp>
        <p:nvSpPr>
          <p:cNvPr id="18" name="Rounded Rectangle 17">
            <a:hlinkClick r:id="rId9" action="ppaction://hlinksldjump"/>
          </p:cNvPr>
          <p:cNvSpPr/>
          <p:nvPr/>
        </p:nvSpPr>
        <p:spPr>
          <a:xfrm>
            <a:off x="1463040" y="4690872"/>
            <a:ext cx="6217920" cy="53035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7.  scientist case study</a:t>
            </a:r>
          </a:p>
        </p:txBody>
      </p:sp>
      <p:sp>
        <p:nvSpPr>
          <p:cNvPr id="19" name="Rounded Rectangle 18">
            <a:hlinkClick r:id="rId10" action="ppaction://hlinksldjump"/>
          </p:cNvPr>
          <p:cNvSpPr/>
          <p:nvPr/>
        </p:nvSpPr>
        <p:spPr>
          <a:xfrm>
            <a:off x="1463040" y="5312664"/>
            <a:ext cx="6217920" cy="530352"/>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8.  plenary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The human nervous system</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5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65760" y="914400"/>
            <a:ext cx="4846320" cy="4572000"/>
          </a:xfrm>
          <a:prstGeom prst="rect">
            <a:avLst/>
          </a:prstGeom>
          <a:noFill/>
        </p:spPr>
        <p:txBody>
          <a:bodyPr wrap="square" anchor="t">
            <a:spAutoFit/>
          </a:bodyPr>
          <a:lstStyle/>
          <a:p>
            <a:pPr algn="l"/>
            <a:r>
              <a:rPr sz="2000" b="0" i="0">
                <a:solidFill>
                  <a:srgbClr val="1A2F5A"/>
                </a:solidFill>
                <a:latin typeface="Calibri"/>
              </a:rPr>
              <a:t>The </a:t>
            </a:r>
            <a:r>
              <a:rPr sz="2000" b="1" i="0">
                <a:solidFill>
                  <a:srgbClr val="2E9E4F"/>
                </a:solidFill>
                <a:latin typeface="Calibri"/>
              </a:rPr>
              <a:t>nervous system</a:t>
            </a:r>
            <a:r>
              <a:rPr sz="2000" b="0" i="0">
                <a:solidFill>
                  <a:srgbClr val="1A2F5A"/>
                </a:solidFill>
                <a:latin typeface="Calibri"/>
              </a:rPr>
              <a:t> is a highly organized system of nervous tissue that detects, relays and co-ordinates information about an organism’s internal and external environment.</a:t>
            </a:r>
          </a:p>
          <a:p>
            <a:pPr algn="l">
              <a:spcAft>
                <a:spcPts val="600"/>
              </a:spcAft>
            </a:pPr>
            <a:r>
              <a:rPr sz="2000" b="0" i="0">
                <a:solidFill>
                  <a:srgbClr val="1A2F5A"/>
                </a:solidFill>
                <a:latin typeface="Calibri"/>
              </a:rPr>
              <a:t/>
            </a:r>
          </a:p>
          <a:p>
            <a:pPr algn="l">
              <a:spcAft>
                <a:spcPts val="600"/>
              </a:spcAft>
            </a:pPr>
            <a:r>
              <a:rPr sz="2000" b="0" i="0">
                <a:solidFill>
                  <a:srgbClr val="1A2F5A"/>
                </a:solidFill>
                <a:latin typeface="Calibri"/>
              </a:rPr>
              <a:t/>
            </a:r>
            <a:r>
              <a:rPr sz="2000" b="0" i="0">
                <a:solidFill>
                  <a:srgbClr val="1A2F5A"/>
                </a:solidFill>
                <a:latin typeface="Calibri"/>
              </a:rPr>
              <a:t>All nervous systems contain nerve cells, called </a:t>
            </a:r>
            <a:r>
              <a:rPr sz="2000" b="1" i="0">
                <a:solidFill>
                  <a:srgbClr val="2E9E4F"/>
                </a:solidFill>
                <a:latin typeface="Calibri"/>
              </a:rPr>
              <a:t>neurones</a:t>
            </a:r>
            <a:r>
              <a:rPr sz="2000" b="0" i="0">
                <a:solidFill>
                  <a:srgbClr val="1A2F5A"/>
                </a:solidFill>
                <a:latin typeface="Calibri"/>
              </a:rPr>
              <a:t>, which convey information in the form of nerve impulses. They can produce a rapid, localized response.</a:t>
            </a:r>
          </a:p>
        </p:txBody>
      </p:sp>
      <p:pic>
        <p:nvPicPr>
          <p:cNvPr id="13" name="Picture 12" descr="title_retina.png"/>
          <p:cNvPicPr>
            <a:picLocks noChangeAspect="1"/>
          </p:cNvPicPr>
          <p:nvPr/>
        </p:nvPicPr>
        <p:blipFill>
          <a:blip r:embed="rId2"/>
          <a:stretch>
            <a:fillRect/>
          </a:stretch>
        </p:blipFill>
        <p:spPr>
          <a:xfrm>
            <a:off x="5212080" y="1051560"/>
            <a:ext cx="4712642" cy="42062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is the nervous system organized?</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6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822960"/>
            <a:ext cx="8412480" cy="365760"/>
          </a:xfrm>
          <a:prstGeom prst="rect">
            <a:avLst/>
          </a:prstGeom>
          <a:noFill/>
        </p:spPr>
        <p:txBody>
          <a:bodyPr wrap="square" anchor="t">
            <a:spAutoFit/>
          </a:bodyPr>
          <a:lstStyle/>
          <a:p>
            <a:pPr algn="ctr">
              <a:spcAft>
                <a:spcPts val="400"/>
              </a:spcAft>
            </a:pPr>
            <a:r>
              <a:rPr sz="2000" b="1" i="0">
                <a:solidFill>
                  <a:srgbClr val="1B3A6B"/>
                </a:solidFill>
                <a:latin typeface="Calibri"/>
              </a:rPr>
              <a:t>Organization of the nervous system</a:t>
            </a:r>
          </a:p>
        </p:txBody>
      </p:sp>
      <p:sp>
        <p:nvSpPr>
          <p:cNvPr id="14" name="Rounded Rectangle 13"/>
          <p:cNvSpPr/>
          <p:nvPr/>
        </p:nvSpPr>
        <p:spPr>
          <a:xfrm>
            <a:off x="274320" y="1188720"/>
            <a:ext cx="2880360" cy="21488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300" b="0" i="0">
                <a:solidFill>
                  <a:srgbClr val="1A2F5A"/>
                </a:solidFill>
                <a:latin typeface="Calibri"/>
              </a:rPr>
              <a:t>Each part of the nervous system performs a different function.</a:t>
            </a:r>
          </a:p>
          <a:p>
            <a:pPr algn="l">
              <a:spcAft>
                <a:spcPts val="200"/>
              </a:spcAft>
            </a:pPr>
            <a:r>
              <a:rPr sz="1300" b="0" i="0">
                <a:solidFill>
                  <a:srgbClr val="1A2F5A"/>
                </a:solidFill>
                <a:latin typeface="Calibri"/>
              </a:rPr>
              <a:t/>
            </a:r>
          </a:p>
          <a:p>
            <a:pPr algn="l">
              <a:spcAft>
                <a:spcPts val="200"/>
              </a:spcAft>
            </a:pPr>
            <a:r>
              <a:rPr sz="1300" b="0" i="0">
                <a:solidFill>
                  <a:srgbClr val="1A2F5A"/>
                </a:solidFill>
                <a:latin typeface="Calibri"/>
              </a:rPr>
              <a:t>Press the red button, then each new button, to reveal how the nervous system is organized.</a:t>
            </a:r>
          </a:p>
        </p:txBody>
      </p:sp>
      <p:pic>
        <p:nvPicPr>
          <p:cNvPr id="15" name="Picture 14" descr="org_0.png"/>
          <p:cNvPicPr>
            <a:picLocks noChangeAspect="1"/>
          </p:cNvPicPr>
          <p:nvPr/>
        </p:nvPicPr>
        <p:blipFill>
          <a:blip r:embed="rId2"/>
          <a:stretch>
            <a:fillRect/>
          </a:stretch>
        </p:blipFill>
        <p:spPr>
          <a:xfrm>
            <a:off x="3154680" y="1170432"/>
            <a:ext cx="5669280" cy="3472903"/>
          </a:xfrm>
          <a:prstGeom prst="rect">
            <a:avLst/>
          </a:prstGeom>
        </p:spPr>
      </p:pic>
      <p:sp>
        <p:nvSpPr>
          <p:cNvPr id="16" name="Rounded Rectangle 15">
            <a:hlinkClick r:id="rId5" action="ppaction://hlinksldjump"/>
          </p:cNvPr>
          <p:cNvSpPr/>
          <p:nvPr/>
        </p:nvSpPr>
        <p:spPr>
          <a:xfrm>
            <a:off x="4023360" y="4892040"/>
            <a:ext cx="3108960" cy="384048"/>
          </a:xfrm>
          <a:prstGeom prst="roundRect">
            <a:avLst>
              <a:gd name="adj" fmla="val 15000"/>
            </a:avLst>
          </a:prstGeom>
          <a:solidFill>
            <a:srgbClr val="C62828"/>
          </a:solidFill>
          <a:ln w="12700">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Reveal CNS and PNS</a:t>
            </a:r>
          </a:p>
        </p:txBody>
      </p:sp>
      <p:sp>
        <p:nvSpPr>
          <p:cNvPr id="17" name="Rounded Rectangle 16">
            <a:hlinkClick r:id="rId3" action="ppaction://hlinksldjump"/>
          </p:cNvPr>
          <p:cNvSpPr/>
          <p:nvPr/>
        </p:nvSpPr>
        <p:spPr>
          <a:xfrm>
            <a:off x="32004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1645920" y="6217920"/>
            <a:ext cx="1554480" cy="29260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Show all</a:t>
            </a:r>
          </a:p>
        </p:txBody>
      </p:sp>
      <p:sp>
        <p:nvSpPr>
          <p:cNvPr id="19" name="Rounded Rectangle 18">
            <a:hlinkClick r:id="rId7" action="ppaction://hlinksldjump"/>
          </p:cNvPr>
          <p:cNvSpPr/>
          <p:nvPr/>
        </p:nvSpPr>
        <p:spPr>
          <a:xfrm>
            <a:off x="3291840" y="6217920"/>
            <a:ext cx="1554480" cy="292608"/>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Functions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is the nervous system organized?</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7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822960"/>
            <a:ext cx="8412480" cy="365760"/>
          </a:xfrm>
          <a:prstGeom prst="rect">
            <a:avLst/>
          </a:prstGeom>
          <a:noFill/>
        </p:spPr>
        <p:txBody>
          <a:bodyPr wrap="square" anchor="t">
            <a:spAutoFit/>
          </a:bodyPr>
          <a:lstStyle/>
          <a:p>
            <a:pPr algn="ctr">
              <a:spcAft>
                <a:spcPts val="400"/>
              </a:spcAft>
            </a:pPr>
            <a:r>
              <a:rPr sz="2000" b="1" i="0">
                <a:solidFill>
                  <a:srgbClr val="1B3A6B"/>
                </a:solidFill>
                <a:latin typeface="Calibri"/>
              </a:rPr>
              <a:t>Organization of the nervous system</a:t>
            </a:r>
          </a:p>
        </p:txBody>
      </p:sp>
      <p:sp>
        <p:nvSpPr>
          <p:cNvPr id="14" name="Rounded Rectangle 13"/>
          <p:cNvSpPr/>
          <p:nvPr/>
        </p:nvSpPr>
        <p:spPr>
          <a:xfrm>
            <a:off x="274320" y="1188720"/>
            <a:ext cx="2880360" cy="21488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300" b="0" i="0">
                <a:solidFill>
                  <a:srgbClr val="1A2F5A"/>
                </a:solidFill>
                <a:latin typeface="Calibri"/>
              </a:rPr>
              <a:t>The nervous system is divided into the CNS and the PNS.</a:t>
            </a:r>
          </a:p>
          <a:p>
            <a:pPr algn="l">
              <a:spcAft>
                <a:spcPts val="200"/>
              </a:spcAft>
            </a:pPr>
            <a:r>
              <a:rPr sz="1300" b="0" i="0">
                <a:solidFill>
                  <a:srgbClr val="1A2F5A"/>
                </a:solidFill>
                <a:latin typeface="Calibri"/>
              </a:rPr>
              <a:t/>
            </a:r>
          </a:p>
          <a:p>
            <a:pPr algn="l">
              <a:spcAft>
                <a:spcPts val="200"/>
              </a:spcAft>
            </a:pPr>
            <a:r>
              <a:rPr sz="1300" b="0" i="0">
                <a:solidFill>
                  <a:srgbClr val="1A2F5A"/>
                </a:solidFill>
                <a:latin typeface="Calibri"/>
              </a:rPr>
              <a:t>Press CNS and PNS to see what each contains.</a:t>
            </a:r>
          </a:p>
        </p:txBody>
      </p:sp>
      <p:pic>
        <p:nvPicPr>
          <p:cNvPr id="15" name="Picture 14" descr="org_1.png"/>
          <p:cNvPicPr>
            <a:picLocks noChangeAspect="1"/>
          </p:cNvPicPr>
          <p:nvPr/>
        </p:nvPicPr>
        <p:blipFill>
          <a:blip r:embed="rId2"/>
          <a:stretch>
            <a:fillRect/>
          </a:stretch>
        </p:blipFill>
        <p:spPr>
          <a:xfrm>
            <a:off x="3154680" y="1170432"/>
            <a:ext cx="5669280" cy="3472903"/>
          </a:xfrm>
          <a:prstGeom prst="rect">
            <a:avLst/>
          </a:prstGeom>
        </p:spPr>
      </p:pic>
      <p:sp>
        <p:nvSpPr>
          <p:cNvPr id="16" name="Rounded Rectangle 15">
            <a:hlinkClick r:id="rId5" action="ppaction://hlinksldjump"/>
          </p:cNvPr>
          <p:cNvSpPr/>
          <p:nvPr/>
        </p:nvSpPr>
        <p:spPr>
          <a:xfrm>
            <a:off x="3291840" y="4892040"/>
            <a:ext cx="2286000" cy="38404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Reveal CNS parts</a:t>
            </a:r>
          </a:p>
        </p:txBody>
      </p:sp>
      <p:sp>
        <p:nvSpPr>
          <p:cNvPr id="17" name="Rounded Rectangle 16">
            <a:hlinkClick r:id="rId6" action="ppaction://hlinksldjump"/>
          </p:cNvPr>
          <p:cNvSpPr/>
          <p:nvPr/>
        </p:nvSpPr>
        <p:spPr>
          <a:xfrm>
            <a:off x="5715000" y="4892040"/>
            <a:ext cx="2286000" cy="38404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Reveal PNS parts</a:t>
            </a:r>
          </a:p>
        </p:txBody>
      </p:sp>
      <p:sp>
        <p:nvSpPr>
          <p:cNvPr id="18" name="Rounded Rectangle 17">
            <a:hlinkClick r:id="rId3" action="ppaction://hlinksldjump"/>
          </p:cNvPr>
          <p:cNvSpPr/>
          <p:nvPr/>
        </p:nvSpPr>
        <p:spPr>
          <a:xfrm>
            <a:off x="32004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9" name="Rounded Rectangle 18">
            <a:hlinkClick r:id="rId7" action="ppaction://hlinksldjump"/>
          </p:cNvPr>
          <p:cNvSpPr/>
          <p:nvPr/>
        </p:nvSpPr>
        <p:spPr>
          <a:xfrm>
            <a:off x="1645920" y="6217920"/>
            <a:ext cx="1554480" cy="29260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Show all</a:t>
            </a:r>
          </a:p>
        </p:txBody>
      </p:sp>
      <p:sp>
        <p:nvSpPr>
          <p:cNvPr id="20" name="Rounded Rectangle 19">
            <a:hlinkClick r:id="rId8" action="ppaction://hlinksldjump"/>
          </p:cNvPr>
          <p:cNvSpPr/>
          <p:nvPr/>
        </p:nvSpPr>
        <p:spPr>
          <a:xfrm>
            <a:off x="3291840" y="6217920"/>
            <a:ext cx="1554480" cy="292608"/>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Functions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is the nervous system organized?</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8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8"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822960"/>
            <a:ext cx="8412480" cy="365760"/>
          </a:xfrm>
          <a:prstGeom prst="rect">
            <a:avLst/>
          </a:prstGeom>
          <a:noFill/>
        </p:spPr>
        <p:txBody>
          <a:bodyPr wrap="square" anchor="t">
            <a:spAutoFit/>
          </a:bodyPr>
          <a:lstStyle/>
          <a:p>
            <a:pPr algn="ctr">
              <a:spcAft>
                <a:spcPts val="400"/>
              </a:spcAft>
            </a:pPr>
            <a:r>
              <a:rPr sz="2000" b="1" i="0">
                <a:solidFill>
                  <a:srgbClr val="1B3A6B"/>
                </a:solidFill>
                <a:latin typeface="Calibri"/>
              </a:rPr>
              <a:t>Organization of the nervous system</a:t>
            </a:r>
          </a:p>
        </p:txBody>
      </p:sp>
      <p:sp>
        <p:nvSpPr>
          <p:cNvPr id="14" name="Rounded Rectangle 13"/>
          <p:cNvSpPr/>
          <p:nvPr/>
        </p:nvSpPr>
        <p:spPr>
          <a:xfrm>
            <a:off x="274320" y="1188720"/>
            <a:ext cx="2880360" cy="21488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300" b="0" i="0">
                <a:solidFill>
                  <a:srgbClr val="1A2F5A"/>
                </a:solidFill>
                <a:latin typeface="Calibri"/>
              </a:rPr>
              <a:t>The CNS is the brain and spinal cord.</a:t>
            </a:r>
          </a:p>
          <a:p>
            <a:pPr algn="l">
              <a:spcAft>
                <a:spcPts val="200"/>
              </a:spcAft>
            </a:pPr>
            <a:r>
              <a:rPr sz="1300" b="0" i="0">
                <a:solidFill>
                  <a:srgbClr val="1A2F5A"/>
                </a:solidFill>
                <a:latin typeface="Calibri"/>
              </a:rPr>
              <a:t/>
            </a:r>
          </a:p>
          <a:p>
            <a:pPr algn="l">
              <a:spcAft>
                <a:spcPts val="200"/>
              </a:spcAft>
            </a:pPr>
            <a:r>
              <a:rPr sz="1300" b="0" i="0">
                <a:solidFill>
                  <a:srgbClr val="1A2F5A"/>
                </a:solidFill>
                <a:latin typeface="Calibri"/>
              </a:rPr>
              <a:t>Press PNS to see its divisions.</a:t>
            </a:r>
          </a:p>
        </p:txBody>
      </p:sp>
      <p:pic>
        <p:nvPicPr>
          <p:cNvPr id="15" name="Picture 14" descr="org_2.png"/>
          <p:cNvPicPr>
            <a:picLocks noChangeAspect="1"/>
          </p:cNvPicPr>
          <p:nvPr/>
        </p:nvPicPr>
        <p:blipFill>
          <a:blip r:embed="rId2"/>
          <a:stretch>
            <a:fillRect/>
          </a:stretch>
        </p:blipFill>
        <p:spPr>
          <a:xfrm>
            <a:off x="3154680" y="1170432"/>
            <a:ext cx="5669280" cy="3472903"/>
          </a:xfrm>
          <a:prstGeom prst="rect">
            <a:avLst/>
          </a:prstGeom>
        </p:spPr>
      </p:pic>
      <p:sp>
        <p:nvSpPr>
          <p:cNvPr id="16" name="Rounded Rectangle 15">
            <a:hlinkClick r:id="rId5" action="ppaction://hlinksldjump"/>
          </p:cNvPr>
          <p:cNvSpPr/>
          <p:nvPr/>
        </p:nvSpPr>
        <p:spPr>
          <a:xfrm>
            <a:off x="4023360" y="4892040"/>
            <a:ext cx="3108960" cy="384048"/>
          </a:xfrm>
          <a:prstGeom prst="roundRect">
            <a:avLst>
              <a:gd name="adj" fmla="val 15000"/>
            </a:avLst>
          </a:prstGeom>
          <a:solidFill>
            <a:srgbClr val="1B3A6B"/>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Reveal PNS parts</a:t>
            </a:r>
          </a:p>
        </p:txBody>
      </p:sp>
      <p:sp>
        <p:nvSpPr>
          <p:cNvPr id="17" name="Rounded Rectangle 16">
            <a:hlinkClick r:id="rId3" action="ppaction://hlinksldjump"/>
          </p:cNvPr>
          <p:cNvSpPr/>
          <p:nvPr/>
        </p:nvSpPr>
        <p:spPr>
          <a:xfrm>
            <a:off x="32004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6" action="ppaction://hlinksldjump"/>
          </p:cNvPr>
          <p:cNvSpPr/>
          <p:nvPr/>
        </p:nvSpPr>
        <p:spPr>
          <a:xfrm>
            <a:off x="1645920" y="6217920"/>
            <a:ext cx="1554480" cy="29260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Show all</a:t>
            </a:r>
          </a:p>
        </p:txBody>
      </p:sp>
      <p:sp>
        <p:nvSpPr>
          <p:cNvPr id="19" name="Rounded Rectangle 18">
            <a:hlinkClick r:id="rId7" action="ppaction://hlinksldjump"/>
          </p:cNvPr>
          <p:cNvSpPr/>
          <p:nvPr/>
        </p:nvSpPr>
        <p:spPr>
          <a:xfrm>
            <a:off x="3291840" y="6217920"/>
            <a:ext cx="1554480" cy="292608"/>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Functions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is the nervous system organized?</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9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822960"/>
            <a:ext cx="8412480" cy="365760"/>
          </a:xfrm>
          <a:prstGeom prst="rect">
            <a:avLst/>
          </a:prstGeom>
          <a:noFill/>
        </p:spPr>
        <p:txBody>
          <a:bodyPr wrap="square" anchor="t">
            <a:spAutoFit/>
          </a:bodyPr>
          <a:lstStyle/>
          <a:p>
            <a:pPr algn="ctr">
              <a:spcAft>
                <a:spcPts val="400"/>
              </a:spcAft>
            </a:pPr>
            <a:r>
              <a:rPr sz="2000" b="1" i="0">
                <a:solidFill>
                  <a:srgbClr val="1B3A6B"/>
                </a:solidFill>
                <a:latin typeface="Calibri"/>
              </a:rPr>
              <a:t>Organization of the nervous system</a:t>
            </a:r>
          </a:p>
        </p:txBody>
      </p:sp>
      <p:sp>
        <p:nvSpPr>
          <p:cNvPr id="14" name="Rounded Rectangle 13"/>
          <p:cNvSpPr/>
          <p:nvPr/>
        </p:nvSpPr>
        <p:spPr>
          <a:xfrm>
            <a:off x="274320" y="1188720"/>
            <a:ext cx="2880360" cy="21488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300" b="0" i="0">
                <a:solidFill>
                  <a:srgbClr val="1A2F5A"/>
                </a:solidFill>
                <a:latin typeface="Calibri"/>
              </a:rPr>
              <a:t>The PNS is every nerve outside the CNS. It has somatic and autonomic divisions.</a:t>
            </a:r>
          </a:p>
          <a:p>
            <a:pPr algn="l">
              <a:spcAft>
                <a:spcPts val="200"/>
              </a:spcAft>
            </a:pPr>
            <a:r>
              <a:rPr sz="1300" b="0" i="0">
                <a:solidFill>
                  <a:srgbClr val="1A2F5A"/>
                </a:solidFill>
                <a:latin typeface="Calibri"/>
              </a:rPr>
              <a:t/>
            </a:r>
          </a:p>
          <a:p>
            <a:pPr algn="l">
              <a:spcAft>
                <a:spcPts val="200"/>
              </a:spcAft>
            </a:pPr>
            <a:r>
              <a:rPr sz="1300" b="0" i="0">
                <a:solidFill>
                  <a:srgbClr val="1A2F5A"/>
                </a:solidFill>
                <a:latin typeface="Calibri"/>
              </a:rPr>
              <a:t>Press autonomic to split it further.</a:t>
            </a:r>
          </a:p>
        </p:txBody>
      </p:sp>
      <p:pic>
        <p:nvPicPr>
          <p:cNvPr id="15" name="Picture 14" descr="org_3.png"/>
          <p:cNvPicPr>
            <a:picLocks noChangeAspect="1"/>
          </p:cNvPicPr>
          <p:nvPr/>
        </p:nvPicPr>
        <p:blipFill>
          <a:blip r:embed="rId2"/>
          <a:stretch>
            <a:fillRect/>
          </a:stretch>
        </p:blipFill>
        <p:spPr>
          <a:xfrm>
            <a:off x="3154680" y="1170432"/>
            <a:ext cx="5669280" cy="3472903"/>
          </a:xfrm>
          <a:prstGeom prst="rect">
            <a:avLst/>
          </a:prstGeom>
        </p:spPr>
      </p:pic>
      <p:sp>
        <p:nvSpPr>
          <p:cNvPr id="16" name="Rounded Rectangle 15">
            <a:hlinkClick r:id="rId5" action="ppaction://hlinksldjump"/>
          </p:cNvPr>
          <p:cNvSpPr/>
          <p:nvPr/>
        </p:nvSpPr>
        <p:spPr>
          <a:xfrm>
            <a:off x="3657600" y="4892040"/>
            <a:ext cx="3657600" cy="38404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Reveal autonomic branches</a:t>
            </a:r>
          </a:p>
        </p:txBody>
      </p:sp>
      <p:sp>
        <p:nvSpPr>
          <p:cNvPr id="17" name="Rounded Rectangle 16">
            <a:hlinkClick r:id="rId3" action="ppaction://hlinksldjump"/>
          </p:cNvPr>
          <p:cNvSpPr/>
          <p:nvPr/>
        </p:nvSpPr>
        <p:spPr>
          <a:xfrm>
            <a:off x="32004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8" name="Rounded Rectangle 17">
            <a:hlinkClick r:id="rId5" action="ppaction://hlinksldjump"/>
          </p:cNvPr>
          <p:cNvSpPr/>
          <p:nvPr/>
        </p:nvSpPr>
        <p:spPr>
          <a:xfrm>
            <a:off x="1645920" y="6217920"/>
            <a:ext cx="1554480" cy="29260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Show all</a:t>
            </a:r>
          </a:p>
        </p:txBody>
      </p:sp>
      <p:sp>
        <p:nvSpPr>
          <p:cNvPr id="19" name="Rounded Rectangle 18">
            <a:hlinkClick r:id="rId6" action="ppaction://hlinksldjump"/>
          </p:cNvPr>
          <p:cNvSpPr/>
          <p:nvPr/>
        </p:nvSpPr>
        <p:spPr>
          <a:xfrm>
            <a:off x="3291840" y="6217920"/>
            <a:ext cx="1554480" cy="292608"/>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Functions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How is the nervous system organized?</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10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8"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5760" y="822960"/>
            <a:ext cx="8412480" cy="365760"/>
          </a:xfrm>
          <a:prstGeom prst="rect">
            <a:avLst/>
          </a:prstGeom>
          <a:noFill/>
        </p:spPr>
        <p:txBody>
          <a:bodyPr wrap="square" anchor="t">
            <a:spAutoFit/>
          </a:bodyPr>
          <a:lstStyle/>
          <a:p>
            <a:pPr algn="ctr">
              <a:spcAft>
                <a:spcPts val="400"/>
              </a:spcAft>
            </a:pPr>
            <a:r>
              <a:rPr sz="2000" b="1" i="0">
                <a:solidFill>
                  <a:srgbClr val="1B3A6B"/>
                </a:solidFill>
                <a:latin typeface="Calibri"/>
              </a:rPr>
              <a:t>Organization of the nervous system</a:t>
            </a:r>
          </a:p>
        </p:txBody>
      </p:sp>
      <p:sp>
        <p:nvSpPr>
          <p:cNvPr id="14" name="Rounded Rectangle 13"/>
          <p:cNvSpPr/>
          <p:nvPr/>
        </p:nvSpPr>
        <p:spPr>
          <a:xfrm>
            <a:off x="274320" y="1188720"/>
            <a:ext cx="2880360" cy="21488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300" b="0" i="0">
                <a:solidFill>
                  <a:srgbClr val="1A2F5A"/>
                </a:solidFill>
                <a:latin typeface="Calibri"/>
              </a:rPr>
              <a:t>The autonomic nervous system has sympathetic (‘fight or flight’) and parasympathetic (‘rest and digest’) branches.</a:t>
            </a:r>
          </a:p>
        </p:txBody>
      </p:sp>
      <p:pic>
        <p:nvPicPr>
          <p:cNvPr id="15" name="Picture 14" descr="org_4.png"/>
          <p:cNvPicPr>
            <a:picLocks noChangeAspect="1"/>
          </p:cNvPicPr>
          <p:nvPr/>
        </p:nvPicPr>
        <p:blipFill>
          <a:blip r:embed="rId2"/>
          <a:stretch>
            <a:fillRect/>
          </a:stretch>
        </p:blipFill>
        <p:spPr>
          <a:xfrm>
            <a:off x="3154680" y="1170432"/>
            <a:ext cx="5669280" cy="3334871"/>
          </a:xfrm>
          <a:prstGeom prst="rect">
            <a:avLst/>
          </a:prstGeom>
        </p:spPr>
      </p:pic>
      <p:sp>
        <p:nvSpPr>
          <p:cNvPr id="16" name="Rounded Rectangle 15">
            <a:hlinkClick r:id="rId3" action="ppaction://hlinksldjump"/>
          </p:cNvPr>
          <p:cNvSpPr/>
          <p:nvPr/>
        </p:nvSpPr>
        <p:spPr>
          <a:xfrm>
            <a:off x="320040" y="6217920"/>
            <a:ext cx="123444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
        <p:nvSpPr>
          <p:cNvPr id="17" name="Rounded Rectangle 16">
            <a:hlinkClick r:id="rId4" action="ppaction://hlinksldjump"/>
          </p:cNvPr>
          <p:cNvSpPr/>
          <p:nvPr/>
        </p:nvSpPr>
        <p:spPr>
          <a:xfrm>
            <a:off x="1645920" y="6217920"/>
            <a:ext cx="1554480" cy="292608"/>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Show all</a:t>
            </a:r>
          </a:p>
        </p:txBody>
      </p:sp>
      <p:sp>
        <p:nvSpPr>
          <p:cNvPr id="18" name="Rounded Rectangle 17">
            <a:hlinkClick r:id="rId6" action="ppaction://hlinksldjump"/>
          </p:cNvPr>
          <p:cNvSpPr/>
          <p:nvPr/>
        </p:nvSpPr>
        <p:spPr>
          <a:xfrm>
            <a:off x="3291840" y="6217920"/>
            <a:ext cx="1554480" cy="292608"/>
          </a:xfrm>
          <a:prstGeom prst="roundRect">
            <a:avLst>
              <a:gd name="adj" fmla="val 15000"/>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Functions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Functions of each division</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320040" y="868680"/>
            <a:ext cx="2286000" cy="71323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CNS – brain</a:t>
            </a:r>
          </a:p>
        </p:txBody>
      </p:sp>
      <p:sp>
        <p:nvSpPr>
          <p:cNvPr id="11" name="Rounded Rectangle 10"/>
          <p:cNvSpPr/>
          <p:nvPr/>
        </p:nvSpPr>
        <p:spPr>
          <a:xfrm>
            <a:off x="2743200" y="868680"/>
            <a:ext cx="603504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A2F5A"/>
                </a:solidFill>
                <a:latin typeface="Calibri"/>
              </a:rPr>
              <a:t>Processes sensory information, initiates motor output, higher functions (memory, language, coordination).</a:t>
            </a:r>
          </a:p>
        </p:txBody>
      </p:sp>
      <p:sp>
        <p:nvSpPr>
          <p:cNvPr id="12" name="Rounded Rectangle 11"/>
          <p:cNvSpPr/>
          <p:nvPr/>
        </p:nvSpPr>
        <p:spPr>
          <a:xfrm>
            <a:off x="320040" y="1673352"/>
            <a:ext cx="2286000" cy="71323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CNS – spinal cord</a:t>
            </a:r>
          </a:p>
        </p:txBody>
      </p:sp>
      <p:sp>
        <p:nvSpPr>
          <p:cNvPr id="13" name="Rounded Rectangle 12"/>
          <p:cNvSpPr/>
          <p:nvPr/>
        </p:nvSpPr>
        <p:spPr>
          <a:xfrm>
            <a:off x="2743200" y="1673352"/>
            <a:ext cx="603504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A2F5A"/>
                </a:solidFill>
                <a:latin typeface="Calibri"/>
              </a:rPr>
              <a:t>Carries impulses between brain and PNS; is the integrating centre for many reflex arcs.</a:t>
            </a:r>
          </a:p>
        </p:txBody>
      </p:sp>
      <p:sp>
        <p:nvSpPr>
          <p:cNvPr id="14" name="Rounded Rectangle 13"/>
          <p:cNvSpPr/>
          <p:nvPr/>
        </p:nvSpPr>
        <p:spPr>
          <a:xfrm>
            <a:off x="320040" y="2478024"/>
            <a:ext cx="2286000" cy="71323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Somatic PNS</a:t>
            </a:r>
          </a:p>
        </p:txBody>
      </p:sp>
      <p:sp>
        <p:nvSpPr>
          <p:cNvPr id="15" name="Rounded Rectangle 14"/>
          <p:cNvSpPr/>
          <p:nvPr/>
        </p:nvSpPr>
        <p:spPr>
          <a:xfrm>
            <a:off x="2743200" y="2478024"/>
            <a:ext cx="603504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A2F5A"/>
                </a:solidFill>
                <a:latin typeface="Calibri"/>
              </a:rPr>
              <a:t>Sensory neurones from skin, muscles and joints; motor neurones to skeletal muscle (mostly voluntary).</a:t>
            </a:r>
          </a:p>
        </p:txBody>
      </p:sp>
      <p:sp>
        <p:nvSpPr>
          <p:cNvPr id="16" name="Rounded Rectangle 15"/>
          <p:cNvSpPr/>
          <p:nvPr/>
        </p:nvSpPr>
        <p:spPr>
          <a:xfrm>
            <a:off x="320040" y="3282696"/>
            <a:ext cx="2286000" cy="71323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Autonomic PNS</a:t>
            </a:r>
          </a:p>
        </p:txBody>
      </p:sp>
      <p:sp>
        <p:nvSpPr>
          <p:cNvPr id="17" name="Rounded Rectangle 16"/>
          <p:cNvSpPr/>
          <p:nvPr/>
        </p:nvSpPr>
        <p:spPr>
          <a:xfrm>
            <a:off x="2743200" y="3282696"/>
            <a:ext cx="603504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A2F5A"/>
                </a:solidFill>
                <a:latin typeface="Calibri"/>
              </a:rPr>
              <a:t>Controls glands, smooth muscle and cardiac muscle (involuntary).</a:t>
            </a:r>
          </a:p>
        </p:txBody>
      </p:sp>
      <p:sp>
        <p:nvSpPr>
          <p:cNvPr id="18" name="Rounded Rectangle 17"/>
          <p:cNvSpPr/>
          <p:nvPr/>
        </p:nvSpPr>
        <p:spPr>
          <a:xfrm>
            <a:off x="320040" y="4087368"/>
            <a:ext cx="2286000" cy="71323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Sympathetic</a:t>
            </a:r>
          </a:p>
        </p:txBody>
      </p:sp>
      <p:sp>
        <p:nvSpPr>
          <p:cNvPr id="19" name="Rounded Rectangle 18"/>
          <p:cNvSpPr/>
          <p:nvPr/>
        </p:nvSpPr>
        <p:spPr>
          <a:xfrm>
            <a:off x="2743200" y="4087368"/>
            <a:ext cx="603504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A2F5A"/>
                </a:solidFill>
                <a:latin typeface="Calibri"/>
              </a:rPr>
              <a:t>Increases heart rate, dilates bronchioles, diverts blood to muscle – ‘fight or flight’.</a:t>
            </a:r>
          </a:p>
        </p:txBody>
      </p:sp>
      <p:sp>
        <p:nvSpPr>
          <p:cNvPr id="20" name="Rounded Rectangle 19"/>
          <p:cNvSpPr/>
          <p:nvPr/>
        </p:nvSpPr>
        <p:spPr>
          <a:xfrm>
            <a:off x="320040" y="4892040"/>
            <a:ext cx="2286000" cy="713232"/>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Parasympathetic</a:t>
            </a:r>
          </a:p>
        </p:txBody>
      </p:sp>
      <p:sp>
        <p:nvSpPr>
          <p:cNvPr id="21" name="Rounded Rectangle 20"/>
          <p:cNvSpPr/>
          <p:nvPr/>
        </p:nvSpPr>
        <p:spPr>
          <a:xfrm>
            <a:off x="2743200" y="4892040"/>
            <a:ext cx="6035040" cy="713232"/>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l">
              <a:spcBef>
                <a:spcPts val="0"/>
              </a:spcBef>
              <a:spcAft>
                <a:spcPts val="200"/>
              </a:spcAft>
            </a:pPr>
            <a:r>
              <a:rPr sz="1300" b="0" i="0">
                <a:solidFill>
                  <a:srgbClr val="1A2F5A"/>
                </a:solidFill>
                <a:latin typeface="Calibri"/>
              </a:rPr>
              <a:t>Slows heart rate, stimulates digestion – ‘rest and digest’. Antagonistic to sympathetic.</a:t>
            </a:r>
          </a:p>
        </p:txBody>
      </p:sp>
      <p:sp>
        <p:nvSpPr>
          <p:cNvPr id="22" name="Rounded Rectangle 21">
            <a:hlinkClick r:id="rId2" action="ppaction://hlinksldjump"/>
          </p:cNvPr>
          <p:cNvSpPr/>
          <p:nvPr/>
        </p:nvSpPr>
        <p:spPr>
          <a:xfrm>
            <a:off x="3291840" y="5989320"/>
            <a:ext cx="237744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explorer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General structure of a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11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1"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2"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20040" y="804672"/>
            <a:ext cx="8503920" cy="347472"/>
          </a:xfrm>
          <a:prstGeom prst="rect">
            <a:avLst/>
          </a:prstGeom>
          <a:noFill/>
        </p:spPr>
        <p:txBody>
          <a:bodyPr wrap="square" anchor="t">
            <a:spAutoFit/>
          </a:bodyPr>
          <a:lstStyle/>
          <a:p>
            <a:pPr algn="ctr">
              <a:spcAft>
                <a:spcPts val="400"/>
              </a:spcAft>
            </a:pPr>
            <a:r>
              <a:rPr sz="2000" b="1" i="0">
                <a:solidFill>
                  <a:srgbClr val="1B3A6B"/>
                </a:solidFill>
                <a:latin typeface="Calibri"/>
              </a:rPr>
              <a:t>What is the structure of a neurone?</a:t>
            </a:r>
          </a:p>
        </p:txBody>
      </p:sp>
      <p:pic>
        <p:nvPicPr>
          <p:cNvPr id="14" name="Picture 13" descr="neurone_structure.png"/>
          <p:cNvPicPr>
            <a:picLocks noChangeAspect="1"/>
          </p:cNvPicPr>
          <p:nvPr/>
        </p:nvPicPr>
        <p:blipFill>
          <a:blip r:embed="rId2"/>
          <a:stretch>
            <a:fillRect/>
          </a:stretch>
        </p:blipFill>
        <p:spPr>
          <a:xfrm>
            <a:off x="182880" y="1143000"/>
            <a:ext cx="8686800" cy="4091158"/>
          </a:xfrm>
          <a:prstGeom prst="rect">
            <a:avLst/>
          </a:prstGeom>
        </p:spPr>
      </p:pic>
      <p:sp>
        <p:nvSpPr>
          <p:cNvPr id="15" name="Rounded Rectangle 14">
            <a:hlinkClick r:id="rId5" action="ppaction://hlinksldjump"/>
          </p:cNvPr>
          <p:cNvSpPr/>
          <p:nvPr/>
        </p:nvSpPr>
        <p:spPr>
          <a:xfrm>
            <a:off x="1965960" y="1234440"/>
            <a:ext cx="2148840" cy="38404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cell body ▶</a:t>
            </a:r>
          </a:p>
        </p:txBody>
      </p:sp>
      <p:sp>
        <p:nvSpPr>
          <p:cNvPr id="16" name="Rounded Rectangle 15">
            <a:hlinkClick r:id="rId6" action="ppaction://hlinksldjump"/>
          </p:cNvPr>
          <p:cNvSpPr/>
          <p:nvPr/>
        </p:nvSpPr>
        <p:spPr>
          <a:xfrm>
            <a:off x="411480" y="3246120"/>
            <a:ext cx="2148840" cy="38404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dendrites ▶</a:t>
            </a:r>
          </a:p>
        </p:txBody>
      </p:sp>
      <p:sp>
        <p:nvSpPr>
          <p:cNvPr id="17" name="Rounded Rectangle 16">
            <a:hlinkClick r:id="rId7" action="ppaction://hlinksldjump"/>
          </p:cNvPr>
          <p:cNvSpPr/>
          <p:nvPr/>
        </p:nvSpPr>
        <p:spPr>
          <a:xfrm>
            <a:off x="3977639" y="3246120"/>
            <a:ext cx="2148840" cy="38404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myelin sheath ▶</a:t>
            </a:r>
          </a:p>
        </p:txBody>
      </p:sp>
      <p:sp>
        <p:nvSpPr>
          <p:cNvPr id="18" name="Rounded Rectangle 17">
            <a:hlinkClick r:id="rId8" action="ppaction://hlinksldjump"/>
          </p:cNvPr>
          <p:cNvSpPr/>
          <p:nvPr/>
        </p:nvSpPr>
        <p:spPr>
          <a:xfrm>
            <a:off x="4160520" y="1234440"/>
            <a:ext cx="2148840" cy="38404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axon ▶</a:t>
            </a:r>
          </a:p>
        </p:txBody>
      </p:sp>
      <p:sp>
        <p:nvSpPr>
          <p:cNvPr id="19" name="Rounded Rectangle 18">
            <a:hlinkClick r:id="rId9" action="ppaction://hlinksldjump"/>
          </p:cNvPr>
          <p:cNvSpPr/>
          <p:nvPr/>
        </p:nvSpPr>
        <p:spPr>
          <a:xfrm>
            <a:off x="5989320" y="1234440"/>
            <a:ext cx="2148840" cy="38404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node of Ranvier ▶</a:t>
            </a:r>
          </a:p>
        </p:txBody>
      </p:sp>
      <p:sp>
        <p:nvSpPr>
          <p:cNvPr id="20" name="Rounded Rectangle 19">
            <a:hlinkClick r:id="rId10" action="ppaction://hlinksldjump"/>
          </p:cNvPr>
          <p:cNvSpPr/>
          <p:nvPr/>
        </p:nvSpPr>
        <p:spPr>
          <a:xfrm>
            <a:off x="6126480" y="3246120"/>
            <a:ext cx="2148840" cy="384048"/>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1B3A6B"/>
                </a:solidFill>
                <a:latin typeface="Calibri"/>
              </a:rPr>
              <a:t>nucleus of Schwann cell ▶</a:t>
            </a:r>
          </a:p>
        </p:txBody>
      </p:sp>
      <p:sp>
        <p:nvSpPr>
          <p:cNvPr id="21" name="Rounded Rectangle 20"/>
          <p:cNvSpPr/>
          <p:nvPr/>
        </p:nvSpPr>
        <p:spPr>
          <a:xfrm>
            <a:off x="320040" y="5074920"/>
            <a:ext cx="8503920" cy="100584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Neurones are specialized cells that convey information in the form of nerve impulses. Press on the labels to find out more about each part of the neurone.</a:t>
            </a:r>
          </a:p>
        </p:txBody>
      </p:sp>
      <p:sp>
        <p:nvSpPr>
          <p:cNvPr id="22" name="Rounded Rectangle 21">
            <a:hlinkClick r:id="rId3" action="ppaction://hlinksldjump"/>
          </p:cNvPr>
          <p:cNvSpPr/>
          <p:nvPr/>
        </p:nvSpPr>
        <p:spPr>
          <a:xfrm>
            <a:off x="7223760" y="6217920"/>
            <a:ext cx="155448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General structure of a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neurone_structure.png"/>
          <p:cNvPicPr>
            <a:picLocks noChangeAspect="1"/>
          </p:cNvPicPr>
          <p:nvPr/>
        </p:nvPicPr>
        <p:blipFill>
          <a:blip r:embed="rId2"/>
          <a:stretch>
            <a:fillRect/>
          </a:stretch>
        </p:blipFill>
        <p:spPr>
          <a:xfrm>
            <a:off x="228600" y="914400"/>
            <a:ext cx="8595360" cy="4048093"/>
          </a:xfrm>
          <a:prstGeom prst="rect">
            <a:avLst/>
          </a:prstGeom>
        </p:spPr>
      </p:pic>
      <p:sp>
        <p:nvSpPr>
          <p:cNvPr id="11" name="Rounded Rectangle 10"/>
          <p:cNvSpPr/>
          <p:nvPr/>
        </p:nvSpPr>
        <p:spPr>
          <a:xfrm>
            <a:off x="3017520" y="804672"/>
            <a:ext cx="310896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Cell body</a:t>
            </a:r>
          </a:p>
        </p:txBody>
      </p:sp>
      <p:sp>
        <p:nvSpPr>
          <p:cNvPr id="12" name="Rounded Rectangle 11"/>
          <p:cNvSpPr/>
          <p:nvPr/>
        </p:nvSpPr>
        <p:spPr>
          <a:xfrm>
            <a:off x="365760" y="4434840"/>
            <a:ext cx="201168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Cell body</a:t>
            </a:r>
          </a:p>
        </p:txBody>
      </p:sp>
      <p:sp>
        <p:nvSpPr>
          <p:cNvPr id="13" name="Rounded Rectangle 12"/>
          <p:cNvSpPr/>
          <p:nvPr/>
        </p:nvSpPr>
        <p:spPr>
          <a:xfrm>
            <a:off x="320040" y="4846320"/>
            <a:ext cx="8503920" cy="11430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The cell body (soma) contains the nucleus and organelles. It is the metabolic centre of the neurone and manufactures proteins and neurotransmitters. In motor neurones it lies in the CNS; in sensory neurones it lies in a ganglion just outside the CNS.</a:t>
            </a:r>
          </a:p>
        </p:txBody>
      </p:sp>
      <p:sp>
        <p:nvSpPr>
          <p:cNvPr id="14" name="Rounded Rectangle 13">
            <a:hlinkClick r:id="rId3" action="ppaction://hlinksldjump"/>
          </p:cNvPr>
          <p:cNvSpPr/>
          <p:nvPr/>
        </p:nvSpPr>
        <p:spPr>
          <a:xfrm>
            <a:off x="3383280" y="6053328"/>
            <a:ext cx="2286000" cy="34747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General structure of a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neurone_structure.png"/>
          <p:cNvPicPr>
            <a:picLocks noChangeAspect="1"/>
          </p:cNvPicPr>
          <p:nvPr/>
        </p:nvPicPr>
        <p:blipFill>
          <a:blip r:embed="rId2"/>
          <a:stretch>
            <a:fillRect/>
          </a:stretch>
        </p:blipFill>
        <p:spPr>
          <a:xfrm>
            <a:off x="228600" y="914400"/>
            <a:ext cx="8595360" cy="4048093"/>
          </a:xfrm>
          <a:prstGeom prst="rect">
            <a:avLst/>
          </a:prstGeom>
        </p:spPr>
      </p:pic>
      <p:sp>
        <p:nvSpPr>
          <p:cNvPr id="11" name="Rounded Rectangle 10"/>
          <p:cNvSpPr/>
          <p:nvPr/>
        </p:nvSpPr>
        <p:spPr>
          <a:xfrm>
            <a:off x="3017520" y="804672"/>
            <a:ext cx="310896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Dendrites</a:t>
            </a:r>
          </a:p>
        </p:txBody>
      </p:sp>
      <p:sp>
        <p:nvSpPr>
          <p:cNvPr id="12" name="Rounded Rectangle 11"/>
          <p:cNvSpPr/>
          <p:nvPr/>
        </p:nvSpPr>
        <p:spPr>
          <a:xfrm>
            <a:off x="365760" y="4434840"/>
            <a:ext cx="201168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Dendrites</a:t>
            </a:r>
          </a:p>
        </p:txBody>
      </p:sp>
      <p:sp>
        <p:nvSpPr>
          <p:cNvPr id="13" name="Rounded Rectangle 12"/>
          <p:cNvSpPr/>
          <p:nvPr/>
        </p:nvSpPr>
        <p:spPr>
          <a:xfrm>
            <a:off x="320040" y="4846320"/>
            <a:ext cx="8503920" cy="11430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Dendrites are highly branched cytoplasmic extensions. They receive impulses from other neurones (or from a receptor) and carry them towards the cell body. More branches mean a larger surface area for synapses.</a:t>
            </a:r>
          </a:p>
        </p:txBody>
      </p:sp>
      <p:sp>
        <p:nvSpPr>
          <p:cNvPr id="14" name="Rounded Rectangle 13">
            <a:hlinkClick r:id="rId3" action="ppaction://hlinksldjump"/>
          </p:cNvPr>
          <p:cNvSpPr/>
          <p:nvPr/>
        </p:nvSpPr>
        <p:spPr>
          <a:xfrm>
            <a:off x="3383280" y="6053328"/>
            <a:ext cx="2286000" cy="34747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General structure of a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neurone_structure.png"/>
          <p:cNvPicPr>
            <a:picLocks noChangeAspect="1"/>
          </p:cNvPicPr>
          <p:nvPr/>
        </p:nvPicPr>
        <p:blipFill>
          <a:blip r:embed="rId2"/>
          <a:stretch>
            <a:fillRect/>
          </a:stretch>
        </p:blipFill>
        <p:spPr>
          <a:xfrm>
            <a:off x="228600" y="914400"/>
            <a:ext cx="8595360" cy="4048093"/>
          </a:xfrm>
          <a:prstGeom prst="rect">
            <a:avLst/>
          </a:prstGeom>
        </p:spPr>
      </p:pic>
      <p:sp>
        <p:nvSpPr>
          <p:cNvPr id="11" name="Rounded Rectangle 10"/>
          <p:cNvSpPr/>
          <p:nvPr/>
        </p:nvSpPr>
        <p:spPr>
          <a:xfrm>
            <a:off x="3017520" y="804672"/>
            <a:ext cx="310896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Axon</a:t>
            </a:r>
          </a:p>
        </p:txBody>
      </p:sp>
      <p:sp>
        <p:nvSpPr>
          <p:cNvPr id="12" name="Rounded Rectangle 11"/>
          <p:cNvSpPr/>
          <p:nvPr/>
        </p:nvSpPr>
        <p:spPr>
          <a:xfrm>
            <a:off x="365760" y="4434840"/>
            <a:ext cx="201168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Axon</a:t>
            </a:r>
          </a:p>
        </p:txBody>
      </p:sp>
      <p:sp>
        <p:nvSpPr>
          <p:cNvPr id="13" name="Rounded Rectangle 12"/>
          <p:cNvSpPr/>
          <p:nvPr/>
        </p:nvSpPr>
        <p:spPr>
          <a:xfrm>
            <a:off x="320040" y="4846320"/>
            <a:ext cx="8503920" cy="11430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The axon is a long, single fibre that carries the nerve impulse away from the cell body towards the synaptic terminals. Motor axons may be more than a metre long. The axoplasm is surrounded by the axon membrane, where the action potential is generated.</a:t>
            </a:r>
          </a:p>
        </p:txBody>
      </p:sp>
      <p:sp>
        <p:nvSpPr>
          <p:cNvPr id="14" name="Rounded Rectangle 13">
            <a:hlinkClick r:id="rId3" action="ppaction://hlinksldjump"/>
          </p:cNvPr>
          <p:cNvSpPr/>
          <p:nvPr/>
        </p:nvSpPr>
        <p:spPr>
          <a:xfrm>
            <a:off x="3383280" y="6053328"/>
            <a:ext cx="2286000" cy="34747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General structure of a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neurone_structure.png"/>
          <p:cNvPicPr>
            <a:picLocks noChangeAspect="1"/>
          </p:cNvPicPr>
          <p:nvPr/>
        </p:nvPicPr>
        <p:blipFill>
          <a:blip r:embed="rId2"/>
          <a:stretch>
            <a:fillRect/>
          </a:stretch>
        </p:blipFill>
        <p:spPr>
          <a:xfrm>
            <a:off x="228600" y="914400"/>
            <a:ext cx="8595360" cy="4048093"/>
          </a:xfrm>
          <a:prstGeom prst="rect">
            <a:avLst/>
          </a:prstGeom>
        </p:spPr>
      </p:pic>
      <p:sp>
        <p:nvSpPr>
          <p:cNvPr id="11" name="Rounded Rectangle 10"/>
          <p:cNvSpPr/>
          <p:nvPr/>
        </p:nvSpPr>
        <p:spPr>
          <a:xfrm>
            <a:off x="3017520" y="804672"/>
            <a:ext cx="310896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Myelin sheath</a:t>
            </a:r>
          </a:p>
        </p:txBody>
      </p:sp>
      <p:sp>
        <p:nvSpPr>
          <p:cNvPr id="12" name="Rounded Rectangle 11"/>
          <p:cNvSpPr/>
          <p:nvPr/>
        </p:nvSpPr>
        <p:spPr>
          <a:xfrm>
            <a:off x="365760" y="4434840"/>
            <a:ext cx="201168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Myelin sheath</a:t>
            </a:r>
          </a:p>
        </p:txBody>
      </p:sp>
      <p:sp>
        <p:nvSpPr>
          <p:cNvPr id="13" name="Rounded Rectangle 12"/>
          <p:cNvSpPr/>
          <p:nvPr/>
        </p:nvSpPr>
        <p:spPr>
          <a:xfrm>
            <a:off x="320040" y="4846320"/>
            <a:ext cx="8503920" cy="11430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A thick insulating layer of fatty material (myelin) wrapped around the axon by Schwann cells in the PNS (oligodendrocytes in the CNS). It prevents ion leakage and greatly increases conduction speed.</a:t>
            </a:r>
          </a:p>
        </p:txBody>
      </p:sp>
      <p:sp>
        <p:nvSpPr>
          <p:cNvPr id="14" name="Rounded Rectangle 13">
            <a:hlinkClick r:id="rId3" action="ppaction://hlinksldjump"/>
          </p:cNvPr>
          <p:cNvSpPr/>
          <p:nvPr/>
        </p:nvSpPr>
        <p:spPr>
          <a:xfrm>
            <a:off x="3383280" y="6053328"/>
            <a:ext cx="2286000" cy="34747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General structure of a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neurone_structure.png"/>
          <p:cNvPicPr>
            <a:picLocks noChangeAspect="1"/>
          </p:cNvPicPr>
          <p:nvPr/>
        </p:nvPicPr>
        <p:blipFill>
          <a:blip r:embed="rId2"/>
          <a:stretch>
            <a:fillRect/>
          </a:stretch>
        </p:blipFill>
        <p:spPr>
          <a:xfrm>
            <a:off x="228600" y="914400"/>
            <a:ext cx="8595360" cy="4048093"/>
          </a:xfrm>
          <a:prstGeom prst="rect">
            <a:avLst/>
          </a:prstGeom>
        </p:spPr>
      </p:pic>
      <p:sp>
        <p:nvSpPr>
          <p:cNvPr id="11" name="Rounded Rectangle 10"/>
          <p:cNvSpPr/>
          <p:nvPr/>
        </p:nvSpPr>
        <p:spPr>
          <a:xfrm>
            <a:off x="3017520" y="804672"/>
            <a:ext cx="310896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Node of Ranvier</a:t>
            </a:r>
          </a:p>
        </p:txBody>
      </p:sp>
      <p:sp>
        <p:nvSpPr>
          <p:cNvPr id="12" name="Rounded Rectangle 11"/>
          <p:cNvSpPr/>
          <p:nvPr/>
        </p:nvSpPr>
        <p:spPr>
          <a:xfrm>
            <a:off x="365760" y="4434840"/>
            <a:ext cx="201168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Node of Ranvier</a:t>
            </a:r>
          </a:p>
        </p:txBody>
      </p:sp>
      <p:sp>
        <p:nvSpPr>
          <p:cNvPr id="13" name="Rounded Rectangle 12"/>
          <p:cNvSpPr/>
          <p:nvPr/>
        </p:nvSpPr>
        <p:spPr>
          <a:xfrm>
            <a:off x="320040" y="4846320"/>
            <a:ext cx="8503920" cy="11430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A gap in the myelin sheath where the axon membrane is exposed. Voltage-gated ion channels are concentrated here. The action potential ‘jumps’ from node to node – saltatory conduction.</a:t>
            </a:r>
          </a:p>
        </p:txBody>
      </p:sp>
      <p:sp>
        <p:nvSpPr>
          <p:cNvPr id="14" name="Rounded Rectangle 13">
            <a:hlinkClick r:id="rId3" action="ppaction://hlinksldjump"/>
          </p:cNvPr>
          <p:cNvSpPr/>
          <p:nvPr/>
        </p:nvSpPr>
        <p:spPr>
          <a:xfrm>
            <a:off x="3383280" y="6053328"/>
            <a:ext cx="2286000" cy="34747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General structure of a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pic>
        <p:nvPicPr>
          <p:cNvPr id="10" name="Picture 9" descr="neurone_structure.png"/>
          <p:cNvPicPr>
            <a:picLocks noChangeAspect="1"/>
          </p:cNvPicPr>
          <p:nvPr/>
        </p:nvPicPr>
        <p:blipFill>
          <a:blip r:embed="rId2"/>
          <a:stretch>
            <a:fillRect/>
          </a:stretch>
        </p:blipFill>
        <p:spPr>
          <a:xfrm>
            <a:off x="228600" y="914400"/>
            <a:ext cx="8595360" cy="4048093"/>
          </a:xfrm>
          <a:prstGeom prst="rect">
            <a:avLst/>
          </a:prstGeom>
        </p:spPr>
      </p:pic>
      <p:sp>
        <p:nvSpPr>
          <p:cNvPr id="11" name="Rounded Rectangle 10"/>
          <p:cNvSpPr/>
          <p:nvPr/>
        </p:nvSpPr>
        <p:spPr>
          <a:xfrm>
            <a:off x="3017520" y="804672"/>
            <a:ext cx="310896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1B3A6B"/>
                </a:solidFill>
                <a:latin typeface="Calibri"/>
              </a:rPr>
              <a:t>Schwann cell</a:t>
            </a:r>
          </a:p>
        </p:txBody>
      </p:sp>
      <p:sp>
        <p:nvSpPr>
          <p:cNvPr id="12" name="Rounded Rectangle 11"/>
          <p:cNvSpPr/>
          <p:nvPr/>
        </p:nvSpPr>
        <p:spPr>
          <a:xfrm>
            <a:off x="365760" y="4434840"/>
            <a:ext cx="2011680" cy="36576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Schwann cell</a:t>
            </a:r>
          </a:p>
        </p:txBody>
      </p:sp>
      <p:sp>
        <p:nvSpPr>
          <p:cNvPr id="13" name="Rounded Rectangle 12"/>
          <p:cNvSpPr/>
          <p:nvPr/>
        </p:nvSpPr>
        <p:spPr>
          <a:xfrm>
            <a:off x="320040" y="4846320"/>
            <a:ext cx="8503920" cy="11430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500" b="0" i="0">
                <a:solidFill>
                  <a:srgbClr val="1A2F5A"/>
                </a:solidFill>
                <a:latin typeface="Calibri"/>
              </a:rPr>
              <a:t>A glial cell that wraps around a PNS axon, forming the myelin sheath. The nucleus of the Schwann cell sits in the outermost layer of the wrap. One Schwann cell myelinates one internodal segment of one axon.</a:t>
            </a:r>
          </a:p>
        </p:txBody>
      </p:sp>
      <p:sp>
        <p:nvSpPr>
          <p:cNvPr id="14" name="Rounded Rectangle 13">
            <a:hlinkClick r:id="rId3" action="ppaction://hlinksldjump"/>
          </p:cNvPr>
          <p:cNvSpPr/>
          <p:nvPr/>
        </p:nvSpPr>
        <p:spPr>
          <a:xfrm>
            <a:off x="3383280" y="6053328"/>
            <a:ext cx="2286000" cy="347472"/>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diagram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Types of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12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9"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0"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65760" y="804672"/>
            <a:ext cx="8229600" cy="320040"/>
          </a:xfrm>
          <a:prstGeom prst="rect">
            <a:avLst/>
          </a:prstGeom>
          <a:noFill/>
        </p:spPr>
        <p:txBody>
          <a:bodyPr wrap="square" anchor="t">
            <a:spAutoFit/>
          </a:bodyPr>
          <a:lstStyle/>
          <a:p>
            <a:pPr algn="l">
              <a:spcAft>
                <a:spcPts val="400"/>
              </a:spcAft>
            </a:pPr>
            <a:r>
              <a:rPr sz="1800" b="0" i="0">
                <a:solidFill>
                  <a:srgbClr val="1B3A6B"/>
                </a:solidFill>
                <a:latin typeface="Calibri"/>
              </a:rPr>
              <a:t>There are several different types of neurone:</a:t>
            </a:r>
          </a:p>
        </p:txBody>
      </p:sp>
      <p:sp>
        <p:nvSpPr>
          <p:cNvPr id="13" name="TextBox 12"/>
          <p:cNvSpPr txBox="1"/>
          <p:nvPr/>
        </p:nvSpPr>
        <p:spPr>
          <a:xfrm>
            <a:off x="228600" y="1170432"/>
            <a:ext cx="1417320" cy="822960"/>
          </a:xfrm>
          <a:prstGeom prst="rect">
            <a:avLst/>
          </a:prstGeom>
          <a:noFill/>
        </p:spPr>
        <p:txBody>
          <a:bodyPr wrap="square" anchor="t">
            <a:spAutoFit/>
          </a:bodyPr>
          <a:lstStyle/>
          <a:p>
            <a:pPr algn="l">
              <a:spcAft>
                <a:spcPts val="400"/>
              </a:spcAft>
            </a:pPr>
            <a:r>
              <a:rPr sz="1400" b="1" i="0">
                <a:solidFill>
                  <a:srgbClr val="2E9E4F"/>
                </a:solidFill>
                <a:latin typeface="Calibri"/>
              </a:rPr>
              <a:t>sensory</a:t>
            </a:r>
          </a:p>
          <a:p>
            <a:pPr algn="l">
              <a:spcAft>
                <a:spcPts val="400"/>
              </a:spcAft>
            </a:pPr>
            <a:r>
              <a:rPr sz="1400" b="1" i="0">
                <a:solidFill>
                  <a:srgbClr val="2E9E4F"/>
                </a:solidFill>
                <a:latin typeface="Calibri"/>
              </a:rPr>
              <a:t>neurones:</a:t>
            </a:r>
          </a:p>
        </p:txBody>
      </p:sp>
      <p:sp>
        <p:nvSpPr>
          <p:cNvPr id="14" name="TextBox 13"/>
          <p:cNvSpPr txBox="1"/>
          <p:nvPr/>
        </p:nvSpPr>
        <p:spPr>
          <a:xfrm>
            <a:off x="1554480" y="1399032"/>
            <a:ext cx="1417320" cy="457200"/>
          </a:xfrm>
          <a:prstGeom prst="rect">
            <a:avLst/>
          </a:prstGeom>
          <a:noFill/>
        </p:spPr>
        <p:txBody>
          <a:bodyPr wrap="square" anchor="t">
            <a:spAutoFit/>
          </a:bodyPr>
          <a:lstStyle/>
          <a:p>
            <a:pPr algn="r">
              <a:spcAft>
                <a:spcPts val="400"/>
              </a:spcAft>
            </a:pPr>
            <a:r>
              <a:rPr sz="1200" b="1" i="0">
                <a:solidFill>
                  <a:srgbClr val="1B3A6B"/>
                </a:solidFill>
                <a:latin typeface="Calibri"/>
              </a:rPr>
              <a:t>receptor organs</a:t>
            </a:r>
          </a:p>
        </p:txBody>
      </p:sp>
      <p:pic>
        <p:nvPicPr>
          <p:cNvPr id="15" name="Picture 14" descr="sensory_neurone.png"/>
          <p:cNvPicPr>
            <a:picLocks noChangeAspect="1"/>
          </p:cNvPicPr>
          <p:nvPr/>
        </p:nvPicPr>
        <p:blipFill>
          <a:blip r:embed="rId2"/>
          <a:stretch>
            <a:fillRect/>
          </a:stretch>
        </p:blipFill>
        <p:spPr>
          <a:xfrm>
            <a:off x="2971800" y="1124712"/>
            <a:ext cx="4160520" cy="1469587"/>
          </a:xfrm>
          <a:prstGeom prst="rect">
            <a:avLst/>
          </a:prstGeom>
        </p:spPr>
      </p:pic>
      <p:sp>
        <p:nvSpPr>
          <p:cNvPr id="16" name="TextBox 15"/>
          <p:cNvSpPr txBox="1"/>
          <p:nvPr/>
        </p:nvSpPr>
        <p:spPr>
          <a:xfrm>
            <a:off x="7178040" y="1399032"/>
            <a:ext cx="1234440" cy="457200"/>
          </a:xfrm>
          <a:prstGeom prst="rect">
            <a:avLst/>
          </a:prstGeom>
          <a:noFill/>
        </p:spPr>
        <p:txBody>
          <a:bodyPr wrap="square" anchor="t">
            <a:spAutoFit/>
          </a:bodyPr>
          <a:lstStyle/>
          <a:p>
            <a:pPr algn="l">
              <a:spcAft>
                <a:spcPts val="400"/>
              </a:spcAft>
            </a:pPr>
            <a:r>
              <a:rPr sz="1200" b="1" i="0">
                <a:solidFill>
                  <a:srgbClr val="1B3A6B"/>
                </a:solidFill>
                <a:latin typeface="Calibri"/>
              </a:rPr>
              <a:t>CNS</a:t>
            </a:r>
          </a:p>
        </p:txBody>
      </p:sp>
      <p:sp>
        <p:nvSpPr>
          <p:cNvPr id="17" name="Rounded Rectangle 16">
            <a:hlinkClick r:id="rId6" action="ppaction://hlinksldjump"/>
          </p:cNvPr>
          <p:cNvSpPr/>
          <p:nvPr/>
        </p:nvSpPr>
        <p:spPr>
          <a:xfrm>
            <a:off x="8092440" y="1426464"/>
            <a:ext cx="822960" cy="329184"/>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FFFFFF"/>
                </a:solidFill>
                <a:latin typeface="Calibri"/>
              </a:rPr>
              <a:t>info</a:t>
            </a:r>
          </a:p>
        </p:txBody>
      </p:sp>
      <p:sp>
        <p:nvSpPr>
          <p:cNvPr id="18" name="TextBox 17"/>
          <p:cNvSpPr txBox="1"/>
          <p:nvPr/>
        </p:nvSpPr>
        <p:spPr>
          <a:xfrm>
            <a:off x="228600" y="2587752"/>
            <a:ext cx="1417320" cy="822960"/>
          </a:xfrm>
          <a:prstGeom prst="rect">
            <a:avLst/>
          </a:prstGeom>
          <a:noFill/>
        </p:spPr>
        <p:txBody>
          <a:bodyPr wrap="square" anchor="t">
            <a:spAutoFit/>
          </a:bodyPr>
          <a:lstStyle/>
          <a:p>
            <a:pPr algn="l">
              <a:spcAft>
                <a:spcPts val="400"/>
              </a:spcAft>
            </a:pPr>
            <a:r>
              <a:rPr sz="1400" b="1" i="0">
                <a:solidFill>
                  <a:srgbClr val="2E9E4F"/>
                </a:solidFill>
                <a:latin typeface="Calibri"/>
              </a:rPr>
              <a:t>relay</a:t>
            </a:r>
          </a:p>
          <a:p>
            <a:pPr algn="l">
              <a:spcAft>
                <a:spcPts val="400"/>
              </a:spcAft>
            </a:pPr>
            <a:r>
              <a:rPr sz="1400" b="1" i="0">
                <a:solidFill>
                  <a:srgbClr val="2E9E4F"/>
                </a:solidFill>
                <a:latin typeface="Calibri"/>
              </a:rPr>
              <a:t>neurones:</a:t>
            </a:r>
          </a:p>
        </p:txBody>
      </p:sp>
      <p:sp>
        <p:nvSpPr>
          <p:cNvPr id="19" name="TextBox 18"/>
          <p:cNvSpPr txBox="1"/>
          <p:nvPr/>
        </p:nvSpPr>
        <p:spPr>
          <a:xfrm>
            <a:off x="1554480" y="2816352"/>
            <a:ext cx="1417320" cy="457200"/>
          </a:xfrm>
          <a:prstGeom prst="rect">
            <a:avLst/>
          </a:prstGeom>
          <a:noFill/>
        </p:spPr>
        <p:txBody>
          <a:bodyPr wrap="square" anchor="t">
            <a:spAutoFit/>
          </a:bodyPr>
          <a:lstStyle/>
          <a:p>
            <a:pPr algn="r">
              <a:spcAft>
                <a:spcPts val="400"/>
              </a:spcAft>
            </a:pPr>
            <a:r>
              <a:rPr sz="1200" b="1" i="0">
                <a:solidFill>
                  <a:srgbClr val="1B3A6B"/>
                </a:solidFill>
                <a:latin typeface="Calibri"/>
              </a:rPr>
              <a:t>sensory neurones</a:t>
            </a:r>
          </a:p>
        </p:txBody>
      </p:sp>
      <p:pic>
        <p:nvPicPr>
          <p:cNvPr id="20" name="Picture 19" descr="relay_neurone.png"/>
          <p:cNvPicPr>
            <a:picLocks noChangeAspect="1"/>
          </p:cNvPicPr>
          <p:nvPr/>
        </p:nvPicPr>
        <p:blipFill>
          <a:blip r:embed="rId3"/>
          <a:stretch>
            <a:fillRect/>
          </a:stretch>
        </p:blipFill>
        <p:spPr>
          <a:xfrm>
            <a:off x="2971800" y="2542032"/>
            <a:ext cx="4160520" cy="1469587"/>
          </a:xfrm>
          <a:prstGeom prst="rect">
            <a:avLst/>
          </a:prstGeom>
        </p:spPr>
      </p:pic>
      <p:sp>
        <p:nvSpPr>
          <p:cNvPr id="21" name="TextBox 20"/>
          <p:cNvSpPr txBox="1"/>
          <p:nvPr/>
        </p:nvSpPr>
        <p:spPr>
          <a:xfrm>
            <a:off x="7178040" y="2816352"/>
            <a:ext cx="1234440" cy="457200"/>
          </a:xfrm>
          <a:prstGeom prst="rect">
            <a:avLst/>
          </a:prstGeom>
          <a:noFill/>
        </p:spPr>
        <p:txBody>
          <a:bodyPr wrap="square" anchor="t">
            <a:spAutoFit/>
          </a:bodyPr>
          <a:lstStyle/>
          <a:p>
            <a:pPr algn="l">
              <a:spcAft>
                <a:spcPts val="400"/>
              </a:spcAft>
            </a:pPr>
            <a:r>
              <a:rPr sz="1200" b="1" i="0">
                <a:solidFill>
                  <a:srgbClr val="1B3A6B"/>
                </a:solidFill>
                <a:latin typeface="Calibri"/>
              </a:rPr>
              <a:t>motor neurones</a:t>
            </a:r>
          </a:p>
        </p:txBody>
      </p:sp>
      <p:sp>
        <p:nvSpPr>
          <p:cNvPr id="22" name="Rounded Rectangle 21">
            <a:hlinkClick r:id="rId7" action="ppaction://hlinksldjump"/>
          </p:cNvPr>
          <p:cNvSpPr/>
          <p:nvPr/>
        </p:nvSpPr>
        <p:spPr>
          <a:xfrm>
            <a:off x="8092440" y="2843784"/>
            <a:ext cx="822960" cy="329184"/>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FFFFFF"/>
                </a:solidFill>
                <a:latin typeface="Calibri"/>
              </a:rPr>
              <a:t>info</a:t>
            </a:r>
          </a:p>
        </p:txBody>
      </p:sp>
      <p:sp>
        <p:nvSpPr>
          <p:cNvPr id="23" name="TextBox 22"/>
          <p:cNvSpPr txBox="1"/>
          <p:nvPr/>
        </p:nvSpPr>
        <p:spPr>
          <a:xfrm>
            <a:off x="228600" y="4005072"/>
            <a:ext cx="1417320" cy="822960"/>
          </a:xfrm>
          <a:prstGeom prst="rect">
            <a:avLst/>
          </a:prstGeom>
          <a:noFill/>
        </p:spPr>
        <p:txBody>
          <a:bodyPr wrap="square" anchor="t">
            <a:spAutoFit/>
          </a:bodyPr>
          <a:lstStyle/>
          <a:p>
            <a:pPr algn="l">
              <a:spcAft>
                <a:spcPts val="400"/>
              </a:spcAft>
            </a:pPr>
            <a:r>
              <a:rPr sz="1400" b="1" i="0">
                <a:solidFill>
                  <a:srgbClr val="2E9E4F"/>
                </a:solidFill>
                <a:latin typeface="Calibri"/>
              </a:rPr>
              <a:t>motor</a:t>
            </a:r>
          </a:p>
          <a:p>
            <a:pPr algn="l">
              <a:spcAft>
                <a:spcPts val="400"/>
              </a:spcAft>
            </a:pPr>
            <a:r>
              <a:rPr sz="1400" b="1" i="0">
                <a:solidFill>
                  <a:srgbClr val="2E9E4F"/>
                </a:solidFill>
                <a:latin typeface="Calibri"/>
              </a:rPr>
              <a:t>neurones:</a:t>
            </a:r>
          </a:p>
        </p:txBody>
      </p:sp>
      <p:sp>
        <p:nvSpPr>
          <p:cNvPr id="24" name="TextBox 23"/>
          <p:cNvSpPr txBox="1"/>
          <p:nvPr/>
        </p:nvSpPr>
        <p:spPr>
          <a:xfrm>
            <a:off x="1554480" y="4233672"/>
            <a:ext cx="1417320" cy="457200"/>
          </a:xfrm>
          <a:prstGeom prst="rect">
            <a:avLst/>
          </a:prstGeom>
          <a:noFill/>
        </p:spPr>
        <p:txBody>
          <a:bodyPr wrap="square" anchor="t">
            <a:spAutoFit/>
          </a:bodyPr>
          <a:lstStyle/>
          <a:p>
            <a:pPr algn="r">
              <a:spcAft>
                <a:spcPts val="400"/>
              </a:spcAft>
            </a:pPr>
            <a:r>
              <a:rPr sz="1200" b="1" i="0">
                <a:solidFill>
                  <a:srgbClr val="1B3A6B"/>
                </a:solidFill>
                <a:latin typeface="Calibri"/>
              </a:rPr>
              <a:t>CNS</a:t>
            </a:r>
          </a:p>
        </p:txBody>
      </p:sp>
      <p:pic>
        <p:nvPicPr>
          <p:cNvPr id="25" name="Picture 24" descr="motor_neurone.png"/>
          <p:cNvPicPr>
            <a:picLocks noChangeAspect="1"/>
          </p:cNvPicPr>
          <p:nvPr/>
        </p:nvPicPr>
        <p:blipFill>
          <a:blip r:embed="rId4"/>
          <a:stretch>
            <a:fillRect/>
          </a:stretch>
        </p:blipFill>
        <p:spPr>
          <a:xfrm>
            <a:off x="2971800" y="3959352"/>
            <a:ext cx="4160520" cy="1797265"/>
          </a:xfrm>
          <a:prstGeom prst="rect">
            <a:avLst/>
          </a:prstGeom>
        </p:spPr>
      </p:pic>
      <p:sp>
        <p:nvSpPr>
          <p:cNvPr id="26" name="TextBox 25"/>
          <p:cNvSpPr txBox="1"/>
          <p:nvPr/>
        </p:nvSpPr>
        <p:spPr>
          <a:xfrm>
            <a:off x="7178040" y="4233672"/>
            <a:ext cx="1234440" cy="457200"/>
          </a:xfrm>
          <a:prstGeom prst="rect">
            <a:avLst/>
          </a:prstGeom>
          <a:noFill/>
        </p:spPr>
        <p:txBody>
          <a:bodyPr wrap="square" anchor="t">
            <a:spAutoFit/>
          </a:bodyPr>
          <a:lstStyle/>
          <a:p>
            <a:pPr algn="l">
              <a:spcAft>
                <a:spcPts val="400"/>
              </a:spcAft>
            </a:pPr>
            <a:r>
              <a:rPr sz="1200" b="1" i="0">
                <a:solidFill>
                  <a:srgbClr val="1B3A6B"/>
                </a:solidFill>
                <a:latin typeface="Calibri"/>
              </a:rPr>
              <a:t>effectors</a:t>
            </a:r>
          </a:p>
        </p:txBody>
      </p:sp>
      <p:sp>
        <p:nvSpPr>
          <p:cNvPr id="27" name="Rounded Rectangle 26">
            <a:hlinkClick r:id="rId8" action="ppaction://hlinksldjump"/>
          </p:cNvPr>
          <p:cNvSpPr/>
          <p:nvPr/>
        </p:nvSpPr>
        <p:spPr>
          <a:xfrm>
            <a:off x="8092440" y="4261104"/>
            <a:ext cx="822960" cy="329184"/>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FFFFFF"/>
                </a:solidFill>
                <a:latin typeface="Calibri"/>
              </a:rPr>
              <a:t>info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Types of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371600"/>
            <a:ext cx="7863840" cy="292608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800" b="0" i="0">
                <a:solidFill>
                  <a:srgbClr val="1A2F5A"/>
                </a:solidFill>
                <a:latin typeface="Calibri"/>
              </a:rPr>
              <a:t>Sensory neurone</a:t>
            </a:r>
          </a:p>
          <a:p>
            <a:pPr algn="l">
              <a:spcAft>
                <a:spcPts val="200"/>
              </a:spcAft>
            </a:pPr>
            <a:r>
              <a:rPr sz="1800" b="0" i="0">
                <a:solidFill>
                  <a:srgbClr val="1A2F5A"/>
                </a:solidFill>
                <a:latin typeface="Calibri"/>
              </a:rPr>
              <a:t/>
            </a:r>
          </a:p>
          <a:p>
            <a:pPr algn="l">
              <a:spcAft>
                <a:spcPts val="200"/>
              </a:spcAft>
            </a:pPr>
            <a:r>
              <a:rPr sz="1800" b="0" i="0">
                <a:solidFill>
                  <a:srgbClr val="1A2F5A"/>
                </a:solidFill>
                <a:latin typeface="Calibri"/>
              </a:rPr>
              <a:t>Carries impulses from a receptor towards the CNS. The cell body is in a dorsal root ganglion, off to the side of the axon. There is a long dendron and a shorter axon. Many sensory neurones are myelinated.</a:t>
            </a:r>
          </a:p>
        </p:txBody>
      </p:sp>
      <p:sp>
        <p:nvSpPr>
          <p:cNvPr id="11" name="Rounded Rectangle 10">
            <a:hlinkClick r:id="rId2" action="ppaction://hlinksldjump"/>
          </p:cNvPr>
          <p:cNvSpPr/>
          <p:nvPr/>
        </p:nvSpPr>
        <p:spPr>
          <a:xfrm>
            <a:off x="3383280" y="4754880"/>
            <a:ext cx="22860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Types of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371600"/>
            <a:ext cx="7863840" cy="292608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800" b="0" i="0">
                <a:solidFill>
                  <a:srgbClr val="1A2F5A"/>
                </a:solidFill>
                <a:latin typeface="Calibri"/>
              </a:rPr>
              <a:t>Relay (intermediate) neurone</a:t>
            </a:r>
          </a:p>
          <a:p>
            <a:pPr algn="l">
              <a:spcAft>
                <a:spcPts val="200"/>
              </a:spcAft>
            </a:pPr>
            <a:r>
              <a:rPr sz="1800" b="0" i="0">
                <a:solidFill>
                  <a:srgbClr val="1A2F5A"/>
                </a:solidFill>
                <a:latin typeface="Calibri"/>
              </a:rPr>
              <a:t/>
            </a:r>
          </a:p>
          <a:p>
            <a:pPr algn="l">
              <a:spcAft>
                <a:spcPts val="200"/>
              </a:spcAft>
            </a:pPr>
            <a:r>
              <a:rPr sz="1800" b="0" i="0">
                <a:solidFill>
                  <a:srgbClr val="1A2F5A"/>
                </a:solidFill>
                <a:latin typeface="Calibri"/>
              </a:rPr>
              <a:t>Found entirely within the CNS. Connects sensory neurones to motor neurones and to other relay neurones, allowing integration and coordination. Typically short, with many synapses. Also called an interneurone.</a:t>
            </a:r>
          </a:p>
        </p:txBody>
      </p:sp>
      <p:sp>
        <p:nvSpPr>
          <p:cNvPr id="11" name="Rounded Rectangle 10">
            <a:hlinkClick r:id="rId2" action="ppaction://hlinksldjump"/>
          </p:cNvPr>
          <p:cNvSpPr/>
          <p:nvPr/>
        </p:nvSpPr>
        <p:spPr>
          <a:xfrm>
            <a:off x="3383280" y="4754880"/>
            <a:ext cx="22860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Types of neurone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371600"/>
            <a:ext cx="7863840" cy="292608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800" b="0" i="0">
                <a:solidFill>
                  <a:srgbClr val="1A2F5A"/>
                </a:solidFill>
                <a:latin typeface="Calibri"/>
              </a:rPr>
              <a:t>Motor neurone</a:t>
            </a:r>
          </a:p>
          <a:p>
            <a:pPr algn="l">
              <a:spcAft>
                <a:spcPts val="200"/>
              </a:spcAft>
            </a:pPr>
            <a:r>
              <a:rPr sz="1800" b="0" i="0">
                <a:solidFill>
                  <a:srgbClr val="1A2F5A"/>
                </a:solidFill>
                <a:latin typeface="Calibri"/>
              </a:rPr>
              <a:t/>
            </a:r>
          </a:p>
          <a:p>
            <a:pPr algn="l">
              <a:spcAft>
                <a:spcPts val="200"/>
              </a:spcAft>
            </a:pPr>
            <a:r>
              <a:rPr sz="1800" b="0" i="0">
                <a:solidFill>
                  <a:srgbClr val="1A2F5A"/>
                </a:solidFill>
                <a:latin typeface="Calibri"/>
              </a:rPr>
              <a:t>Carries impulses from the CNS to an effector (muscle or gland). The cell body is in the CNS (grey matter of spinal cord or brain) with many dendrites. A long myelinated axon runs out through the PNS to the effector.</a:t>
            </a:r>
          </a:p>
        </p:txBody>
      </p:sp>
      <p:sp>
        <p:nvSpPr>
          <p:cNvPr id="11" name="Rounded Rectangle 10">
            <a:hlinkClick r:id="rId2" action="ppaction://hlinksldjump"/>
          </p:cNvPr>
          <p:cNvSpPr/>
          <p:nvPr/>
        </p:nvSpPr>
        <p:spPr>
          <a:xfrm>
            <a:off x="3383280" y="4754880"/>
            <a:ext cx="22860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Comparing neurone types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13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4"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5"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65760" y="822960"/>
            <a:ext cx="8229600" cy="365760"/>
          </a:xfrm>
          <a:prstGeom prst="rect">
            <a:avLst/>
          </a:prstGeom>
          <a:noFill/>
        </p:spPr>
        <p:txBody>
          <a:bodyPr wrap="square" anchor="t">
            <a:spAutoFit/>
          </a:bodyPr>
          <a:lstStyle/>
          <a:p>
            <a:pPr algn="l">
              <a:spcAft>
                <a:spcPts val="400"/>
              </a:spcAft>
            </a:pPr>
            <a:r>
              <a:rPr sz="1400" b="0" i="0">
                <a:solidFill>
                  <a:srgbClr val="1B3A6B"/>
                </a:solidFill>
                <a:latin typeface="Calibri"/>
              </a:rPr>
              <a:t>Click a heading to reveal the comparison. Use Show all before moving on.</a:t>
            </a:r>
          </a:p>
        </p:txBody>
      </p:sp>
      <p:sp>
        <p:nvSpPr>
          <p:cNvPr id="13" name="Rounded Rectangle 12"/>
          <p:cNvSpPr/>
          <p:nvPr/>
        </p:nvSpPr>
        <p:spPr>
          <a:xfrm>
            <a:off x="320040" y="1280160"/>
            <a:ext cx="2011680" cy="41148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Feature</a:t>
            </a:r>
          </a:p>
        </p:txBody>
      </p:sp>
      <p:sp>
        <p:nvSpPr>
          <p:cNvPr id="14" name="Rounded Rectangle 13"/>
          <p:cNvSpPr/>
          <p:nvPr/>
        </p:nvSpPr>
        <p:spPr>
          <a:xfrm>
            <a:off x="2331720" y="1280160"/>
            <a:ext cx="2011680" cy="41148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Sensory</a:t>
            </a:r>
          </a:p>
        </p:txBody>
      </p:sp>
      <p:sp>
        <p:nvSpPr>
          <p:cNvPr id="15" name="Rounded Rectangle 14"/>
          <p:cNvSpPr/>
          <p:nvPr/>
        </p:nvSpPr>
        <p:spPr>
          <a:xfrm>
            <a:off x="4434840" y="1280160"/>
            <a:ext cx="2011680" cy="41148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Relay</a:t>
            </a:r>
          </a:p>
        </p:txBody>
      </p:sp>
      <p:sp>
        <p:nvSpPr>
          <p:cNvPr id="16" name="Rounded Rectangle 15"/>
          <p:cNvSpPr/>
          <p:nvPr/>
        </p:nvSpPr>
        <p:spPr>
          <a:xfrm>
            <a:off x="6537960" y="1280160"/>
            <a:ext cx="2011680" cy="411480"/>
          </a:xfrm>
          <a:prstGeom prst="roundRect">
            <a:avLst>
              <a:gd name="adj" fmla="val 15000"/>
            </a:avLst>
          </a:prstGeom>
          <a:solidFill>
            <a:srgbClr val="2E9E4F"/>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Motor</a:t>
            </a:r>
          </a:p>
        </p:txBody>
      </p:sp>
      <p:sp>
        <p:nvSpPr>
          <p:cNvPr id="17" name="Rounded Rectangle 16">
            <a:hlinkClick r:id="rId3" action="ppaction://hlinksldjump"/>
          </p:cNvPr>
          <p:cNvSpPr/>
          <p:nvPr/>
        </p:nvSpPr>
        <p:spPr>
          <a:xfrm>
            <a:off x="3200400" y="2926080"/>
            <a:ext cx="274320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600" b="1" i="0">
                <a:solidFill>
                  <a:srgbClr val="FFFFFF"/>
                </a:solidFill>
                <a:latin typeface="Calibri"/>
              </a:rPr>
              <a:t>Show comparison table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Comparing neurone types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274320" y="914400"/>
            <a:ext cx="2103120" cy="411480"/>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Feature</a:t>
            </a:r>
          </a:p>
        </p:txBody>
      </p:sp>
      <p:sp>
        <p:nvSpPr>
          <p:cNvPr id="11" name="Rounded Rectangle 10"/>
          <p:cNvSpPr/>
          <p:nvPr/>
        </p:nvSpPr>
        <p:spPr>
          <a:xfrm>
            <a:off x="2468879" y="914400"/>
            <a:ext cx="2103120" cy="411480"/>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Sensory</a:t>
            </a:r>
          </a:p>
        </p:txBody>
      </p:sp>
      <p:sp>
        <p:nvSpPr>
          <p:cNvPr id="12" name="Rounded Rectangle 11"/>
          <p:cNvSpPr/>
          <p:nvPr/>
        </p:nvSpPr>
        <p:spPr>
          <a:xfrm>
            <a:off x="4663440" y="914400"/>
            <a:ext cx="2103120" cy="411480"/>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Relay</a:t>
            </a:r>
          </a:p>
        </p:txBody>
      </p:sp>
      <p:sp>
        <p:nvSpPr>
          <p:cNvPr id="13" name="Rounded Rectangle 12"/>
          <p:cNvSpPr/>
          <p:nvPr/>
        </p:nvSpPr>
        <p:spPr>
          <a:xfrm>
            <a:off x="6857999" y="914400"/>
            <a:ext cx="2103120" cy="411480"/>
          </a:xfrm>
          <a:prstGeom prst="roundRect">
            <a:avLst>
              <a:gd name="adj" fmla="val 15000"/>
            </a:avLst>
          </a:prstGeom>
          <a:solidFill>
            <a:srgbClr val="1B7A3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FFFFFF"/>
                </a:solidFill>
                <a:latin typeface="Calibri"/>
              </a:rPr>
              <a:t>Motor</a:t>
            </a:r>
          </a:p>
        </p:txBody>
      </p:sp>
      <p:sp>
        <p:nvSpPr>
          <p:cNvPr id="14" name="Rounded Rectangle 13"/>
          <p:cNvSpPr/>
          <p:nvPr/>
        </p:nvSpPr>
        <p:spPr>
          <a:xfrm>
            <a:off x="274320" y="141732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Direction of impulse</a:t>
            </a:r>
          </a:p>
        </p:txBody>
      </p:sp>
      <p:sp>
        <p:nvSpPr>
          <p:cNvPr id="15" name="Rounded Rectangle 14"/>
          <p:cNvSpPr/>
          <p:nvPr/>
        </p:nvSpPr>
        <p:spPr>
          <a:xfrm>
            <a:off x="2468879" y="141732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Receptor → CNS</a:t>
            </a:r>
          </a:p>
        </p:txBody>
      </p:sp>
      <p:sp>
        <p:nvSpPr>
          <p:cNvPr id="16" name="Rounded Rectangle 15"/>
          <p:cNvSpPr/>
          <p:nvPr/>
        </p:nvSpPr>
        <p:spPr>
          <a:xfrm>
            <a:off x="4663440" y="141732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CNS → CNS</a:t>
            </a:r>
          </a:p>
        </p:txBody>
      </p:sp>
      <p:sp>
        <p:nvSpPr>
          <p:cNvPr id="17" name="Rounded Rectangle 16"/>
          <p:cNvSpPr/>
          <p:nvPr/>
        </p:nvSpPr>
        <p:spPr>
          <a:xfrm>
            <a:off x="6857999" y="141732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CNS → effector</a:t>
            </a:r>
          </a:p>
        </p:txBody>
      </p:sp>
      <p:sp>
        <p:nvSpPr>
          <p:cNvPr id="18" name="Rounded Rectangle 17"/>
          <p:cNvSpPr/>
          <p:nvPr/>
        </p:nvSpPr>
        <p:spPr>
          <a:xfrm>
            <a:off x="274320" y="228600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Cell body position</a:t>
            </a:r>
          </a:p>
        </p:txBody>
      </p:sp>
      <p:sp>
        <p:nvSpPr>
          <p:cNvPr id="19" name="Rounded Rectangle 18"/>
          <p:cNvSpPr/>
          <p:nvPr/>
        </p:nvSpPr>
        <p:spPr>
          <a:xfrm>
            <a:off x="2468879" y="228600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Dorsal root ganglion</a:t>
            </a:r>
          </a:p>
        </p:txBody>
      </p:sp>
      <p:sp>
        <p:nvSpPr>
          <p:cNvPr id="20" name="Rounded Rectangle 19"/>
          <p:cNvSpPr/>
          <p:nvPr/>
        </p:nvSpPr>
        <p:spPr>
          <a:xfrm>
            <a:off x="4663440" y="228600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Entirely in CNS</a:t>
            </a:r>
          </a:p>
        </p:txBody>
      </p:sp>
      <p:sp>
        <p:nvSpPr>
          <p:cNvPr id="21" name="Rounded Rectangle 20"/>
          <p:cNvSpPr/>
          <p:nvPr/>
        </p:nvSpPr>
        <p:spPr>
          <a:xfrm>
            <a:off x="6857999" y="228600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In CNS (grey matter)</a:t>
            </a:r>
          </a:p>
        </p:txBody>
      </p:sp>
      <p:sp>
        <p:nvSpPr>
          <p:cNvPr id="22" name="Rounded Rectangle 21"/>
          <p:cNvSpPr/>
          <p:nvPr/>
        </p:nvSpPr>
        <p:spPr>
          <a:xfrm>
            <a:off x="274320" y="315468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Relative axon length</a:t>
            </a:r>
          </a:p>
        </p:txBody>
      </p:sp>
      <p:sp>
        <p:nvSpPr>
          <p:cNvPr id="23" name="Rounded Rectangle 22"/>
          <p:cNvSpPr/>
          <p:nvPr/>
        </p:nvSpPr>
        <p:spPr>
          <a:xfrm>
            <a:off x="2468879" y="315468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Short axon, long dendron</a:t>
            </a:r>
          </a:p>
        </p:txBody>
      </p:sp>
      <p:sp>
        <p:nvSpPr>
          <p:cNvPr id="24" name="Rounded Rectangle 23"/>
          <p:cNvSpPr/>
          <p:nvPr/>
        </p:nvSpPr>
        <p:spPr>
          <a:xfrm>
            <a:off x="4663440" y="315468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Short</a:t>
            </a:r>
          </a:p>
        </p:txBody>
      </p:sp>
      <p:sp>
        <p:nvSpPr>
          <p:cNvPr id="25" name="Rounded Rectangle 24"/>
          <p:cNvSpPr/>
          <p:nvPr/>
        </p:nvSpPr>
        <p:spPr>
          <a:xfrm>
            <a:off x="6857999" y="3154680"/>
            <a:ext cx="2103120" cy="777240"/>
          </a:xfrm>
          <a:prstGeom prst="roundRect">
            <a:avLst>
              <a:gd name="adj" fmla="val 15000"/>
            </a:avLst>
          </a:prstGeom>
          <a:solidFill>
            <a:srgbClr val="E8F5E9"/>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Long axon</a:t>
            </a:r>
          </a:p>
        </p:txBody>
      </p:sp>
      <p:sp>
        <p:nvSpPr>
          <p:cNvPr id="26" name="Rounded Rectangle 25"/>
          <p:cNvSpPr/>
          <p:nvPr/>
        </p:nvSpPr>
        <p:spPr>
          <a:xfrm>
            <a:off x="274320" y="402336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Myelin</a:t>
            </a:r>
          </a:p>
        </p:txBody>
      </p:sp>
      <p:sp>
        <p:nvSpPr>
          <p:cNvPr id="27" name="Rounded Rectangle 26"/>
          <p:cNvSpPr/>
          <p:nvPr/>
        </p:nvSpPr>
        <p:spPr>
          <a:xfrm>
            <a:off x="2468879" y="402336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Usually myelinated</a:t>
            </a:r>
          </a:p>
        </p:txBody>
      </p:sp>
      <p:sp>
        <p:nvSpPr>
          <p:cNvPr id="28" name="Rounded Rectangle 27"/>
          <p:cNvSpPr/>
          <p:nvPr/>
        </p:nvSpPr>
        <p:spPr>
          <a:xfrm>
            <a:off x="4663440" y="402336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Often unmyelinated</a:t>
            </a:r>
          </a:p>
        </p:txBody>
      </p:sp>
      <p:sp>
        <p:nvSpPr>
          <p:cNvPr id="29" name="Rounded Rectangle 28"/>
          <p:cNvSpPr/>
          <p:nvPr/>
        </p:nvSpPr>
        <p:spPr>
          <a:xfrm>
            <a:off x="6857999" y="4023360"/>
            <a:ext cx="2103120" cy="777240"/>
          </a:xfrm>
          <a:prstGeom prst="roundRect">
            <a:avLst>
              <a:gd name="adj" fmla="val 15000"/>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0" i="0">
                <a:solidFill>
                  <a:srgbClr val="1B3A6B"/>
                </a:solidFill>
                <a:latin typeface="Calibri"/>
              </a:rPr>
              <a:t>Usually myelinated</a:t>
            </a:r>
          </a:p>
        </p:txBody>
      </p:sp>
      <p:sp>
        <p:nvSpPr>
          <p:cNvPr id="30" name="Rounded Rectangle 29">
            <a:hlinkClick r:id="rId2" action="ppaction://hlinksldjump"/>
          </p:cNvPr>
          <p:cNvSpPr/>
          <p:nvPr/>
        </p:nvSpPr>
        <p:spPr>
          <a:xfrm>
            <a:off x="3383280" y="5852160"/>
            <a:ext cx="228600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Neurone structure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14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10"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11"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Rectangle 11"/>
          <p:cNvSpPr/>
          <p:nvPr/>
        </p:nvSpPr>
        <p:spPr>
          <a:xfrm>
            <a:off x="201168" y="6199632"/>
            <a:ext cx="8741664" cy="32918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804672"/>
            <a:ext cx="8595360" cy="365760"/>
          </a:xfrm>
          <a:prstGeom prst="rect">
            <a:avLst/>
          </a:prstGeom>
          <a:noFill/>
        </p:spPr>
        <p:txBody>
          <a:bodyPr wrap="square" anchor="t">
            <a:spAutoFit/>
          </a:bodyPr>
          <a:lstStyle/>
          <a:p>
            <a:pPr algn="ctr">
              <a:spcAft>
                <a:spcPts val="400"/>
              </a:spcAft>
            </a:pPr>
            <a:r>
              <a:rPr sz="2000" b="1" i="0">
                <a:solidFill>
                  <a:srgbClr val="1B3A6B"/>
                </a:solidFill>
                <a:latin typeface="Calibri"/>
              </a:rPr>
              <a:t>Match the parts of the neurone to the definitions</a:t>
            </a:r>
          </a:p>
        </p:txBody>
      </p:sp>
      <p:sp>
        <p:nvSpPr>
          <p:cNvPr id="14" name="Rounded Rectangle 13">
            <a:hlinkClick r:id="rId4" action="ppaction://hlinksldjump"/>
          </p:cNvPr>
          <p:cNvSpPr/>
          <p:nvPr/>
        </p:nvSpPr>
        <p:spPr>
          <a:xfrm>
            <a:off x="320040" y="1280160"/>
            <a:ext cx="246888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node of Ranvier</a:t>
            </a:r>
          </a:p>
        </p:txBody>
      </p:sp>
      <p:sp>
        <p:nvSpPr>
          <p:cNvPr id="15" name="Rounded Rectangle 14"/>
          <p:cNvSpPr/>
          <p:nvPr/>
        </p:nvSpPr>
        <p:spPr>
          <a:xfrm>
            <a:off x="2926080" y="1280160"/>
            <a:ext cx="5760720" cy="658368"/>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a long single fibre that carries nerve impulses</a:t>
            </a:r>
          </a:p>
        </p:txBody>
      </p:sp>
      <p:sp>
        <p:nvSpPr>
          <p:cNvPr id="16" name="Rounded Rectangle 15">
            <a:hlinkClick r:id="rId5" action="ppaction://hlinksldjump"/>
          </p:cNvPr>
          <p:cNvSpPr/>
          <p:nvPr/>
        </p:nvSpPr>
        <p:spPr>
          <a:xfrm>
            <a:off x="320040" y="2057400"/>
            <a:ext cx="246888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axon</a:t>
            </a:r>
          </a:p>
        </p:txBody>
      </p:sp>
      <p:sp>
        <p:nvSpPr>
          <p:cNvPr id="17" name="Rounded Rectangle 16"/>
          <p:cNvSpPr/>
          <p:nvPr/>
        </p:nvSpPr>
        <p:spPr>
          <a:xfrm>
            <a:off x="2926080" y="2057400"/>
            <a:ext cx="5760720" cy="658368"/>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a thick insulating layer around the axon</a:t>
            </a:r>
          </a:p>
        </p:txBody>
      </p:sp>
      <p:sp>
        <p:nvSpPr>
          <p:cNvPr id="18" name="Rounded Rectangle 17">
            <a:hlinkClick r:id="rId6" action="ppaction://hlinksldjump"/>
          </p:cNvPr>
          <p:cNvSpPr/>
          <p:nvPr/>
        </p:nvSpPr>
        <p:spPr>
          <a:xfrm>
            <a:off x="320040" y="2834640"/>
            <a:ext cx="246888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myelin sheath</a:t>
            </a:r>
          </a:p>
        </p:txBody>
      </p:sp>
      <p:sp>
        <p:nvSpPr>
          <p:cNvPr id="19" name="Rounded Rectangle 18"/>
          <p:cNvSpPr/>
          <p:nvPr/>
        </p:nvSpPr>
        <p:spPr>
          <a:xfrm>
            <a:off x="2926080" y="2834640"/>
            <a:ext cx="5760720" cy="658368"/>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gap in the myelin sheath where the axon is exposed</a:t>
            </a:r>
          </a:p>
        </p:txBody>
      </p:sp>
      <p:sp>
        <p:nvSpPr>
          <p:cNvPr id="20" name="Rounded Rectangle 19">
            <a:hlinkClick r:id="rId7" action="ppaction://hlinksldjump"/>
          </p:cNvPr>
          <p:cNvSpPr/>
          <p:nvPr/>
        </p:nvSpPr>
        <p:spPr>
          <a:xfrm>
            <a:off x="320040" y="3611880"/>
            <a:ext cx="246888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Schwann cell</a:t>
            </a:r>
          </a:p>
        </p:txBody>
      </p:sp>
      <p:sp>
        <p:nvSpPr>
          <p:cNvPr id="21" name="Rounded Rectangle 20"/>
          <p:cNvSpPr/>
          <p:nvPr/>
        </p:nvSpPr>
        <p:spPr>
          <a:xfrm>
            <a:off x="2926080" y="3611880"/>
            <a:ext cx="5760720" cy="658368"/>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highly branched fibres that conduct impulses</a:t>
            </a:r>
          </a:p>
        </p:txBody>
      </p:sp>
      <p:sp>
        <p:nvSpPr>
          <p:cNvPr id="22" name="Rounded Rectangle 21">
            <a:hlinkClick r:id="rId8" action="ppaction://hlinksldjump"/>
          </p:cNvPr>
          <p:cNvSpPr/>
          <p:nvPr/>
        </p:nvSpPr>
        <p:spPr>
          <a:xfrm>
            <a:off x="320040" y="4389120"/>
            <a:ext cx="2468880" cy="658368"/>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dendrites</a:t>
            </a:r>
          </a:p>
        </p:txBody>
      </p:sp>
      <p:sp>
        <p:nvSpPr>
          <p:cNvPr id="23" name="Rounded Rectangle 22"/>
          <p:cNvSpPr/>
          <p:nvPr/>
        </p:nvSpPr>
        <p:spPr>
          <a:xfrm>
            <a:off x="2926080" y="4389120"/>
            <a:ext cx="5760720" cy="658368"/>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a cell wrapped around the axon, forming the myelin sheath</a:t>
            </a:r>
          </a:p>
        </p:txBody>
      </p:sp>
      <p:sp>
        <p:nvSpPr>
          <p:cNvPr id="24" name="Rounded Rectangle 23">
            <a:hlinkClick r:id="rId9" action="ppaction://hlinksldjump"/>
          </p:cNvPr>
          <p:cNvSpPr/>
          <p:nvPr/>
        </p:nvSpPr>
        <p:spPr>
          <a:xfrm>
            <a:off x="320040" y="6217920"/>
            <a:ext cx="1554480" cy="292608"/>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Check</a:t>
            </a:r>
          </a:p>
        </p:txBody>
      </p:sp>
      <p:sp>
        <p:nvSpPr>
          <p:cNvPr id="25" name="Rounded Rectangle 24">
            <a:hlinkClick r:id="rId2" action="ppaction://hlinksldjump"/>
          </p:cNvPr>
          <p:cNvSpPr/>
          <p:nvPr/>
        </p:nvSpPr>
        <p:spPr>
          <a:xfrm>
            <a:off x="1965960" y="6217920"/>
            <a:ext cx="1371600" cy="292608"/>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200" b="1" i="0">
                <a:solidFill>
                  <a:srgbClr val="FFFFFF"/>
                </a:solidFill>
                <a:latin typeface="Calibri"/>
              </a:rPr>
              <a:t>Reset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Neurone structure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188720"/>
            <a:ext cx="8229600" cy="457200"/>
          </a:xfrm>
          <a:prstGeom prst="rect">
            <a:avLst/>
          </a:prstGeom>
          <a:noFill/>
        </p:spPr>
        <p:txBody>
          <a:bodyPr wrap="square" anchor="t">
            <a:spAutoFit/>
          </a:bodyPr>
          <a:lstStyle/>
          <a:p>
            <a:pPr algn="ctr">
              <a:spcAft>
                <a:spcPts val="400"/>
              </a:spcAft>
            </a:pPr>
            <a:r>
              <a:rPr sz="2000" b="1" i="0">
                <a:solidFill>
                  <a:srgbClr val="2E9E4F"/>
                </a:solidFill>
                <a:latin typeface="Calibri"/>
              </a:rPr>
              <a:t>Matched pair</a:t>
            </a:r>
          </a:p>
        </p:txBody>
      </p:sp>
      <p:sp>
        <p:nvSpPr>
          <p:cNvPr id="11" name="Rounded Rectangle 10"/>
          <p:cNvSpPr/>
          <p:nvPr/>
        </p:nvSpPr>
        <p:spPr>
          <a:xfrm>
            <a:off x="1371600" y="2011680"/>
            <a:ext cx="6400800" cy="7315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000" b="1" i="0">
                <a:solidFill>
                  <a:srgbClr val="1B3A6B"/>
                </a:solidFill>
                <a:latin typeface="Calibri"/>
              </a:rPr>
              <a:t>node of Ranvier</a:t>
            </a:r>
          </a:p>
        </p:txBody>
      </p:sp>
      <p:sp>
        <p:nvSpPr>
          <p:cNvPr id="12" name="Rounded Rectangle 11"/>
          <p:cNvSpPr/>
          <p:nvPr/>
        </p:nvSpPr>
        <p:spPr>
          <a:xfrm>
            <a:off x="1371600" y="3017520"/>
            <a:ext cx="6400800" cy="1005840"/>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1" i="0">
                <a:solidFill>
                  <a:srgbClr val="1B3A6B"/>
                </a:solidFill>
                <a:latin typeface="Calibri"/>
              </a:rPr>
              <a:t>gap in the myelin sheath where the axon is exposed</a:t>
            </a:r>
          </a:p>
        </p:txBody>
      </p:sp>
      <p:sp>
        <p:nvSpPr>
          <p:cNvPr id="13" name="Rounded Rectangle 12">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matching</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Neurone structure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188720"/>
            <a:ext cx="8229600" cy="457200"/>
          </a:xfrm>
          <a:prstGeom prst="rect">
            <a:avLst/>
          </a:prstGeom>
          <a:noFill/>
        </p:spPr>
        <p:txBody>
          <a:bodyPr wrap="square" anchor="t">
            <a:spAutoFit/>
          </a:bodyPr>
          <a:lstStyle/>
          <a:p>
            <a:pPr algn="ctr">
              <a:spcAft>
                <a:spcPts val="400"/>
              </a:spcAft>
            </a:pPr>
            <a:r>
              <a:rPr sz="2000" b="1" i="0">
                <a:solidFill>
                  <a:srgbClr val="2E9E4F"/>
                </a:solidFill>
                <a:latin typeface="Calibri"/>
              </a:rPr>
              <a:t>Matched pair</a:t>
            </a:r>
          </a:p>
        </p:txBody>
      </p:sp>
      <p:sp>
        <p:nvSpPr>
          <p:cNvPr id="11" name="Rounded Rectangle 10"/>
          <p:cNvSpPr/>
          <p:nvPr/>
        </p:nvSpPr>
        <p:spPr>
          <a:xfrm>
            <a:off x="1371600" y="2011680"/>
            <a:ext cx="6400800" cy="7315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000" b="1" i="0">
                <a:solidFill>
                  <a:srgbClr val="1B3A6B"/>
                </a:solidFill>
                <a:latin typeface="Calibri"/>
              </a:rPr>
              <a:t>axon</a:t>
            </a:r>
          </a:p>
        </p:txBody>
      </p:sp>
      <p:sp>
        <p:nvSpPr>
          <p:cNvPr id="12" name="Rounded Rectangle 11"/>
          <p:cNvSpPr/>
          <p:nvPr/>
        </p:nvSpPr>
        <p:spPr>
          <a:xfrm>
            <a:off x="1371600" y="3017520"/>
            <a:ext cx="6400800" cy="1005840"/>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1" i="0">
                <a:solidFill>
                  <a:srgbClr val="1B3A6B"/>
                </a:solidFill>
                <a:latin typeface="Calibri"/>
              </a:rPr>
              <a:t>a long single fibre that carries nerve impulses</a:t>
            </a:r>
          </a:p>
        </p:txBody>
      </p:sp>
      <p:sp>
        <p:nvSpPr>
          <p:cNvPr id="13" name="Rounded Rectangle 12">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matching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Neurone structure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188720"/>
            <a:ext cx="8229600" cy="457200"/>
          </a:xfrm>
          <a:prstGeom prst="rect">
            <a:avLst/>
          </a:prstGeom>
          <a:noFill/>
        </p:spPr>
        <p:txBody>
          <a:bodyPr wrap="square" anchor="t">
            <a:spAutoFit/>
          </a:bodyPr>
          <a:lstStyle/>
          <a:p>
            <a:pPr algn="ctr">
              <a:spcAft>
                <a:spcPts val="400"/>
              </a:spcAft>
            </a:pPr>
            <a:r>
              <a:rPr sz="2000" b="1" i="0">
                <a:solidFill>
                  <a:srgbClr val="2E9E4F"/>
                </a:solidFill>
                <a:latin typeface="Calibri"/>
              </a:rPr>
              <a:t>Matched pair</a:t>
            </a:r>
          </a:p>
        </p:txBody>
      </p:sp>
      <p:sp>
        <p:nvSpPr>
          <p:cNvPr id="11" name="Rounded Rectangle 10"/>
          <p:cNvSpPr/>
          <p:nvPr/>
        </p:nvSpPr>
        <p:spPr>
          <a:xfrm>
            <a:off x="1371600" y="2011680"/>
            <a:ext cx="6400800" cy="7315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000" b="1" i="0">
                <a:solidFill>
                  <a:srgbClr val="1B3A6B"/>
                </a:solidFill>
                <a:latin typeface="Calibri"/>
              </a:rPr>
              <a:t>myelin sheath</a:t>
            </a:r>
          </a:p>
        </p:txBody>
      </p:sp>
      <p:sp>
        <p:nvSpPr>
          <p:cNvPr id="12" name="Rounded Rectangle 11"/>
          <p:cNvSpPr/>
          <p:nvPr/>
        </p:nvSpPr>
        <p:spPr>
          <a:xfrm>
            <a:off x="1371600" y="3017520"/>
            <a:ext cx="6400800" cy="1005840"/>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1" i="0">
                <a:solidFill>
                  <a:srgbClr val="1B3A6B"/>
                </a:solidFill>
                <a:latin typeface="Calibri"/>
              </a:rPr>
              <a:t>a thick insulating layer around the axon</a:t>
            </a:r>
          </a:p>
        </p:txBody>
      </p:sp>
      <p:sp>
        <p:nvSpPr>
          <p:cNvPr id="13" name="Rounded Rectangle 12">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matching</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Neurone structure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188720"/>
            <a:ext cx="8229600" cy="457200"/>
          </a:xfrm>
          <a:prstGeom prst="rect">
            <a:avLst/>
          </a:prstGeom>
          <a:noFill/>
        </p:spPr>
        <p:txBody>
          <a:bodyPr wrap="square" anchor="t">
            <a:spAutoFit/>
          </a:bodyPr>
          <a:lstStyle/>
          <a:p>
            <a:pPr algn="ctr">
              <a:spcAft>
                <a:spcPts val="400"/>
              </a:spcAft>
            </a:pPr>
            <a:r>
              <a:rPr sz="2000" b="1" i="0">
                <a:solidFill>
                  <a:srgbClr val="2E9E4F"/>
                </a:solidFill>
                <a:latin typeface="Calibri"/>
              </a:rPr>
              <a:t>Matched pair</a:t>
            </a:r>
          </a:p>
        </p:txBody>
      </p:sp>
      <p:sp>
        <p:nvSpPr>
          <p:cNvPr id="11" name="Rounded Rectangle 10"/>
          <p:cNvSpPr/>
          <p:nvPr/>
        </p:nvSpPr>
        <p:spPr>
          <a:xfrm>
            <a:off x="1371600" y="2011680"/>
            <a:ext cx="6400800" cy="7315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000" b="1" i="0">
                <a:solidFill>
                  <a:srgbClr val="1B3A6B"/>
                </a:solidFill>
                <a:latin typeface="Calibri"/>
              </a:rPr>
              <a:t>Schwann cell</a:t>
            </a:r>
          </a:p>
        </p:txBody>
      </p:sp>
      <p:sp>
        <p:nvSpPr>
          <p:cNvPr id="12" name="Rounded Rectangle 11"/>
          <p:cNvSpPr/>
          <p:nvPr/>
        </p:nvSpPr>
        <p:spPr>
          <a:xfrm>
            <a:off x="1371600" y="3017520"/>
            <a:ext cx="6400800" cy="1005840"/>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1" i="0">
                <a:solidFill>
                  <a:srgbClr val="1B3A6B"/>
                </a:solidFill>
                <a:latin typeface="Calibri"/>
              </a:rPr>
              <a:t>a cell wrapped around the axon, forming the myelin sheath</a:t>
            </a:r>
          </a:p>
        </p:txBody>
      </p:sp>
      <p:sp>
        <p:nvSpPr>
          <p:cNvPr id="13" name="Rounded Rectangle 12">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matching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Neurone structure</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457200" y="1188720"/>
            <a:ext cx="8229600" cy="457200"/>
          </a:xfrm>
          <a:prstGeom prst="rect">
            <a:avLst/>
          </a:prstGeom>
          <a:noFill/>
        </p:spPr>
        <p:txBody>
          <a:bodyPr wrap="square" anchor="t">
            <a:spAutoFit/>
          </a:bodyPr>
          <a:lstStyle/>
          <a:p>
            <a:pPr algn="ctr">
              <a:spcAft>
                <a:spcPts val="400"/>
              </a:spcAft>
            </a:pPr>
            <a:r>
              <a:rPr sz="2000" b="1" i="0">
                <a:solidFill>
                  <a:srgbClr val="2E9E4F"/>
                </a:solidFill>
                <a:latin typeface="Calibri"/>
              </a:rPr>
              <a:t>Matched pair</a:t>
            </a:r>
          </a:p>
        </p:txBody>
      </p:sp>
      <p:sp>
        <p:nvSpPr>
          <p:cNvPr id="11" name="Rounded Rectangle 10"/>
          <p:cNvSpPr/>
          <p:nvPr/>
        </p:nvSpPr>
        <p:spPr>
          <a:xfrm>
            <a:off x="1371600" y="2011680"/>
            <a:ext cx="6400800" cy="73152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2000" b="1" i="0">
                <a:solidFill>
                  <a:srgbClr val="1B3A6B"/>
                </a:solidFill>
                <a:latin typeface="Calibri"/>
              </a:rPr>
              <a:t>dendrites</a:t>
            </a:r>
          </a:p>
        </p:txBody>
      </p:sp>
      <p:sp>
        <p:nvSpPr>
          <p:cNvPr id="12" name="Rounded Rectangle 11"/>
          <p:cNvSpPr/>
          <p:nvPr/>
        </p:nvSpPr>
        <p:spPr>
          <a:xfrm>
            <a:off x="1371600" y="3017520"/>
            <a:ext cx="6400800" cy="1005840"/>
          </a:xfrm>
          <a:prstGeom prst="roundRect">
            <a:avLst>
              <a:gd name="adj" fmla="val 15000"/>
            </a:avLst>
          </a:prstGeom>
          <a:solidFill>
            <a:srgbClr val="FFF6B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1" i="0">
                <a:solidFill>
                  <a:srgbClr val="1B3A6B"/>
                </a:solidFill>
                <a:latin typeface="Calibri"/>
              </a:rPr>
              <a:t>highly branched fibres that conduct impulses</a:t>
            </a:r>
          </a:p>
        </p:txBody>
      </p:sp>
      <p:sp>
        <p:nvSpPr>
          <p:cNvPr id="13" name="Rounded Rectangle 12">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matching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Neurone structure – answers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274320" y="822960"/>
            <a:ext cx="8595360" cy="365760"/>
          </a:xfrm>
          <a:prstGeom prst="rect">
            <a:avLst/>
          </a:prstGeom>
          <a:noFill/>
        </p:spPr>
        <p:txBody>
          <a:bodyPr wrap="square" anchor="t">
            <a:spAutoFit/>
          </a:bodyPr>
          <a:lstStyle/>
          <a:p>
            <a:pPr algn="ctr">
              <a:spcAft>
                <a:spcPts val="400"/>
              </a:spcAft>
            </a:pPr>
            <a:r>
              <a:rPr sz="2000" b="1" i="0">
                <a:solidFill>
                  <a:srgbClr val="2E9E4F"/>
                </a:solidFill>
                <a:latin typeface="Calibri"/>
              </a:rPr>
              <a:t>Answer key</a:t>
            </a:r>
          </a:p>
        </p:txBody>
      </p:sp>
      <p:sp>
        <p:nvSpPr>
          <p:cNvPr id="11" name="Rounded Rectangle 10"/>
          <p:cNvSpPr/>
          <p:nvPr/>
        </p:nvSpPr>
        <p:spPr>
          <a:xfrm>
            <a:off x="320040" y="1280160"/>
            <a:ext cx="2468880" cy="64008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node of Ranvier</a:t>
            </a:r>
          </a:p>
        </p:txBody>
      </p:sp>
      <p:sp>
        <p:nvSpPr>
          <p:cNvPr id="12" name="Rounded Rectangle 11"/>
          <p:cNvSpPr/>
          <p:nvPr/>
        </p:nvSpPr>
        <p:spPr>
          <a:xfrm>
            <a:off x="2926080" y="1280160"/>
            <a:ext cx="5760720" cy="640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gap in the myelin sheath where the axon is exposed</a:t>
            </a:r>
          </a:p>
        </p:txBody>
      </p:sp>
      <p:sp>
        <p:nvSpPr>
          <p:cNvPr id="13" name="Rounded Rectangle 12"/>
          <p:cNvSpPr/>
          <p:nvPr/>
        </p:nvSpPr>
        <p:spPr>
          <a:xfrm>
            <a:off x="320040" y="2029967"/>
            <a:ext cx="2468880" cy="64008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axon</a:t>
            </a:r>
          </a:p>
        </p:txBody>
      </p:sp>
      <p:sp>
        <p:nvSpPr>
          <p:cNvPr id="14" name="Rounded Rectangle 13"/>
          <p:cNvSpPr/>
          <p:nvPr/>
        </p:nvSpPr>
        <p:spPr>
          <a:xfrm>
            <a:off x="2926080" y="2029967"/>
            <a:ext cx="5760720" cy="640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a long single fibre that carries nerve impulses</a:t>
            </a:r>
          </a:p>
        </p:txBody>
      </p:sp>
      <p:sp>
        <p:nvSpPr>
          <p:cNvPr id="15" name="Rounded Rectangle 14"/>
          <p:cNvSpPr/>
          <p:nvPr/>
        </p:nvSpPr>
        <p:spPr>
          <a:xfrm>
            <a:off x="320040" y="2779775"/>
            <a:ext cx="2468880" cy="64008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myelin sheath</a:t>
            </a:r>
          </a:p>
        </p:txBody>
      </p:sp>
      <p:sp>
        <p:nvSpPr>
          <p:cNvPr id="16" name="Rounded Rectangle 15"/>
          <p:cNvSpPr/>
          <p:nvPr/>
        </p:nvSpPr>
        <p:spPr>
          <a:xfrm>
            <a:off x="2926080" y="2779775"/>
            <a:ext cx="5760720" cy="640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a thick insulating layer around the axon</a:t>
            </a:r>
          </a:p>
        </p:txBody>
      </p:sp>
      <p:sp>
        <p:nvSpPr>
          <p:cNvPr id="17" name="Rounded Rectangle 16"/>
          <p:cNvSpPr/>
          <p:nvPr/>
        </p:nvSpPr>
        <p:spPr>
          <a:xfrm>
            <a:off x="320040" y="3529583"/>
            <a:ext cx="2468880" cy="64008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Schwann cell</a:t>
            </a:r>
          </a:p>
        </p:txBody>
      </p:sp>
      <p:sp>
        <p:nvSpPr>
          <p:cNvPr id="18" name="Rounded Rectangle 17"/>
          <p:cNvSpPr/>
          <p:nvPr/>
        </p:nvSpPr>
        <p:spPr>
          <a:xfrm>
            <a:off x="2926080" y="3529583"/>
            <a:ext cx="5760720" cy="640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a cell wrapped around the axon, forming the myelin sheath</a:t>
            </a:r>
          </a:p>
        </p:txBody>
      </p:sp>
      <p:sp>
        <p:nvSpPr>
          <p:cNvPr id="19" name="Rounded Rectangle 18"/>
          <p:cNvSpPr/>
          <p:nvPr/>
        </p:nvSpPr>
        <p:spPr>
          <a:xfrm>
            <a:off x="320040" y="4279392"/>
            <a:ext cx="2468880" cy="640080"/>
          </a:xfrm>
          <a:prstGeom prst="roundRect">
            <a:avLst>
              <a:gd name="adj" fmla="val 15000"/>
            </a:avLst>
          </a:prstGeom>
          <a:solidFill>
            <a:srgbClr val="C8E6A0"/>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300" b="1" i="0">
                <a:solidFill>
                  <a:srgbClr val="1B3A6B"/>
                </a:solidFill>
                <a:latin typeface="Calibri"/>
              </a:rPr>
              <a:t>dendrites</a:t>
            </a:r>
          </a:p>
        </p:txBody>
      </p:sp>
      <p:sp>
        <p:nvSpPr>
          <p:cNvPr id="20" name="Rounded Rectangle 19"/>
          <p:cNvSpPr/>
          <p:nvPr/>
        </p:nvSpPr>
        <p:spPr>
          <a:xfrm>
            <a:off x="2926080" y="4279392"/>
            <a:ext cx="5760720" cy="64008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0" i="0">
                <a:solidFill>
                  <a:srgbClr val="1B3A6B"/>
                </a:solidFill>
                <a:latin typeface="Calibri"/>
              </a:rPr>
              <a:t>highly branched fibres that conduct impulses</a:t>
            </a:r>
          </a:p>
        </p:txBody>
      </p:sp>
      <p:sp>
        <p:nvSpPr>
          <p:cNvPr id="21" name="Rounded Rectangle 20">
            <a:hlinkClick r:id="rId2" action="ppaction://hlinksldjump"/>
          </p:cNvPr>
          <p:cNvSpPr/>
          <p:nvPr/>
        </p:nvSpPr>
        <p:spPr>
          <a:xfrm>
            <a:off x="3200400" y="5943600"/>
            <a:ext cx="274320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matching</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 1</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15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8"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65760" y="868680"/>
            <a:ext cx="8412480" cy="1005840"/>
          </a:xfrm>
          <a:prstGeom prst="rect">
            <a:avLst/>
          </a:prstGeom>
          <a:noFill/>
        </p:spPr>
        <p:txBody>
          <a:bodyPr wrap="square" anchor="t">
            <a:spAutoFit/>
          </a:bodyPr>
          <a:lstStyle/>
          <a:p>
            <a:pPr algn="l">
              <a:spcAft>
                <a:spcPts val="400"/>
              </a:spcAft>
            </a:pPr>
            <a:r>
              <a:rPr sz="2000" b="1" i="0">
                <a:solidFill>
                  <a:srgbClr val="1B3A6B"/>
                </a:solidFill>
                <a:latin typeface="Calibri"/>
              </a:rPr>
              <a:t>Which statement about relay neurones is correct?</a:t>
            </a:r>
          </a:p>
        </p:txBody>
      </p:sp>
      <p:sp>
        <p:nvSpPr>
          <p:cNvPr id="13" name="Rounded Rectangle 12">
            <a:hlinkClick r:id="rId3" action="ppaction://hlinksldjump"/>
          </p:cNvPr>
          <p:cNvSpPr/>
          <p:nvPr/>
        </p:nvSpPr>
        <p:spPr>
          <a:xfrm>
            <a:off x="640080" y="201168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They carry impulses from receptors directly to effectors.</a:t>
            </a:r>
          </a:p>
        </p:txBody>
      </p:sp>
      <p:sp>
        <p:nvSpPr>
          <p:cNvPr id="14" name="Rounded Rectangle 13">
            <a:hlinkClick r:id="rId4" action="ppaction://hlinksldjump"/>
          </p:cNvPr>
          <p:cNvSpPr/>
          <p:nvPr/>
        </p:nvSpPr>
        <p:spPr>
          <a:xfrm>
            <a:off x="640080" y="278892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They are found entirely in the CNS and connect other neurones.</a:t>
            </a:r>
          </a:p>
        </p:txBody>
      </p:sp>
      <p:sp>
        <p:nvSpPr>
          <p:cNvPr id="15" name="Rounded Rectangle 14">
            <a:hlinkClick r:id="rId5" action="ppaction://hlinksldjump"/>
          </p:cNvPr>
          <p:cNvSpPr/>
          <p:nvPr/>
        </p:nvSpPr>
        <p:spPr>
          <a:xfrm>
            <a:off x="640080" y="356616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Their cell bodies always lie in a dorsal root ganglion.</a:t>
            </a:r>
          </a:p>
        </p:txBody>
      </p:sp>
      <p:sp>
        <p:nvSpPr>
          <p:cNvPr id="16" name="Rounded Rectangle 15">
            <a:hlinkClick r:id="rId6" action="ppaction://hlinksldjump"/>
          </p:cNvPr>
          <p:cNvSpPr/>
          <p:nvPr/>
        </p:nvSpPr>
        <p:spPr>
          <a:xfrm>
            <a:off x="640080" y="434340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They are the only myelinated neurones in the nervous system.</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 1</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37744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Relay (intermediate) neurones lie entirely in the CNS and synapse with sensory and motor neurones, allowing integration.</a:t>
            </a:r>
          </a:p>
        </p:txBody>
      </p:sp>
      <p:sp>
        <p:nvSpPr>
          <p:cNvPr id="11" name="Rounded Rectangle 10">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 1</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19456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where a relay neurone is found, and what it connects. Try again.</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 1</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19456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where a relay neurone is found, and what it connects. Try again.</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 1</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19456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Think about where a relay neurone is found, and what it connects. Try again.</a:t>
            </a:r>
          </a:p>
        </p:txBody>
      </p:sp>
      <p:sp>
        <p:nvSpPr>
          <p:cNvPr id="11" name="Rounded Rectangle 10">
            <a:hlinkClick r:id="rId2" action="ppaction://hlinksldjump"/>
          </p:cNvPr>
          <p:cNvSpPr/>
          <p:nvPr/>
        </p:nvSpPr>
        <p:spPr>
          <a:xfrm>
            <a:off x="3200400" y="438912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 2</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16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6"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7"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65760" y="868680"/>
            <a:ext cx="8412480" cy="1097280"/>
          </a:xfrm>
          <a:prstGeom prst="rect">
            <a:avLst/>
          </a:prstGeom>
          <a:noFill/>
        </p:spPr>
        <p:txBody>
          <a:bodyPr wrap="square" anchor="t">
            <a:spAutoFit/>
          </a:bodyPr>
          <a:lstStyle/>
          <a:p>
            <a:pPr algn="l">
              <a:spcAft>
                <a:spcPts val="400"/>
              </a:spcAft>
            </a:pPr>
            <a:r>
              <a:rPr sz="2000" b="1" i="0">
                <a:solidFill>
                  <a:srgbClr val="1B3A6B"/>
                </a:solidFill>
                <a:latin typeface="Calibri"/>
              </a:rPr>
              <a:t>The nodes of Ranvier are:</a:t>
            </a:r>
          </a:p>
        </p:txBody>
      </p:sp>
      <p:sp>
        <p:nvSpPr>
          <p:cNvPr id="13" name="Rounded Rectangle 12">
            <a:hlinkClick r:id="rId2" action="ppaction://hlinksldjump"/>
          </p:cNvPr>
          <p:cNvSpPr/>
          <p:nvPr/>
        </p:nvSpPr>
        <p:spPr>
          <a:xfrm>
            <a:off x="640080" y="210312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A   the nuclei of Schwann cells</a:t>
            </a:r>
          </a:p>
        </p:txBody>
      </p:sp>
      <p:sp>
        <p:nvSpPr>
          <p:cNvPr id="14" name="Rounded Rectangle 13">
            <a:hlinkClick r:id="rId3" action="ppaction://hlinksldjump"/>
          </p:cNvPr>
          <p:cNvSpPr/>
          <p:nvPr/>
        </p:nvSpPr>
        <p:spPr>
          <a:xfrm>
            <a:off x="640080" y="288036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B   synapses between sensory and motor neurones</a:t>
            </a:r>
          </a:p>
        </p:txBody>
      </p:sp>
      <p:sp>
        <p:nvSpPr>
          <p:cNvPr id="15" name="Rounded Rectangle 14">
            <a:hlinkClick r:id="rId4" action="ppaction://hlinksldjump"/>
          </p:cNvPr>
          <p:cNvSpPr/>
          <p:nvPr/>
        </p:nvSpPr>
        <p:spPr>
          <a:xfrm>
            <a:off x="640080" y="365760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C   gaps in the myelin sheath where the axon is exposed</a:t>
            </a:r>
          </a:p>
        </p:txBody>
      </p:sp>
      <p:sp>
        <p:nvSpPr>
          <p:cNvPr id="16" name="Rounded Rectangle 15">
            <a:hlinkClick r:id="rId5" action="ppaction://hlinksldjump"/>
          </p:cNvPr>
          <p:cNvSpPr/>
          <p:nvPr/>
        </p:nvSpPr>
        <p:spPr>
          <a:xfrm>
            <a:off x="640080" y="4434840"/>
            <a:ext cx="7772400" cy="640080"/>
          </a:xfrm>
          <a:prstGeom prst="roundRect">
            <a:avLst>
              <a:gd name="adj" fmla="val 15000"/>
            </a:avLst>
          </a:prstGeom>
          <a:solidFill>
            <a:srgbClr val="E3F2FD"/>
          </a:solidFill>
          <a:ln w="12700">
            <a:solidFill>
              <a:srgbClr val="1B3A6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D   the cell bodies of sensory neurones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 2</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19456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Correct.</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Nodes of Ranvier are unmyelinated gaps. They allow saltatory conduction.</a:t>
            </a:r>
          </a:p>
        </p:txBody>
      </p:sp>
      <p:sp>
        <p:nvSpPr>
          <p:cNvPr id="11" name="Rounded Rectangle 10">
            <a:hlinkClick r:id="rId2" action="ppaction://hlinksldjump"/>
          </p:cNvPr>
          <p:cNvSpPr/>
          <p:nvPr/>
        </p:nvSpPr>
        <p:spPr>
          <a:xfrm>
            <a:off x="3200400" y="44805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Continue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 2</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01168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labelled neurone. Try again.</a:t>
            </a:r>
          </a:p>
        </p:txBody>
      </p:sp>
      <p:sp>
        <p:nvSpPr>
          <p:cNvPr id="11" name="Rounded Rectangle 10">
            <a:hlinkClick r:id="rId2"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 2</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01168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labelled neurone. Try again.</a:t>
            </a:r>
          </a:p>
        </p:txBody>
      </p:sp>
      <p:sp>
        <p:nvSpPr>
          <p:cNvPr id="11" name="Rounded Rectangle 10">
            <a:hlinkClick r:id="rId2"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Knowledge check 2</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645920"/>
            <a:ext cx="7680960" cy="201168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Not quite.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Look back at the labelled neurone. Try again.</a:t>
            </a:r>
          </a:p>
        </p:txBody>
      </p:sp>
      <p:sp>
        <p:nvSpPr>
          <p:cNvPr id="11" name="Rounded Rectangle 10">
            <a:hlinkClick r:id="rId2" action="ppaction://hlinksldjump"/>
          </p:cNvPr>
          <p:cNvSpPr/>
          <p:nvPr/>
        </p:nvSpPr>
        <p:spPr>
          <a:xfrm>
            <a:off x="3200400" y="4297680"/>
            <a:ext cx="2743200" cy="411480"/>
          </a:xfrm>
          <a:prstGeom prst="roundRect">
            <a:avLst>
              <a:gd name="adj" fmla="val 15000"/>
            </a:avLst>
          </a:prstGeom>
          <a:solidFill>
            <a:srgbClr val="EF6C00"/>
          </a:solidFill>
          <a:ln w="12700">
            <a:solidFill>
              <a:srgbClr val="EF6C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Try again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Scientist case study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17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8"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65760" y="822960"/>
            <a:ext cx="8412480" cy="411480"/>
          </a:xfrm>
          <a:prstGeom prst="rect">
            <a:avLst/>
          </a:prstGeom>
          <a:noFill/>
        </p:spPr>
        <p:txBody>
          <a:bodyPr wrap="square" anchor="t">
            <a:spAutoFit/>
          </a:bodyPr>
          <a:lstStyle/>
          <a:p>
            <a:pPr algn="ctr">
              <a:spcAft>
                <a:spcPts val="400"/>
              </a:spcAft>
            </a:pPr>
            <a:r>
              <a:rPr sz="2000" b="1" i="0">
                <a:solidFill>
                  <a:srgbClr val="1B3A6B"/>
                </a:solidFill>
                <a:latin typeface="Calibri"/>
              </a:rPr>
              <a:t>Scientists in the real world: the neurologist</a:t>
            </a:r>
          </a:p>
        </p:txBody>
      </p:sp>
      <p:sp>
        <p:nvSpPr>
          <p:cNvPr id="13" name="Rounded Rectangle 12"/>
          <p:cNvSpPr/>
          <p:nvPr/>
        </p:nvSpPr>
        <p:spPr>
          <a:xfrm>
            <a:off x="365760" y="1325880"/>
            <a:ext cx="8412480" cy="155448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400" b="0" i="0">
                <a:solidFill>
                  <a:srgbClr val="1A2F5A"/>
                </a:solidFill>
                <a:latin typeface="Calibri"/>
              </a:rPr>
              <a:t>The original Boardworks activity was a Flash interview with Dr Kevin Talbot, then Reader in Clinical Neurology at Oxford University, with a drop-down question menu. The interview recording cannot be recovered from the flattened export. The questions below keep the same classroom purpose: linking organisation of the nervous system to clinical neurology.</a:t>
            </a:r>
          </a:p>
        </p:txBody>
      </p:sp>
      <p:sp>
        <p:nvSpPr>
          <p:cNvPr id="14" name="Rounded Rectangle 13">
            <a:hlinkClick r:id="rId3" action="ppaction://hlinksldjump"/>
          </p:cNvPr>
          <p:cNvSpPr/>
          <p:nvPr/>
        </p:nvSpPr>
        <p:spPr>
          <a:xfrm>
            <a:off x="1371600" y="3063240"/>
            <a:ext cx="6400800" cy="50292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What does a neurologist do?</a:t>
            </a:r>
          </a:p>
        </p:txBody>
      </p:sp>
      <p:sp>
        <p:nvSpPr>
          <p:cNvPr id="15" name="Rounded Rectangle 14">
            <a:hlinkClick r:id="rId4" action="ppaction://hlinksldjump"/>
          </p:cNvPr>
          <p:cNvSpPr/>
          <p:nvPr/>
        </p:nvSpPr>
        <p:spPr>
          <a:xfrm>
            <a:off x="1371600" y="3657600"/>
            <a:ext cx="6400800" cy="50292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How does motor neurone disease relate to this topic?</a:t>
            </a:r>
          </a:p>
        </p:txBody>
      </p:sp>
      <p:sp>
        <p:nvSpPr>
          <p:cNvPr id="16" name="Rounded Rectangle 15">
            <a:hlinkClick r:id="rId5" action="ppaction://hlinksldjump"/>
          </p:cNvPr>
          <p:cNvSpPr/>
          <p:nvPr/>
        </p:nvSpPr>
        <p:spPr>
          <a:xfrm>
            <a:off x="1371600" y="4251960"/>
            <a:ext cx="6400800" cy="50292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Why does organisation of the nervous system matter in diagnosis?</a:t>
            </a:r>
          </a:p>
        </p:txBody>
      </p:sp>
      <p:sp>
        <p:nvSpPr>
          <p:cNvPr id="17" name="Rounded Rectangle 16">
            <a:hlinkClick r:id="rId6" action="ppaction://hlinksldjump"/>
          </p:cNvPr>
          <p:cNvSpPr/>
          <p:nvPr/>
        </p:nvSpPr>
        <p:spPr>
          <a:xfrm>
            <a:off x="1371600" y="4846320"/>
            <a:ext cx="6400800" cy="50292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FFFFFF"/>
                </a:solidFill>
                <a:latin typeface="Calibri"/>
              </a:rPr>
              <a:t>What skills do clinical neurologists use?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Scientist case study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371600"/>
            <a:ext cx="786384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700" b="0" i="0">
                <a:solidFill>
                  <a:srgbClr val="1A2F5A"/>
                </a:solidFill>
                <a:latin typeface="Calibri"/>
              </a:rPr>
              <a:t>A neurologist is a doctor who diagnoses and treats disorders of the brain, spinal cord and peripheral nerves. They use knowledge of how the nervous system is organised to work out where a lesion is – CNS or PNS, sensory or motor, somatic or autonomic.</a:t>
            </a:r>
          </a:p>
        </p:txBody>
      </p:sp>
      <p:sp>
        <p:nvSpPr>
          <p:cNvPr id="11" name="Rounded Rectangle 10">
            <a:hlinkClick r:id="rId2" action="ppaction://hlinksldjump"/>
          </p:cNvPr>
          <p:cNvSpPr/>
          <p:nvPr/>
        </p:nvSpPr>
        <p:spPr>
          <a:xfrm>
            <a:off x="3200400" y="49377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questions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Scientist case study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371600"/>
            <a:ext cx="786384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700" b="0" i="0">
                <a:solidFill>
                  <a:srgbClr val="1A2F5A"/>
                </a:solidFill>
                <a:latin typeface="Calibri"/>
              </a:rPr>
              <a:t>Motor neurone disease (MND / ALS) destroys motor neurones in the CNS. Signals no longer reach skeletal muscle, so muscles weaken and waste. Sensory neurones are typically spared, which is why the organisation into sensory, relay and motor pathways is clinically important.</a:t>
            </a:r>
          </a:p>
        </p:txBody>
      </p:sp>
      <p:sp>
        <p:nvSpPr>
          <p:cNvPr id="11" name="Rounded Rectangle 10">
            <a:hlinkClick r:id="rId2" action="ppaction://hlinksldjump"/>
          </p:cNvPr>
          <p:cNvSpPr/>
          <p:nvPr/>
        </p:nvSpPr>
        <p:spPr>
          <a:xfrm>
            <a:off x="3200400" y="49377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questions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Scientist case study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371600"/>
            <a:ext cx="786384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700" b="0" i="0">
                <a:solidFill>
                  <a:srgbClr val="1A2F5A"/>
                </a:solidFill>
                <a:latin typeface="Calibri"/>
              </a:rPr>
              <a:t>Symptoms follow the wiring. A problem in a spinal motor neurone affects effectors supplied by that segment. A brain lesion may affect many pathways. Distinguishing upper from lower motor neurone signs, and CNS from PNS, depends on this map of organisation.</a:t>
            </a:r>
          </a:p>
        </p:txBody>
      </p:sp>
      <p:sp>
        <p:nvSpPr>
          <p:cNvPr id="11" name="Rounded Rectangle 10">
            <a:hlinkClick r:id="rId2" action="ppaction://hlinksldjump"/>
          </p:cNvPr>
          <p:cNvSpPr/>
          <p:nvPr/>
        </p:nvSpPr>
        <p:spPr>
          <a:xfrm>
            <a:off x="3200400" y="49377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questions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Scientist case study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640080" y="1371600"/>
            <a:ext cx="7863840" cy="3200400"/>
          </a:xfrm>
          <a:prstGeom prst="roundRect">
            <a:avLst>
              <a:gd name="adj" fmla="val 15000"/>
            </a:avLst>
          </a:prstGeom>
          <a:solidFill>
            <a:srgbClr val="FFF6B0"/>
          </a:solidFill>
          <a:ln w="15875">
            <a:solidFill>
              <a:srgbClr val="C5B43A"/>
            </a:solidFill>
          </a:ln>
        </p:spPr>
        <p:style>
          <a:lnRef idx="1">
            <a:schemeClr val="accent1"/>
          </a:lnRef>
          <a:fillRef idx="3">
            <a:schemeClr val="accent1"/>
          </a:fillRef>
          <a:effectRef idx="2">
            <a:schemeClr val="accent1"/>
          </a:effectRef>
          <a:fontRef idx="minor">
            <a:schemeClr val="lt1"/>
          </a:fontRef>
        </p:style>
        <p:txBody>
          <a:bodyPr rtlCol="0" anchor="t" wrap="square" lIns="109728" rIns="109728" tIns="73152" bIns="73152"/>
          <a:lstStyle/>
          <a:p>
            <a:pPr algn="l">
              <a:spcBef>
                <a:spcPts val="0"/>
              </a:spcBef>
              <a:spcAft>
                <a:spcPts val="200"/>
              </a:spcAft>
            </a:pPr>
            <a:r>
              <a:rPr sz="1700" b="0" i="0">
                <a:solidFill>
                  <a:srgbClr val="1A2F5A"/>
                </a:solidFill>
                <a:latin typeface="Calibri"/>
              </a:rPr>
              <a:t>History taking, neurological examination (tone, power, reflexes, sensation, coordination), and linking signs to named pathways. Research neurologists also study how neurones live, die and might be protected – building on the cell biology of the neurone you have just labelled.</a:t>
            </a:r>
          </a:p>
        </p:txBody>
      </p:sp>
      <p:sp>
        <p:nvSpPr>
          <p:cNvPr id="11" name="Rounded Rectangle 10">
            <a:hlinkClick r:id="rId2" action="ppaction://hlinksldjump"/>
          </p:cNvPr>
          <p:cNvSpPr/>
          <p:nvPr/>
        </p:nvSpPr>
        <p:spPr>
          <a:xfrm>
            <a:off x="3200400" y="493776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questions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Plenary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18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7"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a:hlinkClick r:id="rId8" action="ppaction://hlinksldjump"/>
          </p:cNvPr>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365760" y="868680"/>
            <a:ext cx="8412480" cy="365760"/>
          </a:xfrm>
          <a:prstGeom prst="rect">
            <a:avLst/>
          </a:prstGeom>
          <a:noFill/>
        </p:spPr>
        <p:txBody>
          <a:bodyPr wrap="square" anchor="t">
            <a:spAutoFit/>
          </a:bodyPr>
          <a:lstStyle/>
          <a:p>
            <a:pPr algn="l">
              <a:spcAft>
                <a:spcPts val="400"/>
              </a:spcAft>
            </a:pPr>
            <a:r>
              <a:rPr sz="1800" b="1" i="0">
                <a:solidFill>
                  <a:srgbClr val="1B3A6B"/>
                </a:solidFill>
                <a:latin typeface="Calibri"/>
              </a:rPr>
              <a:t>True or false? Click a statement, then decide.</a:t>
            </a:r>
          </a:p>
        </p:txBody>
      </p:sp>
      <p:sp>
        <p:nvSpPr>
          <p:cNvPr id="13" name="Rounded Rectangle 12">
            <a:hlinkClick r:id="rId2" action="ppaction://hlinksldjump"/>
          </p:cNvPr>
          <p:cNvSpPr/>
          <p:nvPr/>
        </p:nvSpPr>
        <p:spPr>
          <a:xfrm>
            <a:off x="502920" y="1371600"/>
            <a:ext cx="8138160" cy="64008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Sensory neurones carry impulses from the CNS to effectors.</a:t>
            </a:r>
          </a:p>
        </p:txBody>
      </p:sp>
      <p:sp>
        <p:nvSpPr>
          <p:cNvPr id="14" name="Rounded Rectangle 13">
            <a:hlinkClick r:id="rId3" action="ppaction://hlinksldjump"/>
          </p:cNvPr>
          <p:cNvSpPr/>
          <p:nvPr/>
        </p:nvSpPr>
        <p:spPr>
          <a:xfrm>
            <a:off x="502920" y="2148840"/>
            <a:ext cx="8138160" cy="64008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The sympathetic and parasympathetic systems are both autonomic.</a:t>
            </a:r>
          </a:p>
        </p:txBody>
      </p:sp>
      <p:sp>
        <p:nvSpPr>
          <p:cNvPr id="15" name="Rounded Rectangle 14">
            <a:hlinkClick r:id="rId4" action="ppaction://hlinksldjump"/>
          </p:cNvPr>
          <p:cNvSpPr/>
          <p:nvPr/>
        </p:nvSpPr>
        <p:spPr>
          <a:xfrm>
            <a:off x="502920" y="2926080"/>
            <a:ext cx="8138160" cy="64008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Myelin is produced by Schwann cells in the PNS.</a:t>
            </a:r>
          </a:p>
        </p:txBody>
      </p:sp>
      <p:sp>
        <p:nvSpPr>
          <p:cNvPr id="16" name="Rounded Rectangle 15">
            <a:hlinkClick r:id="rId5" action="ppaction://hlinksldjump"/>
          </p:cNvPr>
          <p:cNvSpPr/>
          <p:nvPr/>
        </p:nvSpPr>
        <p:spPr>
          <a:xfrm>
            <a:off x="502920" y="3703320"/>
            <a:ext cx="8138160" cy="640080"/>
          </a:xfrm>
          <a:prstGeom prst="roundRect">
            <a:avLst>
              <a:gd name="adj" fmla="val 15000"/>
            </a:avLst>
          </a:prstGeom>
          <a:solidFill>
            <a:srgbClr val="FFF6B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500" b="1" i="0">
                <a:solidFill>
                  <a:srgbClr val="1B3A6B"/>
                </a:solidFill>
                <a:latin typeface="Calibri"/>
              </a:rPr>
              <a:t>Relay neurones have their cell bodies in the dorsal root ganglion.</a:t>
            </a:r>
          </a:p>
        </p:txBody>
      </p:sp>
      <p:sp>
        <p:nvSpPr>
          <p:cNvPr id="17" name="Rounded Rectangle 16">
            <a:hlinkClick r:id="rId6" action="ppaction://hlinksldjump"/>
          </p:cNvPr>
          <p:cNvSpPr/>
          <p:nvPr/>
        </p:nvSpPr>
        <p:spPr>
          <a:xfrm>
            <a:off x="3017520" y="4754880"/>
            <a:ext cx="3108960" cy="411480"/>
          </a:xfrm>
          <a:prstGeom prst="roundRect">
            <a:avLst>
              <a:gd name="adj" fmla="val 15000"/>
            </a:avLst>
          </a:prstGeom>
          <a:solidFill>
            <a:srgbClr val="1B7A3A"/>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Show all answers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Plenary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554480"/>
            <a:ext cx="7680960" cy="256032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False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Sensory neurones carry impulses from receptors to the CNS. Motor neurones run from the CNS to effectors.</a:t>
            </a:r>
          </a:p>
        </p:txBody>
      </p:sp>
      <p:sp>
        <p:nvSpPr>
          <p:cNvPr id="11" name="Rounded Rectangle 10">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Plenary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554480"/>
            <a:ext cx="768096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True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Both are divisions of the autonomic (involuntary) nervous system and usually act antagonistically.</a:t>
            </a:r>
          </a:p>
        </p:txBody>
      </p:sp>
      <p:sp>
        <p:nvSpPr>
          <p:cNvPr id="11" name="Rounded Rectangle 10">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Plenary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554480"/>
            <a:ext cx="7680960" cy="2560320"/>
          </a:xfrm>
          <a:prstGeom prst="roundRect">
            <a:avLst>
              <a:gd name="adj" fmla="val 15000"/>
            </a:avLst>
          </a:prstGeom>
          <a:solidFill>
            <a:srgbClr val="E8F5E9"/>
          </a:solidFill>
          <a:ln w="15875">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True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In the PNS, Schwann cells wrap the axon. In the CNS the equivalent cells are oligodendrocytes.</a:t>
            </a:r>
          </a:p>
        </p:txBody>
      </p:sp>
      <p:sp>
        <p:nvSpPr>
          <p:cNvPr id="11" name="Rounded Rectangle 10">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Plenary</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Rounded Rectangle 9"/>
          <p:cNvSpPr/>
          <p:nvPr/>
        </p:nvSpPr>
        <p:spPr>
          <a:xfrm>
            <a:off x="731520" y="1554480"/>
            <a:ext cx="7680960" cy="2560320"/>
          </a:xfrm>
          <a:prstGeom prst="roundRect">
            <a:avLst>
              <a:gd name="adj" fmla="val 15000"/>
            </a:avLst>
          </a:prstGeom>
          <a:solidFill>
            <a:srgbClr val="FFEBEE"/>
          </a:solidFill>
          <a:ln w="15875">
            <a:solidFill>
              <a:srgbClr val="C6282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800" b="0" i="0">
                <a:solidFill>
                  <a:srgbClr val="1B3A6B"/>
                </a:solidFill>
                <a:latin typeface="Calibri"/>
              </a:rPr>
              <a:t>False</a:t>
            </a:r>
          </a:p>
          <a:p>
            <a:pPr algn="ctr">
              <a:spcAft>
                <a:spcPts val="200"/>
              </a:spcAft>
            </a:pPr>
            <a:r>
              <a:rPr sz="1800" b="0" i="0">
                <a:solidFill>
                  <a:srgbClr val="1B3A6B"/>
                </a:solidFill>
                <a:latin typeface="Calibri"/>
              </a:rPr>
              <a:t/>
            </a:r>
          </a:p>
          <a:p>
            <a:pPr algn="ctr">
              <a:spcAft>
                <a:spcPts val="200"/>
              </a:spcAft>
            </a:pPr>
            <a:r>
              <a:rPr sz="1800" b="0" i="0">
                <a:solidFill>
                  <a:srgbClr val="1B3A6B"/>
                </a:solidFill>
                <a:latin typeface="Calibri"/>
              </a:rPr>
              <a:t>Dorsal root ganglia contain sensory neurone cell bodies. Relay neurone cell bodies are in the CNS.</a:t>
            </a:r>
          </a:p>
        </p:txBody>
      </p:sp>
      <p:sp>
        <p:nvSpPr>
          <p:cNvPr id="11" name="Rounded Rectangle 10">
            <a:hlinkClick r:id="rId2" action="ppaction://hlinksldjump"/>
          </p:cNvPr>
          <p:cNvSpPr/>
          <p:nvPr/>
        </p:nvSpPr>
        <p:spPr>
          <a:xfrm>
            <a:off x="3200400" y="4572000"/>
            <a:ext cx="2743200" cy="41148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Plenary – answers</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activity</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TextBox 9"/>
          <p:cNvSpPr txBox="1"/>
          <p:nvPr/>
        </p:nvSpPr>
        <p:spPr>
          <a:xfrm>
            <a:off x="365760" y="1005840"/>
            <a:ext cx="8412480" cy="822960"/>
          </a:xfrm>
          <a:prstGeom prst="rect">
            <a:avLst/>
          </a:prstGeom>
          <a:noFill/>
        </p:spPr>
        <p:txBody>
          <a:bodyPr wrap="square" anchor="t">
            <a:spAutoFit/>
          </a:bodyPr>
          <a:lstStyle/>
          <a:p>
            <a:pPr algn="l">
              <a:spcAft>
                <a:spcPts val="400"/>
              </a:spcAft>
            </a:pPr>
            <a:r>
              <a:rPr sz="1300" b="0" i="0">
                <a:solidFill>
                  <a:srgbClr val="1B3A6B"/>
                </a:solidFill>
                <a:latin typeface="Calibri"/>
              </a:rPr>
              <a:t>False.  Sensory neurones carry impulses from the CNS to effectors.  Sensory neurones carry impulses from receptors to the CNS. Motor neurones run from the CNS to effectors.</a:t>
            </a:r>
          </a:p>
        </p:txBody>
      </p:sp>
      <p:sp>
        <p:nvSpPr>
          <p:cNvPr id="11" name="TextBox 10"/>
          <p:cNvSpPr txBox="1"/>
          <p:nvPr/>
        </p:nvSpPr>
        <p:spPr>
          <a:xfrm>
            <a:off x="365760" y="1920240"/>
            <a:ext cx="8412480" cy="822960"/>
          </a:xfrm>
          <a:prstGeom prst="rect">
            <a:avLst/>
          </a:prstGeom>
          <a:noFill/>
        </p:spPr>
        <p:txBody>
          <a:bodyPr wrap="square" anchor="t">
            <a:spAutoFit/>
          </a:bodyPr>
          <a:lstStyle/>
          <a:p>
            <a:pPr algn="l">
              <a:spcAft>
                <a:spcPts val="400"/>
              </a:spcAft>
            </a:pPr>
            <a:r>
              <a:rPr sz="1300" b="0" i="0">
                <a:solidFill>
                  <a:srgbClr val="1B3A6B"/>
                </a:solidFill>
                <a:latin typeface="Calibri"/>
              </a:rPr>
              <a:t>True.  The sympathetic and parasympathetic systems are both autonomic.  Both are divisions of the autonomic (involuntary) nervous system and usually act antagonistically.</a:t>
            </a:r>
          </a:p>
        </p:txBody>
      </p:sp>
      <p:sp>
        <p:nvSpPr>
          <p:cNvPr id="12" name="TextBox 11"/>
          <p:cNvSpPr txBox="1"/>
          <p:nvPr/>
        </p:nvSpPr>
        <p:spPr>
          <a:xfrm>
            <a:off x="365760" y="2834640"/>
            <a:ext cx="8412480" cy="822960"/>
          </a:xfrm>
          <a:prstGeom prst="rect">
            <a:avLst/>
          </a:prstGeom>
          <a:noFill/>
        </p:spPr>
        <p:txBody>
          <a:bodyPr wrap="square" anchor="t">
            <a:spAutoFit/>
          </a:bodyPr>
          <a:lstStyle/>
          <a:p>
            <a:pPr algn="l">
              <a:spcAft>
                <a:spcPts val="400"/>
              </a:spcAft>
            </a:pPr>
            <a:r>
              <a:rPr sz="1300" b="0" i="0">
                <a:solidFill>
                  <a:srgbClr val="1B3A6B"/>
                </a:solidFill>
                <a:latin typeface="Calibri"/>
              </a:rPr>
              <a:t>True.  Myelin is produced by Schwann cells in the PNS.  In the PNS, Schwann cells wrap the axon. In the CNS the equivalent cells are oligodendrocytes.</a:t>
            </a:r>
          </a:p>
        </p:txBody>
      </p:sp>
      <p:sp>
        <p:nvSpPr>
          <p:cNvPr id="13" name="TextBox 12"/>
          <p:cNvSpPr txBox="1"/>
          <p:nvPr/>
        </p:nvSpPr>
        <p:spPr>
          <a:xfrm>
            <a:off x="365760" y="3749039"/>
            <a:ext cx="8412480" cy="822960"/>
          </a:xfrm>
          <a:prstGeom prst="rect">
            <a:avLst/>
          </a:prstGeom>
          <a:noFill/>
        </p:spPr>
        <p:txBody>
          <a:bodyPr wrap="square" anchor="t">
            <a:spAutoFit/>
          </a:bodyPr>
          <a:lstStyle/>
          <a:p>
            <a:pPr algn="l">
              <a:spcAft>
                <a:spcPts val="400"/>
              </a:spcAft>
            </a:pPr>
            <a:r>
              <a:rPr sz="1300" b="0" i="0">
                <a:solidFill>
                  <a:srgbClr val="1B3A6B"/>
                </a:solidFill>
                <a:latin typeface="Calibri"/>
              </a:rPr>
              <a:t>False.  Relay neurones have their cell bodies in the dorsal root ganglion.  Dorsal root ganglia contain sensory neurone cell bodies. Relay neurone cell bodies are in the CNS.</a:t>
            </a:r>
          </a:p>
        </p:txBody>
      </p:sp>
      <p:sp>
        <p:nvSpPr>
          <p:cNvPr id="14" name="Rounded Rectangle 13">
            <a:hlinkClick r:id="rId2" action="ppaction://hlinksldjump"/>
          </p:cNvPr>
          <p:cNvSpPr/>
          <p:nvPr/>
        </p:nvSpPr>
        <p:spPr>
          <a:xfrm>
            <a:off x="3200400" y="5760720"/>
            <a:ext cx="2743200" cy="36576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583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0080"/>
            <a:ext cx="9144000" cy="54864"/>
          </a:xfrm>
          <a:prstGeom prst="rect">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56032" y="91440"/>
            <a:ext cx="7498079" cy="502920"/>
          </a:xfrm>
          <a:prstGeom prst="rect">
            <a:avLst/>
          </a:prstGeom>
          <a:noFill/>
        </p:spPr>
        <p:txBody>
          <a:bodyPr wrap="square" anchor="t">
            <a:spAutoFit/>
          </a:bodyPr>
          <a:lstStyle/>
          <a:p>
            <a:pPr algn="l">
              <a:spcAft>
                <a:spcPts val="400"/>
              </a:spcAft>
            </a:pPr>
            <a:r>
              <a:rPr sz="2600" b="1" i="0">
                <a:solidFill>
                  <a:srgbClr val="2E9E4F"/>
                </a:solidFill>
                <a:latin typeface="Calibri"/>
              </a:rPr>
              <a:t>End of Part 1</a:t>
            </a:r>
          </a:p>
        </p:txBody>
      </p:sp>
      <p:sp>
        <p:nvSpPr>
          <p:cNvPr id="5" name="Rounded Rectangle 4"/>
          <p:cNvSpPr/>
          <p:nvPr/>
        </p:nvSpPr>
        <p:spPr>
          <a:xfrm>
            <a:off x="7452360" y="109728"/>
            <a:ext cx="1536192" cy="420624"/>
          </a:xfrm>
          <a:prstGeom prst="roundRect">
            <a:avLst>
              <a:gd name="adj" fmla="val 15000"/>
            </a:avLst>
          </a:prstGeom>
          <a:solidFill>
            <a:srgbClr val="C8E6A0"/>
          </a:solidFill>
          <a:ln w="12700">
            <a:solidFill>
              <a:srgbClr val="1B7A3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100" b="1" i="0">
                <a:solidFill>
                  <a:srgbClr val="1B7A3A"/>
                </a:solidFill>
                <a:latin typeface="Calibri"/>
              </a:rPr>
              <a:t>A2 Biology</a:t>
            </a:r>
          </a:p>
        </p:txBody>
      </p:sp>
      <p:sp>
        <p:nvSpPr>
          <p:cNvPr id="6" name="Rectangle 5"/>
          <p:cNvSpPr/>
          <p:nvPr/>
        </p:nvSpPr>
        <p:spPr>
          <a:xfrm>
            <a:off x="0" y="0"/>
            <a:ext cx="73152" cy="6858000"/>
          </a:xfrm>
          <a:prstGeom prst="rect">
            <a:avLst/>
          </a:prstGeom>
          <a:solidFill>
            <a:srgbClr val="6B2D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 y="6565392"/>
            <a:ext cx="9070848" cy="36576"/>
          </a:xfrm>
          <a:prstGeom prst="rect">
            <a:avLst/>
          </a:prstGeom>
          <a:solidFill>
            <a:srgbClr val="7A3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8600" y="6583680"/>
            <a:ext cx="1280160" cy="256032"/>
          </a:xfrm>
          <a:prstGeom prst="rect">
            <a:avLst/>
          </a:prstGeom>
          <a:noFill/>
        </p:spPr>
        <p:txBody>
          <a:bodyPr wrap="square" anchor="t">
            <a:spAutoFit/>
          </a:bodyPr>
          <a:lstStyle/>
          <a:p>
            <a:pPr algn="l">
              <a:spcAft>
                <a:spcPts val="400"/>
              </a:spcAft>
            </a:pPr>
            <a:r>
              <a:rPr sz="1000" b="0" i="0">
                <a:solidFill>
                  <a:srgbClr val="6B2D8B"/>
                </a:solidFill>
                <a:latin typeface="Calibri"/>
              </a:rPr>
              <a:t>19 of 19</a:t>
            </a:r>
          </a:p>
        </p:txBody>
      </p:sp>
      <p:sp>
        <p:nvSpPr>
          <p:cNvPr id="9" name="TextBox 8"/>
          <p:cNvSpPr txBox="1"/>
          <p:nvPr/>
        </p:nvSpPr>
        <p:spPr>
          <a:xfrm>
            <a:off x="1554480" y="6583680"/>
            <a:ext cx="6035040" cy="256032"/>
          </a:xfrm>
          <a:prstGeom prst="rect">
            <a:avLst/>
          </a:prstGeom>
          <a:noFill/>
        </p:spPr>
        <p:txBody>
          <a:bodyPr wrap="square" anchor="t">
            <a:spAutoFit/>
          </a:bodyPr>
          <a:lstStyle/>
          <a:p>
            <a:pPr algn="ctr">
              <a:spcAft>
                <a:spcPts val="400"/>
              </a:spcAft>
            </a:pPr>
            <a:r>
              <a:rPr sz="900" b="0" i="0">
                <a:solidFill>
                  <a:srgbClr val="5A5A5A"/>
                </a:solidFill>
                <a:latin typeface="Calibri"/>
              </a:rPr>
              <a:t>Original course © Boardworks Ltd 2009. Reconstructed interactive resource.</a:t>
            </a:r>
          </a:p>
        </p:txBody>
      </p:sp>
      <p:sp>
        <p:nvSpPr>
          <p:cNvPr id="10" name="Oval 9">
            <a:hlinkClick r:id="rId3" action="ppaction://hlinksldjump"/>
          </p:cNvPr>
          <p:cNvSpPr/>
          <p:nvPr/>
        </p:nvSpPr>
        <p:spPr>
          <a:xfrm>
            <a:off x="146304" y="5760720"/>
            <a:ext cx="384048" cy="384048"/>
          </a:xfrm>
          <a:prstGeom prst="ellipse">
            <a:avLst/>
          </a:prstGeom>
          <a:solidFill>
            <a:srgbClr val="FFFFFF"/>
          </a:solidFill>
          <a:ln w="22225">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6B2D8B"/>
                </a:solidFill>
                <a:latin typeface="Calibri"/>
              </a:rPr>
              <a:t>◀</a:t>
            </a:r>
          </a:p>
        </p:txBody>
      </p:sp>
      <p:sp>
        <p:nvSpPr>
          <p:cNvPr id="11" name="Oval 10"/>
          <p:cNvSpPr/>
          <p:nvPr/>
        </p:nvSpPr>
        <p:spPr>
          <a:xfrm>
            <a:off x="8613648" y="5760720"/>
            <a:ext cx="384048" cy="384048"/>
          </a:xfrm>
          <a:prstGeom prst="ellipse">
            <a:avLst/>
          </a:prstGeom>
          <a:solidFill>
            <a:srgbClr val="6B2D8B"/>
          </a:solidFill>
          <a:ln w="12700">
            <a:solidFill>
              <a:srgbClr val="6B2D8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a:t>
            </a:r>
          </a:p>
        </p:txBody>
      </p:sp>
      <p:sp>
        <p:nvSpPr>
          <p:cNvPr id="12" name="TextBox 11"/>
          <p:cNvSpPr txBox="1"/>
          <p:nvPr/>
        </p:nvSpPr>
        <p:spPr>
          <a:xfrm>
            <a:off x="457200" y="1645920"/>
            <a:ext cx="8229600" cy="1097280"/>
          </a:xfrm>
          <a:prstGeom prst="rect">
            <a:avLst/>
          </a:prstGeom>
          <a:noFill/>
        </p:spPr>
        <p:txBody>
          <a:bodyPr wrap="square" anchor="t">
            <a:spAutoFit/>
          </a:bodyPr>
          <a:lstStyle/>
          <a:p>
            <a:pPr algn="ctr">
              <a:spcAft>
                <a:spcPts val="400"/>
              </a:spcAft>
            </a:pPr>
            <a:r>
              <a:rPr sz="2600" b="1" i="0">
                <a:solidFill>
                  <a:srgbClr val="2E9E4F"/>
                </a:solidFill>
                <a:latin typeface="Calibri"/>
              </a:rPr>
              <a:t>Next: Part 2 – The nerve impulse</a:t>
            </a:r>
          </a:p>
        </p:txBody>
      </p:sp>
      <p:sp>
        <p:nvSpPr>
          <p:cNvPr id="13" name="TextBox 12"/>
          <p:cNvSpPr txBox="1"/>
          <p:nvPr/>
        </p:nvSpPr>
        <p:spPr>
          <a:xfrm>
            <a:off x="731520" y="2834640"/>
            <a:ext cx="7680960" cy="1463040"/>
          </a:xfrm>
          <a:prstGeom prst="rect">
            <a:avLst/>
          </a:prstGeom>
          <a:noFill/>
        </p:spPr>
        <p:txBody>
          <a:bodyPr wrap="square" anchor="t">
            <a:spAutoFit/>
          </a:bodyPr>
          <a:lstStyle/>
          <a:p>
            <a:pPr algn="ctr">
              <a:spcAft>
                <a:spcPts val="400"/>
              </a:spcAft>
            </a:pPr>
            <a:r>
              <a:rPr sz="1600" b="0" i="0">
                <a:solidFill>
                  <a:srgbClr val="1B3A6B"/>
                </a:solidFill>
                <a:latin typeface="Calibri"/>
              </a:rPr>
              <a:t>You can replay any activity from the Contents slide. Reset always returns an activity to its first screen so it can be used again with another group or a second pass.</a:t>
            </a:r>
          </a:p>
        </p:txBody>
      </p:sp>
      <p:sp>
        <p:nvSpPr>
          <p:cNvPr id="14" name="Rounded Rectangle 13">
            <a:hlinkClick r:id="rId2" action="ppaction://hlinksldjump"/>
          </p:cNvPr>
          <p:cNvSpPr/>
          <p:nvPr/>
        </p:nvSpPr>
        <p:spPr>
          <a:xfrm>
            <a:off x="3017520" y="4572000"/>
            <a:ext cx="3108960" cy="457200"/>
          </a:xfrm>
          <a:prstGeom prst="roundRect">
            <a:avLst>
              <a:gd name="adj" fmla="val 15000"/>
            </a:avLst>
          </a:prstGeom>
          <a:solidFill>
            <a:srgbClr val="2E9E4F"/>
          </a:solidFill>
          <a:ln w="12700">
            <a:solidFill>
              <a:srgbClr val="2E9E4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200"/>
              </a:spcAft>
            </a:pPr>
            <a:r>
              <a:rPr sz="1400" b="1" i="0">
                <a:solidFill>
                  <a:srgbClr val="FFFFFF"/>
                </a:solidFill>
                <a:latin typeface="Calibri"/>
              </a:rPr>
              <a:t>Back to contents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