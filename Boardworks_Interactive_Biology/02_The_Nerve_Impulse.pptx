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slides/slide82.xml" ContentType="application/vnd.openxmlformats-officedocument.presentationml.slide+xml"/>
  <Override PartName="/ppt/slides/slide83.xml" ContentType="application/vnd.openxmlformats-officedocument.presentationml.slide+xml"/>
  <Override PartName="/ppt/slides/slide84.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1"/>
    <p:sldId id="260" r:id="rId12"/>
    <p:sldId id="261" r:id="rId13"/>
    <p:sldId id="262" r:id="rId14"/>
    <p:sldId id="263" r:id="rId15"/>
    <p:sldId id="264" r:id="rId16"/>
    <p:sldId id="265" r:id="rId17"/>
    <p:sldId id="266" r:id="rId18"/>
    <p:sldId id="267" r:id="rId19"/>
    <p:sldId id="268" r:id="rId20"/>
    <p:sldId id="269" r:id="rId21"/>
    <p:sldId id="270" r:id="rId22"/>
    <p:sldId id="271" r:id="rId23"/>
    <p:sldId id="272" r:id="rId24"/>
    <p:sldId id="273" r:id="rId25"/>
    <p:sldId id="274" r:id="rId26"/>
    <p:sldId id="275" r:id="rId27"/>
    <p:sldId id="276" r:id="rId28"/>
    <p:sldId id="277" r:id="rId29"/>
    <p:sldId id="278" r:id="rId30"/>
    <p:sldId id="279" r:id="rId31"/>
    <p:sldId id="280" r:id="rId32"/>
    <p:sldId id="281" r:id="rId33"/>
    <p:sldId id="282" r:id="rId34"/>
    <p:sldId id="283" r:id="rId35"/>
    <p:sldId id="284" r:id="rId36"/>
    <p:sldId id="285" r:id="rId37"/>
    <p:sldId id="286" r:id="rId38"/>
    <p:sldId id="287" r:id="rId39"/>
    <p:sldId id="288" r:id="rId40"/>
    <p:sldId id="289" r:id="rId41"/>
    <p:sldId id="290" r:id="rId42"/>
    <p:sldId id="291" r:id="rId43"/>
    <p:sldId id="292" r:id="rId44"/>
    <p:sldId id="293" r:id="rId45"/>
    <p:sldId id="294" r:id="rId46"/>
    <p:sldId id="295" r:id="rId47"/>
    <p:sldId id="296" r:id="rId48"/>
    <p:sldId id="297" r:id="rId49"/>
    <p:sldId id="298" r:id="rId50"/>
    <p:sldId id="299" r:id="rId51"/>
    <p:sldId id="300" r:id="rId52"/>
    <p:sldId id="301" r:id="rId53"/>
    <p:sldId id="302" r:id="rId54"/>
    <p:sldId id="303" r:id="rId55"/>
    <p:sldId id="304" r:id="rId56"/>
    <p:sldId id="305" r:id="rId57"/>
    <p:sldId id="306" r:id="rId58"/>
    <p:sldId id="307" r:id="rId59"/>
    <p:sldId id="308" r:id="rId60"/>
    <p:sldId id="309" r:id="rId61"/>
    <p:sldId id="310" r:id="rId62"/>
    <p:sldId id="311" r:id="rId63"/>
    <p:sldId id="312" r:id="rId64"/>
    <p:sldId id="313" r:id="rId65"/>
    <p:sldId id="314" r:id="rId66"/>
    <p:sldId id="315" r:id="rId67"/>
    <p:sldId id="316" r:id="rId68"/>
    <p:sldId id="317" r:id="rId69"/>
    <p:sldId id="318" r:id="rId70"/>
    <p:sldId id="319" r:id="rId71"/>
    <p:sldId id="320" r:id="rId72"/>
    <p:sldId id="321" r:id="rId73"/>
    <p:sldId id="322" r:id="rId74"/>
    <p:sldId id="323" r:id="rId75"/>
    <p:sldId id="324" r:id="rId76"/>
    <p:sldId id="325" r:id="rId77"/>
    <p:sldId id="326" r:id="rId78"/>
    <p:sldId id="327" r:id="rId79"/>
    <p:sldId id="328" r:id="rId80"/>
    <p:sldId id="329" r:id="rId81"/>
    <p:sldId id="330" r:id="rId82"/>
    <p:sldId id="331" r:id="rId83"/>
    <p:sldId id="332" r:id="rId84"/>
    <p:sldId id="333" r:id="rId85"/>
    <p:sldId id="334" r:id="rId86"/>
    <p:sldId id="335" r:id="rId87"/>
    <p:sldId id="336" r:id="rId88"/>
    <p:sldId id="337" r:id="rId89"/>
    <p:sldId id="338" r:id="rId90"/>
    <p:sldId id="339" r:id="rId9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notesMaster" Target="notesMasters/notesMaster1.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 Id="rId22" Type="http://schemas.openxmlformats.org/officeDocument/2006/relationships/slide" Target="slides/slide15.xml"/><Relationship Id="rId23" Type="http://schemas.openxmlformats.org/officeDocument/2006/relationships/slide" Target="slides/slide16.xml"/><Relationship Id="rId24" Type="http://schemas.openxmlformats.org/officeDocument/2006/relationships/slide" Target="slides/slide17.xml"/><Relationship Id="rId25" Type="http://schemas.openxmlformats.org/officeDocument/2006/relationships/slide" Target="slides/slide18.xml"/><Relationship Id="rId26" Type="http://schemas.openxmlformats.org/officeDocument/2006/relationships/slide" Target="slides/slide19.xml"/><Relationship Id="rId27" Type="http://schemas.openxmlformats.org/officeDocument/2006/relationships/slide" Target="slides/slide20.xml"/><Relationship Id="rId28" Type="http://schemas.openxmlformats.org/officeDocument/2006/relationships/slide" Target="slides/slide21.xml"/><Relationship Id="rId29" Type="http://schemas.openxmlformats.org/officeDocument/2006/relationships/slide" Target="slides/slide22.xml"/><Relationship Id="rId30" Type="http://schemas.openxmlformats.org/officeDocument/2006/relationships/slide" Target="slides/slide23.xml"/><Relationship Id="rId31" Type="http://schemas.openxmlformats.org/officeDocument/2006/relationships/slide" Target="slides/slide24.xml"/><Relationship Id="rId32" Type="http://schemas.openxmlformats.org/officeDocument/2006/relationships/slide" Target="slides/slide25.xml"/><Relationship Id="rId33" Type="http://schemas.openxmlformats.org/officeDocument/2006/relationships/slide" Target="slides/slide26.xml"/><Relationship Id="rId34" Type="http://schemas.openxmlformats.org/officeDocument/2006/relationships/slide" Target="slides/slide27.xml"/><Relationship Id="rId35" Type="http://schemas.openxmlformats.org/officeDocument/2006/relationships/slide" Target="slides/slide28.xml"/><Relationship Id="rId36" Type="http://schemas.openxmlformats.org/officeDocument/2006/relationships/slide" Target="slides/slide29.xml"/><Relationship Id="rId37" Type="http://schemas.openxmlformats.org/officeDocument/2006/relationships/slide" Target="slides/slide30.xml"/><Relationship Id="rId38" Type="http://schemas.openxmlformats.org/officeDocument/2006/relationships/slide" Target="slides/slide31.xml"/><Relationship Id="rId39" Type="http://schemas.openxmlformats.org/officeDocument/2006/relationships/slide" Target="slides/slide32.xml"/><Relationship Id="rId40" Type="http://schemas.openxmlformats.org/officeDocument/2006/relationships/slide" Target="slides/slide33.xml"/><Relationship Id="rId41" Type="http://schemas.openxmlformats.org/officeDocument/2006/relationships/slide" Target="slides/slide34.xml"/><Relationship Id="rId42" Type="http://schemas.openxmlformats.org/officeDocument/2006/relationships/slide" Target="slides/slide35.xml"/><Relationship Id="rId43" Type="http://schemas.openxmlformats.org/officeDocument/2006/relationships/slide" Target="slides/slide36.xml"/><Relationship Id="rId44" Type="http://schemas.openxmlformats.org/officeDocument/2006/relationships/slide" Target="slides/slide37.xml"/><Relationship Id="rId45" Type="http://schemas.openxmlformats.org/officeDocument/2006/relationships/slide" Target="slides/slide38.xml"/><Relationship Id="rId46" Type="http://schemas.openxmlformats.org/officeDocument/2006/relationships/slide" Target="slides/slide39.xml"/><Relationship Id="rId47" Type="http://schemas.openxmlformats.org/officeDocument/2006/relationships/slide" Target="slides/slide40.xml"/><Relationship Id="rId48" Type="http://schemas.openxmlformats.org/officeDocument/2006/relationships/slide" Target="slides/slide41.xml"/><Relationship Id="rId49" Type="http://schemas.openxmlformats.org/officeDocument/2006/relationships/slide" Target="slides/slide42.xml"/><Relationship Id="rId50" Type="http://schemas.openxmlformats.org/officeDocument/2006/relationships/slide" Target="slides/slide43.xml"/><Relationship Id="rId51" Type="http://schemas.openxmlformats.org/officeDocument/2006/relationships/slide" Target="slides/slide44.xml"/><Relationship Id="rId52" Type="http://schemas.openxmlformats.org/officeDocument/2006/relationships/slide" Target="slides/slide45.xml"/><Relationship Id="rId53" Type="http://schemas.openxmlformats.org/officeDocument/2006/relationships/slide" Target="slides/slide46.xml"/><Relationship Id="rId54" Type="http://schemas.openxmlformats.org/officeDocument/2006/relationships/slide" Target="slides/slide47.xml"/><Relationship Id="rId55" Type="http://schemas.openxmlformats.org/officeDocument/2006/relationships/slide" Target="slides/slide48.xml"/><Relationship Id="rId56" Type="http://schemas.openxmlformats.org/officeDocument/2006/relationships/slide" Target="slides/slide49.xml"/><Relationship Id="rId57" Type="http://schemas.openxmlformats.org/officeDocument/2006/relationships/slide" Target="slides/slide50.xml"/><Relationship Id="rId58" Type="http://schemas.openxmlformats.org/officeDocument/2006/relationships/slide" Target="slides/slide51.xml"/><Relationship Id="rId59" Type="http://schemas.openxmlformats.org/officeDocument/2006/relationships/slide" Target="slides/slide52.xml"/><Relationship Id="rId60" Type="http://schemas.openxmlformats.org/officeDocument/2006/relationships/slide" Target="slides/slide53.xml"/><Relationship Id="rId61" Type="http://schemas.openxmlformats.org/officeDocument/2006/relationships/slide" Target="slides/slide54.xml"/><Relationship Id="rId62" Type="http://schemas.openxmlformats.org/officeDocument/2006/relationships/slide" Target="slides/slide55.xml"/><Relationship Id="rId63" Type="http://schemas.openxmlformats.org/officeDocument/2006/relationships/slide" Target="slides/slide56.xml"/><Relationship Id="rId64" Type="http://schemas.openxmlformats.org/officeDocument/2006/relationships/slide" Target="slides/slide57.xml"/><Relationship Id="rId65" Type="http://schemas.openxmlformats.org/officeDocument/2006/relationships/slide" Target="slides/slide58.xml"/><Relationship Id="rId66" Type="http://schemas.openxmlformats.org/officeDocument/2006/relationships/slide" Target="slides/slide59.xml"/><Relationship Id="rId67" Type="http://schemas.openxmlformats.org/officeDocument/2006/relationships/slide" Target="slides/slide60.xml"/><Relationship Id="rId68" Type="http://schemas.openxmlformats.org/officeDocument/2006/relationships/slide" Target="slides/slide61.xml"/><Relationship Id="rId69" Type="http://schemas.openxmlformats.org/officeDocument/2006/relationships/slide" Target="slides/slide62.xml"/><Relationship Id="rId70" Type="http://schemas.openxmlformats.org/officeDocument/2006/relationships/slide" Target="slides/slide63.xml"/><Relationship Id="rId71" Type="http://schemas.openxmlformats.org/officeDocument/2006/relationships/slide" Target="slides/slide64.xml"/><Relationship Id="rId72" Type="http://schemas.openxmlformats.org/officeDocument/2006/relationships/slide" Target="slides/slide65.xml"/><Relationship Id="rId73" Type="http://schemas.openxmlformats.org/officeDocument/2006/relationships/slide" Target="slides/slide66.xml"/><Relationship Id="rId74" Type="http://schemas.openxmlformats.org/officeDocument/2006/relationships/slide" Target="slides/slide67.xml"/><Relationship Id="rId75" Type="http://schemas.openxmlformats.org/officeDocument/2006/relationships/slide" Target="slides/slide68.xml"/><Relationship Id="rId76" Type="http://schemas.openxmlformats.org/officeDocument/2006/relationships/slide" Target="slides/slide69.xml"/><Relationship Id="rId77" Type="http://schemas.openxmlformats.org/officeDocument/2006/relationships/slide" Target="slides/slide70.xml"/><Relationship Id="rId78" Type="http://schemas.openxmlformats.org/officeDocument/2006/relationships/slide" Target="slides/slide71.xml"/><Relationship Id="rId79" Type="http://schemas.openxmlformats.org/officeDocument/2006/relationships/slide" Target="slides/slide72.xml"/><Relationship Id="rId80" Type="http://schemas.openxmlformats.org/officeDocument/2006/relationships/slide" Target="slides/slide73.xml"/><Relationship Id="rId81" Type="http://schemas.openxmlformats.org/officeDocument/2006/relationships/slide" Target="slides/slide74.xml"/><Relationship Id="rId82" Type="http://schemas.openxmlformats.org/officeDocument/2006/relationships/slide" Target="slides/slide75.xml"/><Relationship Id="rId83" Type="http://schemas.openxmlformats.org/officeDocument/2006/relationships/slide" Target="slides/slide76.xml"/><Relationship Id="rId84" Type="http://schemas.openxmlformats.org/officeDocument/2006/relationships/slide" Target="slides/slide77.xml"/><Relationship Id="rId85" Type="http://schemas.openxmlformats.org/officeDocument/2006/relationships/slide" Target="slides/slide78.xml"/><Relationship Id="rId86" Type="http://schemas.openxmlformats.org/officeDocument/2006/relationships/slide" Target="slides/slide79.xml"/><Relationship Id="rId87" Type="http://schemas.openxmlformats.org/officeDocument/2006/relationships/slide" Target="slides/slide80.xml"/><Relationship Id="rId88" Type="http://schemas.openxmlformats.org/officeDocument/2006/relationships/slide" Target="slides/slide81.xml"/><Relationship Id="rId89" Type="http://schemas.openxmlformats.org/officeDocument/2006/relationships/slide" Target="slides/slide82.xml"/><Relationship Id="rId90" Type="http://schemas.openxmlformats.org/officeDocument/2006/relationships/slide" Target="slides/slide83.xml"/><Relationship Id="rId91" Type="http://schemas.openxmlformats.org/officeDocument/2006/relationships/slide" Target="slides/slide8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2.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3.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4.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5.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7.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9.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4.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9.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0.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4.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7.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8.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9.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0.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1.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2.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Original static teaching slide. Wording retained. Diagram rebuilt.</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Rebuilt Flash play-bar animation as a teacher-paced step sequence with Reset.</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Rebuilt Flash play-bar animation as a teacher-paced step sequence with Reset.</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Rebuilt Flash play-bar animation as a teacher-paced step sequence with Reset.</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Rebuilt Flash play-bar animation as a teacher-paced step sequence with Reset.</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Rebuilt Flash drop-down cloze. Original S/C (show/check) buttons become Show all answers.</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Rebuilt Flash play animation of ion movement during an action potential.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Rebuilt Flash play animation of ion movement during an action potential.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Rebuilt Flash play animation of ion movement during an action potential.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Rebuilt Flash play animation of ion movement during an action potential.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Rebuilt Flash open/closed drag table. Click Check for the key.</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Rebuilt Flash click-on-graph. Stages 1–5 match the original numbered labels.</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Rebuilt Flash start-quiz. Three MCQs follow.</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Correct = A. Voltage-gated sodium channels open and Na⁺ floods in, making the inside positive.</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Correct = B. Voltage-gated potassium channels open and K⁺ efflux restores the negative inside.</a:t>
            </a:r>
          </a:p>
        </p:txBody>
      </p:sp>
      <p:sp>
        <p:nvSpPr>
          <p:cNvPr id="4" name="Slide Number Placeholder 3"/>
          <p:cNvSpPr>
            <a:spLocks noGrp="1"/>
          </p:cNvSpPr>
          <p:nvPr>
            <p:ph type="sldNum" idx="5" sz="quarter"/>
          </p:nvPr>
        </p:nvSpPr>
        <p:spPr/>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Correct = B. Inward Na⁺ makes that patch positive. Nearby resting membrane is depolarised to threshold and a new action potential is generated – the impulse propagates.</a:t>
            </a:r>
          </a:p>
        </p:txBody>
      </p:sp>
      <p:sp>
        <p:nvSpPr>
          <p:cNvPr id="4" name="Slide Number Placeholder 3"/>
          <p:cNvSpPr>
            <a:spLocks noGrp="1"/>
          </p:cNvSpPr>
          <p:nvPr>
            <p:ph type="sldNum" idx="5" sz="quarter"/>
          </p:nvPr>
        </p:nvSpPr>
        <p:spPr/>
      </p:sp>
    </p:spTree>
  </p:cSld>
  <p:clrMapOvr>
    <a:masterClrMapping/>
  </p:clrMapOvr>
</p:notes>
</file>

<file path=ppt/notesSlides/notesSlide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Original static teaching slide. Graph rebuilt.</a:t>
            </a:r>
          </a:p>
        </p:txBody>
      </p:sp>
      <p:sp>
        <p:nvSpPr>
          <p:cNvPr id="4" name="Slide Number Placeholder 3"/>
          <p:cNvSpPr>
            <a:spLocks noGrp="1"/>
          </p:cNvSpPr>
          <p:nvPr>
            <p:ph type="sldNum" idx="5" sz="quarter"/>
          </p:nvPr>
        </p:nvSpPr>
        <p:spPr/>
      </p:sp>
    </p:spTree>
  </p:cSld>
  <p:clrMapOvr>
    <a:masterClrMapping/>
  </p:clrMapOvr>
</p:notes>
</file>

<file path=ppt/notesSlides/notesSlide1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Rebuilt Flash slider. Weak/medium/strong buttons show different AP frequencies.</a:t>
            </a:r>
          </a:p>
        </p:txBody>
      </p:sp>
      <p:sp>
        <p:nvSpPr>
          <p:cNvPr id="4" name="Slide Number Placeholder 3"/>
          <p:cNvSpPr>
            <a:spLocks noGrp="1"/>
          </p:cNvSpPr>
          <p:nvPr>
            <p:ph type="sldNum" idx="5" sz="quarter"/>
          </p:nvPr>
        </p:nvSpPr>
        <p:spPr/>
      </p:sp>
    </p:spTree>
  </p:cSld>
  <p:clrMapOvr>
    <a:masterClrMapping/>
  </p:clrMapOvr>
</p:notes>
</file>

<file path=ppt/notesSlides/notesSlide1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Rebuilt Flash click-on-graph for refractory periods.</a:t>
            </a:r>
          </a:p>
        </p:txBody>
      </p:sp>
      <p:sp>
        <p:nvSpPr>
          <p:cNvPr id="4" name="Slide Number Placeholder 3"/>
          <p:cNvSpPr>
            <a:spLocks noGrp="1"/>
          </p:cNvSpPr>
          <p:nvPr>
            <p:ph type="sldNum" idx="5" sz="quarter"/>
          </p:nvPr>
        </p:nvSpPr>
        <p:spPr/>
      </p:sp>
    </p:spTree>
  </p:cSld>
  <p:clrMapOvr>
    <a:masterClrMapping/>
  </p:clrMapOvr>
</p:notes>
</file>

<file path=ppt/notesSlides/notesSlide2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Rebuilt saltatory conduction animation plus the original speed-factor teaching points.</a:t>
            </a:r>
          </a:p>
        </p:txBody>
      </p:sp>
      <p:sp>
        <p:nvSpPr>
          <p:cNvPr id="4" name="Slide Number Placeholder 3"/>
          <p:cNvSpPr>
            <a:spLocks noGrp="1"/>
          </p:cNvSpPr>
          <p:nvPr>
            <p:ph type="sldNum" idx="5" sz="quarter"/>
          </p:nvPr>
        </p:nvSpPr>
        <p:spPr/>
      </p:sp>
    </p:spTree>
  </p:cSld>
  <p:clrMapOvr>
    <a:masterClrMapping/>
  </p:clrMapOvr>
</p:notes>
</file>

<file path=ppt/notesSlides/notesSlide2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Rebuilt saltatory conduction animation plus the original speed-factor teaching points.</a:t>
            </a:r>
          </a:p>
        </p:txBody>
      </p:sp>
      <p:sp>
        <p:nvSpPr>
          <p:cNvPr id="4" name="Slide Number Placeholder 3"/>
          <p:cNvSpPr>
            <a:spLocks noGrp="1"/>
          </p:cNvSpPr>
          <p:nvPr>
            <p:ph type="sldNum" idx="5" sz="quarter"/>
          </p:nvPr>
        </p:nvSpPr>
        <p:spPr/>
      </p:sp>
    </p:spTree>
  </p:cSld>
  <p:clrMapOvr>
    <a:masterClrMapping/>
  </p:clrMapOvr>
</p:notes>
</file>

<file path=ppt/notesSlides/notesSlide2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Rebuilt saltatory conduction animation plus the original speed-factor teaching points.</a:t>
            </a:r>
          </a:p>
        </p:txBody>
      </p:sp>
      <p:sp>
        <p:nvSpPr>
          <p:cNvPr id="4" name="Slide Number Placeholder 3"/>
          <p:cNvSpPr>
            <a:spLocks noGrp="1"/>
          </p:cNvSpPr>
          <p:nvPr>
            <p:ph type="sldNum" idx="5" sz="quarter"/>
          </p:nvPr>
        </p:nvSpPr>
        <p:spPr/>
      </p:sp>
    </p:spTree>
  </p:cSld>
  <p:clrMapOvr>
    <a:masterClrMapping/>
  </p:clrMapOvr>
</p:notes>
</file>

<file path=ppt/notesSlides/notesSlide2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Rebuilt saltatory conduction animation plus the original speed-factor teaching points.</a:t>
            </a:r>
          </a:p>
        </p:txBody>
      </p:sp>
      <p:sp>
        <p:nvSpPr>
          <p:cNvPr id="4" name="Slide Number Placeholder 3"/>
          <p:cNvSpPr>
            <a:spLocks noGrp="1"/>
          </p:cNvSpPr>
          <p:nvPr>
            <p:ph type="sldNum" idx="5" sz="quarter"/>
          </p:nvPr>
        </p:nvSpPr>
        <p:spPr/>
      </p:sp>
    </p:spTree>
  </p:cSld>
  <p:clrMapOvr>
    <a:masterClrMapping/>
  </p:clrMapOvr>
</p:notes>
</file>

<file path=ppt/notesSlides/notesSlide2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Original wording retained.</a:t>
            </a:r>
          </a:p>
        </p:txBody>
      </p:sp>
      <p:sp>
        <p:nvSpPr>
          <p:cNvPr id="4" name="Slide Number Placeholder 3"/>
          <p:cNvSpPr>
            <a:spLocks noGrp="1"/>
          </p:cNvSpPr>
          <p:nvPr>
            <p:ph type="sldNum" idx="5" sz="quarter"/>
          </p:nvPr>
        </p:nvSpPr>
        <p:spPr/>
      </p:sp>
    </p:spTree>
  </p:cSld>
  <p:clrMapOvr>
    <a:masterClrMapping/>
  </p:clrMapOvr>
</p:notes>
</file>

<file path=ppt/notesSlides/notesSlide2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Click true or false for each statement. Show all reveals the key.</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slide" Target="slide2.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slide" Target="slide4.xml"/><Relationship Id="rId4" Type="http://schemas.openxmlformats.org/officeDocument/2006/relationships/slide" Target="slide8.xml"/><Relationship Id="rId5" Type="http://schemas.openxmlformats.org/officeDocument/2006/relationships/slide" Target="slide30.xml"/><Relationship Id="rId6" Type="http://schemas.openxmlformats.org/officeDocument/2006/relationships/slide" Target="slide35.xml"/><Relationship Id="rId7" Type="http://schemas.openxmlformats.org/officeDocument/2006/relationships/slide" Target="slide37.xml"/><Relationship Id="rId8" Type="http://schemas.openxmlformats.org/officeDocument/2006/relationships/slide" Target="slide59.xml"/><Relationship Id="rId9" Type="http://schemas.openxmlformats.org/officeDocument/2006/relationships/slide" Target="slide64.xml"/><Relationship Id="rId10" Type="http://schemas.openxmlformats.org/officeDocument/2006/relationships/slide" Target="slide67.xml"/><Relationship Id="rId11" Type="http://schemas.openxmlformats.org/officeDocument/2006/relationships/slide" Target="slide72.xml"/><Relationship Id="rId12" Type="http://schemas.openxmlformats.org/officeDocument/2006/relationships/slide" Target="slide1.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 Id="rId3" Type="http://schemas.openxmlformats.org/officeDocument/2006/relationships/notesSlide" Target="../notesSlides/notesSlide1.xml"/><Relationship Id="rId4" Type="http://schemas.openxmlformats.org/officeDocument/2006/relationships/slide" Target="slide2.xml"/><Relationship Id="rId5" Type="http://schemas.openxmlformats.org/officeDocument/2006/relationships/slide" Target="slide4.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 Id="rId3" Type="http://schemas.openxmlformats.org/officeDocument/2006/relationships/slide" Target="slide4.xml"/><Relationship Id="rId4" Type="http://schemas.openxmlformats.org/officeDocument/2006/relationships/notesSlide" Target="../notesSlides/notesSlide2.xml"/><Relationship Id="rId5" Type="http://schemas.openxmlformats.org/officeDocument/2006/relationships/slide" Target="slide5.xml"/><Relationship Id="rId6" Type="http://schemas.openxmlformats.org/officeDocument/2006/relationships/slide" Target="slide3.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png"/><Relationship Id="rId3" Type="http://schemas.openxmlformats.org/officeDocument/2006/relationships/slide" Target="slide4.xml"/><Relationship Id="rId4" Type="http://schemas.openxmlformats.org/officeDocument/2006/relationships/notesSlide" Target="../notesSlides/notesSlide3.xml"/><Relationship Id="rId5" Type="http://schemas.openxmlformats.org/officeDocument/2006/relationships/slide" Target="slide6.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png"/><Relationship Id="rId3" Type="http://schemas.openxmlformats.org/officeDocument/2006/relationships/slide" Target="slide5.xml"/><Relationship Id="rId4" Type="http://schemas.openxmlformats.org/officeDocument/2006/relationships/slide" Target="slide4.xml"/><Relationship Id="rId5" Type="http://schemas.openxmlformats.org/officeDocument/2006/relationships/notesSlide" Target="../notesSlides/notesSlide4.xml"/><Relationship Id="rId6" Type="http://schemas.openxmlformats.org/officeDocument/2006/relationships/slide" Target="slide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 Id="rId3" Type="http://schemas.openxmlformats.org/officeDocument/2006/relationships/slide" Target="slide6.xml"/><Relationship Id="rId4" Type="http://schemas.openxmlformats.org/officeDocument/2006/relationships/slide" Target="slide4.xml"/><Relationship Id="rId5" Type="http://schemas.openxmlformats.org/officeDocument/2006/relationships/notesSlide" Target="../notesSlides/notesSlide5.xml"/><Relationship Id="rId6" Type="http://schemas.openxmlformats.org/officeDocument/2006/relationships/slide" Target="slide8.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 Id="rId3" Type="http://schemas.openxmlformats.org/officeDocument/2006/relationships/slide" Target="slide9.xml"/><Relationship Id="rId4" Type="http://schemas.openxmlformats.org/officeDocument/2006/relationships/slide" Target="slide10.xml"/><Relationship Id="rId5" Type="http://schemas.openxmlformats.org/officeDocument/2006/relationships/slide" Target="slide11.xml"/><Relationship Id="rId6" Type="http://schemas.openxmlformats.org/officeDocument/2006/relationships/slide" Target="slide12.xml"/><Relationship Id="rId7" Type="http://schemas.openxmlformats.org/officeDocument/2006/relationships/slide" Target="slide13.xml"/><Relationship Id="rId8" Type="http://schemas.openxmlformats.org/officeDocument/2006/relationships/slide" Target="slide29.xml"/><Relationship Id="rId9" Type="http://schemas.openxmlformats.org/officeDocument/2006/relationships/slide" Target="slide7.xml"/><Relationship Id="rId10" Type="http://schemas.openxmlformats.org/officeDocument/2006/relationships/slide" Target="slide30.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14.xml"/><Relationship Id="rId3" Type="http://schemas.openxmlformats.org/officeDocument/2006/relationships/slide" Target="slide15.xml"/><Relationship Id="rId4" Type="http://schemas.openxmlformats.org/officeDocument/2006/relationships/slide" Target="slide16.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17.xml"/><Relationship Id="rId3" Type="http://schemas.openxmlformats.org/officeDocument/2006/relationships/slide" Target="slide18.xml"/><Relationship Id="rId4" Type="http://schemas.openxmlformats.org/officeDocument/2006/relationships/slide" Target="slide19.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20.xml"/><Relationship Id="rId3" Type="http://schemas.openxmlformats.org/officeDocument/2006/relationships/slide" Target="slide21.xml"/><Relationship Id="rId4" Type="http://schemas.openxmlformats.org/officeDocument/2006/relationships/slide" Target="slide2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23.xml"/><Relationship Id="rId3" Type="http://schemas.openxmlformats.org/officeDocument/2006/relationships/slide" Target="slide24.xml"/><Relationship Id="rId4" Type="http://schemas.openxmlformats.org/officeDocument/2006/relationships/slide" Target="slide25.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26.xml"/><Relationship Id="rId3" Type="http://schemas.openxmlformats.org/officeDocument/2006/relationships/slide" Target="slide27.xml"/><Relationship Id="rId4" Type="http://schemas.openxmlformats.org/officeDocument/2006/relationships/slide" Target="slide28.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8.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9.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9.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8.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10.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10.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8.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1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11.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8.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1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1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8.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13.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13.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8.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png"/><Relationship Id="rId3" Type="http://schemas.openxmlformats.org/officeDocument/2006/relationships/slide" Target="slide31.xml"/><Relationship Id="rId4" Type="http://schemas.openxmlformats.org/officeDocument/2006/relationships/slide" Target="slide8.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png"/><Relationship Id="rId3" Type="http://schemas.openxmlformats.org/officeDocument/2006/relationships/slide" Target="slide31.xml"/><Relationship Id="rId4" Type="http://schemas.openxmlformats.org/officeDocument/2006/relationships/notesSlide" Target="../notesSlides/notesSlide7.xml"/><Relationship Id="rId5" Type="http://schemas.openxmlformats.org/officeDocument/2006/relationships/slide" Target="slide32.xml"/><Relationship Id="rId6" Type="http://schemas.openxmlformats.org/officeDocument/2006/relationships/slide" Target="slide30.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6.png"/><Relationship Id="rId3" Type="http://schemas.openxmlformats.org/officeDocument/2006/relationships/slide" Target="slide31.xml"/><Relationship Id="rId4" Type="http://schemas.openxmlformats.org/officeDocument/2006/relationships/notesSlide" Target="../notesSlides/notesSlide8.xml"/><Relationship Id="rId5" Type="http://schemas.openxmlformats.org/officeDocument/2006/relationships/slide" Target="slide33.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7.png"/><Relationship Id="rId3" Type="http://schemas.openxmlformats.org/officeDocument/2006/relationships/slide" Target="slide32.xml"/><Relationship Id="rId4" Type="http://schemas.openxmlformats.org/officeDocument/2006/relationships/slide" Target="slide31.xml"/><Relationship Id="rId5" Type="http://schemas.openxmlformats.org/officeDocument/2006/relationships/notesSlide" Target="../notesSlides/notesSlide9.xml"/><Relationship Id="rId6" Type="http://schemas.openxmlformats.org/officeDocument/2006/relationships/slide" Target="slide34.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png"/><Relationship Id="rId3" Type="http://schemas.openxmlformats.org/officeDocument/2006/relationships/slide" Target="slide33.xml"/><Relationship Id="rId4" Type="http://schemas.openxmlformats.org/officeDocument/2006/relationships/slide" Target="slide31.xml"/><Relationship Id="rId5" Type="http://schemas.openxmlformats.org/officeDocument/2006/relationships/notesSlide" Target="../notesSlides/notesSlide10.xml"/><Relationship Id="rId6" Type="http://schemas.openxmlformats.org/officeDocument/2006/relationships/slide" Target="slide35.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5.xml"/><Relationship Id="rId3" Type="http://schemas.openxmlformats.org/officeDocument/2006/relationships/notesSlide" Target="../notesSlides/notesSlide11.xml"/><Relationship Id="rId4" Type="http://schemas.openxmlformats.org/officeDocument/2006/relationships/slide" Target="slide36.xml"/><Relationship Id="rId5" Type="http://schemas.openxmlformats.org/officeDocument/2006/relationships/slide" Target="slide34.xml"/><Relationship Id="rId6" Type="http://schemas.openxmlformats.org/officeDocument/2006/relationships/slide" Target="slide37.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5.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8.png"/><Relationship Id="rId3" Type="http://schemas.openxmlformats.org/officeDocument/2006/relationships/notesSlide" Target="../notesSlides/notesSlide12.xml"/><Relationship Id="rId4" Type="http://schemas.openxmlformats.org/officeDocument/2006/relationships/slide" Target="slide38.xml"/><Relationship Id="rId5" Type="http://schemas.openxmlformats.org/officeDocument/2006/relationships/slide" Target="slide39.xml"/><Relationship Id="rId6" Type="http://schemas.openxmlformats.org/officeDocument/2006/relationships/slide" Target="slide40.xml"/><Relationship Id="rId7" Type="http://schemas.openxmlformats.org/officeDocument/2006/relationships/slide" Target="slide41.xml"/><Relationship Id="rId8" Type="http://schemas.openxmlformats.org/officeDocument/2006/relationships/slide" Target="slide42.xml"/><Relationship Id="rId9" Type="http://schemas.openxmlformats.org/officeDocument/2006/relationships/slide" Target="slide35.xml"/><Relationship Id="rId10" Type="http://schemas.openxmlformats.org/officeDocument/2006/relationships/slide" Target="slide43.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9.png"/><Relationship Id="rId3" Type="http://schemas.openxmlformats.org/officeDocument/2006/relationships/slide" Target="slide37.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0.png"/><Relationship Id="rId3" Type="http://schemas.openxmlformats.org/officeDocument/2006/relationships/slide" Target="slide37.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1.png"/><Relationship Id="rId3" Type="http://schemas.openxmlformats.org/officeDocument/2006/relationships/slide" Target="slide37.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2.png"/><Relationship Id="rId3" Type="http://schemas.openxmlformats.org/officeDocument/2006/relationships/slide" Target="slide37.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3.png"/><Relationship Id="rId3" Type="http://schemas.openxmlformats.org/officeDocument/2006/relationships/slide" Target="slide37.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 Id="rId3" Type="http://schemas.openxmlformats.org/officeDocument/2006/relationships/slide" Target="slide44.xml"/><Relationship Id="rId4" Type="http://schemas.openxmlformats.org/officeDocument/2006/relationships/slide" Target="slide37.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 Id="rId3" Type="http://schemas.openxmlformats.org/officeDocument/2006/relationships/slide" Target="slide45.xml"/><Relationship Id="rId4" Type="http://schemas.openxmlformats.org/officeDocument/2006/relationships/slide" Target="slide46.xml"/><Relationship Id="rId5" Type="http://schemas.openxmlformats.org/officeDocument/2006/relationships/slide" Target="slide47.xml"/><Relationship Id="rId6" Type="http://schemas.openxmlformats.org/officeDocument/2006/relationships/slide" Target="slide48.xml"/><Relationship Id="rId7" Type="http://schemas.openxmlformats.org/officeDocument/2006/relationships/slide" Target="slide43.xml"/><Relationship Id="rId8" Type="http://schemas.openxmlformats.org/officeDocument/2006/relationships/slide" Target="slide49.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49.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44.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44.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44.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5.xml"/><Relationship Id="rId3" Type="http://schemas.openxmlformats.org/officeDocument/2006/relationships/slide" Target="slide51.xml"/><Relationship Id="rId4" Type="http://schemas.openxmlformats.org/officeDocument/2006/relationships/slide" Target="slide50.xml"/><Relationship Id="rId5" Type="http://schemas.openxmlformats.org/officeDocument/2006/relationships/slide" Target="slide52.xml"/><Relationship Id="rId6" Type="http://schemas.openxmlformats.org/officeDocument/2006/relationships/slide" Target="slide53.xml"/><Relationship Id="rId7" Type="http://schemas.openxmlformats.org/officeDocument/2006/relationships/slide" Target="slide44.xml"/><Relationship Id="rId8" Type="http://schemas.openxmlformats.org/officeDocument/2006/relationships/slide" Target="slide54.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54.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49.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49.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49.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6.xml"/><Relationship Id="rId3" Type="http://schemas.openxmlformats.org/officeDocument/2006/relationships/slide" Target="slide56.xml"/><Relationship Id="rId4" Type="http://schemas.openxmlformats.org/officeDocument/2006/relationships/slide" Target="slide55.xml"/><Relationship Id="rId5" Type="http://schemas.openxmlformats.org/officeDocument/2006/relationships/slide" Target="slide57.xml"/><Relationship Id="rId6" Type="http://schemas.openxmlformats.org/officeDocument/2006/relationships/slide" Target="slide58.xml"/><Relationship Id="rId7" Type="http://schemas.openxmlformats.org/officeDocument/2006/relationships/slide" Target="slide49.xml"/><Relationship Id="rId8" Type="http://schemas.openxmlformats.org/officeDocument/2006/relationships/slide" Target="slide59.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59.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54.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54.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54.xml"/></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4.png"/><Relationship Id="rId3" Type="http://schemas.openxmlformats.org/officeDocument/2006/relationships/notesSlide" Target="../notesSlides/notesSlide17.xml"/><Relationship Id="rId4" Type="http://schemas.openxmlformats.org/officeDocument/2006/relationships/slide" Target="slide54.xml"/><Relationship Id="rId5" Type="http://schemas.openxmlformats.org/officeDocument/2006/relationships/slide" Target="slide60.xml"/></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5.png"/><Relationship Id="rId3" Type="http://schemas.openxmlformats.org/officeDocument/2006/relationships/notesSlide" Target="../notesSlides/notesSlide18.xml"/><Relationship Id="rId4" Type="http://schemas.openxmlformats.org/officeDocument/2006/relationships/slide" Target="slide61.xml"/><Relationship Id="rId5" Type="http://schemas.openxmlformats.org/officeDocument/2006/relationships/slide" Target="slide62.xml"/><Relationship Id="rId6" Type="http://schemas.openxmlformats.org/officeDocument/2006/relationships/slide" Target="slide63.xml"/><Relationship Id="rId7" Type="http://schemas.openxmlformats.org/officeDocument/2006/relationships/slide" Target="slide59.xml"/><Relationship Id="rId8" Type="http://schemas.openxmlformats.org/officeDocument/2006/relationships/slide" Target="slide64.xml"/></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6.png"/><Relationship Id="rId3" Type="http://schemas.openxmlformats.org/officeDocument/2006/relationships/slide" Target="slide60.xml"/></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5.png"/><Relationship Id="rId3" Type="http://schemas.openxmlformats.org/officeDocument/2006/relationships/slide" Target="slide60.xml"/></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7.png"/><Relationship Id="rId3" Type="http://schemas.openxmlformats.org/officeDocument/2006/relationships/slide" Target="slide60.xml"/></Relationships>
</file>

<file path=ppt/slides/_rels/slide6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8.png"/><Relationship Id="rId3" Type="http://schemas.openxmlformats.org/officeDocument/2006/relationships/notesSlide" Target="../notesSlides/notesSlide19.xml"/><Relationship Id="rId4" Type="http://schemas.openxmlformats.org/officeDocument/2006/relationships/slide" Target="slide65.xml"/><Relationship Id="rId5" Type="http://schemas.openxmlformats.org/officeDocument/2006/relationships/slide" Target="slide66.xml"/><Relationship Id="rId6" Type="http://schemas.openxmlformats.org/officeDocument/2006/relationships/slide" Target="slide60.xml"/><Relationship Id="rId7" Type="http://schemas.openxmlformats.org/officeDocument/2006/relationships/slide" Target="slide67.xml"/></Relationships>
</file>

<file path=ppt/slides/_rels/slide6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64.xml"/></Relationships>
</file>

<file path=ppt/slides/_rels/slide6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64.xml"/></Relationships>
</file>

<file path=ppt/slides/_rels/slide6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9.png"/><Relationship Id="rId3" Type="http://schemas.openxmlformats.org/officeDocument/2006/relationships/slide" Target="slide67.xml"/><Relationship Id="rId4" Type="http://schemas.openxmlformats.org/officeDocument/2006/relationships/notesSlide" Target="../notesSlides/notesSlide20.xml"/><Relationship Id="rId5" Type="http://schemas.openxmlformats.org/officeDocument/2006/relationships/slide" Target="slide68.xml"/><Relationship Id="rId6" Type="http://schemas.openxmlformats.org/officeDocument/2006/relationships/slide" Target="slide64.xml"/></Relationships>
</file>

<file path=ppt/slides/_rels/slide6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0.png"/><Relationship Id="rId3" Type="http://schemas.openxmlformats.org/officeDocument/2006/relationships/slide" Target="slide67.xml"/><Relationship Id="rId4" Type="http://schemas.openxmlformats.org/officeDocument/2006/relationships/notesSlide" Target="../notesSlides/notesSlide21.xml"/><Relationship Id="rId5" Type="http://schemas.openxmlformats.org/officeDocument/2006/relationships/slide" Target="slide69.xml"/></Relationships>
</file>

<file path=ppt/slides/_rels/slide6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1.png"/><Relationship Id="rId3" Type="http://schemas.openxmlformats.org/officeDocument/2006/relationships/slide" Target="slide68.xml"/><Relationship Id="rId4" Type="http://schemas.openxmlformats.org/officeDocument/2006/relationships/slide" Target="slide67.xml"/><Relationship Id="rId5" Type="http://schemas.openxmlformats.org/officeDocument/2006/relationships/notesSlide" Target="../notesSlides/notesSlide22.xml"/><Relationship Id="rId6" Type="http://schemas.openxmlformats.org/officeDocument/2006/relationships/slide" Target="slide70.xml"/></Relationships>
</file>

<file path=ppt/slides/_rels/slide7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2.png"/><Relationship Id="rId3" Type="http://schemas.openxmlformats.org/officeDocument/2006/relationships/slide" Target="slide69.xml"/><Relationship Id="rId4" Type="http://schemas.openxmlformats.org/officeDocument/2006/relationships/slide" Target="slide67.xml"/><Relationship Id="rId5" Type="http://schemas.openxmlformats.org/officeDocument/2006/relationships/notesSlide" Target="../notesSlides/notesSlide23.xml"/><Relationship Id="rId6" Type="http://schemas.openxmlformats.org/officeDocument/2006/relationships/slide" Target="slide71.xml"/></Relationships>
</file>

<file path=ppt/slides/_rels/slide7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4.xml"/><Relationship Id="rId3" Type="http://schemas.openxmlformats.org/officeDocument/2006/relationships/slide" Target="slide70.xml"/><Relationship Id="rId4" Type="http://schemas.openxmlformats.org/officeDocument/2006/relationships/slide" Target="slide72.xml"/></Relationships>
</file>

<file path=ppt/slides/_rels/slide7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72.xml"/><Relationship Id="rId3" Type="http://schemas.openxmlformats.org/officeDocument/2006/relationships/notesSlide" Target="../notesSlides/notesSlide25.xml"/><Relationship Id="rId4" Type="http://schemas.openxmlformats.org/officeDocument/2006/relationships/slide" Target="slide73.xml"/><Relationship Id="rId5" Type="http://schemas.openxmlformats.org/officeDocument/2006/relationships/slide" Target="slide74.xml"/><Relationship Id="rId6" Type="http://schemas.openxmlformats.org/officeDocument/2006/relationships/slide" Target="slide75.xml"/><Relationship Id="rId7" Type="http://schemas.openxmlformats.org/officeDocument/2006/relationships/slide" Target="slide76.xml"/><Relationship Id="rId8" Type="http://schemas.openxmlformats.org/officeDocument/2006/relationships/slide" Target="slide77.xml"/><Relationship Id="rId9" Type="http://schemas.openxmlformats.org/officeDocument/2006/relationships/slide" Target="slide78.xml"/><Relationship Id="rId10" Type="http://schemas.openxmlformats.org/officeDocument/2006/relationships/slide" Target="slide79.xml"/><Relationship Id="rId11" Type="http://schemas.openxmlformats.org/officeDocument/2006/relationships/slide" Target="slide80.xml"/><Relationship Id="rId12" Type="http://schemas.openxmlformats.org/officeDocument/2006/relationships/slide" Target="slide81.xml"/><Relationship Id="rId13" Type="http://schemas.openxmlformats.org/officeDocument/2006/relationships/slide" Target="slide82.xml"/><Relationship Id="rId14" Type="http://schemas.openxmlformats.org/officeDocument/2006/relationships/slide" Target="slide83.xml"/><Relationship Id="rId15" Type="http://schemas.openxmlformats.org/officeDocument/2006/relationships/slide" Target="slide71.xml"/><Relationship Id="rId16" Type="http://schemas.openxmlformats.org/officeDocument/2006/relationships/slide" Target="slide84.xml"/></Relationships>
</file>

<file path=ppt/slides/_rels/slide7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72.xml"/></Relationships>
</file>

<file path=ppt/slides/_rels/slide7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72.xml"/></Relationships>
</file>

<file path=ppt/slides/_rels/slide7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72.xml"/></Relationships>
</file>

<file path=ppt/slides/_rels/slide7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72.xml"/></Relationships>
</file>

<file path=ppt/slides/_rels/slide7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72.xml"/></Relationships>
</file>

<file path=ppt/slides/_rels/slide7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72.xml"/></Relationships>
</file>

<file path=ppt/slides/_rels/slide7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72.xml"/></Relationships>
</file>

<file path=ppt/slides/_rels/slide8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72.xml"/></Relationships>
</file>

<file path=ppt/slides/_rels/slide8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72.xml"/></Relationships>
</file>

<file path=ppt/slides/_rels/slide8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72.xml"/></Relationships>
</file>

<file path=ppt/slides/_rels/slide8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72.xml"/><Relationship Id="rId3" Type="http://schemas.openxmlformats.org/officeDocument/2006/relationships/slide" Target="slide84.xml"/></Relationships>
</file>

<file path=ppt/slides/_rels/slide8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2.xml"/><Relationship Id="rId3" Type="http://schemas.openxmlformats.org/officeDocument/2006/relationships/slide" Target="slide72.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9144000"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9144000" cy="960120"/>
          </a:xfrm>
          <a:prstGeom prst="rect">
            <a:avLst/>
          </a:prstGeom>
          <a:solidFill>
            <a:srgbClr val="3CB5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365760" y="201168"/>
            <a:ext cx="8412480" cy="640080"/>
          </a:xfrm>
          <a:prstGeom prst="rect">
            <a:avLst/>
          </a:prstGeom>
          <a:noFill/>
        </p:spPr>
        <p:txBody>
          <a:bodyPr wrap="square" anchor="t">
            <a:spAutoFit/>
          </a:bodyPr>
          <a:lstStyle/>
          <a:p>
            <a:pPr algn="ctr">
              <a:spcAft>
                <a:spcPts val="400"/>
              </a:spcAft>
            </a:pPr>
            <a:r>
              <a:rPr sz="3200" b="1" i="0">
                <a:solidFill>
                  <a:srgbClr val="FFFFFF"/>
                </a:solidFill>
                <a:latin typeface="Calibri"/>
              </a:rPr>
              <a:t>A2 Biology</a:t>
            </a:r>
          </a:p>
        </p:txBody>
      </p:sp>
      <p:sp>
        <p:nvSpPr>
          <p:cNvPr id="5" name="Rounded Rectangle 4"/>
          <p:cNvSpPr/>
          <p:nvPr/>
        </p:nvSpPr>
        <p:spPr>
          <a:xfrm>
            <a:off x="1280160" y="1097280"/>
            <a:ext cx="6583680" cy="640080"/>
          </a:xfrm>
          <a:prstGeom prst="roundRect">
            <a:avLst>
              <a:gd name="adj" fmla="val 15000"/>
            </a:avLst>
          </a:prstGeom>
          <a:solidFill>
            <a:srgbClr val="C8E6A0"/>
          </a:solidFill>
          <a:ln w="19050">
            <a:solidFill>
              <a:srgbClr val="1B7A3A"/>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spcBef>
                <a:spcPts val="0"/>
              </a:spcBef>
              <a:spcAft>
                <a:spcPts val="200"/>
              </a:spcAft>
            </a:pPr>
            <a:r>
              <a:rPr sz="2600" b="1" i="0">
                <a:solidFill>
                  <a:srgbClr val="222222"/>
                </a:solidFill>
                <a:latin typeface="Calibri"/>
              </a:rPr>
              <a:t>The Nervous System</a:t>
            </a:r>
          </a:p>
        </p:txBody>
      </p:sp>
      <p:sp>
        <p:nvSpPr>
          <p:cNvPr id="6" name="Rounded Rectangle 5"/>
          <p:cNvSpPr/>
          <p:nvPr/>
        </p:nvSpPr>
        <p:spPr>
          <a:xfrm>
            <a:off x="2194560" y="5623560"/>
            <a:ext cx="4754880" cy="566928"/>
          </a:xfrm>
          <a:prstGeom prst="roundRect">
            <a:avLst>
              <a:gd name="adj" fmla="val 15000"/>
            </a:avLst>
          </a:prstGeom>
          <a:solidFill>
            <a:srgbClr val="1B7A3A"/>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spcBef>
                <a:spcPts val="0"/>
              </a:spcBef>
              <a:spcAft>
                <a:spcPts val="200"/>
              </a:spcAft>
            </a:pPr>
            <a:r>
              <a:rPr sz="2200" b="1" i="0">
                <a:solidFill>
                  <a:srgbClr val="FFFFFF"/>
                </a:solidFill>
                <a:latin typeface="Calibri"/>
              </a:rPr>
              <a:t>Part 2: The nerve impulse</a:t>
            </a:r>
          </a:p>
        </p:txBody>
      </p:sp>
      <p:sp>
        <p:nvSpPr>
          <p:cNvPr id="7" name="TextBox 6"/>
          <p:cNvSpPr txBox="1"/>
          <p:nvPr/>
        </p:nvSpPr>
        <p:spPr>
          <a:xfrm>
            <a:off x="548640" y="6263640"/>
            <a:ext cx="8046720" cy="365760"/>
          </a:xfrm>
          <a:prstGeom prst="rect">
            <a:avLst/>
          </a:prstGeom>
          <a:noFill/>
        </p:spPr>
        <p:txBody>
          <a:bodyPr wrap="square" anchor="t">
            <a:spAutoFit/>
          </a:bodyPr>
          <a:lstStyle/>
          <a:p>
            <a:pPr algn="ctr">
              <a:spcAft>
                <a:spcPts val="400"/>
              </a:spcAft>
            </a:pPr>
            <a:r>
              <a:rPr sz="1200" b="0" i="0">
                <a:solidFill>
                  <a:srgbClr val="5A5A5A"/>
                </a:solidFill>
                <a:latin typeface="Calibri"/>
              </a:rPr>
              <a:t>Interactive reconstruction  ·  Flash-free  ·  Original course © Boardworks Ltd 2009</a:t>
            </a:r>
          </a:p>
        </p:txBody>
      </p:sp>
      <p:sp>
        <p:nvSpPr>
          <p:cNvPr id="8" name="Rectangle 7"/>
          <p:cNvSpPr/>
          <p:nvPr/>
        </p:nvSpPr>
        <p:spPr>
          <a:xfrm>
            <a:off x="0" y="0"/>
            <a:ext cx="73152" cy="6858000"/>
          </a:xfrm>
          <a:prstGeom prst="rect">
            <a:avLst/>
          </a:prstGeom>
          <a:solidFill>
            <a:srgbClr val="6B2D8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73152" y="6601968"/>
            <a:ext cx="9070848" cy="36576"/>
          </a:xfrm>
          <a:prstGeom prst="rect">
            <a:avLst/>
          </a:prstGeom>
          <a:solidFill>
            <a:srgbClr val="7A3E9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274320" y="6620256"/>
            <a:ext cx="8595360" cy="219456"/>
          </a:xfrm>
          <a:prstGeom prst="rect">
            <a:avLst/>
          </a:prstGeom>
          <a:noFill/>
        </p:spPr>
        <p:txBody>
          <a:bodyPr wrap="square" anchor="t">
            <a:spAutoFit/>
          </a:bodyPr>
          <a:lstStyle/>
          <a:p>
            <a:pPr algn="ctr">
              <a:spcAft>
                <a:spcPts val="400"/>
              </a:spcAft>
            </a:pPr>
            <a:r>
              <a:rPr sz="1000" b="0" i="0">
                <a:solidFill>
                  <a:srgbClr val="6B2D8B"/>
                </a:solidFill>
                <a:latin typeface="Calibri"/>
              </a:rPr>
              <a:t>Original course © Boardworks Ltd 2009. Reconstructed interactive resource.</a:t>
            </a:r>
          </a:p>
        </p:txBody>
      </p:sp>
      <p:sp>
        <p:nvSpPr>
          <p:cNvPr id="11" name="Oval 10">
            <a:hlinkClick r:id="rId3" action="ppaction://hlinksldjump"/>
          </p:cNvPr>
          <p:cNvSpPr/>
          <p:nvPr/>
        </p:nvSpPr>
        <p:spPr>
          <a:xfrm>
            <a:off x="8613648" y="5897880"/>
            <a:ext cx="384048" cy="384048"/>
          </a:xfrm>
          <a:prstGeom prst="ellipse">
            <a:avLst/>
          </a:prstGeom>
          <a:solidFill>
            <a:srgbClr val="6B2D8B"/>
          </a:solidFill>
          <a:ln w="12700">
            <a:solidFill>
              <a:srgbClr val="6B2D8B"/>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spcBef>
                <a:spcPts val="0"/>
              </a:spcBef>
              <a:spcAft>
                <a:spcPts val="200"/>
              </a:spcAft>
            </a:pPr>
            <a:r>
              <a:rPr sz="1400" b="1" i="0">
                <a:solidFill>
                  <a:srgbClr val="FFFFFF"/>
                </a:solidFill>
                <a:latin typeface="Calibri"/>
              </a:rPr>
              <a:t>▶</a:t>
            </a:r>
          </a:p>
        </p:txBody>
      </p:sp>
      <p:sp>
        <p:nvSpPr>
          <p:cNvPr id="12" name="Oval 11"/>
          <p:cNvSpPr/>
          <p:nvPr/>
        </p:nvSpPr>
        <p:spPr>
          <a:xfrm>
            <a:off x="146304" y="5897880"/>
            <a:ext cx="384048" cy="384048"/>
          </a:xfrm>
          <a:prstGeom prst="ellipse">
            <a:avLst/>
          </a:prstGeom>
          <a:solidFill>
            <a:srgbClr val="FFFFFF"/>
          </a:solidFill>
          <a:ln w="22225">
            <a:solidFill>
              <a:srgbClr val="6B2D8B"/>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spcBef>
                <a:spcPts val="0"/>
              </a:spcBef>
              <a:spcAft>
                <a:spcPts val="200"/>
              </a:spcAft>
            </a:pPr>
            <a:r>
              <a:rPr sz="1400" b="1" i="0">
                <a:solidFill>
                  <a:srgbClr val="6B2D8B"/>
                </a:solidFill>
                <a:latin typeface="Calibri"/>
              </a:rPr>
              <a:t>◀</a:t>
            </a:r>
          </a:p>
        </p:txBody>
      </p:sp>
      <p:pic>
        <p:nvPicPr>
          <p:cNvPr id="13" name="Picture 12" descr="title_retina.png"/>
          <p:cNvPicPr>
            <a:picLocks noChangeAspect="1"/>
          </p:cNvPicPr>
          <p:nvPr/>
        </p:nvPicPr>
        <p:blipFill>
          <a:blip r:embed="rId2"/>
          <a:stretch>
            <a:fillRect/>
          </a:stretch>
        </p:blipFill>
        <p:spPr>
          <a:xfrm>
            <a:off x="2468880" y="1874519"/>
            <a:ext cx="4046726" cy="3611880"/>
          </a:xfrm>
          <a:prstGeom prst="rect">
            <a:avLst/>
          </a:prstGeom>
        </p:spPr>
      </p:pic>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9144000" cy="658368"/>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640080"/>
            <a:ext cx="9144000" cy="54864"/>
          </a:xfrm>
          <a:prstGeom prst="rect">
            <a:avLst/>
          </a:pr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256032" y="91440"/>
            <a:ext cx="7498079" cy="502920"/>
          </a:xfrm>
          <a:prstGeom prst="rect">
            <a:avLst/>
          </a:prstGeom>
          <a:noFill/>
        </p:spPr>
        <p:txBody>
          <a:bodyPr wrap="square" anchor="t">
            <a:spAutoFit/>
          </a:bodyPr>
          <a:lstStyle/>
          <a:p>
            <a:pPr algn="l">
              <a:spcAft>
                <a:spcPts val="400"/>
              </a:spcAft>
            </a:pPr>
            <a:r>
              <a:rPr sz="2600" b="1" i="0">
                <a:solidFill>
                  <a:srgbClr val="2E9E4F"/>
                </a:solidFill>
                <a:latin typeface="Calibri"/>
              </a:rPr>
              <a:t>Contents</a:t>
            </a:r>
          </a:p>
        </p:txBody>
      </p:sp>
      <p:sp>
        <p:nvSpPr>
          <p:cNvPr id="5" name="Rounded Rectangle 4"/>
          <p:cNvSpPr/>
          <p:nvPr/>
        </p:nvSpPr>
        <p:spPr>
          <a:xfrm>
            <a:off x="7452360" y="109728"/>
            <a:ext cx="1536192" cy="420624"/>
          </a:xfrm>
          <a:prstGeom prst="roundRect">
            <a:avLst>
              <a:gd name="adj" fmla="val 15000"/>
            </a:avLst>
          </a:prstGeom>
          <a:solidFill>
            <a:srgbClr val="C8E6A0"/>
          </a:solidFill>
          <a:ln w="12700">
            <a:solidFill>
              <a:srgbClr val="1B7A3A"/>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spcBef>
                <a:spcPts val="0"/>
              </a:spcBef>
              <a:spcAft>
                <a:spcPts val="200"/>
              </a:spcAft>
            </a:pPr>
            <a:r>
              <a:rPr sz="1100" b="1" i="0">
                <a:solidFill>
                  <a:srgbClr val="1B7A3A"/>
                </a:solidFill>
                <a:latin typeface="Calibri"/>
              </a:rPr>
              <a:t>A2 Biology</a:t>
            </a:r>
          </a:p>
        </p:txBody>
      </p:sp>
      <p:sp>
        <p:nvSpPr>
          <p:cNvPr id="6" name="Rectangle 5"/>
          <p:cNvSpPr/>
          <p:nvPr/>
        </p:nvSpPr>
        <p:spPr>
          <a:xfrm>
            <a:off x="0" y="0"/>
            <a:ext cx="73152" cy="6858000"/>
          </a:xfrm>
          <a:prstGeom prst="rect">
            <a:avLst/>
          </a:prstGeom>
          <a:solidFill>
            <a:srgbClr val="6B2D8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3152" y="6565392"/>
            <a:ext cx="9070848" cy="36576"/>
          </a:xfrm>
          <a:prstGeom prst="rect">
            <a:avLst/>
          </a:prstGeom>
          <a:solidFill>
            <a:srgbClr val="7A3E9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228600" y="6583680"/>
            <a:ext cx="1280160" cy="256032"/>
          </a:xfrm>
          <a:prstGeom prst="rect">
            <a:avLst/>
          </a:prstGeom>
          <a:noFill/>
        </p:spPr>
        <p:txBody>
          <a:bodyPr wrap="square" anchor="t">
            <a:spAutoFit/>
          </a:bodyPr>
          <a:lstStyle/>
          <a:p>
            <a:pPr algn="l">
              <a:spcAft>
                <a:spcPts val="400"/>
              </a:spcAft>
            </a:pPr>
            <a:r>
              <a:rPr sz="1000" b="0" i="0">
                <a:solidFill>
                  <a:srgbClr val="6B2D8B"/>
                </a:solidFill>
                <a:latin typeface="Calibri"/>
              </a:rPr>
              <a:t>2 of 29</a:t>
            </a:r>
          </a:p>
        </p:txBody>
      </p:sp>
      <p:sp>
        <p:nvSpPr>
          <p:cNvPr id="9" name="TextBox 8"/>
          <p:cNvSpPr txBox="1"/>
          <p:nvPr/>
        </p:nvSpPr>
        <p:spPr>
          <a:xfrm>
            <a:off x="1554480" y="6583680"/>
            <a:ext cx="6035040" cy="256032"/>
          </a:xfrm>
          <a:prstGeom prst="rect">
            <a:avLst/>
          </a:prstGeom>
          <a:noFill/>
        </p:spPr>
        <p:txBody>
          <a:bodyPr wrap="square" anchor="t">
            <a:spAutoFit/>
          </a:bodyPr>
          <a:lstStyle/>
          <a:p>
            <a:pPr algn="ctr">
              <a:spcAft>
                <a:spcPts val="400"/>
              </a:spcAft>
            </a:pPr>
            <a:r>
              <a:rPr sz="900" b="0" i="0">
                <a:solidFill>
                  <a:srgbClr val="5A5A5A"/>
                </a:solidFill>
                <a:latin typeface="Calibri"/>
              </a:rPr>
              <a:t>Original course © Boardworks Ltd 2009. Reconstructed interactive resource.</a:t>
            </a:r>
          </a:p>
        </p:txBody>
      </p:sp>
      <p:sp>
        <p:nvSpPr>
          <p:cNvPr id="10" name="Oval 9">
            <a:hlinkClick r:id="rId12" action="ppaction://hlinksldjump"/>
          </p:cNvPr>
          <p:cNvSpPr/>
          <p:nvPr/>
        </p:nvSpPr>
        <p:spPr>
          <a:xfrm>
            <a:off x="146304" y="5760720"/>
            <a:ext cx="384048" cy="384048"/>
          </a:xfrm>
          <a:prstGeom prst="ellipse">
            <a:avLst/>
          </a:prstGeom>
          <a:solidFill>
            <a:srgbClr val="FFFFFF"/>
          </a:solidFill>
          <a:ln w="22225">
            <a:solidFill>
              <a:srgbClr val="6B2D8B"/>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spcBef>
                <a:spcPts val="0"/>
              </a:spcBef>
              <a:spcAft>
                <a:spcPts val="200"/>
              </a:spcAft>
            </a:pPr>
            <a:r>
              <a:rPr sz="1400" b="1" i="0">
                <a:solidFill>
                  <a:srgbClr val="6B2D8B"/>
                </a:solidFill>
                <a:latin typeface="Calibri"/>
              </a:rPr>
              <a:t>◀</a:t>
            </a:r>
          </a:p>
        </p:txBody>
      </p:sp>
      <p:sp>
        <p:nvSpPr>
          <p:cNvPr id="11" name="Oval 10">
            <a:hlinkClick r:id="rId2" action="ppaction://hlinksldjump"/>
          </p:cNvPr>
          <p:cNvSpPr/>
          <p:nvPr/>
        </p:nvSpPr>
        <p:spPr>
          <a:xfrm>
            <a:off x="8613648" y="5760720"/>
            <a:ext cx="384048" cy="384048"/>
          </a:xfrm>
          <a:prstGeom prst="ellipse">
            <a:avLst/>
          </a:prstGeom>
          <a:solidFill>
            <a:srgbClr val="6B2D8B"/>
          </a:solidFill>
          <a:ln w="12700">
            <a:solidFill>
              <a:srgbClr val="6B2D8B"/>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spcBef>
                <a:spcPts val="0"/>
              </a:spcBef>
              <a:spcAft>
                <a:spcPts val="200"/>
              </a:spcAft>
            </a:pPr>
            <a:r>
              <a:rPr sz="1400" b="1" i="0">
                <a:solidFill>
                  <a:srgbClr val="FFFFFF"/>
                </a:solidFill>
                <a:latin typeface="Calibri"/>
              </a:rPr>
              <a:t>▶</a:t>
            </a:r>
          </a:p>
        </p:txBody>
      </p:sp>
      <p:sp>
        <p:nvSpPr>
          <p:cNvPr id="12" name="Rounded Rectangle 11">
            <a:hlinkClick r:id="rId2" action="ppaction://hlinksldjump"/>
          </p:cNvPr>
          <p:cNvSpPr/>
          <p:nvPr/>
        </p:nvSpPr>
        <p:spPr>
          <a:xfrm>
            <a:off x="1371600" y="868680"/>
            <a:ext cx="6400800" cy="457200"/>
          </a:xfrm>
          <a:prstGeom prst="roundRect">
            <a:avLst>
              <a:gd name="adj" fmla="val 15000"/>
            </a:avLst>
          </a:prstGeom>
          <a:solidFill>
            <a:srgbClr val="2E9E4F"/>
          </a:solidFill>
          <a:ln w="12700">
            <a:solidFill>
              <a:srgbClr val="2E9E4F"/>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spcBef>
                <a:spcPts val="0"/>
              </a:spcBef>
              <a:spcAft>
                <a:spcPts val="200"/>
              </a:spcAft>
            </a:pPr>
            <a:r>
              <a:rPr sz="1500" b="1" i="0">
                <a:solidFill>
                  <a:srgbClr val="FFFFFF"/>
                </a:solidFill>
                <a:latin typeface="Calibri"/>
              </a:rPr>
              <a:t>1.  what is a nerve impulse?</a:t>
            </a:r>
          </a:p>
        </p:txBody>
      </p:sp>
      <p:sp>
        <p:nvSpPr>
          <p:cNvPr id="13" name="Rounded Rectangle 12">
            <a:hlinkClick r:id="rId3" action="ppaction://hlinksldjump"/>
          </p:cNvPr>
          <p:cNvSpPr/>
          <p:nvPr/>
        </p:nvSpPr>
        <p:spPr>
          <a:xfrm>
            <a:off x="1371600" y="1371600"/>
            <a:ext cx="6400800" cy="457200"/>
          </a:xfrm>
          <a:prstGeom prst="roundRect">
            <a:avLst>
              <a:gd name="adj" fmla="val 15000"/>
            </a:avLst>
          </a:prstGeom>
          <a:solidFill>
            <a:srgbClr val="1B7A3A"/>
          </a:solidFill>
          <a:ln w="12700">
            <a:solidFill>
              <a:srgbClr val="1B7A3A"/>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spcBef>
                <a:spcPts val="0"/>
              </a:spcBef>
              <a:spcAft>
                <a:spcPts val="200"/>
              </a:spcAft>
            </a:pPr>
            <a:r>
              <a:rPr sz="1500" b="1" i="0">
                <a:solidFill>
                  <a:srgbClr val="FFFFFF"/>
                </a:solidFill>
                <a:latin typeface="Calibri"/>
              </a:rPr>
              <a:t>2.  resting potential animation</a:t>
            </a:r>
          </a:p>
        </p:txBody>
      </p:sp>
      <p:sp>
        <p:nvSpPr>
          <p:cNvPr id="14" name="Rounded Rectangle 13">
            <a:hlinkClick r:id="rId4" action="ppaction://hlinksldjump"/>
          </p:cNvPr>
          <p:cNvSpPr/>
          <p:nvPr/>
        </p:nvSpPr>
        <p:spPr>
          <a:xfrm>
            <a:off x="1371600" y="1874519"/>
            <a:ext cx="6400800" cy="457200"/>
          </a:xfrm>
          <a:prstGeom prst="roundRect">
            <a:avLst>
              <a:gd name="adj" fmla="val 15000"/>
            </a:avLst>
          </a:prstGeom>
          <a:solidFill>
            <a:srgbClr val="2E9E4F"/>
          </a:solidFill>
          <a:ln w="12700">
            <a:solidFill>
              <a:srgbClr val="2E9E4F"/>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spcBef>
                <a:spcPts val="0"/>
              </a:spcBef>
              <a:spcAft>
                <a:spcPts val="200"/>
              </a:spcAft>
            </a:pPr>
            <a:r>
              <a:rPr sz="1500" b="1" i="0">
                <a:solidFill>
                  <a:srgbClr val="FFFFFF"/>
                </a:solidFill>
                <a:latin typeface="Calibri"/>
              </a:rPr>
              <a:t>3.  resting potential questions</a:t>
            </a:r>
          </a:p>
        </p:txBody>
      </p:sp>
      <p:sp>
        <p:nvSpPr>
          <p:cNvPr id="15" name="Rounded Rectangle 14">
            <a:hlinkClick r:id="rId5" action="ppaction://hlinksldjump"/>
          </p:cNvPr>
          <p:cNvSpPr/>
          <p:nvPr/>
        </p:nvSpPr>
        <p:spPr>
          <a:xfrm>
            <a:off x="1371600" y="2377439"/>
            <a:ext cx="6400800" cy="457200"/>
          </a:xfrm>
          <a:prstGeom prst="roundRect">
            <a:avLst>
              <a:gd name="adj" fmla="val 15000"/>
            </a:avLst>
          </a:prstGeom>
          <a:solidFill>
            <a:srgbClr val="1B7A3A"/>
          </a:solidFill>
          <a:ln w="12700">
            <a:solidFill>
              <a:srgbClr val="1B7A3A"/>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spcBef>
                <a:spcPts val="0"/>
              </a:spcBef>
              <a:spcAft>
                <a:spcPts val="200"/>
              </a:spcAft>
            </a:pPr>
            <a:r>
              <a:rPr sz="1500" b="1" i="0">
                <a:solidFill>
                  <a:srgbClr val="FFFFFF"/>
                </a:solidFill>
                <a:latin typeface="Calibri"/>
              </a:rPr>
              <a:t>4.  action potential animation</a:t>
            </a:r>
          </a:p>
        </p:txBody>
      </p:sp>
      <p:sp>
        <p:nvSpPr>
          <p:cNvPr id="16" name="Rounded Rectangle 15">
            <a:hlinkClick r:id="rId6" action="ppaction://hlinksldjump"/>
          </p:cNvPr>
          <p:cNvSpPr/>
          <p:nvPr/>
        </p:nvSpPr>
        <p:spPr>
          <a:xfrm>
            <a:off x="1371600" y="2880359"/>
            <a:ext cx="6400800" cy="457200"/>
          </a:xfrm>
          <a:prstGeom prst="roundRect">
            <a:avLst>
              <a:gd name="adj" fmla="val 15000"/>
            </a:avLst>
          </a:prstGeom>
          <a:solidFill>
            <a:srgbClr val="2E9E4F"/>
          </a:solidFill>
          <a:ln w="12700">
            <a:solidFill>
              <a:srgbClr val="2E9E4F"/>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spcBef>
                <a:spcPts val="0"/>
              </a:spcBef>
              <a:spcAft>
                <a:spcPts val="200"/>
              </a:spcAft>
            </a:pPr>
            <a:r>
              <a:rPr sz="1500" b="1" i="0">
                <a:solidFill>
                  <a:srgbClr val="FFFFFF"/>
                </a:solidFill>
                <a:latin typeface="Calibri"/>
              </a:rPr>
              <a:t>5.  ion channels table</a:t>
            </a:r>
          </a:p>
        </p:txBody>
      </p:sp>
      <p:sp>
        <p:nvSpPr>
          <p:cNvPr id="17" name="Rounded Rectangle 16">
            <a:hlinkClick r:id="rId7" action="ppaction://hlinksldjump"/>
          </p:cNvPr>
          <p:cNvSpPr/>
          <p:nvPr/>
        </p:nvSpPr>
        <p:spPr>
          <a:xfrm>
            <a:off x="1371600" y="3383279"/>
            <a:ext cx="6400800" cy="457200"/>
          </a:xfrm>
          <a:prstGeom prst="roundRect">
            <a:avLst>
              <a:gd name="adj" fmla="val 15000"/>
            </a:avLst>
          </a:prstGeom>
          <a:solidFill>
            <a:srgbClr val="1B7A3A"/>
          </a:solidFill>
          <a:ln w="12700">
            <a:solidFill>
              <a:srgbClr val="1B7A3A"/>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spcBef>
                <a:spcPts val="0"/>
              </a:spcBef>
              <a:spcAft>
                <a:spcPts val="200"/>
              </a:spcAft>
            </a:pPr>
            <a:r>
              <a:rPr sz="1500" b="1" i="0">
                <a:solidFill>
                  <a:srgbClr val="FFFFFF"/>
                </a:solidFill>
                <a:latin typeface="Calibri"/>
              </a:rPr>
              <a:t>6.  action potential graph</a:t>
            </a:r>
          </a:p>
        </p:txBody>
      </p:sp>
      <p:sp>
        <p:nvSpPr>
          <p:cNvPr id="18" name="Rounded Rectangle 17">
            <a:hlinkClick r:id="rId8" action="ppaction://hlinksldjump"/>
          </p:cNvPr>
          <p:cNvSpPr/>
          <p:nvPr/>
        </p:nvSpPr>
        <p:spPr>
          <a:xfrm>
            <a:off x="1371600" y="3886199"/>
            <a:ext cx="6400800" cy="457200"/>
          </a:xfrm>
          <a:prstGeom prst="roundRect">
            <a:avLst>
              <a:gd name="adj" fmla="val 15000"/>
            </a:avLst>
          </a:prstGeom>
          <a:solidFill>
            <a:srgbClr val="2E9E4F"/>
          </a:solidFill>
          <a:ln w="12700">
            <a:solidFill>
              <a:srgbClr val="2E9E4F"/>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spcBef>
                <a:spcPts val="0"/>
              </a:spcBef>
              <a:spcAft>
                <a:spcPts val="200"/>
              </a:spcAft>
            </a:pPr>
            <a:r>
              <a:rPr sz="1500" b="1" i="0">
                <a:solidFill>
                  <a:srgbClr val="FFFFFF"/>
                </a:solidFill>
                <a:latin typeface="Calibri"/>
              </a:rPr>
              <a:t>7.  all-or-nothing and stimulus strength</a:t>
            </a:r>
          </a:p>
        </p:txBody>
      </p:sp>
      <p:sp>
        <p:nvSpPr>
          <p:cNvPr id="19" name="Rounded Rectangle 18">
            <a:hlinkClick r:id="rId9" action="ppaction://hlinksldjump"/>
          </p:cNvPr>
          <p:cNvSpPr/>
          <p:nvPr/>
        </p:nvSpPr>
        <p:spPr>
          <a:xfrm>
            <a:off x="1371600" y="4389119"/>
            <a:ext cx="6400800" cy="457200"/>
          </a:xfrm>
          <a:prstGeom prst="roundRect">
            <a:avLst>
              <a:gd name="adj" fmla="val 15000"/>
            </a:avLst>
          </a:prstGeom>
          <a:solidFill>
            <a:srgbClr val="1B7A3A"/>
          </a:solidFill>
          <a:ln w="12700">
            <a:solidFill>
              <a:srgbClr val="1B7A3A"/>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spcBef>
                <a:spcPts val="0"/>
              </a:spcBef>
              <a:spcAft>
                <a:spcPts val="200"/>
              </a:spcAft>
            </a:pPr>
            <a:r>
              <a:rPr sz="1500" b="1" i="0">
                <a:solidFill>
                  <a:srgbClr val="FFFFFF"/>
                </a:solidFill>
                <a:latin typeface="Calibri"/>
              </a:rPr>
              <a:t>8.  refractory period</a:t>
            </a:r>
          </a:p>
        </p:txBody>
      </p:sp>
      <p:sp>
        <p:nvSpPr>
          <p:cNvPr id="20" name="Rounded Rectangle 19">
            <a:hlinkClick r:id="rId10" action="ppaction://hlinksldjump"/>
          </p:cNvPr>
          <p:cNvSpPr/>
          <p:nvPr/>
        </p:nvSpPr>
        <p:spPr>
          <a:xfrm>
            <a:off x="1371600" y="4892039"/>
            <a:ext cx="6400800" cy="457200"/>
          </a:xfrm>
          <a:prstGeom prst="roundRect">
            <a:avLst>
              <a:gd name="adj" fmla="val 15000"/>
            </a:avLst>
          </a:prstGeom>
          <a:solidFill>
            <a:srgbClr val="2E9E4F"/>
          </a:solidFill>
          <a:ln w="12700">
            <a:solidFill>
              <a:srgbClr val="2E9E4F"/>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spcBef>
                <a:spcPts val="0"/>
              </a:spcBef>
              <a:spcAft>
                <a:spcPts val="200"/>
              </a:spcAft>
            </a:pPr>
            <a:r>
              <a:rPr sz="1500" b="1" i="0">
                <a:solidFill>
                  <a:srgbClr val="FFFFFF"/>
                </a:solidFill>
                <a:latin typeface="Calibri"/>
              </a:rPr>
              <a:t>9.  saltatory conduction</a:t>
            </a:r>
          </a:p>
        </p:txBody>
      </p:sp>
      <p:sp>
        <p:nvSpPr>
          <p:cNvPr id="21" name="Rounded Rectangle 20">
            <a:hlinkClick r:id="rId11" action="ppaction://hlinksldjump"/>
          </p:cNvPr>
          <p:cNvSpPr/>
          <p:nvPr/>
        </p:nvSpPr>
        <p:spPr>
          <a:xfrm>
            <a:off x="1371600" y="5394959"/>
            <a:ext cx="6400800" cy="457200"/>
          </a:xfrm>
          <a:prstGeom prst="roundRect">
            <a:avLst>
              <a:gd name="adj" fmla="val 15000"/>
            </a:avLst>
          </a:prstGeom>
          <a:solidFill>
            <a:srgbClr val="1B7A3A"/>
          </a:solidFill>
          <a:ln w="12700">
            <a:solidFill>
              <a:srgbClr val="1B7A3A"/>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spcBef>
                <a:spcPts val="0"/>
              </a:spcBef>
              <a:spcAft>
                <a:spcPts val="200"/>
              </a:spcAft>
            </a:pPr>
            <a:r>
              <a:rPr sz="1500" b="1" i="0">
                <a:solidFill>
                  <a:srgbClr val="FFFFFF"/>
                </a:solidFill>
                <a:latin typeface="Calibri"/>
              </a:rPr>
              <a:t>10.  true or false plenary</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9144000" cy="658368"/>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640080"/>
            <a:ext cx="9144000" cy="54864"/>
          </a:xfrm>
          <a:prstGeom prst="rect">
            <a:avLst/>
          </a:pr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256032" y="91440"/>
            <a:ext cx="7498079" cy="502920"/>
          </a:xfrm>
          <a:prstGeom prst="rect">
            <a:avLst/>
          </a:prstGeom>
          <a:noFill/>
        </p:spPr>
        <p:txBody>
          <a:bodyPr wrap="square" anchor="t">
            <a:spAutoFit/>
          </a:bodyPr>
          <a:lstStyle/>
          <a:p>
            <a:pPr algn="l">
              <a:spcAft>
                <a:spcPts val="400"/>
              </a:spcAft>
            </a:pPr>
            <a:r>
              <a:rPr sz="2600" b="1" i="0">
                <a:solidFill>
                  <a:srgbClr val="2E9E4F"/>
                </a:solidFill>
                <a:latin typeface="Calibri"/>
              </a:rPr>
              <a:t>What is a nerve impulse?</a:t>
            </a:r>
          </a:p>
        </p:txBody>
      </p:sp>
      <p:sp>
        <p:nvSpPr>
          <p:cNvPr id="5" name="Rounded Rectangle 4"/>
          <p:cNvSpPr/>
          <p:nvPr/>
        </p:nvSpPr>
        <p:spPr>
          <a:xfrm>
            <a:off x="7452360" y="109728"/>
            <a:ext cx="1536192" cy="420624"/>
          </a:xfrm>
          <a:prstGeom prst="roundRect">
            <a:avLst>
              <a:gd name="adj" fmla="val 15000"/>
            </a:avLst>
          </a:prstGeom>
          <a:solidFill>
            <a:srgbClr val="C8E6A0"/>
          </a:solidFill>
          <a:ln w="12700">
            <a:solidFill>
              <a:srgbClr val="1B7A3A"/>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spcBef>
                <a:spcPts val="0"/>
              </a:spcBef>
              <a:spcAft>
                <a:spcPts val="200"/>
              </a:spcAft>
            </a:pPr>
            <a:r>
              <a:rPr sz="1100" b="1" i="0">
                <a:solidFill>
                  <a:srgbClr val="1B7A3A"/>
                </a:solidFill>
                <a:latin typeface="Calibri"/>
              </a:rPr>
              <a:t>A2 Biology</a:t>
            </a:r>
          </a:p>
        </p:txBody>
      </p:sp>
      <p:sp>
        <p:nvSpPr>
          <p:cNvPr id="6" name="Rectangle 5"/>
          <p:cNvSpPr/>
          <p:nvPr/>
        </p:nvSpPr>
        <p:spPr>
          <a:xfrm>
            <a:off x="0" y="0"/>
            <a:ext cx="73152" cy="6858000"/>
          </a:xfrm>
          <a:prstGeom prst="rect">
            <a:avLst/>
          </a:prstGeom>
          <a:solidFill>
            <a:srgbClr val="6B2D8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3152" y="6565392"/>
            <a:ext cx="9070848" cy="36576"/>
          </a:xfrm>
          <a:prstGeom prst="rect">
            <a:avLst/>
          </a:prstGeom>
          <a:solidFill>
            <a:srgbClr val="7A3E9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228600" y="6583680"/>
            <a:ext cx="1280160" cy="256032"/>
          </a:xfrm>
          <a:prstGeom prst="rect">
            <a:avLst/>
          </a:prstGeom>
          <a:noFill/>
        </p:spPr>
        <p:txBody>
          <a:bodyPr wrap="square" anchor="t">
            <a:spAutoFit/>
          </a:bodyPr>
          <a:lstStyle/>
          <a:p>
            <a:pPr algn="l">
              <a:spcAft>
                <a:spcPts val="400"/>
              </a:spcAft>
            </a:pPr>
            <a:r>
              <a:rPr sz="1000" b="0" i="0">
                <a:solidFill>
                  <a:srgbClr val="6B2D8B"/>
                </a:solidFill>
                <a:latin typeface="Calibri"/>
              </a:rPr>
              <a:t>3 of 29</a:t>
            </a:r>
          </a:p>
        </p:txBody>
      </p:sp>
      <p:sp>
        <p:nvSpPr>
          <p:cNvPr id="9" name="TextBox 8"/>
          <p:cNvSpPr txBox="1"/>
          <p:nvPr/>
        </p:nvSpPr>
        <p:spPr>
          <a:xfrm>
            <a:off x="1554480" y="6583680"/>
            <a:ext cx="6035040" cy="256032"/>
          </a:xfrm>
          <a:prstGeom prst="rect">
            <a:avLst/>
          </a:prstGeom>
          <a:noFill/>
        </p:spPr>
        <p:txBody>
          <a:bodyPr wrap="square" anchor="t">
            <a:spAutoFit/>
          </a:bodyPr>
          <a:lstStyle/>
          <a:p>
            <a:pPr algn="ctr">
              <a:spcAft>
                <a:spcPts val="400"/>
              </a:spcAft>
            </a:pPr>
            <a:r>
              <a:rPr sz="900" b="0" i="0">
                <a:solidFill>
                  <a:srgbClr val="5A5A5A"/>
                </a:solidFill>
                <a:latin typeface="Calibri"/>
              </a:rPr>
              <a:t>Original course © Boardworks Ltd 2009. Reconstructed interactive resource.</a:t>
            </a:r>
          </a:p>
        </p:txBody>
      </p:sp>
      <p:sp>
        <p:nvSpPr>
          <p:cNvPr id="10" name="Oval 9">
            <a:hlinkClick r:id="rId4" action="ppaction://hlinksldjump"/>
          </p:cNvPr>
          <p:cNvSpPr/>
          <p:nvPr/>
        </p:nvSpPr>
        <p:spPr>
          <a:xfrm>
            <a:off x="146304" y="5760720"/>
            <a:ext cx="384048" cy="384048"/>
          </a:xfrm>
          <a:prstGeom prst="ellipse">
            <a:avLst/>
          </a:prstGeom>
          <a:solidFill>
            <a:srgbClr val="FFFFFF"/>
          </a:solidFill>
          <a:ln w="22225">
            <a:solidFill>
              <a:srgbClr val="6B2D8B"/>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spcBef>
                <a:spcPts val="0"/>
              </a:spcBef>
              <a:spcAft>
                <a:spcPts val="200"/>
              </a:spcAft>
            </a:pPr>
            <a:r>
              <a:rPr sz="1400" b="1" i="0">
                <a:solidFill>
                  <a:srgbClr val="6B2D8B"/>
                </a:solidFill>
                <a:latin typeface="Calibri"/>
              </a:rPr>
              <a:t>◀</a:t>
            </a:r>
          </a:p>
        </p:txBody>
      </p:sp>
      <p:sp>
        <p:nvSpPr>
          <p:cNvPr id="11" name="Oval 10">
            <a:hlinkClick r:id="rId5" action="ppaction://hlinksldjump"/>
          </p:cNvPr>
          <p:cNvSpPr/>
          <p:nvPr/>
        </p:nvSpPr>
        <p:spPr>
          <a:xfrm>
            <a:off x="8613648" y="5760720"/>
            <a:ext cx="384048" cy="384048"/>
          </a:xfrm>
          <a:prstGeom prst="ellipse">
            <a:avLst/>
          </a:prstGeom>
          <a:solidFill>
            <a:srgbClr val="6B2D8B"/>
          </a:solidFill>
          <a:ln w="12700">
            <a:solidFill>
              <a:srgbClr val="6B2D8B"/>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spcBef>
                <a:spcPts val="0"/>
              </a:spcBef>
              <a:spcAft>
                <a:spcPts val="200"/>
              </a:spcAft>
            </a:pPr>
            <a:r>
              <a:rPr sz="1400" b="1" i="0">
                <a:solidFill>
                  <a:srgbClr val="FFFFFF"/>
                </a:solidFill>
                <a:latin typeface="Calibri"/>
              </a:rPr>
              <a:t>▶</a:t>
            </a:r>
          </a:p>
        </p:txBody>
      </p:sp>
      <p:sp>
        <p:nvSpPr>
          <p:cNvPr id="12" name="TextBox 11"/>
          <p:cNvSpPr txBox="1"/>
          <p:nvPr/>
        </p:nvSpPr>
        <p:spPr>
          <a:xfrm>
            <a:off x="320040" y="868680"/>
            <a:ext cx="4937760" cy="4846320"/>
          </a:xfrm>
          <a:prstGeom prst="rect">
            <a:avLst/>
          </a:prstGeom>
          <a:noFill/>
        </p:spPr>
        <p:txBody>
          <a:bodyPr wrap="square" anchor="t">
            <a:spAutoFit/>
          </a:bodyPr>
          <a:lstStyle/>
          <a:p>
            <a:pPr algn="l"/>
            <a:r>
              <a:rPr sz="1600" b="0" i="0">
                <a:solidFill>
                  <a:srgbClr val="1A2F5A"/>
                </a:solidFill>
                <a:latin typeface="Calibri"/>
              </a:rPr>
              <a:t>All cells have a difference in electrical charge across the plasma membrane. This is called the </a:t>
            </a:r>
            <a:r>
              <a:rPr sz="1600" b="1" i="0">
                <a:solidFill>
                  <a:srgbClr val="2E9E4F"/>
                </a:solidFill>
                <a:latin typeface="Calibri"/>
              </a:rPr>
              <a:t>potential difference (p.d.)</a:t>
            </a:r>
            <a:r>
              <a:rPr sz="1600" b="0" i="0">
                <a:solidFill>
                  <a:srgbClr val="1A2F5A"/>
                </a:solidFill>
                <a:latin typeface="Calibri"/>
              </a:rPr>
              <a:t>. It is measured in millivolts (mV).</a:t>
            </a:r>
          </a:p>
          <a:p>
            <a:pPr algn="l">
              <a:spcAft>
                <a:spcPts val="600"/>
              </a:spcAft>
            </a:pPr>
            <a:r>
              <a:rPr sz="1600" b="0" i="0">
                <a:solidFill>
                  <a:srgbClr val="1A2F5A"/>
                </a:solidFill>
                <a:latin typeface="Calibri"/>
              </a:rPr>
              <a:t/>
            </a:r>
          </a:p>
          <a:p>
            <a:pPr algn="l">
              <a:spcAft>
                <a:spcPts val="600"/>
              </a:spcAft>
            </a:pPr>
            <a:r>
              <a:rPr sz="1600" b="0" i="0">
                <a:solidFill>
                  <a:srgbClr val="1A2F5A"/>
                </a:solidFill>
                <a:latin typeface="Calibri"/>
              </a:rPr>
              <a:t/>
            </a:r>
            <a:r>
              <a:rPr sz="1600" b="0" i="0">
                <a:solidFill>
                  <a:srgbClr val="1A2F5A"/>
                </a:solidFill>
                <a:latin typeface="Calibri"/>
              </a:rPr>
              <a:t>The normal, resting state of an axon is called the </a:t>
            </a:r>
            <a:r>
              <a:rPr sz="1600" b="1" i="0">
                <a:solidFill>
                  <a:srgbClr val="2E9E4F"/>
                </a:solidFill>
                <a:latin typeface="Calibri"/>
              </a:rPr>
              <a:t>resting potential</a:t>
            </a:r>
            <a:r>
              <a:rPr sz="1600" b="0" i="0">
                <a:solidFill>
                  <a:srgbClr val="1A2F5A"/>
                </a:solidFill>
                <a:latin typeface="Calibri"/>
              </a:rPr>
              <a:t>. In this state the p.d. across the axon is </a:t>
            </a:r>
            <a:r>
              <a:rPr sz="1600" b="1" i="0">
                <a:solidFill>
                  <a:srgbClr val="1B3A6B"/>
                </a:solidFill>
                <a:latin typeface="Calibri"/>
              </a:rPr>
              <a:t>–70 mV</a:t>
            </a:r>
            <a:r>
              <a:rPr sz="1600" b="0" i="0">
                <a:solidFill>
                  <a:srgbClr val="1A2F5A"/>
                </a:solidFill>
                <a:latin typeface="Calibri"/>
              </a:rPr>
              <a:t>. The membrane is said to be </a:t>
            </a:r>
            <a:r>
              <a:rPr sz="1600" b="1" i="0">
                <a:solidFill>
                  <a:srgbClr val="2E9E4F"/>
                </a:solidFill>
                <a:latin typeface="Calibri"/>
              </a:rPr>
              <a:t>polarized</a:t>
            </a:r>
            <a:r>
              <a:rPr sz="1600" b="0" i="0">
                <a:solidFill>
                  <a:srgbClr val="1A2F5A"/>
                </a:solidFill>
                <a:latin typeface="Calibri"/>
              </a:rPr>
              <a:t>.</a:t>
            </a:r>
          </a:p>
          <a:p>
            <a:pPr algn="l">
              <a:spcAft>
                <a:spcPts val="600"/>
              </a:spcAft>
            </a:pPr>
            <a:r>
              <a:rPr sz="1600" b="0" i="0">
                <a:solidFill>
                  <a:srgbClr val="1A2F5A"/>
                </a:solidFill>
                <a:latin typeface="Calibri"/>
              </a:rPr>
              <a:t/>
            </a:r>
          </a:p>
          <a:p>
            <a:pPr algn="l">
              <a:spcAft>
                <a:spcPts val="600"/>
              </a:spcAft>
            </a:pPr>
            <a:r>
              <a:rPr sz="1600" b="0" i="0">
                <a:solidFill>
                  <a:srgbClr val="1A2F5A"/>
                </a:solidFill>
                <a:latin typeface="Calibri"/>
              </a:rPr>
              <a:t>A nerve impulse, or </a:t>
            </a:r>
            <a:r>
              <a:rPr sz="1600" b="1" i="0">
                <a:solidFill>
                  <a:srgbClr val="2E9E4F"/>
                </a:solidFill>
                <a:latin typeface="Calibri"/>
              </a:rPr>
              <a:t>action potential</a:t>
            </a:r>
            <a:r>
              <a:rPr sz="1600" b="0" i="0">
                <a:solidFill>
                  <a:srgbClr val="1A2F5A"/>
                </a:solidFill>
                <a:latin typeface="Calibri"/>
              </a:rPr>
              <a:t>, occurs when the p.d. across an axon is temporarily reversed. The p.d. changes to around </a:t>
            </a:r>
            <a:r>
              <a:rPr sz="1600" b="1" i="0">
                <a:solidFill>
                  <a:srgbClr val="1B3A6B"/>
                </a:solidFill>
                <a:latin typeface="Calibri"/>
              </a:rPr>
              <a:t>+35 mV</a:t>
            </a:r>
            <a:r>
              <a:rPr sz="1600" b="0" i="0">
                <a:solidFill>
                  <a:srgbClr val="1A2F5A"/>
                </a:solidFill>
                <a:latin typeface="Calibri"/>
              </a:rPr>
              <a:t>. The membrane is said to be </a:t>
            </a:r>
            <a:r>
              <a:rPr sz="1600" b="1" i="0">
                <a:solidFill>
                  <a:srgbClr val="2E9E4F"/>
                </a:solidFill>
                <a:latin typeface="Calibri"/>
              </a:rPr>
              <a:t>depolarized</a:t>
            </a:r>
            <a:r>
              <a:rPr sz="1600" b="0" i="0">
                <a:solidFill>
                  <a:srgbClr val="1A2F5A"/>
                </a:solidFill>
                <a:latin typeface="Calibri"/>
              </a:rPr>
              <a:t>.</a:t>
            </a:r>
          </a:p>
        </p:txBody>
      </p:sp>
      <p:pic>
        <p:nvPicPr>
          <p:cNvPr id="13" name="Picture 12" descr="axon_electrodes.png"/>
          <p:cNvPicPr>
            <a:picLocks noChangeAspect="1"/>
          </p:cNvPicPr>
          <p:nvPr/>
        </p:nvPicPr>
        <p:blipFill>
          <a:blip r:embed="rId2"/>
          <a:stretch>
            <a:fillRect/>
          </a:stretch>
        </p:blipFill>
        <p:spPr>
          <a:xfrm>
            <a:off x="5120640" y="1188720"/>
            <a:ext cx="3749039" cy="1927960"/>
          </a:xfrm>
          <a:prstGeom prst="rect">
            <a:avLst/>
          </a:prstGeom>
        </p:spPr>
      </p:pic>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9144000" cy="658368"/>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640080"/>
            <a:ext cx="9144000" cy="54864"/>
          </a:xfrm>
          <a:prstGeom prst="rect">
            <a:avLst/>
          </a:pr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256032" y="91440"/>
            <a:ext cx="7498079" cy="502920"/>
          </a:xfrm>
          <a:prstGeom prst="rect">
            <a:avLst/>
          </a:prstGeom>
          <a:noFill/>
        </p:spPr>
        <p:txBody>
          <a:bodyPr wrap="square" anchor="t">
            <a:spAutoFit/>
          </a:bodyPr>
          <a:lstStyle/>
          <a:p>
            <a:pPr algn="l">
              <a:spcAft>
                <a:spcPts val="400"/>
              </a:spcAft>
            </a:pPr>
            <a:r>
              <a:rPr sz="2600" b="1" i="0">
                <a:solidFill>
                  <a:srgbClr val="2E9E4F"/>
                </a:solidFill>
                <a:latin typeface="Calibri"/>
              </a:rPr>
              <a:t>What happens during the resting state?</a:t>
            </a:r>
          </a:p>
        </p:txBody>
      </p:sp>
      <p:sp>
        <p:nvSpPr>
          <p:cNvPr id="5" name="Rounded Rectangle 4"/>
          <p:cNvSpPr/>
          <p:nvPr/>
        </p:nvSpPr>
        <p:spPr>
          <a:xfrm>
            <a:off x="7452360" y="109728"/>
            <a:ext cx="1536192" cy="420624"/>
          </a:xfrm>
          <a:prstGeom prst="roundRect">
            <a:avLst>
              <a:gd name="adj" fmla="val 15000"/>
            </a:avLst>
          </a:prstGeom>
          <a:solidFill>
            <a:srgbClr val="C8E6A0"/>
          </a:solidFill>
          <a:ln w="12700">
            <a:solidFill>
              <a:srgbClr val="1B7A3A"/>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spcBef>
                <a:spcPts val="0"/>
              </a:spcBef>
              <a:spcAft>
                <a:spcPts val="200"/>
              </a:spcAft>
            </a:pPr>
            <a:r>
              <a:rPr sz="1100" b="1" i="0">
                <a:solidFill>
                  <a:srgbClr val="1B7A3A"/>
                </a:solidFill>
                <a:latin typeface="Calibri"/>
              </a:rPr>
              <a:t>A2 Biology</a:t>
            </a:r>
          </a:p>
        </p:txBody>
      </p:sp>
      <p:sp>
        <p:nvSpPr>
          <p:cNvPr id="6" name="Rectangle 5"/>
          <p:cNvSpPr/>
          <p:nvPr/>
        </p:nvSpPr>
        <p:spPr>
          <a:xfrm>
            <a:off x="0" y="0"/>
            <a:ext cx="73152" cy="6858000"/>
          </a:xfrm>
          <a:prstGeom prst="rect">
            <a:avLst/>
          </a:prstGeom>
          <a:solidFill>
            <a:srgbClr val="6B2D8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3152" y="6565392"/>
            <a:ext cx="9070848" cy="36576"/>
          </a:xfrm>
          <a:prstGeom prst="rect">
            <a:avLst/>
          </a:prstGeom>
          <a:solidFill>
            <a:srgbClr val="7A3E9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228600" y="6583680"/>
            <a:ext cx="1280160" cy="256032"/>
          </a:xfrm>
          <a:prstGeom prst="rect">
            <a:avLst/>
          </a:prstGeom>
          <a:noFill/>
        </p:spPr>
        <p:txBody>
          <a:bodyPr wrap="square" anchor="t">
            <a:spAutoFit/>
          </a:bodyPr>
          <a:lstStyle/>
          <a:p>
            <a:pPr algn="l">
              <a:spcAft>
                <a:spcPts val="400"/>
              </a:spcAft>
            </a:pPr>
            <a:r>
              <a:rPr sz="1000" b="0" i="0">
                <a:solidFill>
                  <a:srgbClr val="6B2D8B"/>
                </a:solidFill>
                <a:latin typeface="Calibri"/>
              </a:rPr>
              <a:t>4 of 29</a:t>
            </a:r>
          </a:p>
        </p:txBody>
      </p:sp>
      <p:sp>
        <p:nvSpPr>
          <p:cNvPr id="9" name="TextBox 8"/>
          <p:cNvSpPr txBox="1"/>
          <p:nvPr/>
        </p:nvSpPr>
        <p:spPr>
          <a:xfrm>
            <a:off x="1554480" y="6583680"/>
            <a:ext cx="6035040" cy="256032"/>
          </a:xfrm>
          <a:prstGeom prst="rect">
            <a:avLst/>
          </a:prstGeom>
          <a:noFill/>
        </p:spPr>
        <p:txBody>
          <a:bodyPr wrap="square" anchor="t">
            <a:spAutoFit/>
          </a:bodyPr>
          <a:lstStyle/>
          <a:p>
            <a:pPr algn="ctr">
              <a:spcAft>
                <a:spcPts val="400"/>
              </a:spcAft>
            </a:pPr>
            <a:r>
              <a:rPr sz="900" b="0" i="0">
                <a:solidFill>
                  <a:srgbClr val="5A5A5A"/>
                </a:solidFill>
                <a:latin typeface="Calibri"/>
              </a:rPr>
              <a:t>Original course © Boardworks Ltd 2009. Reconstructed interactive resource.</a:t>
            </a:r>
          </a:p>
        </p:txBody>
      </p:sp>
      <p:sp>
        <p:nvSpPr>
          <p:cNvPr id="10" name="Oval 9">
            <a:hlinkClick r:id="rId6" action="ppaction://hlinksldjump"/>
          </p:cNvPr>
          <p:cNvSpPr/>
          <p:nvPr/>
        </p:nvSpPr>
        <p:spPr>
          <a:xfrm>
            <a:off x="146304" y="5760720"/>
            <a:ext cx="384048" cy="384048"/>
          </a:xfrm>
          <a:prstGeom prst="ellipse">
            <a:avLst/>
          </a:prstGeom>
          <a:solidFill>
            <a:srgbClr val="FFFFFF"/>
          </a:solidFill>
          <a:ln w="22225">
            <a:solidFill>
              <a:srgbClr val="6B2D8B"/>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spcBef>
                <a:spcPts val="0"/>
              </a:spcBef>
              <a:spcAft>
                <a:spcPts val="200"/>
              </a:spcAft>
            </a:pPr>
            <a:r>
              <a:rPr sz="1400" b="1" i="0">
                <a:solidFill>
                  <a:srgbClr val="6B2D8B"/>
                </a:solidFill>
                <a:latin typeface="Calibri"/>
              </a:rPr>
              <a:t>◀</a:t>
            </a:r>
          </a:p>
        </p:txBody>
      </p:sp>
      <p:sp>
        <p:nvSpPr>
          <p:cNvPr id="11" name="Oval 10">
            <a:hlinkClick r:id="rId5" action="ppaction://hlinksldjump"/>
          </p:cNvPr>
          <p:cNvSpPr/>
          <p:nvPr/>
        </p:nvSpPr>
        <p:spPr>
          <a:xfrm>
            <a:off x="8613648" y="5760720"/>
            <a:ext cx="384048" cy="384048"/>
          </a:xfrm>
          <a:prstGeom prst="ellipse">
            <a:avLst/>
          </a:prstGeom>
          <a:solidFill>
            <a:srgbClr val="6B2D8B"/>
          </a:solidFill>
          <a:ln w="12700">
            <a:solidFill>
              <a:srgbClr val="6B2D8B"/>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spcBef>
                <a:spcPts val="0"/>
              </a:spcBef>
              <a:spcAft>
                <a:spcPts val="200"/>
              </a:spcAft>
            </a:pPr>
            <a:r>
              <a:rPr sz="1400" b="1" i="0">
                <a:solidFill>
                  <a:srgbClr val="FFFFFF"/>
                </a:solidFill>
                <a:latin typeface="Calibri"/>
              </a:rPr>
              <a:t>▶</a:t>
            </a:r>
          </a:p>
        </p:txBody>
      </p:sp>
      <p:sp>
        <p:nvSpPr>
          <p:cNvPr id="12" name="Rectangle 11"/>
          <p:cNvSpPr/>
          <p:nvPr/>
        </p:nvSpPr>
        <p:spPr>
          <a:xfrm>
            <a:off x="201168" y="6199632"/>
            <a:ext cx="8741664" cy="329184"/>
          </a:xfrm>
          <a:prstGeom prst="rect">
            <a:avLst/>
          </a:pr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320040" y="804672"/>
            <a:ext cx="6766560" cy="347472"/>
          </a:xfrm>
          <a:prstGeom prst="rect">
            <a:avLst/>
          </a:prstGeom>
          <a:noFill/>
        </p:spPr>
        <p:txBody>
          <a:bodyPr wrap="square" anchor="t">
            <a:spAutoFit/>
          </a:bodyPr>
          <a:lstStyle/>
          <a:p>
            <a:pPr algn="l">
              <a:spcAft>
                <a:spcPts val="400"/>
              </a:spcAft>
            </a:pPr>
            <a:r>
              <a:rPr sz="1600" b="1" i="0">
                <a:solidFill>
                  <a:srgbClr val="1B3A6B"/>
                </a:solidFill>
                <a:latin typeface="Calibri"/>
              </a:rPr>
              <a:t>Step 1 of 4:  Charge difference</a:t>
            </a:r>
          </a:p>
        </p:txBody>
      </p:sp>
      <p:pic>
        <p:nvPicPr>
          <p:cNvPr id="14" name="Picture 13" descr="resting_charges.png"/>
          <p:cNvPicPr>
            <a:picLocks noChangeAspect="1"/>
          </p:cNvPicPr>
          <p:nvPr/>
        </p:nvPicPr>
        <p:blipFill>
          <a:blip r:embed="rId2"/>
          <a:stretch>
            <a:fillRect/>
          </a:stretch>
        </p:blipFill>
        <p:spPr>
          <a:xfrm>
            <a:off x="274320" y="1170432"/>
            <a:ext cx="5029200" cy="2628163"/>
          </a:xfrm>
          <a:prstGeom prst="rect">
            <a:avLst/>
          </a:prstGeom>
        </p:spPr>
      </p:pic>
      <p:sp>
        <p:nvSpPr>
          <p:cNvPr id="15" name="Rounded Rectangle 14"/>
          <p:cNvSpPr/>
          <p:nvPr/>
        </p:nvSpPr>
        <p:spPr>
          <a:xfrm>
            <a:off x="5440680" y="1170432"/>
            <a:ext cx="3337560" cy="3977639"/>
          </a:xfrm>
          <a:prstGeom prst="roundRect">
            <a:avLst>
              <a:gd name="adj" fmla="val 15000"/>
            </a:avLst>
          </a:prstGeom>
          <a:solidFill>
            <a:srgbClr val="FFF6B0"/>
          </a:solidFill>
          <a:ln w="15875">
            <a:solidFill>
              <a:srgbClr val="C5B43A"/>
            </a:solidFill>
          </a:ln>
        </p:spPr>
        <p:style>
          <a:lnRef idx="1">
            <a:schemeClr val="accent1"/>
          </a:lnRef>
          <a:fillRef idx="3">
            <a:schemeClr val="accent1"/>
          </a:fillRef>
          <a:effectRef idx="2">
            <a:schemeClr val="accent1"/>
          </a:effectRef>
          <a:fontRef idx="minor">
            <a:schemeClr val="lt1"/>
          </a:fontRef>
        </p:style>
        <p:txBody>
          <a:bodyPr rtlCol="0" anchor="t" wrap="square" lIns="109728" rIns="109728" tIns="73152" bIns="73152"/>
          <a:lstStyle/>
          <a:p>
            <a:pPr algn="l">
              <a:spcBef>
                <a:spcPts val="0"/>
              </a:spcBef>
              <a:spcAft>
                <a:spcPts val="200"/>
              </a:spcAft>
            </a:pPr>
            <a:r>
              <a:rPr sz="1400" b="0" i="0">
                <a:solidFill>
                  <a:srgbClr val="1A2F5A"/>
                </a:solidFill>
                <a:latin typeface="Calibri"/>
              </a:rPr>
              <a:t>An axon is at resting potential when no impulse is present. The inside is negative compared with the outside (about –70 mV). Click Next step to see how this state is maintained.</a:t>
            </a:r>
          </a:p>
        </p:txBody>
      </p:sp>
      <p:sp>
        <p:nvSpPr>
          <p:cNvPr id="16" name="Rounded Rectangle 15">
            <a:hlinkClick r:id="rId3" action="ppaction://hlinksldjump"/>
          </p:cNvPr>
          <p:cNvSpPr/>
          <p:nvPr/>
        </p:nvSpPr>
        <p:spPr>
          <a:xfrm>
            <a:off x="1828800" y="6217920"/>
            <a:ext cx="1234440" cy="292608"/>
          </a:xfrm>
          <a:prstGeom prst="roundRect">
            <a:avLst>
              <a:gd name="adj" fmla="val 15000"/>
            </a:avLst>
          </a:prstGeom>
          <a:solidFill>
            <a:srgbClr val="EF6C00"/>
          </a:solidFill>
          <a:ln w="12700">
            <a:solidFill>
              <a:srgbClr val="EF6C00"/>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spcBef>
                <a:spcPts val="0"/>
              </a:spcBef>
              <a:spcAft>
                <a:spcPts val="200"/>
              </a:spcAft>
            </a:pPr>
            <a:r>
              <a:rPr sz="1200" b="1" i="0">
                <a:solidFill>
                  <a:srgbClr val="FFFFFF"/>
                </a:solidFill>
                <a:latin typeface="Calibri"/>
              </a:rPr>
              <a:t>Reset</a:t>
            </a:r>
          </a:p>
        </p:txBody>
      </p:sp>
      <p:sp>
        <p:nvSpPr>
          <p:cNvPr id="17" name="Rounded Rectangle 16">
            <a:hlinkClick r:id="rId5" action="ppaction://hlinksldjump"/>
          </p:cNvPr>
          <p:cNvSpPr/>
          <p:nvPr/>
        </p:nvSpPr>
        <p:spPr>
          <a:xfrm>
            <a:off x="3200400" y="6217920"/>
            <a:ext cx="1554480" cy="292608"/>
          </a:xfrm>
          <a:prstGeom prst="roundRect">
            <a:avLst>
              <a:gd name="adj" fmla="val 15000"/>
            </a:avLst>
          </a:prstGeom>
          <a:solidFill>
            <a:srgbClr val="2E9E4F"/>
          </a:solidFill>
          <a:ln w="12700">
            <a:solidFill>
              <a:srgbClr val="2E9E4F"/>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spcBef>
                <a:spcPts val="0"/>
              </a:spcBef>
              <a:spcAft>
                <a:spcPts val="200"/>
              </a:spcAft>
            </a:pPr>
            <a:r>
              <a:rPr sz="1200" b="1" i="0">
                <a:solidFill>
                  <a:srgbClr val="FFFFFF"/>
                </a:solidFill>
                <a:latin typeface="Calibri"/>
              </a:rPr>
              <a:t>Next step</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9144000" cy="658368"/>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640080"/>
            <a:ext cx="9144000" cy="54864"/>
          </a:xfrm>
          <a:prstGeom prst="rect">
            <a:avLst/>
          </a:pr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256032" y="91440"/>
            <a:ext cx="7498079" cy="502920"/>
          </a:xfrm>
          <a:prstGeom prst="rect">
            <a:avLst/>
          </a:prstGeom>
          <a:noFill/>
        </p:spPr>
        <p:txBody>
          <a:bodyPr wrap="square" anchor="t">
            <a:spAutoFit/>
          </a:bodyPr>
          <a:lstStyle/>
          <a:p>
            <a:pPr algn="l">
              <a:spcAft>
                <a:spcPts val="400"/>
              </a:spcAft>
            </a:pPr>
            <a:r>
              <a:rPr sz="2600" b="1" i="0">
                <a:solidFill>
                  <a:srgbClr val="2E9E4F"/>
                </a:solidFill>
                <a:latin typeface="Calibri"/>
              </a:rPr>
              <a:t>What happens during the resting state?</a:t>
            </a:r>
          </a:p>
        </p:txBody>
      </p:sp>
      <p:sp>
        <p:nvSpPr>
          <p:cNvPr id="5" name="Rounded Rectangle 4"/>
          <p:cNvSpPr/>
          <p:nvPr/>
        </p:nvSpPr>
        <p:spPr>
          <a:xfrm>
            <a:off x="7452360" y="109728"/>
            <a:ext cx="1536192" cy="420624"/>
          </a:xfrm>
          <a:prstGeom prst="roundRect">
            <a:avLst>
              <a:gd name="adj" fmla="val 15000"/>
            </a:avLst>
          </a:prstGeom>
          <a:solidFill>
            <a:srgbClr val="C8E6A0"/>
          </a:solidFill>
          <a:ln w="12700">
            <a:solidFill>
              <a:srgbClr val="1B7A3A"/>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spcBef>
                <a:spcPts val="0"/>
              </a:spcBef>
              <a:spcAft>
                <a:spcPts val="200"/>
              </a:spcAft>
            </a:pPr>
            <a:r>
              <a:rPr sz="1100" b="1" i="0">
                <a:solidFill>
                  <a:srgbClr val="1B7A3A"/>
                </a:solidFill>
                <a:latin typeface="Calibri"/>
              </a:rPr>
              <a:t>A2 Biology</a:t>
            </a:r>
          </a:p>
        </p:txBody>
      </p:sp>
      <p:sp>
        <p:nvSpPr>
          <p:cNvPr id="6" name="Rectangle 5"/>
          <p:cNvSpPr/>
          <p:nvPr/>
        </p:nvSpPr>
        <p:spPr>
          <a:xfrm>
            <a:off x="0" y="0"/>
            <a:ext cx="73152" cy="6858000"/>
          </a:xfrm>
          <a:prstGeom prst="rect">
            <a:avLst/>
          </a:prstGeom>
          <a:solidFill>
            <a:srgbClr val="6B2D8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3152" y="6565392"/>
            <a:ext cx="9070848" cy="36576"/>
          </a:xfrm>
          <a:prstGeom prst="rect">
            <a:avLst/>
          </a:prstGeom>
          <a:solidFill>
            <a:srgbClr val="7A3E9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228600" y="6583680"/>
            <a:ext cx="1280160" cy="256032"/>
          </a:xfrm>
          <a:prstGeom prst="rect">
            <a:avLst/>
          </a:prstGeom>
          <a:noFill/>
        </p:spPr>
        <p:txBody>
          <a:bodyPr wrap="square" anchor="t">
            <a:spAutoFit/>
          </a:bodyPr>
          <a:lstStyle/>
          <a:p>
            <a:pPr algn="l">
              <a:spcAft>
                <a:spcPts val="400"/>
              </a:spcAft>
            </a:pPr>
            <a:r>
              <a:rPr sz="1000" b="0" i="0">
                <a:solidFill>
                  <a:srgbClr val="6B2D8B"/>
                </a:solidFill>
                <a:latin typeface="Calibri"/>
              </a:rPr>
              <a:t>5 of 29</a:t>
            </a:r>
          </a:p>
        </p:txBody>
      </p:sp>
      <p:sp>
        <p:nvSpPr>
          <p:cNvPr id="9" name="TextBox 8"/>
          <p:cNvSpPr txBox="1"/>
          <p:nvPr/>
        </p:nvSpPr>
        <p:spPr>
          <a:xfrm>
            <a:off x="1554480" y="6583680"/>
            <a:ext cx="6035040" cy="256032"/>
          </a:xfrm>
          <a:prstGeom prst="rect">
            <a:avLst/>
          </a:prstGeom>
          <a:noFill/>
        </p:spPr>
        <p:txBody>
          <a:bodyPr wrap="square" anchor="t">
            <a:spAutoFit/>
          </a:bodyPr>
          <a:lstStyle/>
          <a:p>
            <a:pPr algn="ctr">
              <a:spcAft>
                <a:spcPts val="400"/>
              </a:spcAft>
            </a:pPr>
            <a:r>
              <a:rPr sz="900" b="0" i="0">
                <a:solidFill>
                  <a:srgbClr val="5A5A5A"/>
                </a:solidFill>
                <a:latin typeface="Calibri"/>
              </a:rPr>
              <a:t>Original course © Boardworks Ltd 2009. Reconstructed interactive resource.</a:t>
            </a:r>
          </a:p>
        </p:txBody>
      </p:sp>
      <p:sp>
        <p:nvSpPr>
          <p:cNvPr id="10" name="Oval 9">
            <a:hlinkClick r:id="rId3" action="ppaction://hlinksldjump"/>
          </p:cNvPr>
          <p:cNvSpPr/>
          <p:nvPr/>
        </p:nvSpPr>
        <p:spPr>
          <a:xfrm>
            <a:off x="146304" y="5760720"/>
            <a:ext cx="384048" cy="384048"/>
          </a:xfrm>
          <a:prstGeom prst="ellipse">
            <a:avLst/>
          </a:prstGeom>
          <a:solidFill>
            <a:srgbClr val="FFFFFF"/>
          </a:solidFill>
          <a:ln w="22225">
            <a:solidFill>
              <a:srgbClr val="6B2D8B"/>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spcBef>
                <a:spcPts val="0"/>
              </a:spcBef>
              <a:spcAft>
                <a:spcPts val="200"/>
              </a:spcAft>
            </a:pPr>
            <a:r>
              <a:rPr sz="1400" b="1" i="0">
                <a:solidFill>
                  <a:srgbClr val="6B2D8B"/>
                </a:solidFill>
                <a:latin typeface="Calibri"/>
              </a:rPr>
              <a:t>◀</a:t>
            </a:r>
          </a:p>
        </p:txBody>
      </p:sp>
      <p:sp>
        <p:nvSpPr>
          <p:cNvPr id="11" name="Oval 10">
            <a:hlinkClick r:id="rId5" action="ppaction://hlinksldjump"/>
          </p:cNvPr>
          <p:cNvSpPr/>
          <p:nvPr/>
        </p:nvSpPr>
        <p:spPr>
          <a:xfrm>
            <a:off x="8613648" y="5760720"/>
            <a:ext cx="384048" cy="384048"/>
          </a:xfrm>
          <a:prstGeom prst="ellipse">
            <a:avLst/>
          </a:prstGeom>
          <a:solidFill>
            <a:srgbClr val="6B2D8B"/>
          </a:solidFill>
          <a:ln w="12700">
            <a:solidFill>
              <a:srgbClr val="6B2D8B"/>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spcBef>
                <a:spcPts val="0"/>
              </a:spcBef>
              <a:spcAft>
                <a:spcPts val="200"/>
              </a:spcAft>
            </a:pPr>
            <a:r>
              <a:rPr sz="1400" b="1" i="0">
                <a:solidFill>
                  <a:srgbClr val="FFFFFF"/>
                </a:solidFill>
                <a:latin typeface="Calibri"/>
              </a:rPr>
              <a:t>▶</a:t>
            </a:r>
          </a:p>
        </p:txBody>
      </p:sp>
      <p:sp>
        <p:nvSpPr>
          <p:cNvPr id="12" name="Rectangle 11"/>
          <p:cNvSpPr/>
          <p:nvPr/>
        </p:nvSpPr>
        <p:spPr>
          <a:xfrm>
            <a:off x="201168" y="6199632"/>
            <a:ext cx="8741664" cy="329184"/>
          </a:xfrm>
          <a:prstGeom prst="rect">
            <a:avLst/>
          </a:pr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320040" y="804672"/>
            <a:ext cx="6766560" cy="347472"/>
          </a:xfrm>
          <a:prstGeom prst="rect">
            <a:avLst/>
          </a:prstGeom>
          <a:noFill/>
        </p:spPr>
        <p:txBody>
          <a:bodyPr wrap="square" anchor="t">
            <a:spAutoFit/>
          </a:bodyPr>
          <a:lstStyle/>
          <a:p>
            <a:pPr algn="l">
              <a:spcAft>
                <a:spcPts val="400"/>
              </a:spcAft>
            </a:pPr>
            <a:r>
              <a:rPr sz="1600" b="1" i="0">
                <a:solidFill>
                  <a:srgbClr val="1B3A6B"/>
                </a:solidFill>
                <a:latin typeface="Calibri"/>
              </a:rPr>
              <a:t>Step 2 of 4:  Sodium–potassium pump</a:t>
            </a:r>
          </a:p>
        </p:txBody>
      </p:sp>
      <p:pic>
        <p:nvPicPr>
          <p:cNvPr id="14" name="Picture 13" descr="membrane_rest.png"/>
          <p:cNvPicPr>
            <a:picLocks noChangeAspect="1"/>
          </p:cNvPicPr>
          <p:nvPr/>
        </p:nvPicPr>
        <p:blipFill>
          <a:blip r:embed="rId2"/>
          <a:stretch>
            <a:fillRect/>
          </a:stretch>
        </p:blipFill>
        <p:spPr>
          <a:xfrm>
            <a:off x="274320" y="1170432"/>
            <a:ext cx="5029200" cy="2725036"/>
          </a:xfrm>
          <a:prstGeom prst="rect">
            <a:avLst/>
          </a:prstGeom>
        </p:spPr>
      </p:pic>
      <p:sp>
        <p:nvSpPr>
          <p:cNvPr id="15" name="Rounded Rectangle 14"/>
          <p:cNvSpPr/>
          <p:nvPr/>
        </p:nvSpPr>
        <p:spPr>
          <a:xfrm>
            <a:off x="5440680" y="1170432"/>
            <a:ext cx="3337560" cy="3977639"/>
          </a:xfrm>
          <a:prstGeom prst="roundRect">
            <a:avLst>
              <a:gd name="adj" fmla="val 15000"/>
            </a:avLst>
          </a:prstGeom>
          <a:solidFill>
            <a:srgbClr val="FFF6B0"/>
          </a:solidFill>
          <a:ln w="15875">
            <a:solidFill>
              <a:srgbClr val="C5B43A"/>
            </a:solidFill>
          </a:ln>
        </p:spPr>
        <p:style>
          <a:lnRef idx="1">
            <a:schemeClr val="accent1"/>
          </a:lnRef>
          <a:fillRef idx="3">
            <a:schemeClr val="accent1"/>
          </a:fillRef>
          <a:effectRef idx="2">
            <a:schemeClr val="accent1"/>
          </a:effectRef>
          <a:fontRef idx="minor">
            <a:schemeClr val="lt1"/>
          </a:fontRef>
        </p:style>
        <p:txBody>
          <a:bodyPr rtlCol="0" anchor="t" wrap="square" lIns="109728" rIns="109728" tIns="73152" bIns="73152"/>
          <a:lstStyle/>
          <a:p>
            <a:pPr algn="l">
              <a:spcBef>
                <a:spcPts val="0"/>
              </a:spcBef>
              <a:spcAft>
                <a:spcPts val="200"/>
              </a:spcAft>
            </a:pPr>
            <a:r>
              <a:rPr sz="1400" b="0" i="0">
                <a:solidFill>
                  <a:srgbClr val="1A2F5A"/>
                </a:solidFill>
                <a:latin typeface="Calibri"/>
              </a:rPr>
              <a:t>The Na⁺/K⁺ pump uses ATP to move 3 Na⁺ out for every 2 K⁺ in. This is active transport. The unequal exchange makes the inside more negative.</a:t>
            </a:r>
          </a:p>
        </p:txBody>
      </p:sp>
      <p:sp>
        <p:nvSpPr>
          <p:cNvPr id="16" name="Rounded Rectangle 15">
            <a:hlinkClick r:id="rId3" action="ppaction://hlinksldjump"/>
          </p:cNvPr>
          <p:cNvSpPr/>
          <p:nvPr/>
        </p:nvSpPr>
        <p:spPr>
          <a:xfrm>
            <a:off x="320040" y="6217920"/>
            <a:ext cx="1371600" cy="292608"/>
          </a:xfrm>
          <a:prstGeom prst="roundRect">
            <a:avLst>
              <a:gd name="adj" fmla="val 15000"/>
            </a:avLst>
          </a:prstGeom>
          <a:solidFill>
            <a:srgbClr val="1B3A6B"/>
          </a:solidFill>
          <a:ln w="12700">
            <a:solidFill>
              <a:srgbClr val="1B3A6B"/>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spcBef>
                <a:spcPts val="0"/>
              </a:spcBef>
              <a:spcAft>
                <a:spcPts val="200"/>
              </a:spcAft>
            </a:pPr>
            <a:r>
              <a:rPr sz="1200" b="1" i="0">
                <a:solidFill>
                  <a:srgbClr val="FFFFFF"/>
                </a:solidFill>
                <a:latin typeface="Calibri"/>
              </a:rPr>
              <a:t>Previous</a:t>
            </a:r>
          </a:p>
        </p:txBody>
      </p:sp>
      <p:sp>
        <p:nvSpPr>
          <p:cNvPr id="17" name="Rounded Rectangle 16">
            <a:hlinkClick r:id="rId3" action="ppaction://hlinksldjump"/>
          </p:cNvPr>
          <p:cNvSpPr/>
          <p:nvPr/>
        </p:nvSpPr>
        <p:spPr>
          <a:xfrm>
            <a:off x="1828800" y="6217920"/>
            <a:ext cx="1234440" cy="292608"/>
          </a:xfrm>
          <a:prstGeom prst="roundRect">
            <a:avLst>
              <a:gd name="adj" fmla="val 15000"/>
            </a:avLst>
          </a:prstGeom>
          <a:solidFill>
            <a:srgbClr val="EF6C00"/>
          </a:solidFill>
          <a:ln w="12700">
            <a:solidFill>
              <a:srgbClr val="EF6C00"/>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spcBef>
                <a:spcPts val="0"/>
              </a:spcBef>
              <a:spcAft>
                <a:spcPts val="200"/>
              </a:spcAft>
            </a:pPr>
            <a:r>
              <a:rPr sz="1200" b="1" i="0">
                <a:solidFill>
                  <a:srgbClr val="FFFFFF"/>
                </a:solidFill>
                <a:latin typeface="Calibri"/>
              </a:rPr>
              <a:t>Reset</a:t>
            </a:r>
          </a:p>
        </p:txBody>
      </p:sp>
      <p:sp>
        <p:nvSpPr>
          <p:cNvPr id="18" name="Rounded Rectangle 17">
            <a:hlinkClick r:id="rId5" action="ppaction://hlinksldjump"/>
          </p:cNvPr>
          <p:cNvSpPr/>
          <p:nvPr/>
        </p:nvSpPr>
        <p:spPr>
          <a:xfrm>
            <a:off x="3200400" y="6217920"/>
            <a:ext cx="1554480" cy="292608"/>
          </a:xfrm>
          <a:prstGeom prst="roundRect">
            <a:avLst>
              <a:gd name="adj" fmla="val 15000"/>
            </a:avLst>
          </a:prstGeom>
          <a:solidFill>
            <a:srgbClr val="2E9E4F"/>
          </a:solidFill>
          <a:ln w="12700">
            <a:solidFill>
              <a:srgbClr val="2E9E4F"/>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spcBef>
                <a:spcPts val="0"/>
              </a:spcBef>
              <a:spcAft>
                <a:spcPts val="200"/>
              </a:spcAft>
            </a:pPr>
            <a:r>
              <a:rPr sz="1200" b="1" i="0">
                <a:solidFill>
                  <a:srgbClr val="FFFFFF"/>
                </a:solidFill>
                <a:latin typeface="Calibri"/>
              </a:rPr>
              <a:t>Next step</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9144000" cy="658368"/>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640080"/>
            <a:ext cx="9144000" cy="54864"/>
          </a:xfrm>
          <a:prstGeom prst="rect">
            <a:avLst/>
          </a:pr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256032" y="91440"/>
            <a:ext cx="7498079" cy="502920"/>
          </a:xfrm>
          <a:prstGeom prst="rect">
            <a:avLst/>
          </a:prstGeom>
          <a:noFill/>
        </p:spPr>
        <p:txBody>
          <a:bodyPr wrap="square" anchor="t">
            <a:spAutoFit/>
          </a:bodyPr>
          <a:lstStyle/>
          <a:p>
            <a:pPr algn="l">
              <a:spcAft>
                <a:spcPts val="400"/>
              </a:spcAft>
            </a:pPr>
            <a:r>
              <a:rPr sz="2600" b="1" i="0">
                <a:solidFill>
                  <a:srgbClr val="2E9E4F"/>
                </a:solidFill>
                <a:latin typeface="Calibri"/>
              </a:rPr>
              <a:t>What happens during the resting state?</a:t>
            </a:r>
          </a:p>
        </p:txBody>
      </p:sp>
      <p:sp>
        <p:nvSpPr>
          <p:cNvPr id="5" name="Rounded Rectangle 4"/>
          <p:cNvSpPr/>
          <p:nvPr/>
        </p:nvSpPr>
        <p:spPr>
          <a:xfrm>
            <a:off x="7452360" y="109728"/>
            <a:ext cx="1536192" cy="420624"/>
          </a:xfrm>
          <a:prstGeom prst="roundRect">
            <a:avLst>
              <a:gd name="adj" fmla="val 15000"/>
            </a:avLst>
          </a:prstGeom>
          <a:solidFill>
            <a:srgbClr val="C8E6A0"/>
          </a:solidFill>
          <a:ln w="12700">
            <a:solidFill>
              <a:srgbClr val="1B7A3A"/>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spcBef>
                <a:spcPts val="0"/>
              </a:spcBef>
              <a:spcAft>
                <a:spcPts val="200"/>
              </a:spcAft>
            </a:pPr>
            <a:r>
              <a:rPr sz="1100" b="1" i="0">
                <a:solidFill>
                  <a:srgbClr val="1B7A3A"/>
                </a:solidFill>
                <a:latin typeface="Calibri"/>
              </a:rPr>
              <a:t>A2 Biology</a:t>
            </a:r>
          </a:p>
        </p:txBody>
      </p:sp>
      <p:sp>
        <p:nvSpPr>
          <p:cNvPr id="6" name="Rectangle 5"/>
          <p:cNvSpPr/>
          <p:nvPr/>
        </p:nvSpPr>
        <p:spPr>
          <a:xfrm>
            <a:off x="0" y="0"/>
            <a:ext cx="73152" cy="6858000"/>
          </a:xfrm>
          <a:prstGeom prst="rect">
            <a:avLst/>
          </a:prstGeom>
          <a:solidFill>
            <a:srgbClr val="6B2D8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3152" y="6565392"/>
            <a:ext cx="9070848" cy="36576"/>
          </a:xfrm>
          <a:prstGeom prst="rect">
            <a:avLst/>
          </a:prstGeom>
          <a:solidFill>
            <a:srgbClr val="7A3E9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228600" y="6583680"/>
            <a:ext cx="1280160" cy="256032"/>
          </a:xfrm>
          <a:prstGeom prst="rect">
            <a:avLst/>
          </a:prstGeom>
          <a:noFill/>
        </p:spPr>
        <p:txBody>
          <a:bodyPr wrap="square" anchor="t">
            <a:spAutoFit/>
          </a:bodyPr>
          <a:lstStyle/>
          <a:p>
            <a:pPr algn="l">
              <a:spcAft>
                <a:spcPts val="400"/>
              </a:spcAft>
            </a:pPr>
            <a:r>
              <a:rPr sz="1000" b="0" i="0">
                <a:solidFill>
                  <a:srgbClr val="6B2D8B"/>
                </a:solidFill>
                <a:latin typeface="Calibri"/>
              </a:rPr>
              <a:t>6 of 29</a:t>
            </a:r>
          </a:p>
        </p:txBody>
      </p:sp>
      <p:sp>
        <p:nvSpPr>
          <p:cNvPr id="9" name="TextBox 8"/>
          <p:cNvSpPr txBox="1"/>
          <p:nvPr/>
        </p:nvSpPr>
        <p:spPr>
          <a:xfrm>
            <a:off x="1554480" y="6583680"/>
            <a:ext cx="6035040" cy="256032"/>
          </a:xfrm>
          <a:prstGeom prst="rect">
            <a:avLst/>
          </a:prstGeom>
          <a:noFill/>
        </p:spPr>
        <p:txBody>
          <a:bodyPr wrap="square" anchor="t">
            <a:spAutoFit/>
          </a:bodyPr>
          <a:lstStyle/>
          <a:p>
            <a:pPr algn="ctr">
              <a:spcAft>
                <a:spcPts val="400"/>
              </a:spcAft>
            </a:pPr>
            <a:r>
              <a:rPr sz="900" b="0" i="0">
                <a:solidFill>
                  <a:srgbClr val="5A5A5A"/>
                </a:solidFill>
                <a:latin typeface="Calibri"/>
              </a:rPr>
              <a:t>Original course © Boardworks Ltd 2009. Reconstructed interactive resource.</a:t>
            </a:r>
          </a:p>
        </p:txBody>
      </p:sp>
      <p:sp>
        <p:nvSpPr>
          <p:cNvPr id="10" name="Oval 9">
            <a:hlinkClick r:id="rId3" action="ppaction://hlinksldjump"/>
          </p:cNvPr>
          <p:cNvSpPr/>
          <p:nvPr/>
        </p:nvSpPr>
        <p:spPr>
          <a:xfrm>
            <a:off x="146304" y="5760720"/>
            <a:ext cx="384048" cy="384048"/>
          </a:xfrm>
          <a:prstGeom prst="ellipse">
            <a:avLst/>
          </a:prstGeom>
          <a:solidFill>
            <a:srgbClr val="FFFFFF"/>
          </a:solidFill>
          <a:ln w="22225">
            <a:solidFill>
              <a:srgbClr val="6B2D8B"/>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spcBef>
                <a:spcPts val="0"/>
              </a:spcBef>
              <a:spcAft>
                <a:spcPts val="200"/>
              </a:spcAft>
            </a:pPr>
            <a:r>
              <a:rPr sz="1400" b="1" i="0">
                <a:solidFill>
                  <a:srgbClr val="6B2D8B"/>
                </a:solidFill>
                <a:latin typeface="Calibri"/>
              </a:rPr>
              <a:t>◀</a:t>
            </a:r>
          </a:p>
        </p:txBody>
      </p:sp>
      <p:sp>
        <p:nvSpPr>
          <p:cNvPr id="11" name="Oval 10">
            <a:hlinkClick r:id="rId6" action="ppaction://hlinksldjump"/>
          </p:cNvPr>
          <p:cNvSpPr/>
          <p:nvPr/>
        </p:nvSpPr>
        <p:spPr>
          <a:xfrm>
            <a:off x="8613648" y="5760720"/>
            <a:ext cx="384048" cy="384048"/>
          </a:xfrm>
          <a:prstGeom prst="ellipse">
            <a:avLst/>
          </a:prstGeom>
          <a:solidFill>
            <a:srgbClr val="6B2D8B"/>
          </a:solidFill>
          <a:ln w="12700">
            <a:solidFill>
              <a:srgbClr val="6B2D8B"/>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spcBef>
                <a:spcPts val="0"/>
              </a:spcBef>
              <a:spcAft>
                <a:spcPts val="200"/>
              </a:spcAft>
            </a:pPr>
            <a:r>
              <a:rPr sz="1400" b="1" i="0">
                <a:solidFill>
                  <a:srgbClr val="FFFFFF"/>
                </a:solidFill>
                <a:latin typeface="Calibri"/>
              </a:rPr>
              <a:t>▶</a:t>
            </a:r>
          </a:p>
        </p:txBody>
      </p:sp>
      <p:sp>
        <p:nvSpPr>
          <p:cNvPr id="12" name="Rectangle 11"/>
          <p:cNvSpPr/>
          <p:nvPr/>
        </p:nvSpPr>
        <p:spPr>
          <a:xfrm>
            <a:off x="201168" y="6199632"/>
            <a:ext cx="8741664" cy="329184"/>
          </a:xfrm>
          <a:prstGeom prst="rect">
            <a:avLst/>
          </a:pr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320040" y="804672"/>
            <a:ext cx="6766560" cy="347472"/>
          </a:xfrm>
          <a:prstGeom prst="rect">
            <a:avLst/>
          </a:prstGeom>
          <a:noFill/>
        </p:spPr>
        <p:txBody>
          <a:bodyPr wrap="square" anchor="t">
            <a:spAutoFit/>
          </a:bodyPr>
          <a:lstStyle/>
          <a:p>
            <a:pPr algn="l">
              <a:spcAft>
                <a:spcPts val="400"/>
              </a:spcAft>
            </a:pPr>
            <a:r>
              <a:rPr sz="1600" b="1" i="0">
                <a:solidFill>
                  <a:srgbClr val="1B3A6B"/>
                </a:solidFill>
                <a:latin typeface="Calibri"/>
              </a:rPr>
              <a:t>Step 3 of 4:  Membrane permeability</a:t>
            </a:r>
          </a:p>
        </p:txBody>
      </p:sp>
      <p:pic>
        <p:nvPicPr>
          <p:cNvPr id="14" name="Picture 13" descr="membrane_rest.png"/>
          <p:cNvPicPr>
            <a:picLocks noChangeAspect="1"/>
          </p:cNvPicPr>
          <p:nvPr/>
        </p:nvPicPr>
        <p:blipFill>
          <a:blip r:embed="rId2"/>
          <a:stretch>
            <a:fillRect/>
          </a:stretch>
        </p:blipFill>
        <p:spPr>
          <a:xfrm>
            <a:off x="274320" y="1170432"/>
            <a:ext cx="5029200" cy="2725036"/>
          </a:xfrm>
          <a:prstGeom prst="rect">
            <a:avLst/>
          </a:prstGeom>
        </p:spPr>
      </p:pic>
      <p:sp>
        <p:nvSpPr>
          <p:cNvPr id="15" name="Rounded Rectangle 14"/>
          <p:cNvSpPr/>
          <p:nvPr/>
        </p:nvSpPr>
        <p:spPr>
          <a:xfrm>
            <a:off x="5440680" y="1170432"/>
            <a:ext cx="3337560" cy="3977639"/>
          </a:xfrm>
          <a:prstGeom prst="roundRect">
            <a:avLst>
              <a:gd name="adj" fmla="val 15000"/>
            </a:avLst>
          </a:prstGeom>
          <a:solidFill>
            <a:srgbClr val="FFF6B0"/>
          </a:solidFill>
          <a:ln w="15875">
            <a:solidFill>
              <a:srgbClr val="C5B43A"/>
            </a:solidFill>
          </a:ln>
        </p:spPr>
        <p:style>
          <a:lnRef idx="1">
            <a:schemeClr val="accent1"/>
          </a:lnRef>
          <a:fillRef idx="3">
            <a:schemeClr val="accent1"/>
          </a:fillRef>
          <a:effectRef idx="2">
            <a:schemeClr val="accent1"/>
          </a:effectRef>
          <a:fontRef idx="minor">
            <a:schemeClr val="lt1"/>
          </a:fontRef>
        </p:style>
        <p:txBody>
          <a:bodyPr rtlCol="0" anchor="t" wrap="square" lIns="109728" rIns="109728" tIns="73152" bIns="73152"/>
          <a:lstStyle/>
          <a:p>
            <a:pPr algn="l">
              <a:spcBef>
                <a:spcPts val="0"/>
              </a:spcBef>
              <a:spcAft>
                <a:spcPts val="200"/>
              </a:spcAft>
            </a:pPr>
            <a:r>
              <a:rPr sz="1400" b="0" i="0">
                <a:solidFill>
                  <a:srgbClr val="1A2F5A"/>
                </a:solidFill>
                <a:latin typeface="Calibri"/>
              </a:rPr>
              <a:t>The resting membrane is much more permeable to K⁺ than to Na⁺ because of open potassium leak channels. K⁺ diffuses out, leaving behind negatively charged organic ions (proteins) that cannot leave.</a:t>
            </a:r>
          </a:p>
        </p:txBody>
      </p:sp>
      <p:sp>
        <p:nvSpPr>
          <p:cNvPr id="16" name="Rounded Rectangle 15">
            <a:hlinkClick r:id="rId3" action="ppaction://hlinksldjump"/>
          </p:cNvPr>
          <p:cNvSpPr/>
          <p:nvPr/>
        </p:nvSpPr>
        <p:spPr>
          <a:xfrm>
            <a:off x="320040" y="6217920"/>
            <a:ext cx="1371600" cy="292608"/>
          </a:xfrm>
          <a:prstGeom prst="roundRect">
            <a:avLst>
              <a:gd name="adj" fmla="val 15000"/>
            </a:avLst>
          </a:prstGeom>
          <a:solidFill>
            <a:srgbClr val="1B3A6B"/>
          </a:solidFill>
          <a:ln w="12700">
            <a:solidFill>
              <a:srgbClr val="1B3A6B"/>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spcBef>
                <a:spcPts val="0"/>
              </a:spcBef>
              <a:spcAft>
                <a:spcPts val="200"/>
              </a:spcAft>
            </a:pPr>
            <a:r>
              <a:rPr sz="1200" b="1" i="0">
                <a:solidFill>
                  <a:srgbClr val="FFFFFF"/>
                </a:solidFill>
                <a:latin typeface="Calibri"/>
              </a:rPr>
              <a:t>Previous</a:t>
            </a:r>
          </a:p>
        </p:txBody>
      </p:sp>
      <p:sp>
        <p:nvSpPr>
          <p:cNvPr id="17" name="Rounded Rectangle 16">
            <a:hlinkClick r:id="rId4" action="ppaction://hlinksldjump"/>
          </p:cNvPr>
          <p:cNvSpPr/>
          <p:nvPr/>
        </p:nvSpPr>
        <p:spPr>
          <a:xfrm>
            <a:off x="1828800" y="6217920"/>
            <a:ext cx="1234440" cy="292608"/>
          </a:xfrm>
          <a:prstGeom prst="roundRect">
            <a:avLst>
              <a:gd name="adj" fmla="val 15000"/>
            </a:avLst>
          </a:prstGeom>
          <a:solidFill>
            <a:srgbClr val="EF6C00"/>
          </a:solidFill>
          <a:ln w="12700">
            <a:solidFill>
              <a:srgbClr val="EF6C00"/>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spcBef>
                <a:spcPts val="0"/>
              </a:spcBef>
              <a:spcAft>
                <a:spcPts val="200"/>
              </a:spcAft>
            </a:pPr>
            <a:r>
              <a:rPr sz="1200" b="1" i="0">
                <a:solidFill>
                  <a:srgbClr val="FFFFFF"/>
                </a:solidFill>
                <a:latin typeface="Calibri"/>
              </a:rPr>
              <a:t>Reset</a:t>
            </a:r>
          </a:p>
        </p:txBody>
      </p:sp>
      <p:sp>
        <p:nvSpPr>
          <p:cNvPr id="18" name="Rounded Rectangle 17">
            <a:hlinkClick r:id="rId6" action="ppaction://hlinksldjump"/>
          </p:cNvPr>
          <p:cNvSpPr/>
          <p:nvPr/>
        </p:nvSpPr>
        <p:spPr>
          <a:xfrm>
            <a:off x="3200400" y="6217920"/>
            <a:ext cx="1554480" cy="292608"/>
          </a:xfrm>
          <a:prstGeom prst="roundRect">
            <a:avLst>
              <a:gd name="adj" fmla="val 15000"/>
            </a:avLst>
          </a:prstGeom>
          <a:solidFill>
            <a:srgbClr val="2E9E4F"/>
          </a:solidFill>
          <a:ln w="12700">
            <a:solidFill>
              <a:srgbClr val="2E9E4F"/>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spcBef>
                <a:spcPts val="0"/>
              </a:spcBef>
              <a:spcAft>
                <a:spcPts val="200"/>
              </a:spcAft>
            </a:pPr>
            <a:r>
              <a:rPr sz="1200" b="1" i="0">
                <a:solidFill>
                  <a:srgbClr val="FFFFFF"/>
                </a:solidFill>
                <a:latin typeface="Calibri"/>
              </a:rPr>
              <a:t>Next step</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9144000" cy="658368"/>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640080"/>
            <a:ext cx="9144000" cy="54864"/>
          </a:xfrm>
          <a:prstGeom prst="rect">
            <a:avLst/>
          </a:pr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256032" y="91440"/>
            <a:ext cx="7498079" cy="502920"/>
          </a:xfrm>
          <a:prstGeom prst="rect">
            <a:avLst/>
          </a:prstGeom>
          <a:noFill/>
        </p:spPr>
        <p:txBody>
          <a:bodyPr wrap="square" anchor="t">
            <a:spAutoFit/>
          </a:bodyPr>
          <a:lstStyle/>
          <a:p>
            <a:pPr algn="l">
              <a:spcAft>
                <a:spcPts val="400"/>
              </a:spcAft>
            </a:pPr>
            <a:r>
              <a:rPr sz="2600" b="1" i="0">
                <a:solidFill>
                  <a:srgbClr val="2E9E4F"/>
                </a:solidFill>
                <a:latin typeface="Calibri"/>
              </a:rPr>
              <a:t>What happens during the resting state?</a:t>
            </a:r>
          </a:p>
        </p:txBody>
      </p:sp>
      <p:sp>
        <p:nvSpPr>
          <p:cNvPr id="5" name="Rounded Rectangle 4"/>
          <p:cNvSpPr/>
          <p:nvPr/>
        </p:nvSpPr>
        <p:spPr>
          <a:xfrm>
            <a:off x="7452360" y="109728"/>
            <a:ext cx="1536192" cy="420624"/>
          </a:xfrm>
          <a:prstGeom prst="roundRect">
            <a:avLst>
              <a:gd name="adj" fmla="val 15000"/>
            </a:avLst>
          </a:prstGeom>
          <a:solidFill>
            <a:srgbClr val="C8E6A0"/>
          </a:solidFill>
          <a:ln w="12700">
            <a:solidFill>
              <a:srgbClr val="1B7A3A"/>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spcBef>
                <a:spcPts val="0"/>
              </a:spcBef>
              <a:spcAft>
                <a:spcPts val="200"/>
              </a:spcAft>
            </a:pPr>
            <a:r>
              <a:rPr sz="1100" b="1" i="0">
                <a:solidFill>
                  <a:srgbClr val="1B7A3A"/>
                </a:solidFill>
                <a:latin typeface="Calibri"/>
              </a:rPr>
              <a:t>A2 Biology</a:t>
            </a:r>
          </a:p>
        </p:txBody>
      </p:sp>
      <p:sp>
        <p:nvSpPr>
          <p:cNvPr id="6" name="Rectangle 5"/>
          <p:cNvSpPr/>
          <p:nvPr/>
        </p:nvSpPr>
        <p:spPr>
          <a:xfrm>
            <a:off x="0" y="0"/>
            <a:ext cx="73152" cy="6858000"/>
          </a:xfrm>
          <a:prstGeom prst="rect">
            <a:avLst/>
          </a:prstGeom>
          <a:solidFill>
            <a:srgbClr val="6B2D8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3152" y="6565392"/>
            <a:ext cx="9070848" cy="36576"/>
          </a:xfrm>
          <a:prstGeom prst="rect">
            <a:avLst/>
          </a:prstGeom>
          <a:solidFill>
            <a:srgbClr val="7A3E9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228600" y="6583680"/>
            <a:ext cx="1280160" cy="256032"/>
          </a:xfrm>
          <a:prstGeom prst="rect">
            <a:avLst/>
          </a:prstGeom>
          <a:noFill/>
        </p:spPr>
        <p:txBody>
          <a:bodyPr wrap="square" anchor="t">
            <a:spAutoFit/>
          </a:bodyPr>
          <a:lstStyle/>
          <a:p>
            <a:pPr algn="l">
              <a:spcAft>
                <a:spcPts val="400"/>
              </a:spcAft>
            </a:pPr>
            <a:r>
              <a:rPr sz="1000" b="0" i="0">
                <a:solidFill>
                  <a:srgbClr val="6B2D8B"/>
                </a:solidFill>
                <a:latin typeface="Calibri"/>
              </a:rPr>
              <a:t>7 of 29</a:t>
            </a:r>
          </a:p>
        </p:txBody>
      </p:sp>
      <p:sp>
        <p:nvSpPr>
          <p:cNvPr id="9" name="TextBox 8"/>
          <p:cNvSpPr txBox="1"/>
          <p:nvPr/>
        </p:nvSpPr>
        <p:spPr>
          <a:xfrm>
            <a:off x="1554480" y="6583680"/>
            <a:ext cx="6035040" cy="256032"/>
          </a:xfrm>
          <a:prstGeom prst="rect">
            <a:avLst/>
          </a:prstGeom>
          <a:noFill/>
        </p:spPr>
        <p:txBody>
          <a:bodyPr wrap="square" anchor="t">
            <a:spAutoFit/>
          </a:bodyPr>
          <a:lstStyle/>
          <a:p>
            <a:pPr algn="ctr">
              <a:spcAft>
                <a:spcPts val="400"/>
              </a:spcAft>
            </a:pPr>
            <a:r>
              <a:rPr sz="900" b="0" i="0">
                <a:solidFill>
                  <a:srgbClr val="5A5A5A"/>
                </a:solidFill>
                <a:latin typeface="Calibri"/>
              </a:rPr>
              <a:t>Original course © Boardworks Ltd 2009. Reconstructed interactive resource.</a:t>
            </a:r>
          </a:p>
        </p:txBody>
      </p:sp>
      <p:sp>
        <p:nvSpPr>
          <p:cNvPr id="10" name="Oval 9">
            <a:hlinkClick r:id="rId3" action="ppaction://hlinksldjump"/>
          </p:cNvPr>
          <p:cNvSpPr/>
          <p:nvPr/>
        </p:nvSpPr>
        <p:spPr>
          <a:xfrm>
            <a:off x="146304" y="5760720"/>
            <a:ext cx="384048" cy="384048"/>
          </a:xfrm>
          <a:prstGeom prst="ellipse">
            <a:avLst/>
          </a:prstGeom>
          <a:solidFill>
            <a:srgbClr val="FFFFFF"/>
          </a:solidFill>
          <a:ln w="22225">
            <a:solidFill>
              <a:srgbClr val="6B2D8B"/>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spcBef>
                <a:spcPts val="0"/>
              </a:spcBef>
              <a:spcAft>
                <a:spcPts val="200"/>
              </a:spcAft>
            </a:pPr>
            <a:r>
              <a:rPr sz="1400" b="1" i="0">
                <a:solidFill>
                  <a:srgbClr val="6B2D8B"/>
                </a:solidFill>
                <a:latin typeface="Calibri"/>
              </a:rPr>
              <a:t>◀</a:t>
            </a:r>
          </a:p>
        </p:txBody>
      </p:sp>
      <p:sp>
        <p:nvSpPr>
          <p:cNvPr id="11" name="Oval 10">
            <a:hlinkClick r:id="rId6" action="ppaction://hlinksldjump"/>
          </p:cNvPr>
          <p:cNvSpPr/>
          <p:nvPr/>
        </p:nvSpPr>
        <p:spPr>
          <a:xfrm>
            <a:off x="8613648" y="5760720"/>
            <a:ext cx="384048" cy="384048"/>
          </a:xfrm>
          <a:prstGeom prst="ellipse">
            <a:avLst/>
          </a:prstGeom>
          <a:solidFill>
            <a:srgbClr val="6B2D8B"/>
          </a:solidFill>
          <a:ln w="12700">
            <a:solidFill>
              <a:srgbClr val="6B2D8B"/>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spcBef>
                <a:spcPts val="0"/>
              </a:spcBef>
              <a:spcAft>
                <a:spcPts val="200"/>
              </a:spcAft>
            </a:pPr>
            <a:r>
              <a:rPr sz="1400" b="1" i="0">
                <a:solidFill>
                  <a:srgbClr val="FFFFFF"/>
                </a:solidFill>
                <a:latin typeface="Calibri"/>
              </a:rPr>
              <a:t>▶</a:t>
            </a:r>
          </a:p>
        </p:txBody>
      </p:sp>
      <p:sp>
        <p:nvSpPr>
          <p:cNvPr id="12" name="Rectangle 11"/>
          <p:cNvSpPr/>
          <p:nvPr/>
        </p:nvSpPr>
        <p:spPr>
          <a:xfrm>
            <a:off x="201168" y="6199632"/>
            <a:ext cx="8741664" cy="329184"/>
          </a:xfrm>
          <a:prstGeom prst="rect">
            <a:avLst/>
          </a:pr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320040" y="804672"/>
            <a:ext cx="6766560" cy="347472"/>
          </a:xfrm>
          <a:prstGeom prst="rect">
            <a:avLst/>
          </a:prstGeom>
          <a:noFill/>
        </p:spPr>
        <p:txBody>
          <a:bodyPr wrap="square" anchor="t">
            <a:spAutoFit/>
          </a:bodyPr>
          <a:lstStyle/>
          <a:p>
            <a:pPr algn="l">
              <a:spcAft>
                <a:spcPts val="400"/>
              </a:spcAft>
            </a:pPr>
            <a:r>
              <a:rPr sz="1600" b="1" i="0">
                <a:solidFill>
                  <a:srgbClr val="1B3A6B"/>
                </a:solidFill>
                <a:latin typeface="Calibri"/>
              </a:rPr>
              <a:t>Step 4 of 4:  Putting it together</a:t>
            </a:r>
          </a:p>
        </p:txBody>
      </p:sp>
      <p:pic>
        <p:nvPicPr>
          <p:cNvPr id="14" name="Picture 13" descr="resting_charges.png"/>
          <p:cNvPicPr>
            <a:picLocks noChangeAspect="1"/>
          </p:cNvPicPr>
          <p:nvPr/>
        </p:nvPicPr>
        <p:blipFill>
          <a:blip r:embed="rId2"/>
          <a:stretch>
            <a:fillRect/>
          </a:stretch>
        </p:blipFill>
        <p:spPr>
          <a:xfrm>
            <a:off x="274320" y="1170432"/>
            <a:ext cx="5029200" cy="2628163"/>
          </a:xfrm>
          <a:prstGeom prst="rect">
            <a:avLst/>
          </a:prstGeom>
        </p:spPr>
      </p:pic>
      <p:sp>
        <p:nvSpPr>
          <p:cNvPr id="15" name="Rounded Rectangle 14"/>
          <p:cNvSpPr/>
          <p:nvPr/>
        </p:nvSpPr>
        <p:spPr>
          <a:xfrm>
            <a:off x="5440680" y="1170432"/>
            <a:ext cx="3337560" cy="3977639"/>
          </a:xfrm>
          <a:prstGeom prst="roundRect">
            <a:avLst>
              <a:gd name="adj" fmla="val 15000"/>
            </a:avLst>
          </a:prstGeom>
          <a:solidFill>
            <a:srgbClr val="FFF6B0"/>
          </a:solidFill>
          <a:ln w="15875">
            <a:solidFill>
              <a:srgbClr val="C5B43A"/>
            </a:solidFill>
          </a:ln>
        </p:spPr>
        <p:style>
          <a:lnRef idx="1">
            <a:schemeClr val="accent1"/>
          </a:lnRef>
          <a:fillRef idx="3">
            <a:schemeClr val="accent1"/>
          </a:fillRef>
          <a:effectRef idx="2">
            <a:schemeClr val="accent1"/>
          </a:effectRef>
          <a:fontRef idx="minor">
            <a:schemeClr val="lt1"/>
          </a:fontRef>
        </p:style>
        <p:txBody>
          <a:bodyPr rtlCol="0" anchor="t" wrap="square" lIns="109728" rIns="109728" tIns="73152" bIns="73152"/>
          <a:lstStyle/>
          <a:p>
            <a:pPr algn="l">
              <a:spcBef>
                <a:spcPts val="0"/>
              </a:spcBef>
              <a:spcAft>
                <a:spcPts val="200"/>
              </a:spcAft>
            </a:pPr>
            <a:r>
              <a:rPr sz="1400" b="0" i="0">
                <a:solidFill>
                  <a:srgbClr val="1A2F5A"/>
                </a:solidFill>
                <a:latin typeface="Calibri"/>
              </a:rPr>
              <a:t>Pump (3 Na⁺ out, 2 K⁺ in) + K⁺ leak + trapped organic anions = polarised membrane at about –70 mV. Voltage-gated Na⁺ and K⁺ channels are closed.</a:t>
            </a:r>
          </a:p>
        </p:txBody>
      </p:sp>
      <p:sp>
        <p:nvSpPr>
          <p:cNvPr id="16" name="Rounded Rectangle 15">
            <a:hlinkClick r:id="rId3" action="ppaction://hlinksldjump"/>
          </p:cNvPr>
          <p:cNvSpPr/>
          <p:nvPr/>
        </p:nvSpPr>
        <p:spPr>
          <a:xfrm>
            <a:off x="320040" y="6217920"/>
            <a:ext cx="1371600" cy="292608"/>
          </a:xfrm>
          <a:prstGeom prst="roundRect">
            <a:avLst>
              <a:gd name="adj" fmla="val 15000"/>
            </a:avLst>
          </a:prstGeom>
          <a:solidFill>
            <a:srgbClr val="1B3A6B"/>
          </a:solidFill>
          <a:ln w="12700">
            <a:solidFill>
              <a:srgbClr val="1B3A6B"/>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spcBef>
                <a:spcPts val="0"/>
              </a:spcBef>
              <a:spcAft>
                <a:spcPts val="200"/>
              </a:spcAft>
            </a:pPr>
            <a:r>
              <a:rPr sz="1200" b="1" i="0">
                <a:solidFill>
                  <a:srgbClr val="FFFFFF"/>
                </a:solidFill>
                <a:latin typeface="Calibri"/>
              </a:rPr>
              <a:t>Previous</a:t>
            </a:r>
          </a:p>
        </p:txBody>
      </p:sp>
      <p:sp>
        <p:nvSpPr>
          <p:cNvPr id="17" name="Rounded Rectangle 16">
            <a:hlinkClick r:id="rId4" action="ppaction://hlinksldjump"/>
          </p:cNvPr>
          <p:cNvSpPr/>
          <p:nvPr/>
        </p:nvSpPr>
        <p:spPr>
          <a:xfrm>
            <a:off x="1828800" y="6217920"/>
            <a:ext cx="1234440" cy="292608"/>
          </a:xfrm>
          <a:prstGeom prst="roundRect">
            <a:avLst>
              <a:gd name="adj" fmla="val 15000"/>
            </a:avLst>
          </a:prstGeom>
          <a:solidFill>
            <a:srgbClr val="EF6C00"/>
          </a:solidFill>
          <a:ln w="12700">
            <a:solidFill>
              <a:srgbClr val="EF6C00"/>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spcBef>
                <a:spcPts val="0"/>
              </a:spcBef>
              <a:spcAft>
                <a:spcPts val="200"/>
              </a:spcAft>
            </a:pPr>
            <a:r>
              <a:rPr sz="1200" b="1" i="0">
                <a:solidFill>
                  <a:srgbClr val="FFFFFF"/>
                </a:solidFill>
                <a:latin typeface="Calibri"/>
              </a:rPr>
              <a:t>Reset</a:t>
            </a:r>
          </a:p>
        </p:txBody>
      </p:sp>
      <p:sp>
        <p:nvSpPr>
          <p:cNvPr id="18" name="Rounded Rectangle 17">
            <a:hlinkClick r:id="rId6" action="ppaction://hlinksldjump"/>
          </p:cNvPr>
          <p:cNvSpPr/>
          <p:nvPr/>
        </p:nvSpPr>
        <p:spPr>
          <a:xfrm>
            <a:off x="3200400" y="6217920"/>
            <a:ext cx="1554480" cy="292608"/>
          </a:xfrm>
          <a:prstGeom prst="roundRect">
            <a:avLst>
              <a:gd name="adj" fmla="val 15000"/>
            </a:avLst>
          </a:prstGeom>
          <a:solidFill>
            <a:srgbClr val="2E9E4F"/>
          </a:solidFill>
          <a:ln w="12700">
            <a:solidFill>
              <a:srgbClr val="2E9E4F"/>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spcBef>
                <a:spcPts val="0"/>
              </a:spcBef>
              <a:spcAft>
                <a:spcPts val="200"/>
              </a:spcAft>
            </a:pPr>
            <a:r>
              <a:rPr sz="1200" b="1" i="0">
                <a:solidFill>
                  <a:srgbClr val="FFFFFF"/>
                </a:solidFill>
                <a:latin typeface="Calibri"/>
              </a:rPr>
              <a:t>Continue</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9144000" cy="658368"/>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640080"/>
            <a:ext cx="9144000" cy="54864"/>
          </a:xfrm>
          <a:prstGeom prst="rect">
            <a:avLst/>
          </a:pr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256032" y="91440"/>
            <a:ext cx="7498079" cy="502920"/>
          </a:xfrm>
          <a:prstGeom prst="rect">
            <a:avLst/>
          </a:prstGeom>
          <a:noFill/>
        </p:spPr>
        <p:txBody>
          <a:bodyPr wrap="square" anchor="t">
            <a:spAutoFit/>
          </a:bodyPr>
          <a:lstStyle/>
          <a:p>
            <a:pPr algn="l">
              <a:spcAft>
                <a:spcPts val="400"/>
              </a:spcAft>
            </a:pPr>
            <a:r>
              <a:rPr sz="2600" b="1" i="0">
                <a:solidFill>
                  <a:srgbClr val="2E9E4F"/>
                </a:solidFill>
                <a:latin typeface="Calibri"/>
              </a:rPr>
              <a:t>Understanding resting potential</a:t>
            </a:r>
          </a:p>
        </p:txBody>
      </p:sp>
      <p:sp>
        <p:nvSpPr>
          <p:cNvPr id="5" name="Rounded Rectangle 4"/>
          <p:cNvSpPr/>
          <p:nvPr/>
        </p:nvSpPr>
        <p:spPr>
          <a:xfrm>
            <a:off x="7452360" y="109728"/>
            <a:ext cx="1536192" cy="420624"/>
          </a:xfrm>
          <a:prstGeom prst="roundRect">
            <a:avLst>
              <a:gd name="adj" fmla="val 15000"/>
            </a:avLst>
          </a:prstGeom>
          <a:solidFill>
            <a:srgbClr val="C8E6A0"/>
          </a:solidFill>
          <a:ln w="12700">
            <a:solidFill>
              <a:srgbClr val="1B7A3A"/>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spcBef>
                <a:spcPts val="0"/>
              </a:spcBef>
              <a:spcAft>
                <a:spcPts val="200"/>
              </a:spcAft>
            </a:pPr>
            <a:r>
              <a:rPr sz="1100" b="1" i="0">
                <a:solidFill>
                  <a:srgbClr val="1B7A3A"/>
                </a:solidFill>
                <a:latin typeface="Calibri"/>
              </a:rPr>
              <a:t>A2 Biology</a:t>
            </a:r>
          </a:p>
        </p:txBody>
      </p:sp>
      <p:sp>
        <p:nvSpPr>
          <p:cNvPr id="6" name="Rectangle 5"/>
          <p:cNvSpPr/>
          <p:nvPr/>
        </p:nvSpPr>
        <p:spPr>
          <a:xfrm>
            <a:off x="0" y="0"/>
            <a:ext cx="73152" cy="6858000"/>
          </a:xfrm>
          <a:prstGeom prst="rect">
            <a:avLst/>
          </a:prstGeom>
          <a:solidFill>
            <a:srgbClr val="6B2D8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3152" y="6565392"/>
            <a:ext cx="9070848" cy="36576"/>
          </a:xfrm>
          <a:prstGeom prst="rect">
            <a:avLst/>
          </a:prstGeom>
          <a:solidFill>
            <a:srgbClr val="7A3E9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228600" y="6583680"/>
            <a:ext cx="1280160" cy="256032"/>
          </a:xfrm>
          <a:prstGeom prst="rect">
            <a:avLst/>
          </a:prstGeom>
          <a:noFill/>
        </p:spPr>
        <p:txBody>
          <a:bodyPr wrap="square" anchor="t">
            <a:spAutoFit/>
          </a:bodyPr>
          <a:lstStyle/>
          <a:p>
            <a:pPr algn="l">
              <a:spcAft>
                <a:spcPts val="400"/>
              </a:spcAft>
            </a:pPr>
            <a:r>
              <a:rPr sz="1000" b="0" i="0">
                <a:solidFill>
                  <a:srgbClr val="6B2D8B"/>
                </a:solidFill>
                <a:latin typeface="Calibri"/>
              </a:rPr>
              <a:t>8 of 29</a:t>
            </a:r>
          </a:p>
        </p:txBody>
      </p:sp>
      <p:sp>
        <p:nvSpPr>
          <p:cNvPr id="9" name="TextBox 8"/>
          <p:cNvSpPr txBox="1"/>
          <p:nvPr/>
        </p:nvSpPr>
        <p:spPr>
          <a:xfrm>
            <a:off x="1554480" y="6583680"/>
            <a:ext cx="6035040" cy="256032"/>
          </a:xfrm>
          <a:prstGeom prst="rect">
            <a:avLst/>
          </a:prstGeom>
          <a:noFill/>
        </p:spPr>
        <p:txBody>
          <a:bodyPr wrap="square" anchor="t">
            <a:spAutoFit/>
          </a:bodyPr>
          <a:lstStyle/>
          <a:p>
            <a:pPr algn="ctr">
              <a:spcAft>
                <a:spcPts val="400"/>
              </a:spcAft>
            </a:pPr>
            <a:r>
              <a:rPr sz="900" b="0" i="0">
                <a:solidFill>
                  <a:srgbClr val="5A5A5A"/>
                </a:solidFill>
                <a:latin typeface="Calibri"/>
              </a:rPr>
              <a:t>Original course © Boardworks Ltd 2009. Reconstructed interactive resource.</a:t>
            </a:r>
          </a:p>
        </p:txBody>
      </p:sp>
      <p:sp>
        <p:nvSpPr>
          <p:cNvPr id="10" name="Oval 9">
            <a:hlinkClick r:id="rId9" action="ppaction://hlinksldjump"/>
          </p:cNvPr>
          <p:cNvSpPr/>
          <p:nvPr/>
        </p:nvSpPr>
        <p:spPr>
          <a:xfrm>
            <a:off x="146304" y="5760720"/>
            <a:ext cx="384048" cy="384048"/>
          </a:xfrm>
          <a:prstGeom prst="ellipse">
            <a:avLst/>
          </a:prstGeom>
          <a:solidFill>
            <a:srgbClr val="FFFFFF"/>
          </a:solidFill>
          <a:ln w="22225">
            <a:solidFill>
              <a:srgbClr val="6B2D8B"/>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spcBef>
                <a:spcPts val="0"/>
              </a:spcBef>
              <a:spcAft>
                <a:spcPts val="200"/>
              </a:spcAft>
            </a:pPr>
            <a:r>
              <a:rPr sz="1400" b="1" i="0">
                <a:solidFill>
                  <a:srgbClr val="6B2D8B"/>
                </a:solidFill>
                <a:latin typeface="Calibri"/>
              </a:rPr>
              <a:t>◀</a:t>
            </a:r>
          </a:p>
        </p:txBody>
      </p:sp>
      <p:sp>
        <p:nvSpPr>
          <p:cNvPr id="11" name="Oval 10">
            <a:hlinkClick r:id="rId10" action="ppaction://hlinksldjump"/>
          </p:cNvPr>
          <p:cNvSpPr/>
          <p:nvPr/>
        </p:nvSpPr>
        <p:spPr>
          <a:xfrm>
            <a:off x="8613648" y="5760720"/>
            <a:ext cx="384048" cy="384048"/>
          </a:xfrm>
          <a:prstGeom prst="ellipse">
            <a:avLst/>
          </a:prstGeom>
          <a:solidFill>
            <a:srgbClr val="6B2D8B"/>
          </a:solidFill>
          <a:ln w="12700">
            <a:solidFill>
              <a:srgbClr val="6B2D8B"/>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spcBef>
                <a:spcPts val="0"/>
              </a:spcBef>
              <a:spcAft>
                <a:spcPts val="200"/>
              </a:spcAft>
            </a:pPr>
            <a:r>
              <a:rPr sz="1400" b="1" i="0">
                <a:solidFill>
                  <a:srgbClr val="FFFFFF"/>
                </a:solidFill>
                <a:latin typeface="Calibri"/>
              </a:rPr>
              <a:t>▶</a:t>
            </a:r>
          </a:p>
        </p:txBody>
      </p:sp>
      <p:sp>
        <p:nvSpPr>
          <p:cNvPr id="12" name="TextBox 11"/>
          <p:cNvSpPr txBox="1"/>
          <p:nvPr/>
        </p:nvSpPr>
        <p:spPr>
          <a:xfrm>
            <a:off x="320040" y="822960"/>
            <a:ext cx="8503920" cy="365760"/>
          </a:xfrm>
          <a:prstGeom prst="rect">
            <a:avLst/>
          </a:prstGeom>
          <a:noFill/>
        </p:spPr>
        <p:txBody>
          <a:bodyPr wrap="square" anchor="t">
            <a:spAutoFit/>
          </a:bodyPr>
          <a:lstStyle/>
          <a:p>
            <a:pPr algn="l">
              <a:spcAft>
                <a:spcPts val="400"/>
              </a:spcAft>
            </a:pPr>
            <a:r>
              <a:rPr sz="1600" b="0" i="0">
                <a:solidFill>
                  <a:srgbClr val="1B3A6B"/>
                </a:solidFill>
                <a:latin typeface="Calibri"/>
              </a:rPr>
              <a:t>What happens during resting potential? Choose the correct ending for each sentence.</a:t>
            </a:r>
          </a:p>
        </p:txBody>
      </p:sp>
      <p:sp>
        <p:nvSpPr>
          <p:cNvPr id="13" name="Rounded Rectangle 12">
            <a:hlinkClick r:id="rId3" action="ppaction://hlinksldjump"/>
          </p:cNvPr>
          <p:cNvSpPr/>
          <p:nvPr/>
        </p:nvSpPr>
        <p:spPr>
          <a:xfrm>
            <a:off x="502920" y="1325880"/>
            <a:ext cx="8138160" cy="658368"/>
          </a:xfrm>
          <a:prstGeom prst="roundRect">
            <a:avLst>
              <a:gd name="adj" fmla="val 15000"/>
            </a:avLst>
          </a:prstGeom>
          <a:solidFill>
            <a:srgbClr val="FFF6B0"/>
          </a:solidFill>
          <a:ln w="12700">
            <a:solidFill>
              <a:srgbClr val="1B7A3A"/>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spcBef>
                <a:spcPts val="0"/>
              </a:spcBef>
              <a:spcAft>
                <a:spcPts val="200"/>
              </a:spcAft>
            </a:pPr>
            <a:r>
              <a:rPr sz="1600" b="1" i="0">
                <a:solidFill>
                  <a:srgbClr val="1B3A6B"/>
                </a:solidFill>
                <a:latin typeface="Calibri"/>
              </a:rPr>
              <a:t>The potential difference across the axon is  …</a:t>
            </a:r>
          </a:p>
        </p:txBody>
      </p:sp>
      <p:sp>
        <p:nvSpPr>
          <p:cNvPr id="14" name="Rounded Rectangle 13">
            <a:hlinkClick r:id="rId4" action="ppaction://hlinksldjump"/>
          </p:cNvPr>
          <p:cNvSpPr/>
          <p:nvPr/>
        </p:nvSpPr>
        <p:spPr>
          <a:xfrm>
            <a:off x="502920" y="2103120"/>
            <a:ext cx="8138160" cy="658368"/>
          </a:xfrm>
          <a:prstGeom prst="roundRect">
            <a:avLst>
              <a:gd name="adj" fmla="val 15000"/>
            </a:avLst>
          </a:prstGeom>
          <a:solidFill>
            <a:srgbClr val="FFF6B0"/>
          </a:solidFill>
          <a:ln w="12700">
            <a:solidFill>
              <a:srgbClr val="1B7A3A"/>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spcBef>
                <a:spcPts val="0"/>
              </a:spcBef>
              <a:spcAft>
                <a:spcPts val="200"/>
              </a:spcAft>
            </a:pPr>
            <a:r>
              <a:rPr sz="1600" b="1" i="0">
                <a:solidFill>
                  <a:srgbClr val="1B3A6B"/>
                </a:solidFill>
                <a:latin typeface="Calibri"/>
              </a:rPr>
              <a:t>During this state the axon is  …</a:t>
            </a:r>
          </a:p>
        </p:txBody>
      </p:sp>
      <p:sp>
        <p:nvSpPr>
          <p:cNvPr id="15" name="Rounded Rectangle 14">
            <a:hlinkClick r:id="rId5" action="ppaction://hlinksldjump"/>
          </p:cNvPr>
          <p:cNvSpPr/>
          <p:nvPr/>
        </p:nvSpPr>
        <p:spPr>
          <a:xfrm>
            <a:off x="502920" y="2880360"/>
            <a:ext cx="8138160" cy="658368"/>
          </a:xfrm>
          <a:prstGeom prst="roundRect">
            <a:avLst>
              <a:gd name="adj" fmla="val 15000"/>
            </a:avLst>
          </a:prstGeom>
          <a:solidFill>
            <a:srgbClr val="FFF6B0"/>
          </a:solidFill>
          <a:ln w="12700">
            <a:solidFill>
              <a:srgbClr val="1B7A3A"/>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spcBef>
                <a:spcPts val="0"/>
              </a:spcBef>
              <a:spcAft>
                <a:spcPts val="200"/>
              </a:spcAft>
            </a:pPr>
            <a:r>
              <a:rPr sz="1600" b="1" i="0">
                <a:solidFill>
                  <a:srgbClr val="1B3A6B"/>
                </a:solidFill>
                <a:latin typeface="Calibri"/>
              </a:rPr>
              <a:t>The inside of the axon is  …</a:t>
            </a:r>
          </a:p>
        </p:txBody>
      </p:sp>
      <p:sp>
        <p:nvSpPr>
          <p:cNvPr id="16" name="Rounded Rectangle 15">
            <a:hlinkClick r:id="rId6" action="ppaction://hlinksldjump"/>
          </p:cNvPr>
          <p:cNvSpPr/>
          <p:nvPr/>
        </p:nvSpPr>
        <p:spPr>
          <a:xfrm>
            <a:off x="502920" y="3657600"/>
            <a:ext cx="8138160" cy="658368"/>
          </a:xfrm>
          <a:prstGeom prst="roundRect">
            <a:avLst>
              <a:gd name="adj" fmla="val 15000"/>
            </a:avLst>
          </a:prstGeom>
          <a:solidFill>
            <a:srgbClr val="FFF6B0"/>
          </a:solidFill>
          <a:ln w="12700">
            <a:solidFill>
              <a:srgbClr val="1B7A3A"/>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spcBef>
                <a:spcPts val="0"/>
              </a:spcBef>
              <a:spcAft>
                <a:spcPts val="200"/>
              </a:spcAft>
            </a:pPr>
            <a:r>
              <a:rPr sz="1600" b="1" i="0">
                <a:solidFill>
                  <a:srgbClr val="1B3A6B"/>
                </a:solidFill>
                <a:latin typeface="Calibri"/>
              </a:rPr>
              <a:t>The sodium–potassium pump moves  …</a:t>
            </a:r>
          </a:p>
        </p:txBody>
      </p:sp>
      <p:sp>
        <p:nvSpPr>
          <p:cNvPr id="17" name="Rounded Rectangle 16">
            <a:hlinkClick r:id="rId7" action="ppaction://hlinksldjump"/>
          </p:cNvPr>
          <p:cNvSpPr/>
          <p:nvPr/>
        </p:nvSpPr>
        <p:spPr>
          <a:xfrm>
            <a:off x="502920" y="4434840"/>
            <a:ext cx="8138160" cy="658368"/>
          </a:xfrm>
          <a:prstGeom prst="roundRect">
            <a:avLst>
              <a:gd name="adj" fmla="val 15000"/>
            </a:avLst>
          </a:prstGeom>
          <a:solidFill>
            <a:srgbClr val="FFF6B0"/>
          </a:solidFill>
          <a:ln w="12700">
            <a:solidFill>
              <a:srgbClr val="1B7A3A"/>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spcBef>
                <a:spcPts val="0"/>
              </a:spcBef>
              <a:spcAft>
                <a:spcPts val="200"/>
              </a:spcAft>
            </a:pPr>
            <a:r>
              <a:rPr sz="1600" b="1" i="0">
                <a:solidFill>
                  <a:srgbClr val="1B3A6B"/>
                </a:solidFill>
                <a:latin typeface="Calibri"/>
              </a:rPr>
              <a:t>The axon membrane is more permeable to  …</a:t>
            </a:r>
          </a:p>
        </p:txBody>
      </p:sp>
      <p:sp>
        <p:nvSpPr>
          <p:cNvPr id="18" name="Rounded Rectangle 17">
            <a:hlinkClick r:id="rId8" action="ppaction://hlinksldjump"/>
          </p:cNvPr>
          <p:cNvSpPr/>
          <p:nvPr/>
        </p:nvSpPr>
        <p:spPr>
          <a:xfrm>
            <a:off x="3108960" y="5486400"/>
            <a:ext cx="2926080" cy="384048"/>
          </a:xfrm>
          <a:prstGeom prst="roundRect">
            <a:avLst>
              <a:gd name="adj" fmla="val 15000"/>
            </a:avLst>
          </a:prstGeom>
          <a:solidFill>
            <a:srgbClr val="1B7A3A"/>
          </a:solidFill>
          <a:ln w="12700">
            <a:solidFill>
              <a:srgbClr val="1B7A3A"/>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spcBef>
                <a:spcPts val="0"/>
              </a:spcBef>
              <a:spcAft>
                <a:spcPts val="200"/>
              </a:spcAft>
            </a:pPr>
            <a:r>
              <a:rPr sz="1400" b="1" i="0">
                <a:solidFill>
                  <a:srgbClr val="FFFFFF"/>
                </a:solidFill>
                <a:latin typeface="Calibri"/>
              </a:rPr>
              <a:t>Show all answers</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show="0">
  <p:cSld>
    <p:spTree>
      <p:nvGrpSpPr>
        <p:cNvPr id="1" name=""/>
        <p:cNvGrpSpPr/>
        <p:nvPr/>
      </p:nvGrpSpPr>
      <p:grpSpPr/>
      <p:sp>
        <p:nvSpPr>
          <p:cNvPr id="2" name="Rectangle 1"/>
          <p:cNvSpPr/>
          <p:nvPr/>
        </p:nvSpPr>
        <p:spPr>
          <a:xfrm>
            <a:off x="0" y="0"/>
            <a:ext cx="9144000" cy="658368"/>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640080"/>
            <a:ext cx="9144000" cy="54864"/>
          </a:xfrm>
          <a:prstGeom prst="rect">
            <a:avLst/>
          </a:pr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256032" y="91440"/>
            <a:ext cx="7498079" cy="502920"/>
          </a:xfrm>
          <a:prstGeom prst="rect">
            <a:avLst/>
          </a:prstGeom>
          <a:noFill/>
        </p:spPr>
        <p:txBody>
          <a:bodyPr wrap="square" anchor="t">
            <a:spAutoFit/>
          </a:bodyPr>
          <a:lstStyle/>
          <a:p>
            <a:pPr algn="l">
              <a:spcAft>
                <a:spcPts val="400"/>
              </a:spcAft>
            </a:pPr>
            <a:r>
              <a:rPr sz="2600" b="1" i="0">
                <a:solidFill>
                  <a:srgbClr val="2E9E4F"/>
                </a:solidFill>
                <a:latin typeface="Calibri"/>
              </a:rPr>
              <a:t>Understanding resting potential</a:t>
            </a:r>
          </a:p>
        </p:txBody>
      </p:sp>
      <p:sp>
        <p:nvSpPr>
          <p:cNvPr id="5" name="Rounded Rectangle 4"/>
          <p:cNvSpPr/>
          <p:nvPr/>
        </p:nvSpPr>
        <p:spPr>
          <a:xfrm>
            <a:off x="7452360" y="109728"/>
            <a:ext cx="1536192" cy="420624"/>
          </a:xfrm>
          <a:prstGeom prst="roundRect">
            <a:avLst>
              <a:gd name="adj" fmla="val 15000"/>
            </a:avLst>
          </a:prstGeom>
          <a:solidFill>
            <a:srgbClr val="C8E6A0"/>
          </a:solidFill>
          <a:ln w="12700">
            <a:solidFill>
              <a:srgbClr val="1B7A3A"/>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spcBef>
                <a:spcPts val="0"/>
              </a:spcBef>
              <a:spcAft>
                <a:spcPts val="200"/>
              </a:spcAft>
            </a:pPr>
            <a:r>
              <a:rPr sz="1100" b="1" i="0">
                <a:solidFill>
                  <a:srgbClr val="1B7A3A"/>
                </a:solidFill>
                <a:latin typeface="Calibri"/>
              </a:rPr>
              <a:t>A2 Biology</a:t>
            </a:r>
          </a:p>
        </p:txBody>
      </p:sp>
      <p:sp>
        <p:nvSpPr>
          <p:cNvPr id="6" name="Rectangle 5"/>
          <p:cNvSpPr/>
          <p:nvPr/>
        </p:nvSpPr>
        <p:spPr>
          <a:xfrm>
            <a:off x="0" y="0"/>
            <a:ext cx="73152" cy="6858000"/>
          </a:xfrm>
          <a:prstGeom prst="rect">
            <a:avLst/>
          </a:prstGeom>
          <a:solidFill>
            <a:srgbClr val="6B2D8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3152" y="6565392"/>
            <a:ext cx="9070848" cy="36576"/>
          </a:xfrm>
          <a:prstGeom prst="rect">
            <a:avLst/>
          </a:prstGeom>
          <a:solidFill>
            <a:srgbClr val="7A3E9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228600" y="6583680"/>
            <a:ext cx="1280160" cy="256032"/>
          </a:xfrm>
          <a:prstGeom prst="rect">
            <a:avLst/>
          </a:prstGeom>
          <a:noFill/>
        </p:spPr>
        <p:txBody>
          <a:bodyPr wrap="square" anchor="t">
            <a:spAutoFit/>
          </a:bodyPr>
          <a:lstStyle/>
          <a:p>
            <a:pPr algn="l">
              <a:spcAft>
                <a:spcPts val="400"/>
              </a:spcAft>
            </a:pPr>
            <a:r>
              <a:rPr sz="1000" b="0" i="0">
                <a:solidFill>
                  <a:srgbClr val="6B2D8B"/>
                </a:solidFill>
                <a:latin typeface="Calibri"/>
              </a:rPr>
              <a:t>activity</a:t>
            </a:r>
          </a:p>
        </p:txBody>
      </p:sp>
      <p:sp>
        <p:nvSpPr>
          <p:cNvPr id="9" name="TextBox 8"/>
          <p:cNvSpPr txBox="1"/>
          <p:nvPr/>
        </p:nvSpPr>
        <p:spPr>
          <a:xfrm>
            <a:off x="1554480" y="6583680"/>
            <a:ext cx="6035040" cy="256032"/>
          </a:xfrm>
          <a:prstGeom prst="rect">
            <a:avLst/>
          </a:prstGeom>
          <a:noFill/>
        </p:spPr>
        <p:txBody>
          <a:bodyPr wrap="square" anchor="t">
            <a:spAutoFit/>
          </a:bodyPr>
          <a:lstStyle/>
          <a:p>
            <a:pPr algn="ctr">
              <a:spcAft>
                <a:spcPts val="400"/>
              </a:spcAft>
            </a:pPr>
            <a:r>
              <a:rPr sz="900" b="0" i="0">
                <a:solidFill>
                  <a:srgbClr val="5A5A5A"/>
                </a:solidFill>
                <a:latin typeface="Calibri"/>
              </a:rPr>
              <a:t>Original course © Boardworks Ltd 2009. Reconstructed interactive resource.</a:t>
            </a:r>
          </a:p>
        </p:txBody>
      </p:sp>
      <p:sp>
        <p:nvSpPr>
          <p:cNvPr id="10" name="TextBox 9"/>
          <p:cNvSpPr txBox="1"/>
          <p:nvPr/>
        </p:nvSpPr>
        <p:spPr>
          <a:xfrm>
            <a:off x="457200" y="1005840"/>
            <a:ext cx="8229600" cy="640080"/>
          </a:xfrm>
          <a:prstGeom prst="rect">
            <a:avLst/>
          </a:prstGeom>
          <a:noFill/>
        </p:spPr>
        <p:txBody>
          <a:bodyPr wrap="square" anchor="t">
            <a:spAutoFit/>
          </a:bodyPr>
          <a:lstStyle/>
          <a:p>
            <a:pPr algn="ctr">
              <a:spcAft>
                <a:spcPts val="400"/>
              </a:spcAft>
            </a:pPr>
            <a:r>
              <a:rPr sz="1800" b="1" i="0">
                <a:solidFill>
                  <a:srgbClr val="1B3A6B"/>
                </a:solidFill>
                <a:latin typeface="Calibri"/>
              </a:rPr>
              <a:t>The potential difference across the axon is …</a:t>
            </a:r>
          </a:p>
        </p:txBody>
      </p:sp>
      <p:sp>
        <p:nvSpPr>
          <p:cNvPr id="11" name="Rounded Rectangle 10">
            <a:hlinkClick r:id="rId2" action="ppaction://hlinksldjump"/>
          </p:cNvPr>
          <p:cNvSpPr/>
          <p:nvPr/>
        </p:nvSpPr>
        <p:spPr>
          <a:xfrm>
            <a:off x="1188720" y="1828800"/>
            <a:ext cx="6766560" cy="640080"/>
          </a:xfrm>
          <a:prstGeom prst="roundRect">
            <a:avLst>
              <a:gd name="adj" fmla="val 15000"/>
            </a:avLst>
          </a:prstGeom>
          <a:solidFill>
            <a:srgbClr val="E3F2FD"/>
          </a:solidFill>
          <a:ln w="12700">
            <a:solidFill>
              <a:srgbClr val="1B3A6B"/>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spcBef>
                <a:spcPts val="0"/>
              </a:spcBef>
              <a:spcAft>
                <a:spcPts val="200"/>
              </a:spcAft>
            </a:pPr>
            <a:r>
              <a:rPr sz="1500" b="1" i="0">
                <a:solidFill>
                  <a:srgbClr val="1B3A6B"/>
                </a:solidFill>
                <a:latin typeface="Calibri"/>
              </a:rPr>
              <a:t>-70 mV</a:t>
            </a:r>
          </a:p>
        </p:txBody>
      </p:sp>
      <p:sp>
        <p:nvSpPr>
          <p:cNvPr id="12" name="Rounded Rectangle 11">
            <a:hlinkClick r:id="rId3" action="ppaction://hlinksldjump"/>
          </p:cNvPr>
          <p:cNvSpPr/>
          <p:nvPr/>
        </p:nvSpPr>
        <p:spPr>
          <a:xfrm>
            <a:off x="1188720" y="2606040"/>
            <a:ext cx="6766560" cy="640080"/>
          </a:xfrm>
          <a:prstGeom prst="roundRect">
            <a:avLst>
              <a:gd name="adj" fmla="val 15000"/>
            </a:avLst>
          </a:prstGeom>
          <a:solidFill>
            <a:srgbClr val="E3F2FD"/>
          </a:solidFill>
          <a:ln w="12700">
            <a:solidFill>
              <a:srgbClr val="1B3A6B"/>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spcBef>
                <a:spcPts val="0"/>
              </a:spcBef>
              <a:spcAft>
                <a:spcPts val="200"/>
              </a:spcAft>
            </a:pPr>
            <a:r>
              <a:rPr sz="1500" b="1" i="0">
                <a:solidFill>
                  <a:srgbClr val="1B3A6B"/>
                </a:solidFill>
                <a:latin typeface="Calibri"/>
              </a:rPr>
              <a:t>0 mV</a:t>
            </a:r>
          </a:p>
        </p:txBody>
      </p:sp>
      <p:sp>
        <p:nvSpPr>
          <p:cNvPr id="13" name="Rounded Rectangle 12">
            <a:hlinkClick r:id="rId4" action="ppaction://hlinksldjump"/>
          </p:cNvPr>
          <p:cNvSpPr/>
          <p:nvPr/>
        </p:nvSpPr>
        <p:spPr>
          <a:xfrm>
            <a:off x="1188720" y="3383280"/>
            <a:ext cx="6766560" cy="640080"/>
          </a:xfrm>
          <a:prstGeom prst="roundRect">
            <a:avLst>
              <a:gd name="adj" fmla="val 15000"/>
            </a:avLst>
          </a:prstGeom>
          <a:solidFill>
            <a:srgbClr val="E3F2FD"/>
          </a:solidFill>
          <a:ln w="12700">
            <a:solidFill>
              <a:srgbClr val="1B3A6B"/>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spcBef>
                <a:spcPts val="0"/>
              </a:spcBef>
              <a:spcAft>
                <a:spcPts val="200"/>
              </a:spcAft>
            </a:pPr>
            <a:r>
              <a:rPr sz="1500" b="1" i="0">
                <a:solidFill>
                  <a:srgbClr val="1B3A6B"/>
                </a:solidFill>
                <a:latin typeface="Calibri"/>
              </a:rPr>
              <a:t>+35 mV</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show="0">
  <p:cSld>
    <p:spTree>
      <p:nvGrpSpPr>
        <p:cNvPr id="1" name=""/>
        <p:cNvGrpSpPr/>
        <p:nvPr/>
      </p:nvGrpSpPr>
      <p:grpSpPr/>
      <p:sp>
        <p:nvSpPr>
          <p:cNvPr id="2" name="Rectangle 1"/>
          <p:cNvSpPr/>
          <p:nvPr/>
        </p:nvSpPr>
        <p:spPr>
          <a:xfrm>
            <a:off x="0" y="0"/>
            <a:ext cx="9144000" cy="658368"/>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640080"/>
            <a:ext cx="9144000" cy="54864"/>
          </a:xfrm>
          <a:prstGeom prst="rect">
            <a:avLst/>
          </a:pr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256032" y="91440"/>
            <a:ext cx="7498079" cy="502920"/>
          </a:xfrm>
          <a:prstGeom prst="rect">
            <a:avLst/>
          </a:prstGeom>
          <a:noFill/>
        </p:spPr>
        <p:txBody>
          <a:bodyPr wrap="square" anchor="t">
            <a:spAutoFit/>
          </a:bodyPr>
          <a:lstStyle/>
          <a:p>
            <a:pPr algn="l">
              <a:spcAft>
                <a:spcPts val="400"/>
              </a:spcAft>
            </a:pPr>
            <a:r>
              <a:rPr sz="2600" b="1" i="0">
                <a:solidFill>
                  <a:srgbClr val="2E9E4F"/>
                </a:solidFill>
                <a:latin typeface="Calibri"/>
              </a:rPr>
              <a:t>Understanding resting potential</a:t>
            </a:r>
          </a:p>
        </p:txBody>
      </p:sp>
      <p:sp>
        <p:nvSpPr>
          <p:cNvPr id="5" name="Rounded Rectangle 4"/>
          <p:cNvSpPr/>
          <p:nvPr/>
        </p:nvSpPr>
        <p:spPr>
          <a:xfrm>
            <a:off x="7452360" y="109728"/>
            <a:ext cx="1536192" cy="420624"/>
          </a:xfrm>
          <a:prstGeom prst="roundRect">
            <a:avLst>
              <a:gd name="adj" fmla="val 15000"/>
            </a:avLst>
          </a:prstGeom>
          <a:solidFill>
            <a:srgbClr val="C8E6A0"/>
          </a:solidFill>
          <a:ln w="12700">
            <a:solidFill>
              <a:srgbClr val="1B7A3A"/>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spcBef>
                <a:spcPts val="0"/>
              </a:spcBef>
              <a:spcAft>
                <a:spcPts val="200"/>
              </a:spcAft>
            </a:pPr>
            <a:r>
              <a:rPr sz="1100" b="1" i="0">
                <a:solidFill>
                  <a:srgbClr val="1B7A3A"/>
                </a:solidFill>
                <a:latin typeface="Calibri"/>
              </a:rPr>
              <a:t>A2 Biology</a:t>
            </a:r>
          </a:p>
        </p:txBody>
      </p:sp>
      <p:sp>
        <p:nvSpPr>
          <p:cNvPr id="6" name="Rectangle 5"/>
          <p:cNvSpPr/>
          <p:nvPr/>
        </p:nvSpPr>
        <p:spPr>
          <a:xfrm>
            <a:off x="0" y="0"/>
            <a:ext cx="73152" cy="6858000"/>
          </a:xfrm>
          <a:prstGeom prst="rect">
            <a:avLst/>
          </a:prstGeom>
          <a:solidFill>
            <a:srgbClr val="6B2D8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3152" y="6565392"/>
            <a:ext cx="9070848" cy="36576"/>
          </a:xfrm>
          <a:prstGeom prst="rect">
            <a:avLst/>
          </a:prstGeom>
          <a:solidFill>
            <a:srgbClr val="7A3E9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228600" y="6583680"/>
            <a:ext cx="1280160" cy="256032"/>
          </a:xfrm>
          <a:prstGeom prst="rect">
            <a:avLst/>
          </a:prstGeom>
          <a:noFill/>
        </p:spPr>
        <p:txBody>
          <a:bodyPr wrap="square" anchor="t">
            <a:spAutoFit/>
          </a:bodyPr>
          <a:lstStyle/>
          <a:p>
            <a:pPr algn="l">
              <a:spcAft>
                <a:spcPts val="400"/>
              </a:spcAft>
            </a:pPr>
            <a:r>
              <a:rPr sz="1000" b="0" i="0">
                <a:solidFill>
                  <a:srgbClr val="6B2D8B"/>
                </a:solidFill>
                <a:latin typeface="Calibri"/>
              </a:rPr>
              <a:t>activity</a:t>
            </a:r>
          </a:p>
        </p:txBody>
      </p:sp>
      <p:sp>
        <p:nvSpPr>
          <p:cNvPr id="9" name="TextBox 8"/>
          <p:cNvSpPr txBox="1"/>
          <p:nvPr/>
        </p:nvSpPr>
        <p:spPr>
          <a:xfrm>
            <a:off x="1554480" y="6583680"/>
            <a:ext cx="6035040" cy="256032"/>
          </a:xfrm>
          <a:prstGeom prst="rect">
            <a:avLst/>
          </a:prstGeom>
          <a:noFill/>
        </p:spPr>
        <p:txBody>
          <a:bodyPr wrap="square" anchor="t">
            <a:spAutoFit/>
          </a:bodyPr>
          <a:lstStyle/>
          <a:p>
            <a:pPr algn="ctr">
              <a:spcAft>
                <a:spcPts val="400"/>
              </a:spcAft>
            </a:pPr>
            <a:r>
              <a:rPr sz="900" b="0" i="0">
                <a:solidFill>
                  <a:srgbClr val="5A5A5A"/>
                </a:solidFill>
                <a:latin typeface="Calibri"/>
              </a:rPr>
              <a:t>Original course © Boardworks Ltd 2009. Reconstructed interactive resource.</a:t>
            </a:r>
          </a:p>
        </p:txBody>
      </p:sp>
      <p:sp>
        <p:nvSpPr>
          <p:cNvPr id="10" name="TextBox 9"/>
          <p:cNvSpPr txBox="1"/>
          <p:nvPr/>
        </p:nvSpPr>
        <p:spPr>
          <a:xfrm>
            <a:off x="457200" y="1005840"/>
            <a:ext cx="8229600" cy="640080"/>
          </a:xfrm>
          <a:prstGeom prst="rect">
            <a:avLst/>
          </a:prstGeom>
          <a:noFill/>
        </p:spPr>
        <p:txBody>
          <a:bodyPr wrap="square" anchor="t">
            <a:spAutoFit/>
          </a:bodyPr>
          <a:lstStyle/>
          <a:p>
            <a:pPr algn="ctr">
              <a:spcAft>
                <a:spcPts val="400"/>
              </a:spcAft>
            </a:pPr>
            <a:r>
              <a:rPr sz="1800" b="1" i="0">
                <a:solidFill>
                  <a:srgbClr val="1B3A6B"/>
                </a:solidFill>
                <a:latin typeface="Calibri"/>
              </a:rPr>
              <a:t>During this state the axon is …</a:t>
            </a:r>
          </a:p>
        </p:txBody>
      </p:sp>
      <p:sp>
        <p:nvSpPr>
          <p:cNvPr id="11" name="Rounded Rectangle 10">
            <a:hlinkClick r:id="rId2" action="ppaction://hlinksldjump"/>
          </p:cNvPr>
          <p:cNvSpPr/>
          <p:nvPr/>
        </p:nvSpPr>
        <p:spPr>
          <a:xfrm>
            <a:off x="1188720" y="1828800"/>
            <a:ext cx="6766560" cy="640080"/>
          </a:xfrm>
          <a:prstGeom prst="roundRect">
            <a:avLst>
              <a:gd name="adj" fmla="val 15000"/>
            </a:avLst>
          </a:prstGeom>
          <a:solidFill>
            <a:srgbClr val="E3F2FD"/>
          </a:solidFill>
          <a:ln w="12700">
            <a:solidFill>
              <a:srgbClr val="1B3A6B"/>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spcBef>
                <a:spcPts val="0"/>
              </a:spcBef>
              <a:spcAft>
                <a:spcPts val="200"/>
              </a:spcAft>
            </a:pPr>
            <a:r>
              <a:rPr sz="1500" b="1" i="0">
                <a:solidFill>
                  <a:srgbClr val="1B3A6B"/>
                </a:solidFill>
                <a:latin typeface="Calibri"/>
              </a:rPr>
              <a:t>polarised</a:t>
            </a:r>
          </a:p>
        </p:txBody>
      </p:sp>
      <p:sp>
        <p:nvSpPr>
          <p:cNvPr id="12" name="Rounded Rectangle 11">
            <a:hlinkClick r:id="rId3" action="ppaction://hlinksldjump"/>
          </p:cNvPr>
          <p:cNvSpPr/>
          <p:nvPr/>
        </p:nvSpPr>
        <p:spPr>
          <a:xfrm>
            <a:off x="1188720" y="2606040"/>
            <a:ext cx="6766560" cy="640080"/>
          </a:xfrm>
          <a:prstGeom prst="roundRect">
            <a:avLst>
              <a:gd name="adj" fmla="val 15000"/>
            </a:avLst>
          </a:prstGeom>
          <a:solidFill>
            <a:srgbClr val="E3F2FD"/>
          </a:solidFill>
          <a:ln w="12700">
            <a:solidFill>
              <a:srgbClr val="1B3A6B"/>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spcBef>
                <a:spcPts val="0"/>
              </a:spcBef>
              <a:spcAft>
                <a:spcPts val="200"/>
              </a:spcAft>
            </a:pPr>
            <a:r>
              <a:rPr sz="1500" b="1" i="0">
                <a:solidFill>
                  <a:srgbClr val="1B3A6B"/>
                </a:solidFill>
                <a:latin typeface="Calibri"/>
              </a:rPr>
              <a:t>depolarised</a:t>
            </a:r>
          </a:p>
        </p:txBody>
      </p:sp>
      <p:sp>
        <p:nvSpPr>
          <p:cNvPr id="13" name="Rounded Rectangle 12">
            <a:hlinkClick r:id="rId4" action="ppaction://hlinksldjump"/>
          </p:cNvPr>
          <p:cNvSpPr/>
          <p:nvPr/>
        </p:nvSpPr>
        <p:spPr>
          <a:xfrm>
            <a:off x="1188720" y="3383280"/>
            <a:ext cx="6766560" cy="640080"/>
          </a:xfrm>
          <a:prstGeom prst="roundRect">
            <a:avLst>
              <a:gd name="adj" fmla="val 15000"/>
            </a:avLst>
          </a:prstGeom>
          <a:solidFill>
            <a:srgbClr val="E3F2FD"/>
          </a:solidFill>
          <a:ln w="12700">
            <a:solidFill>
              <a:srgbClr val="1B3A6B"/>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spcBef>
                <a:spcPts val="0"/>
              </a:spcBef>
              <a:spcAft>
                <a:spcPts val="200"/>
              </a:spcAft>
            </a:pPr>
            <a:r>
              <a:rPr sz="1500" b="1" i="0">
                <a:solidFill>
                  <a:srgbClr val="1B3A6B"/>
                </a:solidFill>
                <a:latin typeface="Calibri"/>
              </a:rPr>
              <a:t>at threshold</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show="0">
  <p:cSld>
    <p:spTree>
      <p:nvGrpSpPr>
        <p:cNvPr id="1" name=""/>
        <p:cNvGrpSpPr/>
        <p:nvPr/>
      </p:nvGrpSpPr>
      <p:grpSpPr/>
      <p:sp>
        <p:nvSpPr>
          <p:cNvPr id="2" name="Rectangle 1"/>
          <p:cNvSpPr/>
          <p:nvPr/>
        </p:nvSpPr>
        <p:spPr>
          <a:xfrm>
            <a:off x="0" y="0"/>
            <a:ext cx="9144000" cy="658368"/>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640080"/>
            <a:ext cx="9144000" cy="54864"/>
          </a:xfrm>
          <a:prstGeom prst="rect">
            <a:avLst/>
          </a:pr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256032" y="91440"/>
            <a:ext cx="7498079" cy="502920"/>
          </a:xfrm>
          <a:prstGeom prst="rect">
            <a:avLst/>
          </a:prstGeom>
          <a:noFill/>
        </p:spPr>
        <p:txBody>
          <a:bodyPr wrap="square" anchor="t">
            <a:spAutoFit/>
          </a:bodyPr>
          <a:lstStyle/>
          <a:p>
            <a:pPr algn="l">
              <a:spcAft>
                <a:spcPts val="400"/>
              </a:spcAft>
            </a:pPr>
            <a:r>
              <a:rPr sz="2600" b="1" i="0">
                <a:solidFill>
                  <a:srgbClr val="2E9E4F"/>
                </a:solidFill>
                <a:latin typeface="Calibri"/>
              </a:rPr>
              <a:t>Understanding resting potential</a:t>
            </a:r>
          </a:p>
        </p:txBody>
      </p:sp>
      <p:sp>
        <p:nvSpPr>
          <p:cNvPr id="5" name="Rounded Rectangle 4"/>
          <p:cNvSpPr/>
          <p:nvPr/>
        </p:nvSpPr>
        <p:spPr>
          <a:xfrm>
            <a:off x="7452360" y="109728"/>
            <a:ext cx="1536192" cy="420624"/>
          </a:xfrm>
          <a:prstGeom prst="roundRect">
            <a:avLst>
              <a:gd name="adj" fmla="val 15000"/>
            </a:avLst>
          </a:prstGeom>
          <a:solidFill>
            <a:srgbClr val="C8E6A0"/>
          </a:solidFill>
          <a:ln w="12700">
            <a:solidFill>
              <a:srgbClr val="1B7A3A"/>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spcBef>
                <a:spcPts val="0"/>
              </a:spcBef>
              <a:spcAft>
                <a:spcPts val="200"/>
              </a:spcAft>
            </a:pPr>
            <a:r>
              <a:rPr sz="1100" b="1" i="0">
                <a:solidFill>
                  <a:srgbClr val="1B7A3A"/>
                </a:solidFill>
                <a:latin typeface="Calibri"/>
              </a:rPr>
              <a:t>A2 Biology</a:t>
            </a:r>
          </a:p>
        </p:txBody>
      </p:sp>
      <p:sp>
        <p:nvSpPr>
          <p:cNvPr id="6" name="Rectangle 5"/>
          <p:cNvSpPr/>
          <p:nvPr/>
        </p:nvSpPr>
        <p:spPr>
          <a:xfrm>
            <a:off x="0" y="0"/>
            <a:ext cx="73152" cy="6858000"/>
          </a:xfrm>
          <a:prstGeom prst="rect">
            <a:avLst/>
          </a:prstGeom>
          <a:solidFill>
            <a:srgbClr val="6B2D8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3152" y="6565392"/>
            <a:ext cx="9070848" cy="36576"/>
          </a:xfrm>
          <a:prstGeom prst="rect">
            <a:avLst/>
          </a:prstGeom>
          <a:solidFill>
            <a:srgbClr val="7A3E9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228600" y="6583680"/>
            <a:ext cx="1280160" cy="256032"/>
          </a:xfrm>
          <a:prstGeom prst="rect">
            <a:avLst/>
          </a:prstGeom>
          <a:noFill/>
        </p:spPr>
        <p:txBody>
          <a:bodyPr wrap="square" anchor="t">
            <a:spAutoFit/>
          </a:bodyPr>
          <a:lstStyle/>
          <a:p>
            <a:pPr algn="l">
              <a:spcAft>
                <a:spcPts val="400"/>
              </a:spcAft>
            </a:pPr>
            <a:r>
              <a:rPr sz="1000" b="0" i="0">
                <a:solidFill>
                  <a:srgbClr val="6B2D8B"/>
                </a:solidFill>
                <a:latin typeface="Calibri"/>
              </a:rPr>
              <a:t>activity</a:t>
            </a:r>
          </a:p>
        </p:txBody>
      </p:sp>
      <p:sp>
        <p:nvSpPr>
          <p:cNvPr id="9" name="TextBox 8"/>
          <p:cNvSpPr txBox="1"/>
          <p:nvPr/>
        </p:nvSpPr>
        <p:spPr>
          <a:xfrm>
            <a:off x="1554480" y="6583680"/>
            <a:ext cx="6035040" cy="256032"/>
          </a:xfrm>
          <a:prstGeom prst="rect">
            <a:avLst/>
          </a:prstGeom>
          <a:noFill/>
        </p:spPr>
        <p:txBody>
          <a:bodyPr wrap="square" anchor="t">
            <a:spAutoFit/>
          </a:bodyPr>
          <a:lstStyle/>
          <a:p>
            <a:pPr algn="ctr">
              <a:spcAft>
                <a:spcPts val="400"/>
              </a:spcAft>
            </a:pPr>
            <a:r>
              <a:rPr sz="900" b="0" i="0">
                <a:solidFill>
                  <a:srgbClr val="5A5A5A"/>
                </a:solidFill>
                <a:latin typeface="Calibri"/>
              </a:rPr>
              <a:t>Original course © Boardworks Ltd 2009. Reconstructed interactive resource.</a:t>
            </a:r>
          </a:p>
        </p:txBody>
      </p:sp>
      <p:sp>
        <p:nvSpPr>
          <p:cNvPr id="10" name="TextBox 9"/>
          <p:cNvSpPr txBox="1"/>
          <p:nvPr/>
        </p:nvSpPr>
        <p:spPr>
          <a:xfrm>
            <a:off x="457200" y="1005840"/>
            <a:ext cx="8229600" cy="640080"/>
          </a:xfrm>
          <a:prstGeom prst="rect">
            <a:avLst/>
          </a:prstGeom>
          <a:noFill/>
        </p:spPr>
        <p:txBody>
          <a:bodyPr wrap="square" anchor="t">
            <a:spAutoFit/>
          </a:bodyPr>
          <a:lstStyle/>
          <a:p>
            <a:pPr algn="ctr">
              <a:spcAft>
                <a:spcPts val="400"/>
              </a:spcAft>
            </a:pPr>
            <a:r>
              <a:rPr sz="1800" b="1" i="0">
                <a:solidFill>
                  <a:srgbClr val="1B3A6B"/>
                </a:solidFill>
                <a:latin typeface="Calibri"/>
              </a:rPr>
              <a:t>The inside of the axon is …</a:t>
            </a:r>
          </a:p>
        </p:txBody>
      </p:sp>
      <p:sp>
        <p:nvSpPr>
          <p:cNvPr id="11" name="Rounded Rectangle 10">
            <a:hlinkClick r:id="rId2" action="ppaction://hlinksldjump"/>
          </p:cNvPr>
          <p:cNvSpPr/>
          <p:nvPr/>
        </p:nvSpPr>
        <p:spPr>
          <a:xfrm>
            <a:off x="1188720" y="1828800"/>
            <a:ext cx="6766560" cy="640080"/>
          </a:xfrm>
          <a:prstGeom prst="roundRect">
            <a:avLst>
              <a:gd name="adj" fmla="val 15000"/>
            </a:avLst>
          </a:prstGeom>
          <a:solidFill>
            <a:srgbClr val="E3F2FD"/>
          </a:solidFill>
          <a:ln w="12700">
            <a:solidFill>
              <a:srgbClr val="1B3A6B"/>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spcBef>
                <a:spcPts val="0"/>
              </a:spcBef>
              <a:spcAft>
                <a:spcPts val="200"/>
              </a:spcAft>
            </a:pPr>
            <a:r>
              <a:rPr sz="1500" b="1" i="0">
                <a:solidFill>
                  <a:srgbClr val="1B3A6B"/>
                </a:solidFill>
                <a:latin typeface="Calibri"/>
              </a:rPr>
              <a:t>negative compared with the outside</a:t>
            </a:r>
          </a:p>
        </p:txBody>
      </p:sp>
      <p:sp>
        <p:nvSpPr>
          <p:cNvPr id="12" name="Rounded Rectangle 11">
            <a:hlinkClick r:id="rId3" action="ppaction://hlinksldjump"/>
          </p:cNvPr>
          <p:cNvSpPr/>
          <p:nvPr/>
        </p:nvSpPr>
        <p:spPr>
          <a:xfrm>
            <a:off x="1188720" y="2606040"/>
            <a:ext cx="6766560" cy="640080"/>
          </a:xfrm>
          <a:prstGeom prst="roundRect">
            <a:avLst>
              <a:gd name="adj" fmla="val 15000"/>
            </a:avLst>
          </a:prstGeom>
          <a:solidFill>
            <a:srgbClr val="E3F2FD"/>
          </a:solidFill>
          <a:ln w="12700">
            <a:solidFill>
              <a:srgbClr val="1B3A6B"/>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spcBef>
                <a:spcPts val="0"/>
              </a:spcBef>
              <a:spcAft>
                <a:spcPts val="200"/>
              </a:spcAft>
            </a:pPr>
            <a:r>
              <a:rPr sz="1500" b="1" i="0">
                <a:solidFill>
                  <a:srgbClr val="1B3A6B"/>
                </a:solidFill>
                <a:latin typeface="Calibri"/>
              </a:rPr>
              <a:t>positive compared with the outside</a:t>
            </a:r>
          </a:p>
        </p:txBody>
      </p:sp>
      <p:sp>
        <p:nvSpPr>
          <p:cNvPr id="13" name="Rounded Rectangle 12">
            <a:hlinkClick r:id="rId4" action="ppaction://hlinksldjump"/>
          </p:cNvPr>
          <p:cNvSpPr/>
          <p:nvPr/>
        </p:nvSpPr>
        <p:spPr>
          <a:xfrm>
            <a:off x="1188720" y="3383280"/>
            <a:ext cx="6766560" cy="640080"/>
          </a:xfrm>
          <a:prstGeom prst="roundRect">
            <a:avLst>
              <a:gd name="adj" fmla="val 15000"/>
            </a:avLst>
          </a:prstGeom>
          <a:solidFill>
            <a:srgbClr val="E3F2FD"/>
          </a:solidFill>
          <a:ln w="12700">
            <a:solidFill>
              <a:srgbClr val="1B3A6B"/>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spcBef>
                <a:spcPts val="0"/>
              </a:spcBef>
              <a:spcAft>
                <a:spcPts val="200"/>
              </a:spcAft>
            </a:pPr>
            <a:r>
              <a:rPr sz="1500" b="1" i="0">
                <a:solidFill>
                  <a:srgbClr val="1B3A6B"/>
                </a:solidFill>
                <a:latin typeface="Calibri"/>
              </a:rPr>
              <a:t>at the same charge as the outside</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show="0">
  <p:cSld>
    <p:spTree>
      <p:nvGrpSpPr>
        <p:cNvPr id="1" name=""/>
        <p:cNvGrpSpPr/>
        <p:nvPr/>
      </p:nvGrpSpPr>
      <p:grpSpPr/>
      <p:sp>
        <p:nvSpPr>
          <p:cNvPr id="2" name="Rectangle 1"/>
          <p:cNvSpPr/>
          <p:nvPr/>
        </p:nvSpPr>
        <p:spPr>
          <a:xfrm>
            <a:off x="0" y="0"/>
            <a:ext cx="9144000" cy="658368"/>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640080"/>
            <a:ext cx="9144000" cy="54864"/>
          </a:xfrm>
          <a:prstGeom prst="rect">
            <a:avLst/>
          </a:pr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256032" y="91440"/>
            <a:ext cx="7498079" cy="502920"/>
          </a:xfrm>
          <a:prstGeom prst="rect">
            <a:avLst/>
          </a:prstGeom>
          <a:noFill/>
        </p:spPr>
        <p:txBody>
          <a:bodyPr wrap="square" anchor="t">
            <a:spAutoFit/>
          </a:bodyPr>
          <a:lstStyle/>
          <a:p>
            <a:pPr algn="l">
              <a:spcAft>
                <a:spcPts val="400"/>
              </a:spcAft>
            </a:pPr>
            <a:r>
              <a:rPr sz="2600" b="1" i="0">
                <a:solidFill>
                  <a:srgbClr val="2E9E4F"/>
                </a:solidFill>
                <a:latin typeface="Calibri"/>
              </a:rPr>
              <a:t>Understanding resting potential</a:t>
            </a:r>
          </a:p>
        </p:txBody>
      </p:sp>
      <p:sp>
        <p:nvSpPr>
          <p:cNvPr id="5" name="Rounded Rectangle 4"/>
          <p:cNvSpPr/>
          <p:nvPr/>
        </p:nvSpPr>
        <p:spPr>
          <a:xfrm>
            <a:off x="7452360" y="109728"/>
            <a:ext cx="1536192" cy="420624"/>
          </a:xfrm>
          <a:prstGeom prst="roundRect">
            <a:avLst>
              <a:gd name="adj" fmla="val 15000"/>
            </a:avLst>
          </a:prstGeom>
          <a:solidFill>
            <a:srgbClr val="C8E6A0"/>
          </a:solidFill>
          <a:ln w="12700">
            <a:solidFill>
              <a:srgbClr val="1B7A3A"/>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spcBef>
                <a:spcPts val="0"/>
              </a:spcBef>
              <a:spcAft>
                <a:spcPts val="200"/>
              </a:spcAft>
            </a:pPr>
            <a:r>
              <a:rPr sz="1100" b="1" i="0">
                <a:solidFill>
                  <a:srgbClr val="1B7A3A"/>
                </a:solidFill>
                <a:latin typeface="Calibri"/>
              </a:rPr>
              <a:t>A2 Biology</a:t>
            </a:r>
          </a:p>
        </p:txBody>
      </p:sp>
      <p:sp>
        <p:nvSpPr>
          <p:cNvPr id="6" name="Rectangle 5"/>
          <p:cNvSpPr/>
          <p:nvPr/>
        </p:nvSpPr>
        <p:spPr>
          <a:xfrm>
            <a:off x="0" y="0"/>
            <a:ext cx="73152" cy="6858000"/>
          </a:xfrm>
          <a:prstGeom prst="rect">
            <a:avLst/>
          </a:prstGeom>
          <a:solidFill>
            <a:srgbClr val="6B2D8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3152" y="6565392"/>
            <a:ext cx="9070848" cy="36576"/>
          </a:xfrm>
          <a:prstGeom prst="rect">
            <a:avLst/>
          </a:prstGeom>
          <a:solidFill>
            <a:srgbClr val="7A3E9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228600" y="6583680"/>
            <a:ext cx="1280160" cy="256032"/>
          </a:xfrm>
          <a:prstGeom prst="rect">
            <a:avLst/>
          </a:prstGeom>
          <a:noFill/>
        </p:spPr>
        <p:txBody>
          <a:bodyPr wrap="square" anchor="t">
            <a:spAutoFit/>
          </a:bodyPr>
          <a:lstStyle/>
          <a:p>
            <a:pPr algn="l">
              <a:spcAft>
                <a:spcPts val="400"/>
              </a:spcAft>
            </a:pPr>
            <a:r>
              <a:rPr sz="1000" b="0" i="0">
                <a:solidFill>
                  <a:srgbClr val="6B2D8B"/>
                </a:solidFill>
                <a:latin typeface="Calibri"/>
              </a:rPr>
              <a:t>activity</a:t>
            </a:r>
          </a:p>
        </p:txBody>
      </p:sp>
      <p:sp>
        <p:nvSpPr>
          <p:cNvPr id="9" name="TextBox 8"/>
          <p:cNvSpPr txBox="1"/>
          <p:nvPr/>
        </p:nvSpPr>
        <p:spPr>
          <a:xfrm>
            <a:off x="1554480" y="6583680"/>
            <a:ext cx="6035040" cy="256032"/>
          </a:xfrm>
          <a:prstGeom prst="rect">
            <a:avLst/>
          </a:prstGeom>
          <a:noFill/>
        </p:spPr>
        <p:txBody>
          <a:bodyPr wrap="square" anchor="t">
            <a:spAutoFit/>
          </a:bodyPr>
          <a:lstStyle/>
          <a:p>
            <a:pPr algn="ctr">
              <a:spcAft>
                <a:spcPts val="400"/>
              </a:spcAft>
            </a:pPr>
            <a:r>
              <a:rPr sz="900" b="0" i="0">
                <a:solidFill>
                  <a:srgbClr val="5A5A5A"/>
                </a:solidFill>
                <a:latin typeface="Calibri"/>
              </a:rPr>
              <a:t>Original course © Boardworks Ltd 2009. Reconstructed interactive resource.</a:t>
            </a:r>
          </a:p>
        </p:txBody>
      </p:sp>
      <p:sp>
        <p:nvSpPr>
          <p:cNvPr id="10" name="TextBox 9"/>
          <p:cNvSpPr txBox="1"/>
          <p:nvPr/>
        </p:nvSpPr>
        <p:spPr>
          <a:xfrm>
            <a:off x="457200" y="1005840"/>
            <a:ext cx="8229600" cy="640080"/>
          </a:xfrm>
          <a:prstGeom prst="rect">
            <a:avLst/>
          </a:prstGeom>
          <a:noFill/>
        </p:spPr>
        <p:txBody>
          <a:bodyPr wrap="square" anchor="t">
            <a:spAutoFit/>
          </a:bodyPr>
          <a:lstStyle/>
          <a:p>
            <a:pPr algn="ctr">
              <a:spcAft>
                <a:spcPts val="400"/>
              </a:spcAft>
            </a:pPr>
            <a:r>
              <a:rPr sz="1800" b="1" i="0">
                <a:solidFill>
                  <a:srgbClr val="1B3A6B"/>
                </a:solidFill>
                <a:latin typeface="Calibri"/>
              </a:rPr>
              <a:t>The sodium–potassium pump moves …</a:t>
            </a:r>
          </a:p>
        </p:txBody>
      </p:sp>
      <p:sp>
        <p:nvSpPr>
          <p:cNvPr id="11" name="Rounded Rectangle 10">
            <a:hlinkClick r:id="rId2" action="ppaction://hlinksldjump"/>
          </p:cNvPr>
          <p:cNvSpPr/>
          <p:nvPr/>
        </p:nvSpPr>
        <p:spPr>
          <a:xfrm>
            <a:off x="1188720" y="1828800"/>
            <a:ext cx="6766560" cy="640080"/>
          </a:xfrm>
          <a:prstGeom prst="roundRect">
            <a:avLst>
              <a:gd name="adj" fmla="val 15000"/>
            </a:avLst>
          </a:prstGeom>
          <a:solidFill>
            <a:srgbClr val="E3F2FD"/>
          </a:solidFill>
          <a:ln w="12700">
            <a:solidFill>
              <a:srgbClr val="1B3A6B"/>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spcBef>
                <a:spcPts val="0"/>
              </a:spcBef>
              <a:spcAft>
                <a:spcPts val="200"/>
              </a:spcAft>
            </a:pPr>
            <a:r>
              <a:rPr sz="1500" b="1" i="0">
                <a:solidFill>
                  <a:srgbClr val="1B3A6B"/>
                </a:solidFill>
                <a:latin typeface="Calibri"/>
              </a:rPr>
              <a:t>an unequal number of ions (3 Na⁺ out, 2 K⁺ in)</a:t>
            </a:r>
          </a:p>
        </p:txBody>
      </p:sp>
      <p:sp>
        <p:nvSpPr>
          <p:cNvPr id="12" name="Rounded Rectangle 11">
            <a:hlinkClick r:id="rId3" action="ppaction://hlinksldjump"/>
          </p:cNvPr>
          <p:cNvSpPr/>
          <p:nvPr/>
        </p:nvSpPr>
        <p:spPr>
          <a:xfrm>
            <a:off x="1188720" y="2606040"/>
            <a:ext cx="6766560" cy="640080"/>
          </a:xfrm>
          <a:prstGeom prst="roundRect">
            <a:avLst>
              <a:gd name="adj" fmla="val 15000"/>
            </a:avLst>
          </a:prstGeom>
          <a:solidFill>
            <a:srgbClr val="E3F2FD"/>
          </a:solidFill>
          <a:ln w="12700">
            <a:solidFill>
              <a:srgbClr val="1B3A6B"/>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spcBef>
                <a:spcPts val="0"/>
              </a:spcBef>
              <a:spcAft>
                <a:spcPts val="200"/>
              </a:spcAft>
            </a:pPr>
            <a:r>
              <a:rPr sz="1500" b="1" i="0">
                <a:solidFill>
                  <a:srgbClr val="1B3A6B"/>
                </a:solidFill>
                <a:latin typeface="Calibri"/>
              </a:rPr>
              <a:t>equal numbers of Na⁺ and K⁺</a:t>
            </a:r>
          </a:p>
        </p:txBody>
      </p:sp>
      <p:sp>
        <p:nvSpPr>
          <p:cNvPr id="13" name="Rounded Rectangle 12">
            <a:hlinkClick r:id="rId4" action="ppaction://hlinksldjump"/>
          </p:cNvPr>
          <p:cNvSpPr/>
          <p:nvPr/>
        </p:nvSpPr>
        <p:spPr>
          <a:xfrm>
            <a:off x="1188720" y="3383280"/>
            <a:ext cx="6766560" cy="640080"/>
          </a:xfrm>
          <a:prstGeom prst="roundRect">
            <a:avLst>
              <a:gd name="adj" fmla="val 15000"/>
            </a:avLst>
          </a:prstGeom>
          <a:solidFill>
            <a:srgbClr val="E3F2FD"/>
          </a:solidFill>
          <a:ln w="12700">
            <a:solidFill>
              <a:srgbClr val="1B3A6B"/>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spcBef>
                <a:spcPts val="0"/>
              </a:spcBef>
              <a:spcAft>
                <a:spcPts val="200"/>
              </a:spcAft>
            </a:pPr>
            <a:r>
              <a:rPr sz="1500" b="1" i="0">
                <a:solidFill>
                  <a:srgbClr val="1B3A6B"/>
                </a:solidFill>
                <a:latin typeface="Calibri"/>
              </a:rPr>
              <a:t>only sodium ions</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show="0">
  <p:cSld>
    <p:spTree>
      <p:nvGrpSpPr>
        <p:cNvPr id="1" name=""/>
        <p:cNvGrpSpPr/>
        <p:nvPr/>
      </p:nvGrpSpPr>
      <p:grpSpPr/>
      <p:sp>
        <p:nvSpPr>
          <p:cNvPr id="2" name="Rectangle 1"/>
          <p:cNvSpPr/>
          <p:nvPr/>
        </p:nvSpPr>
        <p:spPr>
          <a:xfrm>
            <a:off x="0" y="0"/>
            <a:ext cx="9144000" cy="658368"/>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640080"/>
            <a:ext cx="9144000" cy="54864"/>
          </a:xfrm>
          <a:prstGeom prst="rect">
            <a:avLst/>
          </a:pr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256032" y="91440"/>
            <a:ext cx="7498079" cy="502920"/>
          </a:xfrm>
          <a:prstGeom prst="rect">
            <a:avLst/>
          </a:prstGeom>
          <a:noFill/>
        </p:spPr>
        <p:txBody>
          <a:bodyPr wrap="square" anchor="t">
            <a:spAutoFit/>
          </a:bodyPr>
          <a:lstStyle/>
          <a:p>
            <a:pPr algn="l">
              <a:spcAft>
                <a:spcPts val="400"/>
              </a:spcAft>
            </a:pPr>
            <a:r>
              <a:rPr sz="2600" b="1" i="0">
                <a:solidFill>
                  <a:srgbClr val="2E9E4F"/>
                </a:solidFill>
                <a:latin typeface="Calibri"/>
              </a:rPr>
              <a:t>Understanding resting potential</a:t>
            </a:r>
          </a:p>
        </p:txBody>
      </p:sp>
      <p:sp>
        <p:nvSpPr>
          <p:cNvPr id="5" name="Rounded Rectangle 4"/>
          <p:cNvSpPr/>
          <p:nvPr/>
        </p:nvSpPr>
        <p:spPr>
          <a:xfrm>
            <a:off x="7452360" y="109728"/>
            <a:ext cx="1536192" cy="420624"/>
          </a:xfrm>
          <a:prstGeom prst="roundRect">
            <a:avLst>
              <a:gd name="adj" fmla="val 15000"/>
            </a:avLst>
          </a:prstGeom>
          <a:solidFill>
            <a:srgbClr val="C8E6A0"/>
          </a:solidFill>
          <a:ln w="12700">
            <a:solidFill>
              <a:srgbClr val="1B7A3A"/>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spcBef>
                <a:spcPts val="0"/>
              </a:spcBef>
              <a:spcAft>
                <a:spcPts val="200"/>
              </a:spcAft>
            </a:pPr>
            <a:r>
              <a:rPr sz="1100" b="1" i="0">
                <a:solidFill>
                  <a:srgbClr val="1B7A3A"/>
                </a:solidFill>
                <a:latin typeface="Calibri"/>
              </a:rPr>
              <a:t>A2 Biology</a:t>
            </a:r>
          </a:p>
        </p:txBody>
      </p:sp>
      <p:sp>
        <p:nvSpPr>
          <p:cNvPr id="6" name="Rectangle 5"/>
          <p:cNvSpPr/>
          <p:nvPr/>
        </p:nvSpPr>
        <p:spPr>
          <a:xfrm>
            <a:off x="0" y="0"/>
            <a:ext cx="73152" cy="6858000"/>
          </a:xfrm>
          <a:prstGeom prst="rect">
            <a:avLst/>
          </a:prstGeom>
          <a:solidFill>
            <a:srgbClr val="6B2D8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3152" y="6565392"/>
            <a:ext cx="9070848" cy="36576"/>
          </a:xfrm>
          <a:prstGeom prst="rect">
            <a:avLst/>
          </a:prstGeom>
          <a:solidFill>
            <a:srgbClr val="7A3E9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228600" y="6583680"/>
            <a:ext cx="1280160" cy="256032"/>
          </a:xfrm>
          <a:prstGeom prst="rect">
            <a:avLst/>
          </a:prstGeom>
          <a:noFill/>
        </p:spPr>
        <p:txBody>
          <a:bodyPr wrap="square" anchor="t">
            <a:spAutoFit/>
          </a:bodyPr>
          <a:lstStyle/>
          <a:p>
            <a:pPr algn="l">
              <a:spcAft>
                <a:spcPts val="400"/>
              </a:spcAft>
            </a:pPr>
            <a:r>
              <a:rPr sz="1000" b="0" i="0">
                <a:solidFill>
                  <a:srgbClr val="6B2D8B"/>
                </a:solidFill>
                <a:latin typeface="Calibri"/>
              </a:rPr>
              <a:t>activity</a:t>
            </a:r>
          </a:p>
        </p:txBody>
      </p:sp>
      <p:sp>
        <p:nvSpPr>
          <p:cNvPr id="9" name="TextBox 8"/>
          <p:cNvSpPr txBox="1"/>
          <p:nvPr/>
        </p:nvSpPr>
        <p:spPr>
          <a:xfrm>
            <a:off x="1554480" y="6583680"/>
            <a:ext cx="6035040" cy="256032"/>
          </a:xfrm>
          <a:prstGeom prst="rect">
            <a:avLst/>
          </a:prstGeom>
          <a:noFill/>
        </p:spPr>
        <p:txBody>
          <a:bodyPr wrap="square" anchor="t">
            <a:spAutoFit/>
          </a:bodyPr>
          <a:lstStyle/>
          <a:p>
            <a:pPr algn="ctr">
              <a:spcAft>
                <a:spcPts val="400"/>
              </a:spcAft>
            </a:pPr>
            <a:r>
              <a:rPr sz="900" b="0" i="0">
                <a:solidFill>
                  <a:srgbClr val="5A5A5A"/>
                </a:solidFill>
                <a:latin typeface="Calibri"/>
              </a:rPr>
              <a:t>Original course © Boardworks Ltd 2009. Reconstructed interactive resource.</a:t>
            </a:r>
          </a:p>
        </p:txBody>
      </p:sp>
      <p:sp>
        <p:nvSpPr>
          <p:cNvPr id="10" name="TextBox 9"/>
          <p:cNvSpPr txBox="1"/>
          <p:nvPr/>
        </p:nvSpPr>
        <p:spPr>
          <a:xfrm>
            <a:off x="457200" y="1005840"/>
            <a:ext cx="8229600" cy="640080"/>
          </a:xfrm>
          <a:prstGeom prst="rect">
            <a:avLst/>
          </a:prstGeom>
          <a:noFill/>
        </p:spPr>
        <p:txBody>
          <a:bodyPr wrap="square" anchor="t">
            <a:spAutoFit/>
          </a:bodyPr>
          <a:lstStyle/>
          <a:p>
            <a:pPr algn="ctr">
              <a:spcAft>
                <a:spcPts val="400"/>
              </a:spcAft>
            </a:pPr>
            <a:r>
              <a:rPr sz="1800" b="1" i="0">
                <a:solidFill>
                  <a:srgbClr val="1B3A6B"/>
                </a:solidFill>
                <a:latin typeface="Calibri"/>
              </a:rPr>
              <a:t>The axon membrane is more permeable to …</a:t>
            </a:r>
          </a:p>
        </p:txBody>
      </p:sp>
      <p:sp>
        <p:nvSpPr>
          <p:cNvPr id="11" name="Rounded Rectangle 10">
            <a:hlinkClick r:id="rId2" action="ppaction://hlinksldjump"/>
          </p:cNvPr>
          <p:cNvSpPr/>
          <p:nvPr/>
        </p:nvSpPr>
        <p:spPr>
          <a:xfrm>
            <a:off x="1188720" y="1828800"/>
            <a:ext cx="6766560" cy="640080"/>
          </a:xfrm>
          <a:prstGeom prst="roundRect">
            <a:avLst>
              <a:gd name="adj" fmla="val 15000"/>
            </a:avLst>
          </a:prstGeom>
          <a:solidFill>
            <a:srgbClr val="E3F2FD"/>
          </a:solidFill>
          <a:ln w="12700">
            <a:solidFill>
              <a:srgbClr val="1B3A6B"/>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spcBef>
                <a:spcPts val="0"/>
              </a:spcBef>
              <a:spcAft>
                <a:spcPts val="200"/>
              </a:spcAft>
            </a:pPr>
            <a:r>
              <a:rPr sz="1500" b="1" i="0">
                <a:solidFill>
                  <a:srgbClr val="1B3A6B"/>
                </a:solidFill>
                <a:latin typeface="Calibri"/>
              </a:rPr>
              <a:t>potassium ions than sodium ions</a:t>
            </a:r>
          </a:p>
        </p:txBody>
      </p:sp>
      <p:sp>
        <p:nvSpPr>
          <p:cNvPr id="12" name="Rounded Rectangle 11">
            <a:hlinkClick r:id="rId3" action="ppaction://hlinksldjump"/>
          </p:cNvPr>
          <p:cNvSpPr/>
          <p:nvPr/>
        </p:nvSpPr>
        <p:spPr>
          <a:xfrm>
            <a:off x="1188720" y="2606040"/>
            <a:ext cx="6766560" cy="640080"/>
          </a:xfrm>
          <a:prstGeom prst="roundRect">
            <a:avLst>
              <a:gd name="adj" fmla="val 15000"/>
            </a:avLst>
          </a:prstGeom>
          <a:solidFill>
            <a:srgbClr val="E3F2FD"/>
          </a:solidFill>
          <a:ln w="12700">
            <a:solidFill>
              <a:srgbClr val="1B3A6B"/>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spcBef>
                <a:spcPts val="0"/>
              </a:spcBef>
              <a:spcAft>
                <a:spcPts val="200"/>
              </a:spcAft>
            </a:pPr>
            <a:r>
              <a:rPr sz="1500" b="1" i="0">
                <a:solidFill>
                  <a:srgbClr val="1B3A6B"/>
                </a:solidFill>
                <a:latin typeface="Calibri"/>
              </a:rPr>
              <a:t>sodium ions than potassium ions</a:t>
            </a:r>
          </a:p>
        </p:txBody>
      </p:sp>
      <p:sp>
        <p:nvSpPr>
          <p:cNvPr id="13" name="Rounded Rectangle 12">
            <a:hlinkClick r:id="rId4" action="ppaction://hlinksldjump"/>
          </p:cNvPr>
          <p:cNvSpPr/>
          <p:nvPr/>
        </p:nvSpPr>
        <p:spPr>
          <a:xfrm>
            <a:off x="1188720" y="3383280"/>
            <a:ext cx="6766560" cy="640080"/>
          </a:xfrm>
          <a:prstGeom prst="roundRect">
            <a:avLst>
              <a:gd name="adj" fmla="val 15000"/>
            </a:avLst>
          </a:prstGeom>
          <a:solidFill>
            <a:srgbClr val="E3F2FD"/>
          </a:solidFill>
          <a:ln w="12700">
            <a:solidFill>
              <a:srgbClr val="1B3A6B"/>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spcBef>
                <a:spcPts val="0"/>
              </a:spcBef>
              <a:spcAft>
                <a:spcPts val="200"/>
              </a:spcAft>
            </a:pPr>
            <a:r>
              <a:rPr sz="1500" b="1" i="0">
                <a:solidFill>
                  <a:srgbClr val="1B3A6B"/>
                </a:solidFill>
                <a:latin typeface="Calibri"/>
              </a:rPr>
              <a:t>calcium ions than potassium ions</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show="0">
  <p:cSld>
    <p:spTree>
      <p:nvGrpSpPr>
        <p:cNvPr id="1" name=""/>
        <p:cNvGrpSpPr/>
        <p:nvPr/>
      </p:nvGrpSpPr>
      <p:grpSpPr/>
      <p:sp>
        <p:nvSpPr>
          <p:cNvPr id="2" name="Rectangle 1"/>
          <p:cNvSpPr/>
          <p:nvPr/>
        </p:nvSpPr>
        <p:spPr>
          <a:xfrm>
            <a:off x="0" y="0"/>
            <a:ext cx="9144000" cy="658368"/>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640080"/>
            <a:ext cx="9144000" cy="54864"/>
          </a:xfrm>
          <a:prstGeom prst="rect">
            <a:avLst/>
          </a:pr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256032" y="91440"/>
            <a:ext cx="7498079" cy="502920"/>
          </a:xfrm>
          <a:prstGeom prst="rect">
            <a:avLst/>
          </a:prstGeom>
          <a:noFill/>
        </p:spPr>
        <p:txBody>
          <a:bodyPr wrap="square" anchor="t">
            <a:spAutoFit/>
          </a:bodyPr>
          <a:lstStyle/>
          <a:p>
            <a:pPr algn="l">
              <a:spcAft>
                <a:spcPts val="400"/>
              </a:spcAft>
            </a:pPr>
            <a:r>
              <a:rPr sz="2600" b="1" i="0">
                <a:solidFill>
                  <a:srgbClr val="2E9E4F"/>
                </a:solidFill>
                <a:latin typeface="Calibri"/>
              </a:rPr>
              <a:t>Understanding resting potential</a:t>
            </a:r>
          </a:p>
        </p:txBody>
      </p:sp>
      <p:sp>
        <p:nvSpPr>
          <p:cNvPr id="5" name="Rounded Rectangle 4"/>
          <p:cNvSpPr/>
          <p:nvPr/>
        </p:nvSpPr>
        <p:spPr>
          <a:xfrm>
            <a:off x="7452360" y="109728"/>
            <a:ext cx="1536192" cy="420624"/>
          </a:xfrm>
          <a:prstGeom prst="roundRect">
            <a:avLst>
              <a:gd name="adj" fmla="val 15000"/>
            </a:avLst>
          </a:prstGeom>
          <a:solidFill>
            <a:srgbClr val="C8E6A0"/>
          </a:solidFill>
          <a:ln w="12700">
            <a:solidFill>
              <a:srgbClr val="1B7A3A"/>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spcBef>
                <a:spcPts val="0"/>
              </a:spcBef>
              <a:spcAft>
                <a:spcPts val="200"/>
              </a:spcAft>
            </a:pPr>
            <a:r>
              <a:rPr sz="1100" b="1" i="0">
                <a:solidFill>
                  <a:srgbClr val="1B7A3A"/>
                </a:solidFill>
                <a:latin typeface="Calibri"/>
              </a:rPr>
              <a:t>A2 Biology</a:t>
            </a:r>
          </a:p>
        </p:txBody>
      </p:sp>
      <p:sp>
        <p:nvSpPr>
          <p:cNvPr id="6" name="Rectangle 5"/>
          <p:cNvSpPr/>
          <p:nvPr/>
        </p:nvSpPr>
        <p:spPr>
          <a:xfrm>
            <a:off x="0" y="0"/>
            <a:ext cx="73152" cy="6858000"/>
          </a:xfrm>
          <a:prstGeom prst="rect">
            <a:avLst/>
          </a:prstGeom>
          <a:solidFill>
            <a:srgbClr val="6B2D8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3152" y="6565392"/>
            <a:ext cx="9070848" cy="36576"/>
          </a:xfrm>
          <a:prstGeom prst="rect">
            <a:avLst/>
          </a:prstGeom>
          <a:solidFill>
            <a:srgbClr val="7A3E9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228600" y="6583680"/>
            <a:ext cx="1280160" cy="256032"/>
          </a:xfrm>
          <a:prstGeom prst="rect">
            <a:avLst/>
          </a:prstGeom>
          <a:noFill/>
        </p:spPr>
        <p:txBody>
          <a:bodyPr wrap="square" anchor="t">
            <a:spAutoFit/>
          </a:bodyPr>
          <a:lstStyle/>
          <a:p>
            <a:pPr algn="l">
              <a:spcAft>
                <a:spcPts val="400"/>
              </a:spcAft>
            </a:pPr>
            <a:r>
              <a:rPr sz="1000" b="0" i="0">
                <a:solidFill>
                  <a:srgbClr val="6B2D8B"/>
                </a:solidFill>
                <a:latin typeface="Calibri"/>
              </a:rPr>
              <a:t>activity</a:t>
            </a:r>
          </a:p>
        </p:txBody>
      </p:sp>
      <p:sp>
        <p:nvSpPr>
          <p:cNvPr id="9" name="TextBox 8"/>
          <p:cNvSpPr txBox="1"/>
          <p:nvPr/>
        </p:nvSpPr>
        <p:spPr>
          <a:xfrm>
            <a:off x="1554480" y="6583680"/>
            <a:ext cx="6035040" cy="256032"/>
          </a:xfrm>
          <a:prstGeom prst="rect">
            <a:avLst/>
          </a:prstGeom>
          <a:noFill/>
        </p:spPr>
        <p:txBody>
          <a:bodyPr wrap="square" anchor="t">
            <a:spAutoFit/>
          </a:bodyPr>
          <a:lstStyle/>
          <a:p>
            <a:pPr algn="ctr">
              <a:spcAft>
                <a:spcPts val="400"/>
              </a:spcAft>
            </a:pPr>
            <a:r>
              <a:rPr sz="900" b="0" i="0">
                <a:solidFill>
                  <a:srgbClr val="5A5A5A"/>
                </a:solidFill>
                <a:latin typeface="Calibri"/>
              </a:rPr>
              <a:t>Original course © Boardworks Ltd 2009. Reconstructed interactive resource.</a:t>
            </a:r>
          </a:p>
        </p:txBody>
      </p:sp>
      <p:sp>
        <p:nvSpPr>
          <p:cNvPr id="10" name="Rounded Rectangle 9"/>
          <p:cNvSpPr/>
          <p:nvPr/>
        </p:nvSpPr>
        <p:spPr>
          <a:xfrm>
            <a:off x="640080" y="1554480"/>
            <a:ext cx="7863840" cy="2377440"/>
          </a:xfrm>
          <a:prstGeom prst="roundRect">
            <a:avLst>
              <a:gd name="adj" fmla="val 15000"/>
            </a:avLst>
          </a:prstGeom>
          <a:solidFill>
            <a:srgbClr val="E8F5E9"/>
          </a:solidFill>
          <a:ln w="15875">
            <a:solidFill>
              <a:srgbClr val="1B7A3A"/>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spcBef>
                <a:spcPts val="0"/>
              </a:spcBef>
              <a:spcAft>
                <a:spcPts val="200"/>
              </a:spcAft>
            </a:pPr>
            <a:r>
              <a:rPr sz="1800" b="0" i="0">
                <a:solidFill>
                  <a:srgbClr val="1B3A6B"/>
                </a:solidFill>
                <a:latin typeface="Calibri"/>
              </a:rPr>
              <a:t>Correct.</a:t>
            </a:r>
          </a:p>
          <a:p>
            <a:pPr algn="ctr">
              <a:spcAft>
                <a:spcPts val="200"/>
              </a:spcAft>
            </a:pPr>
            <a:r>
              <a:rPr sz="1800" b="0" i="0">
                <a:solidFill>
                  <a:srgbClr val="1B3A6B"/>
                </a:solidFill>
                <a:latin typeface="Calibri"/>
              </a:rPr>
              <a:t/>
            </a:r>
          </a:p>
          <a:p>
            <a:pPr algn="ctr">
              <a:spcAft>
                <a:spcPts val="200"/>
              </a:spcAft>
            </a:pPr>
            <a:r>
              <a:rPr sz="1800" b="0" i="0">
                <a:solidFill>
                  <a:srgbClr val="1B3A6B"/>
                </a:solidFill>
                <a:latin typeface="Calibri"/>
              </a:rPr>
              <a:t>Resting potential is about –70 mV (some texts use –65 to –70 mV).</a:t>
            </a:r>
          </a:p>
        </p:txBody>
      </p:sp>
      <p:sp>
        <p:nvSpPr>
          <p:cNvPr id="11" name="Rounded Rectangle 10">
            <a:hlinkClick r:id="rId2" action="ppaction://hlinksldjump"/>
          </p:cNvPr>
          <p:cNvSpPr/>
          <p:nvPr/>
        </p:nvSpPr>
        <p:spPr>
          <a:xfrm>
            <a:off x="3200400" y="4389120"/>
            <a:ext cx="2743200" cy="411480"/>
          </a:xfrm>
          <a:prstGeom prst="roundRect">
            <a:avLst>
              <a:gd name="adj" fmla="val 15000"/>
            </a:avLst>
          </a:prstGeom>
          <a:solidFill>
            <a:srgbClr val="2E9E4F"/>
          </a:solidFill>
          <a:ln w="12700">
            <a:solidFill>
              <a:srgbClr val="2E9E4F"/>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spcBef>
                <a:spcPts val="0"/>
              </a:spcBef>
              <a:spcAft>
                <a:spcPts val="200"/>
              </a:spcAft>
            </a:pPr>
            <a:r>
              <a:rPr sz="1400" b="1" i="0">
                <a:solidFill>
                  <a:srgbClr val="FFFFFF"/>
                </a:solidFill>
                <a:latin typeface="Calibri"/>
              </a:rPr>
              <a:t>Back</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show="0">
  <p:cSld>
    <p:spTree>
      <p:nvGrpSpPr>
        <p:cNvPr id="1" name=""/>
        <p:cNvGrpSpPr/>
        <p:nvPr/>
      </p:nvGrpSpPr>
      <p:grpSpPr/>
      <p:sp>
        <p:nvSpPr>
          <p:cNvPr id="2" name="Rectangle 1"/>
          <p:cNvSpPr/>
          <p:nvPr/>
        </p:nvSpPr>
        <p:spPr>
          <a:xfrm>
            <a:off x="0" y="0"/>
            <a:ext cx="9144000" cy="658368"/>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640080"/>
            <a:ext cx="9144000" cy="54864"/>
          </a:xfrm>
          <a:prstGeom prst="rect">
            <a:avLst/>
          </a:pr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256032" y="91440"/>
            <a:ext cx="7498079" cy="502920"/>
          </a:xfrm>
          <a:prstGeom prst="rect">
            <a:avLst/>
          </a:prstGeom>
          <a:noFill/>
        </p:spPr>
        <p:txBody>
          <a:bodyPr wrap="square" anchor="t">
            <a:spAutoFit/>
          </a:bodyPr>
          <a:lstStyle/>
          <a:p>
            <a:pPr algn="l">
              <a:spcAft>
                <a:spcPts val="400"/>
              </a:spcAft>
            </a:pPr>
            <a:r>
              <a:rPr sz="2600" b="1" i="0">
                <a:solidFill>
                  <a:srgbClr val="2E9E4F"/>
                </a:solidFill>
                <a:latin typeface="Calibri"/>
              </a:rPr>
              <a:t>Understanding resting potential</a:t>
            </a:r>
          </a:p>
        </p:txBody>
      </p:sp>
      <p:sp>
        <p:nvSpPr>
          <p:cNvPr id="5" name="Rounded Rectangle 4"/>
          <p:cNvSpPr/>
          <p:nvPr/>
        </p:nvSpPr>
        <p:spPr>
          <a:xfrm>
            <a:off x="7452360" y="109728"/>
            <a:ext cx="1536192" cy="420624"/>
          </a:xfrm>
          <a:prstGeom prst="roundRect">
            <a:avLst>
              <a:gd name="adj" fmla="val 15000"/>
            </a:avLst>
          </a:prstGeom>
          <a:solidFill>
            <a:srgbClr val="C8E6A0"/>
          </a:solidFill>
          <a:ln w="12700">
            <a:solidFill>
              <a:srgbClr val="1B7A3A"/>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spcBef>
                <a:spcPts val="0"/>
              </a:spcBef>
              <a:spcAft>
                <a:spcPts val="200"/>
              </a:spcAft>
            </a:pPr>
            <a:r>
              <a:rPr sz="1100" b="1" i="0">
                <a:solidFill>
                  <a:srgbClr val="1B7A3A"/>
                </a:solidFill>
                <a:latin typeface="Calibri"/>
              </a:rPr>
              <a:t>A2 Biology</a:t>
            </a:r>
          </a:p>
        </p:txBody>
      </p:sp>
      <p:sp>
        <p:nvSpPr>
          <p:cNvPr id="6" name="Rectangle 5"/>
          <p:cNvSpPr/>
          <p:nvPr/>
        </p:nvSpPr>
        <p:spPr>
          <a:xfrm>
            <a:off x="0" y="0"/>
            <a:ext cx="73152" cy="6858000"/>
          </a:xfrm>
          <a:prstGeom prst="rect">
            <a:avLst/>
          </a:prstGeom>
          <a:solidFill>
            <a:srgbClr val="6B2D8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3152" y="6565392"/>
            <a:ext cx="9070848" cy="36576"/>
          </a:xfrm>
          <a:prstGeom prst="rect">
            <a:avLst/>
          </a:prstGeom>
          <a:solidFill>
            <a:srgbClr val="7A3E9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228600" y="6583680"/>
            <a:ext cx="1280160" cy="256032"/>
          </a:xfrm>
          <a:prstGeom prst="rect">
            <a:avLst/>
          </a:prstGeom>
          <a:noFill/>
        </p:spPr>
        <p:txBody>
          <a:bodyPr wrap="square" anchor="t">
            <a:spAutoFit/>
          </a:bodyPr>
          <a:lstStyle/>
          <a:p>
            <a:pPr algn="l">
              <a:spcAft>
                <a:spcPts val="400"/>
              </a:spcAft>
            </a:pPr>
            <a:r>
              <a:rPr sz="1000" b="0" i="0">
                <a:solidFill>
                  <a:srgbClr val="6B2D8B"/>
                </a:solidFill>
                <a:latin typeface="Calibri"/>
              </a:rPr>
              <a:t>activity</a:t>
            </a:r>
          </a:p>
        </p:txBody>
      </p:sp>
      <p:sp>
        <p:nvSpPr>
          <p:cNvPr id="9" name="TextBox 8"/>
          <p:cNvSpPr txBox="1"/>
          <p:nvPr/>
        </p:nvSpPr>
        <p:spPr>
          <a:xfrm>
            <a:off x="1554480" y="6583680"/>
            <a:ext cx="6035040" cy="256032"/>
          </a:xfrm>
          <a:prstGeom prst="rect">
            <a:avLst/>
          </a:prstGeom>
          <a:noFill/>
        </p:spPr>
        <p:txBody>
          <a:bodyPr wrap="square" anchor="t">
            <a:spAutoFit/>
          </a:bodyPr>
          <a:lstStyle/>
          <a:p>
            <a:pPr algn="ctr">
              <a:spcAft>
                <a:spcPts val="400"/>
              </a:spcAft>
            </a:pPr>
            <a:r>
              <a:rPr sz="900" b="0" i="0">
                <a:solidFill>
                  <a:srgbClr val="5A5A5A"/>
                </a:solidFill>
                <a:latin typeface="Calibri"/>
              </a:rPr>
              <a:t>Original course © Boardworks Ltd 2009. Reconstructed interactive resource.</a:t>
            </a:r>
          </a:p>
        </p:txBody>
      </p:sp>
      <p:sp>
        <p:nvSpPr>
          <p:cNvPr id="10" name="Rounded Rectangle 9"/>
          <p:cNvSpPr/>
          <p:nvPr/>
        </p:nvSpPr>
        <p:spPr>
          <a:xfrm>
            <a:off x="640080" y="1554480"/>
            <a:ext cx="7863840" cy="2194560"/>
          </a:xfrm>
          <a:prstGeom prst="roundRect">
            <a:avLst>
              <a:gd name="adj" fmla="val 15000"/>
            </a:avLst>
          </a:prstGeom>
          <a:solidFill>
            <a:srgbClr val="FFEBEE"/>
          </a:solidFill>
          <a:ln w="15875">
            <a:solidFill>
              <a:srgbClr val="EF6C00"/>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spcBef>
                <a:spcPts val="0"/>
              </a:spcBef>
              <a:spcAft>
                <a:spcPts val="200"/>
              </a:spcAft>
            </a:pPr>
            <a:r>
              <a:rPr sz="1800" b="0" i="0">
                <a:solidFill>
                  <a:srgbClr val="1B3A6B"/>
                </a:solidFill>
                <a:latin typeface="Calibri"/>
              </a:rPr>
              <a:t>Not quite.</a:t>
            </a:r>
          </a:p>
          <a:p>
            <a:pPr algn="ctr">
              <a:spcAft>
                <a:spcPts val="200"/>
              </a:spcAft>
            </a:pPr>
            <a:r>
              <a:rPr sz="1800" b="0" i="0">
                <a:solidFill>
                  <a:srgbClr val="1B3A6B"/>
                </a:solidFill>
                <a:latin typeface="Calibri"/>
              </a:rPr>
              <a:t/>
            </a:r>
          </a:p>
          <a:p>
            <a:pPr algn="ctr">
              <a:spcAft>
                <a:spcPts val="200"/>
              </a:spcAft>
            </a:pPr>
            <a:r>
              <a:rPr sz="1800" b="0" i="0">
                <a:solidFill>
                  <a:srgbClr val="1B3A6B"/>
                </a:solidFill>
                <a:latin typeface="Calibri"/>
              </a:rPr>
              <a:t>Look back at the resting-potential animation and try again.</a:t>
            </a:r>
          </a:p>
        </p:txBody>
      </p:sp>
      <p:sp>
        <p:nvSpPr>
          <p:cNvPr id="11" name="Rounded Rectangle 10">
            <a:hlinkClick r:id="rId2" action="ppaction://hlinksldjump"/>
          </p:cNvPr>
          <p:cNvSpPr/>
          <p:nvPr/>
        </p:nvSpPr>
        <p:spPr>
          <a:xfrm>
            <a:off x="3200400" y="4297680"/>
            <a:ext cx="2743200" cy="411480"/>
          </a:xfrm>
          <a:prstGeom prst="roundRect">
            <a:avLst>
              <a:gd name="adj" fmla="val 15000"/>
            </a:avLst>
          </a:prstGeom>
          <a:solidFill>
            <a:srgbClr val="EF6C00"/>
          </a:solidFill>
          <a:ln w="12700">
            <a:solidFill>
              <a:srgbClr val="EF6C00"/>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spcBef>
                <a:spcPts val="0"/>
              </a:spcBef>
              <a:spcAft>
                <a:spcPts val="200"/>
              </a:spcAft>
            </a:pPr>
            <a:r>
              <a:rPr sz="1400" b="1" i="0">
                <a:solidFill>
                  <a:srgbClr val="FFFFFF"/>
                </a:solidFill>
                <a:latin typeface="Calibri"/>
              </a:rPr>
              <a:t>Try again</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show="0">
  <p:cSld>
    <p:spTree>
      <p:nvGrpSpPr>
        <p:cNvPr id="1" name=""/>
        <p:cNvGrpSpPr/>
        <p:nvPr/>
      </p:nvGrpSpPr>
      <p:grpSpPr/>
      <p:sp>
        <p:nvSpPr>
          <p:cNvPr id="2" name="Rectangle 1"/>
          <p:cNvSpPr/>
          <p:nvPr/>
        </p:nvSpPr>
        <p:spPr>
          <a:xfrm>
            <a:off x="0" y="0"/>
            <a:ext cx="9144000" cy="658368"/>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640080"/>
            <a:ext cx="9144000" cy="54864"/>
          </a:xfrm>
          <a:prstGeom prst="rect">
            <a:avLst/>
          </a:pr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256032" y="91440"/>
            <a:ext cx="7498079" cy="502920"/>
          </a:xfrm>
          <a:prstGeom prst="rect">
            <a:avLst/>
          </a:prstGeom>
          <a:noFill/>
        </p:spPr>
        <p:txBody>
          <a:bodyPr wrap="square" anchor="t">
            <a:spAutoFit/>
          </a:bodyPr>
          <a:lstStyle/>
          <a:p>
            <a:pPr algn="l">
              <a:spcAft>
                <a:spcPts val="400"/>
              </a:spcAft>
            </a:pPr>
            <a:r>
              <a:rPr sz="2600" b="1" i="0">
                <a:solidFill>
                  <a:srgbClr val="2E9E4F"/>
                </a:solidFill>
                <a:latin typeface="Calibri"/>
              </a:rPr>
              <a:t>Understanding resting potential</a:t>
            </a:r>
          </a:p>
        </p:txBody>
      </p:sp>
      <p:sp>
        <p:nvSpPr>
          <p:cNvPr id="5" name="Rounded Rectangle 4"/>
          <p:cNvSpPr/>
          <p:nvPr/>
        </p:nvSpPr>
        <p:spPr>
          <a:xfrm>
            <a:off x="7452360" y="109728"/>
            <a:ext cx="1536192" cy="420624"/>
          </a:xfrm>
          <a:prstGeom prst="roundRect">
            <a:avLst>
              <a:gd name="adj" fmla="val 15000"/>
            </a:avLst>
          </a:prstGeom>
          <a:solidFill>
            <a:srgbClr val="C8E6A0"/>
          </a:solidFill>
          <a:ln w="12700">
            <a:solidFill>
              <a:srgbClr val="1B7A3A"/>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spcBef>
                <a:spcPts val="0"/>
              </a:spcBef>
              <a:spcAft>
                <a:spcPts val="200"/>
              </a:spcAft>
            </a:pPr>
            <a:r>
              <a:rPr sz="1100" b="1" i="0">
                <a:solidFill>
                  <a:srgbClr val="1B7A3A"/>
                </a:solidFill>
                <a:latin typeface="Calibri"/>
              </a:rPr>
              <a:t>A2 Biology</a:t>
            </a:r>
          </a:p>
        </p:txBody>
      </p:sp>
      <p:sp>
        <p:nvSpPr>
          <p:cNvPr id="6" name="Rectangle 5"/>
          <p:cNvSpPr/>
          <p:nvPr/>
        </p:nvSpPr>
        <p:spPr>
          <a:xfrm>
            <a:off x="0" y="0"/>
            <a:ext cx="73152" cy="6858000"/>
          </a:xfrm>
          <a:prstGeom prst="rect">
            <a:avLst/>
          </a:prstGeom>
          <a:solidFill>
            <a:srgbClr val="6B2D8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3152" y="6565392"/>
            <a:ext cx="9070848" cy="36576"/>
          </a:xfrm>
          <a:prstGeom prst="rect">
            <a:avLst/>
          </a:prstGeom>
          <a:solidFill>
            <a:srgbClr val="7A3E9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228600" y="6583680"/>
            <a:ext cx="1280160" cy="256032"/>
          </a:xfrm>
          <a:prstGeom prst="rect">
            <a:avLst/>
          </a:prstGeom>
          <a:noFill/>
        </p:spPr>
        <p:txBody>
          <a:bodyPr wrap="square" anchor="t">
            <a:spAutoFit/>
          </a:bodyPr>
          <a:lstStyle/>
          <a:p>
            <a:pPr algn="l">
              <a:spcAft>
                <a:spcPts val="400"/>
              </a:spcAft>
            </a:pPr>
            <a:r>
              <a:rPr sz="1000" b="0" i="0">
                <a:solidFill>
                  <a:srgbClr val="6B2D8B"/>
                </a:solidFill>
                <a:latin typeface="Calibri"/>
              </a:rPr>
              <a:t>activity</a:t>
            </a:r>
          </a:p>
        </p:txBody>
      </p:sp>
      <p:sp>
        <p:nvSpPr>
          <p:cNvPr id="9" name="TextBox 8"/>
          <p:cNvSpPr txBox="1"/>
          <p:nvPr/>
        </p:nvSpPr>
        <p:spPr>
          <a:xfrm>
            <a:off x="1554480" y="6583680"/>
            <a:ext cx="6035040" cy="256032"/>
          </a:xfrm>
          <a:prstGeom prst="rect">
            <a:avLst/>
          </a:prstGeom>
          <a:noFill/>
        </p:spPr>
        <p:txBody>
          <a:bodyPr wrap="square" anchor="t">
            <a:spAutoFit/>
          </a:bodyPr>
          <a:lstStyle/>
          <a:p>
            <a:pPr algn="ctr">
              <a:spcAft>
                <a:spcPts val="400"/>
              </a:spcAft>
            </a:pPr>
            <a:r>
              <a:rPr sz="900" b="0" i="0">
                <a:solidFill>
                  <a:srgbClr val="5A5A5A"/>
                </a:solidFill>
                <a:latin typeface="Calibri"/>
              </a:rPr>
              <a:t>Original course © Boardworks Ltd 2009. Reconstructed interactive resource.</a:t>
            </a:r>
          </a:p>
        </p:txBody>
      </p:sp>
      <p:sp>
        <p:nvSpPr>
          <p:cNvPr id="10" name="Rounded Rectangle 9"/>
          <p:cNvSpPr/>
          <p:nvPr/>
        </p:nvSpPr>
        <p:spPr>
          <a:xfrm>
            <a:off x="640080" y="1554480"/>
            <a:ext cx="7863840" cy="2194560"/>
          </a:xfrm>
          <a:prstGeom prst="roundRect">
            <a:avLst>
              <a:gd name="adj" fmla="val 15000"/>
            </a:avLst>
          </a:prstGeom>
          <a:solidFill>
            <a:srgbClr val="FFEBEE"/>
          </a:solidFill>
          <a:ln w="15875">
            <a:solidFill>
              <a:srgbClr val="EF6C00"/>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spcBef>
                <a:spcPts val="0"/>
              </a:spcBef>
              <a:spcAft>
                <a:spcPts val="200"/>
              </a:spcAft>
            </a:pPr>
            <a:r>
              <a:rPr sz="1800" b="0" i="0">
                <a:solidFill>
                  <a:srgbClr val="1B3A6B"/>
                </a:solidFill>
                <a:latin typeface="Calibri"/>
              </a:rPr>
              <a:t>Not quite.</a:t>
            </a:r>
          </a:p>
          <a:p>
            <a:pPr algn="ctr">
              <a:spcAft>
                <a:spcPts val="200"/>
              </a:spcAft>
            </a:pPr>
            <a:r>
              <a:rPr sz="1800" b="0" i="0">
                <a:solidFill>
                  <a:srgbClr val="1B3A6B"/>
                </a:solidFill>
                <a:latin typeface="Calibri"/>
              </a:rPr>
              <a:t/>
            </a:r>
          </a:p>
          <a:p>
            <a:pPr algn="ctr">
              <a:spcAft>
                <a:spcPts val="200"/>
              </a:spcAft>
            </a:pPr>
            <a:r>
              <a:rPr sz="1800" b="0" i="0">
                <a:solidFill>
                  <a:srgbClr val="1B3A6B"/>
                </a:solidFill>
                <a:latin typeface="Calibri"/>
              </a:rPr>
              <a:t>Look back at the resting-potential animation and try again.</a:t>
            </a:r>
          </a:p>
        </p:txBody>
      </p:sp>
      <p:sp>
        <p:nvSpPr>
          <p:cNvPr id="11" name="Rounded Rectangle 10">
            <a:hlinkClick r:id="rId2" action="ppaction://hlinksldjump"/>
          </p:cNvPr>
          <p:cNvSpPr/>
          <p:nvPr/>
        </p:nvSpPr>
        <p:spPr>
          <a:xfrm>
            <a:off x="3200400" y="4297680"/>
            <a:ext cx="2743200" cy="411480"/>
          </a:xfrm>
          <a:prstGeom prst="roundRect">
            <a:avLst>
              <a:gd name="adj" fmla="val 15000"/>
            </a:avLst>
          </a:prstGeom>
          <a:solidFill>
            <a:srgbClr val="EF6C00"/>
          </a:solidFill>
          <a:ln w="12700">
            <a:solidFill>
              <a:srgbClr val="EF6C00"/>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spcBef>
                <a:spcPts val="0"/>
              </a:spcBef>
              <a:spcAft>
                <a:spcPts val="200"/>
              </a:spcAft>
            </a:pPr>
            <a:r>
              <a:rPr sz="1400" b="1" i="0">
                <a:solidFill>
                  <a:srgbClr val="FFFFFF"/>
                </a:solidFill>
                <a:latin typeface="Calibri"/>
              </a:rPr>
              <a:t>Try again</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show="0">
  <p:cSld>
    <p:spTree>
      <p:nvGrpSpPr>
        <p:cNvPr id="1" name=""/>
        <p:cNvGrpSpPr/>
        <p:nvPr/>
      </p:nvGrpSpPr>
      <p:grpSpPr/>
      <p:sp>
        <p:nvSpPr>
          <p:cNvPr id="2" name="Rectangle 1"/>
          <p:cNvSpPr/>
          <p:nvPr/>
        </p:nvSpPr>
        <p:spPr>
          <a:xfrm>
            <a:off x="0" y="0"/>
            <a:ext cx="9144000" cy="658368"/>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640080"/>
            <a:ext cx="9144000" cy="54864"/>
          </a:xfrm>
          <a:prstGeom prst="rect">
            <a:avLst/>
          </a:pr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256032" y="91440"/>
            <a:ext cx="7498079" cy="502920"/>
          </a:xfrm>
          <a:prstGeom prst="rect">
            <a:avLst/>
          </a:prstGeom>
          <a:noFill/>
        </p:spPr>
        <p:txBody>
          <a:bodyPr wrap="square" anchor="t">
            <a:spAutoFit/>
          </a:bodyPr>
          <a:lstStyle/>
          <a:p>
            <a:pPr algn="l">
              <a:spcAft>
                <a:spcPts val="400"/>
              </a:spcAft>
            </a:pPr>
            <a:r>
              <a:rPr sz="2600" b="1" i="0">
                <a:solidFill>
                  <a:srgbClr val="2E9E4F"/>
                </a:solidFill>
                <a:latin typeface="Calibri"/>
              </a:rPr>
              <a:t>Understanding resting potential</a:t>
            </a:r>
          </a:p>
        </p:txBody>
      </p:sp>
      <p:sp>
        <p:nvSpPr>
          <p:cNvPr id="5" name="Rounded Rectangle 4"/>
          <p:cNvSpPr/>
          <p:nvPr/>
        </p:nvSpPr>
        <p:spPr>
          <a:xfrm>
            <a:off x="7452360" y="109728"/>
            <a:ext cx="1536192" cy="420624"/>
          </a:xfrm>
          <a:prstGeom prst="roundRect">
            <a:avLst>
              <a:gd name="adj" fmla="val 15000"/>
            </a:avLst>
          </a:prstGeom>
          <a:solidFill>
            <a:srgbClr val="C8E6A0"/>
          </a:solidFill>
          <a:ln w="12700">
            <a:solidFill>
              <a:srgbClr val="1B7A3A"/>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spcBef>
                <a:spcPts val="0"/>
              </a:spcBef>
              <a:spcAft>
                <a:spcPts val="200"/>
              </a:spcAft>
            </a:pPr>
            <a:r>
              <a:rPr sz="1100" b="1" i="0">
                <a:solidFill>
                  <a:srgbClr val="1B7A3A"/>
                </a:solidFill>
                <a:latin typeface="Calibri"/>
              </a:rPr>
              <a:t>A2 Biology</a:t>
            </a:r>
          </a:p>
        </p:txBody>
      </p:sp>
      <p:sp>
        <p:nvSpPr>
          <p:cNvPr id="6" name="Rectangle 5"/>
          <p:cNvSpPr/>
          <p:nvPr/>
        </p:nvSpPr>
        <p:spPr>
          <a:xfrm>
            <a:off x="0" y="0"/>
            <a:ext cx="73152" cy="6858000"/>
          </a:xfrm>
          <a:prstGeom prst="rect">
            <a:avLst/>
          </a:prstGeom>
          <a:solidFill>
            <a:srgbClr val="6B2D8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3152" y="6565392"/>
            <a:ext cx="9070848" cy="36576"/>
          </a:xfrm>
          <a:prstGeom prst="rect">
            <a:avLst/>
          </a:prstGeom>
          <a:solidFill>
            <a:srgbClr val="7A3E9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228600" y="6583680"/>
            <a:ext cx="1280160" cy="256032"/>
          </a:xfrm>
          <a:prstGeom prst="rect">
            <a:avLst/>
          </a:prstGeom>
          <a:noFill/>
        </p:spPr>
        <p:txBody>
          <a:bodyPr wrap="square" anchor="t">
            <a:spAutoFit/>
          </a:bodyPr>
          <a:lstStyle/>
          <a:p>
            <a:pPr algn="l">
              <a:spcAft>
                <a:spcPts val="400"/>
              </a:spcAft>
            </a:pPr>
            <a:r>
              <a:rPr sz="1000" b="0" i="0">
                <a:solidFill>
                  <a:srgbClr val="6B2D8B"/>
                </a:solidFill>
                <a:latin typeface="Calibri"/>
              </a:rPr>
              <a:t>activity</a:t>
            </a:r>
          </a:p>
        </p:txBody>
      </p:sp>
      <p:sp>
        <p:nvSpPr>
          <p:cNvPr id="9" name="TextBox 8"/>
          <p:cNvSpPr txBox="1"/>
          <p:nvPr/>
        </p:nvSpPr>
        <p:spPr>
          <a:xfrm>
            <a:off x="1554480" y="6583680"/>
            <a:ext cx="6035040" cy="256032"/>
          </a:xfrm>
          <a:prstGeom prst="rect">
            <a:avLst/>
          </a:prstGeom>
          <a:noFill/>
        </p:spPr>
        <p:txBody>
          <a:bodyPr wrap="square" anchor="t">
            <a:spAutoFit/>
          </a:bodyPr>
          <a:lstStyle/>
          <a:p>
            <a:pPr algn="ctr">
              <a:spcAft>
                <a:spcPts val="400"/>
              </a:spcAft>
            </a:pPr>
            <a:r>
              <a:rPr sz="900" b="0" i="0">
                <a:solidFill>
                  <a:srgbClr val="5A5A5A"/>
                </a:solidFill>
                <a:latin typeface="Calibri"/>
              </a:rPr>
              <a:t>Original course © Boardworks Ltd 2009. Reconstructed interactive resource.</a:t>
            </a:r>
          </a:p>
        </p:txBody>
      </p:sp>
      <p:sp>
        <p:nvSpPr>
          <p:cNvPr id="10" name="Rounded Rectangle 9"/>
          <p:cNvSpPr/>
          <p:nvPr/>
        </p:nvSpPr>
        <p:spPr>
          <a:xfrm>
            <a:off x="640080" y="1554480"/>
            <a:ext cx="7863840" cy="2377440"/>
          </a:xfrm>
          <a:prstGeom prst="roundRect">
            <a:avLst>
              <a:gd name="adj" fmla="val 15000"/>
            </a:avLst>
          </a:prstGeom>
          <a:solidFill>
            <a:srgbClr val="E8F5E9"/>
          </a:solidFill>
          <a:ln w="15875">
            <a:solidFill>
              <a:srgbClr val="1B7A3A"/>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spcBef>
                <a:spcPts val="0"/>
              </a:spcBef>
              <a:spcAft>
                <a:spcPts val="200"/>
              </a:spcAft>
            </a:pPr>
            <a:r>
              <a:rPr sz="1800" b="0" i="0">
                <a:solidFill>
                  <a:srgbClr val="1B3A6B"/>
                </a:solidFill>
                <a:latin typeface="Calibri"/>
              </a:rPr>
              <a:t>Correct.</a:t>
            </a:r>
          </a:p>
          <a:p>
            <a:pPr algn="ctr">
              <a:spcAft>
                <a:spcPts val="200"/>
              </a:spcAft>
            </a:pPr>
            <a:r>
              <a:rPr sz="1800" b="0" i="0">
                <a:solidFill>
                  <a:srgbClr val="1B3A6B"/>
                </a:solidFill>
                <a:latin typeface="Calibri"/>
              </a:rPr>
              <a:t/>
            </a:r>
          </a:p>
          <a:p>
            <a:pPr algn="ctr">
              <a:spcAft>
                <a:spcPts val="200"/>
              </a:spcAft>
            </a:pPr>
            <a:r>
              <a:rPr sz="1800" b="0" i="0">
                <a:solidFill>
                  <a:srgbClr val="1B3A6B"/>
                </a:solidFill>
                <a:latin typeface="Calibri"/>
              </a:rPr>
              <a:t>The membrane has a charge difference, so it is polarised.</a:t>
            </a:r>
          </a:p>
        </p:txBody>
      </p:sp>
      <p:sp>
        <p:nvSpPr>
          <p:cNvPr id="11" name="Rounded Rectangle 10">
            <a:hlinkClick r:id="rId2" action="ppaction://hlinksldjump"/>
          </p:cNvPr>
          <p:cNvSpPr/>
          <p:nvPr/>
        </p:nvSpPr>
        <p:spPr>
          <a:xfrm>
            <a:off x="3200400" y="4389120"/>
            <a:ext cx="2743200" cy="411480"/>
          </a:xfrm>
          <a:prstGeom prst="roundRect">
            <a:avLst>
              <a:gd name="adj" fmla="val 15000"/>
            </a:avLst>
          </a:prstGeom>
          <a:solidFill>
            <a:srgbClr val="2E9E4F"/>
          </a:solidFill>
          <a:ln w="12700">
            <a:solidFill>
              <a:srgbClr val="2E9E4F"/>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spcBef>
                <a:spcPts val="0"/>
              </a:spcBef>
              <a:spcAft>
                <a:spcPts val="200"/>
              </a:spcAft>
            </a:pPr>
            <a:r>
              <a:rPr sz="1400" b="1" i="0">
                <a:solidFill>
                  <a:srgbClr val="FFFFFF"/>
                </a:solidFill>
                <a:latin typeface="Calibri"/>
              </a:rPr>
              <a:t>Back</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show="0">
  <p:cSld>
    <p:spTree>
      <p:nvGrpSpPr>
        <p:cNvPr id="1" name=""/>
        <p:cNvGrpSpPr/>
        <p:nvPr/>
      </p:nvGrpSpPr>
      <p:grpSpPr/>
      <p:sp>
        <p:nvSpPr>
          <p:cNvPr id="2" name="Rectangle 1"/>
          <p:cNvSpPr/>
          <p:nvPr/>
        </p:nvSpPr>
        <p:spPr>
          <a:xfrm>
            <a:off x="0" y="0"/>
            <a:ext cx="9144000" cy="658368"/>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640080"/>
            <a:ext cx="9144000" cy="54864"/>
          </a:xfrm>
          <a:prstGeom prst="rect">
            <a:avLst/>
          </a:pr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256032" y="91440"/>
            <a:ext cx="7498079" cy="502920"/>
          </a:xfrm>
          <a:prstGeom prst="rect">
            <a:avLst/>
          </a:prstGeom>
          <a:noFill/>
        </p:spPr>
        <p:txBody>
          <a:bodyPr wrap="square" anchor="t">
            <a:spAutoFit/>
          </a:bodyPr>
          <a:lstStyle/>
          <a:p>
            <a:pPr algn="l">
              <a:spcAft>
                <a:spcPts val="400"/>
              </a:spcAft>
            </a:pPr>
            <a:r>
              <a:rPr sz="2600" b="1" i="0">
                <a:solidFill>
                  <a:srgbClr val="2E9E4F"/>
                </a:solidFill>
                <a:latin typeface="Calibri"/>
              </a:rPr>
              <a:t>Understanding resting potential</a:t>
            </a:r>
          </a:p>
        </p:txBody>
      </p:sp>
      <p:sp>
        <p:nvSpPr>
          <p:cNvPr id="5" name="Rounded Rectangle 4"/>
          <p:cNvSpPr/>
          <p:nvPr/>
        </p:nvSpPr>
        <p:spPr>
          <a:xfrm>
            <a:off x="7452360" y="109728"/>
            <a:ext cx="1536192" cy="420624"/>
          </a:xfrm>
          <a:prstGeom prst="roundRect">
            <a:avLst>
              <a:gd name="adj" fmla="val 15000"/>
            </a:avLst>
          </a:prstGeom>
          <a:solidFill>
            <a:srgbClr val="C8E6A0"/>
          </a:solidFill>
          <a:ln w="12700">
            <a:solidFill>
              <a:srgbClr val="1B7A3A"/>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spcBef>
                <a:spcPts val="0"/>
              </a:spcBef>
              <a:spcAft>
                <a:spcPts val="200"/>
              </a:spcAft>
            </a:pPr>
            <a:r>
              <a:rPr sz="1100" b="1" i="0">
                <a:solidFill>
                  <a:srgbClr val="1B7A3A"/>
                </a:solidFill>
                <a:latin typeface="Calibri"/>
              </a:rPr>
              <a:t>A2 Biology</a:t>
            </a:r>
          </a:p>
        </p:txBody>
      </p:sp>
      <p:sp>
        <p:nvSpPr>
          <p:cNvPr id="6" name="Rectangle 5"/>
          <p:cNvSpPr/>
          <p:nvPr/>
        </p:nvSpPr>
        <p:spPr>
          <a:xfrm>
            <a:off x="0" y="0"/>
            <a:ext cx="73152" cy="6858000"/>
          </a:xfrm>
          <a:prstGeom prst="rect">
            <a:avLst/>
          </a:prstGeom>
          <a:solidFill>
            <a:srgbClr val="6B2D8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3152" y="6565392"/>
            <a:ext cx="9070848" cy="36576"/>
          </a:xfrm>
          <a:prstGeom prst="rect">
            <a:avLst/>
          </a:prstGeom>
          <a:solidFill>
            <a:srgbClr val="7A3E9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228600" y="6583680"/>
            <a:ext cx="1280160" cy="256032"/>
          </a:xfrm>
          <a:prstGeom prst="rect">
            <a:avLst/>
          </a:prstGeom>
          <a:noFill/>
        </p:spPr>
        <p:txBody>
          <a:bodyPr wrap="square" anchor="t">
            <a:spAutoFit/>
          </a:bodyPr>
          <a:lstStyle/>
          <a:p>
            <a:pPr algn="l">
              <a:spcAft>
                <a:spcPts val="400"/>
              </a:spcAft>
            </a:pPr>
            <a:r>
              <a:rPr sz="1000" b="0" i="0">
                <a:solidFill>
                  <a:srgbClr val="6B2D8B"/>
                </a:solidFill>
                <a:latin typeface="Calibri"/>
              </a:rPr>
              <a:t>activity</a:t>
            </a:r>
          </a:p>
        </p:txBody>
      </p:sp>
      <p:sp>
        <p:nvSpPr>
          <p:cNvPr id="9" name="TextBox 8"/>
          <p:cNvSpPr txBox="1"/>
          <p:nvPr/>
        </p:nvSpPr>
        <p:spPr>
          <a:xfrm>
            <a:off x="1554480" y="6583680"/>
            <a:ext cx="6035040" cy="256032"/>
          </a:xfrm>
          <a:prstGeom prst="rect">
            <a:avLst/>
          </a:prstGeom>
          <a:noFill/>
        </p:spPr>
        <p:txBody>
          <a:bodyPr wrap="square" anchor="t">
            <a:spAutoFit/>
          </a:bodyPr>
          <a:lstStyle/>
          <a:p>
            <a:pPr algn="ctr">
              <a:spcAft>
                <a:spcPts val="400"/>
              </a:spcAft>
            </a:pPr>
            <a:r>
              <a:rPr sz="900" b="0" i="0">
                <a:solidFill>
                  <a:srgbClr val="5A5A5A"/>
                </a:solidFill>
                <a:latin typeface="Calibri"/>
              </a:rPr>
              <a:t>Original course © Boardworks Ltd 2009. Reconstructed interactive resource.</a:t>
            </a:r>
          </a:p>
        </p:txBody>
      </p:sp>
      <p:sp>
        <p:nvSpPr>
          <p:cNvPr id="10" name="Rounded Rectangle 9"/>
          <p:cNvSpPr/>
          <p:nvPr/>
        </p:nvSpPr>
        <p:spPr>
          <a:xfrm>
            <a:off x="640080" y="1554480"/>
            <a:ext cx="7863840" cy="2194560"/>
          </a:xfrm>
          <a:prstGeom prst="roundRect">
            <a:avLst>
              <a:gd name="adj" fmla="val 15000"/>
            </a:avLst>
          </a:prstGeom>
          <a:solidFill>
            <a:srgbClr val="FFEBEE"/>
          </a:solidFill>
          <a:ln w="15875">
            <a:solidFill>
              <a:srgbClr val="EF6C00"/>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spcBef>
                <a:spcPts val="0"/>
              </a:spcBef>
              <a:spcAft>
                <a:spcPts val="200"/>
              </a:spcAft>
            </a:pPr>
            <a:r>
              <a:rPr sz="1800" b="0" i="0">
                <a:solidFill>
                  <a:srgbClr val="1B3A6B"/>
                </a:solidFill>
                <a:latin typeface="Calibri"/>
              </a:rPr>
              <a:t>Not quite.</a:t>
            </a:r>
          </a:p>
          <a:p>
            <a:pPr algn="ctr">
              <a:spcAft>
                <a:spcPts val="200"/>
              </a:spcAft>
            </a:pPr>
            <a:r>
              <a:rPr sz="1800" b="0" i="0">
                <a:solidFill>
                  <a:srgbClr val="1B3A6B"/>
                </a:solidFill>
                <a:latin typeface="Calibri"/>
              </a:rPr>
              <a:t/>
            </a:r>
          </a:p>
          <a:p>
            <a:pPr algn="ctr">
              <a:spcAft>
                <a:spcPts val="200"/>
              </a:spcAft>
            </a:pPr>
            <a:r>
              <a:rPr sz="1800" b="0" i="0">
                <a:solidFill>
                  <a:srgbClr val="1B3A6B"/>
                </a:solidFill>
                <a:latin typeface="Calibri"/>
              </a:rPr>
              <a:t>Look back at the resting-potential animation and try again.</a:t>
            </a:r>
          </a:p>
        </p:txBody>
      </p:sp>
      <p:sp>
        <p:nvSpPr>
          <p:cNvPr id="11" name="Rounded Rectangle 10">
            <a:hlinkClick r:id="rId2" action="ppaction://hlinksldjump"/>
          </p:cNvPr>
          <p:cNvSpPr/>
          <p:nvPr/>
        </p:nvSpPr>
        <p:spPr>
          <a:xfrm>
            <a:off x="3200400" y="4297680"/>
            <a:ext cx="2743200" cy="411480"/>
          </a:xfrm>
          <a:prstGeom prst="roundRect">
            <a:avLst>
              <a:gd name="adj" fmla="val 15000"/>
            </a:avLst>
          </a:prstGeom>
          <a:solidFill>
            <a:srgbClr val="EF6C00"/>
          </a:solidFill>
          <a:ln w="12700">
            <a:solidFill>
              <a:srgbClr val="EF6C00"/>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spcBef>
                <a:spcPts val="0"/>
              </a:spcBef>
              <a:spcAft>
                <a:spcPts val="200"/>
              </a:spcAft>
            </a:pPr>
            <a:r>
              <a:rPr sz="1400" b="1" i="0">
                <a:solidFill>
                  <a:srgbClr val="FFFFFF"/>
                </a:solidFill>
                <a:latin typeface="Calibri"/>
              </a:rPr>
              <a:t>Try again</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show="0">
  <p:cSld>
    <p:spTree>
      <p:nvGrpSpPr>
        <p:cNvPr id="1" name=""/>
        <p:cNvGrpSpPr/>
        <p:nvPr/>
      </p:nvGrpSpPr>
      <p:grpSpPr/>
      <p:sp>
        <p:nvSpPr>
          <p:cNvPr id="2" name="Rectangle 1"/>
          <p:cNvSpPr/>
          <p:nvPr/>
        </p:nvSpPr>
        <p:spPr>
          <a:xfrm>
            <a:off x="0" y="0"/>
            <a:ext cx="9144000" cy="658368"/>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640080"/>
            <a:ext cx="9144000" cy="54864"/>
          </a:xfrm>
          <a:prstGeom prst="rect">
            <a:avLst/>
          </a:pr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256032" y="91440"/>
            <a:ext cx="7498079" cy="502920"/>
          </a:xfrm>
          <a:prstGeom prst="rect">
            <a:avLst/>
          </a:prstGeom>
          <a:noFill/>
        </p:spPr>
        <p:txBody>
          <a:bodyPr wrap="square" anchor="t">
            <a:spAutoFit/>
          </a:bodyPr>
          <a:lstStyle/>
          <a:p>
            <a:pPr algn="l">
              <a:spcAft>
                <a:spcPts val="400"/>
              </a:spcAft>
            </a:pPr>
            <a:r>
              <a:rPr sz="2600" b="1" i="0">
                <a:solidFill>
                  <a:srgbClr val="2E9E4F"/>
                </a:solidFill>
                <a:latin typeface="Calibri"/>
              </a:rPr>
              <a:t>Understanding resting potential</a:t>
            </a:r>
          </a:p>
        </p:txBody>
      </p:sp>
      <p:sp>
        <p:nvSpPr>
          <p:cNvPr id="5" name="Rounded Rectangle 4"/>
          <p:cNvSpPr/>
          <p:nvPr/>
        </p:nvSpPr>
        <p:spPr>
          <a:xfrm>
            <a:off x="7452360" y="109728"/>
            <a:ext cx="1536192" cy="420624"/>
          </a:xfrm>
          <a:prstGeom prst="roundRect">
            <a:avLst>
              <a:gd name="adj" fmla="val 15000"/>
            </a:avLst>
          </a:prstGeom>
          <a:solidFill>
            <a:srgbClr val="C8E6A0"/>
          </a:solidFill>
          <a:ln w="12700">
            <a:solidFill>
              <a:srgbClr val="1B7A3A"/>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spcBef>
                <a:spcPts val="0"/>
              </a:spcBef>
              <a:spcAft>
                <a:spcPts val="200"/>
              </a:spcAft>
            </a:pPr>
            <a:r>
              <a:rPr sz="1100" b="1" i="0">
                <a:solidFill>
                  <a:srgbClr val="1B7A3A"/>
                </a:solidFill>
                <a:latin typeface="Calibri"/>
              </a:rPr>
              <a:t>A2 Biology</a:t>
            </a:r>
          </a:p>
        </p:txBody>
      </p:sp>
      <p:sp>
        <p:nvSpPr>
          <p:cNvPr id="6" name="Rectangle 5"/>
          <p:cNvSpPr/>
          <p:nvPr/>
        </p:nvSpPr>
        <p:spPr>
          <a:xfrm>
            <a:off x="0" y="0"/>
            <a:ext cx="73152" cy="6858000"/>
          </a:xfrm>
          <a:prstGeom prst="rect">
            <a:avLst/>
          </a:prstGeom>
          <a:solidFill>
            <a:srgbClr val="6B2D8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3152" y="6565392"/>
            <a:ext cx="9070848" cy="36576"/>
          </a:xfrm>
          <a:prstGeom prst="rect">
            <a:avLst/>
          </a:prstGeom>
          <a:solidFill>
            <a:srgbClr val="7A3E9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228600" y="6583680"/>
            <a:ext cx="1280160" cy="256032"/>
          </a:xfrm>
          <a:prstGeom prst="rect">
            <a:avLst/>
          </a:prstGeom>
          <a:noFill/>
        </p:spPr>
        <p:txBody>
          <a:bodyPr wrap="square" anchor="t">
            <a:spAutoFit/>
          </a:bodyPr>
          <a:lstStyle/>
          <a:p>
            <a:pPr algn="l">
              <a:spcAft>
                <a:spcPts val="400"/>
              </a:spcAft>
            </a:pPr>
            <a:r>
              <a:rPr sz="1000" b="0" i="0">
                <a:solidFill>
                  <a:srgbClr val="6B2D8B"/>
                </a:solidFill>
                <a:latin typeface="Calibri"/>
              </a:rPr>
              <a:t>activity</a:t>
            </a:r>
          </a:p>
        </p:txBody>
      </p:sp>
      <p:sp>
        <p:nvSpPr>
          <p:cNvPr id="9" name="TextBox 8"/>
          <p:cNvSpPr txBox="1"/>
          <p:nvPr/>
        </p:nvSpPr>
        <p:spPr>
          <a:xfrm>
            <a:off x="1554480" y="6583680"/>
            <a:ext cx="6035040" cy="256032"/>
          </a:xfrm>
          <a:prstGeom prst="rect">
            <a:avLst/>
          </a:prstGeom>
          <a:noFill/>
        </p:spPr>
        <p:txBody>
          <a:bodyPr wrap="square" anchor="t">
            <a:spAutoFit/>
          </a:bodyPr>
          <a:lstStyle/>
          <a:p>
            <a:pPr algn="ctr">
              <a:spcAft>
                <a:spcPts val="400"/>
              </a:spcAft>
            </a:pPr>
            <a:r>
              <a:rPr sz="900" b="0" i="0">
                <a:solidFill>
                  <a:srgbClr val="5A5A5A"/>
                </a:solidFill>
                <a:latin typeface="Calibri"/>
              </a:rPr>
              <a:t>Original course © Boardworks Ltd 2009. Reconstructed interactive resource.</a:t>
            </a:r>
          </a:p>
        </p:txBody>
      </p:sp>
      <p:sp>
        <p:nvSpPr>
          <p:cNvPr id="10" name="Rounded Rectangle 9"/>
          <p:cNvSpPr/>
          <p:nvPr/>
        </p:nvSpPr>
        <p:spPr>
          <a:xfrm>
            <a:off x="640080" y="1554480"/>
            <a:ext cx="7863840" cy="2194560"/>
          </a:xfrm>
          <a:prstGeom prst="roundRect">
            <a:avLst>
              <a:gd name="adj" fmla="val 15000"/>
            </a:avLst>
          </a:prstGeom>
          <a:solidFill>
            <a:srgbClr val="FFEBEE"/>
          </a:solidFill>
          <a:ln w="15875">
            <a:solidFill>
              <a:srgbClr val="EF6C00"/>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spcBef>
                <a:spcPts val="0"/>
              </a:spcBef>
              <a:spcAft>
                <a:spcPts val="200"/>
              </a:spcAft>
            </a:pPr>
            <a:r>
              <a:rPr sz="1800" b="0" i="0">
                <a:solidFill>
                  <a:srgbClr val="1B3A6B"/>
                </a:solidFill>
                <a:latin typeface="Calibri"/>
              </a:rPr>
              <a:t>Not quite.</a:t>
            </a:r>
          </a:p>
          <a:p>
            <a:pPr algn="ctr">
              <a:spcAft>
                <a:spcPts val="200"/>
              </a:spcAft>
            </a:pPr>
            <a:r>
              <a:rPr sz="1800" b="0" i="0">
                <a:solidFill>
                  <a:srgbClr val="1B3A6B"/>
                </a:solidFill>
                <a:latin typeface="Calibri"/>
              </a:rPr>
              <a:t/>
            </a:r>
          </a:p>
          <a:p>
            <a:pPr algn="ctr">
              <a:spcAft>
                <a:spcPts val="200"/>
              </a:spcAft>
            </a:pPr>
            <a:r>
              <a:rPr sz="1800" b="0" i="0">
                <a:solidFill>
                  <a:srgbClr val="1B3A6B"/>
                </a:solidFill>
                <a:latin typeface="Calibri"/>
              </a:rPr>
              <a:t>Look back at the resting-potential animation and try again.</a:t>
            </a:r>
          </a:p>
        </p:txBody>
      </p:sp>
      <p:sp>
        <p:nvSpPr>
          <p:cNvPr id="11" name="Rounded Rectangle 10">
            <a:hlinkClick r:id="rId2" action="ppaction://hlinksldjump"/>
          </p:cNvPr>
          <p:cNvSpPr/>
          <p:nvPr/>
        </p:nvSpPr>
        <p:spPr>
          <a:xfrm>
            <a:off x="3200400" y="4297680"/>
            <a:ext cx="2743200" cy="411480"/>
          </a:xfrm>
          <a:prstGeom prst="roundRect">
            <a:avLst>
              <a:gd name="adj" fmla="val 15000"/>
            </a:avLst>
          </a:prstGeom>
          <a:solidFill>
            <a:srgbClr val="EF6C00"/>
          </a:solidFill>
          <a:ln w="12700">
            <a:solidFill>
              <a:srgbClr val="EF6C00"/>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spcBef>
                <a:spcPts val="0"/>
              </a:spcBef>
              <a:spcAft>
                <a:spcPts val="200"/>
              </a:spcAft>
            </a:pPr>
            <a:r>
              <a:rPr sz="1400" b="1" i="0">
                <a:solidFill>
                  <a:srgbClr val="FFFFFF"/>
                </a:solidFill>
                <a:latin typeface="Calibri"/>
              </a:rPr>
              <a:t>Try again</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show="0">
  <p:cSld>
    <p:spTree>
      <p:nvGrpSpPr>
        <p:cNvPr id="1" name=""/>
        <p:cNvGrpSpPr/>
        <p:nvPr/>
      </p:nvGrpSpPr>
      <p:grpSpPr/>
      <p:sp>
        <p:nvSpPr>
          <p:cNvPr id="2" name="Rectangle 1"/>
          <p:cNvSpPr/>
          <p:nvPr/>
        </p:nvSpPr>
        <p:spPr>
          <a:xfrm>
            <a:off x="0" y="0"/>
            <a:ext cx="9144000" cy="658368"/>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640080"/>
            <a:ext cx="9144000" cy="54864"/>
          </a:xfrm>
          <a:prstGeom prst="rect">
            <a:avLst/>
          </a:pr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256032" y="91440"/>
            <a:ext cx="7498079" cy="502920"/>
          </a:xfrm>
          <a:prstGeom prst="rect">
            <a:avLst/>
          </a:prstGeom>
          <a:noFill/>
        </p:spPr>
        <p:txBody>
          <a:bodyPr wrap="square" anchor="t">
            <a:spAutoFit/>
          </a:bodyPr>
          <a:lstStyle/>
          <a:p>
            <a:pPr algn="l">
              <a:spcAft>
                <a:spcPts val="400"/>
              </a:spcAft>
            </a:pPr>
            <a:r>
              <a:rPr sz="2600" b="1" i="0">
                <a:solidFill>
                  <a:srgbClr val="2E9E4F"/>
                </a:solidFill>
                <a:latin typeface="Calibri"/>
              </a:rPr>
              <a:t>Understanding resting potential</a:t>
            </a:r>
          </a:p>
        </p:txBody>
      </p:sp>
      <p:sp>
        <p:nvSpPr>
          <p:cNvPr id="5" name="Rounded Rectangle 4"/>
          <p:cNvSpPr/>
          <p:nvPr/>
        </p:nvSpPr>
        <p:spPr>
          <a:xfrm>
            <a:off x="7452360" y="109728"/>
            <a:ext cx="1536192" cy="420624"/>
          </a:xfrm>
          <a:prstGeom prst="roundRect">
            <a:avLst>
              <a:gd name="adj" fmla="val 15000"/>
            </a:avLst>
          </a:prstGeom>
          <a:solidFill>
            <a:srgbClr val="C8E6A0"/>
          </a:solidFill>
          <a:ln w="12700">
            <a:solidFill>
              <a:srgbClr val="1B7A3A"/>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spcBef>
                <a:spcPts val="0"/>
              </a:spcBef>
              <a:spcAft>
                <a:spcPts val="200"/>
              </a:spcAft>
            </a:pPr>
            <a:r>
              <a:rPr sz="1100" b="1" i="0">
                <a:solidFill>
                  <a:srgbClr val="1B7A3A"/>
                </a:solidFill>
                <a:latin typeface="Calibri"/>
              </a:rPr>
              <a:t>A2 Biology</a:t>
            </a:r>
          </a:p>
        </p:txBody>
      </p:sp>
      <p:sp>
        <p:nvSpPr>
          <p:cNvPr id="6" name="Rectangle 5"/>
          <p:cNvSpPr/>
          <p:nvPr/>
        </p:nvSpPr>
        <p:spPr>
          <a:xfrm>
            <a:off x="0" y="0"/>
            <a:ext cx="73152" cy="6858000"/>
          </a:xfrm>
          <a:prstGeom prst="rect">
            <a:avLst/>
          </a:prstGeom>
          <a:solidFill>
            <a:srgbClr val="6B2D8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3152" y="6565392"/>
            <a:ext cx="9070848" cy="36576"/>
          </a:xfrm>
          <a:prstGeom prst="rect">
            <a:avLst/>
          </a:prstGeom>
          <a:solidFill>
            <a:srgbClr val="7A3E9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228600" y="6583680"/>
            <a:ext cx="1280160" cy="256032"/>
          </a:xfrm>
          <a:prstGeom prst="rect">
            <a:avLst/>
          </a:prstGeom>
          <a:noFill/>
        </p:spPr>
        <p:txBody>
          <a:bodyPr wrap="square" anchor="t">
            <a:spAutoFit/>
          </a:bodyPr>
          <a:lstStyle/>
          <a:p>
            <a:pPr algn="l">
              <a:spcAft>
                <a:spcPts val="400"/>
              </a:spcAft>
            </a:pPr>
            <a:r>
              <a:rPr sz="1000" b="0" i="0">
                <a:solidFill>
                  <a:srgbClr val="6B2D8B"/>
                </a:solidFill>
                <a:latin typeface="Calibri"/>
              </a:rPr>
              <a:t>activity</a:t>
            </a:r>
          </a:p>
        </p:txBody>
      </p:sp>
      <p:sp>
        <p:nvSpPr>
          <p:cNvPr id="9" name="TextBox 8"/>
          <p:cNvSpPr txBox="1"/>
          <p:nvPr/>
        </p:nvSpPr>
        <p:spPr>
          <a:xfrm>
            <a:off x="1554480" y="6583680"/>
            <a:ext cx="6035040" cy="256032"/>
          </a:xfrm>
          <a:prstGeom prst="rect">
            <a:avLst/>
          </a:prstGeom>
          <a:noFill/>
        </p:spPr>
        <p:txBody>
          <a:bodyPr wrap="square" anchor="t">
            <a:spAutoFit/>
          </a:bodyPr>
          <a:lstStyle/>
          <a:p>
            <a:pPr algn="ctr">
              <a:spcAft>
                <a:spcPts val="400"/>
              </a:spcAft>
            </a:pPr>
            <a:r>
              <a:rPr sz="900" b="0" i="0">
                <a:solidFill>
                  <a:srgbClr val="5A5A5A"/>
                </a:solidFill>
                <a:latin typeface="Calibri"/>
              </a:rPr>
              <a:t>Original course © Boardworks Ltd 2009. Reconstructed interactive resource.</a:t>
            </a:r>
          </a:p>
        </p:txBody>
      </p:sp>
      <p:sp>
        <p:nvSpPr>
          <p:cNvPr id="10" name="Rounded Rectangle 9"/>
          <p:cNvSpPr/>
          <p:nvPr/>
        </p:nvSpPr>
        <p:spPr>
          <a:xfrm>
            <a:off x="640080" y="1554480"/>
            <a:ext cx="7863840" cy="2377440"/>
          </a:xfrm>
          <a:prstGeom prst="roundRect">
            <a:avLst>
              <a:gd name="adj" fmla="val 15000"/>
            </a:avLst>
          </a:prstGeom>
          <a:solidFill>
            <a:srgbClr val="E8F5E9"/>
          </a:solidFill>
          <a:ln w="15875">
            <a:solidFill>
              <a:srgbClr val="1B7A3A"/>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spcBef>
                <a:spcPts val="0"/>
              </a:spcBef>
              <a:spcAft>
                <a:spcPts val="200"/>
              </a:spcAft>
            </a:pPr>
            <a:r>
              <a:rPr sz="1800" b="0" i="0">
                <a:solidFill>
                  <a:srgbClr val="1B3A6B"/>
                </a:solidFill>
                <a:latin typeface="Calibri"/>
              </a:rPr>
              <a:t>Correct.</a:t>
            </a:r>
          </a:p>
          <a:p>
            <a:pPr algn="ctr">
              <a:spcAft>
                <a:spcPts val="200"/>
              </a:spcAft>
            </a:pPr>
            <a:r>
              <a:rPr sz="1800" b="0" i="0">
                <a:solidFill>
                  <a:srgbClr val="1B3A6B"/>
                </a:solidFill>
                <a:latin typeface="Calibri"/>
              </a:rPr>
              <a:t/>
            </a:r>
          </a:p>
          <a:p>
            <a:pPr algn="ctr">
              <a:spcAft>
                <a:spcPts val="200"/>
              </a:spcAft>
            </a:pPr>
            <a:r>
              <a:rPr sz="1800" b="0" i="0">
                <a:solidFill>
                  <a:srgbClr val="1B3A6B"/>
                </a:solidFill>
                <a:latin typeface="Calibri"/>
              </a:rPr>
              <a:t>Organic anions and net ion movement keep the inside negative.</a:t>
            </a:r>
          </a:p>
        </p:txBody>
      </p:sp>
      <p:sp>
        <p:nvSpPr>
          <p:cNvPr id="11" name="Rounded Rectangle 10">
            <a:hlinkClick r:id="rId2" action="ppaction://hlinksldjump"/>
          </p:cNvPr>
          <p:cNvSpPr/>
          <p:nvPr/>
        </p:nvSpPr>
        <p:spPr>
          <a:xfrm>
            <a:off x="3200400" y="4389120"/>
            <a:ext cx="2743200" cy="411480"/>
          </a:xfrm>
          <a:prstGeom prst="roundRect">
            <a:avLst>
              <a:gd name="adj" fmla="val 15000"/>
            </a:avLst>
          </a:prstGeom>
          <a:solidFill>
            <a:srgbClr val="2E9E4F"/>
          </a:solidFill>
          <a:ln w="12700">
            <a:solidFill>
              <a:srgbClr val="2E9E4F"/>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spcBef>
                <a:spcPts val="0"/>
              </a:spcBef>
              <a:spcAft>
                <a:spcPts val="200"/>
              </a:spcAft>
            </a:pPr>
            <a:r>
              <a:rPr sz="1400" b="1" i="0">
                <a:solidFill>
                  <a:srgbClr val="FFFFFF"/>
                </a:solidFill>
                <a:latin typeface="Calibri"/>
              </a:rPr>
              <a:t>Back</a:t>
            </a:r>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show="0">
  <p:cSld>
    <p:spTree>
      <p:nvGrpSpPr>
        <p:cNvPr id="1" name=""/>
        <p:cNvGrpSpPr/>
        <p:nvPr/>
      </p:nvGrpSpPr>
      <p:grpSpPr/>
      <p:sp>
        <p:nvSpPr>
          <p:cNvPr id="2" name="Rectangle 1"/>
          <p:cNvSpPr/>
          <p:nvPr/>
        </p:nvSpPr>
        <p:spPr>
          <a:xfrm>
            <a:off x="0" y="0"/>
            <a:ext cx="9144000" cy="658368"/>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640080"/>
            <a:ext cx="9144000" cy="54864"/>
          </a:xfrm>
          <a:prstGeom prst="rect">
            <a:avLst/>
          </a:pr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256032" y="91440"/>
            <a:ext cx="7498079" cy="502920"/>
          </a:xfrm>
          <a:prstGeom prst="rect">
            <a:avLst/>
          </a:prstGeom>
          <a:noFill/>
        </p:spPr>
        <p:txBody>
          <a:bodyPr wrap="square" anchor="t">
            <a:spAutoFit/>
          </a:bodyPr>
          <a:lstStyle/>
          <a:p>
            <a:pPr algn="l">
              <a:spcAft>
                <a:spcPts val="400"/>
              </a:spcAft>
            </a:pPr>
            <a:r>
              <a:rPr sz="2600" b="1" i="0">
                <a:solidFill>
                  <a:srgbClr val="2E9E4F"/>
                </a:solidFill>
                <a:latin typeface="Calibri"/>
              </a:rPr>
              <a:t>Understanding resting potential</a:t>
            </a:r>
          </a:p>
        </p:txBody>
      </p:sp>
      <p:sp>
        <p:nvSpPr>
          <p:cNvPr id="5" name="Rounded Rectangle 4"/>
          <p:cNvSpPr/>
          <p:nvPr/>
        </p:nvSpPr>
        <p:spPr>
          <a:xfrm>
            <a:off x="7452360" y="109728"/>
            <a:ext cx="1536192" cy="420624"/>
          </a:xfrm>
          <a:prstGeom prst="roundRect">
            <a:avLst>
              <a:gd name="adj" fmla="val 15000"/>
            </a:avLst>
          </a:prstGeom>
          <a:solidFill>
            <a:srgbClr val="C8E6A0"/>
          </a:solidFill>
          <a:ln w="12700">
            <a:solidFill>
              <a:srgbClr val="1B7A3A"/>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spcBef>
                <a:spcPts val="0"/>
              </a:spcBef>
              <a:spcAft>
                <a:spcPts val="200"/>
              </a:spcAft>
            </a:pPr>
            <a:r>
              <a:rPr sz="1100" b="1" i="0">
                <a:solidFill>
                  <a:srgbClr val="1B7A3A"/>
                </a:solidFill>
                <a:latin typeface="Calibri"/>
              </a:rPr>
              <a:t>A2 Biology</a:t>
            </a:r>
          </a:p>
        </p:txBody>
      </p:sp>
      <p:sp>
        <p:nvSpPr>
          <p:cNvPr id="6" name="Rectangle 5"/>
          <p:cNvSpPr/>
          <p:nvPr/>
        </p:nvSpPr>
        <p:spPr>
          <a:xfrm>
            <a:off x="0" y="0"/>
            <a:ext cx="73152" cy="6858000"/>
          </a:xfrm>
          <a:prstGeom prst="rect">
            <a:avLst/>
          </a:prstGeom>
          <a:solidFill>
            <a:srgbClr val="6B2D8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3152" y="6565392"/>
            <a:ext cx="9070848" cy="36576"/>
          </a:xfrm>
          <a:prstGeom prst="rect">
            <a:avLst/>
          </a:prstGeom>
          <a:solidFill>
            <a:srgbClr val="7A3E9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228600" y="6583680"/>
            <a:ext cx="1280160" cy="256032"/>
          </a:xfrm>
          <a:prstGeom prst="rect">
            <a:avLst/>
          </a:prstGeom>
          <a:noFill/>
        </p:spPr>
        <p:txBody>
          <a:bodyPr wrap="square" anchor="t">
            <a:spAutoFit/>
          </a:bodyPr>
          <a:lstStyle/>
          <a:p>
            <a:pPr algn="l">
              <a:spcAft>
                <a:spcPts val="400"/>
              </a:spcAft>
            </a:pPr>
            <a:r>
              <a:rPr sz="1000" b="0" i="0">
                <a:solidFill>
                  <a:srgbClr val="6B2D8B"/>
                </a:solidFill>
                <a:latin typeface="Calibri"/>
              </a:rPr>
              <a:t>activity</a:t>
            </a:r>
          </a:p>
        </p:txBody>
      </p:sp>
      <p:sp>
        <p:nvSpPr>
          <p:cNvPr id="9" name="TextBox 8"/>
          <p:cNvSpPr txBox="1"/>
          <p:nvPr/>
        </p:nvSpPr>
        <p:spPr>
          <a:xfrm>
            <a:off x="1554480" y="6583680"/>
            <a:ext cx="6035040" cy="256032"/>
          </a:xfrm>
          <a:prstGeom prst="rect">
            <a:avLst/>
          </a:prstGeom>
          <a:noFill/>
        </p:spPr>
        <p:txBody>
          <a:bodyPr wrap="square" anchor="t">
            <a:spAutoFit/>
          </a:bodyPr>
          <a:lstStyle/>
          <a:p>
            <a:pPr algn="ctr">
              <a:spcAft>
                <a:spcPts val="400"/>
              </a:spcAft>
            </a:pPr>
            <a:r>
              <a:rPr sz="900" b="0" i="0">
                <a:solidFill>
                  <a:srgbClr val="5A5A5A"/>
                </a:solidFill>
                <a:latin typeface="Calibri"/>
              </a:rPr>
              <a:t>Original course © Boardworks Ltd 2009. Reconstructed interactive resource.</a:t>
            </a:r>
          </a:p>
        </p:txBody>
      </p:sp>
      <p:sp>
        <p:nvSpPr>
          <p:cNvPr id="10" name="Rounded Rectangle 9"/>
          <p:cNvSpPr/>
          <p:nvPr/>
        </p:nvSpPr>
        <p:spPr>
          <a:xfrm>
            <a:off x="640080" y="1554480"/>
            <a:ext cx="7863840" cy="2194560"/>
          </a:xfrm>
          <a:prstGeom prst="roundRect">
            <a:avLst>
              <a:gd name="adj" fmla="val 15000"/>
            </a:avLst>
          </a:prstGeom>
          <a:solidFill>
            <a:srgbClr val="FFEBEE"/>
          </a:solidFill>
          <a:ln w="15875">
            <a:solidFill>
              <a:srgbClr val="EF6C00"/>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spcBef>
                <a:spcPts val="0"/>
              </a:spcBef>
              <a:spcAft>
                <a:spcPts val="200"/>
              </a:spcAft>
            </a:pPr>
            <a:r>
              <a:rPr sz="1800" b="0" i="0">
                <a:solidFill>
                  <a:srgbClr val="1B3A6B"/>
                </a:solidFill>
                <a:latin typeface="Calibri"/>
              </a:rPr>
              <a:t>Not quite.</a:t>
            </a:r>
          </a:p>
          <a:p>
            <a:pPr algn="ctr">
              <a:spcAft>
                <a:spcPts val="200"/>
              </a:spcAft>
            </a:pPr>
            <a:r>
              <a:rPr sz="1800" b="0" i="0">
                <a:solidFill>
                  <a:srgbClr val="1B3A6B"/>
                </a:solidFill>
                <a:latin typeface="Calibri"/>
              </a:rPr>
              <a:t/>
            </a:r>
          </a:p>
          <a:p>
            <a:pPr algn="ctr">
              <a:spcAft>
                <a:spcPts val="200"/>
              </a:spcAft>
            </a:pPr>
            <a:r>
              <a:rPr sz="1800" b="0" i="0">
                <a:solidFill>
                  <a:srgbClr val="1B3A6B"/>
                </a:solidFill>
                <a:latin typeface="Calibri"/>
              </a:rPr>
              <a:t>Look back at the resting-potential animation and try again.</a:t>
            </a:r>
          </a:p>
        </p:txBody>
      </p:sp>
      <p:sp>
        <p:nvSpPr>
          <p:cNvPr id="11" name="Rounded Rectangle 10">
            <a:hlinkClick r:id="rId2" action="ppaction://hlinksldjump"/>
          </p:cNvPr>
          <p:cNvSpPr/>
          <p:nvPr/>
        </p:nvSpPr>
        <p:spPr>
          <a:xfrm>
            <a:off x="3200400" y="4297680"/>
            <a:ext cx="2743200" cy="411480"/>
          </a:xfrm>
          <a:prstGeom prst="roundRect">
            <a:avLst>
              <a:gd name="adj" fmla="val 15000"/>
            </a:avLst>
          </a:prstGeom>
          <a:solidFill>
            <a:srgbClr val="EF6C00"/>
          </a:solidFill>
          <a:ln w="12700">
            <a:solidFill>
              <a:srgbClr val="EF6C00"/>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spcBef>
                <a:spcPts val="0"/>
              </a:spcBef>
              <a:spcAft>
                <a:spcPts val="200"/>
              </a:spcAft>
            </a:pPr>
            <a:r>
              <a:rPr sz="1400" b="1" i="0">
                <a:solidFill>
                  <a:srgbClr val="FFFFFF"/>
                </a:solidFill>
                <a:latin typeface="Calibri"/>
              </a:rPr>
              <a:t>Try again</a:t>
            </a:r>
          </a:p>
        </p:txBody>
      </p:sp>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show="0">
  <p:cSld>
    <p:spTree>
      <p:nvGrpSpPr>
        <p:cNvPr id="1" name=""/>
        <p:cNvGrpSpPr/>
        <p:nvPr/>
      </p:nvGrpSpPr>
      <p:grpSpPr/>
      <p:sp>
        <p:nvSpPr>
          <p:cNvPr id="2" name="Rectangle 1"/>
          <p:cNvSpPr/>
          <p:nvPr/>
        </p:nvSpPr>
        <p:spPr>
          <a:xfrm>
            <a:off x="0" y="0"/>
            <a:ext cx="9144000" cy="658368"/>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640080"/>
            <a:ext cx="9144000" cy="54864"/>
          </a:xfrm>
          <a:prstGeom prst="rect">
            <a:avLst/>
          </a:pr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256032" y="91440"/>
            <a:ext cx="7498079" cy="502920"/>
          </a:xfrm>
          <a:prstGeom prst="rect">
            <a:avLst/>
          </a:prstGeom>
          <a:noFill/>
        </p:spPr>
        <p:txBody>
          <a:bodyPr wrap="square" anchor="t">
            <a:spAutoFit/>
          </a:bodyPr>
          <a:lstStyle/>
          <a:p>
            <a:pPr algn="l">
              <a:spcAft>
                <a:spcPts val="400"/>
              </a:spcAft>
            </a:pPr>
            <a:r>
              <a:rPr sz="2600" b="1" i="0">
                <a:solidFill>
                  <a:srgbClr val="2E9E4F"/>
                </a:solidFill>
                <a:latin typeface="Calibri"/>
              </a:rPr>
              <a:t>Understanding resting potential</a:t>
            </a:r>
          </a:p>
        </p:txBody>
      </p:sp>
      <p:sp>
        <p:nvSpPr>
          <p:cNvPr id="5" name="Rounded Rectangle 4"/>
          <p:cNvSpPr/>
          <p:nvPr/>
        </p:nvSpPr>
        <p:spPr>
          <a:xfrm>
            <a:off x="7452360" y="109728"/>
            <a:ext cx="1536192" cy="420624"/>
          </a:xfrm>
          <a:prstGeom prst="roundRect">
            <a:avLst>
              <a:gd name="adj" fmla="val 15000"/>
            </a:avLst>
          </a:prstGeom>
          <a:solidFill>
            <a:srgbClr val="C8E6A0"/>
          </a:solidFill>
          <a:ln w="12700">
            <a:solidFill>
              <a:srgbClr val="1B7A3A"/>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spcBef>
                <a:spcPts val="0"/>
              </a:spcBef>
              <a:spcAft>
                <a:spcPts val="200"/>
              </a:spcAft>
            </a:pPr>
            <a:r>
              <a:rPr sz="1100" b="1" i="0">
                <a:solidFill>
                  <a:srgbClr val="1B7A3A"/>
                </a:solidFill>
                <a:latin typeface="Calibri"/>
              </a:rPr>
              <a:t>A2 Biology</a:t>
            </a:r>
          </a:p>
        </p:txBody>
      </p:sp>
      <p:sp>
        <p:nvSpPr>
          <p:cNvPr id="6" name="Rectangle 5"/>
          <p:cNvSpPr/>
          <p:nvPr/>
        </p:nvSpPr>
        <p:spPr>
          <a:xfrm>
            <a:off x="0" y="0"/>
            <a:ext cx="73152" cy="6858000"/>
          </a:xfrm>
          <a:prstGeom prst="rect">
            <a:avLst/>
          </a:prstGeom>
          <a:solidFill>
            <a:srgbClr val="6B2D8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3152" y="6565392"/>
            <a:ext cx="9070848" cy="36576"/>
          </a:xfrm>
          <a:prstGeom prst="rect">
            <a:avLst/>
          </a:prstGeom>
          <a:solidFill>
            <a:srgbClr val="7A3E9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228600" y="6583680"/>
            <a:ext cx="1280160" cy="256032"/>
          </a:xfrm>
          <a:prstGeom prst="rect">
            <a:avLst/>
          </a:prstGeom>
          <a:noFill/>
        </p:spPr>
        <p:txBody>
          <a:bodyPr wrap="square" anchor="t">
            <a:spAutoFit/>
          </a:bodyPr>
          <a:lstStyle/>
          <a:p>
            <a:pPr algn="l">
              <a:spcAft>
                <a:spcPts val="400"/>
              </a:spcAft>
            </a:pPr>
            <a:r>
              <a:rPr sz="1000" b="0" i="0">
                <a:solidFill>
                  <a:srgbClr val="6B2D8B"/>
                </a:solidFill>
                <a:latin typeface="Calibri"/>
              </a:rPr>
              <a:t>activity</a:t>
            </a:r>
          </a:p>
        </p:txBody>
      </p:sp>
      <p:sp>
        <p:nvSpPr>
          <p:cNvPr id="9" name="TextBox 8"/>
          <p:cNvSpPr txBox="1"/>
          <p:nvPr/>
        </p:nvSpPr>
        <p:spPr>
          <a:xfrm>
            <a:off x="1554480" y="6583680"/>
            <a:ext cx="6035040" cy="256032"/>
          </a:xfrm>
          <a:prstGeom prst="rect">
            <a:avLst/>
          </a:prstGeom>
          <a:noFill/>
        </p:spPr>
        <p:txBody>
          <a:bodyPr wrap="square" anchor="t">
            <a:spAutoFit/>
          </a:bodyPr>
          <a:lstStyle/>
          <a:p>
            <a:pPr algn="ctr">
              <a:spcAft>
                <a:spcPts val="400"/>
              </a:spcAft>
            </a:pPr>
            <a:r>
              <a:rPr sz="900" b="0" i="0">
                <a:solidFill>
                  <a:srgbClr val="5A5A5A"/>
                </a:solidFill>
                <a:latin typeface="Calibri"/>
              </a:rPr>
              <a:t>Original course © Boardworks Ltd 2009. Reconstructed interactive resource.</a:t>
            </a:r>
          </a:p>
        </p:txBody>
      </p:sp>
      <p:sp>
        <p:nvSpPr>
          <p:cNvPr id="10" name="Rounded Rectangle 9"/>
          <p:cNvSpPr/>
          <p:nvPr/>
        </p:nvSpPr>
        <p:spPr>
          <a:xfrm>
            <a:off x="640080" y="1554480"/>
            <a:ext cx="7863840" cy="2194560"/>
          </a:xfrm>
          <a:prstGeom prst="roundRect">
            <a:avLst>
              <a:gd name="adj" fmla="val 15000"/>
            </a:avLst>
          </a:prstGeom>
          <a:solidFill>
            <a:srgbClr val="FFEBEE"/>
          </a:solidFill>
          <a:ln w="15875">
            <a:solidFill>
              <a:srgbClr val="EF6C00"/>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spcBef>
                <a:spcPts val="0"/>
              </a:spcBef>
              <a:spcAft>
                <a:spcPts val="200"/>
              </a:spcAft>
            </a:pPr>
            <a:r>
              <a:rPr sz="1800" b="0" i="0">
                <a:solidFill>
                  <a:srgbClr val="1B3A6B"/>
                </a:solidFill>
                <a:latin typeface="Calibri"/>
              </a:rPr>
              <a:t>Not quite.</a:t>
            </a:r>
          </a:p>
          <a:p>
            <a:pPr algn="ctr">
              <a:spcAft>
                <a:spcPts val="200"/>
              </a:spcAft>
            </a:pPr>
            <a:r>
              <a:rPr sz="1800" b="0" i="0">
                <a:solidFill>
                  <a:srgbClr val="1B3A6B"/>
                </a:solidFill>
                <a:latin typeface="Calibri"/>
              </a:rPr>
              <a:t/>
            </a:r>
          </a:p>
          <a:p>
            <a:pPr algn="ctr">
              <a:spcAft>
                <a:spcPts val="200"/>
              </a:spcAft>
            </a:pPr>
            <a:r>
              <a:rPr sz="1800" b="0" i="0">
                <a:solidFill>
                  <a:srgbClr val="1B3A6B"/>
                </a:solidFill>
                <a:latin typeface="Calibri"/>
              </a:rPr>
              <a:t>Look back at the resting-potential animation and try again.</a:t>
            </a:r>
          </a:p>
        </p:txBody>
      </p:sp>
      <p:sp>
        <p:nvSpPr>
          <p:cNvPr id="11" name="Rounded Rectangle 10">
            <a:hlinkClick r:id="rId2" action="ppaction://hlinksldjump"/>
          </p:cNvPr>
          <p:cNvSpPr/>
          <p:nvPr/>
        </p:nvSpPr>
        <p:spPr>
          <a:xfrm>
            <a:off x="3200400" y="4297680"/>
            <a:ext cx="2743200" cy="411480"/>
          </a:xfrm>
          <a:prstGeom prst="roundRect">
            <a:avLst>
              <a:gd name="adj" fmla="val 15000"/>
            </a:avLst>
          </a:prstGeom>
          <a:solidFill>
            <a:srgbClr val="EF6C00"/>
          </a:solidFill>
          <a:ln w="12700">
            <a:solidFill>
              <a:srgbClr val="EF6C00"/>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spcBef>
                <a:spcPts val="0"/>
              </a:spcBef>
              <a:spcAft>
                <a:spcPts val="200"/>
              </a:spcAft>
            </a:pPr>
            <a:r>
              <a:rPr sz="1400" b="1" i="0">
                <a:solidFill>
                  <a:srgbClr val="FFFFFF"/>
                </a:solidFill>
                <a:latin typeface="Calibri"/>
              </a:rPr>
              <a:t>Try again</a:t>
            </a:r>
          </a:p>
        </p:txBody>
      </p:sp>
    </p:spTree>
  </p:cSld>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show="0">
  <p:cSld>
    <p:spTree>
      <p:nvGrpSpPr>
        <p:cNvPr id="1" name=""/>
        <p:cNvGrpSpPr/>
        <p:nvPr/>
      </p:nvGrpSpPr>
      <p:grpSpPr/>
      <p:sp>
        <p:nvSpPr>
          <p:cNvPr id="2" name="Rectangle 1"/>
          <p:cNvSpPr/>
          <p:nvPr/>
        </p:nvSpPr>
        <p:spPr>
          <a:xfrm>
            <a:off x="0" y="0"/>
            <a:ext cx="9144000" cy="658368"/>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640080"/>
            <a:ext cx="9144000" cy="54864"/>
          </a:xfrm>
          <a:prstGeom prst="rect">
            <a:avLst/>
          </a:pr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256032" y="91440"/>
            <a:ext cx="7498079" cy="502920"/>
          </a:xfrm>
          <a:prstGeom prst="rect">
            <a:avLst/>
          </a:prstGeom>
          <a:noFill/>
        </p:spPr>
        <p:txBody>
          <a:bodyPr wrap="square" anchor="t">
            <a:spAutoFit/>
          </a:bodyPr>
          <a:lstStyle/>
          <a:p>
            <a:pPr algn="l">
              <a:spcAft>
                <a:spcPts val="400"/>
              </a:spcAft>
            </a:pPr>
            <a:r>
              <a:rPr sz="2600" b="1" i="0">
                <a:solidFill>
                  <a:srgbClr val="2E9E4F"/>
                </a:solidFill>
                <a:latin typeface="Calibri"/>
              </a:rPr>
              <a:t>Understanding resting potential</a:t>
            </a:r>
          </a:p>
        </p:txBody>
      </p:sp>
      <p:sp>
        <p:nvSpPr>
          <p:cNvPr id="5" name="Rounded Rectangle 4"/>
          <p:cNvSpPr/>
          <p:nvPr/>
        </p:nvSpPr>
        <p:spPr>
          <a:xfrm>
            <a:off x="7452360" y="109728"/>
            <a:ext cx="1536192" cy="420624"/>
          </a:xfrm>
          <a:prstGeom prst="roundRect">
            <a:avLst>
              <a:gd name="adj" fmla="val 15000"/>
            </a:avLst>
          </a:prstGeom>
          <a:solidFill>
            <a:srgbClr val="C8E6A0"/>
          </a:solidFill>
          <a:ln w="12700">
            <a:solidFill>
              <a:srgbClr val="1B7A3A"/>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spcBef>
                <a:spcPts val="0"/>
              </a:spcBef>
              <a:spcAft>
                <a:spcPts val="200"/>
              </a:spcAft>
            </a:pPr>
            <a:r>
              <a:rPr sz="1100" b="1" i="0">
                <a:solidFill>
                  <a:srgbClr val="1B7A3A"/>
                </a:solidFill>
                <a:latin typeface="Calibri"/>
              </a:rPr>
              <a:t>A2 Biology</a:t>
            </a:r>
          </a:p>
        </p:txBody>
      </p:sp>
      <p:sp>
        <p:nvSpPr>
          <p:cNvPr id="6" name="Rectangle 5"/>
          <p:cNvSpPr/>
          <p:nvPr/>
        </p:nvSpPr>
        <p:spPr>
          <a:xfrm>
            <a:off x="0" y="0"/>
            <a:ext cx="73152" cy="6858000"/>
          </a:xfrm>
          <a:prstGeom prst="rect">
            <a:avLst/>
          </a:prstGeom>
          <a:solidFill>
            <a:srgbClr val="6B2D8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3152" y="6565392"/>
            <a:ext cx="9070848" cy="36576"/>
          </a:xfrm>
          <a:prstGeom prst="rect">
            <a:avLst/>
          </a:prstGeom>
          <a:solidFill>
            <a:srgbClr val="7A3E9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228600" y="6583680"/>
            <a:ext cx="1280160" cy="256032"/>
          </a:xfrm>
          <a:prstGeom prst="rect">
            <a:avLst/>
          </a:prstGeom>
          <a:noFill/>
        </p:spPr>
        <p:txBody>
          <a:bodyPr wrap="square" anchor="t">
            <a:spAutoFit/>
          </a:bodyPr>
          <a:lstStyle/>
          <a:p>
            <a:pPr algn="l">
              <a:spcAft>
                <a:spcPts val="400"/>
              </a:spcAft>
            </a:pPr>
            <a:r>
              <a:rPr sz="1000" b="0" i="0">
                <a:solidFill>
                  <a:srgbClr val="6B2D8B"/>
                </a:solidFill>
                <a:latin typeface="Calibri"/>
              </a:rPr>
              <a:t>activity</a:t>
            </a:r>
          </a:p>
        </p:txBody>
      </p:sp>
      <p:sp>
        <p:nvSpPr>
          <p:cNvPr id="9" name="TextBox 8"/>
          <p:cNvSpPr txBox="1"/>
          <p:nvPr/>
        </p:nvSpPr>
        <p:spPr>
          <a:xfrm>
            <a:off x="1554480" y="6583680"/>
            <a:ext cx="6035040" cy="256032"/>
          </a:xfrm>
          <a:prstGeom prst="rect">
            <a:avLst/>
          </a:prstGeom>
          <a:noFill/>
        </p:spPr>
        <p:txBody>
          <a:bodyPr wrap="square" anchor="t">
            <a:spAutoFit/>
          </a:bodyPr>
          <a:lstStyle/>
          <a:p>
            <a:pPr algn="ctr">
              <a:spcAft>
                <a:spcPts val="400"/>
              </a:spcAft>
            </a:pPr>
            <a:r>
              <a:rPr sz="900" b="0" i="0">
                <a:solidFill>
                  <a:srgbClr val="5A5A5A"/>
                </a:solidFill>
                <a:latin typeface="Calibri"/>
              </a:rPr>
              <a:t>Original course © Boardworks Ltd 2009. Reconstructed interactive resource.</a:t>
            </a:r>
          </a:p>
        </p:txBody>
      </p:sp>
      <p:sp>
        <p:nvSpPr>
          <p:cNvPr id="10" name="Rounded Rectangle 9"/>
          <p:cNvSpPr/>
          <p:nvPr/>
        </p:nvSpPr>
        <p:spPr>
          <a:xfrm>
            <a:off x="640080" y="1554480"/>
            <a:ext cx="7863840" cy="2377440"/>
          </a:xfrm>
          <a:prstGeom prst="roundRect">
            <a:avLst>
              <a:gd name="adj" fmla="val 15000"/>
            </a:avLst>
          </a:prstGeom>
          <a:solidFill>
            <a:srgbClr val="E8F5E9"/>
          </a:solidFill>
          <a:ln w="15875">
            <a:solidFill>
              <a:srgbClr val="1B7A3A"/>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spcBef>
                <a:spcPts val="0"/>
              </a:spcBef>
              <a:spcAft>
                <a:spcPts val="200"/>
              </a:spcAft>
            </a:pPr>
            <a:r>
              <a:rPr sz="1800" b="0" i="0">
                <a:solidFill>
                  <a:srgbClr val="1B3A6B"/>
                </a:solidFill>
                <a:latin typeface="Calibri"/>
              </a:rPr>
              <a:t>Correct.</a:t>
            </a:r>
          </a:p>
          <a:p>
            <a:pPr algn="ctr">
              <a:spcAft>
                <a:spcPts val="200"/>
              </a:spcAft>
            </a:pPr>
            <a:r>
              <a:rPr sz="1800" b="0" i="0">
                <a:solidFill>
                  <a:srgbClr val="1B3A6B"/>
                </a:solidFill>
                <a:latin typeface="Calibri"/>
              </a:rPr>
              <a:t/>
            </a:r>
          </a:p>
          <a:p>
            <a:pPr algn="ctr">
              <a:spcAft>
                <a:spcPts val="200"/>
              </a:spcAft>
            </a:pPr>
            <a:r>
              <a:rPr sz="1800" b="0" i="0">
                <a:solidFill>
                  <a:srgbClr val="1B3A6B"/>
                </a:solidFill>
                <a:latin typeface="Calibri"/>
              </a:rPr>
              <a:t>The 3:2 ratio helps generate the resting potential.</a:t>
            </a:r>
          </a:p>
        </p:txBody>
      </p:sp>
      <p:sp>
        <p:nvSpPr>
          <p:cNvPr id="11" name="Rounded Rectangle 10">
            <a:hlinkClick r:id="rId2" action="ppaction://hlinksldjump"/>
          </p:cNvPr>
          <p:cNvSpPr/>
          <p:nvPr/>
        </p:nvSpPr>
        <p:spPr>
          <a:xfrm>
            <a:off x="3200400" y="4389120"/>
            <a:ext cx="2743200" cy="411480"/>
          </a:xfrm>
          <a:prstGeom prst="roundRect">
            <a:avLst>
              <a:gd name="adj" fmla="val 15000"/>
            </a:avLst>
          </a:prstGeom>
          <a:solidFill>
            <a:srgbClr val="2E9E4F"/>
          </a:solidFill>
          <a:ln w="12700">
            <a:solidFill>
              <a:srgbClr val="2E9E4F"/>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spcBef>
                <a:spcPts val="0"/>
              </a:spcBef>
              <a:spcAft>
                <a:spcPts val="200"/>
              </a:spcAft>
            </a:pPr>
            <a:r>
              <a:rPr sz="1400" b="1" i="0">
                <a:solidFill>
                  <a:srgbClr val="FFFFFF"/>
                </a:solidFill>
                <a:latin typeface="Calibri"/>
              </a:rPr>
              <a:t>Back</a:t>
            </a:r>
          </a:p>
        </p:txBody>
      </p:sp>
    </p:spTree>
  </p:cSld>
  <p:clrMapOvr>
    <a:masterClrMapping/>
  </p:clrMapOvr>
</p:sld>
</file>

<file path=ppt/slides/slide24.xml><?xml version="1.0" encoding="utf-8"?>
<p:sld xmlns:a="http://schemas.openxmlformats.org/drawingml/2006/main" xmlns:p="http://schemas.openxmlformats.org/presentationml/2006/main" xmlns:r="http://schemas.openxmlformats.org/officeDocument/2006/relationships" show="0">
  <p:cSld>
    <p:spTree>
      <p:nvGrpSpPr>
        <p:cNvPr id="1" name=""/>
        <p:cNvGrpSpPr/>
        <p:nvPr/>
      </p:nvGrpSpPr>
      <p:grpSpPr/>
      <p:sp>
        <p:nvSpPr>
          <p:cNvPr id="2" name="Rectangle 1"/>
          <p:cNvSpPr/>
          <p:nvPr/>
        </p:nvSpPr>
        <p:spPr>
          <a:xfrm>
            <a:off x="0" y="0"/>
            <a:ext cx="9144000" cy="658368"/>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640080"/>
            <a:ext cx="9144000" cy="54864"/>
          </a:xfrm>
          <a:prstGeom prst="rect">
            <a:avLst/>
          </a:pr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256032" y="91440"/>
            <a:ext cx="7498079" cy="502920"/>
          </a:xfrm>
          <a:prstGeom prst="rect">
            <a:avLst/>
          </a:prstGeom>
          <a:noFill/>
        </p:spPr>
        <p:txBody>
          <a:bodyPr wrap="square" anchor="t">
            <a:spAutoFit/>
          </a:bodyPr>
          <a:lstStyle/>
          <a:p>
            <a:pPr algn="l">
              <a:spcAft>
                <a:spcPts val="400"/>
              </a:spcAft>
            </a:pPr>
            <a:r>
              <a:rPr sz="2600" b="1" i="0">
                <a:solidFill>
                  <a:srgbClr val="2E9E4F"/>
                </a:solidFill>
                <a:latin typeface="Calibri"/>
              </a:rPr>
              <a:t>Understanding resting potential</a:t>
            </a:r>
          </a:p>
        </p:txBody>
      </p:sp>
      <p:sp>
        <p:nvSpPr>
          <p:cNvPr id="5" name="Rounded Rectangle 4"/>
          <p:cNvSpPr/>
          <p:nvPr/>
        </p:nvSpPr>
        <p:spPr>
          <a:xfrm>
            <a:off x="7452360" y="109728"/>
            <a:ext cx="1536192" cy="420624"/>
          </a:xfrm>
          <a:prstGeom prst="roundRect">
            <a:avLst>
              <a:gd name="adj" fmla="val 15000"/>
            </a:avLst>
          </a:prstGeom>
          <a:solidFill>
            <a:srgbClr val="C8E6A0"/>
          </a:solidFill>
          <a:ln w="12700">
            <a:solidFill>
              <a:srgbClr val="1B7A3A"/>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spcBef>
                <a:spcPts val="0"/>
              </a:spcBef>
              <a:spcAft>
                <a:spcPts val="200"/>
              </a:spcAft>
            </a:pPr>
            <a:r>
              <a:rPr sz="1100" b="1" i="0">
                <a:solidFill>
                  <a:srgbClr val="1B7A3A"/>
                </a:solidFill>
                <a:latin typeface="Calibri"/>
              </a:rPr>
              <a:t>A2 Biology</a:t>
            </a:r>
          </a:p>
        </p:txBody>
      </p:sp>
      <p:sp>
        <p:nvSpPr>
          <p:cNvPr id="6" name="Rectangle 5"/>
          <p:cNvSpPr/>
          <p:nvPr/>
        </p:nvSpPr>
        <p:spPr>
          <a:xfrm>
            <a:off x="0" y="0"/>
            <a:ext cx="73152" cy="6858000"/>
          </a:xfrm>
          <a:prstGeom prst="rect">
            <a:avLst/>
          </a:prstGeom>
          <a:solidFill>
            <a:srgbClr val="6B2D8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3152" y="6565392"/>
            <a:ext cx="9070848" cy="36576"/>
          </a:xfrm>
          <a:prstGeom prst="rect">
            <a:avLst/>
          </a:prstGeom>
          <a:solidFill>
            <a:srgbClr val="7A3E9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228600" y="6583680"/>
            <a:ext cx="1280160" cy="256032"/>
          </a:xfrm>
          <a:prstGeom prst="rect">
            <a:avLst/>
          </a:prstGeom>
          <a:noFill/>
        </p:spPr>
        <p:txBody>
          <a:bodyPr wrap="square" anchor="t">
            <a:spAutoFit/>
          </a:bodyPr>
          <a:lstStyle/>
          <a:p>
            <a:pPr algn="l">
              <a:spcAft>
                <a:spcPts val="400"/>
              </a:spcAft>
            </a:pPr>
            <a:r>
              <a:rPr sz="1000" b="0" i="0">
                <a:solidFill>
                  <a:srgbClr val="6B2D8B"/>
                </a:solidFill>
                <a:latin typeface="Calibri"/>
              </a:rPr>
              <a:t>activity</a:t>
            </a:r>
          </a:p>
        </p:txBody>
      </p:sp>
      <p:sp>
        <p:nvSpPr>
          <p:cNvPr id="9" name="TextBox 8"/>
          <p:cNvSpPr txBox="1"/>
          <p:nvPr/>
        </p:nvSpPr>
        <p:spPr>
          <a:xfrm>
            <a:off x="1554480" y="6583680"/>
            <a:ext cx="6035040" cy="256032"/>
          </a:xfrm>
          <a:prstGeom prst="rect">
            <a:avLst/>
          </a:prstGeom>
          <a:noFill/>
        </p:spPr>
        <p:txBody>
          <a:bodyPr wrap="square" anchor="t">
            <a:spAutoFit/>
          </a:bodyPr>
          <a:lstStyle/>
          <a:p>
            <a:pPr algn="ctr">
              <a:spcAft>
                <a:spcPts val="400"/>
              </a:spcAft>
            </a:pPr>
            <a:r>
              <a:rPr sz="900" b="0" i="0">
                <a:solidFill>
                  <a:srgbClr val="5A5A5A"/>
                </a:solidFill>
                <a:latin typeface="Calibri"/>
              </a:rPr>
              <a:t>Original course © Boardworks Ltd 2009. Reconstructed interactive resource.</a:t>
            </a:r>
          </a:p>
        </p:txBody>
      </p:sp>
      <p:sp>
        <p:nvSpPr>
          <p:cNvPr id="10" name="Rounded Rectangle 9"/>
          <p:cNvSpPr/>
          <p:nvPr/>
        </p:nvSpPr>
        <p:spPr>
          <a:xfrm>
            <a:off x="640080" y="1554480"/>
            <a:ext cx="7863840" cy="2194560"/>
          </a:xfrm>
          <a:prstGeom prst="roundRect">
            <a:avLst>
              <a:gd name="adj" fmla="val 15000"/>
            </a:avLst>
          </a:prstGeom>
          <a:solidFill>
            <a:srgbClr val="FFEBEE"/>
          </a:solidFill>
          <a:ln w="15875">
            <a:solidFill>
              <a:srgbClr val="EF6C00"/>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spcBef>
                <a:spcPts val="0"/>
              </a:spcBef>
              <a:spcAft>
                <a:spcPts val="200"/>
              </a:spcAft>
            </a:pPr>
            <a:r>
              <a:rPr sz="1800" b="0" i="0">
                <a:solidFill>
                  <a:srgbClr val="1B3A6B"/>
                </a:solidFill>
                <a:latin typeface="Calibri"/>
              </a:rPr>
              <a:t>Not quite.</a:t>
            </a:r>
          </a:p>
          <a:p>
            <a:pPr algn="ctr">
              <a:spcAft>
                <a:spcPts val="200"/>
              </a:spcAft>
            </a:pPr>
            <a:r>
              <a:rPr sz="1800" b="0" i="0">
                <a:solidFill>
                  <a:srgbClr val="1B3A6B"/>
                </a:solidFill>
                <a:latin typeface="Calibri"/>
              </a:rPr>
              <a:t/>
            </a:r>
          </a:p>
          <a:p>
            <a:pPr algn="ctr">
              <a:spcAft>
                <a:spcPts val="200"/>
              </a:spcAft>
            </a:pPr>
            <a:r>
              <a:rPr sz="1800" b="0" i="0">
                <a:solidFill>
                  <a:srgbClr val="1B3A6B"/>
                </a:solidFill>
                <a:latin typeface="Calibri"/>
              </a:rPr>
              <a:t>Look back at the resting-potential animation and try again.</a:t>
            </a:r>
          </a:p>
        </p:txBody>
      </p:sp>
      <p:sp>
        <p:nvSpPr>
          <p:cNvPr id="11" name="Rounded Rectangle 10">
            <a:hlinkClick r:id="rId2" action="ppaction://hlinksldjump"/>
          </p:cNvPr>
          <p:cNvSpPr/>
          <p:nvPr/>
        </p:nvSpPr>
        <p:spPr>
          <a:xfrm>
            <a:off x="3200400" y="4297680"/>
            <a:ext cx="2743200" cy="411480"/>
          </a:xfrm>
          <a:prstGeom prst="roundRect">
            <a:avLst>
              <a:gd name="adj" fmla="val 15000"/>
            </a:avLst>
          </a:prstGeom>
          <a:solidFill>
            <a:srgbClr val="EF6C00"/>
          </a:solidFill>
          <a:ln w="12700">
            <a:solidFill>
              <a:srgbClr val="EF6C00"/>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spcBef>
                <a:spcPts val="0"/>
              </a:spcBef>
              <a:spcAft>
                <a:spcPts val="200"/>
              </a:spcAft>
            </a:pPr>
            <a:r>
              <a:rPr sz="1400" b="1" i="0">
                <a:solidFill>
                  <a:srgbClr val="FFFFFF"/>
                </a:solidFill>
                <a:latin typeface="Calibri"/>
              </a:rPr>
              <a:t>Try again</a:t>
            </a:r>
          </a:p>
        </p:txBody>
      </p:sp>
    </p:spTree>
  </p:cSld>
  <p:clrMapOvr>
    <a:masterClrMapping/>
  </p:clrMapOvr>
</p:sld>
</file>

<file path=ppt/slides/slide25.xml><?xml version="1.0" encoding="utf-8"?>
<p:sld xmlns:a="http://schemas.openxmlformats.org/drawingml/2006/main" xmlns:p="http://schemas.openxmlformats.org/presentationml/2006/main" xmlns:r="http://schemas.openxmlformats.org/officeDocument/2006/relationships" show="0">
  <p:cSld>
    <p:spTree>
      <p:nvGrpSpPr>
        <p:cNvPr id="1" name=""/>
        <p:cNvGrpSpPr/>
        <p:nvPr/>
      </p:nvGrpSpPr>
      <p:grpSpPr/>
      <p:sp>
        <p:nvSpPr>
          <p:cNvPr id="2" name="Rectangle 1"/>
          <p:cNvSpPr/>
          <p:nvPr/>
        </p:nvSpPr>
        <p:spPr>
          <a:xfrm>
            <a:off x="0" y="0"/>
            <a:ext cx="9144000" cy="658368"/>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640080"/>
            <a:ext cx="9144000" cy="54864"/>
          </a:xfrm>
          <a:prstGeom prst="rect">
            <a:avLst/>
          </a:pr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256032" y="91440"/>
            <a:ext cx="7498079" cy="502920"/>
          </a:xfrm>
          <a:prstGeom prst="rect">
            <a:avLst/>
          </a:prstGeom>
          <a:noFill/>
        </p:spPr>
        <p:txBody>
          <a:bodyPr wrap="square" anchor="t">
            <a:spAutoFit/>
          </a:bodyPr>
          <a:lstStyle/>
          <a:p>
            <a:pPr algn="l">
              <a:spcAft>
                <a:spcPts val="400"/>
              </a:spcAft>
            </a:pPr>
            <a:r>
              <a:rPr sz="2600" b="1" i="0">
                <a:solidFill>
                  <a:srgbClr val="2E9E4F"/>
                </a:solidFill>
                <a:latin typeface="Calibri"/>
              </a:rPr>
              <a:t>Understanding resting potential</a:t>
            </a:r>
          </a:p>
        </p:txBody>
      </p:sp>
      <p:sp>
        <p:nvSpPr>
          <p:cNvPr id="5" name="Rounded Rectangle 4"/>
          <p:cNvSpPr/>
          <p:nvPr/>
        </p:nvSpPr>
        <p:spPr>
          <a:xfrm>
            <a:off x="7452360" y="109728"/>
            <a:ext cx="1536192" cy="420624"/>
          </a:xfrm>
          <a:prstGeom prst="roundRect">
            <a:avLst>
              <a:gd name="adj" fmla="val 15000"/>
            </a:avLst>
          </a:prstGeom>
          <a:solidFill>
            <a:srgbClr val="C8E6A0"/>
          </a:solidFill>
          <a:ln w="12700">
            <a:solidFill>
              <a:srgbClr val="1B7A3A"/>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spcBef>
                <a:spcPts val="0"/>
              </a:spcBef>
              <a:spcAft>
                <a:spcPts val="200"/>
              </a:spcAft>
            </a:pPr>
            <a:r>
              <a:rPr sz="1100" b="1" i="0">
                <a:solidFill>
                  <a:srgbClr val="1B7A3A"/>
                </a:solidFill>
                <a:latin typeface="Calibri"/>
              </a:rPr>
              <a:t>A2 Biology</a:t>
            </a:r>
          </a:p>
        </p:txBody>
      </p:sp>
      <p:sp>
        <p:nvSpPr>
          <p:cNvPr id="6" name="Rectangle 5"/>
          <p:cNvSpPr/>
          <p:nvPr/>
        </p:nvSpPr>
        <p:spPr>
          <a:xfrm>
            <a:off x="0" y="0"/>
            <a:ext cx="73152" cy="6858000"/>
          </a:xfrm>
          <a:prstGeom prst="rect">
            <a:avLst/>
          </a:prstGeom>
          <a:solidFill>
            <a:srgbClr val="6B2D8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3152" y="6565392"/>
            <a:ext cx="9070848" cy="36576"/>
          </a:xfrm>
          <a:prstGeom prst="rect">
            <a:avLst/>
          </a:prstGeom>
          <a:solidFill>
            <a:srgbClr val="7A3E9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228600" y="6583680"/>
            <a:ext cx="1280160" cy="256032"/>
          </a:xfrm>
          <a:prstGeom prst="rect">
            <a:avLst/>
          </a:prstGeom>
          <a:noFill/>
        </p:spPr>
        <p:txBody>
          <a:bodyPr wrap="square" anchor="t">
            <a:spAutoFit/>
          </a:bodyPr>
          <a:lstStyle/>
          <a:p>
            <a:pPr algn="l">
              <a:spcAft>
                <a:spcPts val="400"/>
              </a:spcAft>
            </a:pPr>
            <a:r>
              <a:rPr sz="1000" b="0" i="0">
                <a:solidFill>
                  <a:srgbClr val="6B2D8B"/>
                </a:solidFill>
                <a:latin typeface="Calibri"/>
              </a:rPr>
              <a:t>activity</a:t>
            </a:r>
          </a:p>
        </p:txBody>
      </p:sp>
      <p:sp>
        <p:nvSpPr>
          <p:cNvPr id="9" name="TextBox 8"/>
          <p:cNvSpPr txBox="1"/>
          <p:nvPr/>
        </p:nvSpPr>
        <p:spPr>
          <a:xfrm>
            <a:off x="1554480" y="6583680"/>
            <a:ext cx="6035040" cy="256032"/>
          </a:xfrm>
          <a:prstGeom prst="rect">
            <a:avLst/>
          </a:prstGeom>
          <a:noFill/>
        </p:spPr>
        <p:txBody>
          <a:bodyPr wrap="square" anchor="t">
            <a:spAutoFit/>
          </a:bodyPr>
          <a:lstStyle/>
          <a:p>
            <a:pPr algn="ctr">
              <a:spcAft>
                <a:spcPts val="400"/>
              </a:spcAft>
            </a:pPr>
            <a:r>
              <a:rPr sz="900" b="0" i="0">
                <a:solidFill>
                  <a:srgbClr val="5A5A5A"/>
                </a:solidFill>
                <a:latin typeface="Calibri"/>
              </a:rPr>
              <a:t>Original course © Boardworks Ltd 2009. Reconstructed interactive resource.</a:t>
            </a:r>
          </a:p>
        </p:txBody>
      </p:sp>
      <p:sp>
        <p:nvSpPr>
          <p:cNvPr id="10" name="Rounded Rectangle 9"/>
          <p:cNvSpPr/>
          <p:nvPr/>
        </p:nvSpPr>
        <p:spPr>
          <a:xfrm>
            <a:off x="640080" y="1554480"/>
            <a:ext cx="7863840" cy="2194560"/>
          </a:xfrm>
          <a:prstGeom prst="roundRect">
            <a:avLst>
              <a:gd name="adj" fmla="val 15000"/>
            </a:avLst>
          </a:prstGeom>
          <a:solidFill>
            <a:srgbClr val="FFEBEE"/>
          </a:solidFill>
          <a:ln w="15875">
            <a:solidFill>
              <a:srgbClr val="EF6C00"/>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spcBef>
                <a:spcPts val="0"/>
              </a:spcBef>
              <a:spcAft>
                <a:spcPts val="200"/>
              </a:spcAft>
            </a:pPr>
            <a:r>
              <a:rPr sz="1800" b="0" i="0">
                <a:solidFill>
                  <a:srgbClr val="1B3A6B"/>
                </a:solidFill>
                <a:latin typeface="Calibri"/>
              </a:rPr>
              <a:t>Not quite.</a:t>
            </a:r>
          </a:p>
          <a:p>
            <a:pPr algn="ctr">
              <a:spcAft>
                <a:spcPts val="200"/>
              </a:spcAft>
            </a:pPr>
            <a:r>
              <a:rPr sz="1800" b="0" i="0">
                <a:solidFill>
                  <a:srgbClr val="1B3A6B"/>
                </a:solidFill>
                <a:latin typeface="Calibri"/>
              </a:rPr>
              <a:t/>
            </a:r>
          </a:p>
          <a:p>
            <a:pPr algn="ctr">
              <a:spcAft>
                <a:spcPts val="200"/>
              </a:spcAft>
            </a:pPr>
            <a:r>
              <a:rPr sz="1800" b="0" i="0">
                <a:solidFill>
                  <a:srgbClr val="1B3A6B"/>
                </a:solidFill>
                <a:latin typeface="Calibri"/>
              </a:rPr>
              <a:t>Look back at the resting-potential animation and try again.</a:t>
            </a:r>
          </a:p>
        </p:txBody>
      </p:sp>
      <p:sp>
        <p:nvSpPr>
          <p:cNvPr id="11" name="Rounded Rectangle 10">
            <a:hlinkClick r:id="rId2" action="ppaction://hlinksldjump"/>
          </p:cNvPr>
          <p:cNvSpPr/>
          <p:nvPr/>
        </p:nvSpPr>
        <p:spPr>
          <a:xfrm>
            <a:off x="3200400" y="4297680"/>
            <a:ext cx="2743200" cy="411480"/>
          </a:xfrm>
          <a:prstGeom prst="roundRect">
            <a:avLst>
              <a:gd name="adj" fmla="val 15000"/>
            </a:avLst>
          </a:prstGeom>
          <a:solidFill>
            <a:srgbClr val="EF6C00"/>
          </a:solidFill>
          <a:ln w="12700">
            <a:solidFill>
              <a:srgbClr val="EF6C00"/>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spcBef>
                <a:spcPts val="0"/>
              </a:spcBef>
              <a:spcAft>
                <a:spcPts val="200"/>
              </a:spcAft>
            </a:pPr>
            <a:r>
              <a:rPr sz="1400" b="1" i="0">
                <a:solidFill>
                  <a:srgbClr val="FFFFFF"/>
                </a:solidFill>
                <a:latin typeface="Calibri"/>
              </a:rPr>
              <a:t>Try again</a:t>
            </a:r>
          </a:p>
        </p:txBody>
      </p:sp>
    </p:spTree>
  </p:cSld>
  <p:clrMapOvr>
    <a:masterClrMapping/>
  </p:clrMapOvr>
</p:sld>
</file>

<file path=ppt/slides/slide26.xml><?xml version="1.0" encoding="utf-8"?>
<p:sld xmlns:a="http://schemas.openxmlformats.org/drawingml/2006/main" xmlns:p="http://schemas.openxmlformats.org/presentationml/2006/main" xmlns:r="http://schemas.openxmlformats.org/officeDocument/2006/relationships" show="0">
  <p:cSld>
    <p:spTree>
      <p:nvGrpSpPr>
        <p:cNvPr id="1" name=""/>
        <p:cNvGrpSpPr/>
        <p:nvPr/>
      </p:nvGrpSpPr>
      <p:grpSpPr/>
      <p:sp>
        <p:nvSpPr>
          <p:cNvPr id="2" name="Rectangle 1"/>
          <p:cNvSpPr/>
          <p:nvPr/>
        </p:nvSpPr>
        <p:spPr>
          <a:xfrm>
            <a:off x="0" y="0"/>
            <a:ext cx="9144000" cy="658368"/>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640080"/>
            <a:ext cx="9144000" cy="54864"/>
          </a:xfrm>
          <a:prstGeom prst="rect">
            <a:avLst/>
          </a:pr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256032" y="91440"/>
            <a:ext cx="7498079" cy="502920"/>
          </a:xfrm>
          <a:prstGeom prst="rect">
            <a:avLst/>
          </a:prstGeom>
          <a:noFill/>
        </p:spPr>
        <p:txBody>
          <a:bodyPr wrap="square" anchor="t">
            <a:spAutoFit/>
          </a:bodyPr>
          <a:lstStyle/>
          <a:p>
            <a:pPr algn="l">
              <a:spcAft>
                <a:spcPts val="400"/>
              </a:spcAft>
            </a:pPr>
            <a:r>
              <a:rPr sz="2600" b="1" i="0">
                <a:solidFill>
                  <a:srgbClr val="2E9E4F"/>
                </a:solidFill>
                <a:latin typeface="Calibri"/>
              </a:rPr>
              <a:t>Understanding resting potential</a:t>
            </a:r>
          </a:p>
        </p:txBody>
      </p:sp>
      <p:sp>
        <p:nvSpPr>
          <p:cNvPr id="5" name="Rounded Rectangle 4"/>
          <p:cNvSpPr/>
          <p:nvPr/>
        </p:nvSpPr>
        <p:spPr>
          <a:xfrm>
            <a:off x="7452360" y="109728"/>
            <a:ext cx="1536192" cy="420624"/>
          </a:xfrm>
          <a:prstGeom prst="roundRect">
            <a:avLst>
              <a:gd name="adj" fmla="val 15000"/>
            </a:avLst>
          </a:prstGeom>
          <a:solidFill>
            <a:srgbClr val="C8E6A0"/>
          </a:solidFill>
          <a:ln w="12700">
            <a:solidFill>
              <a:srgbClr val="1B7A3A"/>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spcBef>
                <a:spcPts val="0"/>
              </a:spcBef>
              <a:spcAft>
                <a:spcPts val="200"/>
              </a:spcAft>
            </a:pPr>
            <a:r>
              <a:rPr sz="1100" b="1" i="0">
                <a:solidFill>
                  <a:srgbClr val="1B7A3A"/>
                </a:solidFill>
                <a:latin typeface="Calibri"/>
              </a:rPr>
              <a:t>A2 Biology</a:t>
            </a:r>
          </a:p>
        </p:txBody>
      </p:sp>
      <p:sp>
        <p:nvSpPr>
          <p:cNvPr id="6" name="Rectangle 5"/>
          <p:cNvSpPr/>
          <p:nvPr/>
        </p:nvSpPr>
        <p:spPr>
          <a:xfrm>
            <a:off x="0" y="0"/>
            <a:ext cx="73152" cy="6858000"/>
          </a:xfrm>
          <a:prstGeom prst="rect">
            <a:avLst/>
          </a:prstGeom>
          <a:solidFill>
            <a:srgbClr val="6B2D8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3152" y="6565392"/>
            <a:ext cx="9070848" cy="36576"/>
          </a:xfrm>
          <a:prstGeom prst="rect">
            <a:avLst/>
          </a:prstGeom>
          <a:solidFill>
            <a:srgbClr val="7A3E9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228600" y="6583680"/>
            <a:ext cx="1280160" cy="256032"/>
          </a:xfrm>
          <a:prstGeom prst="rect">
            <a:avLst/>
          </a:prstGeom>
          <a:noFill/>
        </p:spPr>
        <p:txBody>
          <a:bodyPr wrap="square" anchor="t">
            <a:spAutoFit/>
          </a:bodyPr>
          <a:lstStyle/>
          <a:p>
            <a:pPr algn="l">
              <a:spcAft>
                <a:spcPts val="400"/>
              </a:spcAft>
            </a:pPr>
            <a:r>
              <a:rPr sz="1000" b="0" i="0">
                <a:solidFill>
                  <a:srgbClr val="6B2D8B"/>
                </a:solidFill>
                <a:latin typeface="Calibri"/>
              </a:rPr>
              <a:t>activity</a:t>
            </a:r>
          </a:p>
        </p:txBody>
      </p:sp>
      <p:sp>
        <p:nvSpPr>
          <p:cNvPr id="9" name="TextBox 8"/>
          <p:cNvSpPr txBox="1"/>
          <p:nvPr/>
        </p:nvSpPr>
        <p:spPr>
          <a:xfrm>
            <a:off x="1554480" y="6583680"/>
            <a:ext cx="6035040" cy="256032"/>
          </a:xfrm>
          <a:prstGeom prst="rect">
            <a:avLst/>
          </a:prstGeom>
          <a:noFill/>
        </p:spPr>
        <p:txBody>
          <a:bodyPr wrap="square" anchor="t">
            <a:spAutoFit/>
          </a:bodyPr>
          <a:lstStyle/>
          <a:p>
            <a:pPr algn="ctr">
              <a:spcAft>
                <a:spcPts val="400"/>
              </a:spcAft>
            </a:pPr>
            <a:r>
              <a:rPr sz="900" b="0" i="0">
                <a:solidFill>
                  <a:srgbClr val="5A5A5A"/>
                </a:solidFill>
                <a:latin typeface="Calibri"/>
              </a:rPr>
              <a:t>Original course © Boardworks Ltd 2009. Reconstructed interactive resource.</a:t>
            </a:r>
          </a:p>
        </p:txBody>
      </p:sp>
      <p:sp>
        <p:nvSpPr>
          <p:cNvPr id="10" name="Rounded Rectangle 9"/>
          <p:cNvSpPr/>
          <p:nvPr/>
        </p:nvSpPr>
        <p:spPr>
          <a:xfrm>
            <a:off x="640080" y="1554480"/>
            <a:ext cx="7863840" cy="2377440"/>
          </a:xfrm>
          <a:prstGeom prst="roundRect">
            <a:avLst>
              <a:gd name="adj" fmla="val 15000"/>
            </a:avLst>
          </a:prstGeom>
          <a:solidFill>
            <a:srgbClr val="E8F5E9"/>
          </a:solidFill>
          <a:ln w="15875">
            <a:solidFill>
              <a:srgbClr val="1B7A3A"/>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spcBef>
                <a:spcPts val="0"/>
              </a:spcBef>
              <a:spcAft>
                <a:spcPts val="200"/>
              </a:spcAft>
            </a:pPr>
            <a:r>
              <a:rPr sz="1800" b="0" i="0">
                <a:solidFill>
                  <a:srgbClr val="1B3A6B"/>
                </a:solidFill>
                <a:latin typeface="Calibri"/>
              </a:rPr>
              <a:t>Correct.</a:t>
            </a:r>
          </a:p>
          <a:p>
            <a:pPr algn="ctr">
              <a:spcAft>
                <a:spcPts val="200"/>
              </a:spcAft>
            </a:pPr>
            <a:r>
              <a:rPr sz="1800" b="0" i="0">
                <a:solidFill>
                  <a:srgbClr val="1B3A6B"/>
                </a:solidFill>
                <a:latin typeface="Calibri"/>
              </a:rPr>
              <a:t/>
            </a:r>
          </a:p>
          <a:p>
            <a:pPr algn="ctr">
              <a:spcAft>
                <a:spcPts val="200"/>
              </a:spcAft>
            </a:pPr>
            <a:r>
              <a:rPr sz="1800" b="0" i="0">
                <a:solidFill>
                  <a:srgbClr val="1B3A6B"/>
                </a:solidFill>
                <a:latin typeface="Calibri"/>
              </a:rPr>
              <a:t>K⁺ leak channels are open at rest; voltage-gated Na⁺ channels are closed.</a:t>
            </a:r>
          </a:p>
        </p:txBody>
      </p:sp>
      <p:sp>
        <p:nvSpPr>
          <p:cNvPr id="11" name="Rounded Rectangle 10">
            <a:hlinkClick r:id="rId2" action="ppaction://hlinksldjump"/>
          </p:cNvPr>
          <p:cNvSpPr/>
          <p:nvPr/>
        </p:nvSpPr>
        <p:spPr>
          <a:xfrm>
            <a:off x="3200400" y="4389120"/>
            <a:ext cx="2743200" cy="411480"/>
          </a:xfrm>
          <a:prstGeom prst="roundRect">
            <a:avLst>
              <a:gd name="adj" fmla="val 15000"/>
            </a:avLst>
          </a:prstGeom>
          <a:solidFill>
            <a:srgbClr val="2E9E4F"/>
          </a:solidFill>
          <a:ln w="12700">
            <a:solidFill>
              <a:srgbClr val="2E9E4F"/>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spcBef>
                <a:spcPts val="0"/>
              </a:spcBef>
              <a:spcAft>
                <a:spcPts val="200"/>
              </a:spcAft>
            </a:pPr>
            <a:r>
              <a:rPr sz="1400" b="1" i="0">
                <a:solidFill>
                  <a:srgbClr val="FFFFFF"/>
                </a:solidFill>
                <a:latin typeface="Calibri"/>
              </a:rPr>
              <a:t>Back</a:t>
            </a:r>
          </a:p>
        </p:txBody>
      </p:sp>
    </p:spTree>
  </p:cSld>
  <p:clrMapOvr>
    <a:masterClrMapping/>
  </p:clrMapOvr>
</p:sld>
</file>

<file path=ppt/slides/slide27.xml><?xml version="1.0" encoding="utf-8"?>
<p:sld xmlns:a="http://schemas.openxmlformats.org/drawingml/2006/main" xmlns:p="http://schemas.openxmlformats.org/presentationml/2006/main" xmlns:r="http://schemas.openxmlformats.org/officeDocument/2006/relationships" show="0">
  <p:cSld>
    <p:spTree>
      <p:nvGrpSpPr>
        <p:cNvPr id="1" name=""/>
        <p:cNvGrpSpPr/>
        <p:nvPr/>
      </p:nvGrpSpPr>
      <p:grpSpPr/>
      <p:sp>
        <p:nvSpPr>
          <p:cNvPr id="2" name="Rectangle 1"/>
          <p:cNvSpPr/>
          <p:nvPr/>
        </p:nvSpPr>
        <p:spPr>
          <a:xfrm>
            <a:off x="0" y="0"/>
            <a:ext cx="9144000" cy="658368"/>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640080"/>
            <a:ext cx="9144000" cy="54864"/>
          </a:xfrm>
          <a:prstGeom prst="rect">
            <a:avLst/>
          </a:pr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256032" y="91440"/>
            <a:ext cx="7498079" cy="502920"/>
          </a:xfrm>
          <a:prstGeom prst="rect">
            <a:avLst/>
          </a:prstGeom>
          <a:noFill/>
        </p:spPr>
        <p:txBody>
          <a:bodyPr wrap="square" anchor="t">
            <a:spAutoFit/>
          </a:bodyPr>
          <a:lstStyle/>
          <a:p>
            <a:pPr algn="l">
              <a:spcAft>
                <a:spcPts val="400"/>
              </a:spcAft>
            </a:pPr>
            <a:r>
              <a:rPr sz="2600" b="1" i="0">
                <a:solidFill>
                  <a:srgbClr val="2E9E4F"/>
                </a:solidFill>
                <a:latin typeface="Calibri"/>
              </a:rPr>
              <a:t>Understanding resting potential</a:t>
            </a:r>
          </a:p>
        </p:txBody>
      </p:sp>
      <p:sp>
        <p:nvSpPr>
          <p:cNvPr id="5" name="Rounded Rectangle 4"/>
          <p:cNvSpPr/>
          <p:nvPr/>
        </p:nvSpPr>
        <p:spPr>
          <a:xfrm>
            <a:off x="7452360" y="109728"/>
            <a:ext cx="1536192" cy="420624"/>
          </a:xfrm>
          <a:prstGeom prst="roundRect">
            <a:avLst>
              <a:gd name="adj" fmla="val 15000"/>
            </a:avLst>
          </a:prstGeom>
          <a:solidFill>
            <a:srgbClr val="C8E6A0"/>
          </a:solidFill>
          <a:ln w="12700">
            <a:solidFill>
              <a:srgbClr val="1B7A3A"/>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spcBef>
                <a:spcPts val="0"/>
              </a:spcBef>
              <a:spcAft>
                <a:spcPts val="200"/>
              </a:spcAft>
            </a:pPr>
            <a:r>
              <a:rPr sz="1100" b="1" i="0">
                <a:solidFill>
                  <a:srgbClr val="1B7A3A"/>
                </a:solidFill>
                <a:latin typeface="Calibri"/>
              </a:rPr>
              <a:t>A2 Biology</a:t>
            </a:r>
          </a:p>
        </p:txBody>
      </p:sp>
      <p:sp>
        <p:nvSpPr>
          <p:cNvPr id="6" name="Rectangle 5"/>
          <p:cNvSpPr/>
          <p:nvPr/>
        </p:nvSpPr>
        <p:spPr>
          <a:xfrm>
            <a:off x="0" y="0"/>
            <a:ext cx="73152" cy="6858000"/>
          </a:xfrm>
          <a:prstGeom prst="rect">
            <a:avLst/>
          </a:prstGeom>
          <a:solidFill>
            <a:srgbClr val="6B2D8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3152" y="6565392"/>
            <a:ext cx="9070848" cy="36576"/>
          </a:xfrm>
          <a:prstGeom prst="rect">
            <a:avLst/>
          </a:prstGeom>
          <a:solidFill>
            <a:srgbClr val="7A3E9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228600" y="6583680"/>
            <a:ext cx="1280160" cy="256032"/>
          </a:xfrm>
          <a:prstGeom prst="rect">
            <a:avLst/>
          </a:prstGeom>
          <a:noFill/>
        </p:spPr>
        <p:txBody>
          <a:bodyPr wrap="square" anchor="t">
            <a:spAutoFit/>
          </a:bodyPr>
          <a:lstStyle/>
          <a:p>
            <a:pPr algn="l">
              <a:spcAft>
                <a:spcPts val="400"/>
              </a:spcAft>
            </a:pPr>
            <a:r>
              <a:rPr sz="1000" b="0" i="0">
                <a:solidFill>
                  <a:srgbClr val="6B2D8B"/>
                </a:solidFill>
                <a:latin typeface="Calibri"/>
              </a:rPr>
              <a:t>activity</a:t>
            </a:r>
          </a:p>
        </p:txBody>
      </p:sp>
      <p:sp>
        <p:nvSpPr>
          <p:cNvPr id="9" name="TextBox 8"/>
          <p:cNvSpPr txBox="1"/>
          <p:nvPr/>
        </p:nvSpPr>
        <p:spPr>
          <a:xfrm>
            <a:off x="1554480" y="6583680"/>
            <a:ext cx="6035040" cy="256032"/>
          </a:xfrm>
          <a:prstGeom prst="rect">
            <a:avLst/>
          </a:prstGeom>
          <a:noFill/>
        </p:spPr>
        <p:txBody>
          <a:bodyPr wrap="square" anchor="t">
            <a:spAutoFit/>
          </a:bodyPr>
          <a:lstStyle/>
          <a:p>
            <a:pPr algn="ctr">
              <a:spcAft>
                <a:spcPts val="400"/>
              </a:spcAft>
            </a:pPr>
            <a:r>
              <a:rPr sz="900" b="0" i="0">
                <a:solidFill>
                  <a:srgbClr val="5A5A5A"/>
                </a:solidFill>
                <a:latin typeface="Calibri"/>
              </a:rPr>
              <a:t>Original course © Boardworks Ltd 2009. Reconstructed interactive resource.</a:t>
            </a:r>
          </a:p>
        </p:txBody>
      </p:sp>
      <p:sp>
        <p:nvSpPr>
          <p:cNvPr id="10" name="Rounded Rectangle 9"/>
          <p:cNvSpPr/>
          <p:nvPr/>
        </p:nvSpPr>
        <p:spPr>
          <a:xfrm>
            <a:off x="640080" y="1554480"/>
            <a:ext cx="7863840" cy="2194560"/>
          </a:xfrm>
          <a:prstGeom prst="roundRect">
            <a:avLst>
              <a:gd name="adj" fmla="val 15000"/>
            </a:avLst>
          </a:prstGeom>
          <a:solidFill>
            <a:srgbClr val="FFEBEE"/>
          </a:solidFill>
          <a:ln w="15875">
            <a:solidFill>
              <a:srgbClr val="EF6C00"/>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spcBef>
                <a:spcPts val="0"/>
              </a:spcBef>
              <a:spcAft>
                <a:spcPts val="200"/>
              </a:spcAft>
            </a:pPr>
            <a:r>
              <a:rPr sz="1800" b="0" i="0">
                <a:solidFill>
                  <a:srgbClr val="1B3A6B"/>
                </a:solidFill>
                <a:latin typeface="Calibri"/>
              </a:rPr>
              <a:t>Not quite.</a:t>
            </a:r>
          </a:p>
          <a:p>
            <a:pPr algn="ctr">
              <a:spcAft>
                <a:spcPts val="200"/>
              </a:spcAft>
            </a:pPr>
            <a:r>
              <a:rPr sz="1800" b="0" i="0">
                <a:solidFill>
                  <a:srgbClr val="1B3A6B"/>
                </a:solidFill>
                <a:latin typeface="Calibri"/>
              </a:rPr>
              <a:t/>
            </a:r>
          </a:p>
          <a:p>
            <a:pPr algn="ctr">
              <a:spcAft>
                <a:spcPts val="200"/>
              </a:spcAft>
            </a:pPr>
            <a:r>
              <a:rPr sz="1800" b="0" i="0">
                <a:solidFill>
                  <a:srgbClr val="1B3A6B"/>
                </a:solidFill>
                <a:latin typeface="Calibri"/>
              </a:rPr>
              <a:t>Look back at the resting-potential animation and try again.</a:t>
            </a:r>
          </a:p>
        </p:txBody>
      </p:sp>
      <p:sp>
        <p:nvSpPr>
          <p:cNvPr id="11" name="Rounded Rectangle 10">
            <a:hlinkClick r:id="rId2" action="ppaction://hlinksldjump"/>
          </p:cNvPr>
          <p:cNvSpPr/>
          <p:nvPr/>
        </p:nvSpPr>
        <p:spPr>
          <a:xfrm>
            <a:off x="3200400" y="4297680"/>
            <a:ext cx="2743200" cy="411480"/>
          </a:xfrm>
          <a:prstGeom prst="roundRect">
            <a:avLst>
              <a:gd name="adj" fmla="val 15000"/>
            </a:avLst>
          </a:prstGeom>
          <a:solidFill>
            <a:srgbClr val="EF6C00"/>
          </a:solidFill>
          <a:ln w="12700">
            <a:solidFill>
              <a:srgbClr val="EF6C00"/>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spcBef>
                <a:spcPts val="0"/>
              </a:spcBef>
              <a:spcAft>
                <a:spcPts val="200"/>
              </a:spcAft>
            </a:pPr>
            <a:r>
              <a:rPr sz="1400" b="1" i="0">
                <a:solidFill>
                  <a:srgbClr val="FFFFFF"/>
                </a:solidFill>
                <a:latin typeface="Calibri"/>
              </a:rPr>
              <a:t>Try again</a:t>
            </a:r>
          </a:p>
        </p:txBody>
      </p:sp>
    </p:spTree>
  </p:cSld>
  <p:clrMapOvr>
    <a:masterClrMapping/>
  </p:clrMapOvr>
</p:sld>
</file>

<file path=ppt/slides/slide28.xml><?xml version="1.0" encoding="utf-8"?>
<p:sld xmlns:a="http://schemas.openxmlformats.org/drawingml/2006/main" xmlns:p="http://schemas.openxmlformats.org/presentationml/2006/main" xmlns:r="http://schemas.openxmlformats.org/officeDocument/2006/relationships" show="0">
  <p:cSld>
    <p:spTree>
      <p:nvGrpSpPr>
        <p:cNvPr id="1" name=""/>
        <p:cNvGrpSpPr/>
        <p:nvPr/>
      </p:nvGrpSpPr>
      <p:grpSpPr/>
      <p:sp>
        <p:nvSpPr>
          <p:cNvPr id="2" name="Rectangle 1"/>
          <p:cNvSpPr/>
          <p:nvPr/>
        </p:nvSpPr>
        <p:spPr>
          <a:xfrm>
            <a:off x="0" y="0"/>
            <a:ext cx="9144000" cy="658368"/>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640080"/>
            <a:ext cx="9144000" cy="54864"/>
          </a:xfrm>
          <a:prstGeom prst="rect">
            <a:avLst/>
          </a:pr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256032" y="91440"/>
            <a:ext cx="7498079" cy="502920"/>
          </a:xfrm>
          <a:prstGeom prst="rect">
            <a:avLst/>
          </a:prstGeom>
          <a:noFill/>
        </p:spPr>
        <p:txBody>
          <a:bodyPr wrap="square" anchor="t">
            <a:spAutoFit/>
          </a:bodyPr>
          <a:lstStyle/>
          <a:p>
            <a:pPr algn="l">
              <a:spcAft>
                <a:spcPts val="400"/>
              </a:spcAft>
            </a:pPr>
            <a:r>
              <a:rPr sz="2600" b="1" i="0">
                <a:solidFill>
                  <a:srgbClr val="2E9E4F"/>
                </a:solidFill>
                <a:latin typeface="Calibri"/>
              </a:rPr>
              <a:t>Understanding resting potential</a:t>
            </a:r>
          </a:p>
        </p:txBody>
      </p:sp>
      <p:sp>
        <p:nvSpPr>
          <p:cNvPr id="5" name="Rounded Rectangle 4"/>
          <p:cNvSpPr/>
          <p:nvPr/>
        </p:nvSpPr>
        <p:spPr>
          <a:xfrm>
            <a:off x="7452360" y="109728"/>
            <a:ext cx="1536192" cy="420624"/>
          </a:xfrm>
          <a:prstGeom prst="roundRect">
            <a:avLst>
              <a:gd name="adj" fmla="val 15000"/>
            </a:avLst>
          </a:prstGeom>
          <a:solidFill>
            <a:srgbClr val="C8E6A0"/>
          </a:solidFill>
          <a:ln w="12700">
            <a:solidFill>
              <a:srgbClr val="1B7A3A"/>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spcBef>
                <a:spcPts val="0"/>
              </a:spcBef>
              <a:spcAft>
                <a:spcPts val="200"/>
              </a:spcAft>
            </a:pPr>
            <a:r>
              <a:rPr sz="1100" b="1" i="0">
                <a:solidFill>
                  <a:srgbClr val="1B7A3A"/>
                </a:solidFill>
                <a:latin typeface="Calibri"/>
              </a:rPr>
              <a:t>A2 Biology</a:t>
            </a:r>
          </a:p>
        </p:txBody>
      </p:sp>
      <p:sp>
        <p:nvSpPr>
          <p:cNvPr id="6" name="Rectangle 5"/>
          <p:cNvSpPr/>
          <p:nvPr/>
        </p:nvSpPr>
        <p:spPr>
          <a:xfrm>
            <a:off x="0" y="0"/>
            <a:ext cx="73152" cy="6858000"/>
          </a:xfrm>
          <a:prstGeom prst="rect">
            <a:avLst/>
          </a:prstGeom>
          <a:solidFill>
            <a:srgbClr val="6B2D8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3152" y="6565392"/>
            <a:ext cx="9070848" cy="36576"/>
          </a:xfrm>
          <a:prstGeom prst="rect">
            <a:avLst/>
          </a:prstGeom>
          <a:solidFill>
            <a:srgbClr val="7A3E9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228600" y="6583680"/>
            <a:ext cx="1280160" cy="256032"/>
          </a:xfrm>
          <a:prstGeom prst="rect">
            <a:avLst/>
          </a:prstGeom>
          <a:noFill/>
        </p:spPr>
        <p:txBody>
          <a:bodyPr wrap="square" anchor="t">
            <a:spAutoFit/>
          </a:bodyPr>
          <a:lstStyle/>
          <a:p>
            <a:pPr algn="l">
              <a:spcAft>
                <a:spcPts val="400"/>
              </a:spcAft>
            </a:pPr>
            <a:r>
              <a:rPr sz="1000" b="0" i="0">
                <a:solidFill>
                  <a:srgbClr val="6B2D8B"/>
                </a:solidFill>
                <a:latin typeface="Calibri"/>
              </a:rPr>
              <a:t>activity</a:t>
            </a:r>
          </a:p>
        </p:txBody>
      </p:sp>
      <p:sp>
        <p:nvSpPr>
          <p:cNvPr id="9" name="TextBox 8"/>
          <p:cNvSpPr txBox="1"/>
          <p:nvPr/>
        </p:nvSpPr>
        <p:spPr>
          <a:xfrm>
            <a:off x="1554480" y="6583680"/>
            <a:ext cx="6035040" cy="256032"/>
          </a:xfrm>
          <a:prstGeom prst="rect">
            <a:avLst/>
          </a:prstGeom>
          <a:noFill/>
        </p:spPr>
        <p:txBody>
          <a:bodyPr wrap="square" anchor="t">
            <a:spAutoFit/>
          </a:bodyPr>
          <a:lstStyle/>
          <a:p>
            <a:pPr algn="ctr">
              <a:spcAft>
                <a:spcPts val="400"/>
              </a:spcAft>
            </a:pPr>
            <a:r>
              <a:rPr sz="900" b="0" i="0">
                <a:solidFill>
                  <a:srgbClr val="5A5A5A"/>
                </a:solidFill>
                <a:latin typeface="Calibri"/>
              </a:rPr>
              <a:t>Original course © Boardworks Ltd 2009. Reconstructed interactive resource.</a:t>
            </a:r>
          </a:p>
        </p:txBody>
      </p:sp>
      <p:sp>
        <p:nvSpPr>
          <p:cNvPr id="10" name="Rounded Rectangle 9"/>
          <p:cNvSpPr/>
          <p:nvPr/>
        </p:nvSpPr>
        <p:spPr>
          <a:xfrm>
            <a:off x="640080" y="1554480"/>
            <a:ext cx="7863840" cy="2194560"/>
          </a:xfrm>
          <a:prstGeom prst="roundRect">
            <a:avLst>
              <a:gd name="adj" fmla="val 15000"/>
            </a:avLst>
          </a:prstGeom>
          <a:solidFill>
            <a:srgbClr val="FFEBEE"/>
          </a:solidFill>
          <a:ln w="15875">
            <a:solidFill>
              <a:srgbClr val="EF6C00"/>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spcBef>
                <a:spcPts val="0"/>
              </a:spcBef>
              <a:spcAft>
                <a:spcPts val="200"/>
              </a:spcAft>
            </a:pPr>
            <a:r>
              <a:rPr sz="1800" b="0" i="0">
                <a:solidFill>
                  <a:srgbClr val="1B3A6B"/>
                </a:solidFill>
                <a:latin typeface="Calibri"/>
              </a:rPr>
              <a:t>Not quite.</a:t>
            </a:r>
          </a:p>
          <a:p>
            <a:pPr algn="ctr">
              <a:spcAft>
                <a:spcPts val="200"/>
              </a:spcAft>
            </a:pPr>
            <a:r>
              <a:rPr sz="1800" b="0" i="0">
                <a:solidFill>
                  <a:srgbClr val="1B3A6B"/>
                </a:solidFill>
                <a:latin typeface="Calibri"/>
              </a:rPr>
              <a:t/>
            </a:r>
          </a:p>
          <a:p>
            <a:pPr algn="ctr">
              <a:spcAft>
                <a:spcPts val="200"/>
              </a:spcAft>
            </a:pPr>
            <a:r>
              <a:rPr sz="1800" b="0" i="0">
                <a:solidFill>
                  <a:srgbClr val="1B3A6B"/>
                </a:solidFill>
                <a:latin typeface="Calibri"/>
              </a:rPr>
              <a:t>Look back at the resting-potential animation and try again.</a:t>
            </a:r>
          </a:p>
        </p:txBody>
      </p:sp>
      <p:sp>
        <p:nvSpPr>
          <p:cNvPr id="11" name="Rounded Rectangle 10">
            <a:hlinkClick r:id="rId2" action="ppaction://hlinksldjump"/>
          </p:cNvPr>
          <p:cNvSpPr/>
          <p:nvPr/>
        </p:nvSpPr>
        <p:spPr>
          <a:xfrm>
            <a:off x="3200400" y="4297680"/>
            <a:ext cx="2743200" cy="411480"/>
          </a:xfrm>
          <a:prstGeom prst="roundRect">
            <a:avLst>
              <a:gd name="adj" fmla="val 15000"/>
            </a:avLst>
          </a:prstGeom>
          <a:solidFill>
            <a:srgbClr val="EF6C00"/>
          </a:solidFill>
          <a:ln w="12700">
            <a:solidFill>
              <a:srgbClr val="EF6C00"/>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spcBef>
                <a:spcPts val="0"/>
              </a:spcBef>
              <a:spcAft>
                <a:spcPts val="200"/>
              </a:spcAft>
            </a:pPr>
            <a:r>
              <a:rPr sz="1400" b="1" i="0">
                <a:solidFill>
                  <a:srgbClr val="FFFFFF"/>
                </a:solidFill>
                <a:latin typeface="Calibri"/>
              </a:rPr>
              <a:t>Try again</a:t>
            </a:r>
          </a:p>
        </p:txBody>
      </p:sp>
    </p:spTree>
  </p:cSld>
  <p:clrMapOvr>
    <a:masterClrMapping/>
  </p:clrMapOvr>
</p:sld>
</file>

<file path=ppt/slides/slide29.xml><?xml version="1.0" encoding="utf-8"?>
<p:sld xmlns:a="http://schemas.openxmlformats.org/drawingml/2006/main" xmlns:p="http://schemas.openxmlformats.org/presentationml/2006/main" xmlns:r="http://schemas.openxmlformats.org/officeDocument/2006/relationships" show="0">
  <p:cSld>
    <p:spTree>
      <p:nvGrpSpPr>
        <p:cNvPr id="1" name=""/>
        <p:cNvGrpSpPr/>
        <p:nvPr/>
      </p:nvGrpSpPr>
      <p:grpSpPr/>
      <p:sp>
        <p:nvSpPr>
          <p:cNvPr id="2" name="Rectangle 1"/>
          <p:cNvSpPr/>
          <p:nvPr/>
        </p:nvSpPr>
        <p:spPr>
          <a:xfrm>
            <a:off x="0" y="0"/>
            <a:ext cx="9144000" cy="658368"/>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640080"/>
            <a:ext cx="9144000" cy="54864"/>
          </a:xfrm>
          <a:prstGeom prst="rect">
            <a:avLst/>
          </a:pr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256032" y="91440"/>
            <a:ext cx="7498079" cy="502920"/>
          </a:xfrm>
          <a:prstGeom prst="rect">
            <a:avLst/>
          </a:prstGeom>
          <a:noFill/>
        </p:spPr>
        <p:txBody>
          <a:bodyPr wrap="square" anchor="t">
            <a:spAutoFit/>
          </a:bodyPr>
          <a:lstStyle/>
          <a:p>
            <a:pPr algn="l">
              <a:spcAft>
                <a:spcPts val="400"/>
              </a:spcAft>
            </a:pPr>
            <a:r>
              <a:rPr sz="2600" b="1" i="0">
                <a:solidFill>
                  <a:srgbClr val="2E9E4F"/>
                </a:solidFill>
                <a:latin typeface="Calibri"/>
              </a:rPr>
              <a:t>Resting potential – answers</a:t>
            </a:r>
          </a:p>
        </p:txBody>
      </p:sp>
      <p:sp>
        <p:nvSpPr>
          <p:cNvPr id="5" name="Rounded Rectangle 4"/>
          <p:cNvSpPr/>
          <p:nvPr/>
        </p:nvSpPr>
        <p:spPr>
          <a:xfrm>
            <a:off x="7452360" y="109728"/>
            <a:ext cx="1536192" cy="420624"/>
          </a:xfrm>
          <a:prstGeom prst="roundRect">
            <a:avLst>
              <a:gd name="adj" fmla="val 15000"/>
            </a:avLst>
          </a:prstGeom>
          <a:solidFill>
            <a:srgbClr val="C8E6A0"/>
          </a:solidFill>
          <a:ln w="12700">
            <a:solidFill>
              <a:srgbClr val="1B7A3A"/>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spcBef>
                <a:spcPts val="0"/>
              </a:spcBef>
              <a:spcAft>
                <a:spcPts val="200"/>
              </a:spcAft>
            </a:pPr>
            <a:r>
              <a:rPr sz="1100" b="1" i="0">
                <a:solidFill>
                  <a:srgbClr val="1B7A3A"/>
                </a:solidFill>
                <a:latin typeface="Calibri"/>
              </a:rPr>
              <a:t>A2 Biology</a:t>
            </a:r>
          </a:p>
        </p:txBody>
      </p:sp>
      <p:sp>
        <p:nvSpPr>
          <p:cNvPr id="6" name="Rectangle 5"/>
          <p:cNvSpPr/>
          <p:nvPr/>
        </p:nvSpPr>
        <p:spPr>
          <a:xfrm>
            <a:off x="0" y="0"/>
            <a:ext cx="73152" cy="6858000"/>
          </a:xfrm>
          <a:prstGeom prst="rect">
            <a:avLst/>
          </a:prstGeom>
          <a:solidFill>
            <a:srgbClr val="6B2D8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3152" y="6565392"/>
            <a:ext cx="9070848" cy="36576"/>
          </a:xfrm>
          <a:prstGeom prst="rect">
            <a:avLst/>
          </a:prstGeom>
          <a:solidFill>
            <a:srgbClr val="7A3E9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228600" y="6583680"/>
            <a:ext cx="1280160" cy="256032"/>
          </a:xfrm>
          <a:prstGeom prst="rect">
            <a:avLst/>
          </a:prstGeom>
          <a:noFill/>
        </p:spPr>
        <p:txBody>
          <a:bodyPr wrap="square" anchor="t">
            <a:spAutoFit/>
          </a:bodyPr>
          <a:lstStyle/>
          <a:p>
            <a:pPr algn="l">
              <a:spcAft>
                <a:spcPts val="400"/>
              </a:spcAft>
            </a:pPr>
            <a:r>
              <a:rPr sz="1000" b="0" i="0">
                <a:solidFill>
                  <a:srgbClr val="6B2D8B"/>
                </a:solidFill>
                <a:latin typeface="Calibri"/>
              </a:rPr>
              <a:t>activity</a:t>
            </a:r>
          </a:p>
        </p:txBody>
      </p:sp>
      <p:sp>
        <p:nvSpPr>
          <p:cNvPr id="9" name="TextBox 8"/>
          <p:cNvSpPr txBox="1"/>
          <p:nvPr/>
        </p:nvSpPr>
        <p:spPr>
          <a:xfrm>
            <a:off x="1554480" y="6583680"/>
            <a:ext cx="6035040" cy="256032"/>
          </a:xfrm>
          <a:prstGeom prst="rect">
            <a:avLst/>
          </a:prstGeom>
          <a:noFill/>
        </p:spPr>
        <p:txBody>
          <a:bodyPr wrap="square" anchor="t">
            <a:spAutoFit/>
          </a:bodyPr>
          <a:lstStyle/>
          <a:p>
            <a:pPr algn="ctr">
              <a:spcAft>
                <a:spcPts val="400"/>
              </a:spcAft>
            </a:pPr>
            <a:r>
              <a:rPr sz="900" b="0" i="0">
                <a:solidFill>
                  <a:srgbClr val="5A5A5A"/>
                </a:solidFill>
                <a:latin typeface="Calibri"/>
              </a:rPr>
              <a:t>Original course © Boardworks Ltd 2009. Reconstructed interactive resource.</a:t>
            </a:r>
          </a:p>
        </p:txBody>
      </p:sp>
      <p:sp>
        <p:nvSpPr>
          <p:cNvPr id="10" name="Rounded Rectangle 9"/>
          <p:cNvSpPr/>
          <p:nvPr/>
        </p:nvSpPr>
        <p:spPr>
          <a:xfrm>
            <a:off x="640080" y="1188720"/>
            <a:ext cx="7863840" cy="3474720"/>
          </a:xfrm>
          <a:prstGeom prst="roundRect">
            <a:avLst>
              <a:gd name="adj" fmla="val 15000"/>
            </a:avLst>
          </a:prstGeom>
          <a:solidFill>
            <a:srgbClr val="FFF6B0"/>
          </a:solidFill>
          <a:ln w="15875">
            <a:solidFill>
              <a:srgbClr val="C5B43A"/>
            </a:solidFill>
          </a:ln>
        </p:spPr>
        <p:style>
          <a:lnRef idx="1">
            <a:schemeClr val="accent1"/>
          </a:lnRef>
          <a:fillRef idx="3">
            <a:schemeClr val="accent1"/>
          </a:fillRef>
          <a:effectRef idx="2">
            <a:schemeClr val="accent1"/>
          </a:effectRef>
          <a:fontRef idx="minor">
            <a:schemeClr val="lt1"/>
          </a:fontRef>
        </p:style>
        <p:txBody>
          <a:bodyPr rtlCol="0" anchor="t" wrap="square" lIns="109728" rIns="109728" tIns="73152" bIns="73152"/>
          <a:lstStyle/>
          <a:p>
            <a:pPr algn="l">
              <a:spcBef>
                <a:spcPts val="0"/>
              </a:spcBef>
              <a:spcAft>
                <a:spcPts val="200"/>
              </a:spcAft>
            </a:pPr>
            <a:r>
              <a:rPr sz="1800" b="0" i="0">
                <a:solidFill>
                  <a:srgbClr val="1A2F5A"/>
                </a:solidFill>
                <a:latin typeface="Calibri"/>
              </a:rPr>
              <a:t>Answer key</a:t>
            </a:r>
          </a:p>
          <a:p>
            <a:pPr algn="l">
              <a:spcAft>
                <a:spcPts val="200"/>
              </a:spcAft>
            </a:pPr>
            <a:r>
              <a:rPr sz="1800" b="0" i="0">
                <a:solidFill>
                  <a:srgbClr val="1A2F5A"/>
                </a:solidFill>
                <a:latin typeface="Calibri"/>
              </a:rPr>
              <a:t/>
            </a:r>
          </a:p>
          <a:p>
            <a:pPr algn="l">
              <a:spcAft>
                <a:spcPts val="200"/>
              </a:spcAft>
            </a:pPr>
            <a:r>
              <a:rPr sz="1800" b="0" i="0">
                <a:solidFill>
                  <a:srgbClr val="1A2F5A"/>
                </a:solidFill>
                <a:latin typeface="Calibri"/>
              </a:rPr>
              <a:t>• p.d. = –70 mV</a:t>
            </a:r>
          </a:p>
          <a:p>
            <a:pPr algn="l">
              <a:spcAft>
                <a:spcPts val="200"/>
              </a:spcAft>
            </a:pPr>
            <a:r>
              <a:rPr sz="1800" b="0" i="0">
                <a:solidFill>
                  <a:srgbClr val="1A2F5A"/>
                </a:solidFill>
                <a:latin typeface="Calibri"/>
              </a:rPr>
              <a:t>• the axon is polarised</a:t>
            </a:r>
          </a:p>
          <a:p>
            <a:pPr algn="l">
              <a:spcAft>
                <a:spcPts val="200"/>
              </a:spcAft>
            </a:pPr>
            <a:r>
              <a:rPr sz="1800" b="0" i="0">
                <a:solidFill>
                  <a:srgbClr val="1A2F5A"/>
                </a:solidFill>
                <a:latin typeface="Calibri"/>
              </a:rPr>
              <a:t>• inside is negative compared with the outside</a:t>
            </a:r>
          </a:p>
          <a:p>
            <a:pPr algn="l">
              <a:spcAft>
                <a:spcPts val="200"/>
              </a:spcAft>
            </a:pPr>
            <a:r>
              <a:rPr sz="1800" b="0" i="0">
                <a:solidFill>
                  <a:srgbClr val="1A2F5A"/>
                </a:solidFill>
                <a:latin typeface="Calibri"/>
              </a:rPr>
              <a:t>• the pump moves 3 Na⁺ out and 2 K⁺ in (unequal numbers)</a:t>
            </a:r>
          </a:p>
          <a:p>
            <a:pPr algn="l">
              <a:spcAft>
                <a:spcPts val="200"/>
              </a:spcAft>
            </a:pPr>
            <a:r>
              <a:rPr sz="1800" b="0" i="0">
                <a:solidFill>
                  <a:srgbClr val="1A2F5A"/>
                </a:solidFill>
                <a:latin typeface="Calibri"/>
              </a:rPr>
              <a:t>• the membrane is more permeable to K⁺ than to Na⁺</a:t>
            </a:r>
          </a:p>
        </p:txBody>
      </p:sp>
      <p:sp>
        <p:nvSpPr>
          <p:cNvPr id="11" name="Rounded Rectangle 10">
            <a:hlinkClick r:id="rId2" action="ppaction://hlinksldjump"/>
          </p:cNvPr>
          <p:cNvSpPr/>
          <p:nvPr/>
        </p:nvSpPr>
        <p:spPr>
          <a:xfrm>
            <a:off x="3200400" y="5029200"/>
            <a:ext cx="2743200" cy="411480"/>
          </a:xfrm>
          <a:prstGeom prst="roundRect">
            <a:avLst>
              <a:gd name="adj" fmla="val 15000"/>
            </a:avLst>
          </a:prstGeom>
          <a:solidFill>
            <a:srgbClr val="2E9E4F"/>
          </a:solidFill>
          <a:ln w="12700">
            <a:solidFill>
              <a:srgbClr val="2E9E4F"/>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spcBef>
                <a:spcPts val="0"/>
              </a:spcBef>
              <a:spcAft>
                <a:spcPts val="200"/>
              </a:spcAft>
            </a:pPr>
            <a:r>
              <a:rPr sz="1400" b="1" i="0">
                <a:solidFill>
                  <a:srgbClr val="FFFFFF"/>
                </a:solidFill>
                <a:latin typeface="Calibri"/>
              </a:rPr>
              <a:t>Back</a:t>
            </a:r>
          </a:p>
        </p:txBody>
      </p:sp>
    </p:spTree>
  </p:cSld>
  <p:clrMapOvr>
    <a:masterClrMapping/>
  </p:clrMapOvr>
</p:sld>
</file>

<file path=ppt/slides/slide3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9144000" cy="658368"/>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640080"/>
            <a:ext cx="9144000" cy="54864"/>
          </a:xfrm>
          <a:prstGeom prst="rect">
            <a:avLst/>
          </a:pr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256032" y="91440"/>
            <a:ext cx="7498079" cy="502920"/>
          </a:xfrm>
          <a:prstGeom prst="rect">
            <a:avLst/>
          </a:prstGeom>
          <a:noFill/>
        </p:spPr>
        <p:txBody>
          <a:bodyPr wrap="square" anchor="t">
            <a:spAutoFit/>
          </a:bodyPr>
          <a:lstStyle/>
          <a:p>
            <a:pPr algn="l">
              <a:spcAft>
                <a:spcPts val="400"/>
              </a:spcAft>
            </a:pPr>
            <a:r>
              <a:rPr sz="2600" b="1" i="0">
                <a:solidFill>
                  <a:srgbClr val="2E9E4F"/>
                </a:solidFill>
                <a:latin typeface="Calibri"/>
              </a:rPr>
              <a:t>Action potential</a:t>
            </a:r>
          </a:p>
        </p:txBody>
      </p:sp>
      <p:sp>
        <p:nvSpPr>
          <p:cNvPr id="5" name="Rounded Rectangle 4"/>
          <p:cNvSpPr/>
          <p:nvPr/>
        </p:nvSpPr>
        <p:spPr>
          <a:xfrm>
            <a:off x="7452360" y="109728"/>
            <a:ext cx="1536192" cy="420624"/>
          </a:xfrm>
          <a:prstGeom prst="roundRect">
            <a:avLst>
              <a:gd name="adj" fmla="val 15000"/>
            </a:avLst>
          </a:prstGeom>
          <a:solidFill>
            <a:srgbClr val="C8E6A0"/>
          </a:solidFill>
          <a:ln w="12700">
            <a:solidFill>
              <a:srgbClr val="1B7A3A"/>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spcBef>
                <a:spcPts val="0"/>
              </a:spcBef>
              <a:spcAft>
                <a:spcPts val="200"/>
              </a:spcAft>
            </a:pPr>
            <a:r>
              <a:rPr sz="1100" b="1" i="0">
                <a:solidFill>
                  <a:srgbClr val="1B7A3A"/>
                </a:solidFill>
                <a:latin typeface="Calibri"/>
              </a:rPr>
              <a:t>A2 Biology</a:t>
            </a:r>
          </a:p>
        </p:txBody>
      </p:sp>
      <p:sp>
        <p:nvSpPr>
          <p:cNvPr id="6" name="Rectangle 5"/>
          <p:cNvSpPr/>
          <p:nvPr/>
        </p:nvSpPr>
        <p:spPr>
          <a:xfrm>
            <a:off x="0" y="0"/>
            <a:ext cx="73152" cy="6858000"/>
          </a:xfrm>
          <a:prstGeom prst="rect">
            <a:avLst/>
          </a:prstGeom>
          <a:solidFill>
            <a:srgbClr val="6B2D8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3152" y="6565392"/>
            <a:ext cx="9070848" cy="36576"/>
          </a:xfrm>
          <a:prstGeom prst="rect">
            <a:avLst/>
          </a:prstGeom>
          <a:solidFill>
            <a:srgbClr val="7A3E9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228600" y="6583680"/>
            <a:ext cx="1280160" cy="256032"/>
          </a:xfrm>
          <a:prstGeom prst="rect">
            <a:avLst/>
          </a:prstGeom>
          <a:noFill/>
        </p:spPr>
        <p:txBody>
          <a:bodyPr wrap="square" anchor="t">
            <a:spAutoFit/>
          </a:bodyPr>
          <a:lstStyle/>
          <a:p>
            <a:pPr algn="l">
              <a:spcAft>
                <a:spcPts val="400"/>
              </a:spcAft>
            </a:pPr>
            <a:r>
              <a:rPr sz="1000" b="0" i="0">
                <a:solidFill>
                  <a:srgbClr val="6B2D8B"/>
                </a:solidFill>
                <a:latin typeface="Calibri"/>
              </a:rPr>
              <a:t>9 of 29</a:t>
            </a:r>
          </a:p>
        </p:txBody>
      </p:sp>
      <p:sp>
        <p:nvSpPr>
          <p:cNvPr id="9" name="TextBox 8"/>
          <p:cNvSpPr txBox="1"/>
          <p:nvPr/>
        </p:nvSpPr>
        <p:spPr>
          <a:xfrm>
            <a:off x="1554480" y="6583680"/>
            <a:ext cx="6035040" cy="256032"/>
          </a:xfrm>
          <a:prstGeom prst="rect">
            <a:avLst/>
          </a:prstGeom>
          <a:noFill/>
        </p:spPr>
        <p:txBody>
          <a:bodyPr wrap="square" anchor="t">
            <a:spAutoFit/>
          </a:bodyPr>
          <a:lstStyle/>
          <a:p>
            <a:pPr algn="ctr">
              <a:spcAft>
                <a:spcPts val="400"/>
              </a:spcAft>
            </a:pPr>
            <a:r>
              <a:rPr sz="900" b="0" i="0">
                <a:solidFill>
                  <a:srgbClr val="5A5A5A"/>
                </a:solidFill>
                <a:latin typeface="Calibri"/>
              </a:rPr>
              <a:t>Original course © Boardworks Ltd 2009. Reconstructed interactive resource.</a:t>
            </a:r>
          </a:p>
        </p:txBody>
      </p:sp>
      <p:sp>
        <p:nvSpPr>
          <p:cNvPr id="10" name="Oval 9">
            <a:hlinkClick r:id="rId4" action="ppaction://hlinksldjump"/>
          </p:cNvPr>
          <p:cNvSpPr/>
          <p:nvPr/>
        </p:nvSpPr>
        <p:spPr>
          <a:xfrm>
            <a:off x="146304" y="5760720"/>
            <a:ext cx="384048" cy="384048"/>
          </a:xfrm>
          <a:prstGeom prst="ellipse">
            <a:avLst/>
          </a:prstGeom>
          <a:solidFill>
            <a:srgbClr val="FFFFFF"/>
          </a:solidFill>
          <a:ln w="22225">
            <a:solidFill>
              <a:srgbClr val="6B2D8B"/>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spcBef>
                <a:spcPts val="0"/>
              </a:spcBef>
              <a:spcAft>
                <a:spcPts val="200"/>
              </a:spcAft>
            </a:pPr>
            <a:r>
              <a:rPr sz="1400" b="1" i="0">
                <a:solidFill>
                  <a:srgbClr val="6B2D8B"/>
                </a:solidFill>
                <a:latin typeface="Calibri"/>
              </a:rPr>
              <a:t>◀</a:t>
            </a:r>
          </a:p>
        </p:txBody>
      </p:sp>
      <p:sp>
        <p:nvSpPr>
          <p:cNvPr id="11" name="Oval 10">
            <a:hlinkClick r:id="rId3" action="ppaction://hlinksldjump"/>
          </p:cNvPr>
          <p:cNvSpPr/>
          <p:nvPr/>
        </p:nvSpPr>
        <p:spPr>
          <a:xfrm>
            <a:off x="8613648" y="5760720"/>
            <a:ext cx="384048" cy="384048"/>
          </a:xfrm>
          <a:prstGeom prst="ellipse">
            <a:avLst/>
          </a:prstGeom>
          <a:solidFill>
            <a:srgbClr val="6B2D8B"/>
          </a:solidFill>
          <a:ln w="12700">
            <a:solidFill>
              <a:srgbClr val="6B2D8B"/>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spcBef>
                <a:spcPts val="0"/>
              </a:spcBef>
              <a:spcAft>
                <a:spcPts val="200"/>
              </a:spcAft>
            </a:pPr>
            <a:r>
              <a:rPr sz="1400" b="1" i="0">
                <a:solidFill>
                  <a:srgbClr val="FFFFFF"/>
                </a:solidFill>
                <a:latin typeface="Calibri"/>
              </a:rPr>
              <a:t>▶</a:t>
            </a:r>
          </a:p>
        </p:txBody>
      </p:sp>
      <p:sp>
        <p:nvSpPr>
          <p:cNvPr id="12" name="Rounded Rectangle 11"/>
          <p:cNvSpPr/>
          <p:nvPr/>
        </p:nvSpPr>
        <p:spPr>
          <a:xfrm>
            <a:off x="320040" y="914400"/>
            <a:ext cx="3200400" cy="4206240"/>
          </a:xfrm>
          <a:prstGeom prst="roundRect">
            <a:avLst>
              <a:gd name="adj" fmla="val 15000"/>
            </a:avLst>
          </a:prstGeom>
          <a:solidFill>
            <a:srgbClr val="FFF6B0"/>
          </a:solidFill>
          <a:ln w="15875">
            <a:solidFill>
              <a:srgbClr val="C5B43A"/>
            </a:solidFill>
          </a:ln>
        </p:spPr>
        <p:style>
          <a:lnRef idx="1">
            <a:schemeClr val="accent1"/>
          </a:lnRef>
          <a:fillRef idx="3">
            <a:schemeClr val="accent1"/>
          </a:fillRef>
          <a:effectRef idx="2">
            <a:schemeClr val="accent1"/>
          </a:effectRef>
          <a:fontRef idx="minor">
            <a:schemeClr val="lt1"/>
          </a:fontRef>
        </p:style>
        <p:txBody>
          <a:bodyPr rtlCol="0" anchor="t" wrap="square" lIns="109728" rIns="109728" tIns="73152" bIns="73152"/>
          <a:lstStyle/>
          <a:p>
            <a:pPr algn="l">
              <a:spcBef>
                <a:spcPts val="0"/>
              </a:spcBef>
              <a:spcAft>
                <a:spcPts val="200"/>
              </a:spcAft>
            </a:pPr>
            <a:r>
              <a:rPr sz="1600" b="0" i="0">
                <a:solidFill>
                  <a:srgbClr val="1A2F5A"/>
                </a:solidFill>
                <a:latin typeface="Calibri"/>
              </a:rPr>
              <a:t>A temporary reversal of the potential difference in the axon is caused by a change in the distribution of ions.</a:t>
            </a:r>
          </a:p>
          <a:p>
            <a:pPr algn="l">
              <a:spcAft>
                <a:spcPts val="200"/>
              </a:spcAft>
            </a:pPr>
            <a:r>
              <a:rPr sz="1600" b="0" i="0">
                <a:solidFill>
                  <a:srgbClr val="1A2F5A"/>
                </a:solidFill>
                <a:latin typeface="Calibri"/>
              </a:rPr>
              <a:t/>
            </a:r>
          </a:p>
          <a:p>
            <a:pPr algn="l">
              <a:spcAft>
                <a:spcPts val="200"/>
              </a:spcAft>
            </a:pPr>
            <a:r>
              <a:rPr sz="1600" b="0" i="0">
                <a:solidFill>
                  <a:srgbClr val="1A2F5A"/>
                </a:solidFill>
                <a:latin typeface="Calibri"/>
              </a:rPr>
              <a:t>Press play on the next screens to see how this change propagates a nerve impulse.</a:t>
            </a:r>
          </a:p>
        </p:txBody>
      </p:sp>
      <p:pic>
        <p:nvPicPr>
          <p:cNvPr id="13" name="Picture 12" descr="motor_neurone.png"/>
          <p:cNvPicPr>
            <a:picLocks noChangeAspect="1"/>
          </p:cNvPicPr>
          <p:nvPr/>
        </p:nvPicPr>
        <p:blipFill>
          <a:blip r:embed="rId2"/>
          <a:stretch>
            <a:fillRect/>
          </a:stretch>
        </p:blipFill>
        <p:spPr>
          <a:xfrm>
            <a:off x="3566160" y="1371600"/>
            <a:ext cx="5212080" cy="2251519"/>
          </a:xfrm>
          <a:prstGeom prst="rect">
            <a:avLst/>
          </a:prstGeom>
        </p:spPr>
      </p:pic>
      <p:sp>
        <p:nvSpPr>
          <p:cNvPr id="14" name="Rounded Rectangle 13">
            <a:hlinkClick r:id="rId3" action="ppaction://hlinksldjump"/>
          </p:cNvPr>
          <p:cNvSpPr/>
          <p:nvPr/>
        </p:nvSpPr>
        <p:spPr>
          <a:xfrm>
            <a:off x="3200400" y="5394960"/>
            <a:ext cx="2743200" cy="411480"/>
          </a:xfrm>
          <a:prstGeom prst="roundRect">
            <a:avLst>
              <a:gd name="adj" fmla="val 15000"/>
            </a:avLst>
          </a:prstGeom>
          <a:solidFill>
            <a:srgbClr val="2E9E4F"/>
          </a:solidFill>
          <a:ln w="12700">
            <a:solidFill>
              <a:srgbClr val="2E9E4F"/>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spcBef>
                <a:spcPts val="0"/>
              </a:spcBef>
              <a:spcAft>
                <a:spcPts val="200"/>
              </a:spcAft>
            </a:pPr>
            <a:r>
              <a:rPr sz="1400" b="1" i="0">
                <a:solidFill>
                  <a:srgbClr val="FFFFFF"/>
                </a:solidFill>
                <a:latin typeface="Calibri"/>
              </a:rPr>
              <a:t>Play sequence</a:t>
            </a:r>
          </a:p>
        </p:txBody>
      </p:sp>
    </p:spTree>
  </p:cSld>
  <p:clrMapOvr>
    <a:masterClrMapping/>
  </p:clrMapOvr>
</p:sld>
</file>

<file path=ppt/slides/slide3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9144000" cy="658368"/>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640080"/>
            <a:ext cx="9144000" cy="54864"/>
          </a:xfrm>
          <a:prstGeom prst="rect">
            <a:avLst/>
          </a:pr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256032" y="91440"/>
            <a:ext cx="7498079" cy="502920"/>
          </a:xfrm>
          <a:prstGeom prst="rect">
            <a:avLst/>
          </a:prstGeom>
          <a:noFill/>
        </p:spPr>
        <p:txBody>
          <a:bodyPr wrap="square" anchor="t">
            <a:spAutoFit/>
          </a:bodyPr>
          <a:lstStyle/>
          <a:p>
            <a:pPr algn="l">
              <a:spcAft>
                <a:spcPts val="400"/>
              </a:spcAft>
            </a:pPr>
            <a:r>
              <a:rPr sz="2600" b="1" i="0">
                <a:solidFill>
                  <a:srgbClr val="2E9E4F"/>
                </a:solidFill>
                <a:latin typeface="Calibri"/>
              </a:rPr>
              <a:t>What happens during an action potential?</a:t>
            </a:r>
          </a:p>
        </p:txBody>
      </p:sp>
      <p:sp>
        <p:nvSpPr>
          <p:cNvPr id="5" name="Rounded Rectangle 4"/>
          <p:cNvSpPr/>
          <p:nvPr/>
        </p:nvSpPr>
        <p:spPr>
          <a:xfrm>
            <a:off x="7452360" y="109728"/>
            <a:ext cx="1536192" cy="420624"/>
          </a:xfrm>
          <a:prstGeom prst="roundRect">
            <a:avLst>
              <a:gd name="adj" fmla="val 15000"/>
            </a:avLst>
          </a:prstGeom>
          <a:solidFill>
            <a:srgbClr val="C8E6A0"/>
          </a:solidFill>
          <a:ln w="12700">
            <a:solidFill>
              <a:srgbClr val="1B7A3A"/>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spcBef>
                <a:spcPts val="0"/>
              </a:spcBef>
              <a:spcAft>
                <a:spcPts val="200"/>
              </a:spcAft>
            </a:pPr>
            <a:r>
              <a:rPr sz="1100" b="1" i="0">
                <a:solidFill>
                  <a:srgbClr val="1B7A3A"/>
                </a:solidFill>
                <a:latin typeface="Calibri"/>
              </a:rPr>
              <a:t>A2 Biology</a:t>
            </a:r>
          </a:p>
        </p:txBody>
      </p:sp>
      <p:sp>
        <p:nvSpPr>
          <p:cNvPr id="6" name="Rectangle 5"/>
          <p:cNvSpPr/>
          <p:nvPr/>
        </p:nvSpPr>
        <p:spPr>
          <a:xfrm>
            <a:off x="0" y="0"/>
            <a:ext cx="73152" cy="6858000"/>
          </a:xfrm>
          <a:prstGeom prst="rect">
            <a:avLst/>
          </a:prstGeom>
          <a:solidFill>
            <a:srgbClr val="6B2D8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3152" y="6565392"/>
            <a:ext cx="9070848" cy="36576"/>
          </a:xfrm>
          <a:prstGeom prst="rect">
            <a:avLst/>
          </a:prstGeom>
          <a:solidFill>
            <a:srgbClr val="7A3E9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228600" y="6583680"/>
            <a:ext cx="1280160" cy="256032"/>
          </a:xfrm>
          <a:prstGeom prst="rect">
            <a:avLst/>
          </a:prstGeom>
          <a:noFill/>
        </p:spPr>
        <p:txBody>
          <a:bodyPr wrap="square" anchor="t">
            <a:spAutoFit/>
          </a:bodyPr>
          <a:lstStyle/>
          <a:p>
            <a:pPr algn="l">
              <a:spcAft>
                <a:spcPts val="400"/>
              </a:spcAft>
            </a:pPr>
            <a:r>
              <a:rPr sz="1000" b="0" i="0">
                <a:solidFill>
                  <a:srgbClr val="6B2D8B"/>
                </a:solidFill>
                <a:latin typeface="Calibri"/>
              </a:rPr>
              <a:t>10 of 29</a:t>
            </a:r>
          </a:p>
        </p:txBody>
      </p:sp>
      <p:sp>
        <p:nvSpPr>
          <p:cNvPr id="9" name="TextBox 8"/>
          <p:cNvSpPr txBox="1"/>
          <p:nvPr/>
        </p:nvSpPr>
        <p:spPr>
          <a:xfrm>
            <a:off x="1554480" y="6583680"/>
            <a:ext cx="6035040" cy="256032"/>
          </a:xfrm>
          <a:prstGeom prst="rect">
            <a:avLst/>
          </a:prstGeom>
          <a:noFill/>
        </p:spPr>
        <p:txBody>
          <a:bodyPr wrap="square" anchor="t">
            <a:spAutoFit/>
          </a:bodyPr>
          <a:lstStyle/>
          <a:p>
            <a:pPr algn="ctr">
              <a:spcAft>
                <a:spcPts val="400"/>
              </a:spcAft>
            </a:pPr>
            <a:r>
              <a:rPr sz="900" b="0" i="0">
                <a:solidFill>
                  <a:srgbClr val="5A5A5A"/>
                </a:solidFill>
                <a:latin typeface="Calibri"/>
              </a:rPr>
              <a:t>Original course © Boardworks Ltd 2009. Reconstructed interactive resource.</a:t>
            </a:r>
          </a:p>
        </p:txBody>
      </p:sp>
      <p:sp>
        <p:nvSpPr>
          <p:cNvPr id="10" name="Oval 9">
            <a:hlinkClick r:id="rId6" action="ppaction://hlinksldjump"/>
          </p:cNvPr>
          <p:cNvSpPr/>
          <p:nvPr/>
        </p:nvSpPr>
        <p:spPr>
          <a:xfrm>
            <a:off x="146304" y="5760720"/>
            <a:ext cx="384048" cy="384048"/>
          </a:xfrm>
          <a:prstGeom prst="ellipse">
            <a:avLst/>
          </a:prstGeom>
          <a:solidFill>
            <a:srgbClr val="FFFFFF"/>
          </a:solidFill>
          <a:ln w="22225">
            <a:solidFill>
              <a:srgbClr val="6B2D8B"/>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spcBef>
                <a:spcPts val="0"/>
              </a:spcBef>
              <a:spcAft>
                <a:spcPts val="200"/>
              </a:spcAft>
            </a:pPr>
            <a:r>
              <a:rPr sz="1400" b="1" i="0">
                <a:solidFill>
                  <a:srgbClr val="6B2D8B"/>
                </a:solidFill>
                <a:latin typeface="Calibri"/>
              </a:rPr>
              <a:t>◀</a:t>
            </a:r>
          </a:p>
        </p:txBody>
      </p:sp>
      <p:sp>
        <p:nvSpPr>
          <p:cNvPr id="11" name="Oval 10">
            <a:hlinkClick r:id="rId5" action="ppaction://hlinksldjump"/>
          </p:cNvPr>
          <p:cNvSpPr/>
          <p:nvPr/>
        </p:nvSpPr>
        <p:spPr>
          <a:xfrm>
            <a:off x="8613648" y="5760720"/>
            <a:ext cx="384048" cy="384048"/>
          </a:xfrm>
          <a:prstGeom prst="ellipse">
            <a:avLst/>
          </a:prstGeom>
          <a:solidFill>
            <a:srgbClr val="6B2D8B"/>
          </a:solidFill>
          <a:ln w="12700">
            <a:solidFill>
              <a:srgbClr val="6B2D8B"/>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spcBef>
                <a:spcPts val="0"/>
              </a:spcBef>
              <a:spcAft>
                <a:spcPts val="200"/>
              </a:spcAft>
            </a:pPr>
            <a:r>
              <a:rPr sz="1400" b="1" i="0">
                <a:solidFill>
                  <a:srgbClr val="FFFFFF"/>
                </a:solidFill>
                <a:latin typeface="Calibri"/>
              </a:rPr>
              <a:t>▶</a:t>
            </a:r>
          </a:p>
        </p:txBody>
      </p:sp>
      <p:sp>
        <p:nvSpPr>
          <p:cNvPr id="12" name="Rectangle 11"/>
          <p:cNvSpPr/>
          <p:nvPr/>
        </p:nvSpPr>
        <p:spPr>
          <a:xfrm>
            <a:off x="201168" y="6199632"/>
            <a:ext cx="8741664" cy="329184"/>
          </a:xfrm>
          <a:prstGeom prst="rect">
            <a:avLst/>
          </a:pr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320040" y="804672"/>
            <a:ext cx="6766560" cy="347472"/>
          </a:xfrm>
          <a:prstGeom prst="rect">
            <a:avLst/>
          </a:prstGeom>
          <a:noFill/>
        </p:spPr>
        <p:txBody>
          <a:bodyPr wrap="square" anchor="t">
            <a:spAutoFit/>
          </a:bodyPr>
          <a:lstStyle/>
          <a:p>
            <a:pPr algn="l">
              <a:spcAft>
                <a:spcPts val="400"/>
              </a:spcAft>
            </a:pPr>
            <a:r>
              <a:rPr sz="1600" b="1" i="0">
                <a:solidFill>
                  <a:srgbClr val="1B3A6B"/>
                </a:solidFill>
                <a:latin typeface="Calibri"/>
              </a:rPr>
              <a:t>Step 1 of 4:  Resting – channels closed</a:t>
            </a:r>
          </a:p>
        </p:txBody>
      </p:sp>
      <p:pic>
        <p:nvPicPr>
          <p:cNvPr id="14" name="Picture 13" descr="membrane_rest.png"/>
          <p:cNvPicPr>
            <a:picLocks noChangeAspect="1"/>
          </p:cNvPicPr>
          <p:nvPr/>
        </p:nvPicPr>
        <p:blipFill>
          <a:blip r:embed="rId2"/>
          <a:stretch>
            <a:fillRect/>
          </a:stretch>
        </p:blipFill>
        <p:spPr>
          <a:xfrm>
            <a:off x="274320" y="1170432"/>
            <a:ext cx="5029200" cy="2725036"/>
          </a:xfrm>
          <a:prstGeom prst="rect">
            <a:avLst/>
          </a:prstGeom>
        </p:spPr>
      </p:pic>
      <p:sp>
        <p:nvSpPr>
          <p:cNvPr id="15" name="Rounded Rectangle 14"/>
          <p:cNvSpPr/>
          <p:nvPr/>
        </p:nvSpPr>
        <p:spPr>
          <a:xfrm>
            <a:off x="5440680" y="1170432"/>
            <a:ext cx="3337560" cy="3977639"/>
          </a:xfrm>
          <a:prstGeom prst="roundRect">
            <a:avLst>
              <a:gd name="adj" fmla="val 15000"/>
            </a:avLst>
          </a:prstGeom>
          <a:solidFill>
            <a:srgbClr val="FFF6B0"/>
          </a:solidFill>
          <a:ln w="15875">
            <a:solidFill>
              <a:srgbClr val="C5B43A"/>
            </a:solidFill>
          </a:ln>
        </p:spPr>
        <p:style>
          <a:lnRef idx="1">
            <a:schemeClr val="accent1"/>
          </a:lnRef>
          <a:fillRef idx="3">
            <a:schemeClr val="accent1"/>
          </a:fillRef>
          <a:effectRef idx="2">
            <a:schemeClr val="accent1"/>
          </a:effectRef>
          <a:fontRef idx="minor">
            <a:schemeClr val="lt1"/>
          </a:fontRef>
        </p:style>
        <p:txBody>
          <a:bodyPr rtlCol="0" anchor="t" wrap="square" lIns="109728" rIns="109728" tIns="73152" bIns="73152"/>
          <a:lstStyle/>
          <a:p>
            <a:pPr algn="l">
              <a:spcBef>
                <a:spcPts val="0"/>
              </a:spcBef>
              <a:spcAft>
                <a:spcPts val="200"/>
              </a:spcAft>
            </a:pPr>
            <a:r>
              <a:rPr sz="1400" b="0" i="0">
                <a:solidFill>
                  <a:srgbClr val="1A2F5A"/>
                </a:solidFill>
                <a:latin typeface="Calibri"/>
              </a:rPr>
              <a:t>Voltage-gated Na⁺ and K⁺ channels are closed. The membrane is polarised at about –70 mV.</a:t>
            </a:r>
          </a:p>
        </p:txBody>
      </p:sp>
      <p:sp>
        <p:nvSpPr>
          <p:cNvPr id="16" name="Rounded Rectangle 15">
            <a:hlinkClick r:id="rId3" action="ppaction://hlinksldjump"/>
          </p:cNvPr>
          <p:cNvSpPr/>
          <p:nvPr/>
        </p:nvSpPr>
        <p:spPr>
          <a:xfrm>
            <a:off x="1828800" y="6217920"/>
            <a:ext cx="1234440" cy="292608"/>
          </a:xfrm>
          <a:prstGeom prst="roundRect">
            <a:avLst>
              <a:gd name="adj" fmla="val 15000"/>
            </a:avLst>
          </a:prstGeom>
          <a:solidFill>
            <a:srgbClr val="EF6C00"/>
          </a:solidFill>
          <a:ln w="12700">
            <a:solidFill>
              <a:srgbClr val="EF6C00"/>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spcBef>
                <a:spcPts val="0"/>
              </a:spcBef>
              <a:spcAft>
                <a:spcPts val="200"/>
              </a:spcAft>
            </a:pPr>
            <a:r>
              <a:rPr sz="1200" b="1" i="0">
                <a:solidFill>
                  <a:srgbClr val="FFFFFF"/>
                </a:solidFill>
                <a:latin typeface="Calibri"/>
              </a:rPr>
              <a:t>Reset</a:t>
            </a:r>
          </a:p>
        </p:txBody>
      </p:sp>
      <p:sp>
        <p:nvSpPr>
          <p:cNvPr id="17" name="Rounded Rectangle 16">
            <a:hlinkClick r:id="rId5" action="ppaction://hlinksldjump"/>
          </p:cNvPr>
          <p:cNvSpPr/>
          <p:nvPr/>
        </p:nvSpPr>
        <p:spPr>
          <a:xfrm>
            <a:off x="3200400" y="6217920"/>
            <a:ext cx="1554480" cy="292608"/>
          </a:xfrm>
          <a:prstGeom prst="roundRect">
            <a:avLst>
              <a:gd name="adj" fmla="val 15000"/>
            </a:avLst>
          </a:prstGeom>
          <a:solidFill>
            <a:srgbClr val="2E9E4F"/>
          </a:solidFill>
          <a:ln w="12700">
            <a:solidFill>
              <a:srgbClr val="2E9E4F"/>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spcBef>
                <a:spcPts val="0"/>
              </a:spcBef>
              <a:spcAft>
                <a:spcPts val="200"/>
              </a:spcAft>
            </a:pPr>
            <a:r>
              <a:rPr sz="1200" b="1" i="0">
                <a:solidFill>
                  <a:srgbClr val="FFFFFF"/>
                </a:solidFill>
                <a:latin typeface="Calibri"/>
              </a:rPr>
              <a:t>Next step</a:t>
            </a:r>
          </a:p>
        </p:txBody>
      </p:sp>
    </p:spTree>
  </p:cSld>
  <p:clrMapOvr>
    <a:masterClrMapping/>
  </p:clrMapOvr>
</p:sld>
</file>

<file path=ppt/slides/slide3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9144000" cy="658368"/>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640080"/>
            <a:ext cx="9144000" cy="54864"/>
          </a:xfrm>
          <a:prstGeom prst="rect">
            <a:avLst/>
          </a:pr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256032" y="91440"/>
            <a:ext cx="7498079" cy="502920"/>
          </a:xfrm>
          <a:prstGeom prst="rect">
            <a:avLst/>
          </a:prstGeom>
          <a:noFill/>
        </p:spPr>
        <p:txBody>
          <a:bodyPr wrap="square" anchor="t">
            <a:spAutoFit/>
          </a:bodyPr>
          <a:lstStyle/>
          <a:p>
            <a:pPr algn="l">
              <a:spcAft>
                <a:spcPts val="400"/>
              </a:spcAft>
            </a:pPr>
            <a:r>
              <a:rPr sz="2600" b="1" i="0">
                <a:solidFill>
                  <a:srgbClr val="2E9E4F"/>
                </a:solidFill>
                <a:latin typeface="Calibri"/>
              </a:rPr>
              <a:t>What happens during an action potential?</a:t>
            </a:r>
          </a:p>
        </p:txBody>
      </p:sp>
      <p:sp>
        <p:nvSpPr>
          <p:cNvPr id="5" name="Rounded Rectangle 4"/>
          <p:cNvSpPr/>
          <p:nvPr/>
        </p:nvSpPr>
        <p:spPr>
          <a:xfrm>
            <a:off x="7452360" y="109728"/>
            <a:ext cx="1536192" cy="420624"/>
          </a:xfrm>
          <a:prstGeom prst="roundRect">
            <a:avLst>
              <a:gd name="adj" fmla="val 15000"/>
            </a:avLst>
          </a:prstGeom>
          <a:solidFill>
            <a:srgbClr val="C8E6A0"/>
          </a:solidFill>
          <a:ln w="12700">
            <a:solidFill>
              <a:srgbClr val="1B7A3A"/>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spcBef>
                <a:spcPts val="0"/>
              </a:spcBef>
              <a:spcAft>
                <a:spcPts val="200"/>
              </a:spcAft>
            </a:pPr>
            <a:r>
              <a:rPr sz="1100" b="1" i="0">
                <a:solidFill>
                  <a:srgbClr val="1B7A3A"/>
                </a:solidFill>
                <a:latin typeface="Calibri"/>
              </a:rPr>
              <a:t>A2 Biology</a:t>
            </a:r>
          </a:p>
        </p:txBody>
      </p:sp>
      <p:sp>
        <p:nvSpPr>
          <p:cNvPr id="6" name="Rectangle 5"/>
          <p:cNvSpPr/>
          <p:nvPr/>
        </p:nvSpPr>
        <p:spPr>
          <a:xfrm>
            <a:off x="0" y="0"/>
            <a:ext cx="73152" cy="6858000"/>
          </a:xfrm>
          <a:prstGeom prst="rect">
            <a:avLst/>
          </a:prstGeom>
          <a:solidFill>
            <a:srgbClr val="6B2D8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3152" y="6565392"/>
            <a:ext cx="9070848" cy="36576"/>
          </a:xfrm>
          <a:prstGeom prst="rect">
            <a:avLst/>
          </a:prstGeom>
          <a:solidFill>
            <a:srgbClr val="7A3E9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228600" y="6583680"/>
            <a:ext cx="1280160" cy="256032"/>
          </a:xfrm>
          <a:prstGeom prst="rect">
            <a:avLst/>
          </a:prstGeom>
          <a:noFill/>
        </p:spPr>
        <p:txBody>
          <a:bodyPr wrap="square" anchor="t">
            <a:spAutoFit/>
          </a:bodyPr>
          <a:lstStyle/>
          <a:p>
            <a:pPr algn="l">
              <a:spcAft>
                <a:spcPts val="400"/>
              </a:spcAft>
            </a:pPr>
            <a:r>
              <a:rPr sz="1000" b="0" i="0">
                <a:solidFill>
                  <a:srgbClr val="6B2D8B"/>
                </a:solidFill>
                <a:latin typeface="Calibri"/>
              </a:rPr>
              <a:t>11 of 29</a:t>
            </a:r>
          </a:p>
        </p:txBody>
      </p:sp>
      <p:sp>
        <p:nvSpPr>
          <p:cNvPr id="9" name="TextBox 8"/>
          <p:cNvSpPr txBox="1"/>
          <p:nvPr/>
        </p:nvSpPr>
        <p:spPr>
          <a:xfrm>
            <a:off x="1554480" y="6583680"/>
            <a:ext cx="6035040" cy="256032"/>
          </a:xfrm>
          <a:prstGeom prst="rect">
            <a:avLst/>
          </a:prstGeom>
          <a:noFill/>
        </p:spPr>
        <p:txBody>
          <a:bodyPr wrap="square" anchor="t">
            <a:spAutoFit/>
          </a:bodyPr>
          <a:lstStyle/>
          <a:p>
            <a:pPr algn="ctr">
              <a:spcAft>
                <a:spcPts val="400"/>
              </a:spcAft>
            </a:pPr>
            <a:r>
              <a:rPr sz="900" b="0" i="0">
                <a:solidFill>
                  <a:srgbClr val="5A5A5A"/>
                </a:solidFill>
                <a:latin typeface="Calibri"/>
              </a:rPr>
              <a:t>Original course © Boardworks Ltd 2009. Reconstructed interactive resource.</a:t>
            </a:r>
          </a:p>
        </p:txBody>
      </p:sp>
      <p:sp>
        <p:nvSpPr>
          <p:cNvPr id="10" name="Oval 9">
            <a:hlinkClick r:id="rId3" action="ppaction://hlinksldjump"/>
          </p:cNvPr>
          <p:cNvSpPr/>
          <p:nvPr/>
        </p:nvSpPr>
        <p:spPr>
          <a:xfrm>
            <a:off x="146304" y="5760720"/>
            <a:ext cx="384048" cy="384048"/>
          </a:xfrm>
          <a:prstGeom prst="ellipse">
            <a:avLst/>
          </a:prstGeom>
          <a:solidFill>
            <a:srgbClr val="FFFFFF"/>
          </a:solidFill>
          <a:ln w="22225">
            <a:solidFill>
              <a:srgbClr val="6B2D8B"/>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spcBef>
                <a:spcPts val="0"/>
              </a:spcBef>
              <a:spcAft>
                <a:spcPts val="200"/>
              </a:spcAft>
            </a:pPr>
            <a:r>
              <a:rPr sz="1400" b="1" i="0">
                <a:solidFill>
                  <a:srgbClr val="6B2D8B"/>
                </a:solidFill>
                <a:latin typeface="Calibri"/>
              </a:rPr>
              <a:t>◀</a:t>
            </a:r>
          </a:p>
        </p:txBody>
      </p:sp>
      <p:sp>
        <p:nvSpPr>
          <p:cNvPr id="11" name="Oval 10">
            <a:hlinkClick r:id="rId5" action="ppaction://hlinksldjump"/>
          </p:cNvPr>
          <p:cNvSpPr/>
          <p:nvPr/>
        </p:nvSpPr>
        <p:spPr>
          <a:xfrm>
            <a:off x="8613648" y="5760720"/>
            <a:ext cx="384048" cy="384048"/>
          </a:xfrm>
          <a:prstGeom prst="ellipse">
            <a:avLst/>
          </a:prstGeom>
          <a:solidFill>
            <a:srgbClr val="6B2D8B"/>
          </a:solidFill>
          <a:ln w="12700">
            <a:solidFill>
              <a:srgbClr val="6B2D8B"/>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spcBef>
                <a:spcPts val="0"/>
              </a:spcBef>
              <a:spcAft>
                <a:spcPts val="200"/>
              </a:spcAft>
            </a:pPr>
            <a:r>
              <a:rPr sz="1400" b="1" i="0">
                <a:solidFill>
                  <a:srgbClr val="FFFFFF"/>
                </a:solidFill>
                <a:latin typeface="Calibri"/>
              </a:rPr>
              <a:t>▶</a:t>
            </a:r>
          </a:p>
        </p:txBody>
      </p:sp>
      <p:sp>
        <p:nvSpPr>
          <p:cNvPr id="12" name="Rectangle 11"/>
          <p:cNvSpPr/>
          <p:nvPr/>
        </p:nvSpPr>
        <p:spPr>
          <a:xfrm>
            <a:off x="201168" y="6199632"/>
            <a:ext cx="8741664" cy="329184"/>
          </a:xfrm>
          <a:prstGeom prst="rect">
            <a:avLst/>
          </a:pr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320040" y="804672"/>
            <a:ext cx="6766560" cy="347472"/>
          </a:xfrm>
          <a:prstGeom prst="rect">
            <a:avLst/>
          </a:prstGeom>
          <a:noFill/>
        </p:spPr>
        <p:txBody>
          <a:bodyPr wrap="square" anchor="t">
            <a:spAutoFit/>
          </a:bodyPr>
          <a:lstStyle/>
          <a:p>
            <a:pPr algn="l">
              <a:spcAft>
                <a:spcPts val="400"/>
              </a:spcAft>
            </a:pPr>
            <a:r>
              <a:rPr sz="1600" b="1" i="0">
                <a:solidFill>
                  <a:srgbClr val="1B3A6B"/>
                </a:solidFill>
                <a:latin typeface="Calibri"/>
              </a:rPr>
              <a:t>Step 2 of 4:  Depolarisation – Na⁺ in</a:t>
            </a:r>
          </a:p>
        </p:txBody>
      </p:sp>
      <p:pic>
        <p:nvPicPr>
          <p:cNvPr id="14" name="Picture 13" descr="membrane_depol.png"/>
          <p:cNvPicPr>
            <a:picLocks noChangeAspect="1"/>
          </p:cNvPicPr>
          <p:nvPr/>
        </p:nvPicPr>
        <p:blipFill>
          <a:blip r:embed="rId2"/>
          <a:stretch>
            <a:fillRect/>
          </a:stretch>
        </p:blipFill>
        <p:spPr>
          <a:xfrm>
            <a:off x="274320" y="1170432"/>
            <a:ext cx="5029200" cy="2725036"/>
          </a:xfrm>
          <a:prstGeom prst="rect">
            <a:avLst/>
          </a:prstGeom>
        </p:spPr>
      </p:pic>
      <p:sp>
        <p:nvSpPr>
          <p:cNvPr id="15" name="Rounded Rectangle 14"/>
          <p:cNvSpPr/>
          <p:nvPr/>
        </p:nvSpPr>
        <p:spPr>
          <a:xfrm>
            <a:off x="5440680" y="1170432"/>
            <a:ext cx="3337560" cy="3977639"/>
          </a:xfrm>
          <a:prstGeom prst="roundRect">
            <a:avLst>
              <a:gd name="adj" fmla="val 15000"/>
            </a:avLst>
          </a:prstGeom>
          <a:solidFill>
            <a:srgbClr val="FFF6B0"/>
          </a:solidFill>
          <a:ln w="15875">
            <a:solidFill>
              <a:srgbClr val="C5B43A"/>
            </a:solidFill>
          </a:ln>
        </p:spPr>
        <p:style>
          <a:lnRef idx="1">
            <a:schemeClr val="accent1"/>
          </a:lnRef>
          <a:fillRef idx="3">
            <a:schemeClr val="accent1"/>
          </a:fillRef>
          <a:effectRef idx="2">
            <a:schemeClr val="accent1"/>
          </a:effectRef>
          <a:fontRef idx="minor">
            <a:schemeClr val="lt1"/>
          </a:fontRef>
        </p:style>
        <p:txBody>
          <a:bodyPr rtlCol="0" anchor="t" wrap="square" lIns="109728" rIns="109728" tIns="73152" bIns="73152"/>
          <a:lstStyle/>
          <a:p>
            <a:pPr algn="l">
              <a:spcBef>
                <a:spcPts val="0"/>
              </a:spcBef>
              <a:spcAft>
                <a:spcPts val="200"/>
              </a:spcAft>
            </a:pPr>
            <a:r>
              <a:rPr sz="1400" b="0" i="0">
                <a:solidFill>
                  <a:srgbClr val="1A2F5A"/>
                </a:solidFill>
                <a:latin typeface="Calibri"/>
              </a:rPr>
              <a:t>A stimulus opens voltage-gated sodium channels. Na⁺ rushes in down its electrochemical gradient. The inside becomes positive (about +35 mV). This is depolarisation.</a:t>
            </a:r>
          </a:p>
        </p:txBody>
      </p:sp>
      <p:sp>
        <p:nvSpPr>
          <p:cNvPr id="16" name="Rounded Rectangle 15">
            <a:hlinkClick r:id="rId3" action="ppaction://hlinksldjump"/>
          </p:cNvPr>
          <p:cNvSpPr/>
          <p:nvPr/>
        </p:nvSpPr>
        <p:spPr>
          <a:xfrm>
            <a:off x="320040" y="6217920"/>
            <a:ext cx="1371600" cy="292608"/>
          </a:xfrm>
          <a:prstGeom prst="roundRect">
            <a:avLst>
              <a:gd name="adj" fmla="val 15000"/>
            </a:avLst>
          </a:prstGeom>
          <a:solidFill>
            <a:srgbClr val="1B3A6B"/>
          </a:solidFill>
          <a:ln w="12700">
            <a:solidFill>
              <a:srgbClr val="1B3A6B"/>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spcBef>
                <a:spcPts val="0"/>
              </a:spcBef>
              <a:spcAft>
                <a:spcPts val="200"/>
              </a:spcAft>
            </a:pPr>
            <a:r>
              <a:rPr sz="1200" b="1" i="0">
                <a:solidFill>
                  <a:srgbClr val="FFFFFF"/>
                </a:solidFill>
                <a:latin typeface="Calibri"/>
              </a:rPr>
              <a:t>Previous</a:t>
            </a:r>
          </a:p>
        </p:txBody>
      </p:sp>
      <p:sp>
        <p:nvSpPr>
          <p:cNvPr id="17" name="Rounded Rectangle 16">
            <a:hlinkClick r:id="rId3" action="ppaction://hlinksldjump"/>
          </p:cNvPr>
          <p:cNvSpPr/>
          <p:nvPr/>
        </p:nvSpPr>
        <p:spPr>
          <a:xfrm>
            <a:off x="1828800" y="6217920"/>
            <a:ext cx="1234440" cy="292608"/>
          </a:xfrm>
          <a:prstGeom prst="roundRect">
            <a:avLst>
              <a:gd name="adj" fmla="val 15000"/>
            </a:avLst>
          </a:prstGeom>
          <a:solidFill>
            <a:srgbClr val="EF6C00"/>
          </a:solidFill>
          <a:ln w="12700">
            <a:solidFill>
              <a:srgbClr val="EF6C00"/>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spcBef>
                <a:spcPts val="0"/>
              </a:spcBef>
              <a:spcAft>
                <a:spcPts val="200"/>
              </a:spcAft>
            </a:pPr>
            <a:r>
              <a:rPr sz="1200" b="1" i="0">
                <a:solidFill>
                  <a:srgbClr val="FFFFFF"/>
                </a:solidFill>
                <a:latin typeface="Calibri"/>
              </a:rPr>
              <a:t>Reset</a:t>
            </a:r>
          </a:p>
        </p:txBody>
      </p:sp>
      <p:sp>
        <p:nvSpPr>
          <p:cNvPr id="18" name="Rounded Rectangle 17">
            <a:hlinkClick r:id="rId5" action="ppaction://hlinksldjump"/>
          </p:cNvPr>
          <p:cNvSpPr/>
          <p:nvPr/>
        </p:nvSpPr>
        <p:spPr>
          <a:xfrm>
            <a:off x="3200400" y="6217920"/>
            <a:ext cx="1554480" cy="292608"/>
          </a:xfrm>
          <a:prstGeom prst="roundRect">
            <a:avLst>
              <a:gd name="adj" fmla="val 15000"/>
            </a:avLst>
          </a:prstGeom>
          <a:solidFill>
            <a:srgbClr val="2E9E4F"/>
          </a:solidFill>
          <a:ln w="12700">
            <a:solidFill>
              <a:srgbClr val="2E9E4F"/>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spcBef>
                <a:spcPts val="0"/>
              </a:spcBef>
              <a:spcAft>
                <a:spcPts val="200"/>
              </a:spcAft>
            </a:pPr>
            <a:r>
              <a:rPr sz="1200" b="1" i="0">
                <a:solidFill>
                  <a:srgbClr val="FFFFFF"/>
                </a:solidFill>
                <a:latin typeface="Calibri"/>
              </a:rPr>
              <a:t>Next step</a:t>
            </a:r>
          </a:p>
        </p:txBody>
      </p:sp>
    </p:spTree>
  </p:cSld>
  <p:clrMapOvr>
    <a:masterClrMapping/>
  </p:clrMapOvr>
</p:sld>
</file>

<file path=ppt/slides/slide3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9144000" cy="658368"/>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640080"/>
            <a:ext cx="9144000" cy="54864"/>
          </a:xfrm>
          <a:prstGeom prst="rect">
            <a:avLst/>
          </a:pr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256032" y="91440"/>
            <a:ext cx="7498079" cy="502920"/>
          </a:xfrm>
          <a:prstGeom prst="rect">
            <a:avLst/>
          </a:prstGeom>
          <a:noFill/>
        </p:spPr>
        <p:txBody>
          <a:bodyPr wrap="square" anchor="t">
            <a:spAutoFit/>
          </a:bodyPr>
          <a:lstStyle/>
          <a:p>
            <a:pPr algn="l">
              <a:spcAft>
                <a:spcPts val="400"/>
              </a:spcAft>
            </a:pPr>
            <a:r>
              <a:rPr sz="2600" b="1" i="0">
                <a:solidFill>
                  <a:srgbClr val="2E9E4F"/>
                </a:solidFill>
                <a:latin typeface="Calibri"/>
              </a:rPr>
              <a:t>What happens during an action potential?</a:t>
            </a:r>
          </a:p>
        </p:txBody>
      </p:sp>
      <p:sp>
        <p:nvSpPr>
          <p:cNvPr id="5" name="Rounded Rectangle 4"/>
          <p:cNvSpPr/>
          <p:nvPr/>
        </p:nvSpPr>
        <p:spPr>
          <a:xfrm>
            <a:off x="7452360" y="109728"/>
            <a:ext cx="1536192" cy="420624"/>
          </a:xfrm>
          <a:prstGeom prst="roundRect">
            <a:avLst>
              <a:gd name="adj" fmla="val 15000"/>
            </a:avLst>
          </a:prstGeom>
          <a:solidFill>
            <a:srgbClr val="C8E6A0"/>
          </a:solidFill>
          <a:ln w="12700">
            <a:solidFill>
              <a:srgbClr val="1B7A3A"/>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spcBef>
                <a:spcPts val="0"/>
              </a:spcBef>
              <a:spcAft>
                <a:spcPts val="200"/>
              </a:spcAft>
            </a:pPr>
            <a:r>
              <a:rPr sz="1100" b="1" i="0">
                <a:solidFill>
                  <a:srgbClr val="1B7A3A"/>
                </a:solidFill>
                <a:latin typeface="Calibri"/>
              </a:rPr>
              <a:t>A2 Biology</a:t>
            </a:r>
          </a:p>
        </p:txBody>
      </p:sp>
      <p:sp>
        <p:nvSpPr>
          <p:cNvPr id="6" name="Rectangle 5"/>
          <p:cNvSpPr/>
          <p:nvPr/>
        </p:nvSpPr>
        <p:spPr>
          <a:xfrm>
            <a:off x="0" y="0"/>
            <a:ext cx="73152" cy="6858000"/>
          </a:xfrm>
          <a:prstGeom prst="rect">
            <a:avLst/>
          </a:prstGeom>
          <a:solidFill>
            <a:srgbClr val="6B2D8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3152" y="6565392"/>
            <a:ext cx="9070848" cy="36576"/>
          </a:xfrm>
          <a:prstGeom prst="rect">
            <a:avLst/>
          </a:prstGeom>
          <a:solidFill>
            <a:srgbClr val="7A3E9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228600" y="6583680"/>
            <a:ext cx="1280160" cy="256032"/>
          </a:xfrm>
          <a:prstGeom prst="rect">
            <a:avLst/>
          </a:prstGeom>
          <a:noFill/>
        </p:spPr>
        <p:txBody>
          <a:bodyPr wrap="square" anchor="t">
            <a:spAutoFit/>
          </a:bodyPr>
          <a:lstStyle/>
          <a:p>
            <a:pPr algn="l">
              <a:spcAft>
                <a:spcPts val="400"/>
              </a:spcAft>
            </a:pPr>
            <a:r>
              <a:rPr sz="1000" b="0" i="0">
                <a:solidFill>
                  <a:srgbClr val="6B2D8B"/>
                </a:solidFill>
                <a:latin typeface="Calibri"/>
              </a:rPr>
              <a:t>12 of 29</a:t>
            </a:r>
          </a:p>
        </p:txBody>
      </p:sp>
      <p:sp>
        <p:nvSpPr>
          <p:cNvPr id="9" name="TextBox 8"/>
          <p:cNvSpPr txBox="1"/>
          <p:nvPr/>
        </p:nvSpPr>
        <p:spPr>
          <a:xfrm>
            <a:off x="1554480" y="6583680"/>
            <a:ext cx="6035040" cy="256032"/>
          </a:xfrm>
          <a:prstGeom prst="rect">
            <a:avLst/>
          </a:prstGeom>
          <a:noFill/>
        </p:spPr>
        <p:txBody>
          <a:bodyPr wrap="square" anchor="t">
            <a:spAutoFit/>
          </a:bodyPr>
          <a:lstStyle/>
          <a:p>
            <a:pPr algn="ctr">
              <a:spcAft>
                <a:spcPts val="400"/>
              </a:spcAft>
            </a:pPr>
            <a:r>
              <a:rPr sz="900" b="0" i="0">
                <a:solidFill>
                  <a:srgbClr val="5A5A5A"/>
                </a:solidFill>
                <a:latin typeface="Calibri"/>
              </a:rPr>
              <a:t>Original course © Boardworks Ltd 2009. Reconstructed interactive resource.</a:t>
            </a:r>
          </a:p>
        </p:txBody>
      </p:sp>
      <p:sp>
        <p:nvSpPr>
          <p:cNvPr id="10" name="Oval 9">
            <a:hlinkClick r:id="rId3" action="ppaction://hlinksldjump"/>
          </p:cNvPr>
          <p:cNvSpPr/>
          <p:nvPr/>
        </p:nvSpPr>
        <p:spPr>
          <a:xfrm>
            <a:off x="146304" y="5760720"/>
            <a:ext cx="384048" cy="384048"/>
          </a:xfrm>
          <a:prstGeom prst="ellipse">
            <a:avLst/>
          </a:prstGeom>
          <a:solidFill>
            <a:srgbClr val="FFFFFF"/>
          </a:solidFill>
          <a:ln w="22225">
            <a:solidFill>
              <a:srgbClr val="6B2D8B"/>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spcBef>
                <a:spcPts val="0"/>
              </a:spcBef>
              <a:spcAft>
                <a:spcPts val="200"/>
              </a:spcAft>
            </a:pPr>
            <a:r>
              <a:rPr sz="1400" b="1" i="0">
                <a:solidFill>
                  <a:srgbClr val="6B2D8B"/>
                </a:solidFill>
                <a:latin typeface="Calibri"/>
              </a:rPr>
              <a:t>◀</a:t>
            </a:r>
          </a:p>
        </p:txBody>
      </p:sp>
      <p:sp>
        <p:nvSpPr>
          <p:cNvPr id="11" name="Oval 10">
            <a:hlinkClick r:id="rId6" action="ppaction://hlinksldjump"/>
          </p:cNvPr>
          <p:cNvSpPr/>
          <p:nvPr/>
        </p:nvSpPr>
        <p:spPr>
          <a:xfrm>
            <a:off x="8613648" y="5760720"/>
            <a:ext cx="384048" cy="384048"/>
          </a:xfrm>
          <a:prstGeom prst="ellipse">
            <a:avLst/>
          </a:prstGeom>
          <a:solidFill>
            <a:srgbClr val="6B2D8B"/>
          </a:solidFill>
          <a:ln w="12700">
            <a:solidFill>
              <a:srgbClr val="6B2D8B"/>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spcBef>
                <a:spcPts val="0"/>
              </a:spcBef>
              <a:spcAft>
                <a:spcPts val="200"/>
              </a:spcAft>
            </a:pPr>
            <a:r>
              <a:rPr sz="1400" b="1" i="0">
                <a:solidFill>
                  <a:srgbClr val="FFFFFF"/>
                </a:solidFill>
                <a:latin typeface="Calibri"/>
              </a:rPr>
              <a:t>▶</a:t>
            </a:r>
          </a:p>
        </p:txBody>
      </p:sp>
      <p:sp>
        <p:nvSpPr>
          <p:cNvPr id="12" name="Rectangle 11"/>
          <p:cNvSpPr/>
          <p:nvPr/>
        </p:nvSpPr>
        <p:spPr>
          <a:xfrm>
            <a:off x="201168" y="6199632"/>
            <a:ext cx="8741664" cy="329184"/>
          </a:xfrm>
          <a:prstGeom prst="rect">
            <a:avLst/>
          </a:pr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320040" y="804672"/>
            <a:ext cx="6766560" cy="347472"/>
          </a:xfrm>
          <a:prstGeom prst="rect">
            <a:avLst/>
          </a:prstGeom>
          <a:noFill/>
        </p:spPr>
        <p:txBody>
          <a:bodyPr wrap="square" anchor="t">
            <a:spAutoFit/>
          </a:bodyPr>
          <a:lstStyle/>
          <a:p>
            <a:pPr algn="l">
              <a:spcAft>
                <a:spcPts val="400"/>
              </a:spcAft>
            </a:pPr>
            <a:r>
              <a:rPr sz="1600" b="1" i="0">
                <a:solidFill>
                  <a:srgbClr val="1B3A6B"/>
                </a:solidFill>
                <a:latin typeface="Calibri"/>
              </a:rPr>
              <a:t>Step 3 of 4:  Repolarisation – K⁺ out</a:t>
            </a:r>
          </a:p>
        </p:txBody>
      </p:sp>
      <p:pic>
        <p:nvPicPr>
          <p:cNvPr id="14" name="Picture 13" descr="membrane_repol.png"/>
          <p:cNvPicPr>
            <a:picLocks noChangeAspect="1"/>
          </p:cNvPicPr>
          <p:nvPr/>
        </p:nvPicPr>
        <p:blipFill>
          <a:blip r:embed="rId2"/>
          <a:stretch>
            <a:fillRect/>
          </a:stretch>
        </p:blipFill>
        <p:spPr>
          <a:xfrm>
            <a:off x="274320" y="1170432"/>
            <a:ext cx="5029200" cy="2725036"/>
          </a:xfrm>
          <a:prstGeom prst="rect">
            <a:avLst/>
          </a:prstGeom>
        </p:spPr>
      </p:pic>
      <p:sp>
        <p:nvSpPr>
          <p:cNvPr id="15" name="Rounded Rectangle 14"/>
          <p:cNvSpPr/>
          <p:nvPr/>
        </p:nvSpPr>
        <p:spPr>
          <a:xfrm>
            <a:off x="5440680" y="1170432"/>
            <a:ext cx="3337560" cy="3977639"/>
          </a:xfrm>
          <a:prstGeom prst="roundRect">
            <a:avLst>
              <a:gd name="adj" fmla="val 15000"/>
            </a:avLst>
          </a:prstGeom>
          <a:solidFill>
            <a:srgbClr val="FFF6B0"/>
          </a:solidFill>
          <a:ln w="15875">
            <a:solidFill>
              <a:srgbClr val="C5B43A"/>
            </a:solidFill>
          </a:ln>
        </p:spPr>
        <p:style>
          <a:lnRef idx="1">
            <a:schemeClr val="accent1"/>
          </a:lnRef>
          <a:fillRef idx="3">
            <a:schemeClr val="accent1"/>
          </a:fillRef>
          <a:effectRef idx="2">
            <a:schemeClr val="accent1"/>
          </a:effectRef>
          <a:fontRef idx="minor">
            <a:schemeClr val="lt1"/>
          </a:fontRef>
        </p:style>
        <p:txBody>
          <a:bodyPr rtlCol="0" anchor="t" wrap="square" lIns="109728" rIns="109728" tIns="73152" bIns="73152"/>
          <a:lstStyle/>
          <a:p>
            <a:pPr algn="l">
              <a:spcBef>
                <a:spcPts val="0"/>
              </a:spcBef>
              <a:spcAft>
                <a:spcPts val="200"/>
              </a:spcAft>
            </a:pPr>
            <a:r>
              <a:rPr sz="1400" b="0" i="0">
                <a:solidFill>
                  <a:srgbClr val="1A2F5A"/>
                </a:solidFill>
                <a:latin typeface="Calibri"/>
              </a:rPr>
              <a:t>Na⁺ channels inactivate. Voltage-gated K⁺ channels open. K⁺ leaves the axon and the inside becomes negative again. This is repolarisation.</a:t>
            </a:r>
          </a:p>
        </p:txBody>
      </p:sp>
      <p:sp>
        <p:nvSpPr>
          <p:cNvPr id="16" name="Rounded Rectangle 15">
            <a:hlinkClick r:id="rId3" action="ppaction://hlinksldjump"/>
          </p:cNvPr>
          <p:cNvSpPr/>
          <p:nvPr/>
        </p:nvSpPr>
        <p:spPr>
          <a:xfrm>
            <a:off x="320040" y="6217920"/>
            <a:ext cx="1371600" cy="292608"/>
          </a:xfrm>
          <a:prstGeom prst="roundRect">
            <a:avLst>
              <a:gd name="adj" fmla="val 15000"/>
            </a:avLst>
          </a:prstGeom>
          <a:solidFill>
            <a:srgbClr val="1B3A6B"/>
          </a:solidFill>
          <a:ln w="12700">
            <a:solidFill>
              <a:srgbClr val="1B3A6B"/>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spcBef>
                <a:spcPts val="0"/>
              </a:spcBef>
              <a:spcAft>
                <a:spcPts val="200"/>
              </a:spcAft>
            </a:pPr>
            <a:r>
              <a:rPr sz="1200" b="1" i="0">
                <a:solidFill>
                  <a:srgbClr val="FFFFFF"/>
                </a:solidFill>
                <a:latin typeface="Calibri"/>
              </a:rPr>
              <a:t>Previous</a:t>
            </a:r>
          </a:p>
        </p:txBody>
      </p:sp>
      <p:sp>
        <p:nvSpPr>
          <p:cNvPr id="17" name="Rounded Rectangle 16">
            <a:hlinkClick r:id="rId4" action="ppaction://hlinksldjump"/>
          </p:cNvPr>
          <p:cNvSpPr/>
          <p:nvPr/>
        </p:nvSpPr>
        <p:spPr>
          <a:xfrm>
            <a:off x="1828800" y="6217920"/>
            <a:ext cx="1234440" cy="292608"/>
          </a:xfrm>
          <a:prstGeom prst="roundRect">
            <a:avLst>
              <a:gd name="adj" fmla="val 15000"/>
            </a:avLst>
          </a:prstGeom>
          <a:solidFill>
            <a:srgbClr val="EF6C00"/>
          </a:solidFill>
          <a:ln w="12700">
            <a:solidFill>
              <a:srgbClr val="EF6C00"/>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spcBef>
                <a:spcPts val="0"/>
              </a:spcBef>
              <a:spcAft>
                <a:spcPts val="200"/>
              </a:spcAft>
            </a:pPr>
            <a:r>
              <a:rPr sz="1200" b="1" i="0">
                <a:solidFill>
                  <a:srgbClr val="FFFFFF"/>
                </a:solidFill>
                <a:latin typeface="Calibri"/>
              </a:rPr>
              <a:t>Reset</a:t>
            </a:r>
          </a:p>
        </p:txBody>
      </p:sp>
      <p:sp>
        <p:nvSpPr>
          <p:cNvPr id="18" name="Rounded Rectangle 17">
            <a:hlinkClick r:id="rId6" action="ppaction://hlinksldjump"/>
          </p:cNvPr>
          <p:cNvSpPr/>
          <p:nvPr/>
        </p:nvSpPr>
        <p:spPr>
          <a:xfrm>
            <a:off x="3200400" y="6217920"/>
            <a:ext cx="1554480" cy="292608"/>
          </a:xfrm>
          <a:prstGeom prst="roundRect">
            <a:avLst>
              <a:gd name="adj" fmla="val 15000"/>
            </a:avLst>
          </a:prstGeom>
          <a:solidFill>
            <a:srgbClr val="2E9E4F"/>
          </a:solidFill>
          <a:ln w="12700">
            <a:solidFill>
              <a:srgbClr val="2E9E4F"/>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spcBef>
                <a:spcPts val="0"/>
              </a:spcBef>
              <a:spcAft>
                <a:spcPts val="200"/>
              </a:spcAft>
            </a:pPr>
            <a:r>
              <a:rPr sz="1200" b="1" i="0">
                <a:solidFill>
                  <a:srgbClr val="FFFFFF"/>
                </a:solidFill>
                <a:latin typeface="Calibri"/>
              </a:rPr>
              <a:t>Next step</a:t>
            </a:r>
          </a:p>
        </p:txBody>
      </p:sp>
    </p:spTree>
  </p:cSld>
  <p:clrMapOvr>
    <a:masterClrMapping/>
  </p:clrMapOvr>
</p:sld>
</file>

<file path=ppt/slides/slide3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9144000" cy="658368"/>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640080"/>
            <a:ext cx="9144000" cy="54864"/>
          </a:xfrm>
          <a:prstGeom prst="rect">
            <a:avLst/>
          </a:pr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256032" y="91440"/>
            <a:ext cx="7498079" cy="502920"/>
          </a:xfrm>
          <a:prstGeom prst="rect">
            <a:avLst/>
          </a:prstGeom>
          <a:noFill/>
        </p:spPr>
        <p:txBody>
          <a:bodyPr wrap="square" anchor="t">
            <a:spAutoFit/>
          </a:bodyPr>
          <a:lstStyle/>
          <a:p>
            <a:pPr algn="l">
              <a:spcAft>
                <a:spcPts val="400"/>
              </a:spcAft>
            </a:pPr>
            <a:r>
              <a:rPr sz="2600" b="1" i="0">
                <a:solidFill>
                  <a:srgbClr val="2E9E4F"/>
                </a:solidFill>
                <a:latin typeface="Calibri"/>
              </a:rPr>
              <a:t>What happens during an action potential?</a:t>
            </a:r>
          </a:p>
        </p:txBody>
      </p:sp>
      <p:sp>
        <p:nvSpPr>
          <p:cNvPr id="5" name="Rounded Rectangle 4"/>
          <p:cNvSpPr/>
          <p:nvPr/>
        </p:nvSpPr>
        <p:spPr>
          <a:xfrm>
            <a:off x="7452360" y="109728"/>
            <a:ext cx="1536192" cy="420624"/>
          </a:xfrm>
          <a:prstGeom prst="roundRect">
            <a:avLst>
              <a:gd name="adj" fmla="val 15000"/>
            </a:avLst>
          </a:prstGeom>
          <a:solidFill>
            <a:srgbClr val="C8E6A0"/>
          </a:solidFill>
          <a:ln w="12700">
            <a:solidFill>
              <a:srgbClr val="1B7A3A"/>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spcBef>
                <a:spcPts val="0"/>
              </a:spcBef>
              <a:spcAft>
                <a:spcPts val="200"/>
              </a:spcAft>
            </a:pPr>
            <a:r>
              <a:rPr sz="1100" b="1" i="0">
                <a:solidFill>
                  <a:srgbClr val="1B7A3A"/>
                </a:solidFill>
                <a:latin typeface="Calibri"/>
              </a:rPr>
              <a:t>A2 Biology</a:t>
            </a:r>
          </a:p>
        </p:txBody>
      </p:sp>
      <p:sp>
        <p:nvSpPr>
          <p:cNvPr id="6" name="Rectangle 5"/>
          <p:cNvSpPr/>
          <p:nvPr/>
        </p:nvSpPr>
        <p:spPr>
          <a:xfrm>
            <a:off x="0" y="0"/>
            <a:ext cx="73152" cy="6858000"/>
          </a:xfrm>
          <a:prstGeom prst="rect">
            <a:avLst/>
          </a:prstGeom>
          <a:solidFill>
            <a:srgbClr val="6B2D8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3152" y="6565392"/>
            <a:ext cx="9070848" cy="36576"/>
          </a:xfrm>
          <a:prstGeom prst="rect">
            <a:avLst/>
          </a:prstGeom>
          <a:solidFill>
            <a:srgbClr val="7A3E9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228600" y="6583680"/>
            <a:ext cx="1280160" cy="256032"/>
          </a:xfrm>
          <a:prstGeom prst="rect">
            <a:avLst/>
          </a:prstGeom>
          <a:noFill/>
        </p:spPr>
        <p:txBody>
          <a:bodyPr wrap="square" anchor="t">
            <a:spAutoFit/>
          </a:bodyPr>
          <a:lstStyle/>
          <a:p>
            <a:pPr algn="l">
              <a:spcAft>
                <a:spcPts val="400"/>
              </a:spcAft>
            </a:pPr>
            <a:r>
              <a:rPr sz="1000" b="0" i="0">
                <a:solidFill>
                  <a:srgbClr val="6B2D8B"/>
                </a:solidFill>
                <a:latin typeface="Calibri"/>
              </a:rPr>
              <a:t>13 of 29</a:t>
            </a:r>
          </a:p>
        </p:txBody>
      </p:sp>
      <p:sp>
        <p:nvSpPr>
          <p:cNvPr id="9" name="TextBox 8"/>
          <p:cNvSpPr txBox="1"/>
          <p:nvPr/>
        </p:nvSpPr>
        <p:spPr>
          <a:xfrm>
            <a:off x="1554480" y="6583680"/>
            <a:ext cx="6035040" cy="256032"/>
          </a:xfrm>
          <a:prstGeom prst="rect">
            <a:avLst/>
          </a:prstGeom>
          <a:noFill/>
        </p:spPr>
        <p:txBody>
          <a:bodyPr wrap="square" anchor="t">
            <a:spAutoFit/>
          </a:bodyPr>
          <a:lstStyle/>
          <a:p>
            <a:pPr algn="ctr">
              <a:spcAft>
                <a:spcPts val="400"/>
              </a:spcAft>
            </a:pPr>
            <a:r>
              <a:rPr sz="900" b="0" i="0">
                <a:solidFill>
                  <a:srgbClr val="5A5A5A"/>
                </a:solidFill>
                <a:latin typeface="Calibri"/>
              </a:rPr>
              <a:t>Original course © Boardworks Ltd 2009. Reconstructed interactive resource.</a:t>
            </a:r>
          </a:p>
        </p:txBody>
      </p:sp>
      <p:sp>
        <p:nvSpPr>
          <p:cNvPr id="10" name="Oval 9">
            <a:hlinkClick r:id="rId3" action="ppaction://hlinksldjump"/>
          </p:cNvPr>
          <p:cNvSpPr/>
          <p:nvPr/>
        </p:nvSpPr>
        <p:spPr>
          <a:xfrm>
            <a:off x="146304" y="5760720"/>
            <a:ext cx="384048" cy="384048"/>
          </a:xfrm>
          <a:prstGeom prst="ellipse">
            <a:avLst/>
          </a:prstGeom>
          <a:solidFill>
            <a:srgbClr val="FFFFFF"/>
          </a:solidFill>
          <a:ln w="22225">
            <a:solidFill>
              <a:srgbClr val="6B2D8B"/>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spcBef>
                <a:spcPts val="0"/>
              </a:spcBef>
              <a:spcAft>
                <a:spcPts val="200"/>
              </a:spcAft>
            </a:pPr>
            <a:r>
              <a:rPr sz="1400" b="1" i="0">
                <a:solidFill>
                  <a:srgbClr val="6B2D8B"/>
                </a:solidFill>
                <a:latin typeface="Calibri"/>
              </a:rPr>
              <a:t>◀</a:t>
            </a:r>
          </a:p>
        </p:txBody>
      </p:sp>
      <p:sp>
        <p:nvSpPr>
          <p:cNvPr id="11" name="Oval 10">
            <a:hlinkClick r:id="rId6" action="ppaction://hlinksldjump"/>
          </p:cNvPr>
          <p:cNvSpPr/>
          <p:nvPr/>
        </p:nvSpPr>
        <p:spPr>
          <a:xfrm>
            <a:off x="8613648" y="5760720"/>
            <a:ext cx="384048" cy="384048"/>
          </a:xfrm>
          <a:prstGeom prst="ellipse">
            <a:avLst/>
          </a:prstGeom>
          <a:solidFill>
            <a:srgbClr val="6B2D8B"/>
          </a:solidFill>
          <a:ln w="12700">
            <a:solidFill>
              <a:srgbClr val="6B2D8B"/>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spcBef>
                <a:spcPts val="0"/>
              </a:spcBef>
              <a:spcAft>
                <a:spcPts val="200"/>
              </a:spcAft>
            </a:pPr>
            <a:r>
              <a:rPr sz="1400" b="1" i="0">
                <a:solidFill>
                  <a:srgbClr val="FFFFFF"/>
                </a:solidFill>
                <a:latin typeface="Calibri"/>
              </a:rPr>
              <a:t>▶</a:t>
            </a:r>
          </a:p>
        </p:txBody>
      </p:sp>
      <p:sp>
        <p:nvSpPr>
          <p:cNvPr id="12" name="Rectangle 11"/>
          <p:cNvSpPr/>
          <p:nvPr/>
        </p:nvSpPr>
        <p:spPr>
          <a:xfrm>
            <a:off x="201168" y="6199632"/>
            <a:ext cx="8741664" cy="329184"/>
          </a:xfrm>
          <a:prstGeom prst="rect">
            <a:avLst/>
          </a:pr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320040" y="804672"/>
            <a:ext cx="6766560" cy="347472"/>
          </a:xfrm>
          <a:prstGeom prst="rect">
            <a:avLst/>
          </a:prstGeom>
          <a:noFill/>
        </p:spPr>
        <p:txBody>
          <a:bodyPr wrap="square" anchor="t">
            <a:spAutoFit/>
          </a:bodyPr>
          <a:lstStyle/>
          <a:p>
            <a:pPr algn="l">
              <a:spcAft>
                <a:spcPts val="400"/>
              </a:spcAft>
            </a:pPr>
            <a:r>
              <a:rPr sz="1600" b="1" i="0">
                <a:solidFill>
                  <a:srgbClr val="1B3A6B"/>
                </a:solidFill>
                <a:latin typeface="Calibri"/>
              </a:rPr>
              <a:t>Step 4 of 4:  Return to rest</a:t>
            </a:r>
          </a:p>
        </p:txBody>
      </p:sp>
      <p:pic>
        <p:nvPicPr>
          <p:cNvPr id="14" name="Picture 13" descr="membrane_rest.png"/>
          <p:cNvPicPr>
            <a:picLocks noChangeAspect="1"/>
          </p:cNvPicPr>
          <p:nvPr/>
        </p:nvPicPr>
        <p:blipFill>
          <a:blip r:embed="rId2"/>
          <a:stretch>
            <a:fillRect/>
          </a:stretch>
        </p:blipFill>
        <p:spPr>
          <a:xfrm>
            <a:off x="274320" y="1170432"/>
            <a:ext cx="5029200" cy="2725036"/>
          </a:xfrm>
          <a:prstGeom prst="rect">
            <a:avLst/>
          </a:prstGeom>
        </p:spPr>
      </p:pic>
      <p:sp>
        <p:nvSpPr>
          <p:cNvPr id="15" name="Rounded Rectangle 14"/>
          <p:cNvSpPr/>
          <p:nvPr/>
        </p:nvSpPr>
        <p:spPr>
          <a:xfrm>
            <a:off x="5440680" y="1170432"/>
            <a:ext cx="3337560" cy="3977639"/>
          </a:xfrm>
          <a:prstGeom prst="roundRect">
            <a:avLst>
              <a:gd name="adj" fmla="val 15000"/>
            </a:avLst>
          </a:prstGeom>
          <a:solidFill>
            <a:srgbClr val="FFF6B0"/>
          </a:solidFill>
          <a:ln w="15875">
            <a:solidFill>
              <a:srgbClr val="C5B43A"/>
            </a:solidFill>
          </a:ln>
        </p:spPr>
        <p:style>
          <a:lnRef idx="1">
            <a:schemeClr val="accent1"/>
          </a:lnRef>
          <a:fillRef idx="3">
            <a:schemeClr val="accent1"/>
          </a:fillRef>
          <a:effectRef idx="2">
            <a:schemeClr val="accent1"/>
          </a:effectRef>
          <a:fontRef idx="minor">
            <a:schemeClr val="lt1"/>
          </a:fontRef>
        </p:style>
        <p:txBody>
          <a:bodyPr rtlCol="0" anchor="t" wrap="square" lIns="109728" rIns="109728" tIns="73152" bIns="73152"/>
          <a:lstStyle/>
          <a:p>
            <a:pPr algn="l">
              <a:spcBef>
                <a:spcPts val="0"/>
              </a:spcBef>
              <a:spcAft>
                <a:spcPts val="200"/>
              </a:spcAft>
            </a:pPr>
            <a:r>
              <a:rPr sz="1400" b="0" i="0">
                <a:solidFill>
                  <a:srgbClr val="1A2F5A"/>
                </a:solidFill>
                <a:latin typeface="Calibri"/>
              </a:rPr>
              <a:t>There is a brief hyperpolarisation (more negative than rest). The Na⁺/K⁺ pump and leak channels restore the resting ion distribution. Local currents then depolarise the next patch of membrane.</a:t>
            </a:r>
          </a:p>
        </p:txBody>
      </p:sp>
      <p:sp>
        <p:nvSpPr>
          <p:cNvPr id="16" name="Rounded Rectangle 15">
            <a:hlinkClick r:id="rId3" action="ppaction://hlinksldjump"/>
          </p:cNvPr>
          <p:cNvSpPr/>
          <p:nvPr/>
        </p:nvSpPr>
        <p:spPr>
          <a:xfrm>
            <a:off x="320040" y="6217920"/>
            <a:ext cx="1371600" cy="292608"/>
          </a:xfrm>
          <a:prstGeom prst="roundRect">
            <a:avLst>
              <a:gd name="adj" fmla="val 15000"/>
            </a:avLst>
          </a:prstGeom>
          <a:solidFill>
            <a:srgbClr val="1B3A6B"/>
          </a:solidFill>
          <a:ln w="12700">
            <a:solidFill>
              <a:srgbClr val="1B3A6B"/>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spcBef>
                <a:spcPts val="0"/>
              </a:spcBef>
              <a:spcAft>
                <a:spcPts val="200"/>
              </a:spcAft>
            </a:pPr>
            <a:r>
              <a:rPr sz="1200" b="1" i="0">
                <a:solidFill>
                  <a:srgbClr val="FFFFFF"/>
                </a:solidFill>
                <a:latin typeface="Calibri"/>
              </a:rPr>
              <a:t>Previous</a:t>
            </a:r>
          </a:p>
        </p:txBody>
      </p:sp>
      <p:sp>
        <p:nvSpPr>
          <p:cNvPr id="17" name="Rounded Rectangle 16">
            <a:hlinkClick r:id="rId4" action="ppaction://hlinksldjump"/>
          </p:cNvPr>
          <p:cNvSpPr/>
          <p:nvPr/>
        </p:nvSpPr>
        <p:spPr>
          <a:xfrm>
            <a:off x="1828800" y="6217920"/>
            <a:ext cx="1234440" cy="292608"/>
          </a:xfrm>
          <a:prstGeom prst="roundRect">
            <a:avLst>
              <a:gd name="adj" fmla="val 15000"/>
            </a:avLst>
          </a:prstGeom>
          <a:solidFill>
            <a:srgbClr val="EF6C00"/>
          </a:solidFill>
          <a:ln w="12700">
            <a:solidFill>
              <a:srgbClr val="EF6C00"/>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spcBef>
                <a:spcPts val="0"/>
              </a:spcBef>
              <a:spcAft>
                <a:spcPts val="200"/>
              </a:spcAft>
            </a:pPr>
            <a:r>
              <a:rPr sz="1200" b="1" i="0">
                <a:solidFill>
                  <a:srgbClr val="FFFFFF"/>
                </a:solidFill>
                <a:latin typeface="Calibri"/>
              </a:rPr>
              <a:t>Reset</a:t>
            </a:r>
          </a:p>
        </p:txBody>
      </p:sp>
      <p:sp>
        <p:nvSpPr>
          <p:cNvPr id="18" name="Rounded Rectangle 17">
            <a:hlinkClick r:id="rId6" action="ppaction://hlinksldjump"/>
          </p:cNvPr>
          <p:cNvSpPr/>
          <p:nvPr/>
        </p:nvSpPr>
        <p:spPr>
          <a:xfrm>
            <a:off x="3200400" y="6217920"/>
            <a:ext cx="1554480" cy="292608"/>
          </a:xfrm>
          <a:prstGeom prst="roundRect">
            <a:avLst>
              <a:gd name="adj" fmla="val 15000"/>
            </a:avLst>
          </a:prstGeom>
          <a:solidFill>
            <a:srgbClr val="2E9E4F"/>
          </a:solidFill>
          <a:ln w="12700">
            <a:solidFill>
              <a:srgbClr val="2E9E4F"/>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spcBef>
                <a:spcPts val="0"/>
              </a:spcBef>
              <a:spcAft>
                <a:spcPts val="200"/>
              </a:spcAft>
            </a:pPr>
            <a:r>
              <a:rPr sz="1200" b="1" i="0">
                <a:solidFill>
                  <a:srgbClr val="FFFFFF"/>
                </a:solidFill>
                <a:latin typeface="Calibri"/>
              </a:rPr>
              <a:t>Continue</a:t>
            </a:r>
          </a:p>
        </p:txBody>
      </p:sp>
    </p:spTree>
  </p:cSld>
  <p:clrMapOvr>
    <a:masterClrMapping/>
  </p:clrMapOvr>
</p:sld>
</file>

<file path=ppt/slides/slide3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9144000" cy="658368"/>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640080"/>
            <a:ext cx="9144000" cy="54864"/>
          </a:xfrm>
          <a:prstGeom prst="rect">
            <a:avLst/>
          </a:pr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256032" y="91440"/>
            <a:ext cx="7498079" cy="502920"/>
          </a:xfrm>
          <a:prstGeom prst="rect">
            <a:avLst/>
          </a:prstGeom>
          <a:noFill/>
        </p:spPr>
        <p:txBody>
          <a:bodyPr wrap="square" anchor="t">
            <a:spAutoFit/>
          </a:bodyPr>
          <a:lstStyle/>
          <a:p>
            <a:pPr algn="l">
              <a:spcAft>
                <a:spcPts val="400"/>
              </a:spcAft>
            </a:pPr>
            <a:r>
              <a:rPr sz="2600" b="1" i="0">
                <a:solidFill>
                  <a:srgbClr val="2E9E4F"/>
                </a:solidFill>
                <a:latin typeface="Calibri"/>
              </a:rPr>
              <a:t>What happens during an action potential?</a:t>
            </a:r>
          </a:p>
        </p:txBody>
      </p:sp>
      <p:sp>
        <p:nvSpPr>
          <p:cNvPr id="5" name="Rounded Rectangle 4"/>
          <p:cNvSpPr/>
          <p:nvPr/>
        </p:nvSpPr>
        <p:spPr>
          <a:xfrm>
            <a:off x="7452360" y="109728"/>
            <a:ext cx="1536192" cy="420624"/>
          </a:xfrm>
          <a:prstGeom prst="roundRect">
            <a:avLst>
              <a:gd name="adj" fmla="val 15000"/>
            </a:avLst>
          </a:prstGeom>
          <a:solidFill>
            <a:srgbClr val="C8E6A0"/>
          </a:solidFill>
          <a:ln w="12700">
            <a:solidFill>
              <a:srgbClr val="1B7A3A"/>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spcBef>
                <a:spcPts val="0"/>
              </a:spcBef>
              <a:spcAft>
                <a:spcPts val="200"/>
              </a:spcAft>
            </a:pPr>
            <a:r>
              <a:rPr sz="1100" b="1" i="0">
                <a:solidFill>
                  <a:srgbClr val="1B7A3A"/>
                </a:solidFill>
                <a:latin typeface="Calibri"/>
              </a:rPr>
              <a:t>A2 Biology</a:t>
            </a:r>
          </a:p>
        </p:txBody>
      </p:sp>
      <p:sp>
        <p:nvSpPr>
          <p:cNvPr id="6" name="Rectangle 5"/>
          <p:cNvSpPr/>
          <p:nvPr/>
        </p:nvSpPr>
        <p:spPr>
          <a:xfrm>
            <a:off x="0" y="0"/>
            <a:ext cx="73152" cy="6858000"/>
          </a:xfrm>
          <a:prstGeom prst="rect">
            <a:avLst/>
          </a:prstGeom>
          <a:solidFill>
            <a:srgbClr val="6B2D8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3152" y="6565392"/>
            <a:ext cx="9070848" cy="36576"/>
          </a:xfrm>
          <a:prstGeom prst="rect">
            <a:avLst/>
          </a:prstGeom>
          <a:solidFill>
            <a:srgbClr val="7A3E9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228600" y="6583680"/>
            <a:ext cx="1280160" cy="256032"/>
          </a:xfrm>
          <a:prstGeom prst="rect">
            <a:avLst/>
          </a:prstGeom>
          <a:noFill/>
        </p:spPr>
        <p:txBody>
          <a:bodyPr wrap="square" anchor="t">
            <a:spAutoFit/>
          </a:bodyPr>
          <a:lstStyle/>
          <a:p>
            <a:pPr algn="l">
              <a:spcAft>
                <a:spcPts val="400"/>
              </a:spcAft>
            </a:pPr>
            <a:r>
              <a:rPr sz="1000" b="0" i="0">
                <a:solidFill>
                  <a:srgbClr val="6B2D8B"/>
                </a:solidFill>
                <a:latin typeface="Calibri"/>
              </a:rPr>
              <a:t>14 of 29</a:t>
            </a:r>
          </a:p>
        </p:txBody>
      </p:sp>
      <p:sp>
        <p:nvSpPr>
          <p:cNvPr id="9" name="TextBox 8"/>
          <p:cNvSpPr txBox="1"/>
          <p:nvPr/>
        </p:nvSpPr>
        <p:spPr>
          <a:xfrm>
            <a:off x="1554480" y="6583680"/>
            <a:ext cx="6035040" cy="256032"/>
          </a:xfrm>
          <a:prstGeom prst="rect">
            <a:avLst/>
          </a:prstGeom>
          <a:noFill/>
        </p:spPr>
        <p:txBody>
          <a:bodyPr wrap="square" anchor="t">
            <a:spAutoFit/>
          </a:bodyPr>
          <a:lstStyle/>
          <a:p>
            <a:pPr algn="ctr">
              <a:spcAft>
                <a:spcPts val="400"/>
              </a:spcAft>
            </a:pPr>
            <a:r>
              <a:rPr sz="900" b="0" i="0">
                <a:solidFill>
                  <a:srgbClr val="5A5A5A"/>
                </a:solidFill>
                <a:latin typeface="Calibri"/>
              </a:rPr>
              <a:t>Original course © Boardworks Ltd 2009. Reconstructed interactive resource.</a:t>
            </a:r>
          </a:p>
        </p:txBody>
      </p:sp>
      <p:sp>
        <p:nvSpPr>
          <p:cNvPr id="10" name="Oval 9">
            <a:hlinkClick r:id="rId5" action="ppaction://hlinksldjump"/>
          </p:cNvPr>
          <p:cNvSpPr/>
          <p:nvPr/>
        </p:nvSpPr>
        <p:spPr>
          <a:xfrm>
            <a:off x="146304" y="5760720"/>
            <a:ext cx="384048" cy="384048"/>
          </a:xfrm>
          <a:prstGeom prst="ellipse">
            <a:avLst/>
          </a:prstGeom>
          <a:solidFill>
            <a:srgbClr val="FFFFFF"/>
          </a:solidFill>
          <a:ln w="22225">
            <a:solidFill>
              <a:srgbClr val="6B2D8B"/>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spcBef>
                <a:spcPts val="0"/>
              </a:spcBef>
              <a:spcAft>
                <a:spcPts val="200"/>
              </a:spcAft>
            </a:pPr>
            <a:r>
              <a:rPr sz="1400" b="1" i="0">
                <a:solidFill>
                  <a:srgbClr val="6B2D8B"/>
                </a:solidFill>
                <a:latin typeface="Calibri"/>
              </a:rPr>
              <a:t>◀</a:t>
            </a:r>
          </a:p>
        </p:txBody>
      </p:sp>
      <p:sp>
        <p:nvSpPr>
          <p:cNvPr id="11" name="Oval 10">
            <a:hlinkClick r:id="rId6" action="ppaction://hlinksldjump"/>
          </p:cNvPr>
          <p:cNvSpPr/>
          <p:nvPr/>
        </p:nvSpPr>
        <p:spPr>
          <a:xfrm>
            <a:off x="8613648" y="5760720"/>
            <a:ext cx="384048" cy="384048"/>
          </a:xfrm>
          <a:prstGeom prst="ellipse">
            <a:avLst/>
          </a:prstGeom>
          <a:solidFill>
            <a:srgbClr val="6B2D8B"/>
          </a:solidFill>
          <a:ln w="12700">
            <a:solidFill>
              <a:srgbClr val="6B2D8B"/>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spcBef>
                <a:spcPts val="0"/>
              </a:spcBef>
              <a:spcAft>
                <a:spcPts val="200"/>
              </a:spcAft>
            </a:pPr>
            <a:r>
              <a:rPr sz="1400" b="1" i="0">
                <a:solidFill>
                  <a:srgbClr val="FFFFFF"/>
                </a:solidFill>
                <a:latin typeface="Calibri"/>
              </a:rPr>
              <a:t>▶</a:t>
            </a:r>
          </a:p>
        </p:txBody>
      </p:sp>
      <p:sp>
        <p:nvSpPr>
          <p:cNvPr id="12" name="Rectangle 11"/>
          <p:cNvSpPr/>
          <p:nvPr/>
        </p:nvSpPr>
        <p:spPr>
          <a:xfrm>
            <a:off x="201168" y="6199632"/>
            <a:ext cx="8741664" cy="329184"/>
          </a:xfrm>
          <a:prstGeom prst="rect">
            <a:avLst/>
          </a:pr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274320" y="804672"/>
            <a:ext cx="8595360" cy="365760"/>
          </a:xfrm>
          <a:prstGeom prst="rect">
            <a:avLst/>
          </a:prstGeom>
          <a:noFill/>
        </p:spPr>
        <p:txBody>
          <a:bodyPr wrap="square" anchor="t">
            <a:spAutoFit/>
          </a:bodyPr>
          <a:lstStyle/>
          <a:p>
            <a:pPr algn="ctr">
              <a:spcAft>
                <a:spcPts val="400"/>
              </a:spcAft>
            </a:pPr>
            <a:r>
              <a:rPr sz="1800" b="1" i="0">
                <a:solidFill>
                  <a:srgbClr val="1B3A6B"/>
                </a:solidFill>
                <a:latin typeface="Calibri"/>
              </a:rPr>
              <a:t>Which voltage-gated ion channels are open during each stage?</a:t>
            </a:r>
          </a:p>
        </p:txBody>
      </p:sp>
      <p:sp>
        <p:nvSpPr>
          <p:cNvPr id="14" name="Rounded Rectangle 13"/>
          <p:cNvSpPr/>
          <p:nvPr/>
        </p:nvSpPr>
        <p:spPr>
          <a:xfrm>
            <a:off x="320040" y="1280160"/>
            <a:ext cx="2468880" cy="502920"/>
          </a:xfrm>
          <a:prstGeom prst="roundRect">
            <a:avLst>
              <a:gd name="adj" fmla="val 15000"/>
            </a:avLst>
          </a:prstGeom>
          <a:solidFill>
            <a:srgbClr val="C8E6A0"/>
          </a:solidFill>
          <a:ln w="15875">
            <a:solidFill>
              <a:srgbClr val="1B7A3A"/>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spcBef>
                <a:spcPts val="0"/>
              </a:spcBef>
              <a:spcAft>
                <a:spcPts val="200"/>
              </a:spcAft>
            </a:pPr>
            <a:r>
              <a:rPr sz="1300" b="1" i="0">
                <a:solidFill>
                  <a:srgbClr val="1B3A6B"/>
                </a:solidFill>
                <a:latin typeface="Calibri"/>
              </a:rPr>
              <a:t/>
            </a:r>
          </a:p>
        </p:txBody>
      </p:sp>
      <p:sp>
        <p:nvSpPr>
          <p:cNvPr id="15" name="Rounded Rectangle 14"/>
          <p:cNvSpPr/>
          <p:nvPr/>
        </p:nvSpPr>
        <p:spPr>
          <a:xfrm>
            <a:off x="2880360" y="1280160"/>
            <a:ext cx="2926080" cy="502920"/>
          </a:xfrm>
          <a:prstGeom prst="roundRect">
            <a:avLst>
              <a:gd name="adj" fmla="val 15000"/>
            </a:avLst>
          </a:prstGeom>
          <a:solidFill>
            <a:srgbClr val="C8E6A0"/>
          </a:solidFill>
          <a:ln w="15875">
            <a:solidFill>
              <a:srgbClr val="1B7A3A"/>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spcBef>
                <a:spcPts val="0"/>
              </a:spcBef>
              <a:spcAft>
                <a:spcPts val="200"/>
              </a:spcAft>
            </a:pPr>
            <a:r>
              <a:rPr sz="1300" b="1" i="0">
                <a:solidFill>
                  <a:srgbClr val="1B3A6B"/>
                </a:solidFill>
                <a:latin typeface="Calibri"/>
              </a:rPr>
              <a:t>voltage-gated potassium</a:t>
            </a:r>
          </a:p>
        </p:txBody>
      </p:sp>
      <p:sp>
        <p:nvSpPr>
          <p:cNvPr id="16" name="Rounded Rectangle 15"/>
          <p:cNvSpPr/>
          <p:nvPr/>
        </p:nvSpPr>
        <p:spPr>
          <a:xfrm>
            <a:off x="5897880" y="1280160"/>
            <a:ext cx="2926080" cy="502920"/>
          </a:xfrm>
          <a:prstGeom prst="roundRect">
            <a:avLst>
              <a:gd name="adj" fmla="val 15000"/>
            </a:avLst>
          </a:prstGeom>
          <a:solidFill>
            <a:srgbClr val="C8E6A0"/>
          </a:solidFill>
          <a:ln w="15875">
            <a:solidFill>
              <a:srgbClr val="1B7A3A"/>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spcBef>
                <a:spcPts val="0"/>
              </a:spcBef>
              <a:spcAft>
                <a:spcPts val="200"/>
              </a:spcAft>
            </a:pPr>
            <a:r>
              <a:rPr sz="1300" b="1" i="0">
                <a:solidFill>
                  <a:srgbClr val="1B3A6B"/>
                </a:solidFill>
                <a:latin typeface="Calibri"/>
              </a:rPr>
              <a:t>voltage-gated sodium</a:t>
            </a:r>
          </a:p>
        </p:txBody>
      </p:sp>
      <p:sp>
        <p:nvSpPr>
          <p:cNvPr id="17" name="Rounded Rectangle 16"/>
          <p:cNvSpPr/>
          <p:nvPr/>
        </p:nvSpPr>
        <p:spPr>
          <a:xfrm>
            <a:off x="320040" y="1874519"/>
            <a:ext cx="2468880" cy="777240"/>
          </a:xfrm>
          <a:prstGeom prst="roundRect">
            <a:avLst>
              <a:gd name="adj" fmla="val 15000"/>
            </a:avLst>
          </a:prstGeom>
          <a:solidFill>
            <a:srgbClr val="C8E6A0"/>
          </a:solidFill>
          <a:ln w="15875">
            <a:solidFill>
              <a:srgbClr val="1B7A3A"/>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spcBef>
                <a:spcPts val="0"/>
              </a:spcBef>
              <a:spcAft>
                <a:spcPts val="200"/>
              </a:spcAft>
            </a:pPr>
            <a:r>
              <a:rPr sz="1400" b="1" i="0">
                <a:solidFill>
                  <a:srgbClr val="1B3A6B"/>
                </a:solidFill>
                <a:latin typeface="Calibri"/>
              </a:rPr>
              <a:t>resting potential</a:t>
            </a:r>
          </a:p>
        </p:txBody>
      </p:sp>
      <p:sp>
        <p:nvSpPr>
          <p:cNvPr id="18" name="Rounded Rectangle 17">
            <a:hlinkClick r:id="rId4" action="ppaction://hlinksldjump"/>
          </p:cNvPr>
          <p:cNvSpPr/>
          <p:nvPr/>
        </p:nvSpPr>
        <p:spPr>
          <a:xfrm>
            <a:off x="2880360" y="1874519"/>
            <a:ext cx="2926080" cy="777240"/>
          </a:xfrm>
          <a:prstGeom prst="roundRect">
            <a:avLst>
              <a:gd name="adj" fmla="val 15000"/>
            </a:avLst>
          </a:prstGeom>
          <a:solidFill>
            <a:srgbClr val="FFF6B0"/>
          </a:solidFill>
          <a:ln w="12700">
            <a:solidFill>
              <a:srgbClr val="1B7A3A"/>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spcBef>
                <a:spcPts val="0"/>
              </a:spcBef>
              <a:spcAft>
                <a:spcPts val="200"/>
              </a:spcAft>
            </a:pPr>
            <a:r>
              <a:rPr sz="1400" b="1" i="0">
                <a:solidFill>
                  <a:srgbClr val="1B3A6B"/>
                </a:solidFill>
                <a:latin typeface="Calibri"/>
              </a:rPr>
              <a:t>click to reveal</a:t>
            </a:r>
          </a:p>
        </p:txBody>
      </p:sp>
      <p:sp>
        <p:nvSpPr>
          <p:cNvPr id="19" name="Rounded Rectangle 18">
            <a:hlinkClick r:id="rId4" action="ppaction://hlinksldjump"/>
          </p:cNvPr>
          <p:cNvSpPr/>
          <p:nvPr/>
        </p:nvSpPr>
        <p:spPr>
          <a:xfrm>
            <a:off x="5897880" y="1874519"/>
            <a:ext cx="2926080" cy="777240"/>
          </a:xfrm>
          <a:prstGeom prst="roundRect">
            <a:avLst>
              <a:gd name="adj" fmla="val 15000"/>
            </a:avLst>
          </a:prstGeom>
          <a:solidFill>
            <a:srgbClr val="FFF6B0"/>
          </a:solidFill>
          <a:ln w="12700">
            <a:solidFill>
              <a:srgbClr val="1B7A3A"/>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spcBef>
                <a:spcPts val="0"/>
              </a:spcBef>
              <a:spcAft>
                <a:spcPts val="200"/>
              </a:spcAft>
            </a:pPr>
            <a:r>
              <a:rPr sz="1400" b="1" i="0">
                <a:solidFill>
                  <a:srgbClr val="1B3A6B"/>
                </a:solidFill>
                <a:latin typeface="Calibri"/>
              </a:rPr>
              <a:t>click to reveal</a:t>
            </a:r>
          </a:p>
        </p:txBody>
      </p:sp>
      <p:sp>
        <p:nvSpPr>
          <p:cNvPr id="20" name="Rounded Rectangle 19"/>
          <p:cNvSpPr/>
          <p:nvPr/>
        </p:nvSpPr>
        <p:spPr>
          <a:xfrm>
            <a:off x="320040" y="2770632"/>
            <a:ext cx="2468880" cy="777240"/>
          </a:xfrm>
          <a:prstGeom prst="roundRect">
            <a:avLst>
              <a:gd name="adj" fmla="val 15000"/>
            </a:avLst>
          </a:prstGeom>
          <a:solidFill>
            <a:srgbClr val="C8E6A0"/>
          </a:solidFill>
          <a:ln w="15875">
            <a:solidFill>
              <a:srgbClr val="1B7A3A"/>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spcBef>
                <a:spcPts val="0"/>
              </a:spcBef>
              <a:spcAft>
                <a:spcPts val="200"/>
              </a:spcAft>
            </a:pPr>
            <a:r>
              <a:rPr sz="1400" b="1" i="0">
                <a:solidFill>
                  <a:srgbClr val="1B3A6B"/>
                </a:solidFill>
                <a:latin typeface="Calibri"/>
              </a:rPr>
              <a:t>depolarisation</a:t>
            </a:r>
          </a:p>
        </p:txBody>
      </p:sp>
      <p:sp>
        <p:nvSpPr>
          <p:cNvPr id="21" name="Rounded Rectangle 20">
            <a:hlinkClick r:id="rId4" action="ppaction://hlinksldjump"/>
          </p:cNvPr>
          <p:cNvSpPr/>
          <p:nvPr/>
        </p:nvSpPr>
        <p:spPr>
          <a:xfrm>
            <a:off x="2880360" y="2770632"/>
            <a:ext cx="2926080" cy="777240"/>
          </a:xfrm>
          <a:prstGeom prst="roundRect">
            <a:avLst>
              <a:gd name="adj" fmla="val 15000"/>
            </a:avLst>
          </a:prstGeom>
          <a:solidFill>
            <a:srgbClr val="FFF6B0"/>
          </a:solidFill>
          <a:ln w="12700">
            <a:solidFill>
              <a:srgbClr val="1B7A3A"/>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spcBef>
                <a:spcPts val="0"/>
              </a:spcBef>
              <a:spcAft>
                <a:spcPts val="200"/>
              </a:spcAft>
            </a:pPr>
            <a:r>
              <a:rPr sz="1400" b="1" i="0">
                <a:solidFill>
                  <a:srgbClr val="1B3A6B"/>
                </a:solidFill>
                <a:latin typeface="Calibri"/>
              </a:rPr>
              <a:t>click to reveal</a:t>
            </a:r>
          </a:p>
        </p:txBody>
      </p:sp>
      <p:sp>
        <p:nvSpPr>
          <p:cNvPr id="22" name="Rounded Rectangle 21">
            <a:hlinkClick r:id="rId4" action="ppaction://hlinksldjump"/>
          </p:cNvPr>
          <p:cNvSpPr/>
          <p:nvPr/>
        </p:nvSpPr>
        <p:spPr>
          <a:xfrm>
            <a:off x="5897880" y="2770632"/>
            <a:ext cx="2926080" cy="777240"/>
          </a:xfrm>
          <a:prstGeom prst="roundRect">
            <a:avLst>
              <a:gd name="adj" fmla="val 15000"/>
            </a:avLst>
          </a:prstGeom>
          <a:solidFill>
            <a:srgbClr val="FFF6B0"/>
          </a:solidFill>
          <a:ln w="12700">
            <a:solidFill>
              <a:srgbClr val="1B7A3A"/>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spcBef>
                <a:spcPts val="0"/>
              </a:spcBef>
              <a:spcAft>
                <a:spcPts val="200"/>
              </a:spcAft>
            </a:pPr>
            <a:r>
              <a:rPr sz="1400" b="1" i="0">
                <a:solidFill>
                  <a:srgbClr val="1B3A6B"/>
                </a:solidFill>
                <a:latin typeface="Calibri"/>
              </a:rPr>
              <a:t>click to reveal</a:t>
            </a:r>
          </a:p>
        </p:txBody>
      </p:sp>
      <p:sp>
        <p:nvSpPr>
          <p:cNvPr id="23" name="Rounded Rectangle 22"/>
          <p:cNvSpPr/>
          <p:nvPr/>
        </p:nvSpPr>
        <p:spPr>
          <a:xfrm>
            <a:off x="320040" y="3666744"/>
            <a:ext cx="2468880" cy="777240"/>
          </a:xfrm>
          <a:prstGeom prst="roundRect">
            <a:avLst>
              <a:gd name="adj" fmla="val 15000"/>
            </a:avLst>
          </a:prstGeom>
          <a:solidFill>
            <a:srgbClr val="C8E6A0"/>
          </a:solidFill>
          <a:ln w="15875">
            <a:solidFill>
              <a:srgbClr val="1B7A3A"/>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spcBef>
                <a:spcPts val="0"/>
              </a:spcBef>
              <a:spcAft>
                <a:spcPts val="200"/>
              </a:spcAft>
            </a:pPr>
            <a:r>
              <a:rPr sz="1400" b="1" i="0">
                <a:solidFill>
                  <a:srgbClr val="1B3A6B"/>
                </a:solidFill>
                <a:latin typeface="Calibri"/>
              </a:rPr>
              <a:t>repolarisation</a:t>
            </a:r>
          </a:p>
        </p:txBody>
      </p:sp>
      <p:sp>
        <p:nvSpPr>
          <p:cNvPr id="24" name="Rounded Rectangle 23">
            <a:hlinkClick r:id="rId4" action="ppaction://hlinksldjump"/>
          </p:cNvPr>
          <p:cNvSpPr/>
          <p:nvPr/>
        </p:nvSpPr>
        <p:spPr>
          <a:xfrm>
            <a:off x="2880360" y="3666744"/>
            <a:ext cx="2926080" cy="777240"/>
          </a:xfrm>
          <a:prstGeom prst="roundRect">
            <a:avLst>
              <a:gd name="adj" fmla="val 15000"/>
            </a:avLst>
          </a:prstGeom>
          <a:solidFill>
            <a:srgbClr val="FFF6B0"/>
          </a:solidFill>
          <a:ln w="12700">
            <a:solidFill>
              <a:srgbClr val="1B7A3A"/>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spcBef>
                <a:spcPts val="0"/>
              </a:spcBef>
              <a:spcAft>
                <a:spcPts val="200"/>
              </a:spcAft>
            </a:pPr>
            <a:r>
              <a:rPr sz="1400" b="1" i="0">
                <a:solidFill>
                  <a:srgbClr val="1B3A6B"/>
                </a:solidFill>
                <a:latin typeface="Calibri"/>
              </a:rPr>
              <a:t>click to reveal</a:t>
            </a:r>
          </a:p>
        </p:txBody>
      </p:sp>
      <p:sp>
        <p:nvSpPr>
          <p:cNvPr id="25" name="Rounded Rectangle 24">
            <a:hlinkClick r:id="rId4" action="ppaction://hlinksldjump"/>
          </p:cNvPr>
          <p:cNvSpPr/>
          <p:nvPr/>
        </p:nvSpPr>
        <p:spPr>
          <a:xfrm>
            <a:off x="5897880" y="3666744"/>
            <a:ext cx="2926080" cy="777240"/>
          </a:xfrm>
          <a:prstGeom prst="roundRect">
            <a:avLst>
              <a:gd name="adj" fmla="val 15000"/>
            </a:avLst>
          </a:prstGeom>
          <a:solidFill>
            <a:srgbClr val="FFF6B0"/>
          </a:solidFill>
          <a:ln w="12700">
            <a:solidFill>
              <a:srgbClr val="1B7A3A"/>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spcBef>
                <a:spcPts val="0"/>
              </a:spcBef>
              <a:spcAft>
                <a:spcPts val="200"/>
              </a:spcAft>
            </a:pPr>
            <a:r>
              <a:rPr sz="1400" b="1" i="0">
                <a:solidFill>
                  <a:srgbClr val="1B3A6B"/>
                </a:solidFill>
                <a:latin typeface="Calibri"/>
              </a:rPr>
              <a:t>click to reveal</a:t>
            </a:r>
          </a:p>
        </p:txBody>
      </p:sp>
      <p:sp>
        <p:nvSpPr>
          <p:cNvPr id="26" name="Rounded Rectangle 25">
            <a:hlinkClick r:id="rId4" action="ppaction://hlinksldjump"/>
          </p:cNvPr>
          <p:cNvSpPr/>
          <p:nvPr/>
        </p:nvSpPr>
        <p:spPr>
          <a:xfrm>
            <a:off x="320040" y="6217920"/>
            <a:ext cx="1463040" cy="292608"/>
          </a:xfrm>
          <a:prstGeom prst="roundRect">
            <a:avLst>
              <a:gd name="adj" fmla="val 15000"/>
            </a:avLst>
          </a:prstGeom>
          <a:solidFill>
            <a:srgbClr val="2E9E4F"/>
          </a:solidFill>
          <a:ln w="12700">
            <a:solidFill>
              <a:srgbClr val="2E9E4F"/>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spcBef>
                <a:spcPts val="0"/>
              </a:spcBef>
              <a:spcAft>
                <a:spcPts val="200"/>
              </a:spcAft>
            </a:pPr>
            <a:r>
              <a:rPr sz="1200" b="1" i="0">
                <a:solidFill>
                  <a:srgbClr val="FFFFFF"/>
                </a:solidFill>
                <a:latin typeface="Calibri"/>
              </a:rPr>
              <a:t>Check</a:t>
            </a:r>
          </a:p>
        </p:txBody>
      </p:sp>
      <p:sp>
        <p:nvSpPr>
          <p:cNvPr id="27" name="Rounded Rectangle 26">
            <a:hlinkClick r:id="rId2" action="ppaction://hlinksldjump"/>
          </p:cNvPr>
          <p:cNvSpPr/>
          <p:nvPr/>
        </p:nvSpPr>
        <p:spPr>
          <a:xfrm>
            <a:off x="1920240" y="6217920"/>
            <a:ext cx="1280160" cy="292608"/>
          </a:xfrm>
          <a:prstGeom prst="roundRect">
            <a:avLst>
              <a:gd name="adj" fmla="val 15000"/>
            </a:avLst>
          </a:prstGeom>
          <a:solidFill>
            <a:srgbClr val="EF6C00"/>
          </a:solidFill>
          <a:ln w="12700">
            <a:solidFill>
              <a:srgbClr val="EF6C00"/>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spcBef>
                <a:spcPts val="0"/>
              </a:spcBef>
              <a:spcAft>
                <a:spcPts val="200"/>
              </a:spcAft>
            </a:pPr>
            <a:r>
              <a:rPr sz="1200" b="1" i="0">
                <a:solidFill>
                  <a:srgbClr val="FFFFFF"/>
                </a:solidFill>
                <a:latin typeface="Calibri"/>
              </a:rPr>
              <a:t>Reset</a:t>
            </a:r>
          </a:p>
        </p:txBody>
      </p:sp>
    </p:spTree>
  </p:cSld>
  <p:clrMapOvr>
    <a:masterClrMapping/>
  </p:clrMapOvr>
</p:sld>
</file>

<file path=ppt/slides/slide36.xml><?xml version="1.0" encoding="utf-8"?>
<p:sld xmlns:a="http://schemas.openxmlformats.org/drawingml/2006/main" xmlns:p="http://schemas.openxmlformats.org/presentationml/2006/main" xmlns:r="http://schemas.openxmlformats.org/officeDocument/2006/relationships" show="0">
  <p:cSld>
    <p:spTree>
      <p:nvGrpSpPr>
        <p:cNvPr id="1" name=""/>
        <p:cNvGrpSpPr/>
        <p:nvPr/>
      </p:nvGrpSpPr>
      <p:grpSpPr/>
      <p:sp>
        <p:nvSpPr>
          <p:cNvPr id="2" name="Rectangle 1"/>
          <p:cNvSpPr/>
          <p:nvPr/>
        </p:nvSpPr>
        <p:spPr>
          <a:xfrm>
            <a:off x="0" y="0"/>
            <a:ext cx="9144000" cy="658368"/>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640080"/>
            <a:ext cx="9144000" cy="54864"/>
          </a:xfrm>
          <a:prstGeom prst="rect">
            <a:avLst/>
          </a:pr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256032" y="91440"/>
            <a:ext cx="7498079" cy="502920"/>
          </a:xfrm>
          <a:prstGeom prst="rect">
            <a:avLst/>
          </a:prstGeom>
          <a:noFill/>
        </p:spPr>
        <p:txBody>
          <a:bodyPr wrap="square" anchor="t">
            <a:spAutoFit/>
          </a:bodyPr>
          <a:lstStyle/>
          <a:p>
            <a:pPr algn="l">
              <a:spcAft>
                <a:spcPts val="400"/>
              </a:spcAft>
            </a:pPr>
            <a:r>
              <a:rPr sz="2600" b="1" i="0">
                <a:solidFill>
                  <a:srgbClr val="2E9E4F"/>
                </a:solidFill>
                <a:latin typeface="Calibri"/>
              </a:rPr>
              <a:t>Ion channels – answers</a:t>
            </a:r>
          </a:p>
        </p:txBody>
      </p:sp>
      <p:sp>
        <p:nvSpPr>
          <p:cNvPr id="5" name="Rounded Rectangle 4"/>
          <p:cNvSpPr/>
          <p:nvPr/>
        </p:nvSpPr>
        <p:spPr>
          <a:xfrm>
            <a:off x="7452360" y="109728"/>
            <a:ext cx="1536192" cy="420624"/>
          </a:xfrm>
          <a:prstGeom prst="roundRect">
            <a:avLst>
              <a:gd name="adj" fmla="val 15000"/>
            </a:avLst>
          </a:prstGeom>
          <a:solidFill>
            <a:srgbClr val="C8E6A0"/>
          </a:solidFill>
          <a:ln w="12700">
            <a:solidFill>
              <a:srgbClr val="1B7A3A"/>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spcBef>
                <a:spcPts val="0"/>
              </a:spcBef>
              <a:spcAft>
                <a:spcPts val="200"/>
              </a:spcAft>
            </a:pPr>
            <a:r>
              <a:rPr sz="1100" b="1" i="0">
                <a:solidFill>
                  <a:srgbClr val="1B7A3A"/>
                </a:solidFill>
                <a:latin typeface="Calibri"/>
              </a:rPr>
              <a:t>A2 Biology</a:t>
            </a:r>
          </a:p>
        </p:txBody>
      </p:sp>
      <p:sp>
        <p:nvSpPr>
          <p:cNvPr id="6" name="Rectangle 5"/>
          <p:cNvSpPr/>
          <p:nvPr/>
        </p:nvSpPr>
        <p:spPr>
          <a:xfrm>
            <a:off x="0" y="0"/>
            <a:ext cx="73152" cy="6858000"/>
          </a:xfrm>
          <a:prstGeom prst="rect">
            <a:avLst/>
          </a:prstGeom>
          <a:solidFill>
            <a:srgbClr val="6B2D8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3152" y="6565392"/>
            <a:ext cx="9070848" cy="36576"/>
          </a:xfrm>
          <a:prstGeom prst="rect">
            <a:avLst/>
          </a:prstGeom>
          <a:solidFill>
            <a:srgbClr val="7A3E9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228600" y="6583680"/>
            <a:ext cx="1280160" cy="256032"/>
          </a:xfrm>
          <a:prstGeom prst="rect">
            <a:avLst/>
          </a:prstGeom>
          <a:noFill/>
        </p:spPr>
        <p:txBody>
          <a:bodyPr wrap="square" anchor="t">
            <a:spAutoFit/>
          </a:bodyPr>
          <a:lstStyle/>
          <a:p>
            <a:pPr algn="l">
              <a:spcAft>
                <a:spcPts val="400"/>
              </a:spcAft>
            </a:pPr>
            <a:r>
              <a:rPr sz="1000" b="0" i="0">
                <a:solidFill>
                  <a:srgbClr val="6B2D8B"/>
                </a:solidFill>
                <a:latin typeface="Calibri"/>
              </a:rPr>
              <a:t>activity</a:t>
            </a:r>
          </a:p>
        </p:txBody>
      </p:sp>
      <p:sp>
        <p:nvSpPr>
          <p:cNvPr id="9" name="TextBox 8"/>
          <p:cNvSpPr txBox="1"/>
          <p:nvPr/>
        </p:nvSpPr>
        <p:spPr>
          <a:xfrm>
            <a:off x="1554480" y="6583680"/>
            <a:ext cx="6035040" cy="256032"/>
          </a:xfrm>
          <a:prstGeom prst="rect">
            <a:avLst/>
          </a:prstGeom>
          <a:noFill/>
        </p:spPr>
        <p:txBody>
          <a:bodyPr wrap="square" anchor="t">
            <a:spAutoFit/>
          </a:bodyPr>
          <a:lstStyle/>
          <a:p>
            <a:pPr algn="ctr">
              <a:spcAft>
                <a:spcPts val="400"/>
              </a:spcAft>
            </a:pPr>
            <a:r>
              <a:rPr sz="900" b="0" i="0">
                <a:solidFill>
                  <a:srgbClr val="5A5A5A"/>
                </a:solidFill>
                <a:latin typeface="Calibri"/>
              </a:rPr>
              <a:t>Original course © Boardworks Ltd 2009. Reconstructed interactive resource.</a:t>
            </a:r>
          </a:p>
        </p:txBody>
      </p:sp>
      <p:sp>
        <p:nvSpPr>
          <p:cNvPr id="10" name="TextBox 9"/>
          <p:cNvSpPr txBox="1"/>
          <p:nvPr/>
        </p:nvSpPr>
        <p:spPr>
          <a:xfrm>
            <a:off x="274320" y="822960"/>
            <a:ext cx="8595360" cy="365760"/>
          </a:xfrm>
          <a:prstGeom prst="rect">
            <a:avLst/>
          </a:prstGeom>
          <a:noFill/>
        </p:spPr>
        <p:txBody>
          <a:bodyPr wrap="square" anchor="t">
            <a:spAutoFit/>
          </a:bodyPr>
          <a:lstStyle/>
          <a:p>
            <a:pPr algn="ctr">
              <a:spcAft>
                <a:spcPts val="400"/>
              </a:spcAft>
            </a:pPr>
            <a:r>
              <a:rPr sz="2000" b="1" i="0">
                <a:solidFill>
                  <a:srgbClr val="2E9E4F"/>
                </a:solidFill>
                <a:latin typeface="Calibri"/>
              </a:rPr>
              <a:t>Answer key</a:t>
            </a:r>
          </a:p>
        </p:txBody>
      </p:sp>
      <p:sp>
        <p:nvSpPr>
          <p:cNvPr id="11" name="Rounded Rectangle 10"/>
          <p:cNvSpPr/>
          <p:nvPr/>
        </p:nvSpPr>
        <p:spPr>
          <a:xfrm>
            <a:off x="365760" y="1280160"/>
            <a:ext cx="2697480" cy="640080"/>
          </a:xfrm>
          <a:prstGeom prst="roundRect">
            <a:avLst>
              <a:gd name="adj" fmla="val 15000"/>
            </a:avLst>
          </a:prstGeom>
          <a:solidFill>
            <a:srgbClr val="1B7A3A"/>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spcBef>
                <a:spcPts val="0"/>
              </a:spcBef>
              <a:spcAft>
                <a:spcPts val="200"/>
              </a:spcAft>
            </a:pPr>
            <a:r>
              <a:rPr sz="1400" b="1" i="0">
                <a:solidFill>
                  <a:srgbClr val="FFFFFF"/>
                </a:solidFill>
                <a:latin typeface="Calibri"/>
              </a:rPr>
              <a:t/>
            </a:r>
          </a:p>
        </p:txBody>
      </p:sp>
      <p:sp>
        <p:nvSpPr>
          <p:cNvPr id="12" name="Rounded Rectangle 11"/>
          <p:cNvSpPr/>
          <p:nvPr/>
        </p:nvSpPr>
        <p:spPr>
          <a:xfrm>
            <a:off x="3154679" y="1280160"/>
            <a:ext cx="2697480" cy="640080"/>
          </a:xfrm>
          <a:prstGeom prst="roundRect">
            <a:avLst>
              <a:gd name="adj" fmla="val 15000"/>
            </a:avLst>
          </a:prstGeom>
          <a:solidFill>
            <a:srgbClr val="1B7A3A"/>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spcBef>
                <a:spcPts val="0"/>
              </a:spcBef>
              <a:spcAft>
                <a:spcPts val="200"/>
              </a:spcAft>
            </a:pPr>
            <a:r>
              <a:rPr sz="1400" b="1" i="0">
                <a:solidFill>
                  <a:srgbClr val="FFFFFF"/>
                </a:solidFill>
                <a:latin typeface="Calibri"/>
              </a:rPr>
              <a:t>K⁺ voltage-gated</a:t>
            </a:r>
          </a:p>
        </p:txBody>
      </p:sp>
      <p:sp>
        <p:nvSpPr>
          <p:cNvPr id="13" name="Rounded Rectangle 12"/>
          <p:cNvSpPr/>
          <p:nvPr/>
        </p:nvSpPr>
        <p:spPr>
          <a:xfrm>
            <a:off x="5943600" y="1280160"/>
            <a:ext cx="2697480" cy="640080"/>
          </a:xfrm>
          <a:prstGeom prst="roundRect">
            <a:avLst>
              <a:gd name="adj" fmla="val 15000"/>
            </a:avLst>
          </a:prstGeom>
          <a:solidFill>
            <a:srgbClr val="1B7A3A"/>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spcBef>
                <a:spcPts val="0"/>
              </a:spcBef>
              <a:spcAft>
                <a:spcPts val="200"/>
              </a:spcAft>
            </a:pPr>
            <a:r>
              <a:rPr sz="1400" b="1" i="0">
                <a:solidFill>
                  <a:srgbClr val="FFFFFF"/>
                </a:solidFill>
                <a:latin typeface="Calibri"/>
              </a:rPr>
              <a:t>Na⁺ voltage-gated</a:t>
            </a:r>
          </a:p>
        </p:txBody>
      </p:sp>
      <p:sp>
        <p:nvSpPr>
          <p:cNvPr id="14" name="Rounded Rectangle 13"/>
          <p:cNvSpPr/>
          <p:nvPr/>
        </p:nvSpPr>
        <p:spPr>
          <a:xfrm>
            <a:off x="365760" y="2011680"/>
            <a:ext cx="2697480" cy="640080"/>
          </a:xfrm>
          <a:prstGeom prst="roundRect">
            <a:avLst>
              <a:gd name="adj" fmla="val 15000"/>
            </a:avLst>
          </a:prstGeom>
          <a:solidFill>
            <a:srgbClr val="E8F5E9"/>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spcBef>
                <a:spcPts val="0"/>
              </a:spcBef>
              <a:spcAft>
                <a:spcPts val="200"/>
              </a:spcAft>
            </a:pPr>
            <a:r>
              <a:rPr sz="1400" b="1" i="0">
                <a:solidFill>
                  <a:srgbClr val="1B3A6B"/>
                </a:solidFill>
                <a:latin typeface="Calibri"/>
              </a:rPr>
              <a:t>resting potential</a:t>
            </a:r>
          </a:p>
        </p:txBody>
      </p:sp>
      <p:sp>
        <p:nvSpPr>
          <p:cNvPr id="15" name="Rounded Rectangle 14"/>
          <p:cNvSpPr/>
          <p:nvPr/>
        </p:nvSpPr>
        <p:spPr>
          <a:xfrm>
            <a:off x="3154679" y="2011680"/>
            <a:ext cx="2697480" cy="640080"/>
          </a:xfrm>
          <a:prstGeom prst="roundRect">
            <a:avLst>
              <a:gd name="adj" fmla="val 15000"/>
            </a:avLst>
          </a:prstGeom>
          <a:solidFill>
            <a:srgbClr val="E8F5E9"/>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spcBef>
                <a:spcPts val="0"/>
              </a:spcBef>
              <a:spcAft>
                <a:spcPts val="200"/>
              </a:spcAft>
            </a:pPr>
            <a:r>
              <a:rPr sz="1400" b="1" i="0">
                <a:solidFill>
                  <a:srgbClr val="1B3A6B"/>
                </a:solidFill>
                <a:latin typeface="Calibri"/>
              </a:rPr>
              <a:t>closed</a:t>
            </a:r>
          </a:p>
        </p:txBody>
      </p:sp>
      <p:sp>
        <p:nvSpPr>
          <p:cNvPr id="16" name="Rounded Rectangle 15"/>
          <p:cNvSpPr/>
          <p:nvPr/>
        </p:nvSpPr>
        <p:spPr>
          <a:xfrm>
            <a:off x="5943600" y="2011680"/>
            <a:ext cx="2697480" cy="640080"/>
          </a:xfrm>
          <a:prstGeom prst="roundRect">
            <a:avLst>
              <a:gd name="adj" fmla="val 15000"/>
            </a:avLst>
          </a:prstGeom>
          <a:solidFill>
            <a:srgbClr val="E8F5E9"/>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spcBef>
                <a:spcPts val="0"/>
              </a:spcBef>
              <a:spcAft>
                <a:spcPts val="200"/>
              </a:spcAft>
            </a:pPr>
            <a:r>
              <a:rPr sz="1400" b="1" i="0">
                <a:solidFill>
                  <a:srgbClr val="1B3A6B"/>
                </a:solidFill>
                <a:latin typeface="Calibri"/>
              </a:rPr>
              <a:t>closed</a:t>
            </a:r>
          </a:p>
        </p:txBody>
      </p:sp>
      <p:sp>
        <p:nvSpPr>
          <p:cNvPr id="17" name="Rounded Rectangle 16"/>
          <p:cNvSpPr/>
          <p:nvPr/>
        </p:nvSpPr>
        <p:spPr>
          <a:xfrm>
            <a:off x="365760" y="2743200"/>
            <a:ext cx="2697480" cy="640080"/>
          </a:xfrm>
          <a:prstGeom prst="roundRect">
            <a:avLst>
              <a:gd name="adj" fmla="val 15000"/>
            </a:avLst>
          </a:prstGeom>
          <a:solidFill>
            <a:srgbClr val="E3F2FD"/>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spcBef>
                <a:spcPts val="0"/>
              </a:spcBef>
              <a:spcAft>
                <a:spcPts val="200"/>
              </a:spcAft>
            </a:pPr>
            <a:r>
              <a:rPr sz="1400" b="1" i="0">
                <a:solidFill>
                  <a:srgbClr val="1B3A6B"/>
                </a:solidFill>
                <a:latin typeface="Calibri"/>
              </a:rPr>
              <a:t>depolarisation</a:t>
            </a:r>
          </a:p>
        </p:txBody>
      </p:sp>
      <p:sp>
        <p:nvSpPr>
          <p:cNvPr id="18" name="Rounded Rectangle 17"/>
          <p:cNvSpPr/>
          <p:nvPr/>
        </p:nvSpPr>
        <p:spPr>
          <a:xfrm>
            <a:off x="3154679" y="2743200"/>
            <a:ext cx="2697480" cy="640080"/>
          </a:xfrm>
          <a:prstGeom prst="roundRect">
            <a:avLst>
              <a:gd name="adj" fmla="val 15000"/>
            </a:avLst>
          </a:prstGeom>
          <a:solidFill>
            <a:srgbClr val="E3F2FD"/>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spcBef>
                <a:spcPts val="0"/>
              </a:spcBef>
              <a:spcAft>
                <a:spcPts val="200"/>
              </a:spcAft>
            </a:pPr>
            <a:r>
              <a:rPr sz="1400" b="1" i="0">
                <a:solidFill>
                  <a:srgbClr val="1B3A6B"/>
                </a:solidFill>
                <a:latin typeface="Calibri"/>
              </a:rPr>
              <a:t>closed</a:t>
            </a:r>
          </a:p>
        </p:txBody>
      </p:sp>
      <p:sp>
        <p:nvSpPr>
          <p:cNvPr id="19" name="Rounded Rectangle 18"/>
          <p:cNvSpPr/>
          <p:nvPr/>
        </p:nvSpPr>
        <p:spPr>
          <a:xfrm>
            <a:off x="5943600" y="2743200"/>
            <a:ext cx="2697480" cy="640080"/>
          </a:xfrm>
          <a:prstGeom prst="roundRect">
            <a:avLst>
              <a:gd name="adj" fmla="val 15000"/>
            </a:avLst>
          </a:prstGeom>
          <a:solidFill>
            <a:srgbClr val="E3F2FD"/>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spcBef>
                <a:spcPts val="0"/>
              </a:spcBef>
              <a:spcAft>
                <a:spcPts val="200"/>
              </a:spcAft>
            </a:pPr>
            <a:r>
              <a:rPr sz="1400" b="1" i="0">
                <a:solidFill>
                  <a:srgbClr val="1B3A6B"/>
                </a:solidFill>
                <a:latin typeface="Calibri"/>
              </a:rPr>
              <a:t>open</a:t>
            </a:r>
          </a:p>
        </p:txBody>
      </p:sp>
      <p:sp>
        <p:nvSpPr>
          <p:cNvPr id="20" name="Rounded Rectangle 19"/>
          <p:cNvSpPr/>
          <p:nvPr/>
        </p:nvSpPr>
        <p:spPr>
          <a:xfrm>
            <a:off x="365760" y="3474720"/>
            <a:ext cx="2697480" cy="640080"/>
          </a:xfrm>
          <a:prstGeom prst="roundRect">
            <a:avLst>
              <a:gd name="adj" fmla="val 15000"/>
            </a:avLst>
          </a:prstGeom>
          <a:solidFill>
            <a:srgbClr val="E8F5E9"/>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spcBef>
                <a:spcPts val="0"/>
              </a:spcBef>
              <a:spcAft>
                <a:spcPts val="200"/>
              </a:spcAft>
            </a:pPr>
            <a:r>
              <a:rPr sz="1400" b="1" i="0">
                <a:solidFill>
                  <a:srgbClr val="1B3A6B"/>
                </a:solidFill>
                <a:latin typeface="Calibri"/>
              </a:rPr>
              <a:t>repolarisation</a:t>
            </a:r>
          </a:p>
        </p:txBody>
      </p:sp>
      <p:sp>
        <p:nvSpPr>
          <p:cNvPr id="21" name="Rounded Rectangle 20"/>
          <p:cNvSpPr/>
          <p:nvPr/>
        </p:nvSpPr>
        <p:spPr>
          <a:xfrm>
            <a:off x="3154679" y="3474720"/>
            <a:ext cx="2697480" cy="640080"/>
          </a:xfrm>
          <a:prstGeom prst="roundRect">
            <a:avLst>
              <a:gd name="adj" fmla="val 15000"/>
            </a:avLst>
          </a:prstGeom>
          <a:solidFill>
            <a:srgbClr val="E8F5E9"/>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spcBef>
                <a:spcPts val="0"/>
              </a:spcBef>
              <a:spcAft>
                <a:spcPts val="200"/>
              </a:spcAft>
            </a:pPr>
            <a:r>
              <a:rPr sz="1400" b="1" i="0">
                <a:solidFill>
                  <a:srgbClr val="1B3A6B"/>
                </a:solidFill>
                <a:latin typeface="Calibri"/>
              </a:rPr>
              <a:t>open</a:t>
            </a:r>
          </a:p>
        </p:txBody>
      </p:sp>
      <p:sp>
        <p:nvSpPr>
          <p:cNvPr id="22" name="Rounded Rectangle 21"/>
          <p:cNvSpPr/>
          <p:nvPr/>
        </p:nvSpPr>
        <p:spPr>
          <a:xfrm>
            <a:off x="5943600" y="3474720"/>
            <a:ext cx="2697480" cy="640080"/>
          </a:xfrm>
          <a:prstGeom prst="roundRect">
            <a:avLst>
              <a:gd name="adj" fmla="val 15000"/>
            </a:avLst>
          </a:prstGeom>
          <a:solidFill>
            <a:srgbClr val="E8F5E9"/>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spcBef>
                <a:spcPts val="0"/>
              </a:spcBef>
              <a:spcAft>
                <a:spcPts val="200"/>
              </a:spcAft>
            </a:pPr>
            <a:r>
              <a:rPr sz="1400" b="1" i="0">
                <a:solidFill>
                  <a:srgbClr val="1B3A6B"/>
                </a:solidFill>
                <a:latin typeface="Calibri"/>
              </a:rPr>
              <a:t>closed</a:t>
            </a:r>
          </a:p>
        </p:txBody>
      </p:sp>
      <p:sp>
        <p:nvSpPr>
          <p:cNvPr id="23" name="TextBox 22"/>
          <p:cNvSpPr txBox="1"/>
          <p:nvPr/>
        </p:nvSpPr>
        <p:spPr>
          <a:xfrm>
            <a:off x="457200" y="4389120"/>
            <a:ext cx="8229600" cy="1005840"/>
          </a:xfrm>
          <a:prstGeom prst="rect">
            <a:avLst/>
          </a:prstGeom>
          <a:noFill/>
        </p:spPr>
        <p:txBody>
          <a:bodyPr wrap="square" anchor="t">
            <a:spAutoFit/>
          </a:bodyPr>
          <a:lstStyle/>
          <a:p>
            <a:pPr algn="l">
              <a:spcAft>
                <a:spcPts val="400"/>
              </a:spcAft>
            </a:pPr>
            <a:r>
              <a:rPr sz="1400" b="0" i="0">
                <a:solidFill>
                  <a:srgbClr val="1B3A6B"/>
                </a:solidFill>
                <a:latin typeface="Calibri"/>
              </a:rPr>
              <a:t>Note: potassium leak channels stay open at rest. This table is about voltage-gated channels only, matching the original Boardworks activity.</a:t>
            </a:r>
          </a:p>
        </p:txBody>
      </p:sp>
      <p:sp>
        <p:nvSpPr>
          <p:cNvPr id="24" name="Rounded Rectangle 23">
            <a:hlinkClick r:id="rId2" action="ppaction://hlinksldjump"/>
          </p:cNvPr>
          <p:cNvSpPr/>
          <p:nvPr/>
        </p:nvSpPr>
        <p:spPr>
          <a:xfrm>
            <a:off x="3200400" y="5669280"/>
            <a:ext cx="2743200" cy="365760"/>
          </a:xfrm>
          <a:prstGeom prst="roundRect">
            <a:avLst>
              <a:gd name="adj" fmla="val 15000"/>
            </a:avLst>
          </a:prstGeom>
          <a:solidFill>
            <a:srgbClr val="2E9E4F"/>
          </a:solidFill>
          <a:ln w="12700">
            <a:solidFill>
              <a:srgbClr val="2E9E4F"/>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spcBef>
                <a:spcPts val="0"/>
              </a:spcBef>
              <a:spcAft>
                <a:spcPts val="200"/>
              </a:spcAft>
            </a:pPr>
            <a:r>
              <a:rPr sz="1400" b="1" i="0">
                <a:solidFill>
                  <a:srgbClr val="FFFFFF"/>
                </a:solidFill>
                <a:latin typeface="Calibri"/>
              </a:rPr>
              <a:t>Back</a:t>
            </a:r>
          </a:p>
        </p:txBody>
      </p:sp>
    </p:spTree>
  </p:cSld>
  <p:clrMapOvr>
    <a:masterClrMapping/>
  </p:clrMapOvr>
</p:sld>
</file>

<file path=ppt/slides/slide3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9144000" cy="658368"/>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640080"/>
            <a:ext cx="9144000" cy="54864"/>
          </a:xfrm>
          <a:prstGeom prst="rect">
            <a:avLst/>
          </a:pr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256032" y="91440"/>
            <a:ext cx="7498079" cy="502920"/>
          </a:xfrm>
          <a:prstGeom prst="rect">
            <a:avLst/>
          </a:prstGeom>
          <a:noFill/>
        </p:spPr>
        <p:txBody>
          <a:bodyPr wrap="square" anchor="t">
            <a:spAutoFit/>
          </a:bodyPr>
          <a:lstStyle/>
          <a:p>
            <a:pPr algn="l">
              <a:spcAft>
                <a:spcPts val="400"/>
              </a:spcAft>
            </a:pPr>
            <a:r>
              <a:rPr sz="2600" b="1" i="0">
                <a:solidFill>
                  <a:srgbClr val="2E9E4F"/>
                </a:solidFill>
                <a:latin typeface="Calibri"/>
              </a:rPr>
              <a:t>Changes during an action potential</a:t>
            </a:r>
          </a:p>
        </p:txBody>
      </p:sp>
      <p:sp>
        <p:nvSpPr>
          <p:cNvPr id="5" name="Rounded Rectangle 4"/>
          <p:cNvSpPr/>
          <p:nvPr/>
        </p:nvSpPr>
        <p:spPr>
          <a:xfrm>
            <a:off x="7452360" y="109728"/>
            <a:ext cx="1536192" cy="420624"/>
          </a:xfrm>
          <a:prstGeom prst="roundRect">
            <a:avLst>
              <a:gd name="adj" fmla="val 15000"/>
            </a:avLst>
          </a:prstGeom>
          <a:solidFill>
            <a:srgbClr val="C8E6A0"/>
          </a:solidFill>
          <a:ln w="12700">
            <a:solidFill>
              <a:srgbClr val="1B7A3A"/>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spcBef>
                <a:spcPts val="0"/>
              </a:spcBef>
              <a:spcAft>
                <a:spcPts val="200"/>
              </a:spcAft>
            </a:pPr>
            <a:r>
              <a:rPr sz="1100" b="1" i="0">
                <a:solidFill>
                  <a:srgbClr val="1B7A3A"/>
                </a:solidFill>
                <a:latin typeface="Calibri"/>
              </a:rPr>
              <a:t>A2 Biology</a:t>
            </a:r>
          </a:p>
        </p:txBody>
      </p:sp>
      <p:sp>
        <p:nvSpPr>
          <p:cNvPr id="6" name="Rectangle 5"/>
          <p:cNvSpPr/>
          <p:nvPr/>
        </p:nvSpPr>
        <p:spPr>
          <a:xfrm>
            <a:off x="0" y="0"/>
            <a:ext cx="73152" cy="6858000"/>
          </a:xfrm>
          <a:prstGeom prst="rect">
            <a:avLst/>
          </a:prstGeom>
          <a:solidFill>
            <a:srgbClr val="6B2D8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3152" y="6565392"/>
            <a:ext cx="9070848" cy="36576"/>
          </a:xfrm>
          <a:prstGeom prst="rect">
            <a:avLst/>
          </a:prstGeom>
          <a:solidFill>
            <a:srgbClr val="7A3E9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228600" y="6583680"/>
            <a:ext cx="1280160" cy="256032"/>
          </a:xfrm>
          <a:prstGeom prst="rect">
            <a:avLst/>
          </a:prstGeom>
          <a:noFill/>
        </p:spPr>
        <p:txBody>
          <a:bodyPr wrap="square" anchor="t">
            <a:spAutoFit/>
          </a:bodyPr>
          <a:lstStyle/>
          <a:p>
            <a:pPr algn="l">
              <a:spcAft>
                <a:spcPts val="400"/>
              </a:spcAft>
            </a:pPr>
            <a:r>
              <a:rPr sz="1000" b="0" i="0">
                <a:solidFill>
                  <a:srgbClr val="6B2D8B"/>
                </a:solidFill>
                <a:latin typeface="Calibri"/>
              </a:rPr>
              <a:t>15 of 29</a:t>
            </a:r>
          </a:p>
        </p:txBody>
      </p:sp>
      <p:sp>
        <p:nvSpPr>
          <p:cNvPr id="9" name="TextBox 8"/>
          <p:cNvSpPr txBox="1"/>
          <p:nvPr/>
        </p:nvSpPr>
        <p:spPr>
          <a:xfrm>
            <a:off x="1554480" y="6583680"/>
            <a:ext cx="6035040" cy="256032"/>
          </a:xfrm>
          <a:prstGeom prst="rect">
            <a:avLst/>
          </a:prstGeom>
          <a:noFill/>
        </p:spPr>
        <p:txBody>
          <a:bodyPr wrap="square" anchor="t">
            <a:spAutoFit/>
          </a:bodyPr>
          <a:lstStyle/>
          <a:p>
            <a:pPr algn="ctr">
              <a:spcAft>
                <a:spcPts val="400"/>
              </a:spcAft>
            </a:pPr>
            <a:r>
              <a:rPr sz="900" b="0" i="0">
                <a:solidFill>
                  <a:srgbClr val="5A5A5A"/>
                </a:solidFill>
                <a:latin typeface="Calibri"/>
              </a:rPr>
              <a:t>Original course © Boardworks Ltd 2009. Reconstructed interactive resource.</a:t>
            </a:r>
          </a:p>
        </p:txBody>
      </p:sp>
      <p:sp>
        <p:nvSpPr>
          <p:cNvPr id="10" name="Oval 9">
            <a:hlinkClick r:id="rId9" action="ppaction://hlinksldjump"/>
          </p:cNvPr>
          <p:cNvSpPr/>
          <p:nvPr/>
        </p:nvSpPr>
        <p:spPr>
          <a:xfrm>
            <a:off x="146304" y="5760720"/>
            <a:ext cx="384048" cy="384048"/>
          </a:xfrm>
          <a:prstGeom prst="ellipse">
            <a:avLst/>
          </a:prstGeom>
          <a:solidFill>
            <a:srgbClr val="FFFFFF"/>
          </a:solidFill>
          <a:ln w="22225">
            <a:solidFill>
              <a:srgbClr val="6B2D8B"/>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spcBef>
                <a:spcPts val="0"/>
              </a:spcBef>
              <a:spcAft>
                <a:spcPts val="200"/>
              </a:spcAft>
            </a:pPr>
            <a:r>
              <a:rPr sz="1400" b="1" i="0">
                <a:solidFill>
                  <a:srgbClr val="6B2D8B"/>
                </a:solidFill>
                <a:latin typeface="Calibri"/>
              </a:rPr>
              <a:t>◀</a:t>
            </a:r>
          </a:p>
        </p:txBody>
      </p:sp>
      <p:sp>
        <p:nvSpPr>
          <p:cNvPr id="11" name="Oval 10">
            <a:hlinkClick r:id="rId10" action="ppaction://hlinksldjump"/>
          </p:cNvPr>
          <p:cNvSpPr/>
          <p:nvPr/>
        </p:nvSpPr>
        <p:spPr>
          <a:xfrm>
            <a:off x="8613648" y="5760720"/>
            <a:ext cx="384048" cy="384048"/>
          </a:xfrm>
          <a:prstGeom prst="ellipse">
            <a:avLst/>
          </a:prstGeom>
          <a:solidFill>
            <a:srgbClr val="6B2D8B"/>
          </a:solidFill>
          <a:ln w="12700">
            <a:solidFill>
              <a:srgbClr val="6B2D8B"/>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spcBef>
                <a:spcPts val="0"/>
              </a:spcBef>
              <a:spcAft>
                <a:spcPts val="200"/>
              </a:spcAft>
            </a:pPr>
            <a:r>
              <a:rPr sz="1400" b="1" i="0">
                <a:solidFill>
                  <a:srgbClr val="FFFFFF"/>
                </a:solidFill>
                <a:latin typeface="Calibri"/>
              </a:rPr>
              <a:t>▶</a:t>
            </a:r>
          </a:p>
        </p:txBody>
      </p:sp>
      <p:sp>
        <p:nvSpPr>
          <p:cNvPr id="12" name="Rectangle 11"/>
          <p:cNvSpPr/>
          <p:nvPr/>
        </p:nvSpPr>
        <p:spPr>
          <a:xfrm>
            <a:off x="201168" y="6199632"/>
            <a:ext cx="8741664" cy="329184"/>
          </a:xfrm>
          <a:prstGeom prst="rect">
            <a:avLst/>
          </a:pr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274320" y="777240"/>
            <a:ext cx="8595360" cy="320040"/>
          </a:xfrm>
          <a:prstGeom prst="rect">
            <a:avLst/>
          </a:prstGeom>
          <a:noFill/>
        </p:spPr>
        <p:txBody>
          <a:bodyPr wrap="square" anchor="t">
            <a:spAutoFit/>
          </a:bodyPr>
          <a:lstStyle/>
          <a:p>
            <a:pPr algn="ctr">
              <a:spcAft>
                <a:spcPts val="400"/>
              </a:spcAft>
            </a:pPr>
            <a:r>
              <a:rPr sz="1800" b="1" i="0">
                <a:solidFill>
                  <a:srgbClr val="1B3A6B"/>
                </a:solidFill>
                <a:latin typeface="Calibri"/>
              </a:rPr>
              <a:t>How does the potential difference change?</a:t>
            </a:r>
          </a:p>
        </p:txBody>
      </p:sp>
      <p:pic>
        <p:nvPicPr>
          <p:cNvPr id="14" name="Picture 13" descr="ap_graph.png"/>
          <p:cNvPicPr>
            <a:picLocks noChangeAspect="1"/>
          </p:cNvPicPr>
          <p:nvPr/>
        </p:nvPicPr>
        <p:blipFill>
          <a:blip r:embed="rId2"/>
          <a:stretch>
            <a:fillRect/>
          </a:stretch>
        </p:blipFill>
        <p:spPr>
          <a:xfrm>
            <a:off x="182880" y="1097280"/>
            <a:ext cx="5120640" cy="3351416"/>
          </a:xfrm>
          <a:prstGeom prst="rect">
            <a:avLst/>
          </a:prstGeom>
        </p:spPr>
      </p:pic>
      <p:sp>
        <p:nvSpPr>
          <p:cNvPr id="15" name="Rounded Rectangle 14"/>
          <p:cNvSpPr/>
          <p:nvPr/>
        </p:nvSpPr>
        <p:spPr>
          <a:xfrm>
            <a:off x="5394960" y="1234440"/>
            <a:ext cx="3383280" cy="2011680"/>
          </a:xfrm>
          <a:prstGeom prst="roundRect">
            <a:avLst>
              <a:gd name="adj" fmla="val 15000"/>
            </a:avLst>
          </a:prstGeom>
          <a:solidFill>
            <a:srgbClr val="FFF6B0"/>
          </a:solidFill>
          <a:ln w="15875">
            <a:solidFill>
              <a:srgbClr val="C5B43A"/>
            </a:solidFill>
          </a:ln>
        </p:spPr>
        <p:style>
          <a:lnRef idx="1">
            <a:schemeClr val="accent1"/>
          </a:lnRef>
          <a:fillRef idx="3">
            <a:schemeClr val="accent1"/>
          </a:fillRef>
          <a:effectRef idx="2">
            <a:schemeClr val="accent1"/>
          </a:effectRef>
          <a:fontRef idx="minor">
            <a:schemeClr val="lt1"/>
          </a:fontRef>
        </p:style>
        <p:txBody>
          <a:bodyPr rtlCol="0" anchor="t" wrap="square" lIns="109728" rIns="109728" tIns="73152" bIns="73152"/>
          <a:lstStyle/>
          <a:p>
            <a:pPr algn="l">
              <a:spcBef>
                <a:spcPts val="0"/>
              </a:spcBef>
              <a:spcAft>
                <a:spcPts val="200"/>
              </a:spcAft>
            </a:pPr>
            <a:r>
              <a:rPr sz="1400" b="0" i="0">
                <a:solidFill>
                  <a:srgbClr val="1A2F5A"/>
                </a:solidFill>
                <a:latin typeface="Calibri"/>
              </a:rPr>
              <a:t>Press on the numbered graph labels to view a summary of the events during each stage of an action potential.</a:t>
            </a:r>
          </a:p>
        </p:txBody>
      </p:sp>
      <p:sp>
        <p:nvSpPr>
          <p:cNvPr id="16" name="Rounded Rectangle 15">
            <a:hlinkClick r:id="rId4" action="ppaction://hlinksldjump"/>
          </p:cNvPr>
          <p:cNvSpPr/>
          <p:nvPr/>
        </p:nvSpPr>
        <p:spPr>
          <a:xfrm>
            <a:off x="5440680" y="3337560"/>
            <a:ext cx="3246120" cy="384048"/>
          </a:xfrm>
          <a:prstGeom prst="roundRect">
            <a:avLst>
              <a:gd name="adj" fmla="val 15000"/>
            </a:avLst>
          </a:prstGeom>
          <a:solidFill>
            <a:srgbClr val="2E9E4F"/>
          </a:solidFill>
          <a:ln w="12700">
            <a:solidFill>
              <a:srgbClr val="2E9E4F"/>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spcBef>
                <a:spcPts val="0"/>
              </a:spcBef>
              <a:spcAft>
                <a:spcPts val="200"/>
              </a:spcAft>
            </a:pPr>
            <a:r>
              <a:rPr sz="1200" b="1" i="0">
                <a:solidFill>
                  <a:srgbClr val="FFFFFF"/>
                </a:solidFill>
                <a:latin typeface="Calibri"/>
              </a:rPr>
              <a:t>1 rest</a:t>
            </a:r>
          </a:p>
        </p:txBody>
      </p:sp>
      <p:sp>
        <p:nvSpPr>
          <p:cNvPr id="17" name="Rounded Rectangle 16">
            <a:hlinkClick r:id="rId5" action="ppaction://hlinksldjump"/>
          </p:cNvPr>
          <p:cNvSpPr/>
          <p:nvPr/>
        </p:nvSpPr>
        <p:spPr>
          <a:xfrm>
            <a:off x="5440680" y="3776472"/>
            <a:ext cx="3246120" cy="384048"/>
          </a:xfrm>
          <a:prstGeom prst="roundRect">
            <a:avLst>
              <a:gd name="adj" fmla="val 15000"/>
            </a:avLst>
          </a:prstGeom>
          <a:solidFill>
            <a:srgbClr val="1B7A3A"/>
          </a:solidFill>
          <a:ln w="12700">
            <a:solidFill>
              <a:srgbClr val="1B7A3A"/>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spcBef>
                <a:spcPts val="0"/>
              </a:spcBef>
              <a:spcAft>
                <a:spcPts val="200"/>
              </a:spcAft>
            </a:pPr>
            <a:r>
              <a:rPr sz="1200" b="1" i="0">
                <a:solidFill>
                  <a:srgbClr val="FFFFFF"/>
                </a:solidFill>
                <a:latin typeface="Calibri"/>
              </a:rPr>
              <a:t>2 depolarisation</a:t>
            </a:r>
          </a:p>
        </p:txBody>
      </p:sp>
      <p:sp>
        <p:nvSpPr>
          <p:cNvPr id="18" name="Rounded Rectangle 17">
            <a:hlinkClick r:id="rId6" action="ppaction://hlinksldjump"/>
          </p:cNvPr>
          <p:cNvSpPr/>
          <p:nvPr/>
        </p:nvSpPr>
        <p:spPr>
          <a:xfrm>
            <a:off x="5440680" y="4215383"/>
            <a:ext cx="3246120" cy="384048"/>
          </a:xfrm>
          <a:prstGeom prst="roundRect">
            <a:avLst>
              <a:gd name="adj" fmla="val 15000"/>
            </a:avLst>
          </a:prstGeom>
          <a:solidFill>
            <a:srgbClr val="2E9E4F"/>
          </a:solidFill>
          <a:ln w="12700">
            <a:solidFill>
              <a:srgbClr val="2E9E4F"/>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spcBef>
                <a:spcPts val="0"/>
              </a:spcBef>
              <a:spcAft>
                <a:spcPts val="200"/>
              </a:spcAft>
            </a:pPr>
            <a:r>
              <a:rPr sz="1200" b="1" i="0">
                <a:solidFill>
                  <a:srgbClr val="FFFFFF"/>
                </a:solidFill>
                <a:latin typeface="Calibri"/>
              </a:rPr>
              <a:t>3 repolarisation</a:t>
            </a:r>
          </a:p>
        </p:txBody>
      </p:sp>
      <p:sp>
        <p:nvSpPr>
          <p:cNvPr id="19" name="Rounded Rectangle 18">
            <a:hlinkClick r:id="rId7" action="ppaction://hlinksldjump"/>
          </p:cNvPr>
          <p:cNvSpPr/>
          <p:nvPr/>
        </p:nvSpPr>
        <p:spPr>
          <a:xfrm>
            <a:off x="5440680" y="4654296"/>
            <a:ext cx="3246120" cy="384048"/>
          </a:xfrm>
          <a:prstGeom prst="roundRect">
            <a:avLst>
              <a:gd name="adj" fmla="val 15000"/>
            </a:avLst>
          </a:prstGeom>
          <a:solidFill>
            <a:srgbClr val="1B7A3A"/>
          </a:solidFill>
          <a:ln w="12700">
            <a:solidFill>
              <a:srgbClr val="1B7A3A"/>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spcBef>
                <a:spcPts val="0"/>
              </a:spcBef>
              <a:spcAft>
                <a:spcPts val="200"/>
              </a:spcAft>
            </a:pPr>
            <a:r>
              <a:rPr sz="1200" b="1" i="0">
                <a:solidFill>
                  <a:srgbClr val="FFFFFF"/>
                </a:solidFill>
                <a:latin typeface="Calibri"/>
              </a:rPr>
              <a:t>4 hyperpolarisation</a:t>
            </a:r>
          </a:p>
        </p:txBody>
      </p:sp>
      <p:sp>
        <p:nvSpPr>
          <p:cNvPr id="20" name="Rounded Rectangle 19">
            <a:hlinkClick r:id="rId8" action="ppaction://hlinksldjump"/>
          </p:cNvPr>
          <p:cNvSpPr/>
          <p:nvPr/>
        </p:nvSpPr>
        <p:spPr>
          <a:xfrm>
            <a:off x="5440680" y="5093208"/>
            <a:ext cx="3246120" cy="384048"/>
          </a:xfrm>
          <a:prstGeom prst="roundRect">
            <a:avLst>
              <a:gd name="adj" fmla="val 15000"/>
            </a:avLst>
          </a:prstGeom>
          <a:solidFill>
            <a:srgbClr val="2E9E4F"/>
          </a:solidFill>
          <a:ln w="12700">
            <a:solidFill>
              <a:srgbClr val="2E9E4F"/>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spcBef>
                <a:spcPts val="0"/>
              </a:spcBef>
              <a:spcAft>
                <a:spcPts val="200"/>
              </a:spcAft>
            </a:pPr>
            <a:r>
              <a:rPr sz="1200" b="1" i="0">
                <a:solidFill>
                  <a:srgbClr val="FFFFFF"/>
                </a:solidFill>
                <a:latin typeface="Calibri"/>
              </a:rPr>
              <a:t>5 return to rest</a:t>
            </a:r>
          </a:p>
        </p:txBody>
      </p:sp>
    </p:spTree>
  </p:cSld>
  <p:clrMapOvr>
    <a:masterClrMapping/>
  </p:clrMapOvr>
</p:sld>
</file>

<file path=ppt/slides/slide38.xml><?xml version="1.0" encoding="utf-8"?>
<p:sld xmlns:a="http://schemas.openxmlformats.org/drawingml/2006/main" xmlns:p="http://schemas.openxmlformats.org/presentationml/2006/main" xmlns:r="http://schemas.openxmlformats.org/officeDocument/2006/relationships" show="0">
  <p:cSld>
    <p:spTree>
      <p:nvGrpSpPr>
        <p:cNvPr id="1" name=""/>
        <p:cNvGrpSpPr/>
        <p:nvPr/>
      </p:nvGrpSpPr>
      <p:grpSpPr/>
      <p:sp>
        <p:nvSpPr>
          <p:cNvPr id="2" name="Rectangle 1"/>
          <p:cNvSpPr/>
          <p:nvPr/>
        </p:nvSpPr>
        <p:spPr>
          <a:xfrm>
            <a:off x="0" y="0"/>
            <a:ext cx="9144000" cy="658368"/>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640080"/>
            <a:ext cx="9144000" cy="54864"/>
          </a:xfrm>
          <a:prstGeom prst="rect">
            <a:avLst/>
          </a:pr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256032" y="91440"/>
            <a:ext cx="7498079" cy="502920"/>
          </a:xfrm>
          <a:prstGeom prst="rect">
            <a:avLst/>
          </a:prstGeom>
          <a:noFill/>
        </p:spPr>
        <p:txBody>
          <a:bodyPr wrap="square" anchor="t">
            <a:spAutoFit/>
          </a:bodyPr>
          <a:lstStyle/>
          <a:p>
            <a:pPr algn="l">
              <a:spcAft>
                <a:spcPts val="400"/>
              </a:spcAft>
            </a:pPr>
            <a:r>
              <a:rPr sz="2600" b="1" i="0">
                <a:solidFill>
                  <a:srgbClr val="2E9E4F"/>
                </a:solidFill>
                <a:latin typeface="Calibri"/>
              </a:rPr>
              <a:t>Changes during an action potential</a:t>
            </a:r>
          </a:p>
        </p:txBody>
      </p:sp>
      <p:sp>
        <p:nvSpPr>
          <p:cNvPr id="5" name="Rounded Rectangle 4"/>
          <p:cNvSpPr/>
          <p:nvPr/>
        </p:nvSpPr>
        <p:spPr>
          <a:xfrm>
            <a:off x="7452360" y="109728"/>
            <a:ext cx="1536192" cy="420624"/>
          </a:xfrm>
          <a:prstGeom prst="roundRect">
            <a:avLst>
              <a:gd name="adj" fmla="val 15000"/>
            </a:avLst>
          </a:prstGeom>
          <a:solidFill>
            <a:srgbClr val="C8E6A0"/>
          </a:solidFill>
          <a:ln w="12700">
            <a:solidFill>
              <a:srgbClr val="1B7A3A"/>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spcBef>
                <a:spcPts val="0"/>
              </a:spcBef>
              <a:spcAft>
                <a:spcPts val="200"/>
              </a:spcAft>
            </a:pPr>
            <a:r>
              <a:rPr sz="1100" b="1" i="0">
                <a:solidFill>
                  <a:srgbClr val="1B7A3A"/>
                </a:solidFill>
                <a:latin typeface="Calibri"/>
              </a:rPr>
              <a:t>A2 Biology</a:t>
            </a:r>
          </a:p>
        </p:txBody>
      </p:sp>
      <p:sp>
        <p:nvSpPr>
          <p:cNvPr id="6" name="Rectangle 5"/>
          <p:cNvSpPr/>
          <p:nvPr/>
        </p:nvSpPr>
        <p:spPr>
          <a:xfrm>
            <a:off x="0" y="0"/>
            <a:ext cx="73152" cy="6858000"/>
          </a:xfrm>
          <a:prstGeom prst="rect">
            <a:avLst/>
          </a:prstGeom>
          <a:solidFill>
            <a:srgbClr val="6B2D8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3152" y="6565392"/>
            <a:ext cx="9070848" cy="36576"/>
          </a:xfrm>
          <a:prstGeom prst="rect">
            <a:avLst/>
          </a:prstGeom>
          <a:solidFill>
            <a:srgbClr val="7A3E9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228600" y="6583680"/>
            <a:ext cx="1280160" cy="256032"/>
          </a:xfrm>
          <a:prstGeom prst="rect">
            <a:avLst/>
          </a:prstGeom>
          <a:noFill/>
        </p:spPr>
        <p:txBody>
          <a:bodyPr wrap="square" anchor="t">
            <a:spAutoFit/>
          </a:bodyPr>
          <a:lstStyle/>
          <a:p>
            <a:pPr algn="l">
              <a:spcAft>
                <a:spcPts val="400"/>
              </a:spcAft>
            </a:pPr>
            <a:r>
              <a:rPr sz="1000" b="0" i="0">
                <a:solidFill>
                  <a:srgbClr val="6B2D8B"/>
                </a:solidFill>
                <a:latin typeface="Calibri"/>
              </a:rPr>
              <a:t>activity</a:t>
            </a:r>
          </a:p>
        </p:txBody>
      </p:sp>
      <p:sp>
        <p:nvSpPr>
          <p:cNvPr id="9" name="TextBox 8"/>
          <p:cNvSpPr txBox="1"/>
          <p:nvPr/>
        </p:nvSpPr>
        <p:spPr>
          <a:xfrm>
            <a:off x="1554480" y="6583680"/>
            <a:ext cx="6035040" cy="256032"/>
          </a:xfrm>
          <a:prstGeom prst="rect">
            <a:avLst/>
          </a:prstGeom>
          <a:noFill/>
        </p:spPr>
        <p:txBody>
          <a:bodyPr wrap="square" anchor="t">
            <a:spAutoFit/>
          </a:bodyPr>
          <a:lstStyle/>
          <a:p>
            <a:pPr algn="ctr">
              <a:spcAft>
                <a:spcPts val="400"/>
              </a:spcAft>
            </a:pPr>
            <a:r>
              <a:rPr sz="900" b="0" i="0">
                <a:solidFill>
                  <a:srgbClr val="5A5A5A"/>
                </a:solidFill>
                <a:latin typeface="Calibri"/>
              </a:rPr>
              <a:t>Original course © Boardworks Ltd 2009. Reconstructed interactive resource.</a:t>
            </a:r>
          </a:p>
        </p:txBody>
      </p:sp>
      <p:pic>
        <p:nvPicPr>
          <p:cNvPr id="10" name="Picture 9" descr="ap_graph_1.png"/>
          <p:cNvPicPr>
            <a:picLocks noChangeAspect="1"/>
          </p:cNvPicPr>
          <p:nvPr/>
        </p:nvPicPr>
        <p:blipFill>
          <a:blip r:embed="rId2"/>
          <a:stretch>
            <a:fillRect/>
          </a:stretch>
        </p:blipFill>
        <p:spPr>
          <a:xfrm>
            <a:off x="228600" y="914400"/>
            <a:ext cx="5029200" cy="3291569"/>
          </a:xfrm>
          <a:prstGeom prst="rect">
            <a:avLst/>
          </a:prstGeom>
        </p:spPr>
      </p:pic>
      <p:sp>
        <p:nvSpPr>
          <p:cNvPr id="11" name="Rounded Rectangle 10"/>
          <p:cNvSpPr/>
          <p:nvPr/>
        </p:nvSpPr>
        <p:spPr>
          <a:xfrm>
            <a:off x="5394960" y="1097280"/>
            <a:ext cx="3383280" cy="4023360"/>
          </a:xfrm>
          <a:prstGeom prst="roundRect">
            <a:avLst>
              <a:gd name="adj" fmla="val 15000"/>
            </a:avLst>
          </a:prstGeom>
          <a:solidFill>
            <a:srgbClr val="FFF6B0"/>
          </a:solidFill>
          <a:ln w="15875">
            <a:solidFill>
              <a:srgbClr val="C5B43A"/>
            </a:solidFill>
          </a:ln>
        </p:spPr>
        <p:style>
          <a:lnRef idx="1">
            <a:schemeClr val="accent1"/>
          </a:lnRef>
          <a:fillRef idx="3">
            <a:schemeClr val="accent1"/>
          </a:fillRef>
          <a:effectRef idx="2">
            <a:schemeClr val="accent1"/>
          </a:effectRef>
          <a:fontRef idx="minor">
            <a:schemeClr val="lt1"/>
          </a:fontRef>
        </p:style>
        <p:txBody>
          <a:bodyPr rtlCol="0" anchor="t" wrap="square" lIns="109728" rIns="109728" tIns="73152" bIns="73152"/>
          <a:lstStyle/>
          <a:p>
            <a:pPr algn="l">
              <a:spcBef>
                <a:spcPts val="0"/>
              </a:spcBef>
              <a:spcAft>
                <a:spcPts val="200"/>
              </a:spcAft>
            </a:pPr>
            <a:r>
              <a:rPr sz="1500" b="0" i="0">
                <a:solidFill>
                  <a:srgbClr val="1A2F5A"/>
                </a:solidFill>
                <a:latin typeface="Calibri"/>
              </a:rPr>
              <a:t>1  Resting potential</a:t>
            </a:r>
          </a:p>
          <a:p>
            <a:pPr algn="l">
              <a:spcAft>
                <a:spcPts val="200"/>
              </a:spcAft>
            </a:pPr>
            <a:r>
              <a:rPr sz="1500" b="0" i="0">
                <a:solidFill>
                  <a:srgbClr val="1A2F5A"/>
                </a:solidFill>
                <a:latin typeface="Calibri"/>
              </a:rPr>
              <a:t/>
            </a:r>
          </a:p>
          <a:p>
            <a:pPr algn="l">
              <a:spcAft>
                <a:spcPts val="200"/>
              </a:spcAft>
            </a:pPr>
            <a:r>
              <a:rPr sz="1500" b="0" i="0">
                <a:solidFill>
                  <a:srgbClr val="1A2F5A"/>
                </a:solidFill>
                <a:latin typeface="Calibri"/>
              </a:rPr>
              <a:t>Voltage-gated channels closed. p.d. ≈ –70 mV. Membrane polarised. Na⁺/K⁺ pump and K⁺ leak maintain the gradient.</a:t>
            </a:r>
          </a:p>
        </p:txBody>
      </p:sp>
      <p:sp>
        <p:nvSpPr>
          <p:cNvPr id="12" name="Rounded Rectangle 11">
            <a:hlinkClick r:id="rId3" action="ppaction://hlinksldjump"/>
          </p:cNvPr>
          <p:cNvSpPr/>
          <p:nvPr/>
        </p:nvSpPr>
        <p:spPr>
          <a:xfrm>
            <a:off x="5943600" y="5349240"/>
            <a:ext cx="2194560" cy="365760"/>
          </a:xfrm>
          <a:prstGeom prst="roundRect">
            <a:avLst>
              <a:gd name="adj" fmla="val 15000"/>
            </a:avLst>
          </a:prstGeom>
          <a:solidFill>
            <a:srgbClr val="2E9E4F"/>
          </a:solidFill>
          <a:ln w="12700">
            <a:solidFill>
              <a:srgbClr val="2E9E4F"/>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spcBef>
                <a:spcPts val="0"/>
              </a:spcBef>
              <a:spcAft>
                <a:spcPts val="200"/>
              </a:spcAft>
            </a:pPr>
            <a:r>
              <a:rPr sz="1400" b="1" i="0">
                <a:solidFill>
                  <a:srgbClr val="FFFFFF"/>
                </a:solidFill>
                <a:latin typeface="Calibri"/>
              </a:rPr>
              <a:t>Back to graph</a:t>
            </a:r>
          </a:p>
        </p:txBody>
      </p:sp>
    </p:spTree>
  </p:cSld>
  <p:clrMapOvr>
    <a:masterClrMapping/>
  </p:clrMapOvr>
</p:sld>
</file>

<file path=ppt/slides/slide39.xml><?xml version="1.0" encoding="utf-8"?>
<p:sld xmlns:a="http://schemas.openxmlformats.org/drawingml/2006/main" xmlns:p="http://schemas.openxmlformats.org/presentationml/2006/main" xmlns:r="http://schemas.openxmlformats.org/officeDocument/2006/relationships" show="0">
  <p:cSld>
    <p:spTree>
      <p:nvGrpSpPr>
        <p:cNvPr id="1" name=""/>
        <p:cNvGrpSpPr/>
        <p:nvPr/>
      </p:nvGrpSpPr>
      <p:grpSpPr/>
      <p:sp>
        <p:nvSpPr>
          <p:cNvPr id="2" name="Rectangle 1"/>
          <p:cNvSpPr/>
          <p:nvPr/>
        </p:nvSpPr>
        <p:spPr>
          <a:xfrm>
            <a:off x="0" y="0"/>
            <a:ext cx="9144000" cy="658368"/>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640080"/>
            <a:ext cx="9144000" cy="54864"/>
          </a:xfrm>
          <a:prstGeom prst="rect">
            <a:avLst/>
          </a:pr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256032" y="91440"/>
            <a:ext cx="7498079" cy="502920"/>
          </a:xfrm>
          <a:prstGeom prst="rect">
            <a:avLst/>
          </a:prstGeom>
          <a:noFill/>
        </p:spPr>
        <p:txBody>
          <a:bodyPr wrap="square" anchor="t">
            <a:spAutoFit/>
          </a:bodyPr>
          <a:lstStyle/>
          <a:p>
            <a:pPr algn="l">
              <a:spcAft>
                <a:spcPts val="400"/>
              </a:spcAft>
            </a:pPr>
            <a:r>
              <a:rPr sz="2600" b="1" i="0">
                <a:solidFill>
                  <a:srgbClr val="2E9E4F"/>
                </a:solidFill>
                <a:latin typeface="Calibri"/>
              </a:rPr>
              <a:t>Changes during an action potential</a:t>
            </a:r>
          </a:p>
        </p:txBody>
      </p:sp>
      <p:sp>
        <p:nvSpPr>
          <p:cNvPr id="5" name="Rounded Rectangle 4"/>
          <p:cNvSpPr/>
          <p:nvPr/>
        </p:nvSpPr>
        <p:spPr>
          <a:xfrm>
            <a:off x="7452360" y="109728"/>
            <a:ext cx="1536192" cy="420624"/>
          </a:xfrm>
          <a:prstGeom prst="roundRect">
            <a:avLst>
              <a:gd name="adj" fmla="val 15000"/>
            </a:avLst>
          </a:prstGeom>
          <a:solidFill>
            <a:srgbClr val="C8E6A0"/>
          </a:solidFill>
          <a:ln w="12700">
            <a:solidFill>
              <a:srgbClr val="1B7A3A"/>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spcBef>
                <a:spcPts val="0"/>
              </a:spcBef>
              <a:spcAft>
                <a:spcPts val="200"/>
              </a:spcAft>
            </a:pPr>
            <a:r>
              <a:rPr sz="1100" b="1" i="0">
                <a:solidFill>
                  <a:srgbClr val="1B7A3A"/>
                </a:solidFill>
                <a:latin typeface="Calibri"/>
              </a:rPr>
              <a:t>A2 Biology</a:t>
            </a:r>
          </a:p>
        </p:txBody>
      </p:sp>
      <p:sp>
        <p:nvSpPr>
          <p:cNvPr id="6" name="Rectangle 5"/>
          <p:cNvSpPr/>
          <p:nvPr/>
        </p:nvSpPr>
        <p:spPr>
          <a:xfrm>
            <a:off x="0" y="0"/>
            <a:ext cx="73152" cy="6858000"/>
          </a:xfrm>
          <a:prstGeom prst="rect">
            <a:avLst/>
          </a:prstGeom>
          <a:solidFill>
            <a:srgbClr val="6B2D8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3152" y="6565392"/>
            <a:ext cx="9070848" cy="36576"/>
          </a:xfrm>
          <a:prstGeom prst="rect">
            <a:avLst/>
          </a:prstGeom>
          <a:solidFill>
            <a:srgbClr val="7A3E9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228600" y="6583680"/>
            <a:ext cx="1280160" cy="256032"/>
          </a:xfrm>
          <a:prstGeom prst="rect">
            <a:avLst/>
          </a:prstGeom>
          <a:noFill/>
        </p:spPr>
        <p:txBody>
          <a:bodyPr wrap="square" anchor="t">
            <a:spAutoFit/>
          </a:bodyPr>
          <a:lstStyle/>
          <a:p>
            <a:pPr algn="l">
              <a:spcAft>
                <a:spcPts val="400"/>
              </a:spcAft>
            </a:pPr>
            <a:r>
              <a:rPr sz="1000" b="0" i="0">
                <a:solidFill>
                  <a:srgbClr val="6B2D8B"/>
                </a:solidFill>
                <a:latin typeface="Calibri"/>
              </a:rPr>
              <a:t>activity</a:t>
            </a:r>
          </a:p>
        </p:txBody>
      </p:sp>
      <p:sp>
        <p:nvSpPr>
          <p:cNvPr id="9" name="TextBox 8"/>
          <p:cNvSpPr txBox="1"/>
          <p:nvPr/>
        </p:nvSpPr>
        <p:spPr>
          <a:xfrm>
            <a:off x="1554480" y="6583680"/>
            <a:ext cx="6035040" cy="256032"/>
          </a:xfrm>
          <a:prstGeom prst="rect">
            <a:avLst/>
          </a:prstGeom>
          <a:noFill/>
        </p:spPr>
        <p:txBody>
          <a:bodyPr wrap="square" anchor="t">
            <a:spAutoFit/>
          </a:bodyPr>
          <a:lstStyle/>
          <a:p>
            <a:pPr algn="ctr">
              <a:spcAft>
                <a:spcPts val="400"/>
              </a:spcAft>
            </a:pPr>
            <a:r>
              <a:rPr sz="900" b="0" i="0">
                <a:solidFill>
                  <a:srgbClr val="5A5A5A"/>
                </a:solidFill>
                <a:latin typeface="Calibri"/>
              </a:rPr>
              <a:t>Original course © Boardworks Ltd 2009. Reconstructed interactive resource.</a:t>
            </a:r>
          </a:p>
        </p:txBody>
      </p:sp>
      <p:pic>
        <p:nvPicPr>
          <p:cNvPr id="10" name="Picture 9" descr="ap_graph_2.png"/>
          <p:cNvPicPr>
            <a:picLocks noChangeAspect="1"/>
          </p:cNvPicPr>
          <p:nvPr/>
        </p:nvPicPr>
        <p:blipFill>
          <a:blip r:embed="rId2"/>
          <a:stretch>
            <a:fillRect/>
          </a:stretch>
        </p:blipFill>
        <p:spPr>
          <a:xfrm>
            <a:off x="228600" y="914400"/>
            <a:ext cx="5029200" cy="3291569"/>
          </a:xfrm>
          <a:prstGeom prst="rect">
            <a:avLst/>
          </a:prstGeom>
        </p:spPr>
      </p:pic>
      <p:sp>
        <p:nvSpPr>
          <p:cNvPr id="11" name="Rounded Rectangle 10"/>
          <p:cNvSpPr/>
          <p:nvPr/>
        </p:nvSpPr>
        <p:spPr>
          <a:xfrm>
            <a:off x="5394960" y="1097280"/>
            <a:ext cx="3383280" cy="4023360"/>
          </a:xfrm>
          <a:prstGeom prst="roundRect">
            <a:avLst>
              <a:gd name="adj" fmla="val 15000"/>
            </a:avLst>
          </a:prstGeom>
          <a:solidFill>
            <a:srgbClr val="FFF6B0"/>
          </a:solidFill>
          <a:ln w="15875">
            <a:solidFill>
              <a:srgbClr val="C5B43A"/>
            </a:solidFill>
          </a:ln>
        </p:spPr>
        <p:style>
          <a:lnRef idx="1">
            <a:schemeClr val="accent1"/>
          </a:lnRef>
          <a:fillRef idx="3">
            <a:schemeClr val="accent1"/>
          </a:fillRef>
          <a:effectRef idx="2">
            <a:schemeClr val="accent1"/>
          </a:effectRef>
          <a:fontRef idx="minor">
            <a:schemeClr val="lt1"/>
          </a:fontRef>
        </p:style>
        <p:txBody>
          <a:bodyPr rtlCol="0" anchor="t" wrap="square" lIns="109728" rIns="109728" tIns="73152" bIns="73152"/>
          <a:lstStyle/>
          <a:p>
            <a:pPr algn="l">
              <a:spcBef>
                <a:spcPts val="0"/>
              </a:spcBef>
              <a:spcAft>
                <a:spcPts val="200"/>
              </a:spcAft>
            </a:pPr>
            <a:r>
              <a:rPr sz="1500" b="0" i="0">
                <a:solidFill>
                  <a:srgbClr val="1A2F5A"/>
                </a:solidFill>
                <a:latin typeface="Calibri"/>
              </a:rPr>
              <a:t>2  Depolarisation</a:t>
            </a:r>
          </a:p>
          <a:p>
            <a:pPr algn="l">
              <a:spcAft>
                <a:spcPts val="200"/>
              </a:spcAft>
            </a:pPr>
            <a:r>
              <a:rPr sz="1500" b="0" i="0">
                <a:solidFill>
                  <a:srgbClr val="1A2F5A"/>
                </a:solidFill>
                <a:latin typeface="Calibri"/>
              </a:rPr>
              <a:t/>
            </a:r>
          </a:p>
          <a:p>
            <a:pPr algn="l">
              <a:spcAft>
                <a:spcPts val="200"/>
              </a:spcAft>
            </a:pPr>
            <a:r>
              <a:rPr sz="1500" b="0" i="0">
                <a:solidFill>
                  <a:srgbClr val="1A2F5A"/>
                </a:solidFill>
                <a:latin typeface="Calibri"/>
              </a:rPr>
              <a:t>Threshold reached. Voltage-gated Na⁺ channels open. Na⁺ influx reverses the p.d. towards +35 mV. The membrane is depolarised.</a:t>
            </a:r>
          </a:p>
        </p:txBody>
      </p:sp>
      <p:sp>
        <p:nvSpPr>
          <p:cNvPr id="12" name="Rounded Rectangle 11">
            <a:hlinkClick r:id="rId3" action="ppaction://hlinksldjump"/>
          </p:cNvPr>
          <p:cNvSpPr/>
          <p:nvPr/>
        </p:nvSpPr>
        <p:spPr>
          <a:xfrm>
            <a:off x="5943600" y="5349240"/>
            <a:ext cx="2194560" cy="365760"/>
          </a:xfrm>
          <a:prstGeom prst="roundRect">
            <a:avLst>
              <a:gd name="adj" fmla="val 15000"/>
            </a:avLst>
          </a:prstGeom>
          <a:solidFill>
            <a:srgbClr val="2E9E4F"/>
          </a:solidFill>
          <a:ln w="12700">
            <a:solidFill>
              <a:srgbClr val="2E9E4F"/>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spcBef>
                <a:spcPts val="0"/>
              </a:spcBef>
              <a:spcAft>
                <a:spcPts val="200"/>
              </a:spcAft>
            </a:pPr>
            <a:r>
              <a:rPr sz="1400" b="1" i="0">
                <a:solidFill>
                  <a:srgbClr val="FFFFFF"/>
                </a:solidFill>
                <a:latin typeface="Calibri"/>
              </a:rPr>
              <a:t>Back to graph</a:t>
            </a:r>
          </a:p>
        </p:txBody>
      </p:sp>
    </p:spTree>
  </p:cSld>
  <p:clrMapOvr>
    <a:masterClrMapping/>
  </p:clrMapOvr>
</p:sld>
</file>

<file path=ppt/slides/slide40.xml><?xml version="1.0" encoding="utf-8"?>
<p:sld xmlns:a="http://schemas.openxmlformats.org/drawingml/2006/main" xmlns:p="http://schemas.openxmlformats.org/presentationml/2006/main" xmlns:r="http://schemas.openxmlformats.org/officeDocument/2006/relationships" show="0">
  <p:cSld>
    <p:spTree>
      <p:nvGrpSpPr>
        <p:cNvPr id="1" name=""/>
        <p:cNvGrpSpPr/>
        <p:nvPr/>
      </p:nvGrpSpPr>
      <p:grpSpPr/>
      <p:sp>
        <p:nvSpPr>
          <p:cNvPr id="2" name="Rectangle 1"/>
          <p:cNvSpPr/>
          <p:nvPr/>
        </p:nvSpPr>
        <p:spPr>
          <a:xfrm>
            <a:off x="0" y="0"/>
            <a:ext cx="9144000" cy="658368"/>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640080"/>
            <a:ext cx="9144000" cy="54864"/>
          </a:xfrm>
          <a:prstGeom prst="rect">
            <a:avLst/>
          </a:pr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256032" y="91440"/>
            <a:ext cx="7498079" cy="502920"/>
          </a:xfrm>
          <a:prstGeom prst="rect">
            <a:avLst/>
          </a:prstGeom>
          <a:noFill/>
        </p:spPr>
        <p:txBody>
          <a:bodyPr wrap="square" anchor="t">
            <a:spAutoFit/>
          </a:bodyPr>
          <a:lstStyle/>
          <a:p>
            <a:pPr algn="l">
              <a:spcAft>
                <a:spcPts val="400"/>
              </a:spcAft>
            </a:pPr>
            <a:r>
              <a:rPr sz="2600" b="1" i="0">
                <a:solidFill>
                  <a:srgbClr val="2E9E4F"/>
                </a:solidFill>
                <a:latin typeface="Calibri"/>
              </a:rPr>
              <a:t>Changes during an action potential</a:t>
            </a:r>
          </a:p>
        </p:txBody>
      </p:sp>
      <p:sp>
        <p:nvSpPr>
          <p:cNvPr id="5" name="Rounded Rectangle 4"/>
          <p:cNvSpPr/>
          <p:nvPr/>
        </p:nvSpPr>
        <p:spPr>
          <a:xfrm>
            <a:off x="7452360" y="109728"/>
            <a:ext cx="1536192" cy="420624"/>
          </a:xfrm>
          <a:prstGeom prst="roundRect">
            <a:avLst>
              <a:gd name="adj" fmla="val 15000"/>
            </a:avLst>
          </a:prstGeom>
          <a:solidFill>
            <a:srgbClr val="C8E6A0"/>
          </a:solidFill>
          <a:ln w="12700">
            <a:solidFill>
              <a:srgbClr val="1B7A3A"/>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spcBef>
                <a:spcPts val="0"/>
              </a:spcBef>
              <a:spcAft>
                <a:spcPts val="200"/>
              </a:spcAft>
            </a:pPr>
            <a:r>
              <a:rPr sz="1100" b="1" i="0">
                <a:solidFill>
                  <a:srgbClr val="1B7A3A"/>
                </a:solidFill>
                <a:latin typeface="Calibri"/>
              </a:rPr>
              <a:t>A2 Biology</a:t>
            </a:r>
          </a:p>
        </p:txBody>
      </p:sp>
      <p:sp>
        <p:nvSpPr>
          <p:cNvPr id="6" name="Rectangle 5"/>
          <p:cNvSpPr/>
          <p:nvPr/>
        </p:nvSpPr>
        <p:spPr>
          <a:xfrm>
            <a:off x="0" y="0"/>
            <a:ext cx="73152" cy="6858000"/>
          </a:xfrm>
          <a:prstGeom prst="rect">
            <a:avLst/>
          </a:prstGeom>
          <a:solidFill>
            <a:srgbClr val="6B2D8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3152" y="6565392"/>
            <a:ext cx="9070848" cy="36576"/>
          </a:xfrm>
          <a:prstGeom prst="rect">
            <a:avLst/>
          </a:prstGeom>
          <a:solidFill>
            <a:srgbClr val="7A3E9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228600" y="6583680"/>
            <a:ext cx="1280160" cy="256032"/>
          </a:xfrm>
          <a:prstGeom prst="rect">
            <a:avLst/>
          </a:prstGeom>
          <a:noFill/>
        </p:spPr>
        <p:txBody>
          <a:bodyPr wrap="square" anchor="t">
            <a:spAutoFit/>
          </a:bodyPr>
          <a:lstStyle/>
          <a:p>
            <a:pPr algn="l">
              <a:spcAft>
                <a:spcPts val="400"/>
              </a:spcAft>
            </a:pPr>
            <a:r>
              <a:rPr sz="1000" b="0" i="0">
                <a:solidFill>
                  <a:srgbClr val="6B2D8B"/>
                </a:solidFill>
                <a:latin typeface="Calibri"/>
              </a:rPr>
              <a:t>activity</a:t>
            </a:r>
          </a:p>
        </p:txBody>
      </p:sp>
      <p:sp>
        <p:nvSpPr>
          <p:cNvPr id="9" name="TextBox 8"/>
          <p:cNvSpPr txBox="1"/>
          <p:nvPr/>
        </p:nvSpPr>
        <p:spPr>
          <a:xfrm>
            <a:off x="1554480" y="6583680"/>
            <a:ext cx="6035040" cy="256032"/>
          </a:xfrm>
          <a:prstGeom prst="rect">
            <a:avLst/>
          </a:prstGeom>
          <a:noFill/>
        </p:spPr>
        <p:txBody>
          <a:bodyPr wrap="square" anchor="t">
            <a:spAutoFit/>
          </a:bodyPr>
          <a:lstStyle/>
          <a:p>
            <a:pPr algn="ctr">
              <a:spcAft>
                <a:spcPts val="400"/>
              </a:spcAft>
            </a:pPr>
            <a:r>
              <a:rPr sz="900" b="0" i="0">
                <a:solidFill>
                  <a:srgbClr val="5A5A5A"/>
                </a:solidFill>
                <a:latin typeface="Calibri"/>
              </a:rPr>
              <a:t>Original course © Boardworks Ltd 2009. Reconstructed interactive resource.</a:t>
            </a:r>
          </a:p>
        </p:txBody>
      </p:sp>
      <p:pic>
        <p:nvPicPr>
          <p:cNvPr id="10" name="Picture 9" descr="ap_graph_3.png"/>
          <p:cNvPicPr>
            <a:picLocks noChangeAspect="1"/>
          </p:cNvPicPr>
          <p:nvPr/>
        </p:nvPicPr>
        <p:blipFill>
          <a:blip r:embed="rId2"/>
          <a:stretch>
            <a:fillRect/>
          </a:stretch>
        </p:blipFill>
        <p:spPr>
          <a:xfrm>
            <a:off x="228600" y="914400"/>
            <a:ext cx="5029200" cy="3291569"/>
          </a:xfrm>
          <a:prstGeom prst="rect">
            <a:avLst/>
          </a:prstGeom>
        </p:spPr>
      </p:pic>
      <p:sp>
        <p:nvSpPr>
          <p:cNvPr id="11" name="Rounded Rectangle 10"/>
          <p:cNvSpPr/>
          <p:nvPr/>
        </p:nvSpPr>
        <p:spPr>
          <a:xfrm>
            <a:off x="5394960" y="1097280"/>
            <a:ext cx="3383280" cy="4023360"/>
          </a:xfrm>
          <a:prstGeom prst="roundRect">
            <a:avLst>
              <a:gd name="adj" fmla="val 15000"/>
            </a:avLst>
          </a:prstGeom>
          <a:solidFill>
            <a:srgbClr val="FFF6B0"/>
          </a:solidFill>
          <a:ln w="15875">
            <a:solidFill>
              <a:srgbClr val="C5B43A"/>
            </a:solidFill>
          </a:ln>
        </p:spPr>
        <p:style>
          <a:lnRef idx="1">
            <a:schemeClr val="accent1"/>
          </a:lnRef>
          <a:fillRef idx="3">
            <a:schemeClr val="accent1"/>
          </a:fillRef>
          <a:effectRef idx="2">
            <a:schemeClr val="accent1"/>
          </a:effectRef>
          <a:fontRef idx="minor">
            <a:schemeClr val="lt1"/>
          </a:fontRef>
        </p:style>
        <p:txBody>
          <a:bodyPr rtlCol="0" anchor="t" wrap="square" lIns="109728" rIns="109728" tIns="73152" bIns="73152"/>
          <a:lstStyle/>
          <a:p>
            <a:pPr algn="l">
              <a:spcBef>
                <a:spcPts val="0"/>
              </a:spcBef>
              <a:spcAft>
                <a:spcPts val="200"/>
              </a:spcAft>
            </a:pPr>
            <a:r>
              <a:rPr sz="1500" b="0" i="0">
                <a:solidFill>
                  <a:srgbClr val="1A2F5A"/>
                </a:solidFill>
                <a:latin typeface="Calibri"/>
              </a:rPr>
              <a:t>3  Repolarisation</a:t>
            </a:r>
          </a:p>
          <a:p>
            <a:pPr algn="l">
              <a:spcAft>
                <a:spcPts val="200"/>
              </a:spcAft>
            </a:pPr>
            <a:r>
              <a:rPr sz="1500" b="0" i="0">
                <a:solidFill>
                  <a:srgbClr val="1A2F5A"/>
                </a:solidFill>
                <a:latin typeface="Calibri"/>
              </a:rPr>
              <a:t/>
            </a:r>
          </a:p>
          <a:p>
            <a:pPr algn="l">
              <a:spcAft>
                <a:spcPts val="200"/>
              </a:spcAft>
            </a:pPr>
            <a:r>
              <a:rPr sz="1500" b="0" i="0">
                <a:solidFill>
                  <a:srgbClr val="1A2F5A"/>
                </a:solidFill>
                <a:latin typeface="Calibri"/>
              </a:rPr>
              <a:t>Na⁺ channels inactivate. Voltage-gated K⁺ channels open. K⁺ efflux restores negativity inside the axon.</a:t>
            </a:r>
          </a:p>
        </p:txBody>
      </p:sp>
      <p:sp>
        <p:nvSpPr>
          <p:cNvPr id="12" name="Rounded Rectangle 11">
            <a:hlinkClick r:id="rId3" action="ppaction://hlinksldjump"/>
          </p:cNvPr>
          <p:cNvSpPr/>
          <p:nvPr/>
        </p:nvSpPr>
        <p:spPr>
          <a:xfrm>
            <a:off x="5943600" y="5349240"/>
            <a:ext cx="2194560" cy="365760"/>
          </a:xfrm>
          <a:prstGeom prst="roundRect">
            <a:avLst>
              <a:gd name="adj" fmla="val 15000"/>
            </a:avLst>
          </a:prstGeom>
          <a:solidFill>
            <a:srgbClr val="2E9E4F"/>
          </a:solidFill>
          <a:ln w="12700">
            <a:solidFill>
              <a:srgbClr val="2E9E4F"/>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spcBef>
                <a:spcPts val="0"/>
              </a:spcBef>
              <a:spcAft>
                <a:spcPts val="200"/>
              </a:spcAft>
            </a:pPr>
            <a:r>
              <a:rPr sz="1400" b="1" i="0">
                <a:solidFill>
                  <a:srgbClr val="FFFFFF"/>
                </a:solidFill>
                <a:latin typeface="Calibri"/>
              </a:rPr>
              <a:t>Back to graph</a:t>
            </a:r>
          </a:p>
        </p:txBody>
      </p:sp>
    </p:spTree>
  </p:cSld>
  <p:clrMapOvr>
    <a:masterClrMapping/>
  </p:clrMapOvr>
</p:sld>
</file>

<file path=ppt/slides/slide41.xml><?xml version="1.0" encoding="utf-8"?>
<p:sld xmlns:a="http://schemas.openxmlformats.org/drawingml/2006/main" xmlns:p="http://schemas.openxmlformats.org/presentationml/2006/main" xmlns:r="http://schemas.openxmlformats.org/officeDocument/2006/relationships" show="0">
  <p:cSld>
    <p:spTree>
      <p:nvGrpSpPr>
        <p:cNvPr id="1" name=""/>
        <p:cNvGrpSpPr/>
        <p:nvPr/>
      </p:nvGrpSpPr>
      <p:grpSpPr/>
      <p:sp>
        <p:nvSpPr>
          <p:cNvPr id="2" name="Rectangle 1"/>
          <p:cNvSpPr/>
          <p:nvPr/>
        </p:nvSpPr>
        <p:spPr>
          <a:xfrm>
            <a:off x="0" y="0"/>
            <a:ext cx="9144000" cy="658368"/>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640080"/>
            <a:ext cx="9144000" cy="54864"/>
          </a:xfrm>
          <a:prstGeom prst="rect">
            <a:avLst/>
          </a:pr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256032" y="91440"/>
            <a:ext cx="7498079" cy="502920"/>
          </a:xfrm>
          <a:prstGeom prst="rect">
            <a:avLst/>
          </a:prstGeom>
          <a:noFill/>
        </p:spPr>
        <p:txBody>
          <a:bodyPr wrap="square" anchor="t">
            <a:spAutoFit/>
          </a:bodyPr>
          <a:lstStyle/>
          <a:p>
            <a:pPr algn="l">
              <a:spcAft>
                <a:spcPts val="400"/>
              </a:spcAft>
            </a:pPr>
            <a:r>
              <a:rPr sz="2600" b="1" i="0">
                <a:solidFill>
                  <a:srgbClr val="2E9E4F"/>
                </a:solidFill>
                <a:latin typeface="Calibri"/>
              </a:rPr>
              <a:t>Changes during an action potential</a:t>
            </a:r>
          </a:p>
        </p:txBody>
      </p:sp>
      <p:sp>
        <p:nvSpPr>
          <p:cNvPr id="5" name="Rounded Rectangle 4"/>
          <p:cNvSpPr/>
          <p:nvPr/>
        </p:nvSpPr>
        <p:spPr>
          <a:xfrm>
            <a:off x="7452360" y="109728"/>
            <a:ext cx="1536192" cy="420624"/>
          </a:xfrm>
          <a:prstGeom prst="roundRect">
            <a:avLst>
              <a:gd name="adj" fmla="val 15000"/>
            </a:avLst>
          </a:prstGeom>
          <a:solidFill>
            <a:srgbClr val="C8E6A0"/>
          </a:solidFill>
          <a:ln w="12700">
            <a:solidFill>
              <a:srgbClr val="1B7A3A"/>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spcBef>
                <a:spcPts val="0"/>
              </a:spcBef>
              <a:spcAft>
                <a:spcPts val="200"/>
              </a:spcAft>
            </a:pPr>
            <a:r>
              <a:rPr sz="1100" b="1" i="0">
                <a:solidFill>
                  <a:srgbClr val="1B7A3A"/>
                </a:solidFill>
                <a:latin typeface="Calibri"/>
              </a:rPr>
              <a:t>A2 Biology</a:t>
            </a:r>
          </a:p>
        </p:txBody>
      </p:sp>
      <p:sp>
        <p:nvSpPr>
          <p:cNvPr id="6" name="Rectangle 5"/>
          <p:cNvSpPr/>
          <p:nvPr/>
        </p:nvSpPr>
        <p:spPr>
          <a:xfrm>
            <a:off x="0" y="0"/>
            <a:ext cx="73152" cy="6858000"/>
          </a:xfrm>
          <a:prstGeom prst="rect">
            <a:avLst/>
          </a:prstGeom>
          <a:solidFill>
            <a:srgbClr val="6B2D8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3152" y="6565392"/>
            <a:ext cx="9070848" cy="36576"/>
          </a:xfrm>
          <a:prstGeom prst="rect">
            <a:avLst/>
          </a:prstGeom>
          <a:solidFill>
            <a:srgbClr val="7A3E9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228600" y="6583680"/>
            <a:ext cx="1280160" cy="256032"/>
          </a:xfrm>
          <a:prstGeom prst="rect">
            <a:avLst/>
          </a:prstGeom>
          <a:noFill/>
        </p:spPr>
        <p:txBody>
          <a:bodyPr wrap="square" anchor="t">
            <a:spAutoFit/>
          </a:bodyPr>
          <a:lstStyle/>
          <a:p>
            <a:pPr algn="l">
              <a:spcAft>
                <a:spcPts val="400"/>
              </a:spcAft>
            </a:pPr>
            <a:r>
              <a:rPr sz="1000" b="0" i="0">
                <a:solidFill>
                  <a:srgbClr val="6B2D8B"/>
                </a:solidFill>
                <a:latin typeface="Calibri"/>
              </a:rPr>
              <a:t>activity</a:t>
            </a:r>
          </a:p>
        </p:txBody>
      </p:sp>
      <p:sp>
        <p:nvSpPr>
          <p:cNvPr id="9" name="TextBox 8"/>
          <p:cNvSpPr txBox="1"/>
          <p:nvPr/>
        </p:nvSpPr>
        <p:spPr>
          <a:xfrm>
            <a:off x="1554480" y="6583680"/>
            <a:ext cx="6035040" cy="256032"/>
          </a:xfrm>
          <a:prstGeom prst="rect">
            <a:avLst/>
          </a:prstGeom>
          <a:noFill/>
        </p:spPr>
        <p:txBody>
          <a:bodyPr wrap="square" anchor="t">
            <a:spAutoFit/>
          </a:bodyPr>
          <a:lstStyle/>
          <a:p>
            <a:pPr algn="ctr">
              <a:spcAft>
                <a:spcPts val="400"/>
              </a:spcAft>
            </a:pPr>
            <a:r>
              <a:rPr sz="900" b="0" i="0">
                <a:solidFill>
                  <a:srgbClr val="5A5A5A"/>
                </a:solidFill>
                <a:latin typeface="Calibri"/>
              </a:rPr>
              <a:t>Original course © Boardworks Ltd 2009. Reconstructed interactive resource.</a:t>
            </a:r>
          </a:p>
        </p:txBody>
      </p:sp>
      <p:pic>
        <p:nvPicPr>
          <p:cNvPr id="10" name="Picture 9" descr="ap_graph_4.png"/>
          <p:cNvPicPr>
            <a:picLocks noChangeAspect="1"/>
          </p:cNvPicPr>
          <p:nvPr/>
        </p:nvPicPr>
        <p:blipFill>
          <a:blip r:embed="rId2"/>
          <a:stretch>
            <a:fillRect/>
          </a:stretch>
        </p:blipFill>
        <p:spPr>
          <a:xfrm>
            <a:off x="228600" y="914400"/>
            <a:ext cx="5029200" cy="3291569"/>
          </a:xfrm>
          <a:prstGeom prst="rect">
            <a:avLst/>
          </a:prstGeom>
        </p:spPr>
      </p:pic>
      <p:sp>
        <p:nvSpPr>
          <p:cNvPr id="11" name="Rounded Rectangle 10"/>
          <p:cNvSpPr/>
          <p:nvPr/>
        </p:nvSpPr>
        <p:spPr>
          <a:xfrm>
            <a:off x="5394960" y="1097280"/>
            <a:ext cx="3383280" cy="4023360"/>
          </a:xfrm>
          <a:prstGeom prst="roundRect">
            <a:avLst>
              <a:gd name="adj" fmla="val 15000"/>
            </a:avLst>
          </a:prstGeom>
          <a:solidFill>
            <a:srgbClr val="FFF6B0"/>
          </a:solidFill>
          <a:ln w="15875">
            <a:solidFill>
              <a:srgbClr val="C5B43A"/>
            </a:solidFill>
          </a:ln>
        </p:spPr>
        <p:style>
          <a:lnRef idx="1">
            <a:schemeClr val="accent1"/>
          </a:lnRef>
          <a:fillRef idx="3">
            <a:schemeClr val="accent1"/>
          </a:fillRef>
          <a:effectRef idx="2">
            <a:schemeClr val="accent1"/>
          </a:effectRef>
          <a:fontRef idx="minor">
            <a:schemeClr val="lt1"/>
          </a:fontRef>
        </p:style>
        <p:txBody>
          <a:bodyPr rtlCol="0" anchor="t" wrap="square" lIns="109728" rIns="109728" tIns="73152" bIns="73152"/>
          <a:lstStyle/>
          <a:p>
            <a:pPr algn="l">
              <a:spcBef>
                <a:spcPts val="0"/>
              </a:spcBef>
              <a:spcAft>
                <a:spcPts val="200"/>
              </a:spcAft>
            </a:pPr>
            <a:r>
              <a:rPr sz="1500" b="0" i="0">
                <a:solidFill>
                  <a:srgbClr val="1A2F5A"/>
                </a:solidFill>
                <a:latin typeface="Calibri"/>
              </a:rPr>
              <a:t>4  Hyperpolarisation</a:t>
            </a:r>
          </a:p>
          <a:p>
            <a:pPr algn="l">
              <a:spcAft>
                <a:spcPts val="200"/>
              </a:spcAft>
            </a:pPr>
            <a:r>
              <a:rPr sz="1500" b="0" i="0">
                <a:solidFill>
                  <a:srgbClr val="1A2F5A"/>
                </a:solidFill>
                <a:latin typeface="Calibri"/>
              </a:rPr>
              <a:t/>
            </a:r>
          </a:p>
          <a:p>
            <a:pPr algn="l">
              <a:spcAft>
                <a:spcPts val="200"/>
              </a:spcAft>
            </a:pPr>
            <a:r>
              <a:rPr sz="1500" b="0" i="0">
                <a:solidFill>
                  <a:srgbClr val="1A2F5A"/>
                </a:solidFill>
                <a:latin typeface="Calibri"/>
              </a:rPr>
              <a:t>K⁺ channels are slow to close, so the p.d. briefly becomes more negative than rest (undershoot).</a:t>
            </a:r>
          </a:p>
        </p:txBody>
      </p:sp>
      <p:sp>
        <p:nvSpPr>
          <p:cNvPr id="12" name="Rounded Rectangle 11">
            <a:hlinkClick r:id="rId3" action="ppaction://hlinksldjump"/>
          </p:cNvPr>
          <p:cNvSpPr/>
          <p:nvPr/>
        </p:nvSpPr>
        <p:spPr>
          <a:xfrm>
            <a:off x="5943600" y="5349240"/>
            <a:ext cx="2194560" cy="365760"/>
          </a:xfrm>
          <a:prstGeom prst="roundRect">
            <a:avLst>
              <a:gd name="adj" fmla="val 15000"/>
            </a:avLst>
          </a:prstGeom>
          <a:solidFill>
            <a:srgbClr val="2E9E4F"/>
          </a:solidFill>
          <a:ln w="12700">
            <a:solidFill>
              <a:srgbClr val="2E9E4F"/>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spcBef>
                <a:spcPts val="0"/>
              </a:spcBef>
              <a:spcAft>
                <a:spcPts val="200"/>
              </a:spcAft>
            </a:pPr>
            <a:r>
              <a:rPr sz="1400" b="1" i="0">
                <a:solidFill>
                  <a:srgbClr val="FFFFFF"/>
                </a:solidFill>
                <a:latin typeface="Calibri"/>
              </a:rPr>
              <a:t>Back to graph</a:t>
            </a:r>
          </a:p>
        </p:txBody>
      </p:sp>
    </p:spTree>
  </p:cSld>
  <p:clrMapOvr>
    <a:masterClrMapping/>
  </p:clrMapOvr>
</p:sld>
</file>

<file path=ppt/slides/slide42.xml><?xml version="1.0" encoding="utf-8"?>
<p:sld xmlns:a="http://schemas.openxmlformats.org/drawingml/2006/main" xmlns:p="http://schemas.openxmlformats.org/presentationml/2006/main" xmlns:r="http://schemas.openxmlformats.org/officeDocument/2006/relationships" show="0">
  <p:cSld>
    <p:spTree>
      <p:nvGrpSpPr>
        <p:cNvPr id="1" name=""/>
        <p:cNvGrpSpPr/>
        <p:nvPr/>
      </p:nvGrpSpPr>
      <p:grpSpPr/>
      <p:sp>
        <p:nvSpPr>
          <p:cNvPr id="2" name="Rectangle 1"/>
          <p:cNvSpPr/>
          <p:nvPr/>
        </p:nvSpPr>
        <p:spPr>
          <a:xfrm>
            <a:off x="0" y="0"/>
            <a:ext cx="9144000" cy="658368"/>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640080"/>
            <a:ext cx="9144000" cy="54864"/>
          </a:xfrm>
          <a:prstGeom prst="rect">
            <a:avLst/>
          </a:pr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256032" y="91440"/>
            <a:ext cx="7498079" cy="502920"/>
          </a:xfrm>
          <a:prstGeom prst="rect">
            <a:avLst/>
          </a:prstGeom>
          <a:noFill/>
        </p:spPr>
        <p:txBody>
          <a:bodyPr wrap="square" anchor="t">
            <a:spAutoFit/>
          </a:bodyPr>
          <a:lstStyle/>
          <a:p>
            <a:pPr algn="l">
              <a:spcAft>
                <a:spcPts val="400"/>
              </a:spcAft>
            </a:pPr>
            <a:r>
              <a:rPr sz="2600" b="1" i="0">
                <a:solidFill>
                  <a:srgbClr val="2E9E4F"/>
                </a:solidFill>
                <a:latin typeface="Calibri"/>
              </a:rPr>
              <a:t>Changes during an action potential</a:t>
            </a:r>
          </a:p>
        </p:txBody>
      </p:sp>
      <p:sp>
        <p:nvSpPr>
          <p:cNvPr id="5" name="Rounded Rectangle 4"/>
          <p:cNvSpPr/>
          <p:nvPr/>
        </p:nvSpPr>
        <p:spPr>
          <a:xfrm>
            <a:off x="7452360" y="109728"/>
            <a:ext cx="1536192" cy="420624"/>
          </a:xfrm>
          <a:prstGeom prst="roundRect">
            <a:avLst>
              <a:gd name="adj" fmla="val 15000"/>
            </a:avLst>
          </a:prstGeom>
          <a:solidFill>
            <a:srgbClr val="C8E6A0"/>
          </a:solidFill>
          <a:ln w="12700">
            <a:solidFill>
              <a:srgbClr val="1B7A3A"/>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spcBef>
                <a:spcPts val="0"/>
              </a:spcBef>
              <a:spcAft>
                <a:spcPts val="200"/>
              </a:spcAft>
            </a:pPr>
            <a:r>
              <a:rPr sz="1100" b="1" i="0">
                <a:solidFill>
                  <a:srgbClr val="1B7A3A"/>
                </a:solidFill>
                <a:latin typeface="Calibri"/>
              </a:rPr>
              <a:t>A2 Biology</a:t>
            </a:r>
          </a:p>
        </p:txBody>
      </p:sp>
      <p:sp>
        <p:nvSpPr>
          <p:cNvPr id="6" name="Rectangle 5"/>
          <p:cNvSpPr/>
          <p:nvPr/>
        </p:nvSpPr>
        <p:spPr>
          <a:xfrm>
            <a:off x="0" y="0"/>
            <a:ext cx="73152" cy="6858000"/>
          </a:xfrm>
          <a:prstGeom prst="rect">
            <a:avLst/>
          </a:prstGeom>
          <a:solidFill>
            <a:srgbClr val="6B2D8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3152" y="6565392"/>
            <a:ext cx="9070848" cy="36576"/>
          </a:xfrm>
          <a:prstGeom prst="rect">
            <a:avLst/>
          </a:prstGeom>
          <a:solidFill>
            <a:srgbClr val="7A3E9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228600" y="6583680"/>
            <a:ext cx="1280160" cy="256032"/>
          </a:xfrm>
          <a:prstGeom prst="rect">
            <a:avLst/>
          </a:prstGeom>
          <a:noFill/>
        </p:spPr>
        <p:txBody>
          <a:bodyPr wrap="square" anchor="t">
            <a:spAutoFit/>
          </a:bodyPr>
          <a:lstStyle/>
          <a:p>
            <a:pPr algn="l">
              <a:spcAft>
                <a:spcPts val="400"/>
              </a:spcAft>
            </a:pPr>
            <a:r>
              <a:rPr sz="1000" b="0" i="0">
                <a:solidFill>
                  <a:srgbClr val="6B2D8B"/>
                </a:solidFill>
                <a:latin typeface="Calibri"/>
              </a:rPr>
              <a:t>activity</a:t>
            </a:r>
          </a:p>
        </p:txBody>
      </p:sp>
      <p:sp>
        <p:nvSpPr>
          <p:cNvPr id="9" name="TextBox 8"/>
          <p:cNvSpPr txBox="1"/>
          <p:nvPr/>
        </p:nvSpPr>
        <p:spPr>
          <a:xfrm>
            <a:off x="1554480" y="6583680"/>
            <a:ext cx="6035040" cy="256032"/>
          </a:xfrm>
          <a:prstGeom prst="rect">
            <a:avLst/>
          </a:prstGeom>
          <a:noFill/>
        </p:spPr>
        <p:txBody>
          <a:bodyPr wrap="square" anchor="t">
            <a:spAutoFit/>
          </a:bodyPr>
          <a:lstStyle/>
          <a:p>
            <a:pPr algn="ctr">
              <a:spcAft>
                <a:spcPts val="400"/>
              </a:spcAft>
            </a:pPr>
            <a:r>
              <a:rPr sz="900" b="0" i="0">
                <a:solidFill>
                  <a:srgbClr val="5A5A5A"/>
                </a:solidFill>
                <a:latin typeface="Calibri"/>
              </a:rPr>
              <a:t>Original course © Boardworks Ltd 2009. Reconstructed interactive resource.</a:t>
            </a:r>
          </a:p>
        </p:txBody>
      </p:sp>
      <p:pic>
        <p:nvPicPr>
          <p:cNvPr id="10" name="Picture 9" descr="ap_graph_5.png"/>
          <p:cNvPicPr>
            <a:picLocks noChangeAspect="1"/>
          </p:cNvPicPr>
          <p:nvPr/>
        </p:nvPicPr>
        <p:blipFill>
          <a:blip r:embed="rId2"/>
          <a:stretch>
            <a:fillRect/>
          </a:stretch>
        </p:blipFill>
        <p:spPr>
          <a:xfrm>
            <a:off x="228600" y="914400"/>
            <a:ext cx="5029200" cy="3291569"/>
          </a:xfrm>
          <a:prstGeom prst="rect">
            <a:avLst/>
          </a:prstGeom>
        </p:spPr>
      </p:pic>
      <p:sp>
        <p:nvSpPr>
          <p:cNvPr id="11" name="Rounded Rectangle 10"/>
          <p:cNvSpPr/>
          <p:nvPr/>
        </p:nvSpPr>
        <p:spPr>
          <a:xfrm>
            <a:off x="5394960" y="1097280"/>
            <a:ext cx="3383280" cy="4023360"/>
          </a:xfrm>
          <a:prstGeom prst="roundRect">
            <a:avLst>
              <a:gd name="adj" fmla="val 15000"/>
            </a:avLst>
          </a:prstGeom>
          <a:solidFill>
            <a:srgbClr val="FFF6B0"/>
          </a:solidFill>
          <a:ln w="15875">
            <a:solidFill>
              <a:srgbClr val="C5B43A"/>
            </a:solidFill>
          </a:ln>
        </p:spPr>
        <p:style>
          <a:lnRef idx="1">
            <a:schemeClr val="accent1"/>
          </a:lnRef>
          <a:fillRef idx="3">
            <a:schemeClr val="accent1"/>
          </a:fillRef>
          <a:effectRef idx="2">
            <a:schemeClr val="accent1"/>
          </a:effectRef>
          <a:fontRef idx="minor">
            <a:schemeClr val="lt1"/>
          </a:fontRef>
        </p:style>
        <p:txBody>
          <a:bodyPr rtlCol="0" anchor="t" wrap="square" lIns="109728" rIns="109728" tIns="73152" bIns="73152"/>
          <a:lstStyle/>
          <a:p>
            <a:pPr algn="l">
              <a:spcBef>
                <a:spcPts val="0"/>
              </a:spcBef>
              <a:spcAft>
                <a:spcPts val="200"/>
              </a:spcAft>
            </a:pPr>
            <a:r>
              <a:rPr sz="1500" b="0" i="0">
                <a:solidFill>
                  <a:srgbClr val="1A2F5A"/>
                </a:solidFill>
                <a:latin typeface="Calibri"/>
              </a:rPr>
              <a:t>5  Return to resting potential</a:t>
            </a:r>
          </a:p>
          <a:p>
            <a:pPr algn="l">
              <a:spcAft>
                <a:spcPts val="200"/>
              </a:spcAft>
            </a:pPr>
            <a:r>
              <a:rPr sz="1500" b="0" i="0">
                <a:solidFill>
                  <a:srgbClr val="1A2F5A"/>
                </a:solidFill>
                <a:latin typeface="Calibri"/>
              </a:rPr>
              <a:t/>
            </a:r>
          </a:p>
          <a:p>
            <a:pPr algn="l">
              <a:spcAft>
                <a:spcPts val="200"/>
              </a:spcAft>
            </a:pPr>
            <a:r>
              <a:rPr sz="1500" b="0" i="0">
                <a:solidFill>
                  <a:srgbClr val="1A2F5A"/>
                </a:solidFill>
                <a:latin typeface="Calibri"/>
              </a:rPr>
              <a:t>Ion channels reset. The pump restores Na⁺ and K⁺ concentrations. The axon is ready for another impulse once the refractory period ends.</a:t>
            </a:r>
          </a:p>
        </p:txBody>
      </p:sp>
      <p:sp>
        <p:nvSpPr>
          <p:cNvPr id="12" name="Rounded Rectangle 11">
            <a:hlinkClick r:id="rId3" action="ppaction://hlinksldjump"/>
          </p:cNvPr>
          <p:cNvSpPr/>
          <p:nvPr/>
        </p:nvSpPr>
        <p:spPr>
          <a:xfrm>
            <a:off x="5943600" y="5349240"/>
            <a:ext cx="2194560" cy="365760"/>
          </a:xfrm>
          <a:prstGeom prst="roundRect">
            <a:avLst>
              <a:gd name="adj" fmla="val 15000"/>
            </a:avLst>
          </a:prstGeom>
          <a:solidFill>
            <a:srgbClr val="2E9E4F"/>
          </a:solidFill>
          <a:ln w="12700">
            <a:solidFill>
              <a:srgbClr val="2E9E4F"/>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spcBef>
                <a:spcPts val="0"/>
              </a:spcBef>
              <a:spcAft>
                <a:spcPts val="200"/>
              </a:spcAft>
            </a:pPr>
            <a:r>
              <a:rPr sz="1400" b="1" i="0">
                <a:solidFill>
                  <a:srgbClr val="FFFFFF"/>
                </a:solidFill>
                <a:latin typeface="Calibri"/>
              </a:rPr>
              <a:t>Back to graph</a:t>
            </a:r>
          </a:p>
        </p:txBody>
      </p:sp>
    </p:spTree>
  </p:cSld>
  <p:clrMapOvr>
    <a:masterClrMapping/>
  </p:clrMapOvr>
</p:sld>
</file>

<file path=ppt/slides/slide4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9144000" cy="658368"/>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640080"/>
            <a:ext cx="9144000" cy="54864"/>
          </a:xfrm>
          <a:prstGeom prst="rect">
            <a:avLst/>
          </a:pr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256032" y="91440"/>
            <a:ext cx="7498079" cy="502920"/>
          </a:xfrm>
          <a:prstGeom prst="rect">
            <a:avLst/>
          </a:prstGeom>
          <a:noFill/>
        </p:spPr>
        <p:txBody>
          <a:bodyPr wrap="square" anchor="t">
            <a:spAutoFit/>
          </a:bodyPr>
          <a:lstStyle/>
          <a:p>
            <a:pPr algn="l">
              <a:spcAft>
                <a:spcPts val="400"/>
              </a:spcAft>
            </a:pPr>
            <a:r>
              <a:rPr sz="2600" b="1" i="0">
                <a:solidFill>
                  <a:srgbClr val="2E9E4F"/>
                </a:solidFill>
                <a:latin typeface="Calibri"/>
              </a:rPr>
              <a:t>How does the axon change?</a:t>
            </a:r>
          </a:p>
        </p:txBody>
      </p:sp>
      <p:sp>
        <p:nvSpPr>
          <p:cNvPr id="5" name="Rounded Rectangle 4"/>
          <p:cNvSpPr/>
          <p:nvPr/>
        </p:nvSpPr>
        <p:spPr>
          <a:xfrm>
            <a:off x="7452360" y="109728"/>
            <a:ext cx="1536192" cy="420624"/>
          </a:xfrm>
          <a:prstGeom prst="roundRect">
            <a:avLst>
              <a:gd name="adj" fmla="val 15000"/>
            </a:avLst>
          </a:prstGeom>
          <a:solidFill>
            <a:srgbClr val="C8E6A0"/>
          </a:solidFill>
          <a:ln w="12700">
            <a:solidFill>
              <a:srgbClr val="1B7A3A"/>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spcBef>
                <a:spcPts val="0"/>
              </a:spcBef>
              <a:spcAft>
                <a:spcPts val="200"/>
              </a:spcAft>
            </a:pPr>
            <a:r>
              <a:rPr sz="1100" b="1" i="0">
                <a:solidFill>
                  <a:srgbClr val="1B7A3A"/>
                </a:solidFill>
                <a:latin typeface="Calibri"/>
              </a:rPr>
              <a:t>A2 Biology</a:t>
            </a:r>
          </a:p>
        </p:txBody>
      </p:sp>
      <p:sp>
        <p:nvSpPr>
          <p:cNvPr id="6" name="Rectangle 5"/>
          <p:cNvSpPr/>
          <p:nvPr/>
        </p:nvSpPr>
        <p:spPr>
          <a:xfrm>
            <a:off x="0" y="0"/>
            <a:ext cx="73152" cy="6858000"/>
          </a:xfrm>
          <a:prstGeom prst="rect">
            <a:avLst/>
          </a:prstGeom>
          <a:solidFill>
            <a:srgbClr val="6B2D8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3152" y="6565392"/>
            <a:ext cx="9070848" cy="36576"/>
          </a:xfrm>
          <a:prstGeom prst="rect">
            <a:avLst/>
          </a:prstGeom>
          <a:solidFill>
            <a:srgbClr val="7A3E9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228600" y="6583680"/>
            <a:ext cx="1280160" cy="256032"/>
          </a:xfrm>
          <a:prstGeom prst="rect">
            <a:avLst/>
          </a:prstGeom>
          <a:noFill/>
        </p:spPr>
        <p:txBody>
          <a:bodyPr wrap="square" anchor="t">
            <a:spAutoFit/>
          </a:bodyPr>
          <a:lstStyle/>
          <a:p>
            <a:pPr algn="l">
              <a:spcAft>
                <a:spcPts val="400"/>
              </a:spcAft>
            </a:pPr>
            <a:r>
              <a:rPr sz="1000" b="0" i="0">
                <a:solidFill>
                  <a:srgbClr val="6B2D8B"/>
                </a:solidFill>
                <a:latin typeface="Calibri"/>
              </a:rPr>
              <a:t>16 of 29</a:t>
            </a:r>
          </a:p>
        </p:txBody>
      </p:sp>
      <p:sp>
        <p:nvSpPr>
          <p:cNvPr id="9" name="TextBox 8"/>
          <p:cNvSpPr txBox="1"/>
          <p:nvPr/>
        </p:nvSpPr>
        <p:spPr>
          <a:xfrm>
            <a:off x="1554480" y="6583680"/>
            <a:ext cx="6035040" cy="256032"/>
          </a:xfrm>
          <a:prstGeom prst="rect">
            <a:avLst/>
          </a:prstGeom>
          <a:noFill/>
        </p:spPr>
        <p:txBody>
          <a:bodyPr wrap="square" anchor="t">
            <a:spAutoFit/>
          </a:bodyPr>
          <a:lstStyle/>
          <a:p>
            <a:pPr algn="ctr">
              <a:spcAft>
                <a:spcPts val="400"/>
              </a:spcAft>
            </a:pPr>
            <a:r>
              <a:rPr sz="900" b="0" i="0">
                <a:solidFill>
                  <a:srgbClr val="5A5A5A"/>
                </a:solidFill>
                <a:latin typeface="Calibri"/>
              </a:rPr>
              <a:t>Original course © Boardworks Ltd 2009. Reconstructed interactive resource.</a:t>
            </a:r>
          </a:p>
        </p:txBody>
      </p:sp>
      <p:sp>
        <p:nvSpPr>
          <p:cNvPr id="10" name="Oval 9">
            <a:hlinkClick r:id="rId4" action="ppaction://hlinksldjump"/>
          </p:cNvPr>
          <p:cNvSpPr/>
          <p:nvPr/>
        </p:nvSpPr>
        <p:spPr>
          <a:xfrm>
            <a:off x="146304" y="5760720"/>
            <a:ext cx="384048" cy="384048"/>
          </a:xfrm>
          <a:prstGeom prst="ellipse">
            <a:avLst/>
          </a:prstGeom>
          <a:solidFill>
            <a:srgbClr val="FFFFFF"/>
          </a:solidFill>
          <a:ln w="22225">
            <a:solidFill>
              <a:srgbClr val="6B2D8B"/>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spcBef>
                <a:spcPts val="0"/>
              </a:spcBef>
              <a:spcAft>
                <a:spcPts val="200"/>
              </a:spcAft>
            </a:pPr>
            <a:r>
              <a:rPr sz="1400" b="1" i="0">
                <a:solidFill>
                  <a:srgbClr val="6B2D8B"/>
                </a:solidFill>
                <a:latin typeface="Calibri"/>
              </a:rPr>
              <a:t>◀</a:t>
            </a:r>
          </a:p>
        </p:txBody>
      </p:sp>
      <p:sp>
        <p:nvSpPr>
          <p:cNvPr id="11" name="Oval 10">
            <a:hlinkClick r:id="rId3" action="ppaction://hlinksldjump"/>
          </p:cNvPr>
          <p:cNvSpPr/>
          <p:nvPr/>
        </p:nvSpPr>
        <p:spPr>
          <a:xfrm>
            <a:off x="8613648" y="5760720"/>
            <a:ext cx="384048" cy="384048"/>
          </a:xfrm>
          <a:prstGeom prst="ellipse">
            <a:avLst/>
          </a:prstGeom>
          <a:solidFill>
            <a:srgbClr val="6B2D8B"/>
          </a:solidFill>
          <a:ln w="12700">
            <a:solidFill>
              <a:srgbClr val="6B2D8B"/>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spcBef>
                <a:spcPts val="0"/>
              </a:spcBef>
              <a:spcAft>
                <a:spcPts val="200"/>
              </a:spcAft>
            </a:pPr>
            <a:r>
              <a:rPr sz="1400" b="1" i="0">
                <a:solidFill>
                  <a:srgbClr val="FFFFFF"/>
                </a:solidFill>
                <a:latin typeface="Calibri"/>
              </a:rPr>
              <a:t>▶</a:t>
            </a:r>
          </a:p>
        </p:txBody>
      </p:sp>
      <p:sp>
        <p:nvSpPr>
          <p:cNvPr id="12" name="Rounded Rectangle 11"/>
          <p:cNvSpPr/>
          <p:nvPr/>
        </p:nvSpPr>
        <p:spPr>
          <a:xfrm>
            <a:off x="1188720" y="1463040"/>
            <a:ext cx="6766560" cy="3108960"/>
          </a:xfrm>
          <a:prstGeom prst="roundRect">
            <a:avLst>
              <a:gd name="adj" fmla="val 15000"/>
            </a:avLst>
          </a:prstGeom>
          <a:solidFill>
            <a:srgbClr val="FFF6B0"/>
          </a:solidFill>
          <a:ln w="15875">
            <a:solidFill>
              <a:srgbClr val="C5B43A"/>
            </a:solidFill>
          </a:ln>
        </p:spPr>
        <p:style>
          <a:lnRef idx="1">
            <a:schemeClr val="accent1"/>
          </a:lnRef>
          <a:fillRef idx="3">
            <a:schemeClr val="accent1"/>
          </a:fillRef>
          <a:effectRef idx="2">
            <a:schemeClr val="accent1"/>
          </a:effectRef>
          <a:fontRef idx="minor">
            <a:schemeClr val="lt1"/>
          </a:fontRef>
        </p:style>
        <p:txBody>
          <a:bodyPr rtlCol="0" anchor="t" wrap="square" lIns="109728" rIns="109728" tIns="73152" bIns="73152"/>
          <a:lstStyle/>
          <a:p>
            <a:pPr algn="l">
              <a:spcBef>
                <a:spcPts val="0"/>
              </a:spcBef>
              <a:spcAft>
                <a:spcPts val="200"/>
              </a:spcAft>
            </a:pPr>
            <a:r>
              <a:rPr sz="1800" b="0" i="0">
                <a:solidFill>
                  <a:srgbClr val="1A2F5A"/>
                </a:solidFill>
                <a:latin typeface="Calibri"/>
              </a:rPr>
              <a:t>Changes within the axon are essential for the propagation of an action potential.</a:t>
            </a:r>
          </a:p>
          <a:p>
            <a:pPr algn="l">
              <a:spcAft>
                <a:spcPts val="200"/>
              </a:spcAft>
            </a:pPr>
            <a:r>
              <a:rPr sz="1800" b="0" i="0">
                <a:solidFill>
                  <a:srgbClr val="1A2F5A"/>
                </a:solidFill>
                <a:latin typeface="Calibri"/>
              </a:rPr>
              <a:t/>
            </a:r>
          </a:p>
          <a:p>
            <a:pPr algn="l">
              <a:spcAft>
                <a:spcPts val="200"/>
              </a:spcAft>
            </a:pPr>
            <a:r>
              <a:rPr sz="1800" b="0" i="0">
                <a:solidFill>
                  <a:srgbClr val="1A2F5A"/>
                </a:solidFill>
                <a:latin typeface="Calibri"/>
              </a:rPr>
              <a:t>Answer these questions about the properties of depolarisation, repolarisation and resting potential.</a:t>
            </a:r>
          </a:p>
          <a:p>
            <a:pPr algn="l">
              <a:spcAft>
                <a:spcPts val="200"/>
              </a:spcAft>
            </a:pPr>
            <a:r>
              <a:rPr sz="1800" b="0" i="0">
                <a:solidFill>
                  <a:srgbClr val="1A2F5A"/>
                </a:solidFill>
                <a:latin typeface="Calibri"/>
              </a:rPr>
              <a:t/>
            </a:r>
          </a:p>
          <a:p>
            <a:pPr algn="l">
              <a:spcAft>
                <a:spcPts val="200"/>
              </a:spcAft>
            </a:pPr>
            <a:r>
              <a:rPr sz="1800" b="0" i="0">
                <a:solidFill>
                  <a:srgbClr val="1A2F5A"/>
                </a:solidFill>
                <a:latin typeface="Calibri"/>
              </a:rPr>
              <a:t>Press start to begin.</a:t>
            </a:r>
          </a:p>
        </p:txBody>
      </p:sp>
      <p:sp>
        <p:nvSpPr>
          <p:cNvPr id="13" name="Rounded Rectangle 12">
            <a:hlinkClick r:id="rId3" action="ppaction://hlinksldjump"/>
          </p:cNvPr>
          <p:cNvSpPr/>
          <p:nvPr/>
        </p:nvSpPr>
        <p:spPr>
          <a:xfrm>
            <a:off x="3383280" y="4754880"/>
            <a:ext cx="2377440" cy="457200"/>
          </a:xfrm>
          <a:prstGeom prst="roundRect">
            <a:avLst>
              <a:gd name="adj" fmla="val 15000"/>
            </a:avLst>
          </a:prstGeom>
          <a:solidFill>
            <a:srgbClr val="EF6C00"/>
          </a:solidFill>
          <a:ln w="12700">
            <a:solidFill>
              <a:srgbClr val="EF6C00"/>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spcBef>
                <a:spcPts val="0"/>
              </a:spcBef>
              <a:spcAft>
                <a:spcPts val="200"/>
              </a:spcAft>
            </a:pPr>
            <a:r>
              <a:rPr sz="1800" b="1" i="0">
                <a:solidFill>
                  <a:srgbClr val="FFFFFF"/>
                </a:solidFill>
                <a:latin typeface="Calibri"/>
              </a:rPr>
              <a:t>start</a:t>
            </a:r>
          </a:p>
        </p:txBody>
      </p:sp>
    </p:spTree>
  </p:cSld>
  <p:clrMapOvr>
    <a:masterClrMapping/>
  </p:clrMapOvr>
</p:sld>
</file>

<file path=ppt/slides/slide4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9144000" cy="658368"/>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640080"/>
            <a:ext cx="9144000" cy="54864"/>
          </a:xfrm>
          <a:prstGeom prst="rect">
            <a:avLst/>
          </a:pr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256032" y="91440"/>
            <a:ext cx="7498079" cy="502920"/>
          </a:xfrm>
          <a:prstGeom prst="rect">
            <a:avLst/>
          </a:prstGeom>
          <a:noFill/>
        </p:spPr>
        <p:txBody>
          <a:bodyPr wrap="square" anchor="t">
            <a:spAutoFit/>
          </a:bodyPr>
          <a:lstStyle/>
          <a:p>
            <a:pPr algn="l">
              <a:spcAft>
                <a:spcPts val="400"/>
              </a:spcAft>
            </a:pPr>
            <a:r>
              <a:rPr sz="2600" b="1" i="0">
                <a:solidFill>
                  <a:srgbClr val="2E9E4F"/>
                </a:solidFill>
                <a:latin typeface="Calibri"/>
              </a:rPr>
              <a:t>How does the axon change?</a:t>
            </a:r>
          </a:p>
        </p:txBody>
      </p:sp>
      <p:sp>
        <p:nvSpPr>
          <p:cNvPr id="5" name="Rounded Rectangle 4"/>
          <p:cNvSpPr/>
          <p:nvPr/>
        </p:nvSpPr>
        <p:spPr>
          <a:xfrm>
            <a:off x="7452360" y="109728"/>
            <a:ext cx="1536192" cy="420624"/>
          </a:xfrm>
          <a:prstGeom prst="roundRect">
            <a:avLst>
              <a:gd name="adj" fmla="val 15000"/>
            </a:avLst>
          </a:prstGeom>
          <a:solidFill>
            <a:srgbClr val="C8E6A0"/>
          </a:solidFill>
          <a:ln w="12700">
            <a:solidFill>
              <a:srgbClr val="1B7A3A"/>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spcBef>
                <a:spcPts val="0"/>
              </a:spcBef>
              <a:spcAft>
                <a:spcPts val="200"/>
              </a:spcAft>
            </a:pPr>
            <a:r>
              <a:rPr sz="1100" b="1" i="0">
                <a:solidFill>
                  <a:srgbClr val="1B7A3A"/>
                </a:solidFill>
                <a:latin typeface="Calibri"/>
              </a:rPr>
              <a:t>A2 Biology</a:t>
            </a:r>
          </a:p>
        </p:txBody>
      </p:sp>
      <p:sp>
        <p:nvSpPr>
          <p:cNvPr id="6" name="Rectangle 5"/>
          <p:cNvSpPr/>
          <p:nvPr/>
        </p:nvSpPr>
        <p:spPr>
          <a:xfrm>
            <a:off x="0" y="0"/>
            <a:ext cx="73152" cy="6858000"/>
          </a:xfrm>
          <a:prstGeom prst="rect">
            <a:avLst/>
          </a:prstGeom>
          <a:solidFill>
            <a:srgbClr val="6B2D8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3152" y="6565392"/>
            <a:ext cx="9070848" cy="36576"/>
          </a:xfrm>
          <a:prstGeom prst="rect">
            <a:avLst/>
          </a:prstGeom>
          <a:solidFill>
            <a:srgbClr val="7A3E9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228600" y="6583680"/>
            <a:ext cx="1280160" cy="256032"/>
          </a:xfrm>
          <a:prstGeom prst="rect">
            <a:avLst/>
          </a:prstGeom>
          <a:noFill/>
        </p:spPr>
        <p:txBody>
          <a:bodyPr wrap="square" anchor="t">
            <a:spAutoFit/>
          </a:bodyPr>
          <a:lstStyle/>
          <a:p>
            <a:pPr algn="l">
              <a:spcAft>
                <a:spcPts val="400"/>
              </a:spcAft>
            </a:pPr>
            <a:r>
              <a:rPr sz="1000" b="0" i="0">
                <a:solidFill>
                  <a:srgbClr val="6B2D8B"/>
                </a:solidFill>
                <a:latin typeface="Calibri"/>
              </a:rPr>
              <a:t>17 of 29</a:t>
            </a:r>
          </a:p>
        </p:txBody>
      </p:sp>
      <p:sp>
        <p:nvSpPr>
          <p:cNvPr id="9" name="TextBox 8"/>
          <p:cNvSpPr txBox="1"/>
          <p:nvPr/>
        </p:nvSpPr>
        <p:spPr>
          <a:xfrm>
            <a:off x="1554480" y="6583680"/>
            <a:ext cx="6035040" cy="256032"/>
          </a:xfrm>
          <a:prstGeom prst="rect">
            <a:avLst/>
          </a:prstGeom>
          <a:noFill/>
        </p:spPr>
        <p:txBody>
          <a:bodyPr wrap="square" anchor="t">
            <a:spAutoFit/>
          </a:bodyPr>
          <a:lstStyle/>
          <a:p>
            <a:pPr algn="ctr">
              <a:spcAft>
                <a:spcPts val="400"/>
              </a:spcAft>
            </a:pPr>
            <a:r>
              <a:rPr sz="900" b="0" i="0">
                <a:solidFill>
                  <a:srgbClr val="5A5A5A"/>
                </a:solidFill>
                <a:latin typeface="Calibri"/>
              </a:rPr>
              <a:t>Original course © Boardworks Ltd 2009. Reconstructed interactive resource.</a:t>
            </a:r>
          </a:p>
        </p:txBody>
      </p:sp>
      <p:sp>
        <p:nvSpPr>
          <p:cNvPr id="10" name="Oval 9">
            <a:hlinkClick r:id="rId7" action="ppaction://hlinksldjump"/>
          </p:cNvPr>
          <p:cNvSpPr/>
          <p:nvPr/>
        </p:nvSpPr>
        <p:spPr>
          <a:xfrm>
            <a:off x="146304" y="5760720"/>
            <a:ext cx="384048" cy="384048"/>
          </a:xfrm>
          <a:prstGeom prst="ellipse">
            <a:avLst/>
          </a:prstGeom>
          <a:solidFill>
            <a:srgbClr val="FFFFFF"/>
          </a:solidFill>
          <a:ln w="22225">
            <a:solidFill>
              <a:srgbClr val="6B2D8B"/>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spcBef>
                <a:spcPts val="0"/>
              </a:spcBef>
              <a:spcAft>
                <a:spcPts val="200"/>
              </a:spcAft>
            </a:pPr>
            <a:r>
              <a:rPr sz="1400" b="1" i="0">
                <a:solidFill>
                  <a:srgbClr val="6B2D8B"/>
                </a:solidFill>
                <a:latin typeface="Calibri"/>
              </a:rPr>
              <a:t>◀</a:t>
            </a:r>
          </a:p>
        </p:txBody>
      </p:sp>
      <p:sp>
        <p:nvSpPr>
          <p:cNvPr id="11" name="Oval 10">
            <a:hlinkClick r:id="rId8" action="ppaction://hlinksldjump"/>
          </p:cNvPr>
          <p:cNvSpPr/>
          <p:nvPr/>
        </p:nvSpPr>
        <p:spPr>
          <a:xfrm>
            <a:off x="8613648" y="5760720"/>
            <a:ext cx="384048" cy="384048"/>
          </a:xfrm>
          <a:prstGeom prst="ellipse">
            <a:avLst/>
          </a:prstGeom>
          <a:solidFill>
            <a:srgbClr val="6B2D8B"/>
          </a:solidFill>
          <a:ln w="12700">
            <a:solidFill>
              <a:srgbClr val="6B2D8B"/>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spcBef>
                <a:spcPts val="0"/>
              </a:spcBef>
              <a:spcAft>
                <a:spcPts val="200"/>
              </a:spcAft>
            </a:pPr>
            <a:r>
              <a:rPr sz="1400" b="1" i="0">
                <a:solidFill>
                  <a:srgbClr val="FFFFFF"/>
                </a:solidFill>
                <a:latin typeface="Calibri"/>
              </a:rPr>
              <a:t>▶</a:t>
            </a:r>
          </a:p>
        </p:txBody>
      </p:sp>
      <p:sp>
        <p:nvSpPr>
          <p:cNvPr id="12" name="TextBox 11"/>
          <p:cNvSpPr txBox="1"/>
          <p:nvPr/>
        </p:nvSpPr>
        <p:spPr>
          <a:xfrm>
            <a:off x="365760" y="868680"/>
            <a:ext cx="8412480" cy="1051560"/>
          </a:xfrm>
          <a:prstGeom prst="rect">
            <a:avLst/>
          </a:prstGeom>
          <a:noFill/>
        </p:spPr>
        <p:txBody>
          <a:bodyPr wrap="square" anchor="t">
            <a:spAutoFit/>
          </a:bodyPr>
          <a:lstStyle/>
          <a:p>
            <a:pPr algn="l">
              <a:spcAft>
                <a:spcPts val="400"/>
              </a:spcAft>
            </a:pPr>
            <a:r>
              <a:rPr sz="2000" b="1" i="0">
                <a:solidFill>
                  <a:srgbClr val="1B3A6B"/>
                </a:solidFill>
                <a:latin typeface="Calibri"/>
              </a:rPr>
              <a:t>During depolarisation, which ions move where?</a:t>
            </a:r>
          </a:p>
        </p:txBody>
      </p:sp>
      <p:sp>
        <p:nvSpPr>
          <p:cNvPr id="13" name="Rounded Rectangle 12">
            <a:hlinkClick r:id="rId3" action="ppaction://hlinksldjump"/>
          </p:cNvPr>
          <p:cNvSpPr/>
          <p:nvPr/>
        </p:nvSpPr>
        <p:spPr>
          <a:xfrm>
            <a:off x="594360" y="2011680"/>
            <a:ext cx="7955279" cy="621792"/>
          </a:xfrm>
          <a:prstGeom prst="roundRect">
            <a:avLst>
              <a:gd name="adj" fmla="val 15000"/>
            </a:avLst>
          </a:prstGeom>
          <a:solidFill>
            <a:srgbClr val="E3F2FD"/>
          </a:solidFill>
          <a:ln w="12700">
            <a:solidFill>
              <a:srgbClr val="1B3A6B"/>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spcBef>
                <a:spcPts val="0"/>
              </a:spcBef>
              <a:spcAft>
                <a:spcPts val="200"/>
              </a:spcAft>
            </a:pPr>
            <a:r>
              <a:rPr sz="1500" b="1" i="0">
                <a:solidFill>
                  <a:srgbClr val="1B3A6B"/>
                </a:solidFill>
                <a:latin typeface="Calibri"/>
              </a:rPr>
              <a:t>A   Na⁺ ions move into the axon</a:t>
            </a:r>
          </a:p>
        </p:txBody>
      </p:sp>
      <p:sp>
        <p:nvSpPr>
          <p:cNvPr id="14" name="Rounded Rectangle 13">
            <a:hlinkClick r:id="rId4" action="ppaction://hlinksldjump"/>
          </p:cNvPr>
          <p:cNvSpPr/>
          <p:nvPr/>
        </p:nvSpPr>
        <p:spPr>
          <a:xfrm>
            <a:off x="594360" y="2761488"/>
            <a:ext cx="7955279" cy="621792"/>
          </a:xfrm>
          <a:prstGeom prst="roundRect">
            <a:avLst>
              <a:gd name="adj" fmla="val 15000"/>
            </a:avLst>
          </a:prstGeom>
          <a:solidFill>
            <a:srgbClr val="E3F2FD"/>
          </a:solidFill>
          <a:ln w="12700">
            <a:solidFill>
              <a:srgbClr val="1B3A6B"/>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spcBef>
                <a:spcPts val="0"/>
              </a:spcBef>
              <a:spcAft>
                <a:spcPts val="200"/>
              </a:spcAft>
            </a:pPr>
            <a:r>
              <a:rPr sz="1500" b="1" i="0">
                <a:solidFill>
                  <a:srgbClr val="1B3A6B"/>
                </a:solidFill>
                <a:latin typeface="Calibri"/>
              </a:rPr>
              <a:t>B   K⁺ ions move into the axon</a:t>
            </a:r>
          </a:p>
        </p:txBody>
      </p:sp>
      <p:sp>
        <p:nvSpPr>
          <p:cNvPr id="15" name="Rounded Rectangle 14">
            <a:hlinkClick r:id="rId5" action="ppaction://hlinksldjump"/>
          </p:cNvPr>
          <p:cNvSpPr/>
          <p:nvPr/>
        </p:nvSpPr>
        <p:spPr>
          <a:xfrm>
            <a:off x="594360" y="3511296"/>
            <a:ext cx="7955279" cy="621792"/>
          </a:xfrm>
          <a:prstGeom prst="roundRect">
            <a:avLst>
              <a:gd name="adj" fmla="val 15000"/>
            </a:avLst>
          </a:prstGeom>
          <a:solidFill>
            <a:srgbClr val="E3F2FD"/>
          </a:solidFill>
          <a:ln w="12700">
            <a:solidFill>
              <a:srgbClr val="1B3A6B"/>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spcBef>
                <a:spcPts val="0"/>
              </a:spcBef>
              <a:spcAft>
                <a:spcPts val="200"/>
              </a:spcAft>
            </a:pPr>
            <a:r>
              <a:rPr sz="1500" b="1" i="0">
                <a:solidFill>
                  <a:srgbClr val="1B3A6B"/>
                </a:solidFill>
                <a:latin typeface="Calibri"/>
              </a:rPr>
              <a:t>C   Na⁺ ions move out of the axon</a:t>
            </a:r>
          </a:p>
        </p:txBody>
      </p:sp>
      <p:sp>
        <p:nvSpPr>
          <p:cNvPr id="16" name="Rounded Rectangle 15">
            <a:hlinkClick r:id="rId6" action="ppaction://hlinksldjump"/>
          </p:cNvPr>
          <p:cNvSpPr/>
          <p:nvPr/>
        </p:nvSpPr>
        <p:spPr>
          <a:xfrm>
            <a:off x="594360" y="4261104"/>
            <a:ext cx="7955279" cy="621792"/>
          </a:xfrm>
          <a:prstGeom prst="roundRect">
            <a:avLst>
              <a:gd name="adj" fmla="val 15000"/>
            </a:avLst>
          </a:prstGeom>
          <a:solidFill>
            <a:srgbClr val="E3F2FD"/>
          </a:solidFill>
          <a:ln w="12700">
            <a:solidFill>
              <a:srgbClr val="1B3A6B"/>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spcBef>
                <a:spcPts val="0"/>
              </a:spcBef>
              <a:spcAft>
                <a:spcPts val="200"/>
              </a:spcAft>
            </a:pPr>
            <a:r>
              <a:rPr sz="1500" b="1" i="0">
                <a:solidFill>
                  <a:srgbClr val="1B3A6B"/>
                </a:solidFill>
                <a:latin typeface="Calibri"/>
              </a:rPr>
              <a:t>D   Organic anions leave the axon</a:t>
            </a:r>
          </a:p>
        </p:txBody>
      </p:sp>
    </p:spTree>
  </p:cSld>
  <p:clrMapOvr>
    <a:masterClrMapping/>
  </p:clrMapOvr>
</p:sld>
</file>

<file path=ppt/slides/slide45.xml><?xml version="1.0" encoding="utf-8"?>
<p:sld xmlns:a="http://schemas.openxmlformats.org/drawingml/2006/main" xmlns:p="http://schemas.openxmlformats.org/presentationml/2006/main" xmlns:r="http://schemas.openxmlformats.org/officeDocument/2006/relationships" show="0">
  <p:cSld>
    <p:spTree>
      <p:nvGrpSpPr>
        <p:cNvPr id="1" name=""/>
        <p:cNvGrpSpPr/>
        <p:nvPr/>
      </p:nvGrpSpPr>
      <p:grpSpPr/>
      <p:sp>
        <p:nvSpPr>
          <p:cNvPr id="2" name="Rectangle 1"/>
          <p:cNvSpPr/>
          <p:nvPr/>
        </p:nvSpPr>
        <p:spPr>
          <a:xfrm>
            <a:off x="0" y="0"/>
            <a:ext cx="9144000" cy="658368"/>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640080"/>
            <a:ext cx="9144000" cy="54864"/>
          </a:xfrm>
          <a:prstGeom prst="rect">
            <a:avLst/>
          </a:pr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256032" y="91440"/>
            <a:ext cx="7498079" cy="502920"/>
          </a:xfrm>
          <a:prstGeom prst="rect">
            <a:avLst/>
          </a:prstGeom>
          <a:noFill/>
        </p:spPr>
        <p:txBody>
          <a:bodyPr wrap="square" anchor="t">
            <a:spAutoFit/>
          </a:bodyPr>
          <a:lstStyle/>
          <a:p>
            <a:pPr algn="l">
              <a:spcAft>
                <a:spcPts val="400"/>
              </a:spcAft>
            </a:pPr>
            <a:r>
              <a:rPr sz="2600" b="1" i="0">
                <a:solidFill>
                  <a:srgbClr val="2E9E4F"/>
                </a:solidFill>
                <a:latin typeface="Calibri"/>
              </a:rPr>
              <a:t>How does the axon change?</a:t>
            </a:r>
          </a:p>
        </p:txBody>
      </p:sp>
      <p:sp>
        <p:nvSpPr>
          <p:cNvPr id="5" name="Rounded Rectangle 4"/>
          <p:cNvSpPr/>
          <p:nvPr/>
        </p:nvSpPr>
        <p:spPr>
          <a:xfrm>
            <a:off x="7452360" y="109728"/>
            <a:ext cx="1536192" cy="420624"/>
          </a:xfrm>
          <a:prstGeom prst="roundRect">
            <a:avLst>
              <a:gd name="adj" fmla="val 15000"/>
            </a:avLst>
          </a:prstGeom>
          <a:solidFill>
            <a:srgbClr val="C8E6A0"/>
          </a:solidFill>
          <a:ln w="12700">
            <a:solidFill>
              <a:srgbClr val="1B7A3A"/>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spcBef>
                <a:spcPts val="0"/>
              </a:spcBef>
              <a:spcAft>
                <a:spcPts val="200"/>
              </a:spcAft>
            </a:pPr>
            <a:r>
              <a:rPr sz="1100" b="1" i="0">
                <a:solidFill>
                  <a:srgbClr val="1B7A3A"/>
                </a:solidFill>
                <a:latin typeface="Calibri"/>
              </a:rPr>
              <a:t>A2 Biology</a:t>
            </a:r>
          </a:p>
        </p:txBody>
      </p:sp>
      <p:sp>
        <p:nvSpPr>
          <p:cNvPr id="6" name="Rectangle 5"/>
          <p:cNvSpPr/>
          <p:nvPr/>
        </p:nvSpPr>
        <p:spPr>
          <a:xfrm>
            <a:off x="0" y="0"/>
            <a:ext cx="73152" cy="6858000"/>
          </a:xfrm>
          <a:prstGeom prst="rect">
            <a:avLst/>
          </a:prstGeom>
          <a:solidFill>
            <a:srgbClr val="6B2D8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3152" y="6565392"/>
            <a:ext cx="9070848" cy="36576"/>
          </a:xfrm>
          <a:prstGeom prst="rect">
            <a:avLst/>
          </a:prstGeom>
          <a:solidFill>
            <a:srgbClr val="7A3E9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228600" y="6583680"/>
            <a:ext cx="1280160" cy="256032"/>
          </a:xfrm>
          <a:prstGeom prst="rect">
            <a:avLst/>
          </a:prstGeom>
          <a:noFill/>
        </p:spPr>
        <p:txBody>
          <a:bodyPr wrap="square" anchor="t">
            <a:spAutoFit/>
          </a:bodyPr>
          <a:lstStyle/>
          <a:p>
            <a:pPr algn="l">
              <a:spcAft>
                <a:spcPts val="400"/>
              </a:spcAft>
            </a:pPr>
            <a:r>
              <a:rPr sz="1000" b="0" i="0">
                <a:solidFill>
                  <a:srgbClr val="6B2D8B"/>
                </a:solidFill>
                <a:latin typeface="Calibri"/>
              </a:rPr>
              <a:t>activity</a:t>
            </a:r>
          </a:p>
        </p:txBody>
      </p:sp>
      <p:sp>
        <p:nvSpPr>
          <p:cNvPr id="9" name="TextBox 8"/>
          <p:cNvSpPr txBox="1"/>
          <p:nvPr/>
        </p:nvSpPr>
        <p:spPr>
          <a:xfrm>
            <a:off x="1554480" y="6583680"/>
            <a:ext cx="6035040" cy="256032"/>
          </a:xfrm>
          <a:prstGeom prst="rect">
            <a:avLst/>
          </a:prstGeom>
          <a:noFill/>
        </p:spPr>
        <p:txBody>
          <a:bodyPr wrap="square" anchor="t">
            <a:spAutoFit/>
          </a:bodyPr>
          <a:lstStyle/>
          <a:p>
            <a:pPr algn="ctr">
              <a:spcAft>
                <a:spcPts val="400"/>
              </a:spcAft>
            </a:pPr>
            <a:r>
              <a:rPr sz="900" b="0" i="0">
                <a:solidFill>
                  <a:srgbClr val="5A5A5A"/>
                </a:solidFill>
                <a:latin typeface="Calibri"/>
              </a:rPr>
              <a:t>Original course © Boardworks Ltd 2009. Reconstructed interactive resource.</a:t>
            </a:r>
          </a:p>
        </p:txBody>
      </p:sp>
      <p:sp>
        <p:nvSpPr>
          <p:cNvPr id="10" name="Rounded Rectangle 9"/>
          <p:cNvSpPr/>
          <p:nvPr/>
        </p:nvSpPr>
        <p:spPr>
          <a:xfrm>
            <a:off x="640080" y="1554480"/>
            <a:ext cx="7863840" cy="2560320"/>
          </a:xfrm>
          <a:prstGeom prst="roundRect">
            <a:avLst>
              <a:gd name="adj" fmla="val 15000"/>
            </a:avLst>
          </a:prstGeom>
          <a:solidFill>
            <a:srgbClr val="E8F5E9"/>
          </a:solidFill>
          <a:ln w="15875">
            <a:solidFill>
              <a:srgbClr val="1B7A3A"/>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spcBef>
                <a:spcPts val="0"/>
              </a:spcBef>
              <a:spcAft>
                <a:spcPts val="200"/>
              </a:spcAft>
            </a:pPr>
            <a:r>
              <a:rPr sz="1800" b="0" i="0">
                <a:solidFill>
                  <a:srgbClr val="1B3A6B"/>
                </a:solidFill>
                <a:latin typeface="Calibri"/>
              </a:rPr>
              <a:t>Correct.</a:t>
            </a:r>
          </a:p>
          <a:p>
            <a:pPr algn="ctr">
              <a:spcAft>
                <a:spcPts val="200"/>
              </a:spcAft>
            </a:pPr>
            <a:r>
              <a:rPr sz="1800" b="0" i="0">
                <a:solidFill>
                  <a:srgbClr val="1B3A6B"/>
                </a:solidFill>
                <a:latin typeface="Calibri"/>
              </a:rPr>
              <a:t/>
            </a:r>
          </a:p>
          <a:p>
            <a:pPr algn="ctr">
              <a:spcAft>
                <a:spcPts val="200"/>
              </a:spcAft>
            </a:pPr>
            <a:r>
              <a:rPr sz="1800" b="0" i="0">
                <a:solidFill>
                  <a:srgbClr val="1B3A6B"/>
                </a:solidFill>
                <a:latin typeface="Calibri"/>
              </a:rPr>
              <a:t>Voltage-gated sodium channels open and Na⁺ floods in, making the inside positive.</a:t>
            </a:r>
          </a:p>
        </p:txBody>
      </p:sp>
      <p:sp>
        <p:nvSpPr>
          <p:cNvPr id="11" name="Rounded Rectangle 10">
            <a:hlinkClick r:id="rId2" action="ppaction://hlinksldjump"/>
          </p:cNvPr>
          <p:cNvSpPr/>
          <p:nvPr/>
        </p:nvSpPr>
        <p:spPr>
          <a:xfrm>
            <a:off x="3200400" y="4572000"/>
            <a:ext cx="2743200" cy="411480"/>
          </a:xfrm>
          <a:prstGeom prst="roundRect">
            <a:avLst>
              <a:gd name="adj" fmla="val 15000"/>
            </a:avLst>
          </a:prstGeom>
          <a:solidFill>
            <a:srgbClr val="2E9E4F"/>
          </a:solidFill>
          <a:ln w="12700">
            <a:solidFill>
              <a:srgbClr val="2E9E4F"/>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spcBef>
                <a:spcPts val="0"/>
              </a:spcBef>
              <a:spcAft>
                <a:spcPts val="200"/>
              </a:spcAft>
            </a:pPr>
            <a:r>
              <a:rPr sz="1400" b="1" i="0">
                <a:solidFill>
                  <a:srgbClr val="FFFFFF"/>
                </a:solidFill>
                <a:latin typeface="Calibri"/>
              </a:rPr>
              <a:t>Continue</a:t>
            </a:r>
          </a:p>
        </p:txBody>
      </p:sp>
    </p:spTree>
  </p:cSld>
  <p:clrMapOvr>
    <a:masterClrMapping/>
  </p:clrMapOvr>
</p:sld>
</file>

<file path=ppt/slides/slide46.xml><?xml version="1.0" encoding="utf-8"?>
<p:sld xmlns:a="http://schemas.openxmlformats.org/drawingml/2006/main" xmlns:p="http://schemas.openxmlformats.org/presentationml/2006/main" xmlns:r="http://schemas.openxmlformats.org/officeDocument/2006/relationships" show="0">
  <p:cSld>
    <p:spTree>
      <p:nvGrpSpPr>
        <p:cNvPr id="1" name=""/>
        <p:cNvGrpSpPr/>
        <p:nvPr/>
      </p:nvGrpSpPr>
      <p:grpSpPr/>
      <p:sp>
        <p:nvSpPr>
          <p:cNvPr id="2" name="Rectangle 1"/>
          <p:cNvSpPr/>
          <p:nvPr/>
        </p:nvSpPr>
        <p:spPr>
          <a:xfrm>
            <a:off x="0" y="0"/>
            <a:ext cx="9144000" cy="658368"/>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640080"/>
            <a:ext cx="9144000" cy="54864"/>
          </a:xfrm>
          <a:prstGeom prst="rect">
            <a:avLst/>
          </a:pr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256032" y="91440"/>
            <a:ext cx="7498079" cy="502920"/>
          </a:xfrm>
          <a:prstGeom prst="rect">
            <a:avLst/>
          </a:prstGeom>
          <a:noFill/>
        </p:spPr>
        <p:txBody>
          <a:bodyPr wrap="square" anchor="t">
            <a:spAutoFit/>
          </a:bodyPr>
          <a:lstStyle/>
          <a:p>
            <a:pPr algn="l">
              <a:spcAft>
                <a:spcPts val="400"/>
              </a:spcAft>
            </a:pPr>
            <a:r>
              <a:rPr sz="2600" b="1" i="0">
                <a:solidFill>
                  <a:srgbClr val="2E9E4F"/>
                </a:solidFill>
                <a:latin typeface="Calibri"/>
              </a:rPr>
              <a:t>How does the axon change?</a:t>
            </a:r>
          </a:p>
        </p:txBody>
      </p:sp>
      <p:sp>
        <p:nvSpPr>
          <p:cNvPr id="5" name="Rounded Rectangle 4"/>
          <p:cNvSpPr/>
          <p:nvPr/>
        </p:nvSpPr>
        <p:spPr>
          <a:xfrm>
            <a:off x="7452360" y="109728"/>
            <a:ext cx="1536192" cy="420624"/>
          </a:xfrm>
          <a:prstGeom prst="roundRect">
            <a:avLst>
              <a:gd name="adj" fmla="val 15000"/>
            </a:avLst>
          </a:prstGeom>
          <a:solidFill>
            <a:srgbClr val="C8E6A0"/>
          </a:solidFill>
          <a:ln w="12700">
            <a:solidFill>
              <a:srgbClr val="1B7A3A"/>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spcBef>
                <a:spcPts val="0"/>
              </a:spcBef>
              <a:spcAft>
                <a:spcPts val="200"/>
              </a:spcAft>
            </a:pPr>
            <a:r>
              <a:rPr sz="1100" b="1" i="0">
                <a:solidFill>
                  <a:srgbClr val="1B7A3A"/>
                </a:solidFill>
                <a:latin typeface="Calibri"/>
              </a:rPr>
              <a:t>A2 Biology</a:t>
            </a:r>
          </a:p>
        </p:txBody>
      </p:sp>
      <p:sp>
        <p:nvSpPr>
          <p:cNvPr id="6" name="Rectangle 5"/>
          <p:cNvSpPr/>
          <p:nvPr/>
        </p:nvSpPr>
        <p:spPr>
          <a:xfrm>
            <a:off x="0" y="0"/>
            <a:ext cx="73152" cy="6858000"/>
          </a:xfrm>
          <a:prstGeom prst="rect">
            <a:avLst/>
          </a:prstGeom>
          <a:solidFill>
            <a:srgbClr val="6B2D8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3152" y="6565392"/>
            <a:ext cx="9070848" cy="36576"/>
          </a:xfrm>
          <a:prstGeom prst="rect">
            <a:avLst/>
          </a:prstGeom>
          <a:solidFill>
            <a:srgbClr val="7A3E9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228600" y="6583680"/>
            <a:ext cx="1280160" cy="256032"/>
          </a:xfrm>
          <a:prstGeom prst="rect">
            <a:avLst/>
          </a:prstGeom>
          <a:noFill/>
        </p:spPr>
        <p:txBody>
          <a:bodyPr wrap="square" anchor="t">
            <a:spAutoFit/>
          </a:bodyPr>
          <a:lstStyle/>
          <a:p>
            <a:pPr algn="l">
              <a:spcAft>
                <a:spcPts val="400"/>
              </a:spcAft>
            </a:pPr>
            <a:r>
              <a:rPr sz="1000" b="0" i="0">
                <a:solidFill>
                  <a:srgbClr val="6B2D8B"/>
                </a:solidFill>
                <a:latin typeface="Calibri"/>
              </a:rPr>
              <a:t>activity</a:t>
            </a:r>
          </a:p>
        </p:txBody>
      </p:sp>
      <p:sp>
        <p:nvSpPr>
          <p:cNvPr id="9" name="TextBox 8"/>
          <p:cNvSpPr txBox="1"/>
          <p:nvPr/>
        </p:nvSpPr>
        <p:spPr>
          <a:xfrm>
            <a:off x="1554480" y="6583680"/>
            <a:ext cx="6035040" cy="256032"/>
          </a:xfrm>
          <a:prstGeom prst="rect">
            <a:avLst/>
          </a:prstGeom>
          <a:noFill/>
        </p:spPr>
        <p:txBody>
          <a:bodyPr wrap="square" anchor="t">
            <a:spAutoFit/>
          </a:bodyPr>
          <a:lstStyle/>
          <a:p>
            <a:pPr algn="ctr">
              <a:spcAft>
                <a:spcPts val="400"/>
              </a:spcAft>
            </a:pPr>
            <a:r>
              <a:rPr sz="900" b="0" i="0">
                <a:solidFill>
                  <a:srgbClr val="5A5A5A"/>
                </a:solidFill>
                <a:latin typeface="Calibri"/>
              </a:rPr>
              <a:t>Original course © Boardworks Ltd 2009. Reconstructed interactive resource.</a:t>
            </a:r>
          </a:p>
        </p:txBody>
      </p:sp>
      <p:sp>
        <p:nvSpPr>
          <p:cNvPr id="10" name="Rounded Rectangle 9"/>
          <p:cNvSpPr/>
          <p:nvPr/>
        </p:nvSpPr>
        <p:spPr>
          <a:xfrm>
            <a:off x="640080" y="1554480"/>
            <a:ext cx="7863840" cy="2286000"/>
          </a:xfrm>
          <a:prstGeom prst="roundRect">
            <a:avLst>
              <a:gd name="adj" fmla="val 15000"/>
            </a:avLst>
          </a:prstGeom>
          <a:solidFill>
            <a:srgbClr val="FFEBEE"/>
          </a:solidFill>
          <a:ln w="15875">
            <a:solidFill>
              <a:srgbClr val="C62828"/>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spcBef>
                <a:spcPts val="0"/>
              </a:spcBef>
              <a:spcAft>
                <a:spcPts val="200"/>
              </a:spcAft>
            </a:pPr>
            <a:r>
              <a:rPr sz="1800" b="0" i="0">
                <a:solidFill>
                  <a:srgbClr val="1B3A6B"/>
                </a:solidFill>
                <a:latin typeface="Calibri"/>
              </a:rPr>
              <a:t>Not quite.</a:t>
            </a:r>
          </a:p>
          <a:p>
            <a:pPr algn="ctr">
              <a:spcAft>
                <a:spcPts val="200"/>
              </a:spcAft>
            </a:pPr>
            <a:r>
              <a:rPr sz="1800" b="0" i="0">
                <a:solidFill>
                  <a:srgbClr val="1B3A6B"/>
                </a:solidFill>
                <a:latin typeface="Calibri"/>
              </a:rPr>
              <a:t/>
            </a:r>
          </a:p>
          <a:p>
            <a:pPr algn="ctr">
              <a:spcAft>
                <a:spcPts val="200"/>
              </a:spcAft>
            </a:pPr>
            <a:r>
              <a:rPr sz="1800" b="0" i="0">
                <a:solidFill>
                  <a:srgbClr val="1B3A6B"/>
                </a:solidFill>
                <a:latin typeface="Calibri"/>
              </a:rPr>
              <a:t>Think about which channels open first when threshold is reached.</a:t>
            </a:r>
          </a:p>
        </p:txBody>
      </p:sp>
      <p:sp>
        <p:nvSpPr>
          <p:cNvPr id="11" name="Rounded Rectangle 10">
            <a:hlinkClick r:id="rId2" action="ppaction://hlinksldjump"/>
          </p:cNvPr>
          <p:cNvSpPr/>
          <p:nvPr/>
        </p:nvSpPr>
        <p:spPr>
          <a:xfrm>
            <a:off x="3200400" y="4389120"/>
            <a:ext cx="2743200" cy="411480"/>
          </a:xfrm>
          <a:prstGeom prst="roundRect">
            <a:avLst>
              <a:gd name="adj" fmla="val 15000"/>
            </a:avLst>
          </a:prstGeom>
          <a:solidFill>
            <a:srgbClr val="EF6C00"/>
          </a:solidFill>
          <a:ln w="12700">
            <a:solidFill>
              <a:srgbClr val="EF6C00"/>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spcBef>
                <a:spcPts val="0"/>
              </a:spcBef>
              <a:spcAft>
                <a:spcPts val="200"/>
              </a:spcAft>
            </a:pPr>
            <a:r>
              <a:rPr sz="1400" b="1" i="0">
                <a:solidFill>
                  <a:srgbClr val="FFFFFF"/>
                </a:solidFill>
                <a:latin typeface="Calibri"/>
              </a:rPr>
              <a:t>Try again</a:t>
            </a:r>
          </a:p>
        </p:txBody>
      </p:sp>
    </p:spTree>
  </p:cSld>
  <p:clrMapOvr>
    <a:masterClrMapping/>
  </p:clrMapOvr>
</p:sld>
</file>

<file path=ppt/slides/slide47.xml><?xml version="1.0" encoding="utf-8"?>
<p:sld xmlns:a="http://schemas.openxmlformats.org/drawingml/2006/main" xmlns:p="http://schemas.openxmlformats.org/presentationml/2006/main" xmlns:r="http://schemas.openxmlformats.org/officeDocument/2006/relationships" show="0">
  <p:cSld>
    <p:spTree>
      <p:nvGrpSpPr>
        <p:cNvPr id="1" name=""/>
        <p:cNvGrpSpPr/>
        <p:nvPr/>
      </p:nvGrpSpPr>
      <p:grpSpPr/>
      <p:sp>
        <p:nvSpPr>
          <p:cNvPr id="2" name="Rectangle 1"/>
          <p:cNvSpPr/>
          <p:nvPr/>
        </p:nvSpPr>
        <p:spPr>
          <a:xfrm>
            <a:off x="0" y="0"/>
            <a:ext cx="9144000" cy="658368"/>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640080"/>
            <a:ext cx="9144000" cy="54864"/>
          </a:xfrm>
          <a:prstGeom prst="rect">
            <a:avLst/>
          </a:pr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256032" y="91440"/>
            <a:ext cx="7498079" cy="502920"/>
          </a:xfrm>
          <a:prstGeom prst="rect">
            <a:avLst/>
          </a:prstGeom>
          <a:noFill/>
        </p:spPr>
        <p:txBody>
          <a:bodyPr wrap="square" anchor="t">
            <a:spAutoFit/>
          </a:bodyPr>
          <a:lstStyle/>
          <a:p>
            <a:pPr algn="l">
              <a:spcAft>
                <a:spcPts val="400"/>
              </a:spcAft>
            </a:pPr>
            <a:r>
              <a:rPr sz="2600" b="1" i="0">
                <a:solidFill>
                  <a:srgbClr val="2E9E4F"/>
                </a:solidFill>
                <a:latin typeface="Calibri"/>
              </a:rPr>
              <a:t>How does the axon change?</a:t>
            </a:r>
          </a:p>
        </p:txBody>
      </p:sp>
      <p:sp>
        <p:nvSpPr>
          <p:cNvPr id="5" name="Rounded Rectangle 4"/>
          <p:cNvSpPr/>
          <p:nvPr/>
        </p:nvSpPr>
        <p:spPr>
          <a:xfrm>
            <a:off x="7452360" y="109728"/>
            <a:ext cx="1536192" cy="420624"/>
          </a:xfrm>
          <a:prstGeom prst="roundRect">
            <a:avLst>
              <a:gd name="adj" fmla="val 15000"/>
            </a:avLst>
          </a:prstGeom>
          <a:solidFill>
            <a:srgbClr val="C8E6A0"/>
          </a:solidFill>
          <a:ln w="12700">
            <a:solidFill>
              <a:srgbClr val="1B7A3A"/>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spcBef>
                <a:spcPts val="0"/>
              </a:spcBef>
              <a:spcAft>
                <a:spcPts val="200"/>
              </a:spcAft>
            </a:pPr>
            <a:r>
              <a:rPr sz="1100" b="1" i="0">
                <a:solidFill>
                  <a:srgbClr val="1B7A3A"/>
                </a:solidFill>
                <a:latin typeface="Calibri"/>
              </a:rPr>
              <a:t>A2 Biology</a:t>
            </a:r>
          </a:p>
        </p:txBody>
      </p:sp>
      <p:sp>
        <p:nvSpPr>
          <p:cNvPr id="6" name="Rectangle 5"/>
          <p:cNvSpPr/>
          <p:nvPr/>
        </p:nvSpPr>
        <p:spPr>
          <a:xfrm>
            <a:off x="0" y="0"/>
            <a:ext cx="73152" cy="6858000"/>
          </a:xfrm>
          <a:prstGeom prst="rect">
            <a:avLst/>
          </a:prstGeom>
          <a:solidFill>
            <a:srgbClr val="6B2D8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3152" y="6565392"/>
            <a:ext cx="9070848" cy="36576"/>
          </a:xfrm>
          <a:prstGeom prst="rect">
            <a:avLst/>
          </a:prstGeom>
          <a:solidFill>
            <a:srgbClr val="7A3E9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228600" y="6583680"/>
            <a:ext cx="1280160" cy="256032"/>
          </a:xfrm>
          <a:prstGeom prst="rect">
            <a:avLst/>
          </a:prstGeom>
          <a:noFill/>
        </p:spPr>
        <p:txBody>
          <a:bodyPr wrap="square" anchor="t">
            <a:spAutoFit/>
          </a:bodyPr>
          <a:lstStyle/>
          <a:p>
            <a:pPr algn="l">
              <a:spcAft>
                <a:spcPts val="400"/>
              </a:spcAft>
            </a:pPr>
            <a:r>
              <a:rPr sz="1000" b="0" i="0">
                <a:solidFill>
                  <a:srgbClr val="6B2D8B"/>
                </a:solidFill>
                <a:latin typeface="Calibri"/>
              </a:rPr>
              <a:t>activity</a:t>
            </a:r>
          </a:p>
        </p:txBody>
      </p:sp>
      <p:sp>
        <p:nvSpPr>
          <p:cNvPr id="9" name="TextBox 8"/>
          <p:cNvSpPr txBox="1"/>
          <p:nvPr/>
        </p:nvSpPr>
        <p:spPr>
          <a:xfrm>
            <a:off x="1554480" y="6583680"/>
            <a:ext cx="6035040" cy="256032"/>
          </a:xfrm>
          <a:prstGeom prst="rect">
            <a:avLst/>
          </a:prstGeom>
          <a:noFill/>
        </p:spPr>
        <p:txBody>
          <a:bodyPr wrap="square" anchor="t">
            <a:spAutoFit/>
          </a:bodyPr>
          <a:lstStyle/>
          <a:p>
            <a:pPr algn="ctr">
              <a:spcAft>
                <a:spcPts val="400"/>
              </a:spcAft>
            </a:pPr>
            <a:r>
              <a:rPr sz="900" b="0" i="0">
                <a:solidFill>
                  <a:srgbClr val="5A5A5A"/>
                </a:solidFill>
                <a:latin typeface="Calibri"/>
              </a:rPr>
              <a:t>Original course © Boardworks Ltd 2009. Reconstructed interactive resource.</a:t>
            </a:r>
          </a:p>
        </p:txBody>
      </p:sp>
      <p:sp>
        <p:nvSpPr>
          <p:cNvPr id="10" name="Rounded Rectangle 9"/>
          <p:cNvSpPr/>
          <p:nvPr/>
        </p:nvSpPr>
        <p:spPr>
          <a:xfrm>
            <a:off x="640080" y="1554480"/>
            <a:ext cx="7863840" cy="2286000"/>
          </a:xfrm>
          <a:prstGeom prst="roundRect">
            <a:avLst>
              <a:gd name="adj" fmla="val 15000"/>
            </a:avLst>
          </a:prstGeom>
          <a:solidFill>
            <a:srgbClr val="FFEBEE"/>
          </a:solidFill>
          <a:ln w="15875">
            <a:solidFill>
              <a:srgbClr val="C62828"/>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spcBef>
                <a:spcPts val="0"/>
              </a:spcBef>
              <a:spcAft>
                <a:spcPts val="200"/>
              </a:spcAft>
            </a:pPr>
            <a:r>
              <a:rPr sz="1800" b="0" i="0">
                <a:solidFill>
                  <a:srgbClr val="1B3A6B"/>
                </a:solidFill>
                <a:latin typeface="Calibri"/>
              </a:rPr>
              <a:t>Not quite.</a:t>
            </a:r>
          </a:p>
          <a:p>
            <a:pPr algn="ctr">
              <a:spcAft>
                <a:spcPts val="200"/>
              </a:spcAft>
            </a:pPr>
            <a:r>
              <a:rPr sz="1800" b="0" i="0">
                <a:solidFill>
                  <a:srgbClr val="1B3A6B"/>
                </a:solidFill>
                <a:latin typeface="Calibri"/>
              </a:rPr>
              <a:t/>
            </a:r>
          </a:p>
          <a:p>
            <a:pPr algn="ctr">
              <a:spcAft>
                <a:spcPts val="200"/>
              </a:spcAft>
            </a:pPr>
            <a:r>
              <a:rPr sz="1800" b="0" i="0">
                <a:solidFill>
                  <a:srgbClr val="1B3A6B"/>
                </a:solidFill>
                <a:latin typeface="Calibri"/>
              </a:rPr>
              <a:t>Think about which channels open first when threshold is reached.</a:t>
            </a:r>
          </a:p>
        </p:txBody>
      </p:sp>
      <p:sp>
        <p:nvSpPr>
          <p:cNvPr id="11" name="Rounded Rectangle 10">
            <a:hlinkClick r:id="rId2" action="ppaction://hlinksldjump"/>
          </p:cNvPr>
          <p:cNvSpPr/>
          <p:nvPr/>
        </p:nvSpPr>
        <p:spPr>
          <a:xfrm>
            <a:off x="3200400" y="4389120"/>
            <a:ext cx="2743200" cy="411480"/>
          </a:xfrm>
          <a:prstGeom prst="roundRect">
            <a:avLst>
              <a:gd name="adj" fmla="val 15000"/>
            </a:avLst>
          </a:prstGeom>
          <a:solidFill>
            <a:srgbClr val="EF6C00"/>
          </a:solidFill>
          <a:ln w="12700">
            <a:solidFill>
              <a:srgbClr val="EF6C00"/>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spcBef>
                <a:spcPts val="0"/>
              </a:spcBef>
              <a:spcAft>
                <a:spcPts val="200"/>
              </a:spcAft>
            </a:pPr>
            <a:r>
              <a:rPr sz="1400" b="1" i="0">
                <a:solidFill>
                  <a:srgbClr val="FFFFFF"/>
                </a:solidFill>
                <a:latin typeface="Calibri"/>
              </a:rPr>
              <a:t>Try again</a:t>
            </a:r>
          </a:p>
        </p:txBody>
      </p:sp>
    </p:spTree>
  </p:cSld>
  <p:clrMapOvr>
    <a:masterClrMapping/>
  </p:clrMapOvr>
</p:sld>
</file>

<file path=ppt/slides/slide48.xml><?xml version="1.0" encoding="utf-8"?>
<p:sld xmlns:a="http://schemas.openxmlformats.org/drawingml/2006/main" xmlns:p="http://schemas.openxmlformats.org/presentationml/2006/main" xmlns:r="http://schemas.openxmlformats.org/officeDocument/2006/relationships" show="0">
  <p:cSld>
    <p:spTree>
      <p:nvGrpSpPr>
        <p:cNvPr id="1" name=""/>
        <p:cNvGrpSpPr/>
        <p:nvPr/>
      </p:nvGrpSpPr>
      <p:grpSpPr/>
      <p:sp>
        <p:nvSpPr>
          <p:cNvPr id="2" name="Rectangle 1"/>
          <p:cNvSpPr/>
          <p:nvPr/>
        </p:nvSpPr>
        <p:spPr>
          <a:xfrm>
            <a:off x="0" y="0"/>
            <a:ext cx="9144000" cy="658368"/>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640080"/>
            <a:ext cx="9144000" cy="54864"/>
          </a:xfrm>
          <a:prstGeom prst="rect">
            <a:avLst/>
          </a:pr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256032" y="91440"/>
            <a:ext cx="7498079" cy="502920"/>
          </a:xfrm>
          <a:prstGeom prst="rect">
            <a:avLst/>
          </a:prstGeom>
          <a:noFill/>
        </p:spPr>
        <p:txBody>
          <a:bodyPr wrap="square" anchor="t">
            <a:spAutoFit/>
          </a:bodyPr>
          <a:lstStyle/>
          <a:p>
            <a:pPr algn="l">
              <a:spcAft>
                <a:spcPts val="400"/>
              </a:spcAft>
            </a:pPr>
            <a:r>
              <a:rPr sz="2600" b="1" i="0">
                <a:solidFill>
                  <a:srgbClr val="2E9E4F"/>
                </a:solidFill>
                <a:latin typeface="Calibri"/>
              </a:rPr>
              <a:t>How does the axon change?</a:t>
            </a:r>
          </a:p>
        </p:txBody>
      </p:sp>
      <p:sp>
        <p:nvSpPr>
          <p:cNvPr id="5" name="Rounded Rectangle 4"/>
          <p:cNvSpPr/>
          <p:nvPr/>
        </p:nvSpPr>
        <p:spPr>
          <a:xfrm>
            <a:off x="7452360" y="109728"/>
            <a:ext cx="1536192" cy="420624"/>
          </a:xfrm>
          <a:prstGeom prst="roundRect">
            <a:avLst>
              <a:gd name="adj" fmla="val 15000"/>
            </a:avLst>
          </a:prstGeom>
          <a:solidFill>
            <a:srgbClr val="C8E6A0"/>
          </a:solidFill>
          <a:ln w="12700">
            <a:solidFill>
              <a:srgbClr val="1B7A3A"/>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spcBef>
                <a:spcPts val="0"/>
              </a:spcBef>
              <a:spcAft>
                <a:spcPts val="200"/>
              </a:spcAft>
            </a:pPr>
            <a:r>
              <a:rPr sz="1100" b="1" i="0">
                <a:solidFill>
                  <a:srgbClr val="1B7A3A"/>
                </a:solidFill>
                <a:latin typeface="Calibri"/>
              </a:rPr>
              <a:t>A2 Biology</a:t>
            </a:r>
          </a:p>
        </p:txBody>
      </p:sp>
      <p:sp>
        <p:nvSpPr>
          <p:cNvPr id="6" name="Rectangle 5"/>
          <p:cNvSpPr/>
          <p:nvPr/>
        </p:nvSpPr>
        <p:spPr>
          <a:xfrm>
            <a:off x="0" y="0"/>
            <a:ext cx="73152" cy="6858000"/>
          </a:xfrm>
          <a:prstGeom prst="rect">
            <a:avLst/>
          </a:prstGeom>
          <a:solidFill>
            <a:srgbClr val="6B2D8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3152" y="6565392"/>
            <a:ext cx="9070848" cy="36576"/>
          </a:xfrm>
          <a:prstGeom prst="rect">
            <a:avLst/>
          </a:prstGeom>
          <a:solidFill>
            <a:srgbClr val="7A3E9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228600" y="6583680"/>
            <a:ext cx="1280160" cy="256032"/>
          </a:xfrm>
          <a:prstGeom prst="rect">
            <a:avLst/>
          </a:prstGeom>
          <a:noFill/>
        </p:spPr>
        <p:txBody>
          <a:bodyPr wrap="square" anchor="t">
            <a:spAutoFit/>
          </a:bodyPr>
          <a:lstStyle/>
          <a:p>
            <a:pPr algn="l">
              <a:spcAft>
                <a:spcPts val="400"/>
              </a:spcAft>
            </a:pPr>
            <a:r>
              <a:rPr sz="1000" b="0" i="0">
                <a:solidFill>
                  <a:srgbClr val="6B2D8B"/>
                </a:solidFill>
                <a:latin typeface="Calibri"/>
              </a:rPr>
              <a:t>activity</a:t>
            </a:r>
          </a:p>
        </p:txBody>
      </p:sp>
      <p:sp>
        <p:nvSpPr>
          <p:cNvPr id="9" name="TextBox 8"/>
          <p:cNvSpPr txBox="1"/>
          <p:nvPr/>
        </p:nvSpPr>
        <p:spPr>
          <a:xfrm>
            <a:off x="1554480" y="6583680"/>
            <a:ext cx="6035040" cy="256032"/>
          </a:xfrm>
          <a:prstGeom prst="rect">
            <a:avLst/>
          </a:prstGeom>
          <a:noFill/>
        </p:spPr>
        <p:txBody>
          <a:bodyPr wrap="square" anchor="t">
            <a:spAutoFit/>
          </a:bodyPr>
          <a:lstStyle/>
          <a:p>
            <a:pPr algn="ctr">
              <a:spcAft>
                <a:spcPts val="400"/>
              </a:spcAft>
            </a:pPr>
            <a:r>
              <a:rPr sz="900" b="0" i="0">
                <a:solidFill>
                  <a:srgbClr val="5A5A5A"/>
                </a:solidFill>
                <a:latin typeface="Calibri"/>
              </a:rPr>
              <a:t>Original course © Boardworks Ltd 2009. Reconstructed interactive resource.</a:t>
            </a:r>
          </a:p>
        </p:txBody>
      </p:sp>
      <p:sp>
        <p:nvSpPr>
          <p:cNvPr id="10" name="Rounded Rectangle 9"/>
          <p:cNvSpPr/>
          <p:nvPr/>
        </p:nvSpPr>
        <p:spPr>
          <a:xfrm>
            <a:off x="640080" y="1554480"/>
            <a:ext cx="7863840" cy="2286000"/>
          </a:xfrm>
          <a:prstGeom prst="roundRect">
            <a:avLst>
              <a:gd name="adj" fmla="val 15000"/>
            </a:avLst>
          </a:prstGeom>
          <a:solidFill>
            <a:srgbClr val="FFEBEE"/>
          </a:solidFill>
          <a:ln w="15875">
            <a:solidFill>
              <a:srgbClr val="C62828"/>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spcBef>
                <a:spcPts val="0"/>
              </a:spcBef>
              <a:spcAft>
                <a:spcPts val="200"/>
              </a:spcAft>
            </a:pPr>
            <a:r>
              <a:rPr sz="1800" b="0" i="0">
                <a:solidFill>
                  <a:srgbClr val="1B3A6B"/>
                </a:solidFill>
                <a:latin typeface="Calibri"/>
              </a:rPr>
              <a:t>Not quite.</a:t>
            </a:r>
          </a:p>
          <a:p>
            <a:pPr algn="ctr">
              <a:spcAft>
                <a:spcPts val="200"/>
              </a:spcAft>
            </a:pPr>
            <a:r>
              <a:rPr sz="1800" b="0" i="0">
                <a:solidFill>
                  <a:srgbClr val="1B3A6B"/>
                </a:solidFill>
                <a:latin typeface="Calibri"/>
              </a:rPr>
              <a:t/>
            </a:r>
          </a:p>
          <a:p>
            <a:pPr algn="ctr">
              <a:spcAft>
                <a:spcPts val="200"/>
              </a:spcAft>
            </a:pPr>
            <a:r>
              <a:rPr sz="1800" b="0" i="0">
                <a:solidFill>
                  <a:srgbClr val="1B3A6B"/>
                </a:solidFill>
                <a:latin typeface="Calibri"/>
              </a:rPr>
              <a:t>Think about which channels open first when threshold is reached.</a:t>
            </a:r>
          </a:p>
        </p:txBody>
      </p:sp>
      <p:sp>
        <p:nvSpPr>
          <p:cNvPr id="11" name="Rounded Rectangle 10">
            <a:hlinkClick r:id="rId2" action="ppaction://hlinksldjump"/>
          </p:cNvPr>
          <p:cNvSpPr/>
          <p:nvPr/>
        </p:nvSpPr>
        <p:spPr>
          <a:xfrm>
            <a:off x="3200400" y="4389120"/>
            <a:ext cx="2743200" cy="411480"/>
          </a:xfrm>
          <a:prstGeom prst="roundRect">
            <a:avLst>
              <a:gd name="adj" fmla="val 15000"/>
            </a:avLst>
          </a:prstGeom>
          <a:solidFill>
            <a:srgbClr val="EF6C00"/>
          </a:solidFill>
          <a:ln w="12700">
            <a:solidFill>
              <a:srgbClr val="EF6C00"/>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spcBef>
                <a:spcPts val="0"/>
              </a:spcBef>
              <a:spcAft>
                <a:spcPts val="200"/>
              </a:spcAft>
            </a:pPr>
            <a:r>
              <a:rPr sz="1400" b="1" i="0">
                <a:solidFill>
                  <a:srgbClr val="FFFFFF"/>
                </a:solidFill>
                <a:latin typeface="Calibri"/>
              </a:rPr>
              <a:t>Try again</a:t>
            </a:r>
          </a:p>
        </p:txBody>
      </p:sp>
    </p:spTree>
  </p:cSld>
  <p:clrMapOvr>
    <a:masterClrMapping/>
  </p:clrMapOvr>
</p:sld>
</file>

<file path=ppt/slides/slide4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9144000" cy="658368"/>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640080"/>
            <a:ext cx="9144000" cy="54864"/>
          </a:xfrm>
          <a:prstGeom prst="rect">
            <a:avLst/>
          </a:pr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256032" y="91440"/>
            <a:ext cx="7498079" cy="502920"/>
          </a:xfrm>
          <a:prstGeom prst="rect">
            <a:avLst/>
          </a:prstGeom>
          <a:noFill/>
        </p:spPr>
        <p:txBody>
          <a:bodyPr wrap="square" anchor="t">
            <a:spAutoFit/>
          </a:bodyPr>
          <a:lstStyle/>
          <a:p>
            <a:pPr algn="l">
              <a:spcAft>
                <a:spcPts val="400"/>
              </a:spcAft>
            </a:pPr>
            <a:r>
              <a:rPr sz="2600" b="1" i="0">
                <a:solidFill>
                  <a:srgbClr val="2E9E4F"/>
                </a:solidFill>
                <a:latin typeface="Calibri"/>
              </a:rPr>
              <a:t>How does the axon change?</a:t>
            </a:r>
          </a:p>
        </p:txBody>
      </p:sp>
      <p:sp>
        <p:nvSpPr>
          <p:cNvPr id="5" name="Rounded Rectangle 4"/>
          <p:cNvSpPr/>
          <p:nvPr/>
        </p:nvSpPr>
        <p:spPr>
          <a:xfrm>
            <a:off x="7452360" y="109728"/>
            <a:ext cx="1536192" cy="420624"/>
          </a:xfrm>
          <a:prstGeom prst="roundRect">
            <a:avLst>
              <a:gd name="adj" fmla="val 15000"/>
            </a:avLst>
          </a:prstGeom>
          <a:solidFill>
            <a:srgbClr val="C8E6A0"/>
          </a:solidFill>
          <a:ln w="12700">
            <a:solidFill>
              <a:srgbClr val="1B7A3A"/>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spcBef>
                <a:spcPts val="0"/>
              </a:spcBef>
              <a:spcAft>
                <a:spcPts val="200"/>
              </a:spcAft>
            </a:pPr>
            <a:r>
              <a:rPr sz="1100" b="1" i="0">
                <a:solidFill>
                  <a:srgbClr val="1B7A3A"/>
                </a:solidFill>
                <a:latin typeface="Calibri"/>
              </a:rPr>
              <a:t>A2 Biology</a:t>
            </a:r>
          </a:p>
        </p:txBody>
      </p:sp>
      <p:sp>
        <p:nvSpPr>
          <p:cNvPr id="6" name="Rectangle 5"/>
          <p:cNvSpPr/>
          <p:nvPr/>
        </p:nvSpPr>
        <p:spPr>
          <a:xfrm>
            <a:off x="0" y="0"/>
            <a:ext cx="73152" cy="6858000"/>
          </a:xfrm>
          <a:prstGeom prst="rect">
            <a:avLst/>
          </a:prstGeom>
          <a:solidFill>
            <a:srgbClr val="6B2D8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3152" y="6565392"/>
            <a:ext cx="9070848" cy="36576"/>
          </a:xfrm>
          <a:prstGeom prst="rect">
            <a:avLst/>
          </a:prstGeom>
          <a:solidFill>
            <a:srgbClr val="7A3E9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228600" y="6583680"/>
            <a:ext cx="1280160" cy="256032"/>
          </a:xfrm>
          <a:prstGeom prst="rect">
            <a:avLst/>
          </a:prstGeom>
          <a:noFill/>
        </p:spPr>
        <p:txBody>
          <a:bodyPr wrap="square" anchor="t">
            <a:spAutoFit/>
          </a:bodyPr>
          <a:lstStyle/>
          <a:p>
            <a:pPr algn="l">
              <a:spcAft>
                <a:spcPts val="400"/>
              </a:spcAft>
            </a:pPr>
            <a:r>
              <a:rPr sz="1000" b="0" i="0">
                <a:solidFill>
                  <a:srgbClr val="6B2D8B"/>
                </a:solidFill>
                <a:latin typeface="Calibri"/>
              </a:rPr>
              <a:t>18 of 29</a:t>
            </a:r>
          </a:p>
        </p:txBody>
      </p:sp>
      <p:sp>
        <p:nvSpPr>
          <p:cNvPr id="9" name="TextBox 8"/>
          <p:cNvSpPr txBox="1"/>
          <p:nvPr/>
        </p:nvSpPr>
        <p:spPr>
          <a:xfrm>
            <a:off x="1554480" y="6583680"/>
            <a:ext cx="6035040" cy="256032"/>
          </a:xfrm>
          <a:prstGeom prst="rect">
            <a:avLst/>
          </a:prstGeom>
          <a:noFill/>
        </p:spPr>
        <p:txBody>
          <a:bodyPr wrap="square" anchor="t">
            <a:spAutoFit/>
          </a:bodyPr>
          <a:lstStyle/>
          <a:p>
            <a:pPr algn="ctr">
              <a:spcAft>
                <a:spcPts val="400"/>
              </a:spcAft>
            </a:pPr>
            <a:r>
              <a:rPr sz="900" b="0" i="0">
                <a:solidFill>
                  <a:srgbClr val="5A5A5A"/>
                </a:solidFill>
                <a:latin typeface="Calibri"/>
              </a:rPr>
              <a:t>Original course © Boardworks Ltd 2009. Reconstructed interactive resource.</a:t>
            </a:r>
          </a:p>
        </p:txBody>
      </p:sp>
      <p:sp>
        <p:nvSpPr>
          <p:cNvPr id="10" name="Oval 9">
            <a:hlinkClick r:id="rId7" action="ppaction://hlinksldjump"/>
          </p:cNvPr>
          <p:cNvSpPr/>
          <p:nvPr/>
        </p:nvSpPr>
        <p:spPr>
          <a:xfrm>
            <a:off x="146304" y="5760720"/>
            <a:ext cx="384048" cy="384048"/>
          </a:xfrm>
          <a:prstGeom prst="ellipse">
            <a:avLst/>
          </a:prstGeom>
          <a:solidFill>
            <a:srgbClr val="FFFFFF"/>
          </a:solidFill>
          <a:ln w="22225">
            <a:solidFill>
              <a:srgbClr val="6B2D8B"/>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spcBef>
                <a:spcPts val="0"/>
              </a:spcBef>
              <a:spcAft>
                <a:spcPts val="200"/>
              </a:spcAft>
            </a:pPr>
            <a:r>
              <a:rPr sz="1400" b="1" i="0">
                <a:solidFill>
                  <a:srgbClr val="6B2D8B"/>
                </a:solidFill>
                <a:latin typeface="Calibri"/>
              </a:rPr>
              <a:t>◀</a:t>
            </a:r>
          </a:p>
        </p:txBody>
      </p:sp>
      <p:sp>
        <p:nvSpPr>
          <p:cNvPr id="11" name="Oval 10">
            <a:hlinkClick r:id="rId8" action="ppaction://hlinksldjump"/>
          </p:cNvPr>
          <p:cNvSpPr/>
          <p:nvPr/>
        </p:nvSpPr>
        <p:spPr>
          <a:xfrm>
            <a:off x="8613648" y="5760720"/>
            <a:ext cx="384048" cy="384048"/>
          </a:xfrm>
          <a:prstGeom prst="ellipse">
            <a:avLst/>
          </a:prstGeom>
          <a:solidFill>
            <a:srgbClr val="6B2D8B"/>
          </a:solidFill>
          <a:ln w="12700">
            <a:solidFill>
              <a:srgbClr val="6B2D8B"/>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spcBef>
                <a:spcPts val="0"/>
              </a:spcBef>
              <a:spcAft>
                <a:spcPts val="200"/>
              </a:spcAft>
            </a:pPr>
            <a:r>
              <a:rPr sz="1400" b="1" i="0">
                <a:solidFill>
                  <a:srgbClr val="FFFFFF"/>
                </a:solidFill>
                <a:latin typeface="Calibri"/>
              </a:rPr>
              <a:t>▶</a:t>
            </a:r>
          </a:p>
        </p:txBody>
      </p:sp>
      <p:sp>
        <p:nvSpPr>
          <p:cNvPr id="12" name="TextBox 11"/>
          <p:cNvSpPr txBox="1"/>
          <p:nvPr/>
        </p:nvSpPr>
        <p:spPr>
          <a:xfrm>
            <a:off x="365760" y="868680"/>
            <a:ext cx="8412480" cy="1051560"/>
          </a:xfrm>
          <a:prstGeom prst="rect">
            <a:avLst/>
          </a:prstGeom>
          <a:noFill/>
        </p:spPr>
        <p:txBody>
          <a:bodyPr wrap="square" anchor="t">
            <a:spAutoFit/>
          </a:bodyPr>
          <a:lstStyle/>
          <a:p>
            <a:pPr algn="l">
              <a:spcAft>
                <a:spcPts val="400"/>
              </a:spcAft>
            </a:pPr>
            <a:r>
              <a:rPr sz="2000" b="1" i="0">
                <a:solidFill>
                  <a:srgbClr val="1B3A6B"/>
                </a:solidFill>
                <a:latin typeface="Calibri"/>
              </a:rPr>
              <a:t>During repolarisation, the inside of the axon becomes negative again because:</a:t>
            </a:r>
          </a:p>
        </p:txBody>
      </p:sp>
      <p:sp>
        <p:nvSpPr>
          <p:cNvPr id="13" name="Rounded Rectangle 12">
            <a:hlinkClick r:id="rId3" action="ppaction://hlinksldjump"/>
          </p:cNvPr>
          <p:cNvSpPr/>
          <p:nvPr/>
        </p:nvSpPr>
        <p:spPr>
          <a:xfrm>
            <a:off x="594360" y="2011680"/>
            <a:ext cx="7955279" cy="621792"/>
          </a:xfrm>
          <a:prstGeom prst="roundRect">
            <a:avLst>
              <a:gd name="adj" fmla="val 15000"/>
            </a:avLst>
          </a:prstGeom>
          <a:solidFill>
            <a:srgbClr val="E3F2FD"/>
          </a:solidFill>
          <a:ln w="12700">
            <a:solidFill>
              <a:srgbClr val="1B3A6B"/>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spcBef>
                <a:spcPts val="0"/>
              </a:spcBef>
              <a:spcAft>
                <a:spcPts val="200"/>
              </a:spcAft>
            </a:pPr>
            <a:r>
              <a:rPr sz="1500" b="1" i="0">
                <a:solidFill>
                  <a:srgbClr val="1B3A6B"/>
                </a:solidFill>
                <a:latin typeface="Calibri"/>
              </a:rPr>
              <a:t>A   Na⁺ continues to enter</a:t>
            </a:r>
          </a:p>
        </p:txBody>
      </p:sp>
      <p:sp>
        <p:nvSpPr>
          <p:cNvPr id="14" name="Rounded Rectangle 13">
            <a:hlinkClick r:id="rId4" action="ppaction://hlinksldjump"/>
          </p:cNvPr>
          <p:cNvSpPr/>
          <p:nvPr/>
        </p:nvSpPr>
        <p:spPr>
          <a:xfrm>
            <a:off x="594360" y="2761488"/>
            <a:ext cx="7955279" cy="621792"/>
          </a:xfrm>
          <a:prstGeom prst="roundRect">
            <a:avLst>
              <a:gd name="adj" fmla="val 15000"/>
            </a:avLst>
          </a:prstGeom>
          <a:solidFill>
            <a:srgbClr val="E3F2FD"/>
          </a:solidFill>
          <a:ln w="12700">
            <a:solidFill>
              <a:srgbClr val="1B3A6B"/>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spcBef>
                <a:spcPts val="0"/>
              </a:spcBef>
              <a:spcAft>
                <a:spcPts val="200"/>
              </a:spcAft>
            </a:pPr>
            <a:r>
              <a:rPr sz="1500" b="1" i="0">
                <a:solidFill>
                  <a:srgbClr val="1B3A6B"/>
                </a:solidFill>
                <a:latin typeface="Calibri"/>
              </a:rPr>
              <a:t>B   K⁺ ions leave the axon</a:t>
            </a:r>
          </a:p>
        </p:txBody>
      </p:sp>
      <p:sp>
        <p:nvSpPr>
          <p:cNvPr id="15" name="Rounded Rectangle 14">
            <a:hlinkClick r:id="rId5" action="ppaction://hlinksldjump"/>
          </p:cNvPr>
          <p:cNvSpPr/>
          <p:nvPr/>
        </p:nvSpPr>
        <p:spPr>
          <a:xfrm>
            <a:off x="594360" y="3511296"/>
            <a:ext cx="7955279" cy="621792"/>
          </a:xfrm>
          <a:prstGeom prst="roundRect">
            <a:avLst>
              <a:gd name="adj" fmla="val 15000"/>
            </a:avLst>
          </a:prstGeom>
          <a:solidFill>
            <a:srgbClr val="E3F2FD"/>
          </a:solidFill>
          <a:ln w="12700">
            <a:solidFill>
              <a:srgbClr val="1B3A6B"/>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spcBef>
                <a:spcPts val="0"/>
              </a:spcBef>
              <a:spcAft>
                <a:spcPts val="200"/>
              </a:spcAft>
            </a:pPr>
            <a:r>
              <a:rPr sz="1500" b="1" i="0">
                <a:solidFill>
                  <a:srgbClr val="1B3A6B"/>
                </a:solidFill>
                <a:latin typeface="Calibri"/>
              </a:rPr>
              <a:t>C   The membrane becomes impermeable to all ions</a:t>
            </a:r>
          </a:p>
        </p:txBody>
      </p:sp>
      <p:sp>
        <p:nvSpPr>
          <p:cNvPr id="16" name="Rounded Rectangle 15">
            <a:hlinkClick r:id="rId6" action="ppaction://hlinksldjump"/>
          </p:cNvPr>
          <p:cNvSpPr/>
          <p:nvPr/>
        </p:nvSpPr>
        <p:spPr>
          <a:xfrm>
            <a:off x="594360" y="4261104"/>
            <a:ext cx="7955279" cy="621792"/>
          </a:xfrm>
          <a:prstGeom prst="roundRect">
            <a:avLst>
              <a:gd name="adj" fmla="val 15000"/>
            </a:avLst>
          </a:prstGeom>
          <a:solidFill>
            <a:srgbClr val="E3F2FD"/>
          </a:solidFill>
          <a:ln w="12700">
            <a:solidFill>
              <a:srgbClr val="1B3A6B"/>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spcBef>
                <a:spcPts val="0"/>
              </a:spcBef>
              <a:spcAft>
                <a:spcPts val="200"/>
              </a:spcAft>
            </a:pPr>
            <a:r>
              <a:rPr sz="1500" b="1" i="0">
                <a:solidFill>
                  <a:srgbClr val="1B3A6B"/>
                </a:solidFill>
                <a:latin typeface="Calibri"/>
              </a:rPr>
              <a:t>D   Chloride ions enter in large amounts</a:t>
            </a:r>
          </a:p>
        </p:txBody>
      </p:sp>
    </p:spTree>
  </p:cSld>
  <p:clrMapOvr>
    <a:masterClrMapping/>
  </p:clrMapOvr>
</p:sld>
</file>

<file path=ppt/slides/slide50.xml><?xml version="1.0" encoding="utf-8"?>
<p:sld xmlns:a="http://schemas.openxmlformats.org/drawingml/2006/main" xmlns:p="http://schemas.openxmlformats.org/presentationml/2006/main" xmlns:r="http://schemas.openxmlformats.org/officeDocument/2006/relationships" show="0">
  <p:cSld>
    <p:spTree>
      <p:nvGrpSpPr>
        <p:cNvPr id="1" name=""/>
        <p:cNvGrpSpPr/>
        <p:nvPr/>
      </p:nvGrpSpPr>
      <p:grpSpPr/>
      <p:sp>
        <p:nvSpPr>
          <p:cNvPr id="2" name="Rectangle 1"/>
          <p:cNvSpPr/>
          <p:nvPr/>
        </p:nvSpPr>
        <p:spPr>
          <a:xfrm>
            <a:off x="0" y="0"/>
            <a:ext cx="9144000" cy="658368"/>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640080"/>
            <a:ext cx="9144000" cy="54864"/>
          </a:xfrm>
          <a:prstGeom prst="rect">
            <a:avLst/>
          </a:pr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256032" y="91440"/>
            <a:ext cx="7498079" cy="502920"/>
          </a:xfrm>
          <a:prstGeom prst="rect">
            <a:avLst/>
          </a:prstGeom>
          <a:noFill/>
        </p:spPr>
        <p:txBody>
          <a:bodyPr wrap="square" anchor="t">
            <a:spAutoFit/>
          </a:bodyPr>
          <a:lstStyle/>
          <a:p>
            <a:pPr algn="l">
              <a:spcAft>
                <a:spcPts val="400"/>
              </a:spcAft>
            </a:pPr>
            <a:r>
              <a:rPr sz="2600" b="1" i="0">
                <a:solidFill>
                  <a:srgbClr val="2E9E4F"/>
                </a:solidFill>
                <a:latin typeface="Calibri"/>
              </a:rPr>
              <a:t>How does the axon change?</a:t>
            </a:r>
          </a:p>
        </p:txBody>
      </p:sp>
      <p:sp>
        <p:nvSpPr>
          <p:cNvPr id="5" name="Rounded Rectangle 4"/>
          <p:cNvSpPr/>
          <p:nvPr/>
        </p:nvSpPr>
        <p:spPr>
          <a:xfrm>
            <a:off x="7452360" y="109728"/>
            <a:ext cx="1536192" cy="420624"/>
          </a:xfrm>
          <a:prstGeom prst="roundRect">
            <a:avLst>
              <a:gd name="adj" fmla="val 15000"/>
            </a:avLst>
          </a:prstGeom>
          <a:solidFill>
            <a:srgbClr val="C8E6A0"/>
          </a:solidFill>
          <a:ln w="12700">
            <a:solidFill>
              <a:srgbClr val="1B7A3A"/>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spcBef>
                <a:spcPts val="0"/>
              </a:spcBef>
              <a:spcAft>
                <a:spcPts val="200"/>
              </a:spcAft>
            </a:pPr>
            <a:r>
              <a:rPr sz="1100" b="1" i="0">
                <a:solidFill>
                  <a:srgbClr val="1B7A3A"/>
                </a:solidFill>
                <a:latin typeface="Calibri"/>
              </a:rPr>
              <a:t>A2 Biology</a:t>
            </a:r>
          </a:p>
        </p:txBody>
      </p:sp>
      <p:sp>
        <p:nvSpPr>
          <p:cNvPr id="6" name="Rectangle 5"/>
          <p:cNvSpPr/>
          <p:nvPr/>
        </p:nvSpPr>
        <p:spPr>
          <a:xfrm>
            <a:off x="0" y="0"/>
            <a:ext cx="73152" cy="6858000"/>
          </a:xfrm>
          <a:prstGeom prst="rect">
            <a:avLst/>
          </a:prstGeom>
          <a:solidFill>
            <a:srgbClr val="6B2D8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3152" y="6565392"/>
            <a:ext cx="9070848" cy="36576"/>
          </a:xfrm>
          <a:prstGeom prst="rect">
            <a:avLst/>
          </a:prstGeom>
          <a:solidFill>
            <a:srgbClr val="7A3E9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228600" y="6583680"/>
            <a:ext cx="1280160" cy="256032"/>
          </a:xfrm>
          <a:prstGeom prst="rect">
            <a:avLst/>
          </a:prstGeom>
          <a:noFill/>
        </p:spPr>
        <p:txBody>
          <a:bodyPr wrap="square" anchor="t">
            <a:spAutoFit/>
          </a:bodyPr>
          <a:lstStyle/>
          <a:p>
            <a:pPr algn="l">
              <a:spcAft>
                <a:spcPts val="400"/>
              </a:spcAft>
            </a:pPr>
            <a:r>
              <a:rPr sz="1000" b="0" i="0">
                <a:solidFill>
                  <a:srgbClr val="6B2D8B"/>
                </a:solidFill>
                <a:latin typeface="Calibri"/>
              </a:rPr>
              <a:t>activity</a:t>
            </a:r>
          </a:p>
        </p:txBody>
      </p:sp>
      <p:sp>
        <p:nvSpPr>
          <p:cNvPr id="9" name="TextBox 8"/>
          <p:cNvSpPr txBox="1"/>
          <p:nvPr/>
        </p:nvSpPr>
        <p:spPr>
          <a:xfrm>
            <a:off x="1554480" y="6583680"/>
            <a:ext cx="6035040" cy="256032"/>
          </a:xfrm>
          <a:prstGeom prst="rect">
            <a:avLst/>
          </a:prstGeom>
          <a:noFill/>
        </p:spPr>
        <p:txBody>
          <a:bodyPr wrap="square" anchor="t">
            <a:spAutoFit/>
          </a:bodyPr>
          <a:lstStyle/>
          <a:p>
            <a:pPr algn="ctr">
              <a:spcAft>
                <a:spcPts val="400"/>
              </a:spcAft>
            </a:pPr>
            <a:r>
              <a:rPr sz="900" b="0" i="0">
                <a:solidFill>
                  <a:srgbClr val="5A5A5A"/>
                </a:solidFill>
                <a:latin typeface="Calibri"/>
              </a:rPr>
              <a:t>Original course © Boardworks Ltd 2009. Reconstructed interactive resource.</a:t>
            </a:r>
          </a:p>
        </p:txBody>
      </p:sp>
      <p:sp>
        <p:nvSpPr>
          <p:cNvPr id="10" name="Rounded Rectangle 9"/>
          <p:cNvSpPr/>
          <p:nvPr/>
        </p:nvSpPr>
        <p:spPr>
          <a:xfrm>
            <a:off x="640080" y="1554480"/>
            <a:ext cx="7863840" cy="2560320"/>
          </a:xfrm>
          <a:prstGeom prst="roundRect">
            <a:avLst>
              <a:gd name="adj" fmla="val 15000"/>
            </a:avLst>
          </a:prstGeom>
          <a:solidFill>
            <a:srgbClr val="E8F5E9"/>
          </a:solidFill>
          <a:ln w="15875">
            <a:solidFill>
              <a:srgbClr val="1B7A3A"/>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spcBef>
                <a:spcPts val="0"/>
              </a:spcBef>
              <a:spcAft>
                <a:spcPts val="200"/>
              </a:spcAft>
            </a:pPr>
            <a:r>
              <a:rPr sz="1800" b="0" i="0">
                <a:solidFill>
                  <a:srgbClr val="1B3A6B"/>
                </a:solidFill>
                <a:latin typeface="Calibri"/>
              </a:rPr>
              <a:t>Correct.</a:t>
            </a:r>
          </a:p>
          <a:p>
            <a:pPr algn="ctr">
              <a:spcAft>
                <a:spcPts val="200"/>
              </a:spcAft>
            </a:pPr>
            <a:r>
              <a:rPr sz="1800" b="0" i="0">
                <a:solidFill>
                  <a:srgbClr val="1B3A6B"/>
                </a:solidFill>
                <a:latin typeface="Calibri"/>
              </a:rPr>
              <a:t/>
            </a:r>
          </a:p>
          <a:p>
            <a:pPr algn="ctr">
              <a:spcAft>
                <a:spcPts val="200"/>
              </a:spcAft>
            </a:pPr>
            <a:r>
              <a:rPr sz="1800" b="0" i="0">
                <a:solidFill>
                  <a:srgbClr val="1B3A6B"/>
                </a:solidFill>
                <a:latin typeface="Calibri"/>
              </a:rPr>
              <a:t>Voltage-gated potassium channels open and K⁺ efflux restores the negative inside.</a:t>
            </a:r>
          </a:p>
        </p:txBody>
      </p:sp>
      <p:sp>
        <p:nvSpPr>
          <p:cNvPr id="11" name="Rounded Rectangle 10">
            <a:hlinkClick r:id="rId2" action="ppaction://hlinksldjump"/>
          </p:cNvPr>
          <p:cNvSpPr/>
          <p:nvPr/>
        </p:nvSpPr>
        <p:spPr>
          <a:xfrm>
            <a:off x="3200400" y="4572000"/>
            <a:ext cx="2743200" cy="411480"/>
          </a:xfrm>
          <a:prstGeom prst="roundRect">
            <a:avLst>
              <a:gd name="adj" fmla="val 15000"/>
            </a:avLst>
          </a:prstGeom>
          <a:solidFill>
            <a:srgbClr val="2E9E4F"/>
          </a:solidFill>
          <a:ln w="12700">
            <a:solidFill>
              <a:srgbClr val="2E9E4F"/>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spcBef>
                <a:spcPts val="0"/>
              </a:spcBef>
              <a:spcAft>
                <a:spcPts val="200"/>
              </a:spcAft>
            </a:pPr>
            <a:r>
              <a:rPr sz="1400" b="1" i="0">
                <a:solidFill>
                  <a:srgbClr val="FFFFFF"/>
                </a:solidFill>
                <a:latin typeface="Calibri"/>
              </a:rPr>
              <a:t>Continue</a:t>
            </a:r>
          </a:p>
        </p:txBody>
      </p:sp>
    </p:spTree>
  </p:cSld>
  <p:clrMapOvr>
    <a:masterClrMapping/>
  </p:clrMapOvr>
</p:sld>
</file>

<file path=ppt/slides/slide51.xml><?xml version="1.0" encoding="utf-8"?>
<p:sld xmlns:a="http://schemas.openxmlformats.org/drawingml/2006/main" xmlns:p="http://schemas.openxmlformats.org/presentationml/2006/main" xmlns:r="http://schemas.openxmlformats.org/officeDocument/2006/relationships" show="0">
  <p:cSld>
    <p:spTree>
      <p:nvGrpSpPr>
        <p:cNvPr id="1" name=""/>
        <p:cNvGrpSpPr/>
        <p:nvPr/>
      </p:nvGrpSpPr>
      <p:grpSpPr/>
      <p:sp>
        <p:nvSpPr>
          <p:cNvPr id="2" name="Rectangle 1"/>
          <p:cNvSpPr/>
          <p:nvPr/>
        </p:nvSpPr>
        <p:spPr>
          <a:xfrm>
            <a:off x="0" y="0"/>
            <a:ext cx="9144000" cy="658368"/>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640080"/>
            <a:ext cx="9144000" cy="54864"/>
          </a:xfrm>
          <a:prstGeom prst="rect">
            <a:avLst/>
          </a:pr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256032" y="91440"/>
            <a:ext cx="7498079" cy="502920"/>
          </a:xfrm>
          <a:prstGeom prst="rect">
            <a:avLst/>
          </a:prstGeom>
          <a:noFill/>
        </p:spPr>
        <p:txBody>
          <a:bodyPr wrap="square" anchor="t">
            <a:spAutoFit/>
          </a:bodyPr>
          <a:lstStyle/>
          <a:p>
            <a:pPr algn="l">
              <a:spcAft>
                <a:spcPts val="400"/>
              </a:spcAft>
            </a:pPr>
            <a:r>
              <a:rPr sz="2600" b="1" i="0">
                <a:solidFill>
                  <a:srgbClr val="2E9E4F"/>
                </a:solidFill>
                <a:latin typeface="Calibri"/>
              </a:rPr>
              <a:t>How does the axon change?</a:t>
            </a:r>
          </a:p>
        </p:txBody>
      </p:sp>
      <p:sp>
        <p:nvSpPr>
          <p:cNvPr id="5" name="Rounded Rectangle 4"/>
          <p:cNvSpPr/>
          <p:nvPr/>
        </p:nvSpPr>
        <p:spPr>
          <a:xfrm>
            <a:off x="7452360" y="109728"/>
            <a:ext cx="1536192" cy="420624"/>
          </a:xfrm>
          <a:prstGeom prst="roundRect">
            <a:avLst>
              <a:gd name="adj" fmla="val 15000"/>
            </a:avLst>
          </a:prstGeom>
          <a:solidFill>
            <a:srgbClr val="C8E6A0"/>
          </a:solidFill>
          <a:ln w="12700">
            <a:solidFill>
              <a:srgbClr val="1B7A3A"/>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spcBef>
                <a:spcPts val="0"/>
              </a:spcBef>
              <a:spcAft>
                <a:spcPts val="200"/>
              </a:spcAft>
            </a:pPr>
            <a:r>
              <a:rPr sz="1100" b="1" i="0">
                <a:solidFill>
                  <a:srgbClr val="1B7A3A"/>
                </a:solidFill>
                <a:latin typeface="Calibri"/>
              </a:rPr>
              <a:t>A2 Biology</a:t>
            </a:r>
          </a:p>
        </p:txBody>
      </p:sp>
      <p:sp>
        <p:nvSpPr>
          <p:cNvPr id="6" name="Rectangle 5"/>
          <p:cNvSpPr/>
          <p:nvPr/>
        </p:nvSpPr>
        <p:spPr>
          <a:xfrm>
            <a:off x="0" y="0"/>
            <a:ext cx="73152" cy="6858000"/>
          </a:xfrm>
          <a:prstGeom prst="rect">
            <a:avLst/>
          </a:prstGeom>
          <a:solidFill>
            <a:srgbClr val="6B2D8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3152" y="6565392"/>
            <a:ext cx="9070848" cy="36576"/>
          </a:xfrm>
          <a:prstGeom prst="rect">
            <a:avLst/>
          </a:prstGeom>
          <a:solidFill>
            <a:srgbClr val="7A3E9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228600" y="6583680"/>
            <a:ext cx="1280160" cy="256032"/>
          </a:xfrm>
          <a:prstGeom prst="rect">
            <a:avLst/>
          </a:prstGeom>
          <a:noFill/>
        </p:spPr>
        <p:txBody>
          <a:bodyPr wrap="square" anchor="t">
            <a:spAutoFit/>
          </a:bodyPr>
          <a:lstStyle/>
          <a:p>
            <a:pPr algn="l">
              <a:spcAft>
                <a:spcPts val="400"/>
              </a:spcAft>
            </a:pPr>
            <a:r>
              <a:rPr sz="1000" b="0" i="0">
                <a:solidFill>
                  <a:srgbClr val="6B2D8B"/>
                </a:solidFill>
                <a:latin typeface="Calibri"/>
              </a:rPr>
              <a:t>activity</a:t>
            </a:r>
          </a:p>
        </p:txBody>
      </p:sp>
      <p:sp>
        <p:nvSpPr>
          <p:cNvPr id="9" name="TextBox 8"/>
          <p:cNvSpPr txBox="1"/>
          <p:nvPr/>
        </p:nvSpPr>
        <p:spPr>
          <a:xfrm>
            <a:off x="1554480" y="6583680"/>
            <a:ext cx="6035040" cy="256032"/>
          </a:xfrm>
          <a:prstGeom prst="rect">
            <a:avLst/>
          </a:prstGeom>
          <a:noFill/>
        </p:spPr>
        <p:txBody>
          <a:bodyPr wrap="square" anchor="t">
            <a:spAutoFit/>
          </a:bodyPr>
          <a:lstStyle/>
          <a:p>
            <a:pPr algn="ctr">
              <a:spcAft>
                <a:spcPts val="400"/>
              </a:spcAft>
            </a:pPr>
            <a:r>
              <a:rPr sz="900" b="0" i="0">
                <a:solidFill>
                  <a:srgbClr val="5A5A5A"/>
                </a:solidFill>
                <a:latin typeface="Calibri"/>
              </a:rPr>
              <a:t>Original course © Boardworks Ltd 2009. Reconstructed interactive resource.</a:t>
            </a:r>
          </a:p>
        </p:txBody>
      </p:sp>
      <p:sp>
        <p:nvSpPr>
          <p:cNvPr id="10" name="Rounded Rectangle 9"/>
          <p:cNvSpPr/>
          <p:nvPr/>
        </p:nvSpPr>
        <p:spPr>
          <a:xfrm>
            <a:off x="640080" y="1554480"/>
            <a:ext cx="7863840" cy="2286000"/>
          </a:xfrm>
          <a:prstGeom prst="roundRect">
            <a:avLst>
              <a:gd name="adj" fmla="val 15000"/>
            </a:avLst>
          </a:prstGeom>
          <a:solidFill>
            <a:srgbClr val="FFEBEE"/>
          </a:solidFill>
          <a:ln w="15875">
            <a:solidFill>
              <a:srgbClr val="C62828"/>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spcBef>
                <a:spcPts val="0"/>
              </a:spcBef>
              <a:spcAft>
                <a:spcPts val="200"/>
              </a:spcAft>
            </a:pPr>
            <a:r>
              <a:rPr sz="1800" b="0" i="0">
                <a:solidFill>
                  <a:srgbClr val="1B3A6B"/>
                </a:solidFill>
                <a:latin typeface="Calibri"/>
              </a:rPr>
              <a:t>Not quite.</a:t>
            </a:r>
          </a:p>
          <a:p>
            <a:pPr algn="ctr">
              <a:spcAft>
                <a:spcPts val="200"/>
              </a:spcAft>
            </a:pPr>
            <a:r>
              <a:rPr sz="1800" b="0" i="0">
                <a:solidFill>
                  <a:srgbClr val="1B3A6B"/>
                </a:solidFill>
                <a:latin typeface="Calibri"/>
              </a:rPr>
              <a:t/>
            </a:r>
          </a:p>
          <a:p>
            <a:pPr algn="ctr">
              <a:spcAft>
                <a:spcPts val="200"/>
              </a:spcAft>
            </a:pPr>
            <a:r>
              <a:rPr sz="1800" b="0" i="0">
                <a:solidFill>
                  <a:srgbClr val="1B3A6B"/>
                </a:solidFill>
                <a:latin typeface="Calibri"/>
              </a:rPr>
              <a:t>Repolarisation is caused by potassium leaving, not by sodium still entering.</a:t>
            </a:r>
          </a:p>
        </p:txBody>
      </p:sp>
      <p:sp>
        <p:nvSpPr>
          <p:cNvPr id="11" name="Rounded Rectangle 10">
            <a:hlinkClick r:id="rId2" action="ppaction://hlinksldjump"/>
          </p:cNvPr>
          <p:cNvSpPr/>
          <p:nvPr/>
        </p:nvSpPr>
        <p:spPr>
          <a:xfrm>
            <a:off x="3200400" y="4389120"/>
            <a:ext cx="2743200" cy="411480"/>
          </a:xfrm>
          <a:prstGeom prst="roundRect">
            <a:avLst>
              <a:gd name="adj" fmla="val 15000"/>
            </a:avLst>
          </a:prstGeom>
          <a:solidFill>
            <a:srgbClr val="EF6C00"/>
          </a:solidFill>
          <a:ln w="12700">
            <a:solidFill>
              <a:srgbClr val="EF6C00"/>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spcBef>
                <a:spcPts val="0"/>
              </a:spcBef>
              <a:spcAft>
                <a:spcPts val="200"/>
              </a:spcAft>
            </a:pPr>
            <a:r>
              <a:rPr sz="1400" b="1" i="0">
                <a:solidFill>
                  <a:srgbClr val="FFFFFF"/>
                </a:solidFill>
                <a:latin typeface="Calibri"/>
              </a:rPr>
              <a:t>Try again</a:t>
            </a:r>
          </a:p>
        </p:txBody>
      </p:sp>
    </p:spTree>
  </p:cSld>
  <p:clrMapOvr>
    <a:masterClrMapping/>
  </p:clrMapOvr>
</p:sld>
</file>

<file path=ppt/slides/slide52.xml><?xml version="1.0" encoding="utf-8"?>
<p:sld xmlns:a="http://schemas.openxmlformats.org/drawingml/2006/main" xmlns:p="http://schemas.openxmlformats.org/presentationml/2006/main" xmlns:r="http://schemas.openxmlformats.org/officeDocument/2006/relationships" show="0">
  <p:cSld>
    <p:spTree>
      <p:nvGrpSpPr>
        <p:cNvPr id="1" name=""/>
        <p:cNvGrpSpPr/>
        <p:nvPr/>
      </p:nvGrpSpPr>
      <p:grpSpPr/>
      <p:sp>
        <p:nvSpPr>
          <p:cNvPr id="2" name="Rectangle 1"/>
          <p:cNvSpPr/>
          <p:nvPr/>
        </p:nvSpPr>
        <p:spPr>
          <a:xfrm>
            <a:off x="0" y="0"/>
            <a:ext cx="9144000" cy="658368"/>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640080"/>
            <a:ext cx="9144000" cy="54864"/>
          </a:xfrm>
          <a:prstGeom prst="rect">
            <a:avLst/>
          </a:pr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256032" y="91440"/>
            <a:ext cx="7498079" cy="502920"/>
          </a:xfrm>
          <a:prstGeom prst="rect">
            <a:avLst/>
          </a:prstGeom>
          <a:noFill/>
        </p:spPr>
        <p:txBody>
          <a:bodyPr wrap="square" anchor="t">
            <a:spAutoFit/>
          </a:bodyPr>
          <a:lstStyle/>
          <a:p>
            <a:pPr algn="l">
              <a:spcAft>
                <a:spcPts val="400"/>
              </a:spcAft>
            </a:pPr>
            <a:r>
              <a:rPr sz="2600" b="1" i="0">
                <a:solidFill>
                  <a:srgbClr val="2E9E4F"/>
                </a:solidFill>
                <a:latin typeface="Calibri"/>
              </a:rPr>
              <a:t>How does the axon change?</a:t>
            </a:r>
          </a:p>
        </p:txBody>
      </p:sp>
      <p:sp>
        <p:nvSpPr>
          <p:cNvPr id="5" name="Rounded Rectangle 4"/>
          <p:cNvSpPr/>
          <p:nvPr/>
        </p:nvSpPr>
        <p:spPr>
          <a:xfrm>
            <a:off x="7452360" y="109728"/>
            <a:ext cx="1536192" cy="420624"/>
          </a:xfrm>
          <a:prstGeom prst="roundRect">
            <a:avLst>
              <a:gd name="adj" fmla="val 15000"/>
            </a:avLst>
          </a:prstGeom>
          <a:solidFill>
            <a:srgbClr val="C8E6A0"/>
          </a:solidFill>
          <a:ln w="12700">
            <a:solidFill>
              <a:srgbClr val="1B7A3A"/>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spcBef>
                <a:spcPts val="0"/>
              </a:spcBef>
              <a:spcAft>
                <a:spcPts val="200"/>
              </a:spcAft>
            </a:pPr>
            <a:r>
              <a:rPr sz="1100" b="1" i="0">
                <a:solidFill>
                  <a:srgbClr val="1B7A3A"/>
                </a:solidFill>
                <a:latin typeface="Calibri"/>
              </a:rPr>
              <a:t>A2 Biology</a:t>
            </a:r>
          </a:p>
        </p:txBody>
      </p:sp>
      <p:sp>
        <p:nvSpPr>
          <p:cNvPr id="6" name="Rectangle 5"/>
          <p:cNvSpPr/>
          <p:nvPr/>
        </p:nvSpPr>
        <p:spPr>
          <a:xfrm>
            <a:off x="0" y="0"/>
            <a:ext cx="73152" cy="6858000"/>
          </a:xfrm>
          <a:prstGeom prst="rect">
            <a:avLst/>
          </a:prstGeom>
          <a:solidFill>
            <a:srgbClr val="6B2D8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3152" y="6565392"/>
            <a:ext cx="9070848" cy="36576"/>
          </a:xfrm>
          <a:prstGeom prst="rect">
            <a:avLst/>
          </a:prstGeom>
          <a:solidFill>
            <a:srgbClr val="7A3E9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228600" y="6583680"/>
            <a:ext cx="1280160" cy="256032"/>
          </a:xfrm>
          <a:prstGeom prst="rect">
            <a:avLst/>
          </a:prstGeom>
          <a:noFill/>
        </p:spPr>
        <p:txBody>
          <a:bodyPr wrap="square" anchor="t">
            <a:spAutoFit/>
          </a:bodyPr>
          <a:lstStyle/>
          <a:p>
            <a:pPr algn="l">
              <a:spcAft>
                <a:spcPts val="400"/>
              </a:spcAft>
            </a:pPr>
            <a:r>
              <a:rPr sz="1000" b="0" i="0">
                <a:solidFill>
                  <a:srgbClr val="6B2D8B"/>
                </a:solidFill>
                <a:latin typeface="Calibri"/>
              </a:rPr>
              <a:t>activity</a:t>
            </a:r>
          </a:p>
        </p:txBody>
      </p:sp>
      <p:sp>
        <p:nvSpPr>
          <p:cNvPr id="9" name="TextBox 8"/>
          <p:cNvSpPr txBox="1"/>
          <p:nvPr/>
        </p:nvSpPr>
        <p:spPr>
          <a:xfrm>
            <a:off x="1554480" y="6583680"/>
            <a:ext cx="6035040" cy="256032"/>
          </a:xfrm>
          <a:prstGeom prst="rect">
            <a:avLst/>
          </a:prstGeom>
          <a:noFill/>
        </p:spPr>
        <p:txBody>
          <a:bodyPr wrap="square" anchor="t">
            <a:spAutoFit/>
          </a:bodyPr>
          <a:lstStyle/>
          <a:p>
            <a:pPr algn="ctr">
              <a:spcAft>
                <a:spcPts val="400"/>
              </a:spcAft>
            </a:pPr>
            <a:r>
              <a:rPr sz="900" b="0" i="0">
                <a:solidFill>
                  <a:srgbClr val="5A5A5A"/>
                </a:solidFill>
                <a:latin typeface="Calibri"/>
              </a:rPr>
              <a:t>Original course © Boardworks Ltd 2009. Reconstructed interactive resource.</a:t>
            </a:r>
          </a:p>
        </p:txBody>
      </p:sp>
      <p:sp>
        <p:nvSpPr>
          <p:cNvPr id="10" name="Rounded Rectangle 9"/>
          <p:cNvSpPr/>
          <p:nvPr/>
        </p:nvSpPr>
        <p:spPr>
          <a:xfrm>
            <a:off x="640080" y="1554480"/>
            <a:ext cx="7863840" cy="2286000"/>
          </a:xfrm>
          <a:prstGeom prst="roundRect">
            <a:avLst>
              <a:gd name="adj" fmla="val 15000"/>
            </a:avLst>
          </a:prstGeom>
          <a:solidFill>
            <a:srgbClr val="FFEBEE"/>
          </a:solidFill>
          <a:ln w="15875">
            <a:solidFill>
              <a:srgbClr val="C62828"/>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spcBef>
                <a:spcPts val="0"/>
              </a:spcBef>
              <a:spcAft>
                <a:spcPts val="200"/>
              </a:spcAft>
            </a:pPr>
            <a:r>
              <a:rPr sz="1800" b="0" i="0">
                <a:solidFill>
                  <a:srgbClr val="1B3A6B"/>
                </a:solidFill>
                <a:latin typeface="Calibri"/>
              </a:rPr>
              <a:t>Not quite.</a:t>
            </a:r>
          </a:p>
          <a:p>
            <a:pPr algn="ctr">
              <a:spcAft>
                <a:spcPts val="200"/>
              </a:spcAft>
            </a:pPr>
            <a:r>
              <a:rPr sz="1800" b="0" i="0">
                <a:solidFill>
                  <a:srgbClr val="1B3A6B"/>
                </a:solidFill>
                <a:latin typeface="Calibri"/>
              </a:rPr>
              <a:t/>
            </a:r>
          </a:p>
          <a:p>
            <a:pPr algn="ctr">
              <a:spcAft>
                <a:spcPts val="200"/>
              </a:spcAft>
            </a:pPr>
            <a:r>
              <a:rPr sz="1800" b="0" i="0">
                <a:solidFill>
                  <a:srgbClr val="1B3A6B"/>
                </a:solidFill>
                <a:latin typeface="Calibri"/>
              </a:rPr>
              <a:t>Repolarisation is caused by potassium leaving, not by sodium still entering.</a:t>
            </a:r>
          </a:p>
        </p:txBody>
      </p:sp>
      <p:sp>
        <p:nvSpPr>
          <p:cNvPr id="11" name="Rounded Rectangle 10">
            <a:hlinkClick r:id="rId2" action="ppaction://hlinksldjump"/>
          </p:cNvPr>
          <p:cNvSpPr/>
          <p:nvPr/>
        </p:nvSpPr>
        <p:spPr>
          <a:xfrm>
            <a:off x="3200400" y="4389120"/>
            <a:ext cx="2743200" cy="411480"/>
          </a:xfrm>
          <a:prstGeom prst="roundRect">
            <a:avLst>
              <a:gd name="adj" fmla="val 15000"/>
            </a:avLst>
          </a:prstGeom>
          <a:solidFill>
            <a:srgbClr val="EF6C00"/>
          </a:solidFill>
          <a:ln w="12700">
            <a:solidFill>
              <a:srgbClr val="EF6C00"/>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spcBef>
                <a:spcPts val="0"/>
              </a:spcBef>
              <a:spcAft>
                <a:spcPts val="200"/>
              </a:spcAft>
            </a:pPr>
            <a:r>
              <a:rPr sz="1400" b="1" i="0">
                <a:solidFill>
                  <a:srgbClr val="FFFFFF"/>
                </a:solidFill>
                <a:latin typeface="Calibri"/>
              </a:rPr>
              <a:t>Try again</a:t>
            </a:r>
          </a:p>
        </p:txBody>
      </p:sp>
    </p:spTree>
  </p:cSld>
  <p:clrMapOvr>
    <a:masterClrMapping/>
  </p:clrMapOvr>
</p:sld>
</file>

<file path=ppt/slides/slide53.xml><?xml version="1.0" encoding="utf-8"?>
<p:sld xmlns:a="http://schemas.openxmlformats.org/drawingml/2006/main" xmlns:p="http://schemas.openxmlformats.org/presentationml/2006/main" xmlns:r="http://schemas.openxmlformats.org/officeDocument/2006/relationships" show="0">
  <p:cSld>
    <p:spTree>
      <p:nvGrpSpPr>
        <p:cNvPr id="1" name=""/>
        <p:cNvGrpSpPr/>
        <p:nvPr/>
      </p:nvGrpSpPr>
      <p:grpSpPr/>
      <p:sp>
        <p:nvSpPr>
          <p:cNvPr id="2" name="Rectangle 1"/>
          <p:cNvSpPr/>
          <p:nvPr/>
        </p:nvSpPr>
        <p:spPr>
          <a:xfrm>
            <a:off x="0" y="0"/>
            <a:ext cx="9144000" cy="658368"/>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640080"/>
            <a:ext cx="9144000" cy="54864"/>
          </a:xfrm>
          <a:prstGeom prst="rect">
            <a:avLst/>
          </a:pr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256032" y="91440"/>
            <a:ext cx="7498079" cy="502920"/>
          </a:xfrm>
          <a:prstGeom prst="rect">
            <a:avLst/>
          </a:prstGeom>
          <a:noFill/>
        </p:spPr>
        <p:txBody>
          <a:bodyPr wrap="square" anchor="t">
            <a:spAutoFit/>
          </a:bodyPr>
          <a:lstStyle/>
          <a:p>
            <a:pPr algn="l">
              <a:spcAft>
                <a:spcPts val="400"/>
              </a:spcAft>
            </a:pPr>
            <a:r>
              <a:rPr sz="2600" b="1" i="0">
                <a:solidFill>
                  <a:srgbClr val="2E9E4F"/>
                </a:solidFill>
                <a:latin typeface="Calibri"/>
              </a:rPr>
              <a:t>How does the axon change?</a:t>
            </a:r>
          </a:p>
        </p:txBody>
      </p:sp>
      <p:sp>
        <p:nvSpPr>
          <p:cNvPr id="5" name="Rounded Rectangle 4"/>
          <p:cNvSpPr/>
          <p:nvPr/>
        </p:nvSpPr>
        <p:spPr>
          <a:xfrm>
            <a:off x="7452360" y="109728"/>
            <a:ext cx="1536192" cy="420624"/>
          </a:xfrm>
          <a:prstGeom prst="roundRect">
            <a:avLst>
              <a:gd name="adj" fmla="val 15000"/>
            </a:avLst>
          </a:prstGeom>
          <a:solidFill>
            <a:srgbClr val="C8E6A0"/>
          </a:solidFill>
          <a:ln w="12700">
            <a:solidFill>
              <a:srgbClr val="1B7A3A"/>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spcBef>
                <a:spcPts val="0"/>
              </a:spcBef>
              <a:spcAft>
                <a:spcPts val="200"/>
              </a:spcAft>
            </a:pPr>
            <a:r>
              <a:rPr sz="1100" b="1" i="0">
                <a:solidFill>
                  <a:srgbClr val="1B7A3A"/>
                </a:solidFill>
                <a:latin typeface="Calibri"/>
              </a:rPr>
              <a:t>A2 Biology</a:t>
            </a:r>
          </a:p>
        </p:txBody>
      </p:sp>
      <p:sp>
        <p:nvSpPr>
          <p:cNvPr id="6" name="Rectangle 5"/>
          <p:cNvSpPr/>
          <p:nvPr/>
        </p:nvSpPr>
        <p:spPr>
          <a:xfrm>
            <a:off x="0" y="0"/>
            <a:ext cx="73152" cy="6858000"/>
          </a:xfrm>
          <a:prstGeom prst="rect">
            <a:avLst/>
          </a:prstGeom>
          <a:solidFill>
            <a:srgbClr val="6B2D8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3152" y="6565392"/>
            <a:ext cx="9070848" cy="36576"/>
          </a:xfrm>
          <a:prstGeom prst="rect">
            <a:avLst/>
          </a:prstGeom>
          <a:solidFill>
            <a:srgbClr val="7A3E9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228600" y="6583680"/>
            <a:ext cx="1280160" cy="256032"/>
          </a:xfrm>
          <a:prstGeom prst="rect">
            <a:avLst/>
          </a:prstGeom>
          <a:noFill/>
        </p:spPr>
        <p:txBody>
          <a:bodyPr wrap="square" anchor="t">
            <a:spAutoFit/>
          </a:bodyPr>
          <a:lstStyle/>
          <a:p>
            <a:pPr algn="l">
              <a:spcAft>
                <a:spcPts val="400"/>
              </a:spcAft>
            </a:pPr>
            <a:r>
              <a:rPr sz="1000" b="0" i="0">
                <a:solidFill>
                  <a:srgbClr val="6B2D8B"/>
                </a:solidFill>
                <a:latin typeface="Calibri"/>
              </a:rPr>
              <a:t>activity</a:t>
            </a:r>
          </a:p>
        </p:txBody>
      </p:sp>
      <p:sp>
        <p:nvSpPr>
          <p:cNvPr id="9" name="TextBox 8"/>
          <p:cNvSpPr txBox="1"/>
          <p:nvPr/>
        </p:nvSpPr>
        <p:spPr>
          <a:xfrm>
            <a:off x="1554480" y="6583680"/>
            <a:ext cx="6035040" cy="256032"/>
          </a:xfrm>
          <a:prstGeom prst="rect">
            <a:avLst/>
          </a:prstGeom>
          <a:noFill/>
        </p:spPr>
        <p:txBody>
          <a:bodyPr wrap="square" anchor="t">
            <a:spAutoFit/>
          </a:bodyPr>
          <a:lstStyle/>
          <a:p>
            <a:pPr algn="ctr">
              <a:spcAft>
                <a:spcPts val="400"/>
              </a:spcAft>
            </a:pPr>
            <a:r>
              <a:rPr sz="900" b="0" i="0">
                <a:solidFill>
                  <a:srgbClr val="5A5A5A"/>
                </a:solidFill>
                <a:latin typeface="Calibri"/>
              </a:rPr>
              <a:t>Original course © Boardworks Ltd 2009. Reconstructed interactive resource.</a:t>
            </a:r>
          </a:p>
        </p:txBody>
      </p:sp>
      <p:sp>
        <p:nvSpPr>
          <p:cNvPr id="10" name="Rounded Rectangle 9"/>
          <p:cNvSpPr/>
          <p:nvPr/>
        </p:nvSpPr>
        <p:spPr>
          <a:xfrm>
            <a:off x="640080" y="1554480"/>
            <a:ext cx="7863840" cy="2286000"/>
          </a:xfrm>
          <a:prstGeom prst="roundRect">
            <a:avLst>
              <a:gd name="adj" fmla="val 15000"/>
            </a:avLst>
          </a:prstGeom>
          <a:solidFill>
            <a:srgbClr val="FFEBEE"/>
          </a:solidFill>
          <a:ln w="15875">
            <a:solidFill>
              <a:srgbClr val="C62828"/>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spcBef>
                <a:spcPts val="0"/>
              </a:spcBef>
              <a:spcAft>
                <a:spcPts val="200"/>
              </a:spcAft>
            </a:pPr>
            <a:r>
              <a:rPr sz="1800" b="0" i="0">
                <a:solidFill>
                  <a:srgbClr val="1B3A6B"/>
                </a:solidFill>
                <a:latin typeface="Calibri"/>
              </a:rPr>
              <a:t>Not quite.</a:t>
            </a:r>
          </a:p>
          <a:p>
            <a:pPr algn="ctr">
              <a:spcAft>
                <a:spcPts val="200"/>
              </a:spcAft>
            </a:pPr>
            <a:r>
              <a:rPr sz="1800" b="0" i="0">
                <a:solidFill>
                  <a:srgbClr val="1B3A6B"/>
                </a:solidFill>
                <a:latin typeface="Calibri"/>
              </a:rPr>
              <a:t/>
            </a:r>
          </a:p>
          <a:p>
            <a:pPr algn="ctr">
              <a:spcAft>
                <a:spcPts val="200"/>
              </a:spcAft>
            </a:pPr>
            <a:r>
              <a:rPr sz="1800" b="0" i="0">
                <a:solidFill>
                  <a:srgbClr val="1B3A6B"/>
                </a:solidFill>
                <a:latin typeface="Calibri"/>
              </a:rPr>
              <a:t>Repolarisation is caused by potassium leaving, not by sodium still entering.</a:t>
            </a:r>
          </a:p>
        </p:txBody>
      </p:sp>
      <p:sp>
        <p:nvSpPr>
          <p:cNvPr id="11" name="Rounded Rectangle 10">
            <a:hlinkClick r:id="rId2" action="ppaction://hlinksldjump"/>
          </p:cNvPr>
          <p:cNvSpPr/>
          <p:nvPr/>
        </p:nvSpPr>
        <p:spPr>
          <a:xfrm>
            <a:off x="3200400" y="4389120"/>
            <a:ext cx="2743200" cy="411480"/>
          </a:xfrm>
          <a:prstGeom prst="roundRect">
            <a:avLst>
              <a:gd name="adj" fmla="val 15000"/>
            </a:avLst>
          </a:prstGeom>
          <a:solidFill>
            <a:srgbClr val="EF6C00"/>
          </a:solidFill>
          <a:ln w="12700">
            <a:solidFill>
              <a:srgbClr val="EF6C00"/>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spcBef>
                <a:spcPts val="0"/>
              </a:spcBef>
              <a:spcAft>
                <a:spcPts val="200"/>
              </a:spcAft>
            </a:pPr>
            <a:r>
              <a:rPr sz="1400" b="1" i="0">
                <a:solidFill>
                  <a:srgbClr val="FFFFFF"/>
                </a:solidFill>
                <a:latin typeface="Calibri"/>
              </a:rPr>
              <a:t>Try again</a:t>
            </a:r>
          </a:p>
        </p:txBody>
      </p:sp>
    </p:spTree>
  </p:cSld>
  <p:clrMapOvr>
    <a:masterClrMapping/>
  </p:clrMapOvr>
</p:sld>
</file>

<file path=ppt/slides/slide5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9144000" cy="658368"/>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640080"/>
            <a:ext cx="9144000" cy="54864"/>
          </a:xfrm>
          <a:prstGeom prst="rect">
            <a:avLst/>
          </a:pr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256032" y="91440"/>
            <a:ext cx="7498079" cy="502920"/>
          </a:xfrm>
          <a:prstGeom prst="rect">
            <a:avLst/>
          </a:prstGeom>
          <a:noFill/>
        </p:spPr>
        <p:txBody>
          <a:bodyPr wrap="square" anchor="t">
            <a:spAutoFit/>
          </a:bodyPr>
          <a:lstStyle/>
          <a:p>
            <a:pPr algn="l">
              <a:spcAft>
                <a:spcPts val="400"/>
              </a:spcAft>
            </a:pPr>
            <a:r>
              <a:rPr sz="2600" b="1" i="0">
                <a:solidFill>
                  <a:srgbClr val="2E9E4F"/>
                </a:solidFill>
                <a:latin typeface="Calibri"/>
              </a:rPr>
              <a:t>How does the axon change?</a:t>
            </a:r>
          </a:p>
        </p:txBody>
      </p:sp>
      <p:sp>
        <p:nvSpPr>
          <p:cNvPr id="5" name="Rounded Rectangle 4"/>
          <p:cNvSpPr/>
          <p:nvPr/>
        </p:nvSpPr>
        <p:spPr>
          <a:xfrm>
            <a:off x="7452360" y="109728"/>
            <a:ext cx="1536192" cy="420624"/>
          </a:xfrm>
          <a:prstGeom prst="roundRect">
            <a:avLst>
              <a:gd name="adj" fmla="val 15000"/>
            </a:avLst>
          </a:prstGeom>
          <a:solidFill>
            <a:srgbClr val="C8E6A0"/>
          </a:solidFill>
          <a:ln w="12700">
            <a:solidFill>
              <a:srgbClr val="1B7A3A"/>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spcBef>
                <a:spcPts val="0"/>
              </a:spcBef>
              <a:spcAft>
                <a:spcPts val="200"/>
              </a:spcAft>
            </a:pPr>
            <a:r>
              <a:rPr sz="1100" b="1" i="0">
                <a:solidFill>
                  <a:srgbClr val="1B7A3A"/>
                </a:solidFill>
                <a:latin typeface="Calibri"/>
              </a:rPr>
              <a:t>A2 Biology</a:t>
            </a:r>
          </a:p>
        </p:txBody>
      </p:sp>
      <p:sp>
        <p:nvSpPr>
          <p:cNvPr id="6" name="Rectangle 5"/>
          <p:cNvSpPr/>
          <p:nvPr/>
        </p:nvSpPr>
        <p:spPr>
          <a:xfrm>
            <a:off x="0" y="0"/>
            <a:ext cx="73152" cy="6858000"/>
          </a:xfrm>
          <a:prstGeom prst="rect">
            <a:avLst/>
          </a:prstGeom>
          <a:solidFill>
            <a:srgbClr val="6B2D8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3152" y="6565392"/>
            <a:ext cx="9070848" cy="36576"/>
          </a:xfrm>
          <a:prstGeom prst="rect">
            <a:avLst/>
          </a:prstGeom>
          <a:solidFill>
            <a:srgbClr val="7A3E9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228600" y="6583680"/>
            <a:ext cx="1280160" cy="256032"/>
          </a:xfrm>
          <a:prstGeom prst="rect">
            <a:avLst/>
          </a:prstGeom>
          <a:noFill/>
        </p:spPr>
        <p:txBody>
          <a:bodyPr wrap="square" anchor="t">
            <a:spAutoFit/>
          </a:bodyPr>
          <a:lstStyle/>
          <a:p>
            <a:pPr algn="l">
              <a:spcAft>
                <a:spcPts val="400"/>
              </a:spcAft>
            </a:pPr>
            <a:r>
              <a:rPr sz="1000" b="0" i="0">
                <a:solidFill>
                  <a:srgbClr val="6B2D8B"/>
                </a:solidFill>
                <a:latin typeface="Calibri"/>
              </a:rPr>
              <a:t>19 of 29</a:t>
            </a:r>
          </a:p>
        </p:txBody>
      </p:sp>
      <p:sp>
        <p:nvSpPr>
          <p:cNvPr id="9" name="TextBox 8"/>
          <p:cNvSpPr txBox="1"/>
          <p:nvPr/>
        </p:nvSpPr>
        <p:spPr>
          <a:xfrm>
            <a:off x="1554480" y="6583680"/>
            <a:ext cx="6035040" cy="256032"/>
          </a:xfrm>
          <a:prstGeom prst="rect">
            <a:avLst/>
          </a:prstGeom>
          <a:noFill/>
        </p:spPr>
        <p:txBody>
          <a:bodyPr wrap="square" anchor="t">
            <a:spAutoFit/>
          </a:bodyPr>
          <a:lstStyle/>
          <a:p>
            <a:pPr algn="ctr">
              <a:spcAft>
                <a:spcPts val="400"/>
              </a:spcAft>
            </a:pPr>
            <a:r>
              <a:rPr sz="900" b="0" i="0">
                <a:solidFill>
                  <a:srgbClr val="5A5A5A"/>
                </a:solidFill>
                <a:latin typeface="Calibri"/>
              </a:rPr>
              <a:t>Original course © Boardworks Ltd 2009. Reconstructed interactive resource.</a:t>
            </a:r>
          </a:p>
        </p:txBody>
      </p:sp>
      <p:sp>
        <p:nvSpPr>
          <p:cNvPr id="10" name="Oval 9">
            <a:hlinkClick r:id="rId7" action="ppaction://hlinksldjump"/>
          </p:cNvPr>
          <p:cNvSpPr/>
          <p:nvPr/>
        </p:nvSpPr>
        <p:spPr>
          <a:xfrm>
            <a:off x="146304" y="5760720"/>
            <a:ext cx="384048" cy="384048"/>
          </a:xfrm>
          <a:prstGeom prst="ellipse">
            <a:avLst/>
          </a:prstGeom>
          <a:solidFill>
            <a:srgbClr val="FFFFFF"/>
          </a:solidFill>
          <a:ln w="22225">
            <a:solidFill>
              <a:srgbClr val="6B2D8B"/>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spcBef>
                <a:spcPts val="0"/>
              </a:spcBef>
              <a:spcAft>
                <a:spcPts val="200"/>
              </a:spcAft>
            </a:pPr>
            <a:r>
              <a:rPr sz="1400" b="1" i="0">
                <a:solidFill>
                  <a:srgbClr val="6B2D8B"/>
                </a:solidFill>
                <a:latin typeface="Calibri"/>
              </a:rPr>
              <a:t>◀</a:t>
            </a:r>
          </a:p>
        </p:txBody>
      </p:sp>
      <p:sp>
        <p:nvSpPr>
          <p:cNvPr id="11" name="Oval 10">
            <a:hlinkClick r:id="rId8" action="ppaction://hlinksldjump"/>
          </p:cNvPr>
          <p:cNvSpPr/>
          <p:nvPr/>
        </p:nvSpPr>
        <p:spPr>
          <a:xfrm>
            <a:off x="8613648" y="5760720"/>
            <a:ext cx="384048" cy="384048"/>
          </a:xfrm>
          <a:prstGeom prst="ellipse">
            <a:avLst/>
          </a:prstGeom>
          <a:solidFill>
            <a:srgbClr val="6B2D8B"/>
          </a:solidFill>
          <a:ln w="12700">
            <a:solidFill>
              <a:srgbClr val="6B2D8B"/>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spcBef>
                <a:spcPts val="0"/>
              </a:spcBef>
              <a:spcAft>
                <a:spcPts val="200"/>
              </a:spcAft>
            </a:pPr>
            <a:r>
              <a:rPr sz="1400" b="1" i="0">
                <a:solidFill>
                  <a:srgbClr val="FFFFFF"/>
                </a:solidFill>
                <a:latin typeface="Calibri"/>
              </a:rPr>
              <a:t>▶</a:t>
            </a:r>
          </a:p>
        </p:txBody>
      </p:sp>
      <p:sp>
        <p:nvSpPr>
          <p:cNvPr id="12" name="TextBox 11"/>
          <p:cNvSpPr txBox="1"/>
          <p:nvPr/>
        </p:nvSpPr>
        <p:spPr>
          <a:xfrm>
            <a:off x="365760" y="868680"/>
            <a:ext cx="8412480" cy="1051560"/>
          </a:xfrm>
          <a:prstGeom prst="rect">
            <a:avLst/>
          </a:prstGeom>
          <a:noFill/>
        </p:spPr>
        <p:txBody>
          <a:bodyPr wrap="square" anchor="t">
            <a:spAutoFit/>
          </a:bodyPr>
          <a:lstStyle/>
          <a:p>
            <a:pPr algn="l">
              <a:spcAft>
                <a:spcPts val="400"/>
              </a:spcAft>
            </a:pPr>
            <a:r>
              <a:rPr sz="2000" b="1" i="0">
                <a:solidFill>
                  <a:srgbClr val="1B3A6B"/>
                </a:solidFill>
                <a:latin typeface="Calibri"/>
              </a:rPr>
              <a:t>Why does a local circuit cause the next region of membrane to depolarise?</a:t>
            </a:r>
          </a:p>
        </p:txBody>
      </p:sp>
      <p:sp>
        <p:nvSpPr>
          <p:cNvPr id="13" name="Rounded Rectangle 12">
            <a:hlinkClick r:id="rId3" action="ppaction://hlinksldjump"/>
          </p:cNvPr>
          <p:cNvSpPr/>
          <p:nvPr/>
        </p:nvSpPr>
        <p:spPr>
          <a:xfrm>
            <a:off x="594360" y="2011680"/>
            <a:ext cx="7955279" cy="621792"/>
          </a:xfrm>
          <a:prstGeom prst="roundRect">
            <a:avLst>
              <a:gd name="adj" fmla="val 15000"/>
            </a:avLst>
          </a:prstGeom>
          <a:solidFill>
            <a:srgbClr val="E3F2FD"/>
          </a:solidFill>
          <a:ln w="12700">
            <a:solidFill>
              <a:srgbClr val="1B3A6B"/>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spcBef>
                <a:spcPts val="0"/>
              </a:spcBef>
              <a:spcAft>
                <a:spcPts val="200"/>
              </a:spcAft>
            </a:pPr>
            <a:r>
              <a:rPr sz="1500" b="1" i="0">
                <a:solidFill>
                  <a:srgbClr val="1B3A6B"/>
                </a:solidFill>
                <a:latin typeface="Calibri"/>
              </a:rPr>
              <a:t>A   The pump reverses direction</a:t>
            </a:r>
          </a:p>
        </p:txBody>
      </p:sp>
      <p:sp>
        <p:nvSpPr>
          <p:cNvPr id="14" name="Rounded Rectangle 13">
            <a:hlinkClick r:id="rId4" action="ppaction://hlinksldjump"/>
          </p:cNvPr>
          <p:cNvSpPr/>
          <p:nvPr/>
        </p:nvSpPr>
        <p:spPr>
          <a:xfrm>
            <a:off x="594360" y="2761488"/>
            <a:ext cx="7955279" cy="621792"/>
          </a:xfrm>
          <a:prstGeom prst="roundRect">
            <a:avLst>
              <a:gd name="adj" fmla="val 15000"/>
            </a:avLst>
          </a:prstGeom>
          <a:solidFill>
            <a:srgbClr val="E3F2FD"/>
          </a:solidFill>
          <a:ln w="12700">
            <a:solidFill>
              <a:srgbClr val="1B3A6B"/>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spcBef>
                <a:spcPts val="0"/>
              </a:spcBef>
              <a:spcAft>
                <a:spcPts val="200"/>
              </a:spcAft>
            </a:pPr>
            <a:r>
              <a:rPr sz="1500" b="1" i="0">
                <a:solidFill>
                  <a:srgbClr val="1B3A6B"/>
                </a:solidFill>
                <a:latin typeface="Calibri"/>
              </a:rPr>
              <a:t>B   Positive charge inside spreads to the adjacent region, opening Na⁺ channels there</a:t>
            </a:r>
          </a:p>
        </p:txBody>
      </p:sp>
      <p:sp>
        <p:nvSpPr>
          <p:cNvPr id="15" name="Rounded Rectangle 14">
            <a:hlinkClick r:id="rId5" action="ppaction://hlinksldjump"/>
          </p:cNvPr>
          <p:cNvSpPr/>
          <p:nvPr/>
        </p:nvSpPr>
        <p:spPr>
          <a:xfrm>
            <a:off x="594360" y="3511296"/>
            <a:ext cx="7955279" cy="621792"/>
          </a:xfrm>
          <a:prstGeom prst="roundRect">
            <a:avLst>
              <a:gd name="adj" fmla="val 15000"/>
            </a:avLst>
          </a:prstGeom>
          <a:solidFill>
            <a:srgbClr val="E3F2FD"/>
          </a:solidFill>
          <a:ln w="12700">
            <a:solidFill>
              <a:srgbClr val="1B3A6B"/>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spcBef>
                <a:spcPts val="0"/>
              </a:spcBef>
              <a:spcAft>
                <a:spcPts val="200"/>
              </a:spcAft>
            </a:pPr>
            <a:r>
              <a:rPr sz="1500" b="1" i="0">
                <a:solidFill>
                  <a:srgbClr val="1B3A6B"/>
                </a:solidFill>
                <a:latin typeface="Calibri"/>
              </a:rPr>
              <a:t>C   Myelin pumps sodium</a:t>
            </a:r>
          </a:p>
        </p:txBody>
      </p:sp>
      <p:sp>
        <p:nvSpPr>
          <p:cNvPr id="16" name="Rounded Rectangle 15">
            <a:hlinkClick r:id="rId6" action="ppaction://hlinksldjump"/>
          </p:cNvPr>
          <p:cNvSpPr/>
          <p:nvPr/>
        </p:nvSpPr>
        <p:spPr>
          <a:xfrm>
            <a:off x="594360" y="4261104"/>
            <a:ext cx="7955279" cy="621792"/>
          </a:xfrm>
          <a:prstGeom prst="roundRect">
            <a:avLst>
              <a:gd name="adj" fmla="val 15000"/>
            </a:avLst>
          </a:prstGeom>
          <a:solidFill>
            <a:srgbClr val="E3F2FD"/>
          </a:solidFill>
          <a:ln w="12700">
            <a:solidFill>
              <a:srgbClr val="1B3A6B"/>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spcBef>
                <a:spcPts val="0"/>
              </a:spcBef>
              <a:spcAft>
                <a:spcPts val="200"/>
              </a:spcAft>
            </a:pPr>
            <a:r>
              <a:rPr sz="1500" b="1" i="0">
                <a:solidFill>
                  <a:srgbClr val="1B3A6B"/>
                </a:solidFill>
                <a:latin typeface="Calibri"/>
              </a:rPr>
              <a:t>D   The synapse releases calcium along the axon</a:t>
            </a:r>
          </a:p>
        </p:txBody>
      </p:sp>
    </p:spTree>
  </p:cSld>
  <p:clrMapOvr>
    <a:masterClrMapping/>
  </p:clrMapOvr>
</p:sld>
</file>

<file path=ppt/slides/slide55.xml><?xml version="1.0" encoding="utf-8"?>
<p:sld xmlns:a="http://schemas.openxmlformats.org/drawingml/2006/main" xmlns:p="http://schemas.openxmlformats.org/presentationml/2006/main" xmlns:r="http://schemas.openxmlformats.org/officeDocument/2006/relationships" show="0">
  <p:cSld>
    <p:spTree>
      <p:nvGrpSpPr>
        <p:cNvPr id="1" name=""/>
        <p:cNvGrpSpPr/>
        <p:nvPr/>
      </p:nvGrpSpPr>
      <p:grpSpPr/>
      <p:sp>
        <p:nvSpPr>
          <p:cNvPr id="2" name="Rectangle 1"/>
          <p:cNvSpPr/>
          <p:nvPr/>
        </p:nvSpPr>
        <p:spPr>
          <a:xfrm>
            <a:off x="0" y="0"/>
            <a:ext cx="9144000" cy="658368"/>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640080"/>
            <a:ext cx="9144000" cy="54864"/>
          </a:xfrm>
          <a:prstGeom prst="rect">
            <a:avLst/>
          </a:pr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256032" y="91440"/>
            <a:ext cx="7498079" cy="502920"/>
          </a:xfrm>
          <a:prstGeom prst="rect">
            <a:avLst/>
          </a:prstGeom>
          <a:noFill/>
        </p:spPr>
        <p:txBody>
          <a:bodyPr wrap="square" anchor="t">
            <a:spAutoFit/>
          </a:bodyPr>
          <a:lstStyle/>
          <a:p>
            <a:pPr algn="l">
              <a:spcAft>
                <a:spcPts val="400"/>
              </a:spcAft>
            </a:pPr>
            <a:r>
              <a:rPr sz="2600" b="1" i="0">
                <a:solidFill>
                  <a:srgbClr val="2E9E4F"/>
                </a:solidFill>
                <a:latin typeface="Calibri"/>
              </a:rPr>
              <a:t>How does the axon change?</a:t>
            </a:r>
          </a:p>
        </p:txBody>
      </p:sp>
      <p:sp>
        <p:nvSpPr>
          <p:cNvPr id="5" name="Rounded Rectangle 4"/>
          <p:cNvSpPr/>
          <p:nvPr/>
        </p:nvSpPr>
        <p:spPr>
          <a:xfrm>
            <a:off x="7452360" y="109728"/>
            <a:ext cx="1536192" cy="420624"/>
          </a:xfrm>
          <a:prstGeom prst="roundRect">
            <a:avLst>
              <a:gd name="adj" fmla="val 15000"/>
            </a:avLst>
          </a:prstGeom>
          <a:solidFill>
            <a:srgbClr val="C8E6A0"/>
          </a:solidFill>
          <a:ln w="12700">
            <a:solidFill>
              <a:srgbClr val="1B7A3A"/>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spcBef>
                <a:spcPts val="0"/>
              </a:spcBef>
              <a:spcAft>
                <a:spcPts val="200"/>
              </a:spcAft>
            </a:pPr>
            <a:r>
              <a:rPr sz="1100" b="1" i="0">
                <a:solidFill>
                  <a:srgbClr val="1B7A3A"/>
                </a:solidFill>
                <a:latin typeface="Calibri"/>
              </a:rPr>
              <a:t>A2 Biology</a:t>
            </a:r>
          </a:p>
        </p:txBody>
      </p:sp>
      <p:sp>
        <p:nvSpPr>
          <p:cNvPr id="6" name="Rectangle 5"/>
          <p:cNvSpPr/>
          <p:nvPr/>
        </p:nvSpPr>
        <p:spPr>
          <a:xfrm>
            <a:off x="0" y="0"/>
            <a:ext cx="73152" cy="6858000"/>
          </a:xfrm>
          <a:prstGeom prst="rect">
            <a:avLst/>
          </a:prstGeom>
          <a:solidFill>
            <a:srgbClr val="6B2D8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3152" y="6565392"/>
            <a:ext cx="9070848" cy="36576"/>
          </a:xfrm>
          <a:prstGeom prst="rect">
            <a:avLst/>
          </a:prstGeom>
          <a:solidFill>
            <a:srgbClr val="7A3E9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228600" y="6583680"/>
            <a:ext cx="1280160" cy="256032"/>
          </a:xfrm>
          <a:prstGeom prst="rect">
            <a:avLst/>
          </a:prstGeom>
          <a:noFill/>
        </p:spPr>
        <p:txBody>
          <a:bodyPr wrap="square" anchor="t">
            <a:spAutoFit/>
          </a:bodyPr>
          <a:lstStyle/>
          <a:p>
            <a:pPr algn="l">
              <a:spcAft>
                <a:spcPts val="400"/>
              </a:spcAft>
            </a:pPr>
            <a:r>
              <a:rPr sz="1000" b="0" i="0">
                <a:solidFill>
                  <a:srgbClr val="6B2D8B"/>
                </a:solidFill>
                <a:latin typeface="Calibri"/>
              </a:rPr>
              <a:t>activity</a:t>
            </a:r>
          </a:p>
        </p:txBody>
      </p:sp>
      <p:sp>
        <p:nvSpPr>
          <p:cNvPr id="9" name="TextBox 8"/>
          <p:cNvSpPr txBox="1"/>
          <p:nvPr/>
        </p:nvSpPr>
        <p:spPr>
          <a:xfrm>
            <a:off x="1554480" y="6583680"/>
            <a:ext cx="6035040" cy="256032"/>
          </a:xfrm>
          <a:prstGeom prst="rect">
            <a:avLst/>
          </a:prstGeom>
          <a:noFill/>
        </p:spPr>
        <p:txBody>
          <a:bodyPr wrap="square" anchor="t">
            <a:spAutoFit/>
          </a:bodyPr>
          <a:lstStyle/>
          <a:p>
            <a:pPr algn="ctr">
              <a:spcAft>
                <a:spcPts val="400"/>
              </a:spcAft>
            </a:pPr>
            <a:r>
              <a:rPr sz="900" b="0" i="0">
                <a:solidFill>
                  <a:srgbClr val="5A5A5A"/>
                </a:solidFill>
                <a:latin typeface="Calibri"/>
              </a:rPr>
              <a:t>Original course © Boardworks Ltd 2009. Reconstructed interactive resource.</a:t>
            </a:r>
          </a:p>
        </p:txBody>
      </p:sp>
      <p:sp>
        <p:nvSpPr>
          <p:cNvPr id="10" name="Rounded Rectangle 9"/>
          <p:cNvSpPr/>
          <p:nvPr/>
        </p:nvSpPr>
        <p:spPr>
          <a:xfrm>
            <a:off x="640080" y="1554480"/>
            <a:ext cx="7863840" cy="2560320"/>
          </a:xfrm>
          <a:prstGeom prst="roundRect">
            <a:avLst>
              <a:gd name="adj" fmla="val 15000"/>
            </a:avLst>
          </a:prstGeom>
          <a:solidFill>
            <a:srgbClr val="E8F5E9"/>
          </a:solidFill>
          <a:ln w="15875">
            <a:solidFill>
              <a:srgbClr val="1B7A3A"/>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spcBef>
                <a:spcPts val="0"/>
              </a:spcBef>
              <a:spcAft>
                <a:spcPts val="200"/>
              </a:spcAft>
            </a:pPr>
            <a:r>
              <a:rPr sz="1800" b="0" i="0">
                <a:solidFill>
                  <a:srgbClr val="1B3A6B"/>
                </a:solidFill>
                <a:latin typeface="Calibri"/>
              </a:rPr>
              <a:t>Correct.</a:t>
            </a:r>
          </a:p>
          <a:p>
            <a:pPr algn="ctr">
              <a:spcAft>
                <a:spcPts val="200"/>
              </a:spcAft>
            </a:pPr>
            <a:r>
              <a:rPr sz="1800" b="0" i="0">
                <a:solidFill>
                  <a:srgbClr val="1B3A6B"/>
                </a:solidFill>
                <a:latin typeface="Calibri"/>
              </a:rPr>
              <a:t/>
            </a:r>
          </a:p>
          <a:p>
            <a:pPr algn="ctr">
              <a:spcAft>
                <a:spcPts val="200"/>
              </a:spcAft>
            </a:pPr>
            <a:r>
              <a:rPr sz="1800" b="0" i="0">
                <a:solidFill>
                  <a:srgbClr val="1B3A6B"/>
                </a:solidFill>
                <a:latin typeface="Calibri"/>
              </a:rPr>
              <a:t>Inward Na⁺ makes that patch positive. Nearby resting membrane is depolarised to threshold and a new action potential is generated – the impulse propagates.</a:t>
            </a:r>
          </a:p>
        </p:txBody>
      </p:sp>
      <p:sp>
        <p:nvSpPr>
          <p:cNvPr id="11" name="Rounded Rectangle 10">
            <a:hlinkClick r:id="rId2" action="ppaction://hlinksldjump"/>
          </p:cNvPr>
          <p:cNvSpPr/>
          <p:nvPr/>
        </p:nvSpPr>
        <p:spPr>
          <a:xfrm>
            <a:off x="3200400" y="4572000"/>
            <a:ext cx="2743200" cy="411480"/>
          </a:xfrm>
          <a:prstGeom prst="roundRect">
            <a:avLst>
              <a:gd name="adj" fmla="val 15000"/>
            </a:avLst>
          </a:prstGeom>
          <a:solidFill>
            <a:srgbClr val="2E9E4F"/>
          </a:solidFill>
          <a:ln w="12700">
            <a:solidFill>
              <a:srgbClr val="2E9E4F"/>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spcBef>
                <a:spcPts val="0"/>
              </a:spcBef>
              <a:spcAft>
                <a:spcPts val="200"/>
              </a:spcAft>
            </a:pPr>
            <a:r>
              <a:rPr sz="1400" b="1" i="0">
                <a:solidFill>
                  <a:srgbClr val="FFFFFF"/>
                </a:solidFill>
                <a:latin typeface="Calibri"/>
              </a:rPr>
              <a:t>Continue</a:t>
            </a:r>
          </a:p>
        </p:txBody>
      </p:sp>
    </p:spTree>
  </p:cSld>
  <p:clrMapOvr>
    <a:masterClrMapping/>
  </p:clrMapOvr>
</p:sld>
</file>

<file path=ppt/slides/slide56.xml><?xml version="1.0" encoding="utf-8"?>
<p:sld xmlns:a="http://schemas.openxmlformats.org/drawingml/2006/main" xmlns:p="http://schemas.openxmlformats.org/presentationml/2006/main" xmlns:r="http://schemas.openxmlformats.org/officeDocument/2006/relationships" show="0">
  <p:cSld>
    <p:spTree>
      <p:nvGrpSpPr>
        <p:cNvPr id="1" name=""/>
        <p:cNvGrpSpPr/>
        <p:nvPr/>
      </p:nvGrpSpPr>
      <p:grpSpPr/>
      <p:sp>
        <p:nvSpPr>
          <p:cNvPr id="2" name="Rectangle 1"/>
          <p:cNvSpPr/>
          <p:nvPr/>
        </p:nvSpPr>
        <p:spPr>
          <a:xfrm>
            <a:off x="0" y="0"/>
            <a:ext cx="9144000" cy="658368"/>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640080"/>
            <a:ext cx="9144000" cy="54864"/>
          </a:xfrm>
          <a:prstGeom prst="rect">
            <a:avLst/>
          </a:pr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256032" y="91440"/>
            <a:ext cx="7498079" cy="502920"/>
          </a:xfrm>
          <a:prstGeom prst="rect">
            <a:avLst/>
          </a:prstGeom>
          <a:noFill/>
        </p:spPr>
        <p:txBody>
          <a:bodyPr wrap="square" anchor="t">
            <a:spAutoFit/>
          </a:bodyPr>
          <a:lstStyle/>
          <a:p>
            <a:pPr algn="l">
              <a:spcAft>
                <a:spcPts val="400"/>
              </a:spcAft>
            </a:pPr>
            <a:r>
              <a:rPr sz="2600" b="1" i="0">
                <a:solidFill>
                  <a:srgbClr val="2E9E4F"/>
                </a:solidFill>
                <a:latin typeface="Calibri"/>
              </a:rPr>
              <a:t>How does the axon change?</a:t>
            </a:r>
          </a:p>
        </p:txBody>
      </p:sp>
      <p:sp>
        <p:nvSpPr>
          <p:cNvPr id="5" name="Rounded Rectangle 4"/>
          <p:cNvSpPr/>
          <p:nvPr/>
        </p:nvSpPr>
        <p:spPr>
          <a:xfrm>
            <a:off x="7452360" y="109728"/>
            <a:ext cx="1536192" cy="420624"/>
          </a:xfrm>
          <a:prstGeom prst="roundRect">
            <a:avLst>
              <a:gd name="adj" fmla="val 15000"/>
            </a:avLst>
          </a:prstGeom>
          <a:solidFill>
            <a:srgbClr val="C8E6A0"/>
          </a:solidFill>
          <a:ln w="12700">
            <a:solidFill>
              <a:srgbClr val="1B7A3A"/>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spcBef>
                <a:spcPts val="0"/>
              </a:spcBef>
              <a:spcAft>
                <a:spcPts val="200"/>
              </a:spcAft>
            </a:pPr>
            <a:r>
              <a:rPr sz="1100" b="1" i="0">
                <a:solidFill>
                  <a:srgbClr val="1B7A3A"/>
                </a:solidFill>
                <a:latin typeface="Calibri"/>
              </a:rPr>
              <a:t>A2 Biology</a:t>
            </a:r>
          </a:p>
        </p:txBody>
      </p:sp>
      <p:sp>
        <p:nvSpPr>
          <p:cNvPr id="6" name="Rectangle 5"/>
          <p:cNvSpPr/>
          <p:nvPr/>
        </p:nvSpPr>
        <p:spPr>
          <a:xfrm>
            <a:off x="0" y="0"/>
            <a:ext cx="73152" cy="6858000"/>
          </a:xfrm>
          <a:prstGeom prst="rect">
            <a:avLst/>
          </a:prstGeom>
          <a:solidFill>
            <a:srgbClr val="6B2D8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3152" y="6565392"/>
            <a:ext cx="9070848" cy="36576"/>
          </a:xfrm>
          <a:prstGeom prst="rect">
            <a:avLst/>
          </a:prstGeom>
          <a:solidFill>
            <a:srgbClr val="7A3E9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228600" y="6583680"/>
            <a:ext cx="1280160" cy="256032"/>
          </a:xfrm>
          <a:prstGeom prst="rect">
            <a:avLst/>
          </a:prstGeom>
          <a:noFill/>
        </p:spPr>
        <p:txBody>
          <a:bodyPr wrap="square" anchor="t">
            <a:spAutoFit/>
          </a:bodyPr>
          <a:lstStyle/>
          <a:p>
            <a:pPr algn="l">
              <a:spcAft>
                <a:spcPts val="400"/>
              </a:spcAft>
            </a:pPr>
            <a:r>
              <a:rPr sz="1000" b="0" i="0">
                <a:solidFill>
                  <a:srgbClr val="6B2D8B"/>
                </a:solidFill>
                <a:latin typeface="Calibri"/>
              </a:rPr>
              <a:t>activity</a:t>
            </a:r>
          </a:p>
        </p:txBody>
      </p:sp>
      <p:sp>
        <p:nvSpPr>
          <p:cNvPr id="9" name="TextBox 8"/>
          <p:cNvSpPr txBox="1"/>
          <p:nvPr/>
        </p:nvSpPr>
        <p:spPr>
          <a:xfrm>
            <a:off x="1554480" y="6583680"/>
            <a:ext cx="6035040" cy="256032"/>
          </a:xfrm>
          <a:prstGeom prst="rect">
            <a:avLst/>
          </a:prstGeom>
          <a:noFill/>
        </p:spPr>
        <p:txBody>
          <a:bodyPr wrap="square" anchor="t">
            <a:spAutoFit/>
          </a:bodyPr>
          <a:lstStyle/>
          <a:p>
            <a:pPr algn="ctr">
              <a:spcAft>
                <a:spcPts val="400"/>
              </a:spcAft>
            </a:pPr>
            <a:r>
              <a:rPr sz="900" b="0" i="0">
                <a:solidFill>
                  <a:srgbClr val="5A5A5A"/>
                </a:solidFill>
                <a:latin typeface="Calibri"/>
              </a:rPr>
              <a:t>Original course © Boardworks Ltd 2009. Reconstructed interactive resource.</a:t>
            </a:r>
          </a:p>
        </p:txBody>
      </p:sp>
      <p:sp>
        <p:nvSpPr>
          <p:cNvPr id="10" name="Rounded Rectangle 9"/>
          <p:cNvSpPr/>
          <p:nvPr/>
        </p:nvSpPr>
        <p:spPr>
          <a:xfrm>
            <a:off x="640080" y="1554480"/>
            <a:ext cx="7863840" cy="2286000"/>
          </a:xfrm>
          <a:prstGeom prst="roundRect">
            <a:avLst>
              <a:gd name="adj" fmla="val 15000"/>
            </a:avLst>
          </a:prstGeom>
          <a:solidFill>
            <a:srgbClr val="FFEBEE"/>
          </a:solidFill>
          <a:ln w="15875">
            <a:solidFill>
              <a:srgbClr val="C62828"/>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spcBef>
                <a:spcPts val="0"/>
              </a:spcBef>
              <a:spcAft>
                <a:spcPts val="200"/>
              </a:spcAft>
            </a:pPr>
            <a:r>
              <a:rPr sz="1800" b="0" i="0">
                <a:solidFill>
                  <a:srgbClr val="1B3A6B"/>
                </a:solidFill>
                <a:latin typeface="Calibri"/>
              </a:rPr>
              <a:t>Not quite.</a:t>
            </a:r>
          </a:p>
          <a:p>
            <a:pPr algn="ctr">
              <a:spcAft>
                <a:spcPts val="200"/>
              </a:spcAft>
            </a:pPr>
            <a:r>
              <a:rPr sz="1800" b="0" i="0">
                <a:solidFill>
                  <a:srgbClr val="1B3A6B"/>
                </a:solidFill>
                <a:latin typeface="Calibri"/>
              </a:rPr>
              <a:t/>
            </a:r>
          </a:p>
          <a:p>
            <a:pPr algn="ctr">
              <a:spcAft>
                <a:spcPts val="200"/>
              </a:spcAft>
            </a:pPr>
            <a:r>
              <a:rPr sz="1800" b="0" i="0">
                <a:solidFill>
                  <a:srgbClr val="1B3A6B"/>
                </a:solidFill>
                <a:latin typeface="Calibri"/>
              </a:rPr>
              <a:t>Local currents (local circuits) are the link between one depolarised patch and the next.</a:t>
            </a:r>
          </a:p>
        </p:txBody>
      </p:sp>
      <p:sp>
        <p:nvSpPr>
          <p:cNvPr id="11" name="Rounded Rectangle 10">
            <a:hlinkClick r:id="rId2" action="ppaction://hlinksldjump"/>
          </p:cNvPr>
          <p:cNvSpPr/>
          <p:nvPr/>
        </p:nvSpPr>
        <p:spPr>
          <a:xfrm>
            <a:off x="3200400" y="4389120"/>
            <a:ext cx="2743200" cy="411480"/>
          </a:xfrm>
          <a:prstGeom prst="roundRect">
            <a:avLst>
              <a:gd name="adj" fmla="val 15000"/>
            </a:avLst>
          </a:prstGeom>
          <a:solidFill>
            <a:srgbClr val="EF6C00"/>
          </a:solidFill>
          <a:ln w="12700">
            <a:solidFill>
              <a:srgbClr val="EF6C00"/>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spcBef>
                <a:spcPts val="0"/>
              </a:spcBef>
              <a:spcAft>
                <a:spcPts val="200"/>
              </a:spcAft>
            </a:pPr>
            <a:r>
              <a:rPr sz="1400" b="1" i="0">
                <a:solidFill>
                  <a:srgbClr val="FFFFFF"/>
                </a:solidFill>
                <a:latin typeface="Calibri"/>
              </a:rPr>
              <a:t>Try again</a:t>
            </a:r>
          </a:p>
        </p:txBody>
      </p:sp>
    </p:spTree>
  </p:cSld>
  <p:clrMapOvr>
    <a:masterClrMapping/>
  </p:clrMapOvr>
</p:sld>
</file>

<file path=ppt/slides/slide57.xml><?xml version="1.0" encoding="utf-8"?>
<p:sld xmlns:a="http://schemas.openxmlformats.org/drawingml/2006/main" xmlns:p="http://schemas.openxmlformats.org/presentationml/2006/main" xmlns:r="http://schemas.openxmlformats.org/officeDocument/2006/relationships" show="0">
  <p:cSld>
    <p:spTree>
      <p:nvGrpSpPr>
        <p:cNvPr id="1" name=""/>
        <p:cNvGrpSpPr/>
        <p:nvPr/>
      </p:nvGrpSpPr>
      <p:grpSpPr/>
      <p:sp>
        <p:nvSpPr>
          <p:cNvPr id="2" name="Rectangle 1"/>
          <p:cNvSpPr/>
          <p:nvPr/>
        </p:nvSpPr>
        <p:spPr>
          <a:xfrm>
            <a:off x="0" y="0"/>
            <a:ext cx="9144000" cy="658368"/>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640080"/>
            <a:ext cx="9144000" cy="54864"/>
          </a:xfrm>
          <a:prstGeom prst="rect">
            <a:avLst/>
          </a:pr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256032" y="91440"/>
            <a:ext cx="7498079" cy="502920"/>
          </a:xfrm>
          <a:prstGeom prst="rect">
            <a:avLst/>
          </a:prstGeom>
          <a:noFill/>
        </p:spPr>
        <p:txBody>
          <a:bodyPr wrap="square" anchor="t">
            <a:spAutoFit/>
          </a:bodyPr>
          <a:lstStyle/>
          <a:p>
            <a:pPr algn="l">
              <a:spcAft>
                <a:spcPts val="400"/>
              </a:spcAft>
            </a:pPr>
            <a:r>
              <a:rPr sz="2600" b="1" i="0">
                <a:solidFill>
                  <a:srgbClr val="2E9E4F"/>
                </a:solidFill>
                <a:latin typeface="Calibri"/>
              </a:rPr>
              <a:t>How does the axon change?</a:t>
            </a:r>
          </a:p>
        </p:txBody>
      </p:sp>
      <p:sp>
        <p:nvSpPr>
          <p:cNvPr id="5" name="Rounded Rectangle 4"/>
          <p:cNvSpPr/>
          <p:nvPr/>
        </p:nvSpPr>
        <p:spPr>
          <a:xfrm>
            <a:off x="7452360" y="109728"/>
            <a:ext cx="1536192" cy="420624"/>
          </a:xfrm>
          <a:prstGeom prst="roundRect">
            <a:avLst>
              <a:gd name="adj" fmla="val 15000"/>
            </a:avLst>
          </a:prstGeom>
          <a:solidFill>
            <a:srgbClr val="C8E6A0"/>
          </a:solidFill>
          <a:ln w="12700">
            <a:solidFill>
              <a:srgbClr val="1B7A3A"/>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spcBef>
                <a:spcPts val="0"/>
              </a:spcBef>
              <a:spcAft>
                <a:spcPts val="200"/>
              </a:spcAft>
            </a:pPr>
            <a:r>
              <a:rPr sz="1100" b="1" i="0">
                <a:solidFill>
                  <a:srgbClr val="1B7A3A"/>
                </a:solidFill>
                <a:latin typeface="Calibri"/>
              </a:rPr>
              <a:t>A2 Biology</a:t>
            </a:r>
          </a:p>
        </p:txBody>
      </p:sp>
      <p:sp>
        <p:nvSpPr>
          <p:cNvPr id="6" name="Rectangle 5"/>
          <p:cNvSpPr/>
          <p:nvPr/>
        </p:nvSpPr>
        <p:spPr>
          <a:xfrm>
            <a:off x="0" y="0"/>
            <a:ext cx="73152" cy="6858000"/>
          </a:xfrm>
          <a:prstGeom prst="rect">
            <a:avLst/>
          </a:prstGeom>
          <a:solidFill>
            <a:srgbClr val="6B2D8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3152" y="6565392"/>
            <a:ext cx="9070848" cy="36576"/>
          </a:xfrm>
          <a:prstGeom prst="rect">
            <a:avLst/>
          </a:prstGeom>
          <a:solidFill>
            <a:srgbClr val="7A3E9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228600" y="6583680"/>
            <a:ext cx="1280160" cy="256032"/>
          </a:xfrm>
          <a:prstGeom prst="rect">
            <a:avLst/>
          </a:prstGeom>
          <a:noFill/>
        </p:spPr>
        <p:txBody>
          <a:bodyPr wrap="square" anchor="t">
            <a:spAutoFit/>
          </a:bodyPr>
          <a:lstStyle/>
          <a:p>
            <a:pPr algn="l">
              <a:spcAft>
                <a:spcPts val="400"/>
              </a:spcAft>
            </a:pPr>
            <a:r>
              <a:rPr sz="1000" b="0" i="0">
                <a:solidFill>
                  <a:srgbClr val="6B2D8B"/>
                </a:solidFill>
                <a:latin typeface="Calibri"/>
              </a:rPr>
              <a:t>activity</a:t>
            </a:r>
          </a:p>
        </p:txBody>
      </p:sp>
      <p:sp>
        <p:nvSpPr>
          <p:cNvPr id="9" name="TextBox 8"/>
          <p:cNvSpPr txBox="1"/>
          <p:nvPr/>
        </p:nvSpPr>
        <p:spPr>
          <a:xfrm>
            <a:off x="1554480" y="6583680"/>
            <a:ext cx="6035040" cy="256032"/>
          </a:xfrm>
          <a:prstGeom prst="rect">
            <a:avLst/>
          </a:prstGeom>
          <a:noFill/>
        </p:spPr>
        <p:txBody>
          <a:bodyPr wrap="square" anchor="t">
            <a:spAutoFit/>
          </a:bodyPr>
          <a:lstStyle/>
          <a:p>
            <a:pPr algn="ctr">
              <a:spcAft>
                <a:spcPts val="400"/>
              </a:spcAft>
            </a:pPr>
            <a:r>
              <a:rPr sz="900" b="0" i="0">
                <a:solidFill>
                  <a:srgbClr val="5A5A5A"/>
                </a:solidFill>
                <a:latin typeface="Calibri"/>
              </a:rPr>
              <a:t>Original course © Boardworks Ltd 2009. Reconstructed interactive resource.</a:t>
            </a:r>
          </a:p>
        </p:txBody>
      </p:sp>
      <p:sp>
        <p:nvSpPr>
          <p:cNvPr id="10" name="Rounded Rectangle 9"/>
          <p:cNvSpPr/>
          <p:nvPr/>
        </p:nvSpPr>
        <p:spPr>
          <a:xfrm>
            <a:off x="640080" y="1554480"/>
            <a:ext cx="7863840" cy="2286000"/>
          </a:xfrm>
          <a:prstGeom prst="roundRect">
            <a:avLst>
              <a:gd name="adj" fmla="val 15000"/>
            </a:avLst>
          </a:prstGeom>
          <a:solidFill>
            <a:srgbClr val="FFEBEE"/>
          </a:solidFill>
          <a:ln w="15875">
            <a:solidFill>
              <a:srgbClr val="C62828"/>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spcBef>
                <a:spcPts val="0"/>
              </a:spcBef>
              <a:spcAft>
                <a:spcPts val="200"/>
              </a:spcAft>
            </a:pPr>
            <a:r>
              <a:rPr sz="1800" b="0" i="0">
                <a:solidFill>
                  <a:srgbClr val="1B3A6B"/>
                </a:solidFill>
                <a:latin typeface="Calibri"/>
              </a:rPr>
              <a:t>Not quite.</a:t>
            </a:r>
          </a:p>
          <a:p>
            <a:pPr algn="ctr">
              <a:spcAft>
                <a:spcPts val="200"/>
              </a:spcAft>
            </a:pPr>
            <a:r>
              <a:rPr sz="1800" b="0" i="0">
                <a:solidFill>
                  <a:srgbClr val="1B3A6B"/>
                </a:solidFill>
                <a:latin typeface="Calibri"/>
              </a:rPr>
              <a:t/>
            </a:r>
          </a:p>
          <a:p>
            <a:pPr algn="ctr">
              <a:spcAft>
                <a:spcPts val="200"/>
              </a:spcAft>
            </a:pPr>
            <a:r>
              <a:rPr sz="1800" b="0" i="0">
                <a:solidFill>
                  <a:srgbClr val="1B3A6B"/>
                </a:solidFill>
                <a:latin typeface="Calibri"/>
              </a:rPr>
              <a:t>Local currents (local circuits) are the link between one depolarised patch and the next.</a:t>
            </a:r>
          </a:p>
        </p:txBody>
      </p:sp>
      <p:sp>
        <p:nvSpPr>
          <p:cNvPr id="11" name="Rounded Rectangle 10">
            <a:hlinkClick r:id="rId2" action="ppaction://hlinksldjump"/>
          </p:cNvPr>
          <p:cNvSpPr/>
          <p:nvPr/>
        </p:nvSpPr>
        <p:spPr>
          <a:xfrm>
            <a:off x="3200400" y="4389120"/>
            <a:ext cx="2743200" cy="411480"/>
          </a:xfrm>
          <a:prstGeom prst="roundRect">
            <a:avLst>
              <a:gd name="adj" fmla="val 15000"/>
            </a:avLst>
          </a:prstGeom>
          <a:solidFill>
            <a:srgbClr val="EF6C00"/>
          </a:solidFill>
          <a:ln w="12700">
            <a:solidFill>
              <a:srgbClr val="EF6C00"/>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spcBef>
                <a:spcPts val="0"/>
              </a:spcBef>
              <a:spcAft>
                <a:spcPts val="200"/>
              </a:spcAft>
            </a:pPr>
            <a:r>
              <a:rPr sz="1400" b="1" i="0">
                <a:solidFill>
                  <a:srgbClr val="FFFFFF"/>
                </a:solidFill>
                <a:latin typeface="Calibri"/>
              </a:rPr>
              <a:t>Try again</a:t>
            </a:r>
          </a:p>
        </p:txBody>
      </p:sp>
    </p:spTree>
  </p:cSld>
  <p:clrMapOvr>
    <a:masterClrMapping/>
  </p:clrMapOvr>
</p:sld>
</file>

<file path=ppt/slides/slide58.xml><?xml version="1.0" encoding="utf-8"?>
<p:sld xmlns:a="http://schemas.openxmlformats.org/drawingml/2006/main" xmlns:p="http://schemas.openxmlformats.org/presentationml/2006/main" xmlns:r="http://schemas.openxmlformats.org/officeDocument/2006/relationships" show="0">
  <p:cSld>
    <p:spTree>
      <p:nvGrpSpPr>
        <p:cNvPr id="1" name=""/>
        <p:cNvGrpSpPr/>
        <p:nvPr/>
      </p:nvGrpSpPr>
      <p:grpSpPr/>
      <p:sp>
        <p:nvSpPr>
          <p:cNvPr id="2" name="Rectangle 1"/>
          <p:cNvSpPr/>
          <p:nvPr/>
        </p:nvSpPr>
        <p:spPr>
          <a:xfrm>
            <a:off x="0" y="0"/>
            <a:ext cx="9144000" cy="658368"/>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640080"/>
            <a:ext cx="9144000" cy="54864"/>
          </a:xfrm>
          <a:prstGeom prst="rect">
            <a:avLst/>
          </a:pr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256032" y="91440"/>
            <a:ext cx="7498079" cy="502920"/>
          </a:xfrm>
          <a:prstGeom prst="rect">
            <a:avLst/>
          </a:prstGeom>
          <a:noFill/>
        </p:spPr>
        <p:txBody>
          <a:bodyPr wrap="square" anchor="t">
            <a:spAutoFit/>
          </a:bodyPr>
          <a:lstStyle/>
          <a:p>
            <a:pPr algn="l">
              <a:spcAft>
                <a:spcPts val="400"/>
              </a:spcAft>
            </a:pPr>
            <a:r>
              <a:rPr sz="2600" b="1" i="0">
                <a:solidFill>
                  <a:srgbClr val="2E9E4F"/>
                </a:solidFill>
                <a:latin typeface="Calibri"/>
              </a:rPr>
              <a:t>How does the axon change?</a:t>
            </a:r>
          </a:p>
        </p:txBody>
      </p:sp>
      <p:sp>
        <p:nvSpPr>
          <p:cNvPr id="5" name="Rounded Rectangle 4"/>
          <p:cNvSpPr/>
          <p:nvPr/>
        </p:nvSpPr>
        <p:spPr>
          <a:xfrm>
            <a:off x="7452360" y="109728"/>
            <a:ext cx="1536192" cy="420624"/>
          </a:xfrm>
          <a:prstGeom prst="roundRect">
            <a:avLst>
              <a:gd name="adj" fmla="val 15000"/>
            </a:avLst>
          </a:prstGeom>
          <a:solidFill>
            <a:srgbClr val="C8E6A0"/>
          </a:solidFill>
          <a:ln w="12700">
            <a:solidFill>
              <a:srgbClr val="1B7A3A"/>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spcBef>
                <a:spcPts val="0"/>
              </a:spcBef>
              <a:spcAft>
                <a:spcPts val="200"/>
              </a:spcAft>
            </a:pPr>
            <a:r>
              <a:rPr sz="1100" b="1" i="0">
                <a:solidFill>
                  <a:srgbClr val="1B7A3A"/>
                </a:solidFill>
                <a:latin typeface="Calibri"/>
              </a:rPr>
              <a:t>A2 Biology</a:t>
            </a:r>
          </a:p>
        </p:txBody>
      </p:sp>
      <p:sp>
        <p:nvSpPr>
          <p:cNvPr id="6" name="Rectangle 5"/>
          <p:cNvSpPr/>
          <p:nvPr/>
        </p:nvSpPr>
        <p:spPr>
          <a:xfrm>
            <a:off x="0" y="0"/>
            <a:ext cx="73152" cy="6858000"/>
          </a:xfrm>
          <a:prstGeom prst="rect">
            <a:avLst/>
          </a:prstGeom>
          <a:solidFill>
            <a:srgbClr val="6B2D8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3152" y="6565392"/>
            <a:ext cx="9070848" cy="36576"/>
          </a:xfrm>
          <a:prstGeom prst="rect">
            <a:avLst/>
          </a:prstGeom>
          <a:solidFill>
            <a:srgbClr val="7A3E9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228600" y="6583680"/>
            <a:ext cx="1280160" cy="256032"/>
          </a:xfrm>
          <a:prstGeom prst="rect">
            <a:avLst/>
          </a:prstGeom>
          <a:noFill/>
        </p:spPr>
        <p:txBody>
          <a:bodyPr wrap="square" anchor="t">
            <a:spAutoFit/>
          </a:bodyPr>
          <a:lstStyle/>
          <a:p>
            <a:pPr algn="l">
              <a:spcAft>
                <a:spcPts val="400"/>
              </a:spcAft>
            </a:pPr>
            <a:r>
              <a:rPr sz="1000" b="0" i="0">
                <a:solidFill>
                  <a:srgbClr val="6B2D8B"/>
                </a:solidFill>
                <a:latin typeface="Calibri"/>
              </a:rPr>
              <a:t>activity</a:t>
            </a:r>
          </a:p>
        </p:txBody>
      </p:sp>
      <p:sp>
        <p:nvSpPr>
          <p:cNvPr id="9" name="TextBox 8"/>
          <p:cNvSpPr txBox="1"/>
          <p:nvPr/>
        </p:nvSpPr>
        <p:spPr>
          <a:xfrm>
            <a:off x="1554480" y="6583680"/>
            <a:ext cx="6035040" cy="256032"/>
          </a:xfrm>
          <a:prstGeom prst="rect">
            <a:avLst/>
          </a:prstGeom>
          <a:noFill/>
        </p:spPr>
        <p:txBody>
          <a:bodyPr wrap="square" anchor="t">
            <a:spAutoFit/>
          </a:bodyPr>
          <a:lstStyle/>
          <a:p>
            <a:pPr algn="ctr">
              <a:spcAft>
                <a:spcPts val="400"/>
              </a:spcAft>
            </a:pPr>
            <a:r>
              <a:rPr sz="900" b="0" i="0">
                <a:solidFill>
                  <a:srgbClr val="5A5A5A"/>
                </a:solidFill>
                <a:latin typeface="Calibri"/>
              </a:rPr>
              <a:t>Original course © Boardworks Ltd 2009. Reconstructed interactive resource.</a:t>
            </a:r>
          </a:p>
        </p:txBody>
      </p:sp>
      <p:sp>
        <p:nvSpPr>
          <p:cNvPr id="10" name="Rounded Rectangle 9"/>
          <p:cNvSpPr/>
          <p:nvPr/>
        </p:nvSpPr>
        <p:spPr>
          <a:xfrm>
            <a:off x="640080" y="1554480"/>
            <a:ext cx="7863840" cy="2286000"/>
          </a:xfrm>
          <a:prstGeom prst="roundRect">
            <a:avLst>
              <a:gd name="adj" fmla="val 15000"/>
            </a:avLst>
          </a:prstGeom>
          <a:solidFill>
            <a:srgbClr val="FFEBEE"/>
          </a:solidFill>
          <a:ln w="15875">
            <a:solidFill>
              <a:srgbClr val="C62828"/>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spcBef>
                <a:spcPts val="0"/>
              </a:spcBef>
              <a:spcAft>
                <a:spcPts val="200"/>
              </a:spcAft>
            </a:pPr>
            <a:r>
              <a:rPr sz="1800" b="0" i="0">
                <a:solidFill>
                  <a:srgbClr val="1B3A6B"/>
                </a:solidFill>
                <a:latin typeface="Calibri"/>
              </a:rPr>
              <a:t>Not quite.</a:t>
            </a:r>
          </a:p>
          <a:p>
            <a:pPr algn="ctr">
              <a:spcAft>
                <a:spcPts val="200"/>
              </a:spcAft>
            </a:pPr>
            <a:r>
              <a:rPr sz="1800" b="0" i="0">
                <a:solidFill>
                  <a:srgbClr val="1B3A6B"/>
                </a:solidFill>
                <a:latin typeface="Calibri"/>
              </a:rPr>
              <a:t/>
            </a:r>
          </a:p>
          <a:p>
            <a:pPr algn="ctr">
              <a:spcAft>
                <a:spcPts val="200"/>
              </a:spcAft>
            </a:pPr>
            <a:r>
              <a:rPr sz="1800" b="0" i="0">
                <a:solidFill>
                  <a:srgbClr val="1B3A6B"/>
                </a:solidFill>
                <a:latin typeface="Calibri"/>
              </a:rPr>
              <a:t>Local currents (local circuits) are the link between one depolarised patch and the next.</a:t>
            </a:r>
          </a:p>
        </p:txBody>
      </p:sp>
      <p:sp>
        <p:nvSpPr>
          <p:cNvPr id="11" name="Rounded Rectangle 10">
            <a:hlinkClick r:id="rId2" action="ppaction://hlinksldjump"/>
          </p:cNvPr>
          <p:cNvSpPr/>
          <p:nvPr/>
        </p:nvSpPr>
        <p:spPr>
          <a:xfrm>
            <a:off x="3200400" y="4389120"/>
            <a:ext cx="2743200" cy="411480"/>
          </a:xfrm>
          <a:prstGeom prst="roundRect">
            <a:avLst>
              <a:gd name="adj" fmla="val 15000"/>
            </a:avLst>
          </a:prstGeom>
          <a:solidFill>
            <a:srgbClr val="EF6C00"/>
          </a:solidFill>
          <a:ln w="12700">
            <a:solidFill>
              <a:srgbClr val="EF6C00"/>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spcBef>
                <a:spcPts val="0"/>
              </a:spcBef>
              <a:spcAft>
                <a:spcPts val="200"/>
              </a:spcAft>
            </a:pPr>
            <a:r>
              <a:rPr sz="1400" b="1" i="0">
                <a:solidFill>
                  <a:srgbClr val="FFFFFF"/>
                </a:solidFill>
                <a:latin typeface="Calibri"/>
              </a:rPr>
              <a:t>Try again</a:t>
            </a:r>
          </a:p>
        </p:txBody>
      </p:sp>
    </p:spTree>
  </p:cSld>
  <p:clrMapOvr>
    <a:masterClrMapping/>
  </p:clrMapOvr>
</p:sld>
</file>

<file path=ppt/slides/slide5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9144000" cy="658368"/>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640080"/>
            <a:ext cx="9144000" cy="54864"/>
          </a:xfrm>
          <a:prstGeom prst="rect">
            <a:avLst/>
          </a:pr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256032" y="91440"/>
            <a:ext cx="7498079" cy="502920"/>
          </a:xfrm>
          <a:prstGeom prst="rect">
            <a:avLst/>
          </a:prstGeom>
          <a:noFill/>
        </p:spPr>
        <p:txBody>
          <a:bodyPr wrap="square" anchor="t">
            <a:spAutoFit/>
          </a:bodyPr>
          <a:lstStyle/>
          <a:p>
            <a:pPr algn="l">
              <a:spcAft>
                <a:spcPts val="400"/>
              </a:spcAft>
            </a:pPr>
            <a:r>
              <a:rPr sz="2600" b="1" i="0">
                <a:solidFill>
                  <a:srgbClr val="2E9E4F"/>
                </a:solidFill>
                <a:latin typeface="Calibri"/>
              </a:rPr>
              <a:t>The all or nothing principle</a:t>
            </a:r>
          </a:p>
        </p:txBody>
      </p:sp>
      <p:sp>
        <p:nvSpPr>
          <p:cNvPr id="5" name="Rounded Rectangle 4"/>
          <p:cNvSpPr/>
          <p:nvPr/>
        </p:nvSpPr>
        <p:spPr>
          <a:xfrm>
            <a:off x="7452360" y="109728"/>
            <a:ext cx="1536192" cy="420624"/>
          </a:xfrm>
          <a:prstGeom prst="roundRect">
            <a:avLst>
              <a:gd name="adj" fmla="val 15000"/>
            </a:avLst>
          </a:prstGeom>
          <a:solidFill>
            <a:srgbClr val="C8E6A0"/>
          </a:solidFill>
          <a:ln w="12700">
            <a:solidFill>
              <a:srgbClr val="1B7A3A"/>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spcBef>
                <a:spcPts val="0"/>
              </a:spcBef>
              <a:spcAft>
                <a:spcPts val="200"/>
              </a:spcAft>
            </a:pPr>
            <a:r>
              <a:rPr sz="1100" b="1" i="0">
                <a:solidFill>
                  <a:srgbClr val="1B7A3A"/>
                </a:solidFill>
                <a:latin typeface="Calibri"/>
              </a:rPr>
              <a:t>A2 Biology</a:t>
            </a:r>
          </a:p>
        </p:txBody>
      </p:sp>
      <p:sp>
        <p:nvSpPr>
          <p:cNvPr id="6" name="Rectangle 5"/>
          <p:cNvSpPr/>
          <p:nvPr/>
        </p:nvSpPr>
        <p:spPr>
          <a:xfrm>
            <a:off x="0" y="0"/>
            <a:ext cx="73152" cy="6858000"/>
          </a:xfrm>
          <a:prstGeom prst="rect">
            <a:avLst/>
          </a:prstGeom>
          <a:solidFill>
            <a:srgbClr val="6B2D8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3152" y="6565392"/>
            <a:ext cx="9070848" cy="36576"/>
          </a:xfrm>
          <a:prstGeom prst="rect">
            <a:avLst/>
          </a:prstGeom>
          <a:solidFill>
            <a:srgbClr val="7A3E9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228600" y="6583680"/>
            <a:ext cx="1280160" cy="256032"/>
          </a:xfrm>
          <a:prstGeom prst="rect">
            <a:avLst/>
          </a:prstGeom>
          <a:noFill/>
        </p:spPr>
        <p:txBody>
          <a:bodyPr wrap="square" anchor="t">
            <a:spAutoFit/>
          </a:bodyPr>
          <a:lstStyle/>
          <a:p>
            <a:pPr algn="l">
              <a:spcAft>
                <a:spcPts val="400"/>
              </a:spcAft>
            </a:pPr>
            <a:r>
              <a:rPr sz="1000" b="0" i="0">
                <a:solidFill>
                  <a:srgbClr val="6B2D8B"/>
                </a:solidFill>
                <a:latin typeface="Calibri"/>
              </a:rPr>
              <a:t>20 of 29</a:t>
            </a:r>
          </a:p>
        </p:txBody>
      </p:sp>
      <p:sp>
        <p:nvSpPr>
          <p:cNvPr id="9" name="TextBox 8"/>
          <p:cNvSpPr txBox="1"/>
          <p:nvPr/>
        </p:nvSpPr>
        <p:spPr>
          <a:xfrm>
            <a:off x="1554480" y="6583680"/>
            <a:ext cx="6035040" cy="256032"/>
          </a:xfrm>
          <a:prstGeom prst="rect">
            <a:avLst/>
          </a:prstGeom>
          <a:noFill/>
        </p:spPr>
        <p:txBody>
          <a:bodyPr wrap="square" anchor="t">
            <a:spAutoFit/>
          </a:bodyPr>
          <a:lstStyle/>
          <a:p>
            <a:pPr algn="ctr">
              <a:spcAft>
                <a:spcPts val="400"/>
              </a:spcAft>
            </a:pPr>
            <a:r>
              <a:rPr sz="900" b="0" i="0">
                <a:solidFill>
                  <a:srgbClr val="5A5A5A"/>
                </a:solidFill>
                <a:latin typeface="Calibri"/>
              </a:rPr>
              <a:t>Original course © Boardworks Ltd 2009. Reconstructed interactive resource.</a:t>
            </a:r>
          </a:p>
        </p:txBody>
      </p:sp>
      <p:sp>
        <p:nvSpPr>
          <p:cNvPr id="10" name="Oval 9">
            <a:hlinkClick r:id="rId4" action="ppaction://hlinksldjump"/>
          </p:cNvPr>
          <p:cNvSpPr/>
          <p:nvPr/>
        </p:nvSpPr>
        <p:spPr>
          <a:xfrm>
            <a:off x="146304" y="5760720"/>
            <a:ext cx="384048" cy="384048"/>
          </a:xfrm>
          <a:prstGeom prst="ellipse">
            <a:avLst/>
          </a:prstGeom>
          <a:solidFill>
            <a:srgbClr val="FFFFFF"/>
          </a:solidFill>
          <a:ln w="22225">
            <a:solidFill>
              <a:srgbClr val="6B2D8B"/>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spcBef>
                <a:spcPts val="0"/>
              </a:spcBef>
              <a:spcAft>
                <a:spcPts val="200"/>
              </a:spcAft>
            </a:pPr>
            <a:r>
              <a:rPr sz="1400" b="1" i="0">
                <a:solidFill>
                  <a:srgbClr val="6B2D8B"/>
                </a:solidFill>
                <a:latin typeface="Calibri"/>
              </a:rPr>
              <a:t>◀</a:t>
            </a:r>
          </a:p>
        </p:txBody>
      </p:sp>
      <p:sp>
        <p:nvSpPr>
          <p:cNvPr id="11" name="Oval 10">
            <a:hlinkClick r:id="rId5" action="ppaction://hlinksldjump"/>
          </p:cNvPr>
          <p:cNvSpPr/>
          <p:nvPr/>
        </p:nvSpPr>
        <p:spPr>
          <a:xfrm>
            <a:off x="8613648" y="5760720"/>
            <a:ext cx="384048" cy="384048"/>
          </a:xfrm>
          <a:prstGeom prst="ellipse">
            <a:avLst/>
          </a:prstGeom>
          <a:solidFill>
            <a:srgbClr val="6B2D8B"/>
          </a:solidFill>
          <a:ln w="12700">
            <a:solidFill>
              <a:srgbClr val="6B2D8B"/>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spcBef>
                <a:spcPts val="0"/>
              </a:spcBef>
              <a:spcAft>
                <a:spcPts val="200"/>
              </a:spcAft>
            </a:pPr>
            <a:r>
              <a:rPr sz="1400" b="1" i="0">
                <a:solidFill>
                  <a:srgbClr val="FFFFFF"/>
                </a:solidFill>
                <a:latin typeface="Calibri"/>
              </a:rPr>
              <a:t>▶</a:t>
            </a:r>
          </a:p>
        </p:txBody>
      </p:sp>
      <p:sp>
        <p:nvSpPr>
          <p:cNvPr id="12" name="TextBox 11"/>
          <p:cNvSpPr txBox="1"/>
          <p:nvPr/>
        </p:nvSpPr>
        <p:spPr>
          <a:xfrm>
            <a:off x="320040" y="868680"/>
            <a:ext cx="4572000" cy="4754880"/>
          </a:xfrm>
          <a:prstGeom prst="rect">
            <a:avLst/>
          </a:prstGeom>
          <a:noFill/>
        </p:spPr>
        <p:txBody>
          <a:bodyPr wrap="square" anchor="t">
            <a:spAutoFit/>
          </a:bodyPr>
          <a:lstStyle/>
          <a:p>
            <a:pPr algn="l"/>
            <a:r>
              <a:rPr sz="1600" b="0" i="0">
                <a:solidFill>
                  <a:srgbClr val="1A2F5A"/>
                </a:solidFill>
                <a:latin typeface="Calibri"/>
              </a:rPr>
              <a:t>For an action potential to be generated, the stimulus must be greater than the </a:t>
            </a:r>
            <a:r>
              <a:rPr sz="1600" b="1" i="0">
                <a:solidFill>
                  <a:srgbClr val="2E9E4F"/>
                </a:solidFill>
                <a:latin typeface="Calibri"/>
              </a:rPr>
              <a:t>threshold value</a:t>
            </a:r>
            <a:r>
              <a:rPr sz="1600" b="0" i="0">
                <a:solidFill>
                  <a:srgbClr val="1A2F5A"/>
                </a:solidFill>
                <a:latin typeface="Calibri"/>
              </a:rPr>
              <a:t>.</a:t>
            </a:r>
          </a:p>
          <a:p>
            <a:pPr algn="l">
              <a:spcAft>
                <a:spcPts val="600"/>
              </a:spcAft>
            </a:pPr>
            <a:r>
              <a:rPr sz="1600" b="0" i="0">
                <a:solidFill>
                  <a:srgbClr val="1A2F5A"/>
                </a:solidFill>
                <a:latin typeface="Calibri"/>
              </a:rPr>
              <a:t/>
            </a:r>
          </a:p>
          <a:p>
            <a:pPr algn="l">
              <a:spcAft>
                <a:spcPts val="600"/>
              </a:spcAft>
            </a:pPr>
            <a:r>
              <a:rPr sz="1600" b="0" i="0">
                <a:solidFill>
                  <a:srgbClr val="1A2F5A"/>
                </a:solidFill>
                <a:latin typeface="Calibri"/>
              </a:rPr>
              <a:t>A stimulus will be below the threshold value if insufficient numbers of sodium channels open, preventing full depolarization of the axon.</a:t>
            </a:r>
          </a:p>
          <a:p>
            <a:pPr algn="l">
              <a:spcAft>
                <a:spcPts val="600"/>
              </a:spcAft>
            </a:pPr>
            <a:r>
              <a:rPr sz="1600" b="0" i="0">
                <a:solidFill>
                  <a:srgbClr val="1A2F5A"/>
                </a:solidFill>
                <a:latin typeface="Calibri"/>
              </a:rPr>
              <a:t/>
            </a:r>
          </a:p>
          <a:p>
            <a:pPr algn="l">
              <a:spcAft>
                <a:spcPts val="600"/>
              </a:spcAft>
            </a:pPr>
            <a:r>
              <a:rPr sz="1600" b="0" i="0">
                <a:solidFill>
                  <a:srgbClr val="1A2F5A"/>
                </a:solidFill>
                <a:latin typeface="Calibri"/>
              </a:rPr>
              <a:t>Once the threshold value is reached, the action potential generated is always the same size regardless of the strength of the stimulus. It is an ‘</a:t>
            </a:r>
            <a:r>
              <a:rPr sz="1600" b="1" i="0">
                <a:solidFill>
                  <a:srgbClr val="2E9E4F"/>
                </a:solidFill>
                <a:latin typeface="Calibri"/>
              </a:rPr>
              <a:t>all or nothing</a:t>
            </a:r>
            <a:r>
              <a:rPr sz="1600" b="0" i="0">
                <a:solidFill>
                  <a:srgbClr val="1A2F5A"/>
                </a:solidFill>
                <a:latin typeface="Calibri"/>
              </a:rPr>
              <a:t>’ response.</a:t>
            </a:r>
          </a:p>
        </p:txBody>
      </p:sp>
      <p:pic>
        <p:nvPicPr>
          <p:cNvPr id="13" name="Picture 12" descr="ap_failed.png"/>
          <p:cNvPicPr>
            <a:picLocks noChangeAspect="1"/>
          </p:cNvPicPr>
          <p:nvPr/>
        </p:nvPicPr>
        <p:blipFill>
          <a:blip r:embed="rId2"/>
          <a:stretch>
            <a:fillRect/>
          </a:stretch>
        </p:blipFill>
        <p:spPr>
          <a:xfrm>
            <a:off x="4754880" y="1051560"/>
            <a:ext cx="4114800" cy="2693102"/>
          </a:xfrm>
          <a:prstGeom prst="rect">
            <a:avLst/>
          </a:prstGeom>
        </p:spPr>
      </p:pic>
    </p:spTree>
  </p:cSld>
  <p:clrMapOvr>
    <a:masterClrMapping/>
  </p:clrMapOvr>
</p:sld>
</file>

<file path=ppt/slides/slide6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9144000" cy="658368"/>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640080"/>
            <a:ext cx="9144000" cy="54864"/>
          </a:xfrm>
          <a:prstGeom prst="rect">
            <a:avLst/>
          </a:pr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256032" y="91440"/>
            <a:ext cx="7498079" cy="502920"/>
          </a:xfrm>
          <a:prstGeom prst="rect">
            <a:avLst/>
          </a:prstGeom>
          <a:noFill/>
        </p:spPr>
        <p:txBody>
          <a:bodyPr wrap="square" anchor="t">
            <a:spAutoFit/>
          </a:bodyPr>
          <a:lstStyle/>
          <a:p>
            <a:pPr algn="l">
              <a:spcAft>
                <a:spcPts val="400"/>
              </a:spcAft>
            </a:pPr>
            <a:r>
              <a:rPr sz="2600" b="1" i="0">
                <a:solidFill>
                  <a:srgbClr val="2E9E4F"/>
                </a:solidFill>
                <a:latin typeface="Calibri"/>
              </a:rPr>
              <a:t>Different strengths of stimuli</a:t>
            </a:r>
          </a:p>
        </p:txBody>
      </p:sp>
      <p:sp>
        <p:nvSpPr>
          <p:cNvPr id="5" name="Rounded Rectangle 4"/>
          <p:cNvSpPr/>
          <p:nvPr/>
        </p:nvSpPr>
        <p:spPr>
          <a:xfrm>
            <a:off x="7452360" y="109728"/>
            <a:ext cx="1536192" cy="420624"/>
          </a:xfrm>
          <a:prstGeom prst="roundRect">
            <a:avLst>
              <a:gd name="adj" fmla="val 15000"/>
            </a:avLst>
          </a:prstGeom>
          <a:solidFill>
            <a:srgbClr val="C8E6A0"/>
          </a:solidFill>
          <a:ln w="12700">
            <a:solidFill>
              <a:srgbClr val="1B7A3A"/>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spcBef>
                <a:spcPts val="0"/>
              </a:spcBef>
              <a:spcAft>
                <a:spcPts val="200"/>
              </a:spcAft>
            </a:pPr>
            <a:r>
              <a:rPr sz="1100" b="1" i="0">
                <a:solidFill>
                  <a:srgbClr val="1B7A3A"/>
                </a:solidFill>
                <a:latin typeface="Calibri"/>
              </a:rPr>
              <a:t>A2 Biology</a:t>
            </a:r>
          </a:p>
        </p:txBody>
      </p:sp>
      <p:sp>
        <p:nvSpPr>
          <p:cNvPr id="6" name="Rectangle 5"/>
          <p:cNvSpPr/>
          <p:nvPr/>
        </p:nvSpPr>
        <p:spPr>
          <a:xfrm>
            <a:off x="0" y="0"/>
            <a:ext cx="73152" cy="6858000"/>
          </a:xfrm>
          <a:prstGeom prst="rect">
            <a:avLst/>
          </a:prstGeom>
          <a:solidFill>
            <a:srgbClr val="6B2D8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3152" y="6565392"/>
            <a:ext cx="9070848" cy="36576"/>
          </a:xfrm>
          <a:prstGeom prst="rect">
            <a:avLst/>
          </a:prstGeom>
          <a:solidFill>
            <a:srgbClr val="7A3E9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228600" y="6583680"/>
            <a:ext cx="1280160" cy="256032"/>
          </a:xfrm>
          <a:prstGeom prst="rect">
            <a:avLst/>
          </a:prstGeom>
          <a:noFill/>
        </p:spPr>
        <p:txBody>
          <a:bodyPr wrap="square" anchor="t">
            <a:spAutoFit/>
          </a:bodyPr>
          <a:lstStyle/>
          <a:p>
            <a:pPr algn="l">
              <a:spcAft>
                <a:spcPts val="400"/>
              </a:spcAft>
            </a:pPr>
            <a:r>
              <a:rPr sz="1000" b="0" i="0">
                <a:solidFill>
                  <a:srgbClr val="6B2D8B"/>
                </a:solidFill>
                <a:latin typeface="Calibri"/>
              </a:rPr>
              <a:t>21 of 29</a:t>
            </a:r>
          </a:p>
        </p:txBody>
      </p:sp>
      <p:sp>
        <p:nvSpPr>
          <p:cNvPr id="9" name="TextBox 8"/>
          <p:cNvSpPr txBox="1"/>
          <p:nvPr/>
        </p:nvSpPr>
        <p:spPr>
          <a:xfrm>
            <a:off x="1554480" y="6583680"/>
            <a:ext cx="6035040" cy="256032"/>
          </a:xfrm>
          <a:prstGeom prst="rect">
            <a:avLst/>
          </a:prstGeom>
          <a:noFill/>
        </p:spPr>
        <p:txBody>
          <a:bodyPr wrap="square" anchor="t">
            <a:spAutoFit/>
          </a:bodyPr>
          <a:lstStyle/>
          <a:p>
            <a:pPr algn="ctr">
              <a:spcAft>
                <a:spcPts val="400"/>
              </a:spcAft>
            </a:pPr>
            <a:r>
              <a:rPr sz="900" b="0" i="0">
                <a:solidFill>
                  <a:srgbClr val="5A5A5A"/>
                </a:solidFill>
                <a:latin typeface="Calibri"/>
              </a:rPr>
              <a:t>Original course © Boardworks Ltd 2009. Reconstructed interactive resource.</a:t>
            </a:r>
          </a:p>
        </p:txBody>
      </p:sp>
      <p:sp>
        <p:nvSpPr>
          <p:cNvPr id="10" name="Oval 9">
            <a:hlinkClick r:id="rId7" action="ppaction://hlinksldjump"/>
          </p:cNvPr>
          <p:cNvSpPr/>
          <p:nvPr/>
        </p:nvSpPr>
        <p:spPr>
          <a:xfrm>
            <a:off x="146304" y="5760720"/>
            <a:ext cx="384048" cy="384048"/>
          </a:xfrm>
          <a:prstGeom prst="ellipse">
            <a:avLst/>
          </a:prstGeom>
          <a:solidFill>
            <a:srgbClr val="FFFFFF"/>
          </a:solidFill>
          <a:ln w="22225">
            <a:solidFill>
              <a:srgbClr val="6B2D8B"/>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spcBef>
                <a:spcPts val="0"/>
              </a:spcBef>
              <a:spcAft>
                <a:spcPts val="200"/>
              </a:spcAft>
            </a:pPr>
            <a:r>
              <a:rPr sz="1400" b="1" i="0">
                <a:solidFill>
                  <a:srgbClr val="6B2D8B"/>
                </a:solidFill>
                <a:latin typeface="Calibri"/>
              </a:rPr>
              <a:t>◀</a:t>
            </a:r>
          </a:p>
        </p:txBody>
      </p:sp>
      <p:sp>
        <p:nvSpPr>
          <p:cNvPr id="11" name="Oval 10">
            <a:hlinkClick r:id="rId8" action="ppaction://hlinksldjump"/>
          </p:cNvPr>
          <p:cNvSpPr/>
          <p:nvPr/>
        </p:nvSpPr>
        <p:spPr>
          <a:xfrm>
            <a:off x="8613648" y="5760720"/>
            <a:ext cx="384048" cy="384048"/>
          </a:xfrm>
          <a:prstGeom prst="ellipse">
            <a:avLst/>
          </a:prstGeom>
          <a:solidFill>
            <a:srgbClr val="6B2D8B"/>
          </a:solidFill>
          <a:ln w="12700">
            <a:solidFill>
              <a:srgbClr val="6B2D8B"/>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spcBef>
                <a:spcPts val="0"/>
              </a:spcBef>
              <a:spcAft>
                <a:spcPts val="200"/>
              </a:spcAft>
            </a:pPr>
            <a:r>
              <a:rPr sz="1400" b="1" i="0">
                <a:solidFill>
                  <a:srgbClr val="FFFFFF"/>
                </a:solidFill>
                <a:latin typeface="Calibri"/>
              </a:rPr>
              <a:t>▶</a:t>
            </a:r>
          </a:p>
        </p:txBody>
      </p:sp>
      <p:sp>
        <p:nvSpPr>
          <p:cNvPr id="12" name="Rectangle 11"/>
          <p:cNvSpPr/>
          <p:nvPr/>
        </p:nvSpPr>
        <p:spPr>
          <a:xfrm>
            <a:off x="201168" y="6199632"/>
            <a:ext cx="8741664" cy="329184"/>
          </a:xfrm>
          <a:prstGeom prst="rect">
            <a:avLst/>
          </a:pr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274320" y="804672"/>
            <a:ext cx="8595360" cy="320040"/>
          </a:xfrm>
          <a:prstGeom prst="rect">
            <a:avLst/>
          </a:prstGeom>
          <a:noFill/>
        </p:spPr>
        <p:txBody>
          <a:bodyPr wrap="square" anchor="t">
            <a:spAutoFit/>
          </a:bodyPr>
          <a:lstStyle/>
          <a:p>
            <a:pPr algn="ctr">
              <a:spcAft>
                <a:spcPts val="400"/>
              </a:spcAft>
            </a:pPr>
            <a:r>
              <a:rPr sz="1800" b="1" i="0">
                <a:solidFill>
                  <a:srgbClr val="1B3A6B"/>
                </a:solidFill>
                <a:latin typeface="Calibri"/>
              </a:rPr>
              <a:t>Changing the strength of the stimulus</a:t>
            </a:r>
          </a:p>
        </p:txBody>
      </p:sp>
      <p:pic>
        <p:nvPicPr>
          <p:cNvPr id="14" name="Picture 13" descr="stim_medium.png"/>
          <p:cNvPicPr>
            <a:picLocks noChangeAspect="1"/>
          </p:cNvPicPr>
          <p:nvPr/>
        </p:nvPicPr>
        <p:blipFill>
          <a:blip r:embed="rId2"/>
          <a:stretch>
            <a:fillRect/>
          </a:stretch>
        </p:blipFill>
        <p:spPr>
          <a:xfrm>
            <a:off x="228600" y="1143000"/>
            <a:ext cx="5212080" cy="3364761"/>
          </a:xfrm>
          <a:prstGeom prst="rect">
            <a:avLst/>
          </a:prstGeom>
        </p:spPr>
      </p:pic>
      <p:sp>
        <p:nvSpPr>
          <p:cNvPr id="15" name="Rounded Rectangle 14"/>
          <p:cNvSpPr/>
          <p:nvPr/>
        </p:nvSpPr>
        <p:spPr>
          <a:xfrm>
            <a:off x="5577840" y="1188720"/>
            <a:ext cx="3200400" cy="1463040"/>
          </a:xfrm>
          <a:prstGeom prst="roundRect">
            <a:avLst>
              <a:gd name="adj" fmla="val 15000"/>
            </a:avLst>
          </a:prstGeom>
          <a:solidFill>
            <a:srgbClr val="FFF6B0"/>
          </a:solidFill>
          <a:ln w="15875">
            <a:solidFill>
              <a:srgbClr val="C5B43A"/>
            </a:solidFill>
          </a:ln>
        </p:spPr>
        <p:style>
          <a:lnRef idx="1">
            <a:schemeClr val="accent1"/>
          </a:lnRef>
          <a:fillRef idx="3">
            <a:schemeClr val="accent1"/>
          </a:fillRef>
          <a:effectRef idx="2">
            <a:schemeClr val="accent1"/>
          </a:effectRef>
          <a:fontRef idx="minor">
            <a:schemeClr val="lt1"/>
          </a:fontRef>
        </p:style>
        <p:txBody>
          <a:bodyPr rtlCol="0" anchor="t" wrap="square" lIns="109728" rIns="109728" tIns="73152" bIns="73152"/>
          <a:lstStyle/>
          <a:p>
            <a:pPr algn="l">
              <a:spcBef>
                <a:spcPts val="0"/>
              </a:spcBef>
              <a:spcAft>
                <a:spcPts val="200"/>
              </a:spcAft>
            </a:pPr>
            <a:r>
              <a:rPr sz="1400" b="0" i="0">
                <a:solidFill>
                  <a:srgbClr val="1A2F5A"/>
                </a:solidFill>
                <a:latin typeface="Calibri"/>
              </a:rPr>
              <a:t>Adjust the strength of the stimulus to see how this affects the frequency of an action potential.</a:t>
            </a:r>
          </a:p>
        </p:txBody>
      </p:sp>
      <p:sp>
        <p:nvSpPr>
          <p:cNvPr id="16" name="Rounded Rectangle 15">
            <a:hlinkClick r:id="rId4" action="ppaction://hlinksldjump"/>
          </p:cNvPr>
          <p:cNvSpPr/>
          <p:nvPr/>
        </p:nvSpPr>
        <p:spPr>
          <a:xfrm>
            <a:off x="5669280" y="2834640"/>
            <a:ext cx="3017520" cy="457200"/>
          </a:xfrm>
          <a:prstGeom prst="roundRect">
            <a:avLst>
              <a:gd name="adj" fmla="val 15000"/>
            </a:avLst>
          </a:prstGeom>
          <a:solidFill>
            <a:srgbClr val="C8E6A0"/>
          </a:solidFill>
          <a:ln w="12700">
            <a:solidFill>
              <a:srgbClr val="1B7A3A"/>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spcBef>
                <a:spcPts val="0"/>
              </a:spcBef>
              <a:spcAft>
                <a:spcPts val="200"/>
              </a:spcAft>
            </a:pPr>
            <a:r>
              <a:rPr sz="1600" b="1" i="0">
                <a:solidFill>
                  <a:srgbClr val="1B3A6B"/>
                </a:solidFill>
                <a:latin typeface="Calibri"/>
              </a:rPr>
              <a:t>weak</a:t>
            </a:r>
          </a:p>
        </p:txBody>
      </p:sp>
      <p:sp>
        <p:nvSpPr>
          <p:cNvPr id="17" name="Rounded Rectangle 16">
            <a:hlinkClick r:id="rId5" action="ppaction://hlinksldjump"/>
          </p:cNvPr>
          <p:cNvSpPr/>
          <p:nvPr/>
        </p:nvSpPr>
        <p:spPr>
          <a:xfrm>
            <a:off x="5669280" y="3429000"/>
            <a:ext cx="3017520" cy="457200"/>
          </a:xfrm>
          <a:prstGeom prst="roundRect">
            <a:avLst>
              <a:gd name="adj" fmla="val 15000"/>
            </a:avLst>
          </a:prstGeom>
          <a:solidFill>
            <a:srgbClr val="2E9E4F"/>
          </a:solidFill>
          <a:ln w="12700">
            <a:solidFill>
              <a:srgbClr val="2E9E4F"/>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spcBef>
                <a:spcPts val="0"/>
              </a:spcBef>
              <a:spcAft>
                <a:spcPts val="200"/>
              </a:spcAft>
            </a:pPr>
            <a:r>
              <a:rPr sz="1600" b="1" i="0">
                <a:solidFill>
                  <a:srgbClr val="FFFFFF"/>
                </a:solidFill>
                <a:latin typeface="Calibri"/>
              </a:rPr>
              <a:t>medium</a:t>
            </a:r>
          </a:p>
        </p:txBody>
      </p:sp>
      <p:sp>
        <p:nvSpPr>
          <p:cNvPr id="18" name="Rounded Rectangle 17">
            <a:hlinkClick r:id="rId6" action="ppaction://hlinksldjump"/>
          </p:cNvPr>
          <p:cNvSpPr/>
          <p:nvPr/>
        </p:nvSpPr>
        <p:spPr>
          <a:xfrm>
            <a:off x="5669280" y="4023360"/>
            <a:ext cx="3017520" cy="457200"/>
          </a:xfrm>
          <a:prstGeom prst="roundRect">
            <a:avLst>
              <a:gd name="adj" fmla="val 15000"/>
            </a:avLst>
          </a:prstGeom>
          <a:solidFill>
            <a:srgbClr val="1B7A3A"/>
          </a:solidFill>
          <a:ln w="12700">
            <a:solidFill>
              <a:srgbClr val="1B7A3A"/>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spcBef>
                <a:spcPts val="0"/>
              </a:spcBef>
              <a:spcAft>
                <a:spcPts val="200"/>
              </a:spcAft>
            </a:pPr>
            <a:r>
              <a:rPr sz="1600" b="1" i="0">
                <a:solidFill>
                  <a:srgbClr val="FFFFFF"/>
                </a:solidFill>
                <a:latin typeface="Calibri"/>
              </a:rPr>
              <a:t>strong</a:t>
            </a:r>
          </a:p>
        </p:txBody>
      </p:sp>
      <p:sp>
        <p:nvSpPr>
          <p:cNvPr id="19" name="Rounded Rectangle 18"/>
          <p:cNvSpPr/>
          <p:nvPr/>
        </p:nvSpPr>
        <p:spPr>
          <a:xfrm>
            <a:off x="320040" y="5074920"/>
            <a:ext cx="8503920" cy="868680"/>
          </a:xfrm>
          <a:prstGeom prst="roundRect">
            <a:avLst>
              <a:gd name="adj" fmla="val 15000"/>
            </a:avLst>
          </a:prstGeom>
          <a:solidFill>
            <a:srgbClr val="FFF6B0"/>
          </a:solidFill>
          <a:ln w="15875">
            <a:solidFill>
              <a:srgbClr val="C5B43A"/>
            </a:solidFill>
          </a:ln>
        </p:spPr>
        <p:style>
          <a:lnRef idx="1">
            <a:schemeClr val="accent1"/>
          </a:lnRef>
          <a:fillRef idx="3">
            <a:schemeClr val="accent1"/>
          </a:fillRef>
          <a:effectRef idx="2">
            <a:schemeClr val="accent1"/>
          </a:effectRef>
          <a:fontRef idx="minor">
            <a:schemeClr val="lt1"/>
          </a:fontRef>
        </p:style>
        <p:txBody>
          <a:bodyPr rtlCol="0" anchor="t" wrap="square" lIns="109728" rIns="109728" tIns="73152" bIns="73152"/>
          <a:lstStyle/>
          <a:p>
            <a:pPr algn="l">
              <a:spcBef>
                <a:spcPts val="0"/>
              </a:spcBef>
              <a:spcAft>
                <a:spcPts val="200"/>
              </a:spcAft>
            </a:pPr>
            <a:r>
              <a:rPr sz="1500" b="0" i="0">
                <a:solidFill>
                  <a:srgbClr val="1A2F5A"/>
                </a:solidFill>
                <a:latin typeface="Calibri"/>
              </a:rPr>
              <a:t>A stronger stimulus does not make a bigger action potential. It increases the frequency of action potentials.</a:t>
            </a:r>
          </a:p>
        </p:txBody>
      </p:sp>
    </p:spTree>
  </p:cSld>
  <p:clrMapOvr>
    <a:masterClrMapping/>
  </p:clrMapOvr>
</p:sld>
</file>

<file path=ppt/slides/slide61.xml><?xml version="1.0" encoding="utf-8"?>
<p:sld xmlns:a="http://schemas.openxmlformats.org/drawingml/2006/main" xmlns:p="http://schemas.openxmlformats.org/presentationml/2006/main" xmlns:r="http://schemas.openxmlformats.org/officeDocument/2006/relationships" show="0">
  <p:cSld>
    <p:spTree>
      <p:nvGrpSpPr>
        <p:cNvPr id="1" name=""/>
        <p:cNvGrpSpPr/>
        <p:nvPr/>
      </p:nvGrpSpPr>
      <p:grpSpPr/>
      <p:sp>
        <p:nvSpPr>
          <p:cNvPr id="2" name="Rectangle 1"/>
          <p:cNvSpPr/>
          <p:nvPr/>
        </p:nvSpPr>
        <p:spPr>
          <a:xfrm>
            <a:off x="0" y="0"/>
            <a:ext cx="9144000" cy="658368"/>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640080"/>
            <a:ext cx="9144000" cy="54864"/>
          </a:xfrm>
          <a:prstGeom prst="rect">
            <a:avLst/>
          </a:pr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256032" y="91440"/>
            <a:ext cx="7498079" cy="502920"/>
          </a:xfrm>
          <a:prstGeom prst="rect">
            <a:avLst/>
          </a:prstGeom>
          <a:noFill/>
        </p:spPr>
        <p:txBody>
          <a:bodyPr wrap="square" anchor="t">
            <a:spAutoFit/>
          </a:bodyPr>
          <a:lstStyle/>
          <a:p>
            <a:pPr algn="l">
              <a:spcAft>
                <a:spcPts val="400"/>
              </a:spcAft>
            </a:pPr>
            <a:r>
              <a:rPr sz="2600" b="1" i="0">
                <a:solidFill>
                  <a:srgbClr val="2E9E4F"/>
                </a:solidFill>
                <a:latin typeface="Calibri"/>
              </a:rPr>
              <a:t>Different strengths of stimuli</a:t>
            </a:r>
          </a:p>
        </p:txBody>
      </p:sp>
      <p:sp>
        <p:nvSpPr>
          <p:cNvPr id="5" name="Rounded Rectangle 4"/>
          <p:cNvSpPr/>
          <p:nvPr/>
        </p:nvSpPr>
        <p:spPr>
          <a:xfrm>
            <a:off x="7452360" y="109728"/>
            <a:ext cx="1536192" cy="420624"/>
          </a:xfrm>
          <a:prstGeom prst="roundRect">
            <a:avLst>
              <a:gd name="adj" fmla="val 15000"/>
            </a:avLst>
          </a:prstGeom>
          <a:solidFill>
            <a:srgbClr val="C8E6A0"/>
          </a:solidFill>
          <a:ln w="12700">
            <a:solidFill>
              <a:srgbClr val="1B7A3A"/>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spcBef>
                <a:spcPts val="0"/>
              </a:spcBef>
              <a:spcAft>
                <a:spcPts val="200"/>
              </a:spcAft>
            </a:pPr>
            <a:r>
              <a:rPr sz="1100" b="1" i="0">
                <a:solidFill>
                  <a:srgbClr val="1B7A3A"/>
                </a:solidFill>
                <a:latin typeface="Calibri"/>
              </a:rPr>
              <a:t>A2 Biology</a:t>
            </a:r>
          </a:p>
        </p:txBody>
      </p:sp>
      <p:sp>
        <p:nvSpPr>
          <p:cNvPr id="6" name="Rectangle 5"/>
          <p:cNvSpPr/>
          <p:nvPr/>
        </p:nvSpPr>
        <p:spPr>
          <a:xfrm>
            <a:off x="0" y="0"/>
            <a:ext cx="73152" cy="6858000"/>
          </a:xfrm>
          <a:prstGeom prst="rect">
            <a:avLst/>
          </a:prstGeom>
          <a:solidFill>
            <a:srgbClr val="6B2D8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3152" y="6565392"/>
            <a:ext cx="9070848" cy="36576"/>
          </a:xfrm>
          <a:prstGeom prst="rect">
            <a:avLst/>
          </a:prstGeom>
          <a:solidFill>
            <a:srgbClr val="7A3E9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228600" y="6583680"/>
            <a:ext cx="1280160" cy="256032"/>
          </a:xfrm>
          <a:prstGeom prst="rect">
            <a:avLst/>
          </a:prstGeom>
          <a:noFill/>
        </p:spPr>
        <p:txBody>
          <a:bodyPr wrap="square" anchor="t">
            <a:spAutoFit/>
          </a:bodyPr>
          <a:lstStyle/>
          <a:p>
            <a:pPr algn="l">
              <a:spcAft>
                <a:spcPts val="400"/>
              </a:spcAft>
            </a:pPr>
            <a:r>
              <a:rPr sz="1000" b="0" i="0">
                <a:solidFill>
                  <a:srgbClr val="6B2D8B"/>
                </a:solidFill>
                <a:latin typeface="Calibri"/>
              </a:rPr>
              <a:t>activity</a:t>
            </a:r>
          </a:p>
        </p:txBody>
      </p:sp>
      <p:sp>
        <p:nvSpPr>
          <p:cNvPr id="9" name="TextBox 8"/>
          <p:cNvSpPr txBox="1"/>
          <p:nvPr/>
        </p:nvSpPr>
        <p:spPr>
          <a:xfrm>
            <a:off x="1554480" y="6583680"/>
            <a:ext cx="6035040" cy="256032"/>
          </a:xfrm>
          <a:prstGeom prst="rect">
            <a:avLst/>
          </a:prstGeom>
          <a:noFill/>
        </p:spPr>
        <p:txBody>
          <a:bodyPr wrap="square" anchor="t">
            <a:spAutoFit/>
          </a:bodyPr>
          <a:lstStyle/>
          <a:p>
            <a:pPr algn="ctr">
              <a:spcAft>
                <a:spcPts val="400"/>
              </a:spcAft>
            </a:pPr>
            <a:r>
              <a:rPr sz="900" b="0" i="0">
                <a:solidFill>
                  <a:srgbClr val="5A5A5A"/>
                </a:solidFill>
                <a:latin typeface="Calibri"/>
              </a:rPr>
              <a:t>Original course © Boardworks Ltd 2009. Reconstructed interactive resource.</a:t>
            </a:r>
          </a:p>
        </p:txBody>
      </p:sp>
      <p:pic>
        <p:nvPicPr>
          <p:cNvPr id="10" name="Picture 9" descr="stim_weak.png"/>
          <p:cNvPicPr>
            <a:picLocks noChangeAspect="1"/>
          </p:cNvPicPr>
          <p:nvPr/>
        </p:nvPicPr>
        <p:blipFill>
          <a:blip r:embed="rId2"/>
          <a:stretch>
            <a:fillRect/>
          </a:stretch>
        </p:blipFill>
        <p:spPr>
          <a:xfrm>
            <a:off x="274320" y="1005840"/>
            <a:ext cx="5486400" cy="3541853"/>
          </a:xfrm>
          <a:prstGeom prst="rect">
            <a:avLst/>
          </a:prstGeom>
        </p:spPr>
      </p:pic>
      <p:sp>
        <p:nvSpPr>
          <p:cNvPr id="11" name="Rounded Rectangle 10"/>
          <p:cNvSpPr/>
          <p:nvPr/>
        </p:nvSpPr>
        <p:spPr>
          <a:xfrm>
            <a:off x="5852160" y="1188720"/>
            <a:ext cx="2926080" cy="3200400"/>
          </a:xfrm>
          <a:prstGeom prst="roundRect">
            <a:avLst>
              <a:gd name="adj" fmla="val 15000"/>
            </a:avLst>
          </a:prstGeom>
          <a:solidFill>
            <a:srgbClr val="FFF6B0"/>
          </a:solidFill>
          <a:ln w="15875">
            <a:solidFill>
              <a:srgbClr val="C5B43A"/>
            </a:solidFill>
          </a:ln>
        </p:spPr>
        <p:style>
          <a:lnRef idx="1">
            <a:schemeClr val="accent1"/>
          </a:lnRef>
          <a:fillRef idx="3">
            <a:schemeClr val="accent1"/>
          </a:fillRef>
          <a:effectRef idx="2">
            <a:schemeClr val="accent1"/>
          </a:effectRef>
          <a:fontRef idx="minor">
            <a:schemeClr val="lt1"/>
          </a:fontRef>
        </p:style>
        <p:txBody>
          <a:bodyPr rtlCol="0" anchor="t" wrap="square" lIns="109728" rIns="109728" tIns="73152" bIns="73152"/>
          <a:lstStyle/>
          <a:p>
            <a:pPr algn="l">
              <a:spcBef>
                <a:spcPts val="0"/>
              </a:spcBef>
              <a:spcAft>
                <a:spcPts val="200"/>
              </a:spcAft>
            </a:pPr>
            <a:r>
              <a:rPr sz="1600" b="0" i="0">
                <a:solidFill>
                  <a:srgbClr val="1A2F5A"/>
                </a:solidFill>
                <a:latin typeface="Calibri"/>
              </a:rPr>
              <a:t>Weak (just above threshold): low frequency of action potentials.</a:t>
            </a:r>
          </a:p>
        </p:txBody>
      </p:sp>
      <p:sp>
        <p:nvSpPr>
          <p:cNvPr id="12" name="Rounded Rectangle 11">
            <a:hlinkClick r:id="rId3" action="ppaction://hlinksldjump"/>
          </p:cNvPr>
          <p:cNvSpPr/>
          <p:nvPr/>
        </p:nvSpPr>
        <p:spPr>
          <a:xfrm>
            <a:off x="6126480" y="4754880"/>
            <a:ext cx="2377440" cy="365760"/>
          </a:xfrm>
          <a:prstGeom prst="roundRect">
            <a:avLst>
              <a:gd name="adj" fmla="val 15000"/>
            </a:avLst>
          </a:prstGeom>
          <a:solidFill>
            <a:srgbClr val="2E9E4F"/>
          </a:solidFill>
          <a:ln w="12700">
            <a:solidFill>
              <a:srgbClr val="2E9E4F"/>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spcBef>
                <a:spcPts val="0"/>
              </a:spcBef>
              <a:spcAft>
                <a:spcPts val="200"/>
              </a:spcAft>
            </a:pPr>
            <a:r>
              <a:rPr sz="1400" b="1" i="0">
                <a:solidFill>
                  <a:srgbClr val="FFFFFF"/>
                </a:solidFill>
                <a:latin typeface="Calibri"/>
              </a:rPr>
              <a:t>Back</a:t>
            </a:r>
          </a:p>
        </p:txBody>
      </p:sp>
    </p:spTree>
  </p:cSld>
  <p:clrMapOvr>
    <a:masterClrMapping/>
  </p:clrMapOvr>
</p:sld>
</file>

<file path=ppt/slides/slide62.xml><?xml version="1.0" encoding="utf-8"?>
<p:sld xmlns:a="http://schemas.openxmlformats.org/drawingml/2006/main" xmlns:p="http://schemas.openxmlformats.org/presentationml/2006/main" xmlns:r="http://schemas.openxmlformats.org/officeDocument/2006/relationships" show="0">
  <p:cSld>
    <p:spTree>
      <p:nvGrpSpPr>
        <p:cNvPr id="1" name=""/>
        <p:cNvGrpSpPr/>
        <p:nvPr/>
      </p:nvGrpSpPr>
      <p:grpSpPr/>
      <p:sp>
        <p:nvSpPr>
          <p:cNvPr id="2" name="Rectangle 1"/>
          <p:cNvSpPr/>
          <p:nvPr/>
        </p:nvSpPr>
        <p:spPr>
          <a:xfrm>
            <a:off x="0" y="0"/>
            <a:ext cx="9144000" cy="658368"/>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640080"/>
            <a:ext cx="9144000" cy="54864"/>
          </a:xfrm>
          <a:prstGeom prst="rect">
            <a:avLst/>
          </a:pr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256032" y="91440"/>
            <a:ext cx="7498079" cy="502920"/>
          </a:xfrm>
          <a:prstGeom prst="rect">
            <a:avLst/>
          </a:prstGeom>
          <a:noFill/>
        </p:spPr>
        <p:txBody>
          <a:bodyPr wrap="square" anchor="t">
            <a:spAutoFit/>
          </a:bodyPr>
          <a:lstStyle/>
          <a:p>
            <a:pPr algn="l">
              <a:spcAft>
                <a:spcPts val="400"/>
              </a:spcAft>
            </a:pPr>
            <a:r>
              <a:rPr sz="2600" b="1" i="0">
                <a:solidFill>
                  <a:srgbClr val="2E9E4F"/>
                </a:solidFill>
                <a:latin typeface="Calibri"/>
              </a:rPr>
              <a:t>Different strengths of stimuli</a:t>
            </a:r>
          </a:p>
        </p:txBody>
      </p:sp>
      <p:sp>
        <p:nvSpPr>
          <p:cNvPr id="5" name="Rounded Rectangle 4"/>
          <p:cNvSpPr/>
          <p:nvPr/>
        </p:nvSpPr>
        <p:spPr>
          <a:xfrm>
            <a:off x="7452360" y="109728"/>
            <a:ext cx="1536192" cy="420624"/>
          </a:xfrm>
          <a:prstGeom prst="roundRect">
            <a:avLst>
              <a:gd name="adj" fmla="val 15000"/>
            </a:avLst>
          </a:prstGeom>
          <a:solidFill>
            <a:srgbClr val="C8E6A0"/>
          </a:solidFill>
          <a:ln w="12700">
            <a:solidFill>
              <a:srgbClr val="1B7A3A"/>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spcBef>
                <a:spcPts val="0"/>
              </a:spcBef>
              <a:spcAft>
                <a:spcPts val="200"/>
              </a:spcAft>
            </a:pPr>
            <a:r>
              <a:rPr sz="1100" b="1" i="0">
                <a:solidFill>
                  <a:srgbClr val="1B7A3A"/>
                </a:solidFill>
                <a:latin typeface="Calibri"/>
              </a:rPr>
              <a:t>A2 Biology</a:t>
            </a:r>
          </a:p>
        </p:txBody>
      </p:sp>
      <p:sp>
        <p:nvSpPr>
          <p:cNvPr id="6" name="Rectangle 5"/>
          <p:cNvSpPr/>
          <p:nvPr/>
        </p:nvSpPr>
        <p:spPr>
          <a:xfrm>
            <a:off x="0" y="0"/>
            <a:ext cx="73152" cy="6858000"/>
          </a:xfrm>
          <a:prstGeom prst="rect">
            <a:avLst/>
          </a:prstGeom>
          <a:solidFill>
            <a:srgbClr val="6B2D8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3152" y="6565392"/>
            <a:ext cx="9070848" cy="36576"/>
          </a:xfrm>
          <a:prstGeom prst="rect">
            <a:avLst/>
          </a:prstGeom>
          <a:solidFill>
            <a:srgbClr val="7A3E9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228600" y="6583680"/>
            <a:ext cx="1280160" cy="256032"/>
          </a:xfrm>
          <a:prstGeom prst="rect">
            <a:avLst/>
          </a:prstGeom>
          <a:noFill/>
        </p:spPr>
        <p:txBody>
          <a:bodyPr wrap="square" anchor="t">
            <a:spAutoFit/>
          </a:bodyPr>
          <a:lstStyle/>
          <a:p>
            <a:pPr algn="l">
              <a:spcAft>
                <a:spcPts val="400"/>
              </a:spcAft>
            </a:pPr>
            <a:r>
              <a:rPr sz="1000" b="0" i="0">
                <a:solidFill>
                  <a:srgbClr val="6B2D8B"/>
                </a:solidFill>
                <a:latin typeface="Calibri"/>
              </a:rPr>
              <a:t>activity</a:t>
            </a:r>
          </a:p>
        </p:txBody>
      </p:sp>
      <p:sp>
        <p:nvSpPr>
          <p:cNvPr id="9" name="TextBox 8"/>
          <p:cNvSpPr txBox="1"/>
          <p:nvPr/>
        </p:nvSpPr>
        <p:spPr>
          <a:xfrm>
            <a:off x="1554480" y="6583680"/>
            <a:ext cx="6035040" cy="256032"/>
          </a:xfrm>
          <a:prstGeom prst="rect">
            <a:avLst/>
          </a:prstGeom>
          <a:noFill/>
        </p:spPr>
        <p:txBody>
          <a:bodyPr wrap="square" anchor="t">
            <a:spAutoFit/>
          </a:bodyPr>
          <a:lstStyle/>
          <a:p>
            <a:pPr algn="ctr">
              <a:spcAft>
                <a:spcPts val="400"/>
              </a:spcAft>
            </a:pPr>
            <a:r>
              <a:rPr sz="900" b="0" i="0">
                <a:solidFill>
                  <a:srgbClr val="5A5A5A"/>
                </a:solidFill>
                <a:latin typeface="Calibri"/>
              </a:rPr>
              <a:t>Original course © Boardworks Ltd 2009. Reconstructed interactive resource.</a:t>
            </a:r>
          </a:p>
        </p:txBody>
      </p:sp>
      <p:pic>
        <p:nvPicPr>
          <p:cNvPr id="10" name="Picture 9" descr="stim_medium.png"/>
          <p:cNvPicPr>
            <a:picLocks noChangeAspect="1"/>
          </p:cNvPicPr>
          <p:nvPr/>
        </p:nvPicPr>
        <p:blipFill>
          <a:blip r:embed="rId2"/>
          <a:stretch>
            <a:fillRect/>
          </a:stretch>
        </p:blipFill>
        <p:spPr>
          <a:xfrm>
            <a:off x="274320" y="1005840"/>
            <a:ext cx="5486400" cy="3541853"/>
          </a:xfrm>
          <a:prstGeom prst="rect">
            <a:avLst/>
          </a:prstGeom>
        </p:spPr>
      </p:pic>
      <p:sp>
        <p:nvSpPr>
          <p:cNvPr id="11" name="Rounded Rectangle 10"/>
          <p:cNvSpPr/>
          <p:nvPr/>
        </p:nvSpPr>
        <p:spPr>
          <a:xfrm>
            <a:off x="5852160" y="1188720"/>
            <a:ext cx="2926080" cy="3200400"/>
          </a:xfrm>
          <a:prstGeom prst="roundRect">
            <a:avLst>
              <a:gd name="adj" fmla="val 15000"/>
            </a:avLst>
          </a:prstGeom>
          <a:solidFill>
            <a:srgbClr val="FFF6B0"/>
          </a:solidFill>
          <a:ln w="15875">
            <a:solidFill>
              <a:srgbClr val="C5B43A"/>
            </a:solidFill>
          </a:ln>
        </p:spPr>
        <p:style>
          <a:lnRef idx="1">
            <a:schemeClr val="accent1"/>
          </a:lnRef>
          <a:fillRef idx="3">
            <a:schemeClr val="accent1"/>
          </a:fillRef>
          <a:effectRef idx="2">
            <a:schemeClr val="accent1"/>
          </a:effectRef>
          <a:fontRef idx="minor">
            <a:schemeClr val="lt1"/>
          </a:fontRef>
        </p:style>
        <p:txBody>
          <a:bodyPr rtlCol="0" anchor="t" wrap="square" lIns="109728" rIns="109728" tIns="73152" bIns="73152"/>
          <a:lstStyle/>
          <a:p>
            <a:pPr algn="l">
              <a:spcBef>
                <a:spcPts val="0"/>
              </a:spcBef>
              <a:spcAft>
                <a:spcPts val="200"/>
              </a:spcAft>
            </a:pPr>
            <a:r>
              <a:rPr sz="1600" b="0" i="0">
                <a:solidFill>
                  <a:srgbClr val="1A2F5A"/>
                </a:solidFill>
                <a:latin typeface="Calibri"/>
              </a:rPr>
              <a:t>Medium: higher frequency. Amplitude of each action potential is unchanged.</a:t>
            </a:r>
          </a:p>
        </p:txBody>
      </p:sp>
      <p:sp>
        <p:nvSpPr>
          <p:cNvPr id="12" name="Rounded Rectangle 11">
            <a:hlinkClick r:id="rId3" action="ppaction://hlinksldjump"/>
          </p:cNvPr>
          <p:cNvSpPr/>
          <p:nvPr/>
        </p:nvSpPr>
        <p:spPr>
          <a:xfrm>
            <a:off x="6126480" y="4754880"/>
            <a:ext cx="2377440" cy="365760"/>
          </a:xfrm>
          <a:prstGeom prst="roundRect">
            <a:avLst>
              <a:gd name="adj" fmla="val 15000"/>
            </a:avLst>
          </a:prstGeom>
          <a:solidFill>
            <a:srgbClr val="2E9E4F"/>
          </a:solidFill>
          <a:ln w="12700">
            <a:solidFill>
              <a:srgbClr val="2E9E4F"/>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spcBef>
                <a:spcPts val="0"/>
              </a:spcBef>
              <a:spcAft>
                <a:spcPts val="200"/>
              </a:spcAft>
            </a:pPr>
            <a:r>
              <a:rPr sz="1400" b="1" i="0">
                <a:solidFill>
                  <a:srgbClr val="FFFFFF"/>
                </a:solidFill>
                <a:latin typeface="Calibri"/>
              </a:rPr>
              <a:t>Back</a:t>
            </a:r>
          </a:p>
        </p:txBody>
      </p:sp>
    </p:spTree>
  </p:cSld>
  <p:clrMapOvr>
    <a:masterClrMapping/>
  </p:clrMapOvr>
</p:sld>
</file>

<file path=ppt/slides/slide63.xml><?xml version="1.0" encoding="utf-8"?>
<p:sld xmlns:a="http://schemas.openxmlformats.org/drawingml/2006/main" xmlns:p="http://schemas.openxmlformats.org/presentationml/2006/main" xmlns:r="http://schemas.openxmlformats.org/officeDocument/2006/relationships" show="0">
  <p:cSld>
    <p:spTree>
      <p:nvGrpSpPr>
        <p:cNvPr id="1" name=""/>
        <p:cNvGrpSpPr/>
        <p:nvPr/>
      </p:nvGrpSpPr>
      <p:grpSpPr/>
      <p:sp>
        <p:nvSpPr>
          <p:cNvPr id="2" name="Rectangle 1"/>
          <p:cNvSpPr/>
          <p:nvPr/>
        </p:nvSpPr>
        <p:spPr>
          <a:xfrm>
            <a:off x="0" y="0"/>
            <a:ext cx="9144000" cy="658368"/>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640080"/>
            <a:ext cx="9144000" cy="54864"/>
          </a:xfrm>
          <a:prstGeom prst="rect">
            <a:avLst/>
          </a:pr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256032" y="91440"/>
            <a:ext cx="7498079" cy="502920"/>
          </a:xfrm>
          <a:prstGeom prst="rect">
            <a:avLst/>
          </a:prstGeom>
          <a:noFill/>
        </p:spPr>
        <p:txBody>
          <a:bodyPr wrap="square" anchor="t">
            <a:spAutoFit/>
          </a:bodyPr>
          <a:lstStyle/>
          <a:p>
            <a:pPr algn="l">
              <a:spcAft>
                <a:spcPts val="400"/>
              </a:spcAft>
            </a:pPr>
            <a:r>
              <a:rPr sz="2600" b="1" i="0">
                <a:solidFill>
                  <a:srgbClr val="2E9E4F"/>
                </a:solidFill>
                <a:latin typeface="Calibri"/>
              </a:rPr>
              <a:t>Different strengths of stimuli</a:t>
            </a:r>
          </a:p>
        </p:txBody>
      </p:sp>
      <p:sp>
        <p:nvSpPr>
          <p:cNvPr id="5" name="Rounded Rectangle 4"/>
          <p:cNvSpPr/>
          <p:nvPr/>
        </p:nvSpPr>
        <p:spPr>
          <a:xfrm>
            <a:off x="7452360" y="109728"/>
            <a:ext cx="1536192" cy="420624"/>
          </a:xfrm>
          <a:prstGeom prst="roundRect">
            <a:avLst>
              <a:gd name="adj" fmla="val 15000"/>
            </a:avLst>
          </a:prstGeom>
          <a:solidFill>
            <a:srgbClr val="C8E6A0"/>
          </a:solidFill>
          <a:ln w="12700">
            <a:solidFill>
              <a:srgbClr val="1B7A3A"/>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spcBef>
                <a:spcPts val="0"/>
              </a:spcBef>
              <a:spcAft>
                <a:spcPts val="200"/>
              </a:spcAft>
            </a:pPr>
            <a:r>
              <a:rPr sz="1100" b="1" i="0">
                <a:solidFill>
                  <a:srgbClr val="1B7A3A"/>
                </a:solidFill>
                <a:latin typeface="Calibri"/>
              </a:rPr>
              <a:t>A2 Biology</a:t>
            </a:r>
          </a:p>
        </p:txBody>
      </p:sp>
      <p:sp>
        <p:nvSpPr>
          <p:cNvPr id="6" name="Rectangle 5"/>
          <p:cNvSpPr/>
          <p:nvPr/>
        </p:nvSpPr>
        <p:spPr>
          <a:xfrm>
            <a:off x="0" y="0"/>
            <a:ext cx="73152" cy="6858000"/>
          </a:xfrm>
          <a:prstGeom prst="rect">
            <a:avLst/>
          </a:prstGeom>
          <a:solidFill>
            <a:srgbClr val="6B2D8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3152" y="6565392"/>
            <a:ext cx="9070848" cy="36576"/>
          </a:xfrm>
          <a:prstGeom prst="rect">
            <a:avLst/>
          </a:prstGeom>
          <a:solidFill>
            <a:srgbClr val="7A3E9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228600" y="6583680"/>
            <a:ext cx="1280160" cy="256032"/>
          </a:xfrm>
          <a:prstGeom prst="rect">
            <a:avLst/>
          </a:prstGeom>
          <a:noFill/>
        </p:spPr>
        <p:txBody>
          <a:bodyPr wrap="square" anchor="t">
            <a:spAutoFit/>
          </a:bodyPr>
          <a:lstStyle/>
          <a:p>
            <a:pPr algn="l">
              <a:spcAft>
                <a:spcPts val="400"/>
              </a:spcAft>
            </a:pPr>
            <a:r>
              <a:rPr sz="1000" b="0" i="0">
                <a:solidFill>
                  <a:srgbClr val="6B2D8B"/>
                </a:solidFill>
                <a:latin typeface="Calibri"/>
              </a:rPr>
              <a:t>activity</a:t>
            </a:r>
          </a:p>
        </p:txBody>
      </p:sp>
      <p:sp>
        <p:nvSpPr>
          <p:cNvPr id="9" name="TextBox 8"/>
          <p:cNvSpPr txBox="1"/>
          <p:nvPr/>
        </p:nvSpPr>
        <p:spPr>
          <a:xfrm>
            <a:off x="1554480" y="6583680"/>
            <a:ext cx="6035040" cy="256032"/>
          </a:xfrm>
          <a:prstGeom prst="rect">
            <a:avLst/>
          </a:prstGeom>
          <a:noFill/>
        </p:spPr>
        <p:txBody>
          <a:bodyPr wrap="square" anchor="t">
            <a:spAutoFit/>
          </a:bodyPr>
          <a:lstStyle/>
          <a:p>
            <a:pPr algn="ctr">
              <a:spcAft>
                <a:spcPts val="400"/>
              </a:spcAft>
            </a:pPr>
            <a:r>
              <a:rPr sz="900" b="0" i="0">
                <a:solidFill>
                  <a:srgbClr val="5A5A5A"/>
                </a:solidFill>
                <a:latin typeface="Calibri"/>
              </a:rPr>
              <a:t>Original course © Boardworks Ltd 2009. Reconstructed interactive resource.</a:t>
            </a:r>
          </a:p>
        </p:txBody>
      </p:sp>
      <p:pic>
        <p:nvPicPr>
          <p:cNvPr id="10" name="Picture 9" descr="stim_strong.png"/>
          <p:cNvPicPr>
            <a:picLocks noChangeAspect="1"/>
          </p:cNvPicPr>
          <p:nvPr/>
        </p:nvPicPr>
        <p:blipFill>
          <a:blip r:embed="rId2"/>
          <a:stretch>
            <a:fillRect/>
          </a:stretch>
        </p:blipFill>
        <p:spPr>
          <a:xfrm>
            <a:off x="274320" y="1005840"/>
            <a:ext cx="5486400" cy="3541853"/>
          </a:xfrm>
          <a:prstGeom prst="rect">
            <a:avLst/>
          </a:prstGeom>
        </p:spPr>
      </p:pic>
      <p:sp>
        <p:nvSpPr>
          <p:cNvPr id="11" name="Rounded Rectangle 10"/>
          <p:cNvSpPr/>
          <p:nvPr/>
        </p:nvSpPr>
        <p:spPr>
          <a:xfrm>
            <a:off x="5852160" y="1188720"/>
            <a:ext cx="2926080" cy="3200400"/>
          </a:xfrm>
          <a:prstGeom prst="roundRect">
            <a:avLst>
              <a:gd name="adj" fmla="val 15000"/>
            </a:avLst>
          </a:prstGeom>
          <a:solidFill>
            <a:srgbClr val="FFF6B0"/>
          </a:solidFill>
          <a:ln w="15875">
            <a:solidFill>
              <a:srgbClr val="C5B43A"/>
            </a:solidFill>
          </a:ln>
        </p:spPr>
        <p:style>
          <a:lnRef idx="1">
            <a:schemeClr val="accent1"/>
          </a:lnRef>
          <a:fillRef idx="3">
            <a:schemeClr val="accent1"/>
          </a:fillRef>
          <a:effectRef idx="2">
            <a:schemeClr val="accent1"/>
          </a:effectRef>
          <a:fontRef idx="minor">
            <a:schemeClr val="lt1"/>
          </a:fontRef>
        </p:style>
        <p:txBody>
          <a:bodyPr rtlCol="0" anchor="t" wrap="square" lIns="109728" rIns="109728" tIns="73152" bIns="73152"/>
          <a:lstStyle/>
          <a:p>
            <a:pPr algn="l">
              <a:spcBef>
                <a:spcPts val="0"/>
              </a:spcBef>
              <a:spcAft>
                <a:spcPts val="200"/>
              </a:spcAft>
            </a:pPr>
            <a:r>
              <a:rPr sz="1600" b="0" i="0">
                <a:solidFill>
                  <a:srgbClr val="1A2F5A"/>
                </a:solidFill>
                <a:latin typeface="Calibri"/>
              </a:rPr>
              <a:t>Strong: highest frequency. Still the same amplitude – all or nothing.</a:t>
            </a:r>
          </a:p>
        </p:txBody>
      </p:sp>
      <p:sp>
        <p:nvSpPr>
          <p:cNvPr id="12" name="Rounded Rectangle 11">
            <a:hlinkClick r:id="rId3" action="ppaction://hlinksldjump"/>
          </p:cNvPr>
          <p:cNvSpPr/>
          <p:nvPr/>
        </p:nvSpPr>
        <p:spPr>
          <a:xfrm>
            <a:off x="6126480" y="4754880"/>
            <a:ext cx="2377440" cy="365760"/>
          </a:xfrm>
          <a:prstGeom prst="roundRect">
            <a:avLst>
              <a:gd name="adj" fmla="val 15000"/>
            </a:avLst>
          </a:prstGeom>
          <a:solidFill>
            <a:srgbClr val="2E9E4F"/>
          </a:solidFill>
          <a:ln w="12700">
            <a:solidFill>
              <a:srgbClr val="2E9E4F"/>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spcBef>
                <a:spcPts val="0"/>
              </a:spcBef>
              <a:spcAft>
                <a:spcPts val="200"/>
              </a:spcAft>
            </a:pPr>
            <a:r>
              <a:rPr sz="1400" b="1" i="0">
                <a:solidFill>
                  <a:srgbClr val="FFFFFF"/>
                </a:solidFill>
                <a:latin typeface="Calibri"/>
              </a:rPr>
              <a:t>Back</a:t>
            </a:r>
          </a:p>
        </p:txBody>
      </p:sp>
    </p:spTree>
  </p:cSld>
  <p:clrMapOvr>
    <a:masterClrMapping/>
  </p:clrMapOvr>
</p:sld>
</file>

<file path=ppt/slides/slide6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9144000" cy="658368"/>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640080"/>
            <a:ext cx="9144000" cy="54864"/>
          </a:xfrm>
          <a:prstGeom prst="rect">
            <a:avLst/>
          </a:pr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256032" y="91440"/>
            <a:ext cx="7498079" cy="502920"/>
          </a:xfrm>
          <a:prstGeom prst="rect">
            <a:avLst/>
          </a:prstGeom>
          <a:noFill/>
        </p:spPr>
        <p:txBody>
          <a:bodyPr wrap="square" anchor="t">
            <a:spAutoFit/>
          </a:bodyPr>
          <a:lstStyle/>
          <a:p>
            <a:pPr algn="l">
              <a:spcAft>
                <a:spcPts val="400"/>
              </a:spcAft>
            </a:pPr>
            <a:r>
              <a:rPr sz="2600" b="1" i="0">
                <a:solidFill>
                  <a:srgbClr val="2E9E4F"/>
                </a:solidFill>
                <a:latin typeface="Calibri"/>
              </a:rPr>
              <a:t>The axon after an action potential</a:t>
            </a:r>
          </a:p>
        </p:txBody>
      </p:sp>
      <p:sp>
        <p:nvSpPr>
          <p:cNvPr id="5" name="Rounded Rectangle 4"/>
          <p:cNvSpPr/>
          <p:nvPr/>
        </p:nvSpPr>
        <p:spPr>
          <a:xfrm>
            <a:off x="7452360" y="109728"/>
            <a:ext cx="1536192" cy="420624"/>
          </a:xfrm>
          <a:prstGeom prst="roundRect">
            <a:avLst>
              <a:gd name="adj" fmla="val 15000"/>
            </a:avLst>
          </a:prstGeom>
          <a:solidFill>
            <a:srgbClr val="C8E6A0"/>
          </a:solidFill>
          <a:ln w="12700">
            <a:solidFill>
              <a:srgbClr val="1B7A3A"/>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spcBef>
                <a:spcPts val="0"/>
              </a:spcBef>
              <a:spcAft>
                <a:spcPts val="200"/>
              </a:spcAft>
            </a:pPr>
            <a:r>
              <a:rPr sz="1100" b="1" i="0">
                <a:solidFill>
                  <a:srgbClr val="1B7A3A"/>
                </a:solidFill>
                <a:latin typeface="Calibri"/>
              </a:rPr>
              <a:t>A2 Biology</a:t>
            </a:r>
          </a:p>
        </p:txBody>
      </p:sp>
      <p:sp>
        <p:nvSpPr>
          <p:cNvPr id="6" name="Rectangle 5"/>
          <p:cNvSpPr/>
          <p:nvPr/>
        </p:nvSpPr>
        <p:spPr>
          <a:xfrm>
            <a:off x="0" y="0"/>
            <a:ext cx="73152" cy="6858000"/>
          </a:xfrm>
          <a:prstGeom prst="rect">
            <a:avLst/>
          </a:prstGeom>
          <a:solidFill>
            <a:srgbClr val="6B2D8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3152" y="6565392"/>
            <a:ext cx="9070848" cy="36576"/>
          </a:xfrm>
          <a:prstGeom prst="rect">
            <a:avLst/>
          </a:prstGeom>
          <a:solidFill>
            <a:srgbClr val="7A3E9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228600" y="6583680"/>
            <a:ext cx="1280160" cy="256032"/>
          </a:xfrm>
          <a:prstGeom prst="rect">
            <a:avLst/>
          </a:prstGeom>
          <a:noFill/>
        </p:spPr>
        <p:txBody>
          <a:bodyPr wrap="square" anchor="t">
            <a:spAutoFit/>
          </a:bodyPr>
          <a:lstStyle/>
          <a:p>
            <a:pPr algn="l">
              <a:spcAft>
                <a:spcPts val="400"/>
              </a:spcAft>
            </a:pPr>
            <a:r>
              <a:rPr sz="1000" b="0" i="0">
                <a:solidFill>
                  <a:srgbClr val="6B2D8B"/>
                </a:solidFill>
                <a:latin typeface="Calibri"/>
              </a:rPr>
              <a:t>22 of 29</a:t>
            </a:r>
          </a:p>
        </p:txBody>
      </p:sp>
      <p:sp>
        <p:nvSpPr>
          <p:cNvPr id="9" name="TextBox 8"/>
          <p:cNvSpPr txBox="1"/>
          <p:nvPr/>
        </p:nvSpPr>
        <p:spPr>
          <a:xfrm>
            <a:off x="1554480" y="6583680"/>
            <a:ext cx="6035040" cy="256032"/>
          </a:xfrm>
          <a:prstGeom prst="rect">
            <a:avLst/>
          </a:prstGeom>
          <a:noFill/>
        </p:spPr>
        <p:txBody>
          <a:bodyPr wrap="square" anchor="t">
            <a:spAutoFit/>
          </a:bodyPr>
          <a:lstStyle/>
          <a:p>
            <a:pPr algn="ctr">
              <a:spcAft>
                <a:spcPts val="400"/>
              </a:spcAft>
            </a:pPr>
            <a:r>
              <a:rPr sz="900" b="0" i="0">
                <a:solidFill>
                  <a:srgbClr val="5A5A5A"/>
                </a:solidFill>
                <a:latin typeface="Calibri"/>
              </a:rPr>
              <a:t>Original course © Boardworks Ltd 2009. Reconstructed interactive resource.</a:t>
            </a:r>
          </a:p>
        </p:txBody>
      </p:sp>
      <p:sp>
        <p:nvSpPr>
          <p:cNvPr id="10" name="Oval 9">
            <a:hlinkClick r:id="rId6" action="ppaction://hlinksldjump"/>
          </p:cNvPr>
          <p:cNvSpPr/>
          <p:nvPr/>
        </p:nvSpPr>
        <p:spPr>
          <a:xfrm>
            <a:off x="146304" y="5760720"/>
            <a:ext cx="384048" cy="384048"/>
          </a:xfrm>
          <a:prstGeom prst="ellipse">
            <a:avLst/>
          </a:prstGeom>
          <a:solidFill>
            <a:srgbClr val="FFFFFF"/>
          </a:solidFill>
          <a:ln w="22225">
            <a:solidFill>
              <a:srgbClr val="6B2D8B"/>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spcBef>
                <a:spcPts val="0"/>
              </a:spcBef>
              <a:spcAft>
                <a:spcPts val="200"/>
              </a:spcAft>
            </a:pPr>
            <a:r>
              <a:rPr sz="1400" b="1" i="0">
                <a:solidFill>
                  <a:srgbClr val="6B2D8B"/>
                </a:solidFill>
                <a:latin typeface="Calibri"/>
              </a:rPr>
              <a:t>◀</a:t>
            </a:r>
          </a:p>
        </p:txBody>
      </p:sp>
      <p:sp>
        <p:nvSpPr>
          <p:cNvPr id="11" name="Oval 10">
            <a:hlinkClick r:id="rId7" action="ppaction://hlinksldjump"/>
          </p:cNvPr>
          <p:cNvSpPr/>
          <p:nvPr/>
        </p:nvSpPr>
        <p:spPr>
          <a:xfrm>
            <a:off x="8613648" y="5760720"/>
            <a:ext cx="384048" cy="384048"/>
          </a:xfrm>
          <a:prstGeom prst="ellipse">
            <a:avLst/>
          </a:prstGeom>
          <a:solidFill>
            <a:srgbClr val="6B2D8B"/>
          </a:solidFill>
          <a:ln w="12700">
            <a:solidFill>
              <a:srgbClr val="6B2D8B"/>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spcBef>
                <a:spcPts val="0"/>
              </a:spcBef>
              <a:spcAft>
                <a:spcPts val="200"/>
              </a:spcAft>
            </a:pPr>
            <a:r>
              <a:rPr sz="1400" b="1" i="0">
                <a:solidFill>
                  <a:srgbClr val="FFFFFF"/>
                </a:solidFill>
                <a:latin typeface="Calibri"/>
              </a:rPr>
              <a:t>▶</a:t>
            </a:r>
          </a:p>
        </p:txBody>
      </p:sp>
      <p:sp>
        <p:nvSpPr>
          <p:cNvPr id="12" name="Rectangle 11"/>
          <p:cNvSpPr/>
          <p:nvPr/>
        </p:nvSpPr>
        <p:spPr>
          <a:xfrm>
            <a:off x="201168" y="6199632"/>
            <a:ext cx="8741664" cy="329184"/>
          </a:xfrm>
          <a:prstGeom prst="rect">
            <a:avLst/>
          </a:pr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274320" y="804672"/>
            <a:ext cx="8595360" cy="320040"/>
          </a:xfrm>
          <a:prstGeom prst="rect">
            <a:avLst/>
          </a:prstGeom>
          <a:noFill/>
        </p:spPr>
        <p:txBody>
          <a:bodyPr wrap="square" anchor="t">
            <a:spAutoFit/>
          </a:bodyPr>
          <a:lstStyle/>
          <a:p>
            <a:pPr algn="ctr">
              <a:spcAft>
                <a:spcPts val="400"/>
              </a:spcAft>
            </a:pPr>
            <a:r>
              <a:rPr sz="1800" b="1" i="0">
                <a:solidFill>
                  <a:srgbClr val="1B3A6B"/>
                </a:solidFill>
                <a:latin typeface="Calibri"/>
              </a:rPr>
              <a:t>What is the refractory period?</a:t>
            </a:r>
          </a:p>
        </p:txBody>
      </p:sp>
      <p:pic>
        <p:nvPicPr>
          <p:cNvPr id="14" name="Picture 13" descr="refractory.png"/>
          <p:cNvPicPr>
            <a:picLocks noChangeAspect="1"/>
          </p:cNvPicPr>
          <p:nvPr/>
        </p:nvPicPr>
        <p:blipFill>
          <a:blip r:embed="rId2"/>
          <a:stretch>
            <a:fillRect/>
          </a:stretch>
        </p:blipFill>
        <p:spPr>
          <a:xfrm>
            <a:off x="3017520" y="1097280"/>
            <a:ext cx="5760720" cy="3712464"/>
          </a:xfrm>
          <a:prstGeom prst="rect">
            <a:avLst/>
          </a:prstGeom>
        </p:spPr>
      </p:pic>
      <p:sp>
        <p:nvSpPr>
          <p:cNvPr id="15" name="Rounded Rectangle 14"/>
          <p:cNvSpPr/>
          <p:nvPr/>
        </p:nvSpPr>
        <p:spPr>
          <a:xfrm>
            <a:off x="274320" y="1143000"/>
            <a:ext cx="2697480" cy="3200400"/>
          </a:xfrm>
          <a:prstGeom prst="roundRect">
            <a:avLst>
              <a:gd name="adj" fmla="val 15000"/>
            </a:avLst>
          </a:prstGeom>
          <a:solidFill>
            <a:srgbClr val="FFF6B0"/>
          </a:solidFill>
          <a:ln w="15875">
            <a:solidFill>
              <a:srgbClr val="C5B43A"/>
            </a:solidFill>
          </a:ln>
        </p:spPr>
        <p:style>
          <a:lnRef idx="1">
            <a:schemeClr val="accent1"/>
          </a:lnRef>
          <a:fillRef idx="3">
            <a:schemeClr val="accent1"/>
          </a:fillRef>
          <a:effectRef idx="2">
            <a:schemeClr val="accent1"/>
          </a:effectRef>
          <a:fontRef idx="minor">
            <a:schemeClr val="lt1"/>
          </a:fontRef>
        </p:style>
        <p:txBody>
          <a:bodyPr rtlCol="0" anchor="t" wrap="square" lIns="109728" rIns="109728" tIns="73152" bIns="73152"/>
          <a:lstStyle/>
          <a:p>
            <a:pPr algn="l">
              <a:spcBef>
                <a:spcPts val="0"/>
              </a:spcBef>
              <a:spcAft>
                <a:spcPts val="200"/>
              </a:spcAft>
            </a:pPr>
            <a:r>
              <a:rPr sz="1300" b="0" i="0">
                <a:solidFill>
                  <a:srgbClr val="1A2F5A"/>
                </a:solidFill>
                <a:latin typeface="Calibri"/>
              </a:rPr>
              <a:t>Once an action potential has passed, the axon becomes inexcitable for a short period of time. Press on each area of the graph to learn more about how the axon excitability changes.</a:t>
            </a:r>
          </a:p>
        </p:txBody>
      </p:sp>
      <p:sp>
        <p:nvSpPr>
          <p:cNvPr id="16" name="Rounded Rectangle 15">
            <a:hlinkClick r:id="rId4" action="ppaction://hlinksldjump"/>
          </p:cNvPr>
          <p:cNvSpPr/>
          <p:nvPr/>
        </p:nvSpPr>
        <p:spPr>
          <a:xfrm>
            <a:off x="274320" y="4480560"/>
            <a:ext cx="2697480" cy="384048"/>
          </a:xfrm>
          <a:prstGeom prst="roundRect">
            <a:avLst>
              <a:gd name="adj" fmla="val 15000"/>
            </a:avLst>
          </a:prstGeom>
          <a:solidFill>
            <a:srgbClr val="1B3A6B"/>
          </a:solidFill>
          <a:ln w="12700">
            <a:solidFill>
              <a:srgbClr val="1B3A6B"/>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spcBef>
                <a:spcPts val="0"/>
              </a:spcBef>
              <a:spcAft>
                <a:spcPts val="200"/>
              </a:spcAft>
            </a:pPr>
            <a:r>
              <a:rPr sz="1200" b="1" i="0">
                <a:solidFill>
                  <a:srgbClr val="FFFFFF"/>
                </a:solidFill>
                <a:latin typeface="Calibri"/>
              </a:rPr>
              <a:t>absolute refractory</a:t>
            </a:r>
          </a:p>
        </p:txBody>
      </p:sp>
      <p:sp>
        <p:nvSpPr>
          <p:cNvPr id="17" name="Rounded Rectangle 16">
            <a:hlinkClick r:id="rId5" action="ppaction://hlinksldjump"/>
          </p:cNvPr>
          <p:cNvSpPr/>
          <p:nvPr/>
        </p:nvSpPr>
        <p:spPr>
          <a:xfrm>
            <a:off x="274320" y="4937760"/>
            <a:ext cx="2697480" cy="384048"/>
          </a:xfrm>
          <a:prstGeom prst="roundRect">
            <a:avLst>
              <a:gd name="adj" fmla="val 15000"/>
            </a:avLst>
          </a:prstGeom>
          <a:solidFill>
            <a:srgbClr val="2E9E4F"/>
          </a:solidFill>
          <a:ln w="12700">
            <a:solidFill>
              <a:srgbClr val="2E9E4F"/>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spcBef>
                <a:spcPts val="0"/>
              </a:spcBef>
              <a:spcAft>
                <a:spcPts val="200"/>
              </a:spcAft>
            </a:pPr>
            <a:r>
              <a:rPr sz="1200" b="1" i="0">
                <a:solidFill>
                  <a:srgbClr val="FFFFFF"/>
                </a:solidFill>
                <a:latin typeface="Calibri"/>
              </a:rPr>
              <a:t>relative refractory</a:t>
            </a:r>
          </a:p>
        </p:txBody>
      </p:sp>
    </p:spTree>
  </p:cSld>
  <p:clrMapOvr>
    <a:masterClrMapping/>
  </p:clrMapOvr>
</p:sld>
</file>

<file path=ppt/slides/slide65.xml><?xml version="1.0" encoding="utf-8"?>
<p:sld xmlns:a="http://schemas.openxmlformats.org/drawingml/2006/main" xmlns:p="http://schemas.openxmlformats.org/presentationml/2006/main" xmlns:r="http://schemas.openxmlformats.org/officeDocument/2006/relationships" show="0">
  <p:cSld>
    <p:spTree>
      <p:nvGrpSpPr>
        <p:cNvPr id="1" name=""/>
        <p:cNvGrpSpPr/>
        <p:nvPr/>
      </p:nvGrpSpPr>
      <p:grpSpPr/>
      <p:sp>
        <p:nvSpPr>
          <p:cNvPr id="2" name="Rectangle 1"/>
          <p:cNvSpPr/>
          <p:nvPr/>
        </p:nvSpPr>
        <p:spPr>
          <a:xfrm>
            <a:off x="0" y="0"/>
            <a:ext cx="9144000" cy="658368"/>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640080"/>
            <a:ext cx="9144000" cy="54864"/>
          </a:xfrm>
          <a:prstGeom prst="rect">
            <a:avLst/>
          </a:pr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256032" y="91440"/>
            <a:ext cx="7498079" cy="502920"/>
          </a:xfrm>
          <a:prstGeom prst="rect">
            <a:avLst/>
          </a:prstGeom>
          <a:noFill/>
        </p:spPr>
        <p:txBody>
          <a:bodyPr wrap="square" anchor="t">
            <a:spAutoFit/>
          </a:bodyPr>
          <a:lstStyle/>
          <a:p>
            <a:pPr algn="l">
              <a:spcAft>
                <a:spcPts val="400"/>
              </a:spcAft>
            </a:pPr>
            <a:r>
              <a:rPr sz="2600" b="1" i="0">
                <a:solidFill>
                  <a:srgbClr val="2E9E4F"/>
                </a:solidFill>
                <a:latin typeface="Calibri"/>
              </a:rPr>
              <a:t>The axon after an action potential</a:t>
            </a:r>
          </a:p>
        </p:txBody>
      </p:sp>
      <p:sp>
        <p:nvSpPr>
          <p:cNvPr id="5" name="Rounded Rectangle 4"/>
          <p:cNvSpPr/>
          <p:nvPr/>
        </p:nvSpPr>
        <p:spPr>
          <a:xfrm>
            <a:off x="7452360" y="109728"/>
            <a:ext cx="1536192" cy="420624"/>
          </a:xfrm>
          <a:prstGeom prst="roundRect">
            <a:avLst>
              <a:gd name="adj" fmla="val 15000"/>
            </a:avLst>
          </a:prstGeom>
          <a:solidFill>
            <a:srgbClr val="C8E6A0"/>
          </a:solidFill>
          <a:ln w="12700">
            <a:solidFill>
              <a:srgbClr val="1B7A3A"/>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spcBef>
                <a:spcPts val="0"/>
              </a:spcBef>
              <a:spcAft>
                <a:spcPts val="200"/>
              </a:spcAft>
            </a:pPr>
            <a:r>
              <a:rPr sz="1100" b="1" i="0">
                <a:solidFill>
                  <a:srgbClr val="1B7A3A"/>
                </a:solidFill>
                <a:latin typeface="Calibri"/>
              </a:rPr>
              <a:t>A2 Biology</a:t>
            </a:r>
          </a:p>
        </p:txBody>
      </p:sp>
      <p:sp>
        <p:nvSpPr>
          <p:cNvPr id="6" name="Rectangle 5"/>
          <p:cNvSpPr/>
          <p:nvPr/>
        </p:nvSpPr>
        <p:spPr>
          <a:xfrm>
            <a:off x="0" y="0"/>
            <a:ext cx="73152" cy="6858000"/>
          </a:xfrm>
          <a:prstGeom prst="rect">
            <a:avLst/>
          </a:prstGeom>
          <a:solidFill>
            <a:srgbClr val="6B2D8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3152" y="6565392"/>
            <a:ext cx="9070848" cy="36576"/>
          </a:xfrm>
          <a:prstGeom prst="rect">
            <a:avLst/>
          </a:prstGeom>
          <a:solidFill>
            <a:srgbClr val="7A3E9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228600" y="6583680"/>
            <a:ext cx="1280160" cy="256032"/>
          </a:xfrm>
          <a:prstGeom prst="rect">
            <a:avLst/>
          </a:prstGeom>
          <a:noFill/>
        </p:spPr>
        <p:txBody>
          <a:bodyPr wrap="square" anchor="t">
            <a:spAutoFit/>
          </a:bodyPr>
          <a:lstStyle/>
          <a:p>
            <a:pPr algn="l">
              <a:spcAft>
                <a:spcPts val="400"/>
              </a:spcAft>
            </a:pPr>
            <a:r>
              <a:rPr sz="1000" b="0" i="0">
                <a:solidFill>
                  <a:srgbClr val="6B2D8B"/>
                </a:solidFill>
                <a:latin typeface="Calibri"/>
              </a:rPr>
              <a:t>activity</a:t>
            </a:r>
          </a:p>
        </p:txBody>
      </p:sp>
      <p:sp>
        <p:nvSpPr>
          <p:cNvPr id="9" name="TextBox 8"/>
          <p:cNvSpPr txBox="1"/>
          <p:nvPr/>
        </p:nvSpPr>
        <p:spPr>
          <a:xfrm>
            <a:off x="1554480" y="6583680"/>
            <a:ext cx="6035040" cy="256032"/>
          </a:xfrm>
          <a:prstGeom prst="rect">
            <a:avLst/>
          </a:prstGeom>
          <a:noFill/>
        </p:spPr>
        <p:txBody>
          <a:bodyPr wrap="square" anchor="t">
            <a:spAutoFit/>
          </a:bodyPr>
          <a:lstStyle/>
          <a:p>
            <a:pPr algn="ctr">
              <a:spcAft>
                <a:spcPts val="400"/>
              </a:spcAft>
            </a:pPr>
            <a:r>
              <a:rPr sz="900" b="0" i="0">
                <a:solidFill>
                  <a:srgbClr val="5A5A5A"/>
                </a:solidFill>
                <a:latin typeface="Calibri"/>
              </a:rPr>
              <a:t>Original course © Boardworks Ltd 2009. Reconstructed interactive resource.</a:t>
            </a:r>
          </a:p>
        </p:txBody>
      </p:sp>
      <p:sp>
        <p:nvSpPr>
          <p:cNvPr id="10" name="Rounded Rectangle 9"/>
          <p:cNvSpPr/>
          <p:nvPr/>
        </p:nvSpPr>
        <p:spPr>
          <a:xfrm>
            <a:off x="640080" y="1371600"/>
            <a:ext cx="7863840" cy="3108960"/>
          </a:xfrm>
          <a:prstGeom prst="roundRect">
            <a:avLst>
              <a:gd name="adj" fmla="val 15000"/>
            </a:avLst>
          </a:prstGeom>
          <a:solidFill>
            <a:srgbClr val="FFF6B0"/>
          </a:solidFill>
          <a:ln w="15875">
            <a:solidFill>
              <a:srgbClr val="C5B43A"/>
            </a:solidFill>
          </a:ln>
        </p:spPr>
        <p:style>
          <a:lnRef idx="1">
            <a:schemeClr val="accent1"/>
          </a:lnRef>
          <a:fillRef idx="3">
            <a:schemeClr val="accent1"/>
          </a:fillRef>
          <a:effectRef idx="2">
            <a:schemeClr val="accent1"/>
          </a:effectRef>
          <a:fontRef idx="minor">
            <a:schemeClr val="lt1"/>
          </a:fontRef>
        </p:style>
        <p:txBody>
          <a:bodyPr rtlCol="0" anchor="t" wrap="square" lIns="109728" rIns="109728" tIns="73152" bIns="73152"/>
          <a:lstStyle/>
          <a:p>
            <a:pPr algn="l">
              <a:spcBef>
                <a:spcPts val="0"/>
              </a:spcBef>
              <a:spcAft>
                <a:spcPts val="200"/>
              </a:spcAft>
            </a:pPr>
            <a:r>
              <a:rPr sz="1700" b="0" i="0">
                <a:solidFill>
                  <a:srgbClr val="1A2F5A"/>
                </a:solidFill>
                <a:latin typeface="Calibri"/>
              </a:rPr>
              <a:t>Absolute refractory period</a:t>
            </a:r>
          </a:p>
          <a:p>
            <a:pPr algn="l">
              <a:spcAft>
                <a:spcPts val="200"/>
              </a:spcAft>
            </a:pPr>
            <a:r>
              <a:rPr sz="1700" b="0" i="0">
                <a:solidFill>
                  <a:srgbClr val="1A2F5A"/>
                </a:solidFill>
                <a:latin typeface="Calibri"/>
              </a:rPr>
              <a:t/>
            </a:r>
          </a:p>
          <a:p>
            <a:pPr algn="l">
              <a:spcAft>
                <a:spcPts val="200"/>
              </a:spcAft>
            </a:pPr>
            <a:r>
              <a:rPr sz="1700" b="0" i="0">
                <a:solidFill>
                  <a:srgbClr val="1A2F5A"/>
                </a:solidFill>
                <a:latin typeface="Calibri"/>
              </a:rPr>
              <a:t>No new action potential can be generated, however strong the stimulus. Voltage-gated Na⁺ channels are inactivated and must reset. This also forces unidirectional propagation – the region behind the impulse cannot fire again yet.</a:t>
            </a:r>
          </a:p>
        </p:txBody>
      </p:sp>
      <p:sp>
        <p:nvSpPr>
          <p:cNvPr id="11" name="Rounded Rectangle 10">
            <a:hlinkClick r:id="rId2" action="ppaction://hlinksldjump"/>
          </p:cNvPr>
          <p:cNvSpPr/>
          <p:nvPr/>
        </p:nvSpPr>
        <p:spPr>
          <a:xfrm>
            <a:off x="3200400" y="4846320"/>
            <a:ext cx="2743200" cy="411480"/>
          </a:xfrm>
          <a:prstGeom prst="roundRect">
            <a:avLst>
              <a:gd name="adj" fmla="val 15000"/>
            </a:avLst>
          </a:prstGeom>
          <a:solidFill>
            <a:srgbClr val="2E9E4F"/>
          </a:solidFill>
          <a:ln w="12700">
            <a:solidFill>
              <a:srgbClr val="2E9E4F"/>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spcBef>
                <a:spcPts val="0"/>
              </a:spcBef>
              <a:spcAft>
                <a:spcPts val="200"/>
              </a:spcAft>
            </a:pPr>
            <a:r>
              <a:rPr sz="1400" b="1" i="0">
                <a:solidFill>
                  <a:srgbClr val="FFFFFF"/>
                </a:solidFill>
                <a:latin typeface="Calibri"/>
              </a:rPr>
              <a:t>Back</a:t>
            </a:r>
          </a:p>
        </p:txBody>
      </p:sp>
    </p:spTree>
  </p:cSld>
  <p:clrMapOvr>
    <a:masterClrMapping/>
  </p:clrMapOvr>
</p:sld>
</file>

<file path=ppt/slides/slide66.xml><?xml version="1.0" encoding="utf-8"?>
<p:sld xmlns:a="http://schemas.openxmlformats.org/drawingml/2006/main" xmlns:p="http://schemas.openxmlformats.org/presentationml/2006/main" xmlns:r="http://schemas.openxmlformats.org/officeDocument/2006/relationships" show="0">
  <p:cSld>
    <p:spTree>
      <p:nvGrpSpPr>
        <p:cNvPr id="1" name=""/>
        <p:cNvGrpSpPr/>
        <p:nvPr/>
      </p:nvGrpSpPr>
      <p:grpSpPr/>
      <p:sp>
        <p:nvSpPr>
          <p:cNvPr id="2" name="Rectangle 1"/>
          <p:cNvSpPr/>
          <p:nvPr/>
        </p:nvSpPr>
        <p:spPr>
          <a:xfrm>
            <a:off x="0" y="0"/>
            <a:ext cx="9144000" cy="658368"/>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640080"/>
            <a:ext cx="9144000" cy="54864"/>
          </a:xfrm>
          <a:prstGeom prst="rect">
            <a:avLst/>
          </a:pr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256032" y="91440"/>
            <a:ext cx="7498079" cy="502920"/>
          </a:xfrm>
          <a:prstGeom prst="rect">
            <a:avLst/>
          </a:prstGeom>
          <a:noFill/>
        </p:spPr>
        <p:txBody>
          <a:bodyPr wrap="square" anchor="t">
            <a:spAutoFit/>
          </a:bodyPr>
          <a:lstStyle/>
          <a:p>
            <a:pPr algn="l">
              <a:spcAft>
                <a:spcPts val="400"/>
              </a:spcAft>
            </a:pPr>
            <a:r>
              <a:rPr sz="2600" b="1" i="0">
                <a:solidFill>
                  <a:srgbClr val="2E9E4F"/>
                </a:solidFill>
                <a:latin typeface="Calibri"/>
              </a:rPr>
              <a:t>The axon after an action potential</a:t>
            </a:r>
          </a:p>
        </p:txBody>
      </p:sp>
      <p:sp>
        <p:nvSpPr>
          <p:cNvPr id="5" name="Rounded Rectangle 4"/>
          <p:cNvSpPr/>
          <p:nvPr/>
        </p:nvSpPr>
        <p:spPr>
          <a:xfrm>
            <a:off x="7452360" y="109728"/>
            <a:ext cx="1536192" cy="420624"/>
          </a:xfrm>
          <a:prstGeom prst="roundRect">
            <a:avLst>
              <a:gd name="adj" fmla="val 15000"/>
            </a:avLst>
          </a:prstGeom>
          <a:solidFill>
            <a:srgbClr val="C8E6A0"/>
          </a:solidFill>
          <a:ln w="12700">
            <a:solidFill>
              <a:srgbClr val="1B7A3A"/>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spcBef>
                <a:spcPts val="0"/>
              </a:spcBef>
              <a:spcAft>
                <a:spcPts val="200"/>
              </a:spcAft>
            </a:pPr>
            <a:r>
              <a:rPr sz="1100" b="1" i="0">
                <a:solidFill>
                  <a:srgbClr val="1B7A3A"/>
                </a:solidFill>
                <a:latin typeface="Calibri"/>
              </a:rPr>
              <a:t>A2 Biology</a:t>
            </a:r>
          </a:p>
        </p:txBody>
      </p:sp>
      <p:sp>
        <p:nvSpPr>
          <p:cNvPr id="6" name="Rectangle 5"/>
          <p:cNvSpPr/>
          <p:nvPr/>
        </p:nvSpPr>
        <p:spPr>
          <a:xfrm>
            <a:off x="0" y="0"/>
            <a:ext cx="73152" cy="6858000"/>
          </a:xfrm>
          <a:prstGeom prst="rect">
            <a:avLst/>
          </a:prstGeom>
          <a:solidFill>
            <a:srgbClr val="6B2D8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3152" y="6565392"/>
            <a:ext cx="9070848" cy="36576"/>
          </a:xfrm>
          <a:prstGeom prst="rect">
            <a:avLst/>
          </a:prstGeom>
          <a:solidFill>
            <a:srgbClr val="7A3E9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228600" y="6583680"/>
            <a:ext cx="1280160" cy="256032"/>
          </a:xfrm>
          <a:prstGeom prst="rect">
            <a:avLst/>
          </a:prstGeom>
          <a:noFill/>
        </p:spPr>
        <p:txBody>
          <a:bodyPr wrap="square" anchor="t">
            <a:spAutoFit/>
          </a:bodyPr>
          <a:lstStyle/>
          <a:p>
            <a:pPr algn="l">
              <a:spcAft>
                <a:spcPts val="400"/>
              </a:spcAft>
            </a:pPr>
            <a:r>
              <a:rPr sz="1000" b="0" i="0">
                <a:solidFill>
                  <a:srgbClr val="6B2D8B"/>
                </a:solidFill>
                <a:latin typeface="Calibri"/>
              </a:rPr>
              <a:t>activity</a:t>
            </a:r>
          </a:p>
        </p:txBody>
      </p:sp>
      <p:sp>
        <p:nvSpPr>
          <p:cNvPr id="9" name="TextBox 8"/>
          <p:cNvSpPr txBox="1"/>
          <p:nvPr/>
        </p:nvSpPr>
        <p:spPr>
          <a:xfrm>
            <a:off x="1554480" y="6583680"/>
            <a:ext cx="6035040" cy="256032"/>
          </a:xfrm>
          <a:prstGeom prst="rect">
            <a:avLst/>
          </a:prstGeom>
          <a:noFill/>
        </p:spPr>
        <p:txBody>
          <a:bodyPr wrap="square" anchor="t">
            <a:spAutoFit/>
          </a:bodyPr>
          <a:lstStyle/>
          <a:p>
            <a:pPr algn="ctr">
              <a:spcAft>
                <a:spcPts val="400"/>
              </a:spcAft>
            </a:pPr>
            <a:r>
              <a:rPr sz="900" b="0" i="0">
                <a:solidFill>
                  <a:srgbClr val="5A5A5A"/>
                </a:solidFill>
                <a:latin typeface="Calibri"/>
              </a:rPr>
              <a:t>Original course © Boardworks Ltd 2009. Reconstructed interactive resource.</a:t>
            </a:r>
          </a:p>
        </p:txBody>
      </p:sp>
      <p:sp>
        <p:nvSpPr>
          <p:cNvPr id="10" name="Rounded Rectangle 9"/>
          <p:cNvSpPr/>
          <p:nvPr/>
        </p:nvSpPr>
        <p:spPr>
          <a:xfrm>
            <a:off x="640080" y="1371600"/>
            <a:ext cx="7863840" cy="3108960"/>
          </a:xfrm>
          <a:prstGeom prst="roundRect">
            <a:avLst>
              <a:gd name="adj" fmla="val 15000"/>
            </a:avLst>
          </a:prstGeom>
          <a:solidFill>
            <a:srgbClr val="FFF6B0"/>
          </a:solidFill>
          <a:ln w="15875">
            <a:solidFill>
              <a:srgbClr val="C5B43A"/>
            </a:solidFill>
          </a:ln>
        </p:spPr>
        <p:style>
          <a:lnRef idx="1">
            <a:schemeClr val="accent1"/>
          </a:lnRef>
          <a:fillRef idx="3">
            <a:schemeClr val="accent1"/>
          </a:fillRef>
          <a:effectRef idx="2">
            <a:schemeClr val="accent1"/>
          </a:effectRef>
          <a:fontRef idx="minor">
            <a:schemeClr val="lt1"/>
          </a:fontRef>
        </p:style>
        <p:txBody>
          <a:bodyPr rtlCol="0" anchor="t" wrap="square" lIns="109728" rIns="109728" tIns="73152" bIns="73152"/>
          <a:lstStyle/>
          <a:p>
            <a:pPr algn="l">
              <a:spcBef>
                <a:spcPts val="0"/>
              </a:spcBef>
              <a:spcAft>
                <a:spcPts val="200"/>
              </a:spcAft>
            </a:pPr>
            <a:r>
              <a:rPr sz="1700" b="0" i="0">
                <a:solidFill>
                  <a:srgbClr val="1A2F5A"/>
                </a:solidFill>
                <a:latin typeface="Calibri"/>
              </a:rPr>
              <a:t>Relative refractory period</a:t>
            </a:r>
          </a:p>
          <a:p>
            <a:pPr algn="l">
              <a:spcAft>
                <a:spcPts val="200"/>
              </a:spcAft>
            </a:pPr>
            <a:r>
              <a:rPr sz="1700" b="0" i="0">
                <a:solidFill>
                  <a:srgbClr val="1A2F5A"/>
                </a:solidFill>
                <a:latin typeface="Calibri"/>
              </a:rPr>
              <a:t/>
            </a:r>
          </a:p>
          <a:p>
            <a:pPr algn="l">
              <a:spcAft>
                <a:spcPts val="200"/>
              </a:spcAft>
            </a:pPr>
            <a:r>
              <a:rPr sz="1700" b="0" i="0">
                <a:solidFill>
                  <a:srgbClr val="1A2F5A"/>
                </a:solidFill>
                <a:latin typeface="Calibri"/>
              </a:rPr>
              <a:t>A larger-than-normal stimulus can generate an action potential because some Na⁺ channels have recovered but the membrane is still hyperpolarised. Excitability rises back to normal as the resting potential is restored.</a:t>
            </a:r>
          </a:p>
        </p:txBody>
      </p:sp>
      <p:sp>
        <p:nvSpPr>
          <p:cNvPr id="11" name="Rounded Rectangle 10">
            <a:hlinkClick r:id="rId2" action="ppaction://hlinksldjump"/>
          </p:cNvPr>
          <p:cNvSpPr/>
          <p:nvPr/>
        </p:nvSpPr>
        <p:spPr>
          <a:xfrm>
            <a:off x="3200400" y="4846320"/>
            <a:ext cx="2743200" cy="411480"/>
          </a:xfrm>
          <a:prstGeom prst="roundRect">
            <a:avLst>
              <a:gd name="adj" fmla="val 15000"/>
            </a:avLst>
          </a:prstGeom>
          <a:solidFill>
            <a:srgbClr val="2E9E4F"/>
          </a:solidFill>
          <a:ln w="12700">
            <a:solidFill>
              <a:srgbClr val="2E9E4F"/>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spcBef>
                <a:spcPts val="0"/>
              </a:spcBef>
              <a:spcAft>
                <a:spcPts val="200"/>
              </a:spcAft>
            </a:pPr>
            <a:r>
              <a:rPr sz="1400" b="1" i="0">
                <a:solidFill>
                  <a:srgbClr val="FFFFFF"/>
                </a:solidFill>
                <a:latin typeface="Calibri"/>
              </a:rPr>
              <a:t>Back</a:t>
            </a:r>
          </a:p>
        </p:txBody>
      </p:sp>
    </p:spTree>
  </p:cSld>
  <p:clrMapOvr>
    <a:masterClrMapping/>
  </p:clrMapOvr>
</p:sld>
</file>

<file path=ppt/slides/slide6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9144000" cy="658368"/>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640080"/>
            <a:ext cx="9144000" cy="54864"/>
          </a:xfrm>
          <a:prstGeom prst="rect">
            <a:avLst/>
          </a:pr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256032" y="91440"/>
            <a:ext cx="7498079" cy="502920"/>
          </a:xfrm>
          <a:prstGeom prst="rect">
            <a:avLst/>
          </a:prstGeom>
          <a:noFill/>
        </p:spPr>
        <p:txBody>
          <a:bodyPr wrap="square" anchor="t">
            <a:spAutoFit/>
          </a:bodyPr>
          <a:lstStyle/>
          <a:p>
            <a:pPr algn="l">
              <a:spcAft>
                <a:spcPts val="400"/>
              </a:spcAft>
            </a:pPr>
            <a:r>
              <a:rPr sz="2600" b="1" i="0">
                <a:solidFill>
                  <a:srgbClr val="2E9E4F"/>
                </a:solidFill>
                <a:latin typeface="Calibri"/>
              </a:rPr>
              <a:t>What affects the speed of an impulse?</a:t>
            </a:r>
          </a:p>
        </p:txBody>
      </p:sp>
      <p:sp>
        <p:nvSpPr>
          <p:cNvPr id="5" name="Rounded Rectangle 4"/>
          <p:cNvSpPr/>
          <p:nvPr/>
        </p:nvSpPr>
        <p:spPr>
          <a:xfrm>
            <a:off x="7452360" y="109728"/>
            <a:ext cx="1536192" cy="420624"/>
          </a:xfrm>
          <a:prstGeom prst="roundRect">
            <a:avLst>
              <a:gd name="adj" fmla="val 15000"/>
            </a:avLst>
          </a:prstGeom>
          <a:solidFill>
            <a:srgbClr val="C8E6A0"/>
          </a:solidFill>
          <a:ln w="12700">
            <a:solidFill>
              <a:srgbClr val="1B7A3A"/>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spcBef>
                <a:spcPts val="0"/>
              </a:spcBef>
              <a:spcAft>
                <a:spcPts val="200"/>
              </a:spcAft>
            </a:pPr>
            <a:r>
              <a:rPr sz="1100" b="1" i="0">
                <a:solidFill>
                  <a:srgbClr val="1B7A3A"/>
                </a:solidFill>
                <a:latin typeface="Calibri"/>
              </a:rPr>
              <a:t>A2 Biology</a:t>
            </a:r>
          </a:p>
        </p:txBody>
      </p:sp>
      <p:sp>
        <p:nvSpPr>
          <p:cNvPr id="6" name="Rectangle 5"/>
          <p:cNvSpPr/>
          <p:nvPr/>
        </p:nvSpPr>
        <p:spPr>
          <a:xfrm>
            <a:off x="0" y="0"/>
            <a:ext cx="73152" cy="6858000"/>
          </a:xfrm>
          <a:prstGeom prst="rect">
            <a:avLst/>
          </a:prstGeom>
          <a:solidFill>
            <a:srgbClr val="6B2D8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3152" y="6565392"/>
            <a:ext cx="9070848" cy="36576"/>
          </a:xfrm>
          <a:prstGeom prst="rect">
            <a:avLst/>
          </a:prstGeom>
          <a:solidFill>
            <a:srgbClr val="7A3E9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228600" y="6583680"/>
            <a:ext cx="1280160" cy="256032"/>
          </a:xfrm>
          <a:prstGeom prst="rect">
            <a:avLst/>
          </a:prstGeom>
          <a:noFill/>
        </p:spPr>
        <p:txBody>
          <a:bodyPr wrap="square" anchor="t">
            <a:spAutoFit/>
          </a:bodyPr>
          <a:lstStyle/>
          <a:p>
            <a:pPr algn="l">
              <a:spcAft>
                <a:spcPts val="400"/>
              </a:spcAft>
            </a:pPr>
            <a:r>
              <a:rPr sz="1000" b="0" i="0">
                <a:solidFill>
                  <a:srgbClr val="6B2D8B"/>
                </a:solidFill>
                <a:latin typeface="Calibri"/>
              </a:rPr>
              <a:t>23 of 29</a:t>
            </a:r>
          </a:p>
        </p:txBody>
      </p:sp>
      <p:sp>
        <p:nvSpPr>
          <p:cNvPr id="9" name="TextBox 8"/>
          <p:cNvSpPr txBox="1"/>
          <p:nvPr/>
        </p:nvSpPr>
        <p:spPr>
          <a:xfrm>
            <a:off x="1554480" y="6583680"/>
            <a:ext cx="6035040" cy="256032"/>
          </a:xfrm>
          <a:prstGeom prst="rect">
            <a:avLst/>
          </a:prstGeom>
          <a:noFill/>
        </p:spPr>
        <p:txBody>
          <a:bodyPr wrap="square" anchor="t">
            <a:spAutoFit/>
          </a:bodyPr>
          <a:lstStyle/>
          <a:p>
            <a:pPr algn="ctr">
              <a:spcAft>
                <a:spcPts val="400"/>
              </a:spcAft>
            </a:pPr>
            <a:r>
              <a:rPr sz="900" b="0" i="0">
                <a:solidFill>
                  <a:srgbClr val="5A5A5A"/>
                </a:solidFill>
                <a:latin typeface="Calibri"/>
              </a:rPr>
              <a:t>Original course © Boardworks Ltd 2009. Reconstructed interactive resource.</a:t>
            </a:r>
          </a:p>
        </p:txBody>
      </p:sp>
      <p:sp>
        <p:nvSpPr>
          <p:cNvPr id="10" name="Oval 9">
            <a:hlinkClick r:id="rId6" action="ppaction://hlinksldjump"/>
          </p:cNvPr>
          <p:cNvSpPr/>
          <p:nvPr/>
        </p:nvSpPr>
        <p:spPr>
          <a:xfrm>
            <a:off x="146304" y="5760720"/>
            <a:ext cx="384048" cy="384048"/>
          </a:xfrm>
          <a:prstGeom prst="ellipse">
            <a:avLst/>
          </a:prstGeom>
          <a:solidFill>
            <a:srgbClr val="FFFFFF"/>
          </a:solidFill>
          <a:ln w="22225">
            <a:solidFill>
              <a:srgbClr val="6B2D8B"/>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spcBef>
                <a:spcPts val="0"/>
              </a:spcBef>
              <a:spcAft>
                <a:spcPts val="200"/>
              </a:spcAft>
            </a:pPr>
            <a:r>
              <a:rPr sz="1400" b="1" i="0">
                <a:solidFill>
                  <a:srgbClr val="6B2D8B"/>
                </a:solidFill>
                <a:latin typeface="Calibri"/>
              </a:rPr>
              <a:t>◀</a:t>
            </a:r>
          </a:p>
        </p:txBody>
      </p:sp>
      <p:sp>
        <p:nvSpPr>
          <p:cNvPr id="11" name="Oval 10">
            <a:hlinkClick r:id="rId5" action="ppaction://hlinksldjump"/>
          </p:cNvPr>
          <p:cNvSpPr/>
          <p:nvPr/>
        </p:nvSpPr>
        <p:spPr>
          <a:xfrm>
            <a:off x="8613648" y="5760720"/>
            <a:ext cx="384048" cy="384048"/>
          </a:xfrm>
          <a:prstGeom prst="ellipse">
            <a:avLst/>
          </a:prstGeom>
          <a:solidFill>
            <a:srgbClr val="6B2D8B"/>
          </a:solidFill>
          <a:ln w="12700">
            <a:solidFill>
              <a:srgbClr val="6B2D8B"/>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spcBef>
                <a:spcPts val="0"/>
              </a:spcBef>
              <a:spcAft>
                <a:spcPts val="200"/>
              </a:spcAft>
            </a:pPr>
            <a:r>
              <a:rPr sz="1400" b="1" i="0">
                <a:solidFill>
                  <a:srgbClr val="FFFFFF"/>
                </a:solidFill>
                <a:latin typeface="Calibri"/>
              </a:rPr>
              <a:t>▶</a:t>
            </a:r>
          </a:p>
        </p:txBody>
      </p:sp>
      <p:sp>
        <p:nvSpPr>
          <p:cNvPr id="12" name="Rectangle 11"/>
          <p:cNvSpPr/>
          <p:nvPr/>
        </p:nvSpPr>
        <p:spPr>
          <a:xfrm>
            <a:off x="201168" y="6199632"/>
            <a:ext cx="8741664" cy="329184"/>
          </a:xfrm>
          <a:prstGeom prst="rect">
            <a:avLst/>
          </a:pr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320040" y="804672"/>
            <a:ext cx="6766560" cy="347472"/>
          </a:xfrm>
          <a:prstGeom prst="rect">
            <a:avLst/>
          </a:prstGeom>
          <a:noFill/>
        </p:spPr>
        <p:txBody>
          <a:bodyPr wrap="square" anchor="t">
            <a:spAutoFit/>
          </a:bodyPr>
          <a:lstStyle/>
          <a:p>
            <a:pPr algn="l">
              <a:spcAft>
                <a:spcPts val="400"/>
              </a:spcAft>
            </a:pPr>
            <a:r>
              <a:rPr sz="1600" b="1" i="0">
                <a:solidFill>
                  <a:srgbClr val="1B3A6B"/>
                </a:solidFill>
                <a:latin typeface="Calibri"/>
              </a:rPr>
              <a:t>Step 1 of 4:  Myelin and nodes</a:t>
            </a:r>
          </a:p>
        </p:txBody>
      </p:sp>
      <p:pic>
        <p:nvPicPr>
          <p:cNvPr id="14" name="Picture 13" descr="saltatory_0.png"/>
          <p:cNvPicPr>
            <a:picLocks noChangeAspect="1"/>
          </p:cNvPicPr>
          <p:nvPr/>
        </p:nvPicPr>
        <p:blipFill>
          <a:blip r:embed="rId2"/>
          <a:stretch>
            <a:fillRect/>
          </a:stretch>
        </p:blipFill>
        <p:spPr>
          <a:xfrm>
            <a:off x="274320" y="1170432"/>
            <a:ext cx="5029200" cy="7539169"/>
          </a:xfrm>
          <a:prstGeom prst="rect">
            <a:avLst/>
          </a:prstGeom>
        </p:spPr>
      </p:pic>
      <p:sp>
        <p:nvSpPr>
          <p:cNvPr id="15" name="Rounded Rectangle 14"/>
          <p:cNvSpPr/>
          <p:nvPr/>
        </p:nvSpPr>
        <p:spPr>
          <a:xfrm>
            <a:off x="5440680" y="1170432"/>
            <a:ext cx="3337560" cy="3977639"/>
          </a:xfrm>
          <a:prstGeom prst="roundRect">
            <a:avLst>
              <a:gd name="adj" fmla="val 15000"/>
            </a:avLst>
          </a:prstGeom>
          <a:solidFill>
            <a:srgbClr val="FFF6B0"/>
          </a:solidFill>
          <a:ln w="15875">
            <a:solidFill>
              <a:srgbClr val="C5B43A"/>
            </a:solidFill>
          </a:ln>
        </p:spPr>
        <p:style>
          <a:lnRef idx="1">
            <a:schemeClr val="accent1"/>
          </a:lnRef>
          <a:fillRef idx="3">
            <a:schemeClr val="accent1"/>
          </a:fillRef>
          <a:effectRef idx="2">
            <a:schemeClr val="accent1"/>
          </a:effectRef>
          <a:fontRef idx="minor">
            <a:schemeClr val="lt1"/>
          </a:fontRef>
        </p:style>
        <p:txBody>
          <a:bodyPr rtlCol="0" anchor="t" wrap="square" lIns="109728" rIns="109728" tIns="73152" bIns="73152"/>
          <a:lstStyle/>
          <a:p>
            <a:pPr algn="l">
              <a:spcBef>
                <a:spcPts val="0"/>
              </a:spcBef>
              <a:spcAft>
                <a:spcPts val="200"/>
              </a:spcAft>
            </a:pPr>
            <a:r>
              <a:rPr sz="1400" b="0" i="0">
                <a:solidFill>
                  <a:srgbClr val="1A2F5A"/>
                </a:solidFill>
                <a:latin typeface="Calibri"/>
              </a:rPr>
              <a:t>An action potential moves faster along myelinated neurones than those without a myelin sheath.</a:t>
            </a:r>
          </a:p>
          <a:p>
            <a:pPr algn="l">
              <a:spcAft>
                <a:spcPts val="200"/>
              </a:spcAft>
            </a:pPr>
            <a:r>
              <a:rPr sz="1400" b="0" i="0">
                <a:solidFill>
                  <a:srgbClr val="1A2F5A"/>
                </a:solidFill>
                <a:latin typeface="Calibri"/>
              </a:rPr>
              <a:t/>
            </a:r>
          </a:p>
          <a:p>
            <a:pPr algn="l">
              <a:spcAft>
                <a:spcPts val="200"/>
              </a:spcAft>
            </a:pPr>
            <a:r>
              <a:rPr sz="1400" b="0" i="0">
                <a:solidFill>
                  <a:srgbClr val="1A2F5A"/>
                </a:solidFill>
                <a:latin typeface="Calibri"/>
              </a:rPr>
              <a:t>Ion channels at the nodes of Ranvier allow Na⁺ and K⁺ to cross. It is only at these points that an action potential is generated in a myelinated neurone.</a:t>
            </a:r>
          </a:p>
        </p:txBody>
      </p:sp>
      <p:sp>
        <p:nvSpPr>
          <p:cNvPr id="16" name="Rounded Rectangle 15">
            <a:hlinkClick r:id="rId3" action="ppaction://hlinksldjump"/>
          </p:cNvPr>
          <p:cNvSpPr/>
          <p:nvPr/>
        </p:nvSpPr>
        <p:spPr>
          <a:xfrm>
            <a:off x="1828800" y="6217920"/>
            <a:ext cx="1234440" cy="292608"/>
          </a:xfrm>
          <a:prstGeom prst="roundRect">
            <a:avLst>
              <a:gd name="adj" fmla="val 15000"/>
            </a:avLst>
          </a:prstGeom>
          <a:solidFill>
            <a:srgbClr val="EF6C00"/>
          </a:solidFill>
          <a:ln w="12700">
            <a:solidFill>
              <a:srgbClr val="EF6C00"/>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spcBef>
                <a:spcPts val="0"/>
              </a:spcBef>
              <a:spcAft>
                <a:spcPts val="200"/>
              </a:spcAft>
            </a:pPr>
            <a:r>
              <a:rPr sz="1200" b="1" i="0">
                <a:solidFill>
                  <a:srgbClr val="FFFFFF"/>
                </a:solidFill>
                <a:latin typeface="Calibri"/>
              </a:rPr>
              <a:t>Reset</a:t>
            </a:r>
          </a:p>
        </p:txBody>
      </p:sp>
      <p:sp>
        <p:nvSpPr>
          <p:cNvPr id="17" name="Rounded Rectangle 16">
            <a:hlinkClick r:id="rId5" action="ppaction://hlinksldjump"/>
          </p:cNvPr>
          <p:cNvSpPr/>
          <p:nvPr/>
        </p:nvSpPr>
        <p:spPr>
          <a:xfrm>
            <a:off x="3200400" y="6217920"/>
            <a:ext cx="1554480" cy="292608"/>
          </a:xfrm>
          <a:prstGeom prst="roundRect">
            <a:avLst>
              <a:gd name="adj" fmla="val 15000"/>
            </a:avLst>
          </a:prstGeom>
          <a:solidFill>
            <a:srgbClr val="2E9E4F"/>
          </a:solidFill>
          <a:ln w="12700">
            <a:solidFill>
              <a:srgbClr val="2E9E4F"/>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spcBef>
                <a:spcPts val="0"/>
              </a:spcBef>
              <a:spcAft>
                <a:spcPts val="200"/>
              </a:spcAft>
            </a:pPr>
            <a:r>
              <a:rPr sz="1200" b="1" i="0">
                <a:solidFill>
                  <a:srgbClr val="FFFFFF"/>
                </a:solidFill>
                <a:latin typeface="Calibri"/>
              </a:rPr>
              <a:t>Next step</a:t>
            </a:r>
          </a:p>
        </p:txBody>
      </p:sp>
    </p:spTree>
  </p:cSld>
  <p:clrMapOvr>
    <a:masterClrMapping/>
  </p:clrMapOvr>
</p:sld>
</file>

<file path=ppt/slides/slide6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9144000" cy="658368"/>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640080"/>
            <a:ext cx="9144000" cy="54864"/>
          </a:xfrm>
          <a:prstGeom prst="rect">
            <a:avLst/>
          </a:pr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256032" y="91440"/>
            <a:ext cx="7498079" cy="502920"/>
          </a:xfrm>
          <a:prstGeom prst="rect">
            <a:avLst/>
          </a:prstGeom>
          <a:noFill/>
        </p:spPr>
        <p:txBody>
          <a:bodyPr wrap="square" anchor="t">
            <a:spAutoFit/>
          </a:bodyPr>
          <a:lstStyle/>
          <a:p>
            <a:pPr algn="l">
              <a:spcAft>
                <a:spcPts val="400"/>
              </a:spcAft>
            </a:pPr>
            <a:r>
              <a:rPr sz="2600" b="1" i="0">
                <a:solidFill>
                  <a:srgbClr val="2E9E4F"/>
                </a:solidFill>
                <a:latin typeface="Calibri"/>
              </a:rPr>
              <a:t>What affects the speed of an impulse?</a:t>
            </a:r>
          </a:p>
        </p:txBody>
      </p:sp>
      <p:sp>
        <p:nvSpPr>
          <p:cNvPr id="5" name="Rounded Rectangle 4"/>
          <p:cNvSpPr/>
          <p:nvPr/>
        </p:nvSpPr>
        <p:spPr>
          <a:xfrm>
            <a:off x="7452360" y="109728"/>
            <a:ext cx="1536192" cy="420624"/>
          </a:xfrm>
          <a:prstGeom prst="roundRect">
            <a:avLst>
              <a:gd name="adj" fmla="val 15000"/>
            </a:avLst>
          </a:prstGeom>
          <a:solidFill>
            <a:srgbClr val="C8E6A0"/>
          </a:solidFill>
          <a:ln w="12700">
            <a:solidFill>
              <a:srgbClr val="1B7A3A"/>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spcBef>
                <a:spcPts val="0"/>
              </a:spcBef>
              <a:spcAft>
                <a:spcPts val="200"/>
              </a:spcAft>
            </a:pPr>
            <a:r>
              <a:rPr sz="1100" b="1" i="0">
                <a:solidFill>
                  <a:srgbClr val="1B7A3A"/>
                </a:solidFill>
                <a:latin typeface="Calibri"/>
              </a:rPr>
              <a:t>A2 Biology</a:t>
            </a:r>
          </a:p>
        </p:txBody>
      </p:sp>
      <p:sp>
        <p:nvSpPr>
          <p:cNvPr id="6" name="Rectangle 5"/>
          <p:cNvSpPr/>
          <p:nvPr/>
        </p:nvSpPr>
        <p:spPr>
          <a:xfrm>
            <a:off x="0" y="0"/>
            <a:ext cx="73152" cy="6858000"/>
          </a:xfrm>
          <a:prstGeom prst="rect">
            <a:avLst/>
          </a:prstGeom>
          <a:solidFill>
            <a:srgbClr val="6B2D8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3152" y="6565392"/>
            <a:ext cx="9070848" cy="36576"/>
          </a:xfrm>
          <a:prstGeom prst="rect">
            <a:avLst/>
          </a:prstGeom>
          <a:solidFill>
            <a:srgbClr val="7A3E9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228600" y="6583680"/>
            <a:ext cx="1280160" cy="256032"/>
          </a:xfrm>
          <a:prstGeom prst="rect">
            <a:avLst/>
          </a:prstGeom>
          <a:noFill/>
        </p:spPr>
        <p:txBody>
          <a:bodyPr wrap="square" anchor="t">
            <a:spAutoFit/>
          </a:bodyPr>
          <a:lstStyle/>
          <a:p>
            <a:pPr algn="l">
              <a:spcAft>
                <a:spcPts val="400"/>
              </a:spcAft>
            </a:pPr>
            <a:r>
              <a:rPr sz="1000" b="0" i="0">
                <a:solidFill>
                  <a:srgbClr val="6B2D8B"/>
                </a:solidFill>
                <a:latin typeface="Calibri"/>
              </a:rPr>
              <a:t>24 of 29</a:t>
            </a:r>
          </a:p>
        </p:txBody>
      </p:sp>
      <p:sp>
        <p:nvSpPr>
          <p:cNvPr id="9" name="TextBox 8"/>
          <p:cNvSpPr txBox="1"/>
          <p:nvPr/>
        </p:nvSpPr>
        <p:spPr>
          <a:xfrm>
            <a:off x="1554480" y="6583680"/>
            <a:ext cx="6035040" cy="256032"/>
          </a:xfrm>
          <a:prstGeom prst="rect">
            <a:avLst/>
          </a:prstGeom>
          <a:noFill/>
        </p:spPr>
        <p:txBody>
          <a:bodyPr wrap="square" anchor="t">
            <a:spAutoFit/>
          </a:bodyPr>
          <a:lstStyle/>
          <a:p>
            <a:pPr algn="ctr">
              <a:spcAft>
                <a:spcPts val="400"/>
              </a:spcAft>
            </a:pPr>
            <a:r>
              <a:rPr sz="900" b="0" i="0">
                <a:solidFill>
                  <a:srgbClr val="5A5A5A"/>
                </a:solidFill>
                <a:latin typeface="Calibri"/>
              </a:rPr>
              <a:t>Original course © Boardworks Ltd 2009. Reconstructed interactive resource.</a:t>
            </a:r>
          </a:p>
        </p:txBody>
      </p:sp>
      <p:sp>
        <p:nvSpPr>
          <p:cNvPr id="10" name="Oval 9">
            <a:hlinkClick r:id="rId3" action="ppaction://hlinksldjump"/>
          </p:cNvPr>
          <p:cNvSpPr/>
          <p:nvPr/>
        </p:nvSpPr>
        <p:spPr>
          <a:xfrm>
            <a:off x="146304" y="5760720"/>
            <a:ext cx="384048" cy="384048"/>
          </a:xfrm>
          <a:prstGeom prst="ellipse">
            <a:avLst/>
          </a:prstGeom>
          <a:solidFill>
            <a:srgbClr val="FFFFFF"/>
          </a:solidFill>
          <a:ln w="22225">
            <a:solidFill>
              <a:srgbClr val="6B2D8B"/>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spcBef>
                <a:spcPts val="0"/>
              </a:spcBef>
              <a:spcAft>
                <a:spcPts val="200"/>
              </a:spcAft>
            </a:pPr>
            <a:r>
              <a:rPr sz="1400" b="1" i="0">
                <a:solidFill>
                  <a:srgbClr val="6B2D8B"/>
                </a:solidFill>
                <a:latin typeface="Calibri"/>
              </a:rPr>
              <a:t>◀</a:t>
            </a:r>
          </a:p>
        </p:txBody>
      </p:sp>
      <p:sp>
        <p:nvSpPr>
          <p:cNvPr id="11" name="Oval 10">
            <a:hlinkClick r:id="rId5" action="ppaction://hlinksldjump"/>
          </p:cNvPr>
          <p:cNvSpPr/>
          <p:nvPr/>
        </p:nvSpPr>
        <p:spPr>
          <a:xfrm>
            <a:off x="8613648" y="5760720"/>
            <a:ext cx="384048" cy="384048"/>
          </a:xfrm>
          <a:prstGeom prst="ellipse">
            <a:avLst/>
          </a:prstGeom>
          <a:solidFill>
            <a:srgbClr val="6B2D8B"/>
          </a:solidFill>
          <a:ln w="12700">
            <a:solidFill>
              <a:srgbClr val="6B2D8B"/>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spcBef>
                <a:spcPts val="0"/>
              </a:spcBef>
              <a:spcAft>
                <a:spcPts val="200"/>
              </a:spcAft>
            </a:pPr>
            <a:r>
              <a:rPr sz="1400" b="1" i="0">
                <a:solidFill>
                  <a:srgbClr val="FFFFFF"/>
                </a:solidFill>
                <a:latin typeface="Calibri"/>
              </a:rPr>
              <a:t>▶</a:t>
            </a:r>
          </a:p>
        </p:txBody>
      </p:sp>
      <p:sp>
        <p:nvSpPr>
          <p:cNvPr id="12" name="Rectangle 11"/>
          <p:cNvSpPr/>
          <p:nvPr/>
        </p:nvSpPr>
        <p:spPr>
          <a:xfrm>
            <a:off x="201168" y="6199632"/>
            <a:ext cx="8741664" cy="329184"/>
          </a:xfrm>
          <a:prstGeom prst="rect">
            <a:avLst/>
          </a:pr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320040" y="804672"/>
            <a:ext cx="6766560" cy="347472"/>
          </a:xfrm>
          <a:prstGeom prst="rect">
            <a:avLst/>
          </a:prstGeom>
          <a:noFill/>
        </p:spPr>
        <p:txBody>
          <a:bodyPr wrap="square" anchor="t">
            <a:spAutoFit/>
          </a:bodyPr>
          <a:lstStyle/>
          <a:p>
            <a:pPr algn="l">
              <a:spcAft>
                <a:spcPts val="400"/>
              </a:spcAft>
            </a:pPr>
            <a:r>
              <a:rPr sz="1600" b="1" i="0">
                <a:solidFill>
                  <a:srgbClr val="1B3A6B"/>
                </a:solidFill>
                <a:latin typeface="Calibri"/>
              </a:rPr>
              <a:t>Step 2 of 4:  Jumping from node to node</a:t>
            </a:r>
          </a:p>
        </p:txBody>
      </p:sp>
      <p:pic>
        <p:nvPicPr>
          <p:cNvPr id="14" name="Picture 13" descr="saltatory_1.png"/>
          <p:cNvPicPr>
            <a:picLocks noChangeAspect="1"/>
          </p:cNvPicPr>
          <p:nvPr/>
        </p:nvPicPr>
        <p:blipFill>
          <a:blip r:embed="rId2"/>
          <a:stretch>
            <a:fillRect/>
          </a:stretch>
        </p:blipFill>
        <p:spPr>
          <a:xfrm>
            <a:off x="274320" y="1170432"/>
            <a:ext cx="5029200" cy="7539169"/>
          </a:xfrm>
          <a:prstGeom prst="rect">
            <a:avLst/>
          </a:prstGeom>
        </p:spPr>
      </p:pic>
      <p:sp>
        <p:nvSpPr>
          <p:cNvPr id="15" name="Rounded Rectangle 14"/>
          <p:cNvSpPr/>
          <p:nvPr/>
        </p:nvSpPr>
        <p:spPr>
          <a:xfrm>
            <a:off x="5440680" y="1170432"/>
            <a:ext cx="3337560" cy="3977639"/>
          </a:xfrm>
          <a:prstGeom prst="roundRect">
            <a:avLst>
              <a:gd name="adj" fmla="val 15000"/>
            </a:avLst>
          </a:prstGeom>
          <a:solidFill>
            <a:srgbClr val="FFF6B0"/>
          </a:solidFill>
          <a:ln w="15875">
            <a:solidFill>
              <a:srgbClr val="C5B43A"/>
            </a:solidFill>
          </a:ln>
        </p:spPr>
        <p:style>
          <a:lnRef idx="1">
            <a:schemeClr val="accent1"/>
          </a:lnRef>
          <a:fillRef idx="3">
            <a:schemeClr val="accent1"/>
          </a:fillRef>
          <a:effectRef idx="2">
            <a:schemeClr val="accent1"/>
          </a:effectRef>
          <a:fontRef idx="minor">
            <a:schemeClr val="lt1"/>
          </a:fontRef>
        </p:style>
        <p:txBody>
          <a:bodyPr rtlCol="0" anchor="t" wrap="square" lIns="109728" rIns="109728" tIns="73152" bIns="73152"/>
          <a:lstStyle/>
          <a:p>
            <a:pPr algn="l">
              <a:spcBef>
                <a:spcPts val="0"/>
              </a:spcBef>
              <a:spcAft>
                <a:spcPts val="200"/>
              </a:spcAft>
            </a:pPr>
            <a:r>
              <a:rPr sz="1400" b="0" i="0">
                <a:solidFill>
                  <a:srgbClr val="1A2F5A"/>
                </a:solidFill>
                <a:latin typeface="Calibri"/>
              </a:rPr>
              <a:t>The action potential appears at a node. Local currents depolarise the next node. This jumping is saltatory conduction and is much quicker than step-by-step conduction in a non-myelinated axon.</a:t>
            </a:r>
          </a:p>
        </p:txBody>
      </p:sp>
      <p:sp>
        <p:nvSpPr>
          <p:cNvPr id="16" name="Rounded Rectangle 15">
            <a:hlinkClick r:id="rId3" action="ppaction://hlinksldjump"/>
          </p:cNvPr>
          <p:cNvSpPr/>
          <p:nvPr/>
        </p:nvSpPr>
        <p:spPr>
          <a:xfrm>
            <a:off x="320040" y="6217920"/>
            <a:ext cx="1371600" cy="292608"/>
          </a:xfrm>
          <a:prstGeom prst="roundRect">
            <a:avLst>
              <a:gd name="adj" fmla="val 15000"/>
            </a:avLst>
          </a:prstGeom>
          <a:solidFill>
            <a:srgbClr val="1B3A6B"/>
          </a:solidFill>
          <a:ln w="12700">
            <a:solidFill>
              <a:srgbClr val="1B3A6B"/>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spcBef>
                <a:spcPts val="0"/>
              </a:spcBef>
              <a:spcAft>
                <a:spcPts val="200"/>
              </a:spcAft>
            </a:pPr>
            <a:r>
              <a:rPr sz="1200" b="1" i="0">
                <a:solidFill>
                  <a:srgbClr val="FFFFFF"/>
                </a:solidFill>
                <a:latin typeface="Calibri"/>
              </a:rPr>
              <a:t>Previous</a:t>
            </a:r>
          </a:p>
        </p:txBody>
      </p:sp>
      <p:sp>
        <p:nvSpPr>
          <p:cNvPr id="17" name="Rounded Rectangle 16">
            <a:hlinkClick r:id="rId3" action="ppaction://hlinksldjump"/>
          </p:cNvPr>
          <p:cNvSpPr/>
          <p:nvPr/>
        </p:nvSpPr>
        <p:spPr>
          <a:xfrm>
            <a:off x="1828800" y="6217920"/>
            <a:ext cx="1234440" cy="292608"/>
          </a:xfrm>
          <a:prstGeom prst="roundRect">
            <a:avLst>
              <a:gd name="adj" fmla="val 15000"/>
            </a:avLst>
          </a:prstGeom>
          <a:solidFill>
            <a:srgbClr val="EF6C00"/>
          </a:solidFill>
          <a:ln w="12700">
            <a:solidFill>
              <a:srgbClr val="EF6C00"/>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spcBef>
                <a:spcPts val="0"/>
              </a:spcBef>
              <a:spcAft>
                <a:spcPts val="200"/>
              </a:spcAft>
            </a:pPr>
            <a:r>
              <a:rPr sz="1200" b="1" i="0">
                <a:solidFill>
                  <a:srgbClr val="FFFFFF"/>
                </a:solidFill>
                <a:latin typeface="Calibri"/>
              </a:rPr>
              <a:t>Reset</a:t>
            </a:r>
          </a:p>
        </p:txBody>
      </p:sp>
      <p:sp>
        <p:nvSpPr>
          <p:cNvPr id="18" name="Rounded Rectangle 17">
            <a:hlinkClick r:id="rId5" action="ppaction://hlinksldjump"/>
          </p:cNvPr>
          <p:cNvSpPr/>
          <p:nvPr/>
        </p:nvSpPr>
        <p:spPr>
          <a:xfrm>
            <a:off x="3200400" y="6217920"/>
            <a:ext cx="1554480" cy="292608"/>
          </a:xfrm>
          <a:prstGeom prst="roundRect">
            <a:avLst>
              <a:gd name="adj" fmla="val 15000"/>
            </a:avLst>
          </a:prstGeom>
          <a:solidFill>
            <a:srgbClr val="2E9E4F"/>
          </a:solidFill>
          <a:ln w="12700">
            <a:solidFill>
              <a:srgbClr val="2E9E4F"/>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spcBef>
                <a:spcPts val="0"/>
              </a:spcBef>
              <a:spcAft>
                <a:spcPts val="200"/>
              </a:spcAft>
            </a:pPr>
            <a:r>
              <a:rPr sz="1200" b="1" i="0">
                <a:solidFill>
                  <a:srgbClr val="FFFFFF"/>
                </a:solidFill>
                <a:latin typeface="Calibri"/>
              </a:rPr>
              <a:t>Next step</a:t>
            </a:r>
          </a:p>
        </p:txBody>
      </p:sp>
    </p:spTree>
  </p:cSld>
  <p:clrMapOvr>
    <a:masterClrMapping/>
  </p:clrMapOvr>
</p:sld>
</file>

<file path=ppt/slides/slide6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9144000" cy="658368"/>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640080"/>
            <a:ext cx="9144000" cy="54864"/>
          </a:xfrm>
          <a:prstGeom prst="rect">
            <a:avLst/>
          </a:pr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256032" y="91440"/>
            <a:ext cx="7498079" cy="502920"/>
          </a:xfrm>
          <a:prstGeom prst="rect">
            <a:avLst/>
          </a:prstGeom>
          <a:noFill/>
        </p:spPr>
        <p:txBody>
          <a:bodyPr wrap="square" anchor="t">
            <a:spAutoFit/>
          </a:bodyPr>
          <a:lstStyle/>
          <a:p>
            <a:pPr algn="l">
              <a:spcAft>
                <a:spcPts val="400"/>
              </a:spcAft>
            </a:pPr>
            <a:r>
              <a:rPr sz="2600" b="1" i="0">
                <a:solidFill>
                  <a:srgbClr val="2E9E4F"/>
                </a:solidFill>
                <a:latin typeface="Calibri"/>
              </a:rPr>
              <a:t>What affects the speed of an impulse?</a:t>
            </a:r>
          </a:p>
        </p:txBody>
      </p:sp>
      <p:sp>
        <p:nvSpPr>
          <p:cNvPr id="5" name="Rounded Rectangle 4"/>
          <p:cNvSpPr/>
          <p:nvPr/>
        </p:nvSpPr>
        <p:spPr>
          <a:xfrm>
            <a:off x="7452360" y="109728"/>
            <a:ext cx="1536192" cy="420624"/>
          </a:xfrm>
          <a:prstGeom prst="roundRect">
            <a:avLst>
              <a:gd name="adj" fmla="val 15000"/>
            </a:avLst>
          </a:prstGeom>
          <a:solidFill>
            <a:srgbClr val="C8E6A0"/>
          </a:solidFill>
          <a:ln w="12700">
            <a:solidFill>
              <a:srgbClr val="1B7A3A"/>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spcBef>
                <a:spcPts val="0"/>
              </a:spcBef>
              <a:spcAft>
                <a:spcPts val="200"/>
              </a:spcAft>
            </a:pPr>
            <a:r>
              <a:rPr sz="1100" b="1" i="0">
                <a:solidFill>
                  <a:srgbClr val="1B7A3A"/>
                </a:solidFill>
                <a:latin typeface="Calibri"/>
              </a:rPr>
              <a:t>A2 Biology</a:t>
            </a:r>
          </a:p>
        </p:txBody>
      </p:sp>
      <p:sp>
        <p:nvSpPr>
          <p:cNvPr id="6" name="Rectangle 5"/>
          <p:cNvSpPr/>
          <p:nvPr/>
        </p:nvSpPr>
        <p:spPr>
          <a:xfrm>
            <a:off x="0" y="0"/>
            <a:ext cx="73152" cy="6858000"/>
          </a:xfrm>
          <a:prstGeom prst="rect">
            <a:avLst/>
          </a:prstGeom>
          <a:solidFill>
            <a:srgbClr val="6B2D8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3152" y="6565392"/>
            <a:ext cx="9070848" cy="36576"/>
          </a:xfrm>
          <a:prstGeom prst="rect">
            <a:avLst/>
          </a:prstGeom>
          <a:solidFill>
            <a:srgbClr val="7A3E9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228600" y="6583680"/>
            <a:ext cx="1280160" cy="256032"/>
          </a:xfrm>
          <a:prstGeom prst="rect">
            <a:avLst/>
          </a:prstGeom>
          <a:noFill/>
        </p:spPr>
        <p:txBody>
          <a:bodyPr wrap="square" anchor="t">
            <a:spAutoFit/>
          </a:bodyPr>
          <a:lstStyle/>
          <a:p>
            <a:pPr algn="l">
              <a:spcAft>
                <a:spcPts val="400"/>
              </a:spcAft>
            </a:pPr>
            <a:r>
              <a:rPr sz="1000" b="0" i="0">
                <a:solidFill>
                  <a:srgbClr val="6B2D8B"/>
                </a:solidFill>
                <a:latin typeface="Calibri"/>
              </a:rPr>
              <a:t>25 of 29</a:t>
            </a:r>
          </a:p>
        </p:txBody>
      </p:sp>
      <p:sp>
        <p:nvSpPr>
          <p:cNvPr id="9" name="TextBox 8"/>
          <p:cNvSpPr txBox="1"/>
          <p:nvPr/>
        </p:nvSpPr>
        <p:spPr>
          <a:xfrm>
            <a:off x="1554480" y="6583680"/>
            <a:ext cx="6035040" cy="256032"/>
          </a:xfrm>
          <a:prstGeom prst="rect">
            <a:avLst/>
          </a:prstGeom>
          <a:noFill/>
        </p:spPr>
        <p:txBody>
          <a:bodyPr wrap="square" anchor="t">
            <a:spAutoFit/>
          </a:bodyPr>
          <a:lstStyle/>
          <a:p>
            <a:pPr algn="ctr">
              <a:spcAft>
                <a:spcPts val="400"/>
              </a:spcAft>
            </a:pPr>
            <a:r>
              <a:rPr sz="900" b="0" i="0">
                <a:solidFill>
                  <a:srgbClr val="5A5A5A"/>
                </a:solidFill>
                <a:latin typeface="Calibri"/>
              </a:rPr>
              <a:t>Original course © Boardworks Ltd 2009. Reconstructed interactive resource.</a:t>
            </a:r>
          </a:p>
        </p:txBody>
      </p:sp>
      <p:sp>
        <p:nvSpPr>
          <p:cNvPr id="10" name="Oval 9">
            <a:hlinkClick r:id="rId3" action="ppaction://hlinksldjump"/>
          </p:cNvPr>
          <p:cNvSpPr/>
          <p:nvPr/>
        </p:nvSpPr>
        <p:spPr>
          <a:xfrm>
            <a:off x="146304" y="5760720"/>
            <a:ext cx="384048" cy="384048"/>
          </a:xfrm>
          <a:prstGeom prst="ellipse">
            <a:avLst/>
          </a:prstGeom>
          <a:solidFill>
            <a:srgbClr val="FFFFFF"/>
          </a:solidFill>
          <a:ln w="22225">
            <a:solidFill>
              <a:srgbClr val="6B2D8B"/>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spcBef>
                <a:spcPts val="0"/>
              </a:spcBef>
              <a:spcAft>
                <a:spcPts val="200"/>
              </a:spcAft>
            </a:pPr>
            <a:r>
              <a:rPr sz="1400" b="1" i="0">
                <a:solidFill>
                  <a:srgbClr val="6B2D8B"/>
                </a:solidFill>
                <a:latin typeface="Calibri"/>
              </a:rPr>
              <a:t>◀</a:t>
            </a:r>
          </a:p>
        </p:txBody>
      </p:sp>
      <p:sp>
        <p:nvSpPr>
          <p:cNvPr id="11" name="Oval 10">
            <a:hlinkClick r:id="rId6" action="ppaction://hlinksldjump"/>
          </p:cNvPr>
          <p:cNvSpPr/>
          <p:nvPr/>
        </p:nvSpPr>
        <p:spPr>
          <a:xfrm>
            <a:off x="8613648" y="5760720"/>
            <a:ext cx="384048" cy="384048"/>
          </a:xfrm>
          <a:prstGeom prst="ellipse">
            <a:avLst/>
          </a:prstGeom>
          <a:solidFill>
            <a:srgbClr val="6B2D8B"/>
          </a:solidFill>
          <a:ln w="12700">
            <a:solidFill>
              <a:srgbClr val="6B2D8B"/>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spcBef>
                <a:spcPts val="0"/>
              </a:spcBef>
              <a:spcAft>
                <a:spcPts val="200"/>
              </a:spcAft>
            </a:pPr>
            <a:r>
              <a:rPr sz="1400" b="1" i="0">
                <a:solidFill>
                  <a:srgbClr val="FFFFFF"/>
                </a:solidFill>
                <a:latin typeface="Calibri"/>
              </a:rPr>
              <a:t>▶</a:t>
            </a:r>
          </a:p>
        </p:txBody>
      </p:sp>
      <p:sp>
        <p:nvSpPr>
          <p:cNvPr id="12" name="Rectangle 11"/>
          <p:cNvSpPr/>
          <p:nvPr/>
        </p:nvSpPr>
        <p:spPr>
          <a:xfrm>
            <a:off x="201168" y="6199632"/>
            <a:ext cx="8741664" cy="329184"/>
          </a:xfrm>
          <a:prstGeom prst="rect">
            <a:avLst/>
          </a:pr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320040" y="804672"/>
            <a:ext cx="6766560" cy="347472"/>
          </a:xfrm>
          <a:prstGeom prst="rect">
            <a:avLst/>
          </a:prstGeom>
          <a:noFill/>
        </p:spPr>
        <p:txBody>
          <a:bodyPr wrap="square" anchor="t">
            <a:spAutoFit/>
          </a:bodyPr>
          <a:lstStyle/>
          <a:p>
            <a:pPr algn="l">
              <a:spcAft>
                <a:spcPts val="400"/>
              </a:spcAft>
            </a:pPr>
            <a:r>
              <a:rPr sz="1600" b="1" i="0">
                <a:solidFill>
                  <a:srgbClr val="1B3A6B"/>
                </a:solidFill>
                <a:latin typeface="Calibri"/>
              </a:rPr>
              <a:t>Step 3 of 4:  Next node fires</a:t>
            </a:r>
          </a:p>
        </p:txBody>
      </p:sp>
      <p:pic>
        <p:nvPicPr>
          <p:cNvPr id="14" name="Picture 13" descr="saltatory_2.png"/>
          <p:cNvPicPr>
            <a:picLocks noChangeAspect="1"/>
          </p:cNvPicPr>
          <p:nvPr/>
        </p:nvPicPr>
        <p:blipFill>
          <a:blip r:embed="rId2"/>
          <a:stretch>
            <a:fillRect/>
          </a:stretch>
        </p:blipFill>
        <p:spPr>
          <a:xfrm>
            <a:off x="274320" y="1170432"/>
            <a:ext cx="5029200" cy="7539169"/>
          </a:xfrm>
          <a:prstGeom prst="rect">
            <a:avLst/>
          </a:prstGeom>
        </p:spPr>
      </p:pic>
      <p:sp>
        <p:nvSpPr>
          <p:cNvPr id="15" name="Rounded Rectangle 14"/>
          <p:cNvSpPr/>
          <p:nvPr/>
        </p:nvSpPr>
        <p:spPr>
          <a:xfrm>
            <a:off x="5440680" y="1170432"/>
            <a:ext cx="3337560" cy="3977639"/>
          </a:xfrm>
          <a:prstGeom prst="roundRect">
            <a:avLst>
              <a:gd name="adj" fmla="val 15000"/>
            </a:avLst>
          </a:prstGeom>
          <a:solidFill>
            <a:srgbClr val="FFF6B0"/>
          </a:solidFill>
          <a:ln w="15875">
            <a:solidFill>
              <a:srgbClr val="C5B43A"/>
            </a:solidFill>
          </a:ln>
        </p:spPr>
        <p:style>
          <a:lnRef idx="1">
            <a:schemeClr val="accent1"/>
          </a:lnRef>
          <a:fillRef idx="3">
            <a:schemeClr val="accent1"/>
          </a:fillRef>
          <a:effectRef idx="2">
            <a:schemeClr val="accent1"/>
          </a:effectRef>
          <a:fontRef idx="minor">
            <a:schemeClr val="lt1"/>
          </a:fontRef>
        </p:style>
        <p:txBody>
          <a:bodyPr rtlCol="0" anchor="t" wrap="square" lIns="109728" rIns="109728" tIns="73152" bIns="73152"/>
          <a:lstStyle/>
          <a:p>
            <a:pPr algn="l">
              <a:spcBef>
                <a:spcPts val="0"/>
              </a:spcBef>
              <a:spcAft>
                <a:spcPts val="200"/>
              </a:spcAft>
            </a:pPr>
            <a:r>
              <a:rPr sz="1400" b="0" i="0">
                <a:solidFill>
                  <a:srgbClr val="1A2F5A"/>
                </a:solidFill>
                <a:latin typeface="Calibri"/>
              </a:rPr>
              <a:t>The impulse ‘jumps’ to the next exposed node. Myelin prevents ion leakage in the internodes, so the local current remains strong enough to bring the distant node to threshold.</a:t>
            </a:r>
          </a:p>
        </p:txBody>
      </p:sp>
      <p:sp>
        <p:nvSpPr>
          <p:cNvPr id="16" name="Rounded Rectangle 15">
            <a:hlinkClick r:id="rId3" action="ppaction://hlinksldjump"/>
          </p:cNvPr>
          <p:cNvSpPr/>
          <p:nvPr/>
        </p:nvSpPr>
        <p:spPr>
          <a:xfrm>
            <a:off x="320040" y="6217920"/>
            <a:ext cx="1371600" cy="292608"/>
          </a:xfrm>
          <a:prstGeom prst="roundRect">
            <a:avLst>
              <a:gd name="adj" fmla="val 15000"/>
            </a:avLst>
          </a:prstGeom>
          <a:solidFill>
            <a:srgbClr val="1B3A6B"/>
          </a:solidFill>
          <a:ln w="12700">
            <a:solidFill>
              <a:srgbClr val="1B3A6B"/>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spcBef>
                <a:spcPts val="0"/>
              </a:spcBef>
              <a:spcAft>
                <a:spcPts val="200"/>
              </a:spcAft>
            </a:pPr>
            <a:r>
              <a:rPr sz="1200" b="1" i="0">
                <a:solidFill>
                  <a:srgbClr val="FFFFFF"/>
                </a:solidFill>
                <a:latin typeface="Calibri"/>
              </a:rPr>
              <a:t>Previous</a:t>
            </a:r>
          </a:p>
        </p:txBody>
      </p:sp>
      <p:sp>
        <p:nvSpPr>
          <p:cNvPr id="17" name="Rounded Rectangle 16">
            <a:hlinkClick r:id="rId4" action="ppaction://hlinksldjump"/>
          </p:cNvPr>
          <p:cNvSpPr/>
          <p:nvPr/>
        </p:nvSpPr>
        <p:spPr>
          <a:xfrm>
            <a:off x="1828800" y="6217920"/>
            <a:ext cx="1234440" cy="292608"/>
          </a:xfrm>
          <a:prstGeom prst="roundRect">
            <a:avLst>
              <a:gd name="adj" fmla="val 15000"/>
            </a:avLst>
          </a:prstGeom>
          <a:solidFill>
            <a:srgbClr val="EF6C00"/>
          </a:solidFill>
          <a:ln w="12700">
            <a:solidFill>
              <a:srgbClr val="EF6C00"/>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spcBef>
                <a:spcPts val="0"/>
              </a:spcBef>
              <a:spcAft>
                <a:spcPts val="200"/>
              </a:spcAft>
            </a:pPr>
            <a:r>
              <a:rPr sz="1200" b="1" i="0">
                <a:solidFill>
                  <a:srgbClr val="FFFFFF"/>
                </a:solidFill>
                <a:latin typeface="Calibri"/>
              </a:rPr>
              <a:t>Reset</a:t>
            </a:r>
          </a:p>
        </p:txBody>
      </p:sp>
      <p:sp>
        <p:nvSpPr>
          <p:cNvPr id="18" name="Rounded Rectangle 17">
            <a:hlinkClick r:id="rId6" action="ppaction://hlinksldjump"/>
          </p:cNvPr>
          <p:cNvSpPr/>
          <p:nvPr/>
        </p:nvSpPr>
        <p:spPr>
          <a:xfrm>
            <a:off x="3200400" y="6217920"/>
            <a:ext cx="1554480" cy="292608"/>
          </a:xfrm>
          <a:prstGeom prst="roundRect">
            <a:avLst>
              <a:gd name="adj" fmla="val 15000"/>
            </a:avLst>
          </a:prstGeom>
          <a:solidFill>
            <a:srgbClr val="2E9E4F"/>
          </a:solidFill>
          <a:ln w="12700">
            <a:solidFill>
              <a:srgbClr val="2E9E4F"/>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spcBef>
                <a:spcPts val="0"/>
              </a:spcBef>
              <a:spcAft>
                <a:spcPts val="200"/>
              </a:spcAft>
            </a:pPr>
            <a:r>
              <a:rPr sz="1200" b="1" i="0">
                <a:solidFill>
                  <a:srgbClr val="FFFFFF"/>
                </a:solidFill>
                <a:latin typeface="Calibri"/>
              </a:rPr>
              <a:t>Next step</a:t>
            </a:r>
          </a:p>
        </p:txBody>
      </p:sp>
    </p:spTree>
  </p:cSld>
  <p:clrMapOvr>
    <a:masterClrMapping/>
  </p:clrMapOvr>
</p:sld>
</file>

<file path=ppt/slides/slide7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9144000" cy="658368"/>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640080"/>
            <a:ext cx="9144000" cy="54864"/>
          </a:xfrm>
          <a:prstGeom prst="rect">
            <a:avLst/>
          </a:pr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256032" y="91440"/>
            <a:ext cx="7498079" cy="502920"/>
          </a:xfrm>
          <a:prstGeom prst="rect">
            <a:avLst/>
          </a:prstGeom>
          <a:noFill/>
        </p:spPr>
        <p:txBody>
          <a:bodyPr wrap="square" anchor="t">
            <a:spAutoFit/>
          </a:bodyPr>
          <a:lstStyle/>
          <a:p>
            <a:pPr algn="l">
              <a:spcAft>
                <a:spcPts val="400"/>
              </a:spcAft>
            </a:pPr>
            <a:r>
              <a:rPr sz="2600" b="1" i="0">
                <a:solidFill>
                  <a:srgbClr val="2E9E4F"/>
                </a:solidFill>
                <a:latin typeface="Calibri"/>
              </a:rPr>
              <a:t>What affects the speed of an impulse?</a:t>
            </a:r>
          </a:p>
        </p:txBody>
      </p:sp>
      <p:sp>
        <p:nvSpPr>
          <p:cNvPr id="5" name="Rounded Rectangle 4"/>
          <p:cNvSpPr/>
          <p:nvPr/>
        </p:nvSpPr>
        <p:spPr>
          <a:xfrm>
            <a:off x="7452360" y="109728"/>
            <a:ext cx="1536192" cy="420624"/>
          </a:xfrm>
          <a:prstGeom prst="roundRect">
            <a:avLst>
              <a:gd name="adj" fmla="val 15000"/>
            </a:avLst>
          </a:prstGeom>
          <a:solidFill>
            <a:srgbClr val="C8E6A0"/>
          </a:solidFill>
          <a:ln w="12700">
            <a:solidFill>
              <a:srgbClr val="1B7A3A"/>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spcBef>
                <a:spcPts val="0"/>
              </a:spcBef>
              <a:spcAft>
                <a:spcPts val="200"/>
              </a:spcAft>
            </a:pPr>
            <a:r>
              <a:rPr sz="1100" b="1" i="0">
                <a:solidFill>
                  <a:srgbClr val="1B7A3A"/>
                </a:solidFill>
                <a:latin typeface="Calibri"/>
              </a:rPr>
              <a:t>A2 Biology</a:t>
            </a:r>
          </a:p>
        </p:txBody>
      </p:sp>
      <p:sp>
        <p:nvSpPr>
          <p:cNvPr id="6" name="Rectangle 5"/>
          <p:cNvSpPr/>
          <p:nvPr/>
        </p:nvSpPr>
        <p:spPr>
          <a:xfrm>
            <a:off x="0" y="0"/>
            <a:ext cx="73152" cy="6858000"/>
          </a:xfrm>
          <a:prstGeom prst="rect">
            <a:avLst/>
          </a:prstGeom>
          <a:solidFill>
            <a:srgbClr val="6B2D8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3152" y="6565392"/>
            <a:ext cx="9070848" cy="36576"/>
          </a:xfrm>
          <a:prstGeom prst="rect">
            <a:avLst/>
          </a:prstGeom>
          <a:solidFill>
            <a:srgbClr val="7A3E9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228600" y="6583680"/>
            <a:ext cx="1280160" cy="256032"/>
          </a:xfrm>
          <a:prstGeom prst="rect">
            <a:avLst/>
          </a:prstGeom>
          <a:noFill/>
        </p:spPr>
        <p:txBody>
          <a:bodyPr wrap="square" anchor="t">
            <a:spAutoFit/>
          </a:bodyPr>
          <a:lstStyle/>
          <a:p>
            <a:pPr algn="l">
              <a:spcAft>
                <a:spcPts val="400"/>
              </a:spcAft>
            </a:pPr>
            <a:r>
              <a:rPr sz="1000" b="0" i="0">
                <a:solidFill>
                  <a:srgbClr val="6B2D8B"/>
                </a:solidFill>
                <a:latin typeface="Calibri"/>
              </a:rPr>
              <a:t>26 of 29</a:t>
            </a:r>
          </a:p>
        </p:txBody>
      </p:sp>
      <p:sp>
        <p:nvSpPr>
          <p:cNvPr id="9" name="TextBox 8"/>
          <p:cNvSpPr txBox="1"/>
          <p:nvPr/>
        </p:nvSpPr>
        <p:spPr>
          <a:xfrm>
            <a:off x="1554480" y="6583680"/>
            <a:ext cx="6035040" cy="256032"/>
          </a:xfrm>
          <a:prstGeom prst="rect">
            <a:avLst/>
          </a:prstGeom>
          <a:noFill/>
        </p:spPr>
        <p:txBody>
          <a:bodyPr wrap="square" anchor="t">
            <a:spAutoFit/>
          </a:bodyPr>
          <a:lstStyle/>
          <a:p>
            <a:pPr algn="ctr">
              <a:spcAft>
                <a:spcPts val="400"/>
              </a:spcAft>
            </a:pPr>
            <a:r>
              <a:rPr sz="900" b="0" i="0">
                <a:solidFill>
                  <a:srgbClr val="5A5A5A"/>
                </a:solidFill>
                <a:latin typeface="Calibri"/>
              </a:rPr>
              <a:t>Original course © Boardworks Ltd 2009. Reconstructed interactive resource.</a:t>
            </a:r>
          </a:p>
        </p:txBody>
      </p:sp>
      <p:sp>
        <p:nvSpPr>
          <p:cNvPr id="10" name="Oval 9">
            <a:hlinkClick r:id="rId3" action="ppaction://hlinksldjump"/>
          </p:cNvPr>
          <p:cNvSpPr/>
          <p:nvPr/>
        </p:nvSpPr>
        <p:spPr>
          <a:xfrm>
            <a:off x="146304" y="5760720"/>
            <a:ext cx="384048" cy="384048"/>
          </a:xfrm>
          <a:prstGeom prst="ellipse">
            <a:avLst/>
          </a:prstGeom>
          <a:solidFill>
            <a:srgbClr val="FFFFFF"/>
          </a:solidFill>
          <a:ln w="22225">
            <a:solidFill>
              <a:srgbClr val="6B2D8B"/>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spcBef>
                <a:spcPts val="0"/>
              </a:spcBef>
              <a:spcAft>
                <a:spcPts val="200"/>
              </a:spcAft>
            </a:pPr>
            <a:r>
              <a:rPr sz="1400" b="1" i="0">
                <a:solidFill>
                  <a:srgbClr val="6B2D8B"/>
                </a:solidFill>
                <a:latin typeface="Calibri"/>
              </a:rPr>
              <a:t>◀</a:t>
            </a:r>
          </a:p>
        </p:txBody>
      </p:sp>
      <p:sp>
        <p:nvSpPr>
          <p:cNvPr id="11" name="Oval 10">
            <a:hlinkClick r:id="rId6" action="ppaction://hlinksldjump"/>
          </p:cNvPr>
          <p:cNvSpPr/>
          <p:nvPr/>
        </p:nvSpPr>
        <p:spPr>
          <a:xfrm>
            <a:off x="8613648" y="5760720"/>
            <a:ext cx="384048" cy="384048"/>
          </a:xfrm>
          <a:prstGeom prst="ellipse">
            <a:avLst/>
          </a:prstGeom>
          <a:solidFill>
            <a:srgbClr val="6B2D8B"/>
          </a:solidFill>
          <a:ln w="12700">
            <a:solidFill>
              <a:srgbClr val="6B2D8B"/>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spcBef>
                <a:spcPts val="0"/>
              </a:spcBef>
              <a:spcAft>
                <a:spcPts val="200"/>
              </a:spcAft>
            </a:pPr>
            <a:r>
              <a:rPr sz="1400" b="1" i="0">
                <a:solidFill>
                  <a:srgbClr val="FFFFFF"/>
                </a:solidFill>
                <a:latin typeface="Calibri"/>
              </a:rPr>
              <a:t>▶</a:t>
            </a:r>
          </a:p>
        </p:txBody>
      </p:sp>
      <p:sp>
        <p:nvSpPr>
          <p:cNvPr id="12" name="Rectangle 11"/>
          <p:cNvSpPr/>
          <p:nvPr/>
        </p:nvSpPr>
        <p:spPr>
          <a:xfrm>
            <a:off x="201168" y="6199632"/>
            <a:ext cx="8741664" cy="329184"/>
          </a:xfrm>
          <a:prstGeom prst="rect">
            <a:avLst/>
          </a:pr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320040" y="804672"/>
            <a:ext cx="6766560" cy="347472"/>
          </a:xfrm>
          <a:prstGeom prst="rect">
            <a:avLst/>
          </a:prstGeom>
          <a:noFill/>
        </p:spPr>
        <p:txBody>
          <a:bodyPr wrap="square" anchor="t">
            <a:spAutoFit/>
          </a:bodyPr>
          <a:lstStyle/>
          <a:p>
            <a:pPr algn="l">
              <a:spcAft>
                <a:spcPts val="400"/>
              </a:spcAft>
            </a:pPr>
            <a:r>
              <a:rPr sz="1600" b="1" i="0">
                <a:solidFill>
                  <a:srgbClr val="1B3A6B"/>
                </a:solidFill>
                <a:latin typeface="Calibri"/>
              </a:rPr>
              <a:t>Step 4 of 4:  Axon diameter and temperature</a:t>
            </a:r>
          </a:p>
        </p:txBody>
      </p:sp>
      <p:pic>
        <p:nvPicPr>
          <p:cNvPr id="14" name="Picture 13" descr="saltatory_3.png"/>
          <p:cNvPicPr>
            <a:picLocks noChangeAspect="1"/>
          </p:cNvPicPr>
          <p:nvPr/>
        </p:nvPicPr>
        <p:blipFill>
          <a:blip r:embed="rId2"/>
          <a:stretch>
            <a:fillRect/>
          </a:stretch>
        </p:blipFill>
        <p:spPr>
          <a:xfrm>
            <a:off x="274320" y="1170432"/>
            <a:ext cx="5029200" cy="7539169"/>
          </a:xfrm>
          <a:prstGeom prst="rect">
            <a:avLst/>
          </a:prstGeom>
        </p:spPr>
      </p:pic>
      <p:sp>
        <p:nvSpPr>
          <p:cNvPr id="15" name="Rounded Rectangle 14"/>
          <p:cNvSpPr/>
          <p:nvPr/>
        </p:nvSpPr>
        <p:spPr>
          <a:xfrm>
            <a:off x="5440680" y="1170432"/>
            <a:ext cx="3337560" cy="3977639"/>
          </a:xfrm>
          <a:prstGeom prst="roundRect">
            <a:avLst>
              <a:gd name="adj" fmla="val 15000"/>
            </a:avLst>
          </a:prstGeom>
          <a:solidFill>
            <a:srgbClr val="FFF6B0"/>
          </a:solidFill>
          <a:ln w="15875">
            <a:solidFill>
              <a:srgbClr val="C5B43A"/>
            </a:solidFill>
          </a:ln>
        </p:spPr>
        <p:style>
          <a:lnRef idx="1">
            <a:schemeClr val="accent1"/>
          </a:lnRef>
          <a:fillRef idx="3">
            <a:schemeClr val="accent1"/>
          </a:fillRef>
          <a:effectRef idx="2">
            <a:schemeClr val="accent1"/>
          </a:effectRef>
          <a:fontRef idx="minor">
            <a:schemeClr val="lt1"/>
          </a:fontRef>
        </p:style>
        <p:txBody>
          <a:bodyPr rtlCol="0" anchor="t" wrap="square" lIns="109728" rIns="109728" tIns="73152" bIns="73152"/>
          <a:lstStyle/>
          <a:p>
            <a:pPr algn="l">
              <a:spcBef>
                <a:spcPts val="0"/>
              </a:spcBef>
              <a:spcAft>
                <a:spcPts val="200"/>
              </a:spcAft>
            </a:pPr>
            <a:r>
              <a:rPr sz="1400" b="0" i="0">
                <a:solidFill>
                  <a:srgbClr val="1A2F5A"/>
                </a:solidFill>
                <a:latin typeface="Calibri"/>
              </a:rPr>
              <a:t>Greater axon diameter → faster impulse (smaller surface area to volume ratio, less ion leak).</a:t>
            </a:r>
          </a:p>
          <a:p>
            <a:pPr algn="l">
              <a:spcAft>
                <a:spcPts val="200"/>
              </a:spcAft>
            </a:pPr>
            <a:r>
              <a:rPr sz="1400" b="0" i="0">
                <a:solidFill>
                  <a:srgbClr val="1A2F5A"/>
                </a:solidFill>
                <a:latin typeface="Calibri"/>
              </a:rPr>
              <a:t/>
            </a:r>
          </a:p>
          <a:p>
            <a:pPr algn="l">
              <a:spcAft>
                <a:spcPts val="200"/>
              </a:spcAft>
            </a:pPr>
            <a:r>
              <a:rPr sz="1400" b="0" i="0">
                <a:solidFill>
                  <a:srgbClr val="1A2F5A"/>
                </a:solidFill>
                <a:latin typeface="Calibri"/>
              </a:rPr>
              <a:t>Higher temperature → faster impulse (faster ion diffusion), until proteins denature. This is why local cooling slows nerves.</a:t>
            </a:r>
          </a:p>
        </p:txBody>
      </p:sp>
      <p:sp>
        <p:nvSpPr>
          <p:cNvPr id="16" name="Rounded Rectangle 15">
            <a:hlinkClick r:id="rId3" action="ppaction://hlinksldjump"/>
          </p:cNvPr>
          <p:cNvSpPr/>
          <p:nvPr/>
        </p:nvSpPr>
        <p:spPr>
          <a:xfrm>
            <a:off x="320040" y="6217920"/>
            <a:ext cx="1371600" cy="292608"/>
          </a:xfrm>
          <a:prstGeom prst="roundRect">
            <a:avLst>
              <a:gd name="adj" fmla="val 15000"/>
            </a:avLst>
          </a:prstGeom>
          <a:solidFill>
            <a:srgbClr val="1B3A6B"/>
          </a:solidFill>
          <a:ln w="12700">
            <a:solidFill>
              <a:srgbClr val="1B3A6B"/>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spcBef>
                <a:spcPts val="0"/>
              </a:spcBef>
              <a:spcAft>
                <a:spcPts val="200"/>
              </a:spcAft>
            </a:pPr>
            <a:r>
              <a:rPr sz="1200" b="1" i="0">
                <a:solidFill>
                  <a:srgbClr val="FFFFFF"/>
                </a:solidFill>
                <a:latin typeface="Calibri"/>
              </a:rPr>
              <a:t>Previous</a:t>
            </a:r>
          </a:p>
        </p:txBody>
      </p:sp>
      <p:sp>
        <p:nvSpPr>
          <p:cNvPr id="17" name="Rounded Rectangle 16">
            <a:hlinkClick r:id="rId4" action="ppaction://hlinksldjump"/>
          </p:cNvPr>
          <p:cNvSpPr/>
          <p:nvPr/>
        </p:nvSpPr>
        <p:spPr>
          <a:xfrm>
            <a:off x="1828800" y="6217920"/>
            <a:ext cx="1234440" cy="292608"/>
          </a:xfrm>
          <a:prstGeom prst="roundRect">
            <a:avLst>
              <a:gd name="adj" fmla="val 15000"/>
            </a:avLst>
          </a:prstGeom>
          <a:solidFill>
            <a:srgbClr val="EF6C00"/>
          </a:solidFill>
          <a:ln w="12700">
            <a:solidFill>
              <a:srgbClr val="EF6C00"/>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spcBef>
                <a:spcPts val="0"/>
              </a:spcBef>
              <a:spcAft>
                <a:spcPts val="200"/>
              </a:spcAft>
            </a:pPr>
            <a:r>
              <a:rPr sz="1200" b="1" i="0">
                <a:solidFill>
                  <a:srgbClr val="FFFFFF"/>
                </a:solidFill>
                <a:latin typeface="Calibri"/>
              </a:rPr>
              <a:t>Reset</a:t>
            </a:r>
          </a:p>
        </p:txBody>
      </p:sp>
      <p:sp>
        <p:nvSpPr>
          <p:cNvPr id="18" name="Rounded Rectangle 17">
            <a:hlinkClick r:id="rId6" action="ppaction://hlinksldjump"/>
          </p:cNvPr>
          <p:cNvSpPr/>
          <p:nvPr/>
        </p:nvSpPr>
        <p:spPr>
          <a:xfrm>
            <a:off x="3200400" y="6217920"/>
            <a:ext cx="1554480" cy="292608"/>
          </a:xfrm>
          <a:prstGeom prst="roundRect">
            <a:avLst>
              <a:gd name="adj" fmla="val 15000"/>
            </a:avLst>
          </a:prstGeom>
          <a:solidFill>
            <a:srgbClr val="2E9E4F"/>
          </a:solidFill>
          <a:ln w="12700">
            <a:solidFill>
              <a:srgbClr val="2E9E4F"/>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spcBef>
                <a:spcPts val="0"/>
              </a:spcBef>
              <a:spcAft>
                <a:spcPts val="200"/>
              </a:spcAft>
            </a:pPr>
            <a:r>
              <a:rPr sz="1200" b="1" i="0">
                <a:solidFill>
                  <a:srgbClr val="FFFFFF"/>
                </a:solidFill>
                <a:latin typeface="Calibri"/>
              </a:rPr>
              <a:t>Continue</a:t>
            </a:r>
          </a:p>
        </p:txBody>
      </p:sp>
    </p:spTree>
  </p:cSld>
  <p:clrMapOvr>
    <a:masterClrMapping/>
  </p:clrMapOvr>
</p:sld>
</file>

<file path=ppt/slides/slide7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9144000" cy="658368"/>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640080"/>
            <a:ext cx="9144000" cy="54864"/>
          </a:xfrm>
          <a:prstGeom prst="rect">
            <a:avLst/>
          </a:pr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256032" y="91440"/>
            <a:ext cx="7498079" cy="502920"/>
          </a:xfrm>
          <a:prstGeom prst="rect">
            <a:avLst/>
          </a:prstGeom>
          <a:noFill/>
        </p:spPr>
        <p:txBody>
          <a:bodyPr wrap="square" anchor="t">
            <a:spAutoFit/>
          </a:bodyPr>
          <a:lstStyle/>
          <a:p>
            <a:pPr algn="l">
              <a:spcAft>
                <a:spcPts val="400"/>
              </a:spcAft>
            </a:pPr>
            <a:r>
              <a:rPr sz="2600" b="1" i="0">
                <a:solidFill>
                  <a:srgbClr val="2E9E4F"/>
                </a:solidFill>
                <a:latin typeface="Calibri"/>
              </a:rPr>
              <a:t>What affects the speed of an impulse?</a:t>
            </a:r>
          </a:p>
        </p:txBody>
      </p:sp>
      <p:sp>
        <p:nvSpPr>
          <p:cNvPr id="5" name="Rounded Rectangle 4"/>
          <p:cNvSpPr/>
          <p:nvPr/>
        </p:nvSpPr>
        <p:spPr>
          <a:xfrm>
            <a:off x="7452360" y="109728"/>
            <a:ext cx="1536192" cy="420624"/>
          </a:xfrm>
          <a:prstGeom prst="roundRect">
            <a:avLst>
              <a:gd name="adj" fmla="val 15000"/>
            </a:avLst>
          </a:prstGeom>
          <a:solidFill>
            <a:srgbClr val="C8E6A0"/>
          </a:solidFill>
          <a:ln w="12700">
            <a:solidFill>
              <a:srgbClr val="1B7A3A"/>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spcBef>
                <a:spcPts val="0"/>
              </a:spcBef>
              <a:spcAft>
                <a:spcPts val="200"/>
              </a:spcAft>
            </a:pPr>
            <a:r>
              <a:rPr sz="1100" b="1" i="0">
                <a:solidFill>
                  <a:srgbClr val="1B7A3A"/>
                </a:solidFill>
                <a:latin typeface="Calibri"/>
              </a:rPr>
              <a:t>A2 Biology</a:t>
            </a:r>
          </a:p>
        </p:txBody>
      </p:sp>
      <p:sp>
        <p:nvSpPr>
          <p:cNvPr id="6" name="Rectangle 5"/>
          <p:cNvSpPr/>
          <p:nvPr/>
        </p:nvSpPr>
        <p:spPr>
          <a:xfrm>
            <a:off x="0" y="0"/>
            <a:ext cx="73152" cy="6858000"/>
          </a:xfrm>
          <a:prstGeom prst="rect">
            <a:avLst/>
          </a:prstGeom>
          <a:solidFill>
            <a:srgbClr val="6B2D8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3152" y="6565392"/>
            <a:ext cx="9070848" cy="36576"/>
          </a:xfrm>
          <a:prstGeom prst="rect">
            <a:avLst/>
          </a:prstGeom>
          <a:solidFill>
            <a:srgbClr val="7A3E9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228600" y="6583680"/>
            <a:ext cx="1280160" cy="256032"/>
          </a:xfrm>
          <a:prstGeom prst="rect">
            <a:avLst/>
          </a:prstGeom>
          <a:noFill/>
        </p:spPr>
        <p:txBody>
          <a:bodyPr wrap="square" anchor="t">
            <a:spAutoFit/>
          </a:bodyPr>
          <a:lstStyle/>
          <a:p>
            <a:pPr algn="l">
              <a:spcAft>
                <a:spcPts val="400"/>
              </a:spcAft>
            </a:pPr>
            <a:r>
              <a:rPr sz="1000" b="0" i="0">
                <a:solidFill>
                  <a:srgbClr val="6B2D8B"/>
                </a:solidFill>
                <a:latin typeface="Calibri"/>
              </a:rPr>
              <a:t>27 of 29</a:t>
            </a:r>
          </a:p>
        </p:txBody>
      </p:sp>
      <p:sp>
        <p:nvSpPr>
          <p:cNvPr id="9" name="TextBox 8"/>
          <p:cNvSpPr txBox="1"/>
          <p:nvPr/>
        </p:nvSpPr>
        <p:spPr>
          <a:xfrm>
            <a:off x="1554480" y="6583680"/>
            <a:ext cx="6035040" cy="256032"/>
          </a:xfrm>
          <a:prstGeom prst="rect">
            <a:avLst/>
          </a:prstGeom>
          <a:noFill/>
        </p:spPr>
        <p:txBody>
          <a:bodyPr wrap="square" anchor="t">
            <a:spAutoFit/>
          </a:bodyPr>
          <a:lstStyle/>
          <a:p>
            <a:pPr algn="ctr">
              <a:spcAft>
                <a:spcPts val="400"/>
              </a:spcAft>
            </a:pPr>
            <a:r>
              <a:rPr sz="900" b="0" i="0">
                <a:solidFill>
                  <a:srgbClr val="5A5A5A"/>
                </a:solidFill>
                <a:latin typeface="Calibri"/>
              </a:rPr>
              <a:t>Original course © Boardworks Ltd 2009. Reconstructed interactive resource.</a:t>
            </a:r>
          </a:p>
        </p:txBody>
      </p:sp>
      <p:sp>
        <p:nvSpPr>
          <p:cNvPr id="10" name="Oval 9">
            <a:hlinkClick r:id="rId3" action="ppaction://hlinksldjump"/>
          </p:cNvPr>
          <p:cNvSpPr/>
          <p:nvPr/>
        </p:nvSpPr>
        <p:spPr>
          <a:xfrm>
            <a:off x="146304" y="5760720"/>
            <a:ext cx="384048" cy="384048"/>
          </a:xfrm>
          <a:prstGeom prst="ellipse">
            <a:avLst/>
          </a:prstGeom>
          <a:solidFill>
            <a:srgbClr val="FFFFFF"/>
          </a:solidFill>
          <a:ln w="22225">
            <a:solidFill>
              <a:srgbClr val="6B2D8B"/>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spcBef>
                <a:spcPts val="0"/>
              </a:spcBef>
              <a:spcAft>
                <a:spcPts val="200"/>
              </a:spcAft>
            </a:pPr>
            <a:r>
              <a:rPr sz="1400" b="1" i="0">
                <a:solidFill>
                  <a:srgbClr val="6B2D8B"/>
                </a:solidFill>
                <a:latin typeface="Calibri"/>
              </a:rPr>
              <a:t>◀</a:t>
            </a:r>
          </a:p>
        </p:txBody>
      </p:sp>
      <p:sp>
        <p:nvSpPr>
          <p:cNvPr id="11" name="Oval 10">
            <a:hlinkClick r:id="rId4" action="ppaction://hlinksldjump"/>
          </p:cNvPr>
          <p:cNvSpPr/>
          <p:nvPr/>
        </p:nvSpPr>
        <p:spPr>
          <a:xfrm>
            <a:off x="8613648" y="5760720"/>
            <a:ext cx="384048" cy="384048"/>
          </a:xfrm>
          <a:prstGeom prst="ellipse">
            <a:avLst/>
          </a:prstGeom>
          <a:solidFill>
            <a:srgbClr val="6B2D8B"/>
          </a:solidFill>
          <a:ln w="12700">
            <a:solidFill>
              <a:srgbClr val="6B2D8B"/>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spcBef>
                <a:spcPts val="0"/>
              </a:spcBef>
              <a:spcAft>
                <a:spcPts val="200"/>
              </a:spcAft>
            </a:pPr>
            <a:r>
              <a:rPr sz="1400" b="1" i="0">
                <a:solidFill>
                  <a:srgbClr val="FFFFFF"/>
                </a:solidFill>
                <a:latin typeface="Calibri"/>
              </a:rPr>
              <a:t>▶</a:t>
            </a:r>
          </a:p>
        </p:txBody>
      </p:sp>
      <p:sp>
        <p:nvSpPr>
          <p:cNvPr id="12" name="TextBox 11"/>
          <p:cNvSpPr txBox="1"/>
          <p:nvPr/>
        </p:nvSpPr>
        <p:spPr>
          <a:xfrm>
            <a:off x="411480" y="914400"/>
            <a:ext cx="8321040" cy="411480"/>
          </a:xfrm>
          <a:prstGeom prst="rect">
            <a:avLst/>
          </a:prstGeom>
          <a:noFill/>
        </p:spPr>
        <p:txBody>
          <a:bodyPr wrap="square" anchor="t">
            <a:spAutoFit/>
          </a:bodyPr>
          <a:lstStyle/>
          <a:p>
            <a:pPr algn="l">
              <a:spcAft>
                <a:spcPts val="400"/>
              </a:spcAft>
            </a:pPr>
            <a:r>
              <a:rPr sz="1800" b="0" i="0">
                <a:solidFill>
                  <a:srgbClr val="1B3A6B"/>
                </a:solidFill>
                <a:latin typeface="Calibri"/>
              </a:rPr>
              <a:t>The speed of a nerve impulse is also affected by:</a:t>
            </a:r>
          </a:p>
        </p:txBody>
      </p:sp>
      <p:sp>
        <p:nvSpPr>
          <p:cNvPr id="13" name="Rounded Rectangle 12"/>
          <p:cNvSpPr/>
          <p:nvPr/>
        </p:nvSpPr>
        <p:spPr>
          <a:xfrm>
            <a:off x="411480" y="1417320"/>
            <a:ext cx="8321040" cy="1965960"/>
          </a:xfrm>
          <a:prstGeom prst="roundRect">
            <a:avLst>
              <a:gd name="adj" fmla="val 15000"/>
            </a:avLst>
          </a:prstGeom>
          <a:solidFill>
            <a:srgbClr val="FFF6B0"/>
          </a:solidFill>
          <a:ln w="15875">
            <a:solidFill>
              <a:srgbClr val="C5B43A"/>
            </a:solidFill>
          </a:ln>
        </p:spPr>
        <p:style>
          <a:lnRef idx="1">
            <a:schemeClr val="accent1"/>
          </a:lnRef>
          <a:fillRef idx="3">
            <a:schemeClr val="accent1"/>
          </a:fillRef>
          <a:effectRef idx="2">
            <a:schemeClr val="accent1"/>
          </a:effectRef>
          <a:fontRef idx="minor">
            <a:schemeClr val="lt1"/>
          </a:fontRef>
        </p:style>
        <p:txBody>
          <a:bodyPr rtlCol="0" anchor="t" wrap="square" lIns="109728" rIns="109728" tIns="73152" bIns="73152"/>
          <a:lstStyle/>
          <a:p>
            <a:pPr algn="l">
              <a:spcBef>
                <a:spcPts val="0"/>
              </a:spcBef>
              <a:spcAft>
                <a:spcPts val="200"/>
              </a:spcAft>
            </a:pPr>
            <a:r>
              <a:rPr sz="1500" b="0" i="0">
                <a:solidFill>
                  <a:srgbClr val="1A2F5A"/>
                </a:solidFill>
                <a:latin typeface="Calibri"/>
              </a:rPr>
              <a:t>Axon diameter – The greater the diameter of the axon the faster the impulse travels.</a:t>
            </a:r>
          </a:p>
          <a:p>
            <a:pPr algn="l">
              <a:spcAft>
                <a:spcPts val="200"/>
              </a:spcAft>
            </a:pPr>
            <a:r>
              <a:rPr sz="1500" b="0" i="0">
                <a:solidFill>
                  <a:srgbClr val="1A2F5A"/>
                </a:solidFill>
                <a:latin typeface="Calibri"/>
              </a:rPr>
              <a:t/>
            </a:r>
          </a:p>
          <a:p>
            <a:pPr algn="l">
              <a:spcAft>
                <a:spcPts val="200"/>
              </a:spcAft>
            </a:pPr>
            <a:r>
              <a:rPr sz="1500" b="0" i="0">
                <a:solidFill>
                  <a:srgbClr val="1A2F5A"/>
                </a:solidFill>
                <a:latin typeface="Calibri"/>
              </a:rPr>
              <a:t>Axons with a small diameter have a larger surface area to volume ratio than axons with a large diameter. This causes a larger amount of ions to leak out of the axon, making it more difficult for an action potential to propagate.</a:t>
            </a:r>
          </a:p>
        </p:txBody>
      </p:sp>
      <p:sp>
        <p:nvSpPr>
          <p:cNvPr id="14" name="Rounded Rectangle 13"/>
          <p:cNvSpPr/>
          <p:nvPr/>
        </p:nvSpPr>
        <p:spPr>
          <a:xfrm>
            <a:off x="411480" y="3566160"/>
            <a:ext cx="8321040" cy="1554480"/>
          </a:xfrm>
          <a:prstGeom prst="roundRect">
            <a:avLst>
              <a:gd name="adj" fmla="val 15000"/>
            </a:avLst>
          </a:prstGeom>
          <a:solidFill>
            <a:srgbClr val="FFF6B0"/>
          </a:solidFill>
          <a:ln w="15875">
            <a:solidFill>
              <a:srgbClr val="C5B43A"/>
            </a:solidFill>
          </a:ln>
        </p:spPr>
        <p:style>
          <a:lnRef idx="1">
            <a:schemeClr val="accent1"/>
          </a:lnRef>
          <a:fillRef idx="3">
            <a:schemeClr val="accent1"/>
          </a:fillRef>
          <a:effectRef idx="2">
            <a:schemeClr val="accent1"/>
          </a:effectRef>
          <a:fontRef idx="minor">
            <a:schemeClr val="lt1"/>
          </a:fontRef>
        </p:style>
        <p:txBody>
          <a:bodyPr rtlCol="0" anchor="t" wrap="square" lIns="109728" rIns="109728" tIns="73152" bIns="73152"/>
          <a:lstStyle/>
          <a:p>
            <a:pPr algn="l">
              <a:spcBef>
                <a:spcPts val="0"/>
              </a:spcBef>
              <a:spcAft>
                <a:spcPts val="200"/>
              </a:spcAft>
            </a:pPr>
            <a:r>
              <a:rPr sz="1500" b="0" i="0">
                <a:solidFill>
                  <a:srgbClr val="1A2F5A"/>
                </a:solidFill>
                <a:latin typeface="Calibri"/>
              </a:rPr>
              <a:t>Temperature – The higher the temperature, the faster the speed of the impulse. Temperature affects the rate of diffusion of ions across the axon.</a:t>
            </a:r>
          </a:p>
        </p:txBody>
      </p:sp>
    </p:spTree>
  </p:cSld>
  <p:clrMapOvr>
    <a:masterClrMapping/>
  </p:clrMapOvr>
</p:sld>
</file>

<file path=ppt/slides/slide7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9144000" cy="658368"/>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640080"/>
            <a:ext cx="9144000" cy="54864"/>
          </a:xfrm>
          <a:prstGeom prst="rect">
            <a:avLst/>
          </a:pr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256032" y="91440"/>
            <a:ext cx="7498079" cy="502920"/>
          </a:xfrm>
          <a:prstGeom prst="rect">
            <a:avLst/>
          </a:prstGeom>
          <a:noFill/>
        </p:spPr>
        <p:txBody>
          <a:bodyPr wrap="square" anchor="t">
            <a:spAutoFit/>
          </a:bodyPr>
          <a:lstStyle/>
          <a:p>
            <a:pPr algn="l">
              <a:spcAft>
                <a:spcPts val="400"/>
              </a:spcAft>
            </a:pPr>
            <a:r>
              <a:rPr sz="2600" b="1" i="0">
                <a:solidFill>
                  <a:srgbClr val="2E9E4F"/>
                </a:solidFill>
                <a:latin typeface="Calibri"/>
              </a:rPr>
              <a:t>True or false?</a:t>
            </a:r>
          </a:p>
        </p:txBody>
      </p:sp>
      <p:sp>
        <p:nvSpPr>
          <p:cNvPr id="5" name="Rounded Rectangle 4"/>
          <p:cNvSpPr/>
          <p:nvPr/>
        </p:nvSpPr>
        <p:spPr>
          <a:xfrm>
            <a:off x="7452360" y="109728"/>
            <a:ext cx="1536192" cy="420624"/>
          </a:xfrm>
          <a:prstGeom prst="roundRect">
            <a:avLst>
              <a:gd name="adj" fmla="val 15000"/>
            </a:avLst>
          </a:prstGeom>
          <a:solidFill>
            <a:srgbClr val="C8E6A0"/>
          </a:solidFill>
          <a:ln w="12700">
            <a:solidFill>
              <a:srgbClr val="1B7A3A"/>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spcBef>
                <a:spcPts val="0"/>
              </a:spcBef>
              <a:spcAft>
                <a:spcPts val="200"/>
              </a:spcAft>
            </a:pPr>
            <a:r>
              <a:rPr sz="1100" b="1" i="0">
                <a:solidFill>
                  <a:srgbClr val="1B7A3A"/>
                </a:solidFill>
                <a:latin typeface="Calibri"/>
              </a:rPr>
              <a:t>A2 Biology</a:t>
            </a:r>
          </a:p>
        </p:txBody>
      </p:sp>
      <p:sp>
        <p:nvSpPr>
          <p:cNvPr id="6" name="Rectangle 5"/>
          <p:cNvSpPr/>
          <p:nvPr/>
        </p:nvSpPr>
        <p:spPr>
          <a:xfrm>
            <a:off x="0" y="0"/>
            <a:ext cx="73152" cy="6858000"/>
          </a:xfrm>
          <a:prstGeom prst="rect">
            <a:avLst/>
          </a:prstGeom>
          <a:solidFill>
            <a:srgbClr val="6B2D8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3152" y="6565392"/>
            <a:ext cx="9070848" cy="36576"/>
          </a:xfrm>
          <a:prstGeom prst="rect">
            <a:avLst/>
          </a:prstGeom>
          <a:solidFill>
            <a:srgbClr val="7A3E9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228600" y="6583680"/>
            <a:ext cx="1280160" cy="256032"/>
          </a:xfrm>
          <a:prstGeom prst="rect">
            <a:avLst/>
          </a:prstGeom>
          <a:noFill/>
        </p:spPr>
        <p:txBody>
          <a:bodyPr wrap="square" anchor="t">
            <a:spAutoFit/>
          </a:bodyPr>
          <a:lstStyle/>
          <a:p>
            <a:pPr algn="l">
              <a:spcAft>
                <a:spcPts val="400"/>
              </a:spcAft>
            </a:pPr>
            <a:r>
              <a:rPr sz="1000" b="0" i="0">
                <a:solidFill>
                  <a:srgbClr val="6B2D8B"/>
                </a:solidFill>
                <a:latin typeface="Calibri"/>
              </a:rPr>
              <a:t>28 of 29</a:t>
            </a:r>
          </a:p>
        </p:txBody>
      </p:sp>
      <p:sp>
        <p:nvSpPr>
          <p:cNvPr id="9" name="TextBox 8"/>
          <p:cNvSpPr txBox="1"/>
          <p:nvPr/>
        </p:nvSpPr>
        <p:spPr>
          <a:xfrm>
            <a:off x="1554480" y="6583680"/>
            <a:ext cx="6035040" cy="256032"/>
          </a:xfrm>
          <a:prstGeom prst="rect">
            <a:avLst/>
          </a:prstGeom>
          <a:noFill/>
        </p:spPr>
        <p:txBody>
          <a:bodyPr wrap="square" anchor="t">
            <a:spAutoFit/>
          </a:bodyPr>
          <a:lstStyle/>
          <a:p>
            <a:pPr algn="ctr">
              <a:spcAft>
                <a:spcPts val="400"/>
              </a:spcAft>
            </a:pPr>
            <a:r>
              <a:rPr sz="900" b="0" i="0">
                <a:solidFill>
                  <a:srgbClr val="5A5A5A"/>
                </a:solidFill>
                <a:latin typeface="Calibri"/>
              </a:rPr>
              <a:t>Original course © Boardworks Ltd 2009. Reconstructed interactive resource.</a:t>
            </a:r>
          </a:p>
        </p:txBody>
      </p:sp>
      <p:sp>
        <p:nvSpPr>
          <p:cNvPr id="10" name="Oval 9">
            <a:hlinkClick r:id="rId15" action="ppaction://hlinksldjump"/>
          </p:cNvPr>
          <p:cNvSpPr/>
          <p:nvPr/>
        </p:nvSpPr>
        <p:spPr>
          <a:xfrm>
            <a:off x="146304" y="5760720"/>
            <a:ext cx="384048" cy="384048"/>
          </a:xfrm>
          <a:prstGeom prst="ellipse">
            <a:avLst/>
          </a:prstGeom>
          <a:solidFill>
            <a:srgbClr val="FFFFFF"/>
          </a:solidFill>
          <a:ln w="22225">
            <a:solidFill>
              <a:srgbClr val="6B2D8B"/>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spcBef>
                <a:spcPts val="0"/>
              </a:spcBef>
              <a:spcAft>
                <a:spcPts val="200"/>
              </a:spcAft>
            </a:pPr>
            <a:r>
              <a:rPr sz="1400" b="1" i="0">
                <a:solidFill>
                  <a:srgbClr val="6B2D8B"/>
                </a:solidFill>
                <a:latin typeface="Calibri"/>
              </a:rPr>
              <a:t>◀</a:t>
            </a:r>
          </a:p>
        </p:txBody>
      </p:sp>
      <p:sp>
        <p:nvSpPr>
          <p:cNvPr id="11" name="Oval 10">
            <a:hlinkClick r:id="rId16" action="ppaction://hlinksldjump"/>
          </p:cNvPr>
          <p:cNvSpPr/>
          <p:nvPr/>
        </p:nvSpPr>
        <p:spPr>
          <a:xfrm>
            <a:off x="8613648" y="5760720"/>
            <a:ext cx="384048" cy="384048"/>
          </a:xfrm>
          <a:prstGeom prst="ellipse">
            <a:avLst/>
          </a:prstGeom>
          <a:solidFill>
            <a:srgbClr val="6B2D8B"/>
          </a:solidFill>
          <a:ln w="12700">
            <a:solidFill>
              <a:srgbClr val="6B2D8B"/>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spcBef>
                <a:spcPts val="0"/>
              </a:spcBef>
              <a:spcAft>
                <a:spcPts val="200"/>
              </a:spcAft>
            </a:pPr>
            <a:r>
              <a:rPr sz="1400" b="1" i="0">
                <a:solidFill>
                  <a:srgbClr val="FFFFFF"/>
                </a:solidFill>
                <a:latin typeface="Calibri"/>
              </a:rPr>
              <a:t>▶</a:t>
            </a:r>
          </a:p>
        </p:txBody>
      </p:sp>
      <p:sp>
        <p:nvSpPr>
          <p:cNvPr id="12" name="Rectangle 11"/>
          <p:cNvSpPr/>
          <p:nvPr/>
        </p:nvSpPr>
        <p:spPr>
          <a:xfrm>
            <a:off x="201168" y="6199632"/>
            <a:ext cx="8741664" cy="329184"/>
          </a:xfrm>
          <a:prstGeom prst="rect">
            <a:avLst/>
          </a:pr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274320" y="804672"/>
            <a:ext cx="8595360" cy="365760"/>
          </a:xfrm>
          <a:prstGeom prst="rect">
            <a:avLst/>
          </a:prstGeom>
          <a:noFill/>
        </p:spPr>
        <p:txBody>
          <a:bodyPr wrap="square" anchor="t">
            <a:spAutoFit/>
          </a:bodyPr>
          <a:lstStyle/>
          <a:p>
            <a:pPr algn="ctr">
              <a:spcAft>
                <a:spcPts val="400"/>
              </a:spcAft>
            </a:pPr>
            <a:r>
              <a:rPr sz="1800" b="1" i="0">
                <a:solidFill>
                  <a:srgbClr val="1B3A6B"/>
                </a:solidFill>
                <a:latin typeface="Calibri"/>
              </a:rPr>
              <a:t>Are these statements about action potentials true or false?</a:t>
            </a:r>
          </a:p>
        </p:txBody>
      </p:sp>
      <p:sp>
        <p:nvSpPr>
          <p:cNvPr id="14" name="Rounded Rectangle 13"/>
          <p:cNvSpPr/>
          <p:nvPr/>
        </p:nvSpPr>
        <p:spPr>
          <a:xfrm>
            <a:off x="274320" y="1234440"/>
            <a:ext cx="5989320" cy="713232"/>
          </a:xfrm>
          <a:prstGeom prst="roundRect">
            <a:avLst>
              <a:gd name="adj" fmla="val 15000"/>
            </a:avLst>
          </a:prstGeom>
          <a:solidFill>
            <a:srgbClr val="FFF6B0"/>
          </a:solidFill>
          <a:ln w="15875">
            <a:solidFill>
              <a:srgbClr val="C5B43A"/>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l">
              <a:spcBef>
                <a:spcPts val="0"/>
              </a:spcBef>
              <a:spcAft>
                <a:spcPts val="200"/>
              </a:spcAft>
            </a:pPr>
            <a:r>
              <a:rPr sz="1300" b="0" i="0">
                <a:solidFill>
                  <a:srgbClr val="1B3A6B"/>
                </a:solidFill>
                <a:latin typeface="Calibri"/>
              </a:rPr>
              <a:t>1.  Every stimulus detected by the sensory receptors causes an action potential to be generated.</a:t>
            </a:r>
          </a:p>
        </p:txBody>
      </p:sp>
      <p:sp>
        <p:nvSpPr>
          <p:cNvPr id="15" name="Rounded Rectangle 14">
            <a:hlinkClick r:id="rId4" action="ppaction://hlinksldjump"/>
          </p:cNvPr>
          <p:cNvSpPr/>
          <p:nvPr/>
        </p:nvSpPr>
        <p:spPr>
          <a:xfrm>
            <a:off x="6400800" y="1380744"/>
            <a:ext cx="1051560" cy="438912"/>
          </a:xfrm>
          <a:prstGeom prst="roundRect">
            <a:avLst>
              <a:gd name="adj" fmla="val 15000"/>
            </a:avLst>
          </a:prstGeom>
          <a:solidFill>
            <a:srgbClr val="2E9E4F"/>
          </a:solidFill>
          <a:ln w="12700">
            <a:solidFill>
              <a:srgbClr val="2E9E4F"/>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spcBef>
                <a:spcPts val="0"/>
              </a:spcBef>
              <a:spcAft>
                <a:spcPts val="200"/>
              </a:spcAft>
            </a:pPr>
            <a:r>
              <a:rPr sz="1300" b="1" i="0">
                <a:solidFill>
                  <a:srgbClr val="FFFFFF"/>
                </a:solidFill>
                <a:latin typeface="Calibri"/>
              </a:rPr>
              <a:t>true</a:t>
            </a:r>
          </a:p>
        </p:txBody>
      </p:sp>
      <p:sp>
        <p:nvSpPr>
          <p:cNvPr id="16" name="Rounded Rectangle 15">
            <a:hlinkClick r:id="rId5" action="ppaction://hlinksldjump"/>
          </p:cNvPr>
          <p:cNvSpPr/>
          <p:nvPr/>
        </p:nvSpPr>
        <p:spPr>
          <a:xfrm>
            <a:off x="7543800" y="1380744"/>
            <a:ext cx="1097280" cy="438912"/>
          </a:xfrm>
          <a:prstGeom prst="roundRect">
            <a:avLst>
              <a:gd name="adj" fmla="val 15000"/>
            </a:avLst>
          </a:prstGeom>
          <a:solidFill>
            <a:srgbClr val="C62828"/>
          </a:solidFill>
          <a:ln w="12700">
            <a:solidFill>
              <a:srgbClr val="C62828"/>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spcBef>
                <a:spcPts val="0"/>
              </a:spcBef>
              <a:spcAft>
                <a:spcPts val="200"/>
              </a:spcAft>
            </a:pPr>
            <a:r>
              <a:rPr sz="1300" b="1" i="0">
                <a:solidFill>
                  <a:srgbClr val="FFFFFF"/>
                </a:solidFill>
                <a:latin typeface="Calibri"/>
              </a:rPr>
              <a:t>false</a:t>
            </a:r>
          </a:p>
        </p:txBody>
      </p:sp>
      <p:sp>
        <p:nvSpPr>
          <p:cNvPr id="17" name="Rounded Rectangle 16"/>
          <p:cNvSpPr/>
          <p:nvPr/>
        </p:nvSpPr>
        <p:spPr>
          <a:xfrm>
            <a:off x="274320" y="2039112"/>
            <a:ext cx="5989320" cy="713232"/>
          </a:xfrm>
          <a:prstGeom prst="roundRect">
            <a:avLst>
              <a:gd name="adj" fmla="val 15000"/>
            </a:avLst>
          </a:prstGeom>
          <a:solidFill>
            <a:srgbClr val="FFF6B0"/>
          </a:solidFill>
          <a:ln w="15875">
            <a:solidFill>
              <a:srgbClr val="C5B43A"/>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l">
              <a:spcBef>
                <a:spcPts val="0"/>
              </a:spcBef>
              <a:spcAft>
                <a:spcPts val="200"/>
              </a:spcAft>
            </a:pPr>
            <a:r>
              <a:rPr sz="1300" b="0" i="0">
                <a:solidFill>
                  <a:srgbClr val="1B3A6B"/>
                </a:solidFill>
                <a:latin typeface="Calibri"/>
              </a:rPr>
              <a:t>2.  An action potential is always the same size regardless of the strength of stimuli.</a:t>
            </a:r>
          </a:p>
        </p:txBody>
      </p:sp>
      <p:sp>
        <p:nvSpPr>
          <p:cNvPr id="18" name="Rounded Rectangle 17">
            <a:hlinkClick r:id="rId6" action="ppaction://hlinksldjump"/>
          </p:cNvPr>
          <p:cNvSpPr/>
          <p:nvPr/>
        </p:nvSpPr>
        <p:spPr>
          <a:xfrm>
            <a:off x="6400800" y="2185416"/>
            <a:ext cx="1051560" cy="438912"/>
          </a:xfrm>
          <a:prstGeom prst="roundRect">
            <a:avLst>
              <a:gd name="adj" fmla="val 15000"/>
            </a:avLst>
          </a:prstGeom>
          <a:solidFill>
            <a:srgbClr val="2E9E4F"/>
          </a:solidFill>
          <a:ln w="12700">
            <a:solidFill>
              <a:srgbClr val="2E9E4F"/>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spcBef>
                <a:spcPts val="0"/>
              </a:spcBef>
              <a:spcAft>
                <a:spcPts val="200"/>
              </a:spcAft>
            </a:pPr>
            <a:r>
              <a:rPr sz="1300" b="1" i="0">
                <a:solidFill>
                  <a:srgbClr val="FFFFFF"/>
                </a:solidFill>
                <a:latin typeface="Calibri"/>
              </a:rPr>
              <a:t>true</a:t>
            </a:r>
          </a:p>
        </p:txBody>
      </p:sp>
      <p:sp>
        <p:nvSpPr>
          <p:cNvPr id="19" name="Rounded Rectangle 18">
            <a:hlinkClick r:id="rId7" action="ppaction://hlinksldjump"/>
          </p:cNvPr>
          <p:cNvSpPr/>
          <p:nvPr/>
        </p:nvSpPr>
        <p:spPr>
          <a:xfrm>
            <a:off x="7543800" y="2185416"/>
            <a:ext cx="1097280" cy="438912"/>
          </a:xfrm>
          <a:prstGeom prst="roundRect">
            <a:avLst>
              <a:gd name="adj" fmla="val 15000"/>
            </a:avLst>
          </a:prstGeom>
          <a:solidFill>
            <a:srgbClr val="C62828"/>
          </a:solidFill>
          <a:ln w="12700">
            <a:solidFill>
              <a:srgbClr val="C62828"/>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spcBef>
                <a:spcPts val="0"/>
              </a:spcBef>
              <a:spcAft>
                <a:spcPts val="200"/>
              </a:spcAft>
            </a:pPr>
            <a:r>
              <a:rPr sz="1300" b="1" i="0">
                <a:solidFill>
                  <a:srgbClr val="FFFFFF"/>
                </a:solidFill>
                <a:latin typeface="Calibri"/>
              </a:rPr>
              <a:t>false</a:t>
            </a:r>
          </a:p>
        </p:txBody>
      </p:sp>
      <p:sp>
        <p:nvSpPr>
          <p:cNvPr id="20" name="Rounded Rectangle 19"/>
          <p:cNvSpPr/>
          <p:nvPr/>
        </p:nvSpPr>
        <p:spPr>
          <a:xfrm>
            <a:off x="274320" y="2843784"/>
            <a:ext cx="5989320" cy="713232"/>
          </a:xfrm>
          <a:prstGeom prst="roundRect">
            <a:avLst>
              <a:gd name="adj" fmla="val 15000"/>
            </a:avLst>
          </a:prstGeom>
          <a:solidFill>
            <a:srgbClr val="FFF6B0"/>
          </a:solidFill>
          <a:ln w="15875">
            <a:solidFill>
              <a:srgbClr val="C5B43A"/>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l">
              <a:spcBef>
                <a:spcPts val="0"/>
              </a:spcBef>
              <a:spcAft>
                <a:spcPts val="200"/>
              </a:spcAft>
            </a:pPr>
            <a:r>
              <a:rPr sz="1300" b="0" i="0">
                <a:solidFill>
                  <a:srgbClr val="1B3A6B"/>
                </a:solidFill>
                <a:latin typeface="Calibri"/>
              </a:rPr>
              <a:t>3.  The amplitude of the action potential increases when the stimulus is stronger.</a:t>
            </a:r>
          </a:p>
        </p:txBody>
      </p:sp>
      <p:sp>
        <p:nvSpPr>
          <p:cNvPr id="21" name="Rounded Rectangle 20">
            <a:hlinkClick r:id="rId8" action="ppaction://hlinksldjump"/>
          </p:cNvPr>
          <p:cNvSpPr/>
          <p:nvPr/>
        </p:nvSpPr>
        <p:spPr>
          <a:xfrm>
            <a:off x="6400800" y="2990088"/>
            <a:ext cx="1051560" cy="438912"/>
          </a:xfrm>
          <a:prstGeom prst="roundRect">
            <a:avLst>
              <a:gd name="adj" fmla="val 15000"/>
            </a:avLst>
          </a:prstGeom>
          <a:solidFill>
            <a:srgbClr val="2E9E4F"/>
          </a:solidFill>
          <a:ln w="12700">
            <a:solidFill>
              <a:srgbClr val="2E9E4F"/>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spcBef>
                <a:spcPts val="0"/>
              </a:spcBef>
              <a:spcAft>
                <a:spcPts val="200"/>
              </a:spcAft>
            </a:pPr>
            <a:r>
              <a:rPr sz="1300" b="1" i="0">
                <a:solidFill>
                  <a:srgbClr val="FFFFFF"/>
                </a:solidFill>
                <a:latin typeface="Calibri"/>
              </a:rPr>
              <a:t>true</a:t>
            </a:r>
          </a:p>
        </p:txBody>
      </p:sp>
      <p:sp>
        <p:nvSpPr>
          <p:cNvPr id="22" name="Rounded Rectangle 21">
            <a:hlinkClick r:id="rId9" action="ppaction://hlinksldjump"/>
          </p:cNvPr>
          <p:cNvSpPr/>
          <p:nvPr/>
        </p:nvSpPr>
        <p:spPr>
          <a:xfrm>
            <a:off x="7543800" y="2990088"/>
            <a:ext cx="1097280" cy="438912"/>
          </a:xfrm>
          <a:prstGeom prst="roundRect">
            <a:avLst>
              <a:gd name="adj" fmla="val 15000"/>
            </a:avLst>
          </a:prstGeom>
          <a:solidFill>
            <a:srgbClr val="C62828"/>
          </a:solidFill>
          <a:ln w="12700">
            <a:solidFill>
              <a:srgbClr val="C62828"/>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spcBef>
                <a:spcPts val="0"/>
              </a:spcBef>
              <a:spcAft>
                <a:spcPts val="200"/>
              </a:spcAft>
            </a:pPr>
            <a:r>
              <a:rPr sz="1300" b="1" i="0">
                <a:solidFill>
                  <a:srgbClr val="FFFFFF"/>
                </a:solidFill>
                <a:latin typeface="Calibri"/>
              </a:rPr>
              <a:t>false</a:t>
            </a:r>
          </a:p>
        </p:txBody>
      </p:sp>
      <p:sp>
        <p:nvSpPr>
          <p:cNvPr id="23" name="Rounded Rectangle 22"/>
          <p:cNvSpPr/>
          <p:nvPr/>
        </p:nvSpPr>
        <p:spPr>
          <a:xfrm>
            <a:off x="274320" y="3648456"/>
            <a:ext cx="5989320" cy="713232"/>
          </a:xfrm>
          <a:prstGeom prst="roundRect">
            <a:avLst>
              <a:gd name="adj" fmla="val 15000"/>
            </a:avLst>
          </a:prstGeom>
          <a:solidFill>
            <a:srgbClr val="FFF6B0"/>
          </a:solidFill>
          <a:ln w="15875">
            <a:solidFill>
              <a:srgbClr val="C5B43A"/>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l">
              <a:spcBef>
                <a:spcPts val="0"/>
              </a:spcBef>
              <a:spcAft>
                <a:spcPts val="200"/>
              </a:spcAft>
            </a:pPr>
            <a:r>
              <a:rPr sz="1300" b="0" i="0">
                <a:solidFill>
                  <a:srgbClr val="1B3A6B"/>
                </a:solidFill>
                <a:latin typeface="Calibri"/>
              </a:rPr>
              <a:t>4.  In an unmyelinated neurone an action potential will travel by saltatory conduction.</a:t>
            </a:r>
          </a:p>
        </p:txBody>
      </p:sp>
      <p:sp>
        <p:nvSpPr>
          <p:cNvPr id="24" name="Rounded Rectangle 23">
            <a:hlinkClick r:id="rId10" action="ppaction://hlinksldjump"/>
          </p:cNvPr>
          <p:cNvSpPr/>
          <p:nvPr/>
        </p:nvSpPr>
        <p:spPr>
          <a:xfrm>
            <a:off x="6400800" y="3794759"/>
            <a:ext cx="1051560" cy="438912"/>
          </a:xfrm>
          <a:prstGeom prst="roundRect">
            <a:avLst>
              <a:gd name="adj" fmla="val 15000"/>
            </a:avLst>
          </a:prstGeom>
          <a:solidFill>
            <a:srgbClr val="2E9E4F"/>
          </a:solidFill>
          <a:ln w="12700">
            <a:solidFill>
              <a:srgbClr val="2E9E4F"/>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spcBef>
                <a:spcPts val="0"/>
              </a:spcBef>
              <a:spcAft>
                <a:spcPts val="200"/>
              </a:spcAft>
            </a:pPr>
            <a:r>
              <a:rPr sz="1300" b="1" i="0">
                <a:solidFill>
                  <a:srgbClr val="FFFFFF"/>
                </a:solidFill>
                <a:latin typeface="Calibri"/>
              </a:rPr>
              <a:t>true</a:t>
            </a:r>
          </a:p>
        </p:txBody>
      </p:sp>
      <p:sp>
        <p:nvSpPr>
          <p:cNvPr id="25" name="Rounded Rectangle 24">
            <a:hlinkClick r:id="rId11" action="ppaction://hlinksldjump"/>
          </p:cNvPr>
          <p:cNvSpPr/>
          <p:nvPr/>
        </p:nvSpPr>
        <p:spPr>
          <a:xfrm>
            <a:off x="7543800" y="3794759"/>
            <a:ext cx="1097280" cy="438912"/>
          </a:xfrm>
          <a:prstGeom prst="roundRect">
            <a:avLst>
              <a:gd name="adj" fmla="val 15000"/>
            </a:avLst>
          </a:prstGeom>
          <a:solidFill>
            <a:srgbClr val="C62828"/>
          </a:solidFill>
          <a:ln w="12700">
            <a:solidFill>
              <a:srgbClr val="C62828"/>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spcBef>
                <a:spcPts val="0"/>
              </a:spcBef>
              <a:spcAft>
                <a:spcPts val="200"/>
              </a:spcAft>
            </a:pPr>
            <a:r>
              <a:rPr sz="1300" b="1" i="0">
                <a:solidFill>
                  <a:srgbClr val="FFFFFF"/>
                </a:solidFill>
                <a:latin typeface="Calibri"/>
              </a:rPr>
              <a:t>false</a:t>
            </a:r>
          </a:p>
        </p:txBody>
      </p:sp>
      <p:sp>
        <p:nvSpPr>
          <p:cNvPr id="26" name="Rounded Rectangle 25"/>
          <p:cNvSpPr/>
          <p:nvPr/>
        </p:nvSpPr>
        <p:spPr>
          <a:xfrm>
            <a:off x="274320" y="4453128"/>
            <a:ext cx="5989320" cy="713232"/>
          </a:xfrm>
          <a:prstGeom prst="roundRect">
            <a:avLst>
              <a:gd name="adj" fmla="val 15000"/>
            </a:avLst>
          </a:prstGeom>
          <a:solidFill>
            <a:srgbClr val="FFF6B0"/>
          </a:solidFill>
          <a:ln w="15875">
            <a:solidFill>
              <a:srgbClr val="C5B43A"/>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l">
              <a:spcBef>
                <a:spcPts val="0"/>
              </a:spcBef>
              <a:spcAft>
                <a:spcPts val="200"/>
              </a:spcAft>
            </a:pPr>
            <a:r>
              <a:rPr sz="1300" b="0" i="0">
                <a:solidFill>
                  <a:srgbClr val="1B3A6B"/>
                </a:solidFill>
                <a:latin typeface="Calibri"/>
              </a:rPr>
              <a:t>5.  It is impossible for an action potential to be generated during the absolute refractory period.</a:t>
            </a:r>
          </a:p>
        </p:txBody>
      </p:sp>
      <p:sp>
        <p:nvSpPr>
          <p:cNvPr id="27" name="Rounded Rectangle 26">
            <a:hlinkClick r:id="rId12" action="ppaction://hlinksldjump"/>
          </p:cNvPr>
          <p:cNvSpPr/>
          <p:nvPr/>
        </p:nvSpPr>
        <p:spPr>
          <a:xfrm>
            <a:off x="6400800" y="4599432"/>
            <a:ext cx="1051560" cy="438912"/>
          </a:xfrm>
          <a:prstGeom prst="roundRect">
            <a:avLst>
              <a:gd name="adj" fmla="val 15000"/>
            </a:avLst>
          </a:prstGeom>
          <a:solidFill>
            <a:srgbClr val="2E9E4F"/>
          </a:solidFill>
          <a:ln w="12700">
            <a:solidFill>
              <a:srgbClr val="2E9E4F"/>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spcBef>
                <a:spcPts val="0"/>
              </a:spcBef>
              <a:spcAft>
                <a:spcPts val="200"/>
              </a:spcAft>
            </a:pPr>
            <a:r>
              <a:rPr sz="1300" b="1" i="0">
                <a:solidFill>
                  <a:srgbClr val="FFFFFF"/>
                </a:solidFill>
                <a:latin typeface="Calibri"/>
              </a:rPr>
              <a:t>true</a:t>
            </a:r>
          </a:p>
        </p:txBody>
      </p:sp>
      <p:sp>
        <p:nvSpPr>
          <p:cNvPr id="28" name="Rounded Rectangle 27">
            <a:hlinkClick r:id="rId13" action="ppaction://hlinksldjump"/>
          </p:cNvPr>
          <p:cNvSpPr/>
          <p:nvPr/>
        </p:nvSpPr>
        <p:spPr>
          <a:xfrm>
            <a:off x="7543800" y="4599432"/>
            <a:ext cx="1097280" cy="438912"/>
          </a:xfrm>
          <a:prstGeom prst="roundRect">
            <a:avLst>
              <a:gd name="adj" fmla="val 15000"/>
            </a:avLst>
          </a:prstGeom>
          <a:solidFill>
            <a:srgbClr val="C62828"/>
          </a:solidFill>
          <a:ln w="12700">
            <a:solidFill>
              <a:srgbClr val="C62828"/>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spcBef>
                <a:spcPts val="0"/>
              </a:spcBef>
              <a:spcAft>
                <a:spcPts val="200"/>
              </a:spcAft>
            </a:pPr>
            <a:r>
              <a:rPr sz="1300" b="1" i="0">
                <a:solidFill>
                  <a:srgbClr val="FFFFFF"/>
                </a:solidFill>
                <a:latin typeface="Calibri"/>
              </a:rPr>
              <a:t>false</a:t>
            </a:r>
          </a:p>
        </p:txBody>
      </p:sp>
      <p:sp>
        <p:nvSpPr>
          <p:cNvPr id="29" name="Rounded Rectangle 28">
            <a:hlinkClick r:id="rId14" action="ppaction://hlinksldjump"/>
          </p:cNvPr>
          <p:cNvSpPr/>
          <p:nvPr/>
        </p:nvSpPr>
        <p:spPr>
          <a:xfrm>
            <a:off x="320040" y="6217920"/>
            <a:ext cx="1554480" cy="292608"/>
          </a:xfrm>
          <a:prstGeom prst="roundRect">
            <a:avLst>
              <a:gd name="adj" fmla="val 15000"/>
            </a:avLst>
          </a:prstGeom>
          <a:solidFill>
            <a:srgbClr val="1B7A3A"/>
          </a:solidFill>
          <a:ln w="12700">
            <a:solidFill>
              <a:srgbClr val="1B7A3A"/>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spcBef>
                <a:spcPts val="0"/>
              </a:spcBef>
              <a:spcAft>
                <a:spcPts val="200"/>
              </a:spcAft>
            </a:pPr>
            <a:r>
              <a:rPr sz="1200" b="1" i="0">
                <a:solidFill>
                  <a:srgbClr val="FFFFFF"/>
                </a:solidFill>
                <a:latin typeface="Calibri"/>
              </a:rPr>
              <a:t>Show all</a:t>
            </a:r>
          </a:p>
        </p:txBody>
      </p:sp>
      <p:sp>
        <p:nvSpPr>
          <p:cNvPr id="30" name="Rounded Rectangle 29">
            <a:hlinkClick r:id="rId2" action="ppaction://hlinksldjump"/>
          </p:cNvPr>
          <p:cNvSpPr/>
          <p:nvPr/>
        </p:nvSpPr>
        <p:spPr>
          <a:xfrm>
            <a:off x="1965960" y="6217920"/>
            <a:ext cx="1280160" cy="292608"/>
          </a:xfrm>
          <a:prstGeom prst="roundRect">
            <a:avLst>
              <a:gd name="adj" fmla="val 15000"/>
            </a:avLst>
          </a:prstGeom>
          <a:solidFill>
            <a:srgbClr val="EF6C00"/>
          </a:solidFill>
          <a:ln w="12700">
            <a:solidFill>
              <a:srgbClr val="EF6C00"/>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spcBef>
                <a:spcPts val="0"/>
              </a:spcBef>
              <a:spcAft>
                <a:spcPts val="200"/>
              </a:spcAft>
            </a:pPr>
            <a:r>
              <a:rPr sz="1200" b="1" i="0">
                <a:solidFill>
                  <a:srgbClr val="FFFFFF"/>
                </a:solidFill>
                <a:latin typeface="Calibri"/>
              </a:rPr>
              <a:t>Reset</a:t>
            </a:r>
          </a:p>
        </p:txBody>
      </p:sp>
    </p:spTree>
  </p:cSld>
  <p:clrMapOvr>
    <a:masterClrMapping/>
  </p:clrMapOvr>
</p:sld>
</file>

<file path=ppt/slides/slide73.xml><?xml version="1.0" encoding="utf-8"?>
<p:sld xmlns:a="http://schemas.openxmlformats.org/drawingml/2006/main" xmlns:p="http://schemas.openxmlformats.org/presentationml/2006/main" xmlns:r="http://schemas.openxmlformats.org/officeDocument/2006/relationships" show="0">
  <p:cSld>
    <p:spTree>
      <p:nvGrpSpPr>
        <p:cNvPr id="1" name=""/>
        <p:cNvGrpSpPr/>
        <p:nvPr/>
      </p:nvGrpSpPr>
      <p:grpSpPr/>
      <p:sp>
        <p:nvSpPr>
          <p:cNvPr id="2" name="Rectangle 1"/>
          <p:cNvSpPr/>
          <p:nvPr/>
        </p:nvSpPr>
        <p:spPr>
          <a:xfrm>
            <a:off x="0" y="0"/>
            <a:ext cx="9144000" cy="658368"/>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640080"/>
            <a:ext cx="9144000" cy="54864"/>
          </a:xfrm>
          <a:prstGeom prst="rect">
            <a:avLst/>
          </a:pr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256032" y="91440"/>
            <a:ext cx="7498079" cy="502920"/>
          </a:xfrm>
          <a:prstGeom prst="rect">
            <a:avLst/>
          </a:prstGeom>
          <a:noFill/>
        </p:spPr>
        <p:txBody>
          <a:bodyPr wrap="square" anchor="t">
            <a:spAutoFit/>
          </a:bodyPr>
          <a:lstStyle/>
          <a:p>
            <a:pPr algn="l">
              <a:spcAft>
                <a:spcPts val="400"/>
              </a:spcAft>
            </a:pPr>
            <a:r>
              <a:rPr sz="2600" b="1" i="0">
                <a:solidFill>
                  <a:srgbClr val="2E9E4F"/>
                </a:solidFill>
                <a:latin typeface="Calibri"/>
              </a:rPr>
              <a:t>True or false?</a:t>
            </a:r>
          </a:p>
        </p:txBody>
      </p:sp>
      <p:sp>
        <p:nvSpPr>
          <p:cNvPr id="5" name="Rounded Rectangle 4"/>
          <p:cNvSpPr/>
          <p:nvPr/>
        </p:nvSpPr>
        <p:spPr>
          <a:xfrm>
            <a:off x="7452360" y="109728"/>
            <a:ext cx="1536192" cy="420624"/>
          </a:xfrm>
          <a:prstGeom prst="roundRect">
            <a:avLst>
              <a:gd name="adj" fmla="val 15000"/>
            </a:avLst>
          </a:prstGeom>
          <a:solidFill>
            <a:srgbClr val="C8E6A0"/>
          </a:solidFill>
          <a:ln w="12700">
            <a:solidFill>
              <a:srgbClr val="1B7A3A"/>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spcBef>
                <a:spcPts val="0"/>
              </a:spcBef>
              <a:spcAft>
                <a:spcPts val="200"/>
              </a:spcAft>
            </a:pPr>
            <a:r>
              <a:rPr sz="1100" b="1" i="0">
                <a:solidFill>
                  <a:srgbClr val="1B7A3A"/>
                </a:solidFill>
                <a:latin typeface="Calibri"/>
              </a:rPr>
              <a:t>A2 Biology</a:t>
            </a:r>
          </a:p>
        </p:txBody>
      </p:sp>
      <p:sp>
        <p:nvSpPr>
          <p:cNvPr id="6" name="Rectangle 5"/>
          <p:cNvSpPr/>
          <p:nvPr/>
        </p:nvSpPr>
        <p:spPr>
          <a:xfrm>
            <a:off x="0" y="0"/>
            <a:ext cx="73152" cy="6858000"/>
          </a:xfrm>
          <a:prstGeom prst="rect">
            <a:avLst/>
          </a:prstGeom>
          <a:solidFill>
            <a:srgbClr val="6B2D8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3152" y="6565392"/>
            <a:ext cx="9070848" cy="36576"/>
          </a:xfrm>
          <a:prstGeom prst="rect">
            <a:avLst/>
          </a:prstGeom>
          <a:solidFill>
            <a:srgbClr val="7A3E9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228600" y="6583680"/>
            <a:ext cx="1280160" cy="256032"/>
          </a:xfrm>
          <a:prstGeom prst="rect">
            <a:avLst/>
          </a:prstGeom>
          <a:noFill/>
        </p:spPr>
        <p:txBody>
          <a:bodyPr wrap="square" anchor="t">
            <a:spAutoFit/>
          </a:bodyPr>
          <a:lstStyle/>
          <a:p>
            <a:pPr algn="l">
              <a:spcAft>
                <a:spcPts val="400"/>
              </a:spcAft>
            </a:pPr>
            <a:r>
              <a:rPr sz="1000" b="0" i="0">
                <a:solidFill>
                  <a:srgbClr val="6B2D8B"/>
                </a:solidFill>
                <a:latin typeface="Calibri"/>
              </a:rPr>
              <a:t>activity</a:t>
            </a:r>
          </a:p>
        </p:txBody>
      </p:sp>
      <p:sp>
        <p:nvSpPr>
          <p:cNvPr id="9" name="TextBox 8"/>
          <p:cNvSpPr txBox="1"/>
          <p:nvPr/>
        </p:nvSpPr>
        <p:spPr>
          <a:xfrm>
            <a:off x="1554480" y="6583680"/>
            <a:ext cx="6035040" cy="256032"/>
          </a:xfrm>
          <a:prstGeom prst="rect">
            <a:avLst/>
          </a:prstGeom>
          <a:noFill/>
        </p:spPr>
        <p:txBody>
          <a:bodyPr wrap="square" anchor="t">
            <a:spAutoFit/>
          </a:bodyPr>
          <a:lstStyle/>
          <a:p>
            <a:pPr algn="ctr">
              <a:spcAft>
                <a:spcPts val="400"/>
              </a:spcAft>
            </a:pPr>
            <a:r>
              <a:rPr sz="900" b="0" i="0">
                <a:solidFill>
                  <a:srgbClr val="5A5A5A"/>
                </a:solidFill>
                <a:latin typeface="Calibri"/>
              </a:rPr>
              <a:t>Original course © Boardworks Ltd 2009. Reconstructed interactive resource.</a:t>
            </a:r>
          </a:p>
        </p:txBody>
      </p:sp>
      <p:sp>
        <p:nvSpPr>
          <p:cNvPr id="10" name="Rounded Rectangle 9"/>
          <p:cNvSpPr/>
          <p:nvPr/>
        </p:nvSpPr>
        <p:spPr>
          <a:xfrm>
            <a:off x="640080" y="1463040"/>
            <a:ext cx="7863840" cy="2743200"/>
          </a:xfrm>
          <a:prstGeom prst="roundRect">
            <a:avLst>
              <a:gd name="adj" fmla="val 15000"/>
            </a:avLst>
          </a:prstGeom>
          <a:solidFill>
            <a:srgbClr val="FFEBEE"/>
          </a:solidFill>
          <a:ln w="15875">
            <a:solidFill>
              <a:srgbClr val="C62828"/>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spcBef>
                <a:spcPts val="0"/>
              </a:spcBef>
              <a:spcAft>
                <a:spcPts val="200"/>
              </a:spcAft>
            </a:pPr>
            <a:r>
              <a:rPr sz="1600" b="0" i="0">
                <a:solidFill>
                  <a:srgbClr val="1B3A6B"/>
                </a:solidFill>
                <a:latin typeface="Calibri"/>
              </a:rPr>
              <a:t>Incorrect.  The statement is FALSE.</a:t>
            </a:r>
          </a:p>
          <a:p>
            <a:pPr algn="ctr">
              <a:spcAft>
                <a:spcPts val="200"/>
              </a:spcAft>
            </a:pPr>
            <a:r>
              <a:rPr sz="1600" b="0" i="0">
                <a:solidFill>
                  <a:srgbClr val="1B3A6B"/>
                </a:solidFill>
                <a:latin typeface="Calibri"/>
              </a:rPr>
              <a:t/>
            </a:r>
          </a:p>
          <a:p>
            <a:pPr algn="ctr">
              <a:spcAft>
                <a:spcPts val="200"/>
              </a:spcAft>
            </a:pPr>
            <a:r>
              <a:rPr sz="1600" b="0" i="0">
                <a:solidFill>
                  <a:srgbClr val="1B3A6B"/>
                </a:solidFill>
                <a:latin typeface="Calibri"/>
              </a:rPr>
              <a:t>Every stimulus detected by the sensory receptors causes an action potential to be generated.</a:t>
            </a:r>
          </a:p>
          <a:p>
            <a:pPr algn="ctr">
              <a:spcAft>
                <a:spcPts val="200"/>
              </a:spcAft>
            </a:pPr>
            <a:r>
              <a:rPr sz="1600" b="0" i="0">
                <a:solidFill>
                  <a:srgbClr val="1B3A6B"/>
                </a:solidFill>
                <a:latin typeface="Calibri"/>
              </a:rPr>
              <a:t/>
            </a:r>
          </a:p>
          <a:p>
            <a:pPr algn="ctr">
              <a:spcAft>
                <a:spcPts val="200"/>
              </a:spcAft>
            </a:pPr>
            <a:r>
              <a:rPr sz="1600" b="0" i="0">
                <a:solidFill>
                  <a:srgbClr val="1B3A6B"/>
                </a:solidFill>
                <a:latin typeface="Calibri"/>
              </a:rPr>
              <a:t>The generator potential must reach threshold. Subthreshold stimuli fail to trigger an action potential.</a:t>
            </a:r>
          </a:p>
        </p:txBody>
      </p:sp>
      <p:sp>
        <p:nvSpPr>
          <p:cNvPr id="11" name="Rounded Rectangle 10">
            <a:hlinkClick r:id="rId2" action="ppaction://hlinksldjump"/>
          </p:cNvPr>
          <p:cNvSpPr/>
          <p:nvPr/>
        </p:nvSpPr>
        <p:spPr>
          <a:xfrm>
            <a:off x="3200400" y="4663440"/>
            <a:ext cx="2743200" cy="411480"/>
          </a:xfrm>
          <a:prstGeom prst="roundRect">
            <a:avLst>
              <a:gd name="adj" fmla="val 15000"/>
            </a:avLst>
          </a:prstGeom>
          <a:solidFill>
            <a:srgbClr val="2E9E4F"/>
          </a:solidFill>
          <a:ln w="12700">
            <a:solidFill>
              <a:srgbClr val="2E9E4F"/>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spcBef>
                <a:spcPts val="0"/>
              </a:spcBef>
              <a:spcAft>
                <a:spcPts val="200"/>
              </a:spcAft>
            </a:pPr>
            <a:r>
              <a:rPr sz="1400" b="1" i="0">
                <a:solidFill>
                  <a:srgbClr val="FFFFFF"/>
                </a:solidFill>
                <a:latin typeface="Calibri"/>
              </a:rPr>
              <a:t>Back to quiz</a:t>
            </a:r>
          </a:p>
        </p:txBody>
      </p:sp>
    </p:spTree>
  </p:cSld>
  <p:clrMapOvr>
    <a:masterClrMapping/>
  </p:clrMapOvr>
</p:sld>
</file>

<file path=ppt/slides/slide74.xml><?xml version="1.0" encoding="utf-8"?>
<p:sld xmlns:a="http://schemas.openxmlformats.org/drawingml/2006/main" xmlns:p="http://schemas.openxmlformats.org/presentationml/2006/main" xmlns:r="http://schemas.openxmlformats.org/officeDocument/2006/relationships" show="0">
  <p:cSld>
    <p:spTree>
      <p:nvGrpSpPr>
        <p:cNvPr id="1" name=""/>
        <p:cNvGrpSpPr/>
        <p:nvPr/>
      </p:nvGrpSpPr>
      <p:grpSpPr/>
      <p:sp>
        <p:nvSpPr>
          <p:cNvPr id="2" name="Rectangle 1"/>
          <p:cNvSpPr/>
          <p:nvPr/>
        </p:nvSpPr>
        <p:spPr>
          <a:xfrm>
            <a:off x="0" y="0"/>
            <a:ext cx="9144000" cy="658368"/>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640080"/>
            <a:ext cx="9144000" cy="54864"/>
          </a:xfrm>
          <a:prstGeom prst="rect">
            <a:avLst/>
          </a:pr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256032" y="91440"/>
            <a:ext cx="7498079" cy="502920"/>
          </a:xfrm>
          <a:prstGeom prst="rect">
            <a:avLst/>
          </a:prstGeom>
          <a:noFill/>
        </p:spPr>
        <p:txBody>
          <a:bodyPr wrap="square" anchor="t">
            <a:spAutoFit/>
          </a:bodyPr>
          <a:lstStyle/>
          <a:p>
            <a:pPr algn="l">
              <a:spcAft>
                <a:spcPts val="400"/>
              </a:spcAft>
            </a:pPr>
            <a:r>
              <a:rPr sz="2600" b="1" i="0">
                <a:solidFill>
                  <a:srgbClr val="2E9E4F"/>
                </a:solidFill>
                <a:latin typeface="Calibri"/>
              </a:rPr>
              <a:t>True or false?</a:t>
            </a:r>
          </a:p>
        </p:txBody>
      </p:sp>
      <p:sp>
        <p:nvSpPr>
          <p:cNvPr id="5" name="Rounded Rectangle 4"/>
          <p:cNvSpPr/>
          <p:nvPr/>
        </p:nvSpPr>
        <p:spPr>
          <a:xfrm>
            <a:off x="7452360" y="109728"/>
            <a:ext cx="1536192" cy="420624"/>
          </a:xfrm>
          <a:prstGeom prst="roundRect">
            <a:avLst>
              <a:gd name="adj" fmla="val 15000"/>
            </a:avLst>
          </a:prstGeom>
          <a:solidFill>
            <a:srgbClr val="C8E6A0"/>
          </a:solidFill>
          <a:ln w="12700">
            <a:solidFill>
              <a:srgbClr val="1B7A3A"/>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spcBef>
                <a:spcPts val="0"/>
              </a:spcBef>
              <a:spcAft>
                <a:spcPts val="200"/>
              </a:spcAft>
            </a:pPr>
            <a:r>
              <a:rPr sz="1100" b="1" i="0">
                <a:solidFill>
                  <a:srgbClr val="1B7A3A"/>
                </a:solidFill>
                <a:latin typeface="Calibri"/>
              </a:rPr>
              <a:t>A2 Biology</a:t>
            </a:r>
          </a:p>
        </p:txBody>
      </p:sp>
      <p:sp>
        <p:nvSpPr>
          <p:cNvPr id="6" name="Rectangle 5"/>
          <p:cNvSpPr/>
          <p:nvPr/>
        </p:nvSpPr>
        <p:spPr>
          <a:xfrm>
            <a:off x="0" y="0"/>
            <a:ext cx="73152" cy="6858000"/>
          </a:xfrm>
          <a:prstGeom prst="rect">
            <a:avLst/>
          </a:prstGeom>
          <a:solidFill>
            <a:srgbClr val="6B2D8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3152" y="6565392"/>
            <a:ext cx="9070848" cy="36576"/>
          </a:xfrm>
          <a:prstGeom prst="rect">
            <a:avLst/>
          </a:prstGeom>
          <a:solidFill>
            <a:srgbClr val="7A3E9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228600" y="6583680"/>
            <a:ext cx="1280160" cy="256032"/>
          </a:xfrm>
          <a:prstGeom prst="rect">
            <a:avLst/>
          </a:prstGeom>
          <a:noFill/>
        </p:spPr>
        <p:txBody>
          <a:bodyPr wrap="square" anchor="t">
            <a:spAutoFit/>
          </a:bodyPr>
          <a:lstStyle/>
          <a:p>
            <a:pPr algn="l">
              <a:spcAft>
                <a:spcPts val="400"/>
              </a:spcAft>
            </a:pPr>
            <a:r>
              <a:rPr sz="1000" b="0" i="0">
                <a:solidFill>
                  <a:srgbClr val="6B2D8B"/>
                </a:solidFill>
                <a:latin typeface="Calibri"/>
              </a:rPr>
              <a:t>activity</a:t>
            </a:r>
          </a:p>
        </p:txBody>
      </p:sp>
      <p:sp>
        <p:nvSpPr>
          <p:cNvPr id="9" name="TextBox 8"/>
          <p:cNvSpPr txBox="1"/>
          <p:nvPr/>
        </p:nvSpPr>
        <p:spPr>
          <a:xfrm>
            <a:off x="1554480" y="6583680"/>
            <a:ext cx="6035040" cy="256032"/>
          </a:xfrm>
          <a:prstGeom prst="rect">
            <a:avLst/>
          </a:prstGeom>
          <a:noFill/>
        </p:spPr>
        <p:txBody>
          <a:bodyPr wrap="square" anchor="t">
            <a:spAutoFit/>
          </a:bodyPr>
          <a:lstStyle/>
          <a:p>
            <a:pPr algn="ctr">
              <a:spcAft>
                <a:spcPts val="400"/>
              </a:spcAft>
            </a:pPr>
            <a:r>
              <a:rPr sz="900" b="0" i="0">
                <a:solidFill>
                  <a:srgbClr val="5A5A5A"/>
                </a:solidFill>
                <a:latin typeface="Calibri"/>
              </a:rPr>
              <a:t>Original course © Boardworks Ltd 2009. Reconstructed interactive resource.</a:t>
            </a:r>
          </a:p>
        </p:txBody>
      </p:sp>
      <p:sp>
        <p:nvSpPr>
          <p:cNvPr id="10" name="Rounded Rectangle 9"/>
          <p:cNvSpPr/>
          <p:nvPr/>
        </p:nvSpPr>
        <p:spPr>
          <a:xfrm>
            <a:off x="640080" y="1463040"/>
            <a:ext cx="7863840" cy="2743200"/>
          </a:xfrm>
          <a:prstGeom prst="roundRect">
            <a:avLst>
              <a:gd name="adj" fmla="val 15000"/>
            </a:avLst>
          </a:prstGeom>
          <a:solidFill>
            <a:srgbClr val="E8F5E9"/>
          </a:solidFill>
          <a:ln w="15875">
            <a:solidFill>
              <a:srgbClr val="1B7A3A"/>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spcBef>
                <a:spcPts val="0"/>
              </a:spcBef>
              <a:spcAft>
                <a:spcPts val="200"/>
              </a:spcAft>
            </a:pPr>
            <a:r>
              <a:rPr sz="1600" b="0" i="0">
                <a:solidFill>
                  <a:srgbClr val="1B3A6B"/>
                </a:solidFill>
                <a:latin typeface="Calibri"/>
              </a:rPr>
              <a:t>Correct.  The statement is FALSE.</a:t>
            </a:r>
          </a:p>
          <a:p>
            <a:pPr algn="ctr">
              <a:spcAft>
                <a:spcPts val="200"/>
              </a:spcAft>
            </a:pPr>
            <a:r>
              <a:rPr sz="1600" b="0" i="0">
                <a:solidFill>
                  <a:srgbClr val="1B3A6B"/>
                </a:solidFill>
                <a:latin typeface="Calibri"/>
              </a:rPr>
              <a:t/>
            </a:r>
          </a:p>
          <a:p>
            <a:pPr algn="ctr">
              <a:spcAft>
                <a:spcPts val="200"/>
              </a:spcAft>
            </a:pPr>
            <a:r>
              <a:rPr sz="1600" b="0" i="0">
                <a:solidFill>
                  <a:srgbClr val="1B3A6B"/>
                </a:solidFill>
                <a:latin typeface="Calibri"/>
              </a:rPr>
              <a:t>Every stimulus detected by the sensory receptors causes an action potential to be generated.</a:t>
            </a:r>
          </a:p>
          <a:p>
            <a:pPr algn="ctr">
              <a:spcAft>
                <a:spcPts val="200"/>
              </a:spcAft>
            </a:pPr>
            <a:r>
              <a:rPr sz="1600" b="0" i="0">
                <a:solidFill>
                  <a:srgbClr val="1B3A6B"/>
                </a:solidFill>
                <a:latin typeface="Calibri"/>
              </a:rPr>
              <a:t/>
            </a:r>
          </a:p>
          <a:p>
            <a:pPr algn="ctr">
              <a:spcAft>
                <a:spcPts val="200"/>
              </a:spcAft>
            </a:pPr>
            <a:r>
              <a:rPr sz="1600" b="0" i="0">
                <a:solidFill>
                  <a:srgbClr val="1B3A6B"/>
                </a:solidFill>
                <a:latin typeface="Calibri"/>
              </a:rPr>
              <a:t>The generator potential must reach threshold. Subthreshold stimuli fail to trigger an action potential.</a:t>
            </a:r>
          </a:p>
        </p:txBody>
      </p:sp>
      <p:sp>
        <p:nvSpPr>
          <p:cNvPr id="11" name="Rounded Rectangle 10">
            <a:hlinkClick r:id="rId2" action="ppaction://hlinksldjump"/>
          </p:cNvPr>
          <p:cNvSpPr/>
          <p:nvPr/>
        </p:nvSpPr>
        <p:spPr>
          <a:xfrm>
            <a:off x="3200400" y="4663440"/>
            <a:ext cx="2743200" cy="411480"/>
          </a:xfrm>
          <a:prstGeom prst="roundRect">
            <a:avLst>
              <a:gd name="adj" fmla="val 15000"/>
            </a:avLst>
          </a:prstGeom>
          <a:solidFill>
            <a:srgbClr val="2E9E4F"/>
          </a:solidFill>
          <a:ln w="12700">
            <a:solidFill>
              <a:srgbClr val="2E9E4F"/>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spcBef>
                <a:spcPts val="0"/>
              </a:spcBef>
              <a:spcAft>
                <a:spcPts val="200"/>
              </a:spcAft>
            </a:pPr>
            <a:r>
              <a:rPr sz="1400" b="1" i="0">
                <a:solidFill>
                  <a:srgbClr val="FFFFFF"/>
                </a:solidFill>
                <a:latin typeface="Calibri"/>
              </a:rPr>
              <a:t>Back to quiz</a:t>
            </a:r>
          </a:p>
        </p:txBody>
      </p:sp>
    </p:spTree>
  </p:cSld>
  <p:clrMapOvr>
    <a:masterClrMapping/>
  </p:clrMapOvr>
</p:sld>
</file>

<file path=ppt/slides/slide75.xml><?xml version="1.0" encoding="utf-8"?>
<p:sld xmlns:a="http://schemas.openxmlformats.org/drawingml/2006/main" xmlns:p="http://schemas.openxmlformats.org/presentationml/2006/main" xmlns:r="http://schemas.openxmlformats.org/officeDocument/2006/relationships" show="0">
  <p:cSld>
    <p:spTree>
      <p:nvGrpSpPr>
        <p:cNvPr id="1" name=""/>
        <p:cNvGrpSpPr/>
        <p:nvPr/>
      </p:nvGrpSpPr>
      <p:grpSpPr/>
      <p:sp>
        <p:nvSpPr>
          <p:cNvPr id="2" name="Rectangle 1"/>
          <p:cNvSpPr/>
          <p:nvPr/>
        </p:nvSpPr>
        <p:spPr>
          <a:xfrm>
            <a:off x="0" y="0"/>
            <a:ext cx="9144000" cy="658368"/>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640080"/>
            <a:ext cx="9144000" cy="54864"/>
          </a:xfrm>
          <a:prstGeom prst="rect">
            <a:avLst/>
          </a:pr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256032" y="91440"/>
            <a:ext cx="7498079" cy="502920"/>
          </a:xfrm>
          <a:prstGeom prst="rect">
            <a:avLst/>
          </a:prstGeom>
          <a:noFill/>
        </p:spPr>
        <p:txBody>
          <a:bodyPr wrap="square" anchor="t">
            <a:spAutoFit/>
          </a:bodyPr>
          <a:lstStyle/>
          <a:p>
            <a:pPr algn="l">
              <a:spcAft>
                <a:spcPts val="400"/>
              </a:spcAft>
            </a:pPr>
            <a:r>
              <a:rPr sz="2600" b="1" i="0">
                <a:solidFill>
                  <a:srgbClr val="2E9E4F"/>
                </a:solidFill>
                <a:latin typeface="Calibri"/>
              </a:rPr>
              <a:t>True or false?</a:t>
            </a:r>
          </a:p>
        </p:txBody>
      </p:sp>
      <p:sp>
        <p:nvSpPr>
          <p:cNvPr id="5" name="Rounded Rectangle 4"/>
          <p:cNvSpPr/>
          <p:nvPr/>
        </p:nvSpPr>
        <p:spPr>
          <a:xfrm>
            <a:off x="7452360" y="109728"/>
            <a:ext cx="1536192" cy="420624"/>
          </a:xfrm>
          <a:prstGeom prst="roundRect">
            <a:avLst>
              <a:gd name="adj" fmla="val 15000"/>
            </a:avLst>
          </a:prstGeom>
          <a:solidFill>
            <a:srgbClr val="C8E6A0"/>
          </a:solidFill>
          <a:ln w="12700">
            <a:solidFill>
              <a:srgbClr val="1B7A3A"/>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spcBef>
                <a:spcPts val="0"/>
              </a:spcBef>
              <a:spcAft>
                <a:spcPts val="200"/>
              </a:spcAft>
            </a:pPr>
            <a:r>
              <a:rPr sz="1100" b="1" i="0">
                <a:solidFill>
                  <a:srgbClr val="1B7A3A"/>
                </a:solidFill>
                <a:latin typeface="Calibri"/>
              </a:rPr>
              <a:t>A2 Biology</a:t>
            </a:r>
          </a:p>
        </p:txBody>
      </p:sp>
      <p:sp>
        <p:nvSpPr>
          <p:cNvPr id="6" name="Rectangle 5"/>
          <p:cNvSpPr/>
          <p:nvPr/>
        </p:nvSpPr>
        <p:spPr>
          <a:xfrm>
            <a:off x="0" y="0"/>
            <a:ext cx="73152" cy="6858000"/>
          </a:xfrm>
          <a:prstGeom prst="rect">
            <a:avLst/>
          </a:prstGeom>
          <a:solidFill>
            <a:srgbClr val="6B2D8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3152" y="6565392"/>
            <a:ext cx="9070848" cy="36576"/>
          </a:xfrm>
          <a:prstGeom prst="rect">
            <a:avLst/>
          </a:prstGeom>
          <a:solidFill>
            <a:srgbClr val="7A3E9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228600" y="6583680"/>
            <a:ext cx="1280160" cy="256032"/>
          </a:xfrm>
          <a:prstGeom prst="rect">
            <a:avLst/>
          </a:prstGeom>
          <a:noFill/>
        </p:spPr>
        <p:txBody>
          <a:bodyPr wrap="square" anchor="t">
            <a:spAutoFit/>
          </a:bodyPr>
          <a:lstStyle/>
          <a:p>
            <a:pPr algn="l">
              <a:spcAft>
                <a:spcPts val="400"/>
              </a:spcAft>
            </a:pPr>
            <a:r>
              <a:rPr sz="1000" b="0" i="0">
                <a:solidFill>
                  <a:srgbClr val="6B2D8B"/>
                </a:solidFill>
                <a:latin typeface="Calibri"/>
              </a:rPr>
              <a:t>activity</a:t>
            </a:r>
          </a:p>
        </p:txBody>
      </p:sp>
      <p:sp>
        <p:nvSpPr>
          <p:cNvPr id="9" name="TextBox 8"/>
          <p:cNvSpPr txBox="1"/>
          <p:nvPr/>
        </p:nvSpPr>
        <p:spPr>
          <a:xfrm>
            <a:off x="1554480" y="6583680"/>
            <a:ext cx="6035040" cy="256032"/>
          </a:xfrm>
          <a:prstGeom prst="rect">
            <a:avLst/>
          </a:prstGeom>
          <a:noFill/>
        </p:spPr>
        <p:txBody>
          <a:bodyPr wrap="square" anchor="t">
            <a:spAutoFit/>
          </a:bodyPr>
          <a:lstStyle/>
          <a:p>
            <a:pPr algn="ctr">
              <a:spcAft>
                <a:spcPts val="400"/>
              </a:spcAft>
            </a:pPr>
            <a:r>
              <a:rPr sz="900" b="0" i="0">
                <a:solidFill>
                  <a:srgbClr val="5A5A5A"/>
                </a:solidFill>
                <a:latin typeface="Calibri"/>
              </a:rPr>
              <a:t>Original course © Boardworks Ltd 2009. Reconstructed interactive resource.</a:t>
            </a:r>
          </a:p>
        </p:txBody>
      </p:sp>
      <p:sp>
        <p:nvSpPr>
          <p:cNvPr id="10" name="Rounded Rectangle 9"/>
          <p:cNvSpPr/>
          <p:nvPr/>
        </p:nvSpPr>
        <p:spPr>
          <a:xfrm>
            <a:off x="640080" y="1463040"/>
            <a:ext cx="7863840" cy="2743200"/>
          </a:xfrm>
          <a:prstGeom prst="roundRect">
            <a:avLst>
              <a:gd name="adj" fmla="val 15000"/>
            </a:avLst>
          </a:prstGeom>
          <a:solidFill>
            <a:srgbClr val="E8F5E9"/>
          </a:solidFill>
          <a:ln w="15875">
            <a:solidFill>
              <a:srgbClr val="1B7A3A"/>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spcBef>
                <a:spcPts val="0"/>
              </a:spcBef>
              <a:spcAft>
                <a:spcPts val="200"/>
              </a:spcAft>
            </a:pPr>
            <a:r>
              <a:rPr sz="1600" b="0" i="0">
                <a:solidFill>
                  <a:srgbClr val="1B3A6B"/>
                </a:solidFill>
                <a:latin typeface="Calibri"/>
              </a:rPr>
              <a:t>Correct.  The statement is TRUE.</a:t>
            </a:r>
          </a:p>
          <a:p>
            <a:pPr algn="ctr">
              <a:spcAft>
                <a:spcPts val="200"/>
              </a:spcAft>
            </a:pPr>
            <a:r>
              <a:rPr sz="1600" b="0" i="0">
                <a:solidFill>
                  <a:srgbClr val="1B3A6B"/>
                </a:solidFill>
                <a:latin typeface="Calibri"/>
              </a:rPr>
              <a:t/>
            </a:r>
          </a:p>
          <a:p>
            <a:pPr algn="ctr">
              <a:spcAft>
                <a:spcPts val="200"/>
              </a:spcAft>
            </a:pPr>
            <a:r>
              <a:rPr sz="1600" b="0" i="0">
                <a:solidFill>
                  <a:srgbClr val="1B3A6B"/>
                </a:solidFill>
                <a:latin typeface="Calibri"/>
              </a:rPr>
              <a:t>An action potential is always the same size regardless of the strength of stimuli.</a:t>
            </a:r>
          </a:p>
          <a:p>
            <a:pPr algn="ctr">
              <a:spcAft>
                <a:spcPts val="200"/>
              </a:spcAft>
            </a:pPr>
            <a:r>
              <a:rPr sz="1600" b="0" i="0">
                <a:solidFill>
                  <a:srgbClr val="1B3A6B"/>
                </a:solidFill>
                <a:latin typeface="Calibri"/>
              </a:rPr>
              <a:t/>
            </a:r>
          </a:p>
          <a:p>
            <a:pPr algn="ctr">
              <a:spcAft>
                <a:spcPts val="200"/>
              </a:spcAft>
            </a:pPr>
            <a:r>
              <a:rPr sz="1600" b="0" i="0">
                <a:solidFill>
                  <a:srgbClr val="1B3A6B"/>
                </a:solidFill>
                <a:latin typeface="Calibri"/>
              </a:rPr>
              <a:t>All-or-nothing: once threshold is reached, amplitude is constant. Strength is coded by frequency.</a:t>
            </a:r>
          </a:p>
        </p:txBody>
      </p:sp>
      <p:sp>
        <p:nvSpPr>
          <p:cNvPr id="11" name="Rounded Rectangle 10">
            <a:hlinkClick r:id="rId2" action="ppaction://hlinksldjump"/>
          </p:cNvPr>
          <p:cNvSpPr/>
          <p:nvPr/>
        </p:nvSpPr>
        <p:spPr>
          <a:xfrm>
            <a:off x="3200400" y="4663440"/>
            <a:ext cx="2743200" cy="411480"/>
          </a:xfrm>
          <a:prstGeom prst="roundRect">
            <a:avLst>
              <a:gd name="adj" fmla="val 15000"/>
            </a:avLst>
          </a:prstGeom>
          <a:solidFill>
            <a:srgbClr val="2E9E4F"/>
          </a:solidFill>
          <a:ln w="12700">
            <a:solidFill>
              <a:srgbClr val="2E9E4F"/>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spcBef>
                <a:spcPts val="0"/>
              </a:spcBef>
              <a:spcAft>
                <a:spcPts val="200"/>
              </a:spcAft>
            </a:pPr>
            <a:r>
              <a:rPr sz="1400" b="1" i="0">
                <a:solidFill>
                  <a:srgbClr val="FFFFFF"/>
                </a:solidFill>
                <a:latin typeface="Calibri"/>
              </a:rPr>
              <a:t>Back to quiz</a:t>
            </a:r>
          </a:p>
        </p:txBody>
      </p:sp>
    </p:spTree>
  </p:cSld>
  <p:clrMapOvr>
    <a:masterClrMapping/>
  </p:clrMapOvr>
</p:sld>
</file>

<file path=ppt/slides/slide76.xml><?xml version="1.0" encoding="utf-8"?>
<p:sld xmlns:a="http://schemas.openxmlformats.org/drawingml/2006/main" xmlns:p="http://schemas.openxmlformats.org/presentationml/2006/main" xmlns:r="http://schemas.openxmlformats.org/officeDocument/2006/relationships" show="0">
  <p:cSld>
    <p:spTree>
      <p:nvGrpSpPr>
        <p:cNvPr id="1" name=""/>
        <p:cNvGrpSpPr/>
        <p:nvPr/>
      </p:nvGrpSpPr>
      <p:grpSpPr/>
      <p:sp>
        <p:nvSpPr>
          <p:cNvPr id="2" name="Rectangle 1"/>
          <p:cNvSpPr/>
          <p:nvPr/>
        </p:nvSpPr>
        <p:spPr>
          <a:xfrm>
            <a:off x="0" y="0"/>
            <a:ext cx="9144000" cy="658368"/>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640080"/>
            <a:ext cx="9144000" cy="54864"/>
          </a:xfrm>
          <a:prstGeom prst="rect">
            <a:avLst/>
          </a:pr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256032" y="91440"/>
            <a:ext cx="7498079" cy="502920"/>
          </a:xfrm>
          <a:prstGeom prst="rect">
            <a:avLst/>
          </a:prstGeom>
          <a:noFill/>
        </p:spPr>
        <p:txBody>
          <a:bodyPr wrap="square" anchor="t">
            <a:spAutoFit/>
          </a:bodyPr>
          <a:lstStyle/>
          <a:p>
            <a:pPr algn="l">
              <a:spcAft>
                <a:spcPts val="400"/>
              </a:spcAft>
            </a:pPr>
            <a:r>
              <a:rPr sz="2600" b="1" i="0">
                <a:solidFill>
                  <a:srgbClr val="2E9E4F"/>
                </a:solidFill>
                <a:latin typeface="Calibri"/>
              </a:rPr>
              <a:t>True or false?</a:t>
            </a:r>
          </a:p>
        </p:txBody>
      </p:sp>
      <p:sp>
        <p:nvSpPr>
          <p:cNvPr id="5" name="Rounded Rectangle 4"/>
          <p:cNvSpPr/>
          <p:nvPr/>
        </p:nvSpPr>
        <p:spPr>
          <a:xfrm>
            <a:off x="7452360" y="109728"/>
            <a:ext cx="1536192" cy="420624"/>
          </a:xfrm>
          <a:prstGeom prst="roundRect">
            <a:avLst>
              <a:gd name="adj" fmla="val 15000"/>
            </a:avLst>
          </a:prstGeom>
          <a:solidFill>
            <a:srgbClr val="C8E6A0"/>
          </a:solidFill>
          <a:ln w="12700">
            <a:solidFill>
              <a:srgbClr val="1B7A3A"/>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spcBef>
                <a:spcPts val="0"/>
              </a:spcBef>
              <a:spcAft>
                <a:spcPts val="200"/>
              </a:spcAft>
            </a:pPr>
            <a:r>
              <a:rPr sz="1100" b="1" i="0">
                <a:solidFill>
                  <a:srgbClr val="1B7A3A"/>
                </a:solidFill>
                <a:latin typeface="Calibri"/>
              </a:rPr>
              <a:t>A2 Biology</a:t>
            </a:r>
          </a:p>
        </p:txBody>
      </p:sp>
      <p:sp>
        <p:nvSpPr>
          <p:cNvPr id="6" name="Rectangle 5"/>
          <p:cNvSpPr/>
          <p:nvPr/>
        </p:nvSpPr>
        <p:spPr>
          <a:xfrm>
            <a:off x="0" y="0"/>
            <a:ext cx="73152" cy="6858000"/>
          </a:xfrm>
          <a:prstGeom prst="rect">
            <a:avLst/>
          </a:prstGeom>
          <a:solidFill>
            <a:srgbClr val="6B2D8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3152" y="6565392"/>
            <a:ext cx="9070848" cy="36576"/>
          </a:xfrm>
          <a:prstGeom prst="rect">
            <a:avLst/>
          </a:prstGeom>
          <a:solidFill>
            <a:srgbClr val="7A3E9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228600" y="6583680"/>
            <a:ext cx="1280160" cy="256032"/>
          </a:xfrm>
          <a:prstGeom prst="rect">
            <a:avLst/>
          </a:prstGeom>
          <a:noFill/>
        </p:spPr>
        <p:txBody>
          <a:bodyPr wrap="square" anchor="t">
            <a:spAutoFit/>
          </a:bodyPr>
          <a:lstStyle/>
          <a:p>
            <a:pPr algn="l">
              <a:spcAft>
                <a:spcPts val="400"/>
              </a:spcAft>
            </a:pPr>
            <a:r>
              <a:rPr sz="1000" b="0" i="0">
                <a:solidFill>
                  <a:srgbClr val="6B2D8B"/>
                </a:solidFill>
                <a:latin typeface="Calibri"/>
              </a:rPr>
              <a:t>activity</a:t>
            </a:r>
          </a:p>
        </p:txBody>
      </p:sp>
      <p:sp>
        <p:nvSpPr>
          <p:cNvPr id="9" name="TextBox 8"/>
          <p:cNvSpPr txBox="1"/>
          <p:nvPr/>
        </p:nvSpPr>
        <p:spPr>
          <a:xfrm>
            <a:off x="1554480" y="6583680"/>
            <a:ext cx="6035040" cy="256032"/>
          </a:xfrm>
          <a:prstGeom prst="rect">
            <a:avLst/>
          </a:prstGeom>
          <a:noFill/>
        </p:spPr>
        <p:txBody>
          <a:bodyPr wrap="square" anchor="t">
            <a:spAutoFit/>
          </a:bodyPr>
          <a:lstStyle/>
          <a:p>
            <a:pPr algn="ctr">
              <a:spcAft>
                <a:spcPts val="400"/>
              </a:spcAft>
            </a:pPr>
            <a:r>
              <a:rPr sz="900" b="0" i="0">
                <a:solidFill>
                  <a:srgbClr val="5A5A5A"/>
                </a:solidFill>
                <a:latin typeface="Calibri"/>
              </a:rPr>
              <a:t>Original course © Boardworks Ltd 2009. Reconstructed interactive resource.</a:t>
            </a:r>
          </a:p>
        </p:txBody>
      </p:sp>
      <p:sp>
        <p:nvSpPr>
          <p:cNvPr id="10" name="Rounded Rectangle 9"/>
          <p:cNvSpPr/>
          <p:nvPr/>
        </p:nvSpPr>
        <p:spPr>
          <a:xfrm>
            <a:off x="640080" y="1463040"/>
            <a:ext cx="7863840" cy="2743200"/>
          </a:xfrm>
          <a:prstGeom prst="roundRect">
            <a:avLst>
              <a:gd name="adj" fmla="val 15000"/>
            </a:avLst>
          </a:prstGeom>
          <a:solidFill>
            <a:srgbClr val="FFEBEE"/>
          </a:solidFill>
          <a:ln w="15875">
            <a:solidFill>
              <a:srgbClr val="C62828"/>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spcBef>
                <a:spcPts val="0"/>
              </a:spcBef>
              <a:spcAft>
                <a:spcPts val="200"/>
              </a:spcAft>
            </a:pPr>
            <a:r>
              <a:rPr sz="1600" b="0" i="0">
                <a:solidFill>
                  <a:srgbClr val="1B3A6B"/>
                </a:solidFill>
                <a:latin typeface="Calibri"/>
              </a:rPr>
              <a:t>Incorrect.  The statement is TRUE.</a:t>
            </a:r>
          </a:p>
          <a:p>
            <a:pPr algn="ctr">
              <a:spcAft>
                <a:spcPts val="200"/>
              </a:spcAft>
            </a:pPr>
            <a:r>
              <a:rPr sz="1600" b="0" i="0">
                <a:solidFill>
                  <a:srgbClr val="1B3A6B"/>
                </a:solidFill>
                <a:latin typeface="Calibri"/>
              </a:rPr>
              <a:t/>
            </a:r>
          </a:p>
          <a:p>
            <a:pPr algn="ctr">
              <a:spcAft>
                <a:spcPts val="200"/>
              </a:spcAft>
            </a:pPr>
            <a:r>
              <a:rPr sz="1600" b="0" i="0">
                <a:solidFill>
                  <a:srgbClr val="1B3A6B"/>
                </a:solidFill>
                <a:latin typeface="Calibri"/>
              </a:rPr>
              <a:t>An action potential is always the same size regardless of the strength of stimuli.</a:t>
            </a:r>
          </a:p>
          <a:p>
            <a:pPr algn="ctr">
              <a:spcAft>
                <a:spcPts val="200"/>
              </a:spcAft>
            </a:pPr>
            <a:r>
              <a:rPr sz="1600" b="0" i="0">
                <a:solidFill>
                  <a:srgbClr val="1B3A6B"/>
                </a:solidFill>
                <a:latin typeface="Calibri"/>
              </a:rPr>
              <a:t/>
            </a:r>
          </a:p>
          <a:p>
            <a:pPr algn="ctr">
              <a:spcAft>
                <a:spcPts val="200"/>
              </a:spcAft>
            </a:pPr>
            <a:r>
              <a:rPr sz="1600" b="0" i="0">
                <a:solidFill>
                  <a:srgbClr val="1B3A6B"/>
                </a:solidFill>
                <a:latin typeface="Calibri"/>
              </a:rPr>
              <a:t>All-or-nothing: once threshold is reached, amplitude is constant. Strength is coded by frequency.</a:t>
            </a:r>
          </a:p>
        </p:txBody>
      </p:sp>
      <p:sp>
        <p:nvSpPr>
          <p:cNvPr id="11" name="Rounded Rectangle 10">
            <a:hlinkClick r:id="rId2" action="ppaction://hlinksldjump"/>
          </p:cNvPr>
          <p:cNvSpPr/>
          <p:nvPr/>
        </p:nvSpPr>
        <p:spPr>
          <a:xfrm>
            <a:off x="3200400" y="4663440"/>
            <a:ext cx="2743200" cy="411480"/>
          </a:xfrm>
          <a:prstGeom prst="roundRect">
            <a:avLst>
              <a:gd name="adj" fmla="val 15000"/>
            </a:avLst>
          </a:prstGeom>
          <a:solidFill>
            <a:srgbClr val="2E9E4F"/>
          </a:solidFill>
          <a:ln w="12700">
            <a:solidFill>
              <a:srgbClr val="2E9E4F"/>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spcBef>
                <a:spcPts val="0"/>
              </a:spcBef>
              <a:spcAft>
                <a:spcPts val="200"/>
              </a:spcAft>
            </a:pPr>
            <a:r>
              <a:rPr sz="1400" b="1" i="0">
                <a:solidFill>
                  <a:srgbClr val="FFFFFF"/>
                </a:solidFill>
                <a:latin typeface="Calibri"/>
              </a:rPr>
              <a:t>Back to quiz</a:t>
            </a:r>
          </a:p>
        </p:txBody>
      </p:sp>
    </p:spTree>
  </p:cSld>
  <p:clrMapOvr>
    <a:masterClrMapping/>
  </p:clrMapOvr>
</p:sld>
</file>

<file path=ppt/slides/slide77.xml><?xml version="1.0" encoding="utf-8"?>
<p:sld xmlns:a="http://schemas.openxmlformats.org/drawingml/2006/main" xmlns:p="http://schemas.openxmlformats.org/presentationml/2006/main" xmlns:r="http://schemas.openxmlformats.org/officeDocument/2006/relationships" show="0">
  <p:cSld>
    <p:spTree>
      <p:nvGrpSpPr>
        <p:cNvPr id="1" name=""/>
        <p:cNvGrpSpPr/>
        <p:nvPr/>
      </p:nvGrpSpPr>
      <p:grpSpPr/>
      <p:sp>
        <p:nvSpPr>
          <p:cNvPr id="2" name="Rectangle 1"/>
          <p:cNvSpPr/>
          <p:nvPr/>
        </p:nvSpPr>
        <p:spPr>
          <a:xfrm>
            <a:off x="0" y="0"/>
            <a:ext cx="9144000" cy="658368"/>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640080"/>
            <a:ext cx="9144000" cy="54864"/>
          </a:xfrm>
          <a:prstGeom prst="rect">
            <a:avLst/>
          </a:pr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256032" y="91440"/>
            <a:ext cx="7498079" cy="502920"/>
          </a:xfrm>
          <a:prstGeom prst="rect">
            <a:avLst/>
          </a:prstGeom>
          <a:noFill/>
        </p:spPr>
        <p:txBody>
          <a:bodyPr wrap="square" anchor="t">
            <a:spAutoFit/>
          </a:bodyPr>
          <a:lstStyle/>
          <a:p>
            <a:pPr algn="l">
              <a:spcAft>
                <a:spcPts val="400"/>
              </a:spcAft>
            </a:pPr>
            <a:r>
              <a:rPr sz="2600" b="1" i="0">
                <a:solidFill>
                  <a:srgbClr val="2E9E4F"/>
                </a:solidFill>
                <a:latin typeface="Calibri"/>
              </a:rPr>
              <a:t>True or false?</a:t>
            </a:r>
          </a:p>
        </p:txBody>
      </p:sp>
      <p:sp>
        <p:nvSpPr>
          <p:cNvPr id="5" name="Rounded Rectangle 4"/>
          <p:cNvSpPr/>
          <p:nvPr/>
        </p:nvSpPr>
        <p:spPr>
          <a:xfrm>
            <a:off x="7452360" y="109728"/>
            <a:ext cx="1536192" cy="420624"/>
          </a:xfrm>
          <a:prstGeom prst="roundRect">
            <a:avLst>
              <a:gd name="adj" fmla="val 15000"/>
            </a:avLst>
          </a:prstGeom>
          <a:solidFill>
            <a:srgbClr val="C8E6A0"/>
          </a:solidFill>
          <a:ln w="12700">
            <a:solidFill>
              <a:srgbClr val="1B7A3A"/>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spcBef>
                <a:spcPts val="0"/>
              </a:spcBef>
              <a:spcAft>
                <a:spcPts val="200"/>
              </a:spcAft>
            </a:pPr>
            <a:r>
              <a:rPr sz="1100" b="1" i="0">
                <a:solidFill>
                  <a:srgbClr val="1B7A3A"/>
                </a:solidFill>
                <a:latin typeface="Calibri"/>
              </a:rPr>
              <a:t>A2 Biology</a:t>
            </a:r>
          </a:p>
        </p:txBody>
      </p:sp>
      <p:sp>
        <p:nvSpPr>
          <p:cNvPr id="6" name="Rectangle 5"/>
          <p:cNvSpPr/>
          <p:nvPr/>
        </p:nvSpPr>
        <p:spPr>
          <a:xfrm>
            <a:off x="0" y="0"/>
            <a:ext cx="73152" cy="6858000"/>
          </a:xfrm>
          <a:prstGeom prst="rect">
            <a:avLst/>
          </a:prstGeom>
          <a:solidFill>
            <a:srgbClr val="6B2D8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3152" y="6565392"/>
            <a:ext cx="9070848" cy="36576"/>
          </a:xfrm>
          <a:prstGeom prst="rect">
            <a:avLst/>
          </a:prstGeom>
          <a:solidFill>
            <a:srgbClr val="7A3E9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228600" y="6583680"/>
            <a:ext cx="1280160" cy="256032"/>
          </a:xfrm>
          <a:prstGeom prst="rect">
            <a:avLst/>
          </a:prstGeom>
          <a:noFill/>
        </p:spPr>
        <p:txBody>
          <a:bodyPr wrap="square" anchor="t">
            <a:spAutoFit/>
          </a:bodyPr>
          <a:lstStyle/>
          <a:p>
            <a:pPr algn="l">
              <a:spcAft>
                <a:spcPts val="400"/>
              </a:spcAft>
            </a:pPr>
            <a:r>
              <a:rPr sz="1000" b="0" i="0">
                <a:solidFill>
                  <a:srgbClr val="6B2D8B"/>
                </a:solidFill>
                <a:latin typeface="Calibri"/>
              </a:rPr>
              <a:t>activity</a:t>
            </a:r>
          </a:p>
        </p:txBody>
      </p:sp>
      <p:sp>
        <p:nvSpPr>
          <p:cNvPr id="9" name="TextBox 8"/>
          <p:cNvSpPr txBox="1"/>
          <p:nvPr/>
        </p:nvSpPr>
        <p:spPr>
          <a:xfrm>
            <a:off x="1554480" y="6583680"/>
            <a:ext cx="6035040" cy="256032"/>
          </a:xfrm>
          <a:prstGeom prst="rect">
            <a:avLst/>
          </a:prstGeom>
          <a:noFill/>
        </p:spPr>
        <p:txBody>
          <a:bodyPr wrap="square" anchor="t">
            <a:spAutoFit/>
          </a:bodyPr>
          <a:lstStyle/>
          <a:p>
            <a:pPr algn="ctr">
              <a:spcAft>
                <a:spcPts val="400"/>
              </a:spcAft>
            </a:pPr>
            <a:r>
              <a:rPr sz="900" b="0" i="0">
                <a:solidFill>
                  <a:srgbClr val="5A5A5A"/>
                </a:solidFill>
                <a:latin typeface="Calibri"/>
              </a:rPr>
              <a:t>Original course © Boardworks Ltd 2009. Reconstructed interactive resource.</a:t>
            </a:r>
          </a:p>
        </p:txBody>
      </p:sp>
      <p:sp>
        <p:nvSpPr>
          <p:cNvPr id="10" name="Rounded Rectangle 9"/>
          <p:cNvSpPr/>
          <p:nvPr/>
        </p:nvSpPr>
        <p:spPr>
          <a:xfrm>
            <a:off x="640080" y="1463040"/>
            <a:ext cx="7863840" cy="2743200"/>
          </a:xfrm>
          <a:prstGeom prst="roundRect">
            <a:avLst>
              <a:gd name="adj" fmla="val 15000"/>
            </a:avLst>
          </a:prstGeom>
          <a:solidFill>
            <a:srgbClr val="FFEBEE"/>
          </a:solidFill>
          <a:ln w="15875">
            <a:solidFill>
              <a:srgbClr val="C62828"/>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spcBef>
                <a:spcPts val="0"/>
              </a:spcBef>
              <a:spcAft>
                <a:spcPts val="200"/>
              </a:spcAft>
            </a:pPr>
            <a:r>
              <a:rPr sz="1600" b="0" i="0">
                <a:solidFill>
                  <a:srgbClr val="1B3A6B"/>
                </a:solidFill>
                <a:latin typeface="Calibri"/>
              </a:rPr>
              <a:t>Incorrect.  The statement is FALSE.</a:t>
            </a:r>
          </a:p>
          <a:p>
            <a:pPr algn="ctr">
              <a:spcAft>
                <a:spcPts val="200"/>
              </a:spcAft>
            </a:pPr>
            <a:r>
              <a:rPr sz="1600" b="0" i="0">
                <a:solidFill>
                  <a:srgbClr val="1B3A6B"/>
                </a:solidFill>
                <a:latin typeface="Calibri"/>
              </a:rPr>
              <a:t/>
            </a:r>
          </a:p>
          <a:p>
            <a:pPr algn="ctr">
              <a:spcAft>
                <a:spcPts val="200"/>
              </a:spcAft>
            </a:pPr>
            <a:r>
              <a:rPr sz="1600" b="0" i="0">
                <a:solidFill>
                  <a:srgbClr val="1B3A6B"/>
                </a:solidFill>
                <a:latin typeface="Calibri"/>
              </a:rPr>
              <a:t>The amplitude of the action potential increases when the stimulus is stronger.</a:t>
            </a:r>
          </a:p>
          <a:p>
            <a:pPr algn="ctr">
              <a:spcAft>
                <a:spcPts val="200"/>
              </a:spcAft>
            </a:pPr>
            <a:r>
              <a:rPr sz="1600" b="0" i="0">
                <a:solidFill>
                  <a:srgbClr val="1B3A6B"/>
                </a:solidFill>
                <a:latin typeface="Calibri"/>
              </a:rPr>
              <a:t/>
            </a:r>
          </a:p>
          <a:p>
            <a:pPr algn="ctr">
              <a:spcAft>
                <a:spcPts val="200"/>
              </a:spcAft>
            </a:pPr>
            <a:r>
              <a:rPr sz="1600" b="0" i="0">
                <a:solidFill>
                  <a:srgbClr val="1B3A6B"/>
                </a:solidFill>
                <a:latin typeface="Calibri"/>
              </a:rPr>
              <a:t>Amplitude stays the same. Frequency increases.</a:t>
            </a:r>
          </a:p>
        </p:txBody>
      </p:sp>
      <p:sp>
        <p:nvSpPr>
          <p:cNvPr id="11" name="Rounded Rectangle 10">
            <a:hlinkClick r:id="rId2" action="ppaction://hlinksldjump"/>
          </p:cNvPr>
          <p:cNvSpPr/>
          <p:nvPr/>
        </p:nvSpPr>
        <p:spPr>
          <a:xfrm>
            <a:off x="3200400" y="4663440"/>
            <a:ext cx="2743200" cy="411480"/>
          </a:xfrm>
          <a:prstGeom prst="roundRect">
            <a:avLst>
              <a:gd name="adj" fmla="val 15000"/>
            </a:avLst>
          </a:prstGeom>
          <a:solidFill>
            <a:srgbClr val="2E9E4F"/>
          </a:solidFill>
          <a:ln w="12700">
            <a:solidFill>
              <a:srgbClr val="2E9E4F"/>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spcBef>
                <a:spcPts val="0"/>
              </a:spcBef>
              <a:spcAft>
                <a:spcPts val="200"/>
              </a:spcAft>
            </a:pPr>
            <a:r>
              <a:rPr sz="1400" b="1" i="0">
                <a:solidFill>
                  <a:srgbClr val="FFFFFF"/>
                </a:solidFill>
                <a:latin typeface="Calibri"/>
              </a:rPr>
              <a:t>Back to quiz</a:t>
            </a:r>
          </a:p>
        </p:txBody>
      </p:sp>
    </p:spTree>
  </p:cSld>
  <p:clrMapOvr>
    <a:masterClrMapping/>
  </p:clrMapOvr>
</p:sld>
</file>

<file path=ppt/slides/slide78.xml><?xml version="1.0" encoding="utf-8"?>
<p:sld xmlns:a="http://schemas.openxmlformats.org/drawingml/2006/main" xmlns:p="http://schemas.openxmlformats.org/presentationml/2006/main" xmlns:r="http://schemas.openxmlformats.org/officeDocument/2006/relationships" show="0">
  <p:cSld>
    <p:spTree>
      <p:nvGrpSpPr>
        <p:cNvPr id="1" name=""/>
        <p:cNvGrpSpPr/>
        <p:nvPr/>
      </p:nvGrpSpPr>
      <p:grpSpPr/>
      <p:sp>
        <p:nvSpPr>
          <p:cNvPr id="2" name="Rectangle 1"/>
          <p:cNvSpPr/>
          <p:nvPr/>
        </p:nvSpPr>
        <p:spPr>
          <a:xfrm>
            <a:off x="0" y="0"/>
            <a:ext cx="9144000" cy="658368"/>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640080"/>
            <a:ext cx="9144000" cy="54864"/>
          </a:xfrm>
          <a:prstGeom prst="rect">
            <a:avLst/>
          </a:pr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256032" y="91440"/>
            <a:ext cx="7498079" cy="502920"/>
          </a:xfrm>
          <a:prstGeom prst="rect">
            <a:avLst/>
          </a:prstGeom>
          <a:noFill/>
        </p:spPr>
        <p:txBody>
          <a:bodyPr wrap="square" anchor="t">
            <a:spAutoFit/>
          </a:bodyPr>
          <a:lstStyle/>
          <a:p>
            <a:pPr algn="l">
              <a:spcAft>
                <a:spcPts val="400"/>
              </a:spcAft>
            </a:pPr>
            <a:r>
              <a:rPr sz="2600" b="1" i="0">
                <a:solidFill>
                  <a:srgbClr val="2E9E4F"/>
                </a:solidFill>
                <a:latin typeface="Calibri"/>
              </a:rPr>
              <a:t>True or false?</a:t>
            </a:r>
          </a:p>
        </p:txBody>
      </p:sp>
      <p:sp>
        <p:nvSpPr>
          <p:cNvPr id="5" name="Rounded Rectangle 4"/>
          <p:cNvSpPr/>
          <p:nvPr/>
        </p:nvSpPr>
        <p:spPr>
          <a:xfrm>
            <a:off x="7452360" y="109728"/>
            <a:ext cx="1536192" cy="420624"/>
          </a:xfrm>
          <a:prstGeom prst="roundRect">
            <a:avLst>
              <a:gd name="adj" fmla="val 15000"/>
            </a:avLst>
          </a:prstGeom>
          <a:solidFill>
            <a:srgbClr val="C8E6A0"/>
          </a:solidFill>
          <a:ln w="12700">
            <a:solidFill>
              <a:srgbClr val="1B7A3A"/>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spcBef>
                <a:spcPts val="0"/>
              </a:spcBef>
              <a:spcAft>
                <a:spcPts val="200"/>
              </a:spcAft>
            </a:pPr>
            <a:r>
              <a:rPr sz="1100" b="1" i="0">
                <a:solidFill>
                  <a:srgbClr val="1B7A3A"/>
                </a:solidFill>
                <a:latin typeface="Calibri"/>
              </a:rPr>
              <a:t>A2 Biology</a:t>
            </a:r>
          </a:p>
        </p:txBody>
      </p:sp>
      <p:sp>
        <p:nvSpPr>
          <p:cNvPr id="6" name="Rectangle 5"/>
          <p:cNvSpPr/>
          <p:nvPr/>
        </p:nvSpPr>
        <p:spPr>
          <a:xfrm>
            <a:off x="0" y="0"/>
            <a:ext cx="73152" cy="6858000"/>
          </a:xfrm>
          <a:prstGeom prst="rect">
            <a:avLst/>
          </a:prstGeom>
          <a:solidFill>
            <a:srgbClr val="6B2D8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3152" y="6565392"/>
            <a:ext cx="9070848" cy="36576"/>
          </a:xfrm>
          <a:prstGeom prst="rect">
            <a:avLst/>
          </a:prstGeom>
          <a:solidFill>
            <a:srgbClr val="7A3E9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228600" y="6583680"/>
            <a:ext cx="1280160" cy="256032"/>
          </a:xfrm>
          <a:prstGeom prst="rect">
            <a:avLst/>
          </a:prstGeom>
          <a:noFill/>
        </p:spPr>
        <p:txBody>
          <a:bodyPr wrap="square" anchor="t">
            <a:spAutoFit/>
          </a:bodyPr>
          <a:lstStyle/>
          <a:p>
            <a:pPr algn="l">
              <a:spcAft>
                <a:spcPts val="400"/>
              </a:spcAft>
            </a:pPr>
            <a:r>
              <a:rPr sz="1000" b="0" i="0">
                <a:solidFill>
                  <a:srgbClr val="6B2D8B"/>
                </a:solidFill>
                <a:latin typeface="Calibri"/>
              </a:rPr>
              <a:t>activity</a:t>
            </a:r>
          </a:p>
        </p:txBody>
      </p:sp>
      <p:sp>
        <p:nvSpPr>
          <p:cNvPr id="9" name="TextBox 8"/>
          <p:cNvSpPr txBox="1"/>
          <p:nvPr/>
        </p:nvSpPr>
        <p:spPr>
          <a:xfrm>
            <a:off x="1554480" y="6583680"/>
            <a:ext cx="6035040" cy="256032"/>
          </a:xfrm>
          <a:prstGeom prst="rect">
            <a:avLst/>
          </a:prstGeom>
          <a:noFill/>
        </p:spPr>
        <p:txBody>
          <a:bodyPr wrap="square" anchor="t">
            <a:spAutoFit/>
          </a:bodyPr>
          <a:lstStyle/>
          <a:p>
            <a:pPr algn="ctr">
              <a:spcAft>
                <a:spcPts val="400"/>
              </a:spcAft>
            </a:pPr>
            <a:r>
              <a:rPr sz="900" b="0" i="0">
                <a:solidFill>
                  <a:srgbClr val="5A5A5A"/>
                </a:solidFill>
                <a:latin typeface="Calibri"/>
              </a:rPr>
              <a:t>Original course © Boardworks Ltd 2009. Reconstructed interactive resource.</a:t>
            </a:r>
          </a:p>
        </p:txBody>
      </p:sp>
      <p:sp>
        <p:nvSpPr>
          <p:cNvPr id="10" name="Rounded Rectangle 9"/>
          <p:cNvSpPr/>
          <p:nvPr/>
        </p:nvSpPr>
        <p:spPr>
          <a:xfrm>
            <a:off x="640080" y="1463040"/>
            <a:ext cx="7863840" cy="2743200"/>
          </a:xfrm>
          <a:prstGeom prst="roundRect">
            <a:avLst>
              <a:gd name="adj" fmla="val 15000"/>
            </a:avLst>
          </a:prstGeom>
          <a:solidFill>
            <a:srgbClr val="E8F5E9"/>
          </a:solidFill>
          <a:ln w="15875">
            <a:solidFill>
              <a:srgbClr val="1B7A3A"/>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spcBef>
                <a:spcPts val="0"/>
              </a:spcBef>
              <a:spcAft>
                <a:spcPts val="200"/>
              </a:spcAft>
            </a:pPr>
            <a:r>
              <a:rPr sz="1600" b="0" i="0">
                <a:solidFill>
                  <a:srgbClr val="1B3A6B"/>
                </a:solidFill>
                <a:latin typeface="Calibri"/>
              </a:rPr>
              <a:t>Correct.  The statement is FALSE.</a:t>
            </a:r>
          </a:p>
          <a:p>
            <a:pPr algn="ctr">
              <a:spcAft>
                <a:spcPts val="200"/>
              </a:spcAft>
            </a:pPr>
            <a:r>
              <a:rPr sz="1600" b="0" i="0">
                <a:solidFill>
                  <a:srgbClr val="1B3A6B"/>
                </a:solidFill>
                <a:latin typeface="Calibri"/>
              </a:rPr>
              <a:t/>
            </a:r>
          </a:p>
          <a:p>
            <a:pPr algn="ctr">
              <a:spcAft>
                <a:spcPts val="200"/>
              </a:spcAft>
            </a:pPr>
            <a:r>
              <a:rPr sz="1600" b="0" i="0">
                <a:solidFill>
                  <a:srgbClr val="1B3A6B"/>
                </a:solidFill>
                <a:latin typeface="Calibri"/>
              </a:rPr>
              <a:t>The amplitude of the action potential increases when the stimulus is stronger.</a:t>
            </a:r>
          </a:p>
          <a:p>
            <a:pPr algn="ctr">
              <a:spcAft>
                <a:spcPts val="200"/>
              </a:spcAft>
            </a:pPr>
            <a:r>
              <a:rPr sz="1600" b="0" i="0">
                <a:solidFill>
                  <a:srgbClr val="1B3A6B"/>
                </a:solidFill>
                <a:latin typeface="Calibri"/>
              </a:rPr>
              <a:t/>
            </a:r>
          </a:p>
          <a:p>
            <a:pPr algn="ctr">
              <a:spcAft>
                <a:spcPts val="200"/>
              </a:spcAft>
            </a:pPr>
            <a:r>
              <a:rPr sz="1600" b="0" i="0">
                <a:solidFill>
                  <a:srgbClr val="1B3A6B"/>
                </a:solidFill>
                <a:latin typeface="Calibri"/>
              </a:rPr>
              <a:t>Amplitude stays the same. Frequency increases.</a:t>
            </a:r>
          </a:p>
        </p:txBody>
      </p:sp>
      <p:sp>
        <p:nvSpPr>
          <p:cNvPr id="11" name="Rounded Rectangle 10">
            <a:hlinkClick r:id="rId2" action="ppaction://hlinksldjump"/>
          </p:cNvPr>
          <p:cNvSpPr/>
          <p:nvPr/>
        </p:nvSpPr>
        <p:spPr>
          <a:xfrm>
            <a:off x="3200400" y="4663440"/>
            <a:ext cx="2743200" cy="411480"/>
          </a:xfrm>
          <a:prstGeom prst="roundRect">
            <a:avLst>
              <a:gd name="adj" fmla="val 15000"/>
            </a:avLst>
          </a:prstGeom>
          <a:solidFill>
            <a:srgbClr val="2E9E4F"/>
          </a:solidFill>
          <a:ln w="12700">
            <a:solidFill>
              <a:srgbClr val="2E9E4F"/>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spcBef>
                <a:spcPts val="0"/>
              </a:spcBef>
              <a:spcAft>
                <a:spcPts val="200"/>
              </a:spcAft>
            </a:pPr>
            <a:r>
              <a:rPr sz="1400" b="1" i="0">
                <a:solidFill>
                  <a:srgbClr val="FFFFFF"/>
                </a:solidFill>
                <a:latin typeface="Calibri"/>
              </a:rPr>
              <a:t>Back to quiz</a:t>
            </a:r>
          </a:p>
        </p:txBody>
      </p:sp>
    </p:spTree>
  </p:cSld>
  <p:clrMapOvr>
    <a:masterClrMapping/>
  </p:clrMapOvr>
</p:sld>
</file>

<file path=ppt/slides/slide79.xml><?xml version="1.0" encoding="utf-8"?>
<p:sld xmlns:a="http://schemas.openxmlformats.org/drawingml/2006/main" xmlns:p="http://schemas.openxmlformats.org/presentationml/2006/main" xmlns:r="http://schemas.openxmlformats.org/officeDocument/2006/relationships" show="0">
  <p:cSld>
    <p:spTree>
      <p:nvGrpSpPr>
        <p:cNvPr id="1" name=""/>
        <p:cNvGrpSpPr/>
        <p:nvPr/>
      </p:nvGrpSpPr>
      <p:grpSpPr/>
      <p:sp>
        <p:nvSpPr>
          <p:cNvPr id="2" name="Rectangle 1"/>
          <p:cNvSpPr/>
          <p:nvPr/>
        </p:nvSpPr>
        <p:spPr>
          <a:xfrm>
            <a:off x="0" y="0"/>
            <a:ext cx="9144000" cy="658368"/>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640080"/>
            <a:ext cx="9144000" cy="54864"/>
          </a:xfrm>
          <a:prstGeom prst="rect">
            <a:avLst/>
          </a:pr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256032" y="91440"/>
            <a:ext cx="7498079" cy="502920"/>
          </a:xfrm>
          <a:prstGeom prst="rect">
            <a:avLst/>
          </a:prstGeom>
          <a:noFill/>
        </p:spPr>
        <p:txBody>
          <a:bodyPr wrap="square" anchor="t">
            <a:spAutoFit/>
          </a:bodyPr>
          <a:lstStyle/>
          <a:p>
            <a:pPr algn="l">
              <a:spcAft>
                <a:spcPts val="400"/>
              </a:spcAft>
            </a:pPr>
            <a:r>
              <a:rPr sz="2600" b="1" i="0">
                <a:solidFill>
                  <a:srgbClr val="2E9E4F"/>
                </a:solidFill>
                <a:latin typeface="Calibri"/>
              </a:rPr>
              <a:t>True or false?</a:t>
            </a:r>
          </a:p>
        </p:txBody>
      </p:sp>
      <p:sp>
        <p:nvSpPr>
          <p:cNvPr id="5" name="Rounded Rectangle 4"/>
          <p:cNvSpPr/>
          <p:nvPr/>
        </p:nvSpPr>
        <p:spPr>
          <a:xfrm>
            <a:off x="7452360" y="109728"/>
            <a:ext cx="1536192" cy="420624"/>
          </a:xfrm>
          <a:prstGeom prst="roundRect">
            <a:avLst>
              <a:gd name="adj" fmla="val 15000"/>
            </a:avLst>
          </a:prstGeom>
          <a:solidFill>
            <a:srgbClr val="C8E6A0"/>
          </a:solidFill>
          <a:ln w="12700">
            <a:solidFill>
              <a:srgbClr val="1B7A3A"/>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spcBef>
                <a:spcPts val="0"/>
              </a:spcBef>
              <a:spcAft>
                <a:spcPts val="200"/>
              </a:spcAft>
            </a:pPr>
            <a:r>
              <a:rPr sz="1100" b="1" i="0">
                <a:solidFill>
                  <a:srgbClr val="1B7A3A"/>
                </a:solidFill>
                <a:latin typeface="Calibri"/>
              </a:rPr>
              <a:t>A2 Biology</a:t>
            </a:r>
          </a:p>
        </p:txBody>
      </p:sp>
      <p:sp>
        <p:nvSpPr>
          <p:cNvPr id="6" name="Rectangle 5"/>
          <p:cNvSpPr/>
          <p:nvPr/>
        </p:nvSpPr>
        <p:spPr>
          <a:xfrm>
            <a:off x="0" y="0"/>
            <a:ext cx="73152" cy="6858000"/>
          </a:xfrm>
          <a:prstGeom prst="rect">
            <a:avLst/>
          </a:prstGeom>
          <a:solidFill>
            <a:srgbClr val="6B2D8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3152" y="6565392"/>
            <a:ext cx="9070848" cy="36576"/>
          </a:xfrm>
          <a:prstGeom prst="rect">
            <a:avLst/>
          </a:prstGeom>
          <a:solidFill>
            <a:srgbClr val="7A3E9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228600" y="6583680"/>
            <a:ext cx="1280160" cy="256032"/>
          </a:xfrm>
          <a:prstGeom prst="rect">
            <a:avLst/>
          </a:prstGeom>
          <a:noFill/>
        </p:spPr>
        <p:txBody>
          <a:bodyPr wrap="square" anchor="t">
            <a:spAutoFit/>
          </a:bodyPr>
          <a:lstStyle/>
          <a:p>
            <a:pPr algn="l">
              <a:spcAft>
                <a:spcPts val="400"/>
              </a:spcAft>
            </a:pPr>
            <a:r>
              <a:rPr sz="1000" b="0" i="0">
                <a:solidFill>
                  <a:srgbClr val="6B2D8B"/>
                </a:solidFill>
                <a:latin typeface="Calibri"/>
              </a:rPr>
              <a:t>activity</a:t>
            </a:r>
          </a:p>
        </p:txBody>
      </p:sp>
      <p:sp>
        <p:nvSpPr>
          <p:cNvPr id="9" name="TextBox 8"/>
          <p:cNvSpPr txBox="1"/>
          <p:nvPr/>
        </p:nvSpPr>
        <p:spPr>
          <a:xfrm>
            <a:off x="1554480" y="6583680"/>
            <a:ext cx="6035040" cy="256032"/>
          </a:xfrm>
          <a:prstGeom prst="rect">
            <a:avLst/>
          </a:prstGeom>
          <a:noFill/>
        </p:spPr>
        <p:txBody>
          <a:bodyPr wrap="square" anchor="t">
            <a:spAutoFit/>
          </a:bodyPr>
          <a:lstStyle/>
          <a:p>
            <a:pPr algn="ctr">
              <a:spcAft>
                <a:spcPts val="400"/>
              </a:spcAft>
            </a:pPr>
            <a:r>
              <a:rPr sz="900" b="0" i="0">
                <a:solidFill>
                  <a:srgbClr val="5A5A5A"/>
                </a:solidFill>
                <a:latin typeface="Calibri"/>
              </a:rPr>
              <a:t>Original course © Boardworks Ltd 2009. Reconstructed interactive resource.</a:t>
            </a:r>
          </a:p>
        </p:txBody>
      </p:sp>
      <p:sp>
        <p:nvSpPr>
          <p:cNvPr id="10" name="Rounded Rectangle 9"/>
          <p:cNvSpPr/>
          <p:nvPr/>
        </p:nvSpPr>
        <p:spPr>
          <a:xfrm>
            <a:off x="640080" y="1463040"/>
            <a:ext cx="7863840" cy="2743200"/>
          </a:xfrm>
          <a:prstGeom prst="roundRect">
            <a:avLst>
              <a:gd name="adj" fmla="val 15000"/>
            </a:avLst>
          </a:prstGeom>
          <a:solidFill>
            <a:srgbClr val="FFEBEE"/>
          </a:solidFill>
          <a:ln w="15875">
            <a:solidFill>
              <a:srgbClr val="C62828"/>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spcBef>
                <a:spcPts val="0"/>
              </a:spcBef>
              <a:spcAft>
                <a:spcPts val="200"/>
              </a:spcAft>
            </a:pPr>
            <a:r>
              <a:rPr sz="1600" b="0" i="0">
                <a:solidFill>
                  <a:srgbClr val="1B3A6B"/>
                </a:solidFill>
                <a:latin typeface="Calibri"/>
              </a:rPr>
              <a:t>Incorrect.  The statement is FALSE.</a:t>
            </a:r>
          </a:p>
          <a:p>
            <a:pPr algn="ctr">
              <a:spcAft>
                <a:spcPts val="200"/>
              </a:spcAft>
            </a:pPr>
            <a:r>
              <a:rPr sz="1600" b="0" i="0">
                <a:solidFill>
                  <a:srgbClr val="1B3A6B"/>
                </a:solidFill>
                <a:latin typeface="Calibri"/>
              </a:rPr>
              <a:t/>
            </a:r>
          </a:p>
          <a:p>
            <a:pPr algn="ctr">
              <a:spcAft>
                <a:spcPts val="200"/>
              </a:spcAft>
            </a:pPr>
            <a:r>
              <a:rPr sz="1600" b="0" i="0">
                <a:solidFill>
                  <a:srgbClr val="1B3A6B"/>
                </a:solidFill>
                <a:latin typeface="Calibri"/>
              </a:rPr>
              <a:t>In an unmyelinated neurone an action potential will travel by saltatory conduction.</a:t>
            </a:r>
          </a:p>
          <a:p>
            <a:pPr algn="ctr">
              <a:spcAft>
                <a:spcPts val="200"/>
              </a:spcAft>
            </a:pPr>
            <a:r>
              <a:rPr sz="1600" b="0" i="0">
                <a:solidFill>
                  <a:srgbClr val="1B3A6B"/>
                </a:solidFill>
                <a:latin typeface="Calibri"/>
              </a:rPr>
              <a:t/>
            </a:r>
          </a:p>
          <a:p>
            <a:pPr algn="ctr">
              <a:spcAft>
                <a:spcPts val="200"/>
              </a:spcAft>
            </a:pPr>
            <a:r>
              <a:rPr sz="1600" b="0" i="0">
                <a:solidFill>
                  <a:srgbClr val="1B3A6B"/>
                </a:solidFill>
                <a:latin typeface="Calibri"/>
              </a:rPr>
              <a:t>Saltatory conduction requires myelin and nodes of Ranvier. Unmyelinated axons use continuous conduction.</a:t>
            </a:r>
          </a:p>
        </p:txBody>
      </p:sp>
      <p:sp>
        <p:nvSpPr>
          <p:cNvPr id="11" name="Rounded Rectangle 10">
            <a:hlinkClick r:id="rId2" action="ppaction://hlinksldjump"/>
          </p:cNvPr>
          <p:cNvSpPr/>
          <p:nvPr/>
        </p:nvSpPr>
        <p:spPr>
          <a:xfrm>
            <a:off x="3200400" y="4663440"/>
            <a:ext cx="2743200" cy="411480"/>
          </a:xfrm>
          <a:prstGeom prst="roundRect">
            <a:avLst>
              <a:gd name="adj" fmla="val 15000"/>
            </a:avLst>
          </a:prstGeom>
          <a:solidFill>
            <a:srgbClr val="2E9E4F"/>
          </a:solidFill>
          <a:ln w="12700">
            <a:solidFill>
              <a:srgbClr val="2E9E4F"/>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spcBef>
                <a:spcPts val="0"/>
              </a:spcBef>
              <a:spcAft>
                <a:spcPts val="200"/>
              </a:spcAft>
            </a:pPr>
            <a:r>
              <a:rPr sz="1400" b="1" i="0">
                <a:solidFill>
                  <a:srgbClr val="FFFFFF"/>
                </a:solidFill>
                <a:latin typeface="Calibri"/>
              </a:rPr>
              <a:t>Back to quiz</a:t>
            </a:r>
          </a:p>
        </p:txBody>
      </p:sp>
    </p:spTree>
  </p:cSld>
  <p:clrMapOvr>
    <a:masterClrMapping/>
  </p:clrMapOvr>
</p:sld>
</file>

<file path=ppt/slides/slide80.xml><?xml version="1.0" encoding="utf-8"?>
<p:sld xmlns:a="http://schemas.openxmlformats.org/drawingml/2006/main" xmlns:p="http://schemas.openxmlformats.org/presentationml/2006/main" xmlns:r="http://schemas.openxmlformats.org/officeDocument/2006/relationships" show="0">
  <p:cSld>
    <p:spTree>
      <p:nvGrpSpPr>
        <p:cNvPr id="1" name=""/>
        <p:cNvGrpSpPr/>
        <p:nvPr/>
      </p:nvGrpSpPr>
      <p:grpSpPr/>
      <p:sp>
        <p:nvSpPr>
          <p:cNvPr id="2" name="Rectangle 1"/>
          <p:cNvSpPr/>
          <p:nvPr/>
        </p:nvSpPr>
        <p:spPr>
          <a:xfrm>
            <a:off x="0" y="0"/>
            <a:ext cx="9144000" cy="658368"/>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640080"/>
            <a:ext cx="9144000" cy="54864"/>
          </a:xfrm>
          <a:prstGeom prst="rect">
            <a:avLst/>
          </a:pr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256032" y="91440"/>
            <a:ext cx="7498079" cy="502920"/>
          </a:xfrm>
          <a:prstGeom prst="rect">
            <a:avLst/>
          </a:prstGeom>
          <a:noFill/>
        </p:spPr>
        <p:txBody>
          <a:bodyPr wrap="square" anchor="t">
            <a:spAutoFit/>
          </a:bodyPr>
          <a:lstStyle/>
          <a:p>
            <a:pPr algn="l">
              <a:spcAft>
                <a:spcPts val="400"/>
              </a:spcAft>
            </a:pPr>
            <a:r>
              <a:rPr sz="2600" b="1" i="0">
                <a:solidFill>
                  <a:srgbClr val="2E9E4F"/>
                </a:solidFill>
                <a:latin typeface="Calibri"/>
              </a:rPr>
              <a:t>True or false?</a:t>
            </a:r>
          </a:p>
        </p:txBody>
      </p:sp>
      <p:sp>
        <p:nvSpPr>
          <p:cNvPr id="5" name="Rounded Rectangle 4"/>
          <p:cNvSpPr/>
          <p:nvPr/>
        </p:nvSpPr>
        <p:spPr>
          <a:xfrm>
            <a:off x="7452360" y="109728"/>
            <a:ext cx="1536192" cy="420624"/>
          </a:xfrm>
          <a:prstGeom prst="roundRect">
            <a:avLst>
              <a:gd name="adj" fmla="val 15000"/>
            </a:avLst>
          </a:prstGeom>
          <a:solidFill>
            <a:srgbClr val="C8E6A0"/>
          </a:solidFill>
          <a:ln w="12700">
            <a:solidFill>
              <a:srgbClr val="1B7A3A"/>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spcBef>
                <a:spcPts val="0"/>
              </a:spcBef>
              <a:spcAft>
                <a:spcPts val="200"/>
              </a:spcAft>
            </a:pPr>
            <a:r>
              <a:rPr sz="1100" b="1" i="0">
                <a:solidFill>
                  <a:srgbClr val="1B7A3A"/>
                </a:solidFill>
                <a:latin typeface="Calibri"/>
              </a:rPr>
              <a:t>A2 Biology</a:t>
            </a:r>
          </a:p>
        </p:txBody>
      </p:sp>
      <p:sp>
        <p:nvSpPr>
          <p:cNvPr id="6" name="Rectangle 5"/>
          <p:cNvSpPr/>
          <p:nvPr/>
        </p:nvSpPr>
        <p:spPr>
          <a:xfrm>
            <a:off x="0" y="0"/>
            <a:ext cx="73152" cy="6858000"/>
          </a:xfrm>
          <a:prstGeom prst="rect">
            <a:avLst/>
          </a:prstGeom>
          <a:solidFill>
            <a:srgbClr val="6B2D8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3152" y="6565392"/>
            <a:ext cx="9070848" cy="36576"/>
          </a:xfrm>
          <a:prstGeom prst="rect">
            <a:avLst/>
          </a:prstGeom>
          <a:solidFill>
            <a:srgbClr val="7A3E9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228600" y="6583680"/>
            <a:ext cx="1280160" cy="256032"/>
          </a:xfrm>
          <a:prstGeom prst="rect">
            <a:avLst/>
          </a:prstGeom>
          <a:noFill/>
        </p:spPr>
        <p:txBody>
          <a:bodyPr wrap="square" anchor="t">
            <a:spAutoFit/>
          </a:bodyPr>
          <a:lstStyle/>
          <a:p>
            <a:pPr algn="l">
              <a:spcAft>
                <a:spcPts val="400"/>
              </a:spcAft>
            </a:pPr>
            <a:r>
              <a:rPr sz="1000" b="0" i="0">
                <a:solidFill>
                  <a:srgbClr val="6B2D8B"/>
                </a:solidFill>
                <a:latin typeface="Calibri"/>
              </a:rPr>
              <a:t>activity</a:t>
            </a:r>
          </a:p>
        </p:txBody>
      </p:sp>
      <p:sp>
        <p:nvSpPr>
          <p:cNvPr id="9" name="TextBox 8"/>
          <p:cNvSpPr txBox="1"/>
          <p:nvPr/>
        </p:nvSpPr>
        <p:spPr>
          <a:xfrm>
            <a:off x="1554480" y="6583680"/>
            <a:ext cx="6035040" cy="256032"/>
          </a:xfrm>
          <a:prstGeom prst="rect">
            <a:avLst/>
          </a:prstGeom>
          <a:noFill/>
        </p:spPr>
        <p:txBody>
          <a:bodyPr wrap="square" anchor="t">
            <a:spAutoFit/>
          </a:bodyPr>
          <a:lstStyle/>
          <a:p>
            <a:pPr algn="ctr">
              <a:spcAft>
                <a:spcPts val="400"/>
              </a:spcAft>
            </a:pPr>
            <a:r>
              <a:rPr sz="900" b="0" i="0">
                <a:solidFill>
                  <a:srgbClr val="5A5A5A"/>
                </a:solidFill>
                <a:latin typeface="Calibri"/>
              </a:rPr>
              <a:t>Original course © Boardworks Ltd 2009. Reconstructed interactive resource.</a:t>
            </a:r>
          </a:p>
        </p:txBody>
      </p:sp>
      <p:sp>
        <p:nvSpPr>
          <p:cNvPr id="10" name="Rounded Rectangle 9"/>
          <p:cNvSpPr/>
          <p:nvPr/>
        </p:nvSpPr>
        <p:spPr>
          <a:xfrm>
            <a:off x="640080" y="1463040"/>
            <a:ext cx="7863840" cy="2743200"/>
          </a:xfrm>
          <a:prstGeom prst="roundRect">
            <a:avLst>
              <a:gd name="adj" fmla="val 15000"/>
            </a:avLst>
          </a:prstGeom>
          <a:solidFill>
            <a:srgbClr val="E8F5E9"/>
          </a:solidFill>
          <a:ln w="15875">
            <a:solidFill>
              <a:srgbClr val="1B7A3A"/>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spcBef>
                <a:spcPts val="0"/>
              </a:spcBef>
              <a:spcAft>
                <a:spcPts val="200"/>
              </a:spcAft>
            </a:pPr>
            <a:r>
              <a:rPr sz="1600" b="0" i="0">
                <a:solidFill>
                  <a:srgbClr val="1B3A6B"/>
                </a:solidFill>
                <a:latin typeface="Calibri"/>
              </a:rPr>
              <a:t>Correct.  The statement is FALSE.</a:t>
            </a:r>
          </a:p>
          <a:p>
            <a:pPr algn="ctr">
              <a:spcAft>
                <a:spcPts val="200"/>
              </a:spcAft>
            </a:pPr>
            <a:r>
              <a:rPr sz="1600" b="0" i="0">
                <a:solidFill>
                  <a:srgbClr val="1B3A6B"/>
                </a:solidFill>
                <a:latin typeface="Calibri"/>
              </a:rPr>
              <a:t/>
            </a:r>
          </a:p>
          <a:p>
            <a:pPr algn="ctr">
              <a:spcAft>
                <a:spcPts val="200"/>
              </a:spcAft>
            </a:pPr>
            <a:r>
              <a:rPr sz="1600" b="0" i="0">
                <a:solidFill>
                  <a:srgbClr val="1B3A6B"/>
                </a:solidFill>
                <a:latin typeface="Calibri"/>
              </a:rPr>
              <a:t>In an unmyelinated neurone an action potential will travel by saltatory conduction.</a:t>
            </a:r>
          </a:p>
          <a:p>
            <a:pPr algn="ctr">
              <a:spcAft>
                <a:spcPts val="200"/>
              </a:spcAft>
            </a:pPr>
            <a:r>
              <a:rPr sz="1600" b="0" i="0">
                <a:solidFill>
                  <a:srgbClr val="1B3A6B"/>
                </a:solidFill>
                <a:latin typeface="Calibri"/>
              </a:rPr>
              <a:t/>
            </a:r>
          </a:p>
          <a:p>
            <a:pPr algn="ctr">
              <a:spcAft>
                <a:spcPts val="200"/>
              </a:spcAft>
            </a:pPr>
            <a:r>
              <a:rPr sz="1600" b="0" i="0">
                <a:solidFill>
                  <a:srgbClr val="1B3A6B"/>
                </a:solidFill>
                <a:latin typeface="Calibri"/>
              </a:rPr>
              <a:t>Saltatory conduction requires myelin and nodes of Ranvier. Unmyelinated axons use continuous conduction.</a:t>
            </a:r>
          </a:p>
        </p:txBody>
      </p:sp>
      <p:sp>
        <p:nvSpPr>
          <p:cNvPr id="11" name="Rounded Rectangle 10">
            <a:hlinkClick r:id="rId2" action="ppaction://hlinksldjump"/>
          </p:cNvPr>
          <p:cNvSpPr/>
          <p:nvPr/>
        </p:nvSpPr>
        <p:spPr>
          <a:xfrm>
            <a:off x="3200400" y="4663440"/>
            <a:ext cx="2743200" cy="411480"/>
          </a:xfrm>
          <a:prstGeom prst="roundRect">
            <a:avLst>
              <a:gd name="adj" fmla="val 15000"/>
            </a:avLst>
          </a:prstGeom>
          <a:solidFill>
            <a:srgbClr val="2E9E4F"/>
          </a:solidFill>
          <a:ln w="12700">
            <a:solidFill>
              <a:srgbClr val="2E9E4F"/>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spcBef>
                <a:spcPts val="0"/>
              </a:spcBef>
              <a:spcAft>
                <a:spcPts val="200"/>
              </a:spcAft>
            </a:pPr>
            <a:r>
              <a:rPr sz="1400" b="1" i="0">
                <a:solidFill>
                  <a:srgbClr val="FFFFFF"/>
                </a:solidFill>
                <a:latin typeface="Calibri"/>
              </a:rPr>
              <a:t>Back to quiz</a:t>
            </a:r>
          </a:p>
        </p:txBody>
      </p:sp>
    </p:spTree>
  </p:cSld>
  <p:clrMapOvr>
    <a:masterClrMapping/>
  </p:clrMapOvr>
</p:sld>
</file>

<file path=ppt/slides/slide81.xml><?xml version="1.0" encoding="utf-8"?>
<p:sld xmlns:a="http://schemas.openxmlformats.org/drawingml/2006/main" xmlns:p="http://schemas.openxmlformats.org/presentationml/2006/main" xmlns:r="http://schemas.openxmlformats.org/officeDocument/2006/relationships" show="0">
  <p:cSld>
    <p:spTree>
      <p:nvGrpSpPr>
        <p:cNvPr id="1" name=""/>
        <p:cNvGrpSpPr/>
        <p:nvPr/>
      </p:nvGrpSpPr>
      <p:grpSpPr/>
      <p:sp>
        <p:nvSpPr>
          <p:cNvPr id="2" name="Rectangle 1"/>
          <p:cNvSpPr/>
          <p:nvPr/>
        </p:nvSpPr>
        <p:spPr>
          <a:xfrm>
            <a:off x="0" y="0"/>
            <a:ext cx="9144000" cy="658368"/>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640080"/>
            <a:ext cx="9144000" cy="54864"/>
          </a:xfrm>
          <a:prstGeom prst="rect">
            <a:avLst/>
          </a:pr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256032" y="91440"/>
            <a:ext cx="7498079" cy="502920"/>
          </a:xfrm>
          <a:prstGeom prst="rect">
            <a:avLst/>
          </a:prstGeom>
          <a:noFill/>
        </p:spPr>
        <p:txBody>
          <a:bodyPr wrap="square" anchor="t">
            <a:spAutoFit/>
          </a:bodyPr>
          <a:lstStyle/>
          <a:p>
            <a:pPr algn="l">
              <a:spcAft>
                <a:spcPts val="400"/>
              </a:spcAft>
            </a:pPr>
            <a:r>
              <a:rPr sz="2600" b="1" i="0">
                <a:solidFill>
                  <a:srgbClr val="2E9E4F"/>
                </a:solidFill>
                <a:latin typeface="Calibri"/>
              </a:rPr>
              <a:t>True or false?</a:t>
            </a:r>
          </a:p>
        </p:txBody>
      </p:sp>
      <p:sp>
        <p:nvSpPr>
          <p:cNvPr id="5" name="Rounded Rectangle 4"/>
          <p:cNvSpPr/>
          <p:nvPr/>
        </p:nvSpPr>
        <p:spPr>
          <a:xfrm>
            <a:off x="7452360" y="109728"/>
            <a:ext cx="1536192" cy="420624"/>
          </a:xfrm>
          <a:prstGeom prst="roundRect">
            <a:avLst>
              <a:gd name="adj" fmla="val 15000"/>
            </a:avLst>
          </a:prstGeom>
          <a:solidFill>
            <a:srgbClr val="C8E6A0"/>
          </a:solidFill>
          <a:ln w="12700">
            <a:solidFill>
              <a:srgbClr val="1B7A3A"/>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spcBef>
                <a:spcPts val="0"/>
              </a:spcBef>
              <a:spcAft>
                <a:spcPts val="200"/>
              </a:spcAft>
            </a:pPr>
            <a:r>
              <a:rPr sz="1100" b="1" i="0">
                <a:solidFill>
                  <a:srgbClr val="1B7A3A"/>
                </a:solidFill>
                <a:latin typeface="Calibri"/>
              </a:rPr>
              <a:t>A2 Biology</a:t>
            </a:r>
          </a:p>
        </p:txBody>
      </p:sp>
      <p:sp>
        <p:nvSpPr>
          <p:cNvPr id="6" name="Rectangle 5"/>
          <p:cNvSpPr/>
          <p:nvPr/>
        </p:nvSpPr>
        <p:spPr>
          <a:xfrm>
            <a:off x="0" y="0"/>
            <a:ext cx="73152" cy="6858000"/>
          </a:xfrm>
          <a:prstGeom prst="rect">
            <a:avLst/>
          </a:prstGeom>
          <a:solidFill>
            <a:srgbClr val="6B2D8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3152" y="6565392"/>
            <a:ext cx="9070848" cy="36576"/>
          </a:xfrm>
          <a:prstGeom prst="rect">
            <a:avLst/>
          </a:prstGeom>
          <a:solidFill>
            <a:srgbClr val="7A3E9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228600" y="6583680"/>
            <a:ext cx="1280160" cy="256032"/>
          </a:xfrm>
          <a:prstGeom prst="rect">
            <a:avLst/>
          </a:prstGeom>
          <a:noFill/>
        </p:spPr>
        <p:txBody>
          <a:bodyPr wrap="square" anchor="t">
            <a:spAutoFit/>
          </a:bodyPr>
          <a:lstStyle/>
          <a:p>
            <a:pPr algn="l">
              <a:spcAft>
                <a:spcPts val="400"/>
              </a:spcAft>
            </a:pPr>
            <a:r>
              <a:rPr sz="1000" b="0" i="0">
                <a:solidFill>
                  <a:srgbClr val="6B2D8B"/>
                </a:solidFill>
                <a:latin typeface="Calibri"/>
              </a:rPr>
              <a:t>activity</a:t>
            </a:r>
          </a:p>
        </p:txBody>
      </p:sp>
      <p:sp>
        <p:nvSpPr>
          <p:cNvPr id="9" name="TextBox 8"/>
          <p:cNvSpPr txBox="1"/>
          <p:nvPr/>
        </p:nvSpPr>
        <p:spPr>
          <a:xfrm>
            <a:off x="1554480" y="6583680"/>
            <a:ext cx="6035040" cy="256032"/>
          </a:xfrm>
          <a:prstGeom prst="rect">
            <a:avLst/>
          </a:prstGeom>
          <a:noFill/>
        </p:spPr>
        <p:txBody>
          <a:bodyPr wrap="square" anchor="t">
            <a:spAutoFit/>
          </a:bodyPr>
          <a:lstStyle/>
          <a:p>
            <a:pPr algn="ctr">
              <a:spcAft>
                <a:spcPts val="400"/>
              </a:spcAft>
            </a:pPr>
            <a:r>
              <a:rPr sz="900" b="0" i="0">
                <a:solidFill>
                  <a:srgbClr val="5A5A5A"/>
                </a:solidFill>
                <a:latin typeface="Calibri"/>
              </a:rPr>
              <a:t>Original course © Boardworks Ltd 2009. Reconstructed interactive resource.</a:t>
            </a:r>
          </a:p>
        </p:txBody>
      </p:sp>
      <p:sp>
        <p:nvSpPr>
          <p:cNvPr id="10" name="Rounded Rectangle 9"/>
          <p:cNvSpPr/>
          <p:nvPr/>
        </p:nvSpPr>
        <p:spPr>
          <a:xfrm>
            <a:off x="640080" y="1463040"/>
            <a:ext cx="7863840" cy="2743200"/>
          </a:xfrm>
          <a:prstGeom prst="roundRect">
            <a:avLst>
              <a:gd name="adj" fmla="val 15000"/>
            </a:avLst>
          </a:prstGeom>
          <a:solidFill>
            <a:srgbClr val="E8F5E9"/>
          </a:solidFill>
          <a:ln w="15875">
            <a:solidFill>
              <a:srgbClr val="1B7A3A"/>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spcBef>
                <a:spcPts val="0"/>
              </a:spcBef>
              <a:spcAft>
                <a:spcPts val="200"/>
              </a:spcAft>
            </a:pPr>
            <a:r>
              <a:rPr sz="1600" b="0" i="0">
                <a:solidFill>
                  <a:srgbClr val="1B3A6B"/>
                </a:solidFill>
                <a:latin typeface="Calibri"/>
              </a:rPr>
              <a:t>Correct.  The statement is TRUE.</a:t>
            </a:r>
          </a:p>
          <a:p>
            <a:pPr algn="ctr">
              <a:spcAft>
                <a:spcPts val="200"/>
              </a:spcAft>
            </a:pPr>
            <a:r>
              <a:rPr sz="1600" b="0" i="0">
                <a:solidFill>
                  <a:srgbClr val="1B3A6B"/>
                </a:solidFill>
                <a:latin typeface="Calibri"/>
              </a:rPr>
              <a:t/>
            </a:r>
          </a:p>
          <a:p>
            <a:pPr algn="ctr">
              <a:spcAft>
                <a:spcPts val="200"/>
              </a:spcAft>
            </a:pPr>
            <a:r>
              <a:rPr sz="1600" b="0" i="0">
                <a:solidFill>
                  <a:srgbClr val="1B3A6B"/>
                </a:solidFill>
                <a:latin typeface="Calibri"/>
              </a:rPr>
              <a:t>It is impossible for an action potential to be generated during the absolute refractory period.</a:t>
            </a:r>
          </a:p>
          <a:p>
            <a:pPr algn="ctr">
              <a:spcAft>
                <a:spcPts val="200"/>
              </a:spcAft>
            </a:pPr>
            <a:r>
              <a:rPr sz="1600" b="0" i="0">
                <a:solidFill>
                  <a:srgbClr val="1B3A6B"/>
                </a:solidFill>
                <a:latin typeface="Calibri"/>
              </a:rPr>
              <a:t/>
            </a:r>
          </a:p>
          <a:p>
            <a:pPr algn="ctr">
              <a:spcAft>
                <a:spcPts val="200"/>
              </a:spcAft>
            </a:pPr>
            <a:r>
              <a:rPr sz="1600" b="0" i="0">
                <a:solidFill>
                  <a:srgbClr val="1B3A6B"/>
                </a:solidFill>
                <a:latin typeface="Calibri"/>
              </a:rPr>
              <a:t>Na⁺ channels are inactivated. No stimulus, however strong, can open enough of them.</a:t>
            </a:r>
          </a:p>
        </p:txBody>
      </p:sp>
      <p:sp>
        <p:nvSpPr>
          <p:cNvPr id="11" name="Rounded Rectangle 10">
            <a:hlinkClick r:id="rId2" action="ppaction://hlinksldjump"/>
          </p:cNvPr>
          <p:cNvSpPr/>
          <p:nvPr/>
        </p:nvSpPr>
        <p:spPr>
          <a:xfrm>
            <a:off x="3200400" y="4663440"/>
            <a:ext cx="2743200" cy="411480"/>
          </a:xfrm>
          <a:prstGeom prst="roundRect">
            <a:avLst>
              <a:gd name="adj" fmla="val 15000"/>
            </a:avLst>
          </a:prstGeom>
          <a:solidFill>
            <a:srgbClr val="2E9E4F"/>
          </a:solidFill>
          <a:ln w="12700">
            <a:solidFill>
              <a:srgbClr val="2E9E4F"/>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spcBef>
                <a:spcPts val="0"/>
              </a:spcBef>
              <a:spcAft>
                <a:spcPts val="200"/>
              </a:spcAft>
            </a:pPr>
            <a:r>
              <a:rPr sz="1400" b="1" i="0">
                <a:solidFill>
                  <a:srgbClr val="FFFFFF"/>
                </a:solidFill>
                <a:latin typeface="Calibri"/>
              </a:rPr>
              <a:t>Back to quiz</a:t>
            </a:r>
          </a:p>
        </p:txBody>
      </p:sp>
    </p:spTree>
  </p:cSld>
  <p:clrMapOvr>
    <a:masterClrMapping/>
  </p:clrMapOvr>
</p:sld>
</file>

<file path=ppt/slides/slide82.xml><?xml version="1.0" encoding="utf-8"?>
<p:sld xmlns:a="http://schemas.openxmlformats.org/drawingml/2006/main" xmlns:p="http://schemas.openxmlformats.org/presentationml/2006/main" xmlns:r="http://schemas.openxmlformats.org/officeDocument/2006/relationships" show="0">
  <p:cSld>
    <p:spTree>
      <p:nvGrpSpPr>
        <p:cNvPr id="1" name=""/>
        <p:cNvGrpSpPr/>
        <p:nvPr/>
      </p:nvGrpSpPr>
      <p:grpSpPr/>
      <p:sp>
        <p:nvSpPr>
          <p:cNvPr id="2" name="Rectangle 1"/>
          <p:cNvSpPr/>
          <p:nvPr/>
        </p:nvSpPr>
        <p:spPr>
          <a:xfrm>
            <a:off x="0" y="0"/>
            <a:ext cx="9144000" cy="658368"/>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640080"/>
            <a:ext cx="9144000" cy="54864"/>
          </a:xfrm>
          <a:prstGeom prst="rect">
            <a:avLst/>
          </a:pr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256032" y="91440"/>
            <a:ext cx="7498079" cy="502920"/>
          </a:xfrm>
          <a:prstGeom prst="rect">
            <a:avLst/>
          </a:prstGeom>
          <a:noFill/>
        </p:spPr>
        <p:txBody>
          <a:bodyPr wrap="square" anchor="t">
            <a:spAutoFit/>
          </a:bodyPr>
          <a:lstStyle/>
          <a:p>
            <a:pPr algn="l">
              <a:spcAft>
                <a:spcPts val="400"/>
              </a:spcAft>
            </a:pPr>
            <a:r>
              <a:rPr sz="2600" b="1" i="0">
                <a:solidFill>
                  <a:srgbClr val="2E9E4F"/>
                </a:solidFill>
                <a:latin typeface="Calibri"/>
              </a:rPr>
              <a:t>True or false?</a:t>
            </a:r>
          </a:p>
        </p:txBody>
      </p:sp>
      <p:sp>
        <p:nvSpPr>
          <p:cNvPr id="5" name="Rounded Rectangle 4"/>
          <p:cNvSpPr/>
          <p:nvPr/>
        </p:nvSpPr>
        <p:spPr>
          <a:xfrm>
            <a:off x="7452360" y="109728"/>
            <a:ext cx="1536192" cy="420624"/>
          </a:xfrm>
          <a:prstGeom prst="roundRect">
            <a:avLst>
              <a:gd name="adj" fmla="val 15000"/>
            </a:avLst>
          </a:prstGeom>
          <a:solidFill>
            <a:srgbClr val="C8E6A0"/>
          </a:solidFill>
          <a:ln w="12700">
            <a:solidFill>
              <a:srgbClr val="1B7A3A"/>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spcBef>
                <a:spcPts val="0"/>
              </a:spcBef>
              <a:spcAft>
                <a:spcPts val="200"/>
              </a:spcAft>
            </a:pPr>
            <a:r>
              <a:rPr sz="1100" b="1" i="0">
                <a:solidFill>
                  <a:srgbClr val="1B7A3A"/>
                </a:solidFill>
                <a:latin typeface="Calibri"/>
              </a:rPr>
              <a:t>A2 Biology</a:t>
            </a:r>
          </a:p>
        </p:txBody>
      </p:sp>
      <p:sp>
        <p:nvSpPr>
          <p:cNvPr id="6" name="Rectangle 5"/>
          <p:cNvSpPr/>
          <p:nvPr/>
        </p:nvSpPr>
        <p:spPr>
          <a:xfrm>
            <a:off x="0" y="0"/>
            <a:ext cx="73152" cy="6858000"/>
          </a:xfrm>
          <a:prstGeom prst="rect">
            <a:avLst/>
          </a:prstGeom>
          <a:solidFill>
            <a:srgbClr val="6B2D8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3152" y="6565392"/>
            <a:ext cx="9070848" cy="36576"/>
          </a:xfrm>
          <a:prstGeom prst="rect">
            <a:avLst/>
          </a:prstGeom>
          <a:solidFill>
            <a:srgbClr val="7A3E9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228600" y="6583680"/>
            <a:ext cx="1280160" cy="256032"/>
          </a:xfrm>
          <a:prstGeom prst="rect">
            <a:avLst/>
          </a:prstGeom>
          <a:noFill/>
        </p:spPr>
        <p:txBody>
          <a:bodyPr wrap="square" anchor="t">
            <a:spAutoFit/>
          </a:bodyPr>
          <a:lstStyle/>
          <a:p>
            <a:pPr algn="l">
              <a:spcAft>
                <a:spcPts val="400"/>
              </a:spcAft>
            </a:pPr>
            <a:r>
              <a:rPr sz="1000" b="0" i="0">
                <a:solidFill>
                  <a:srgbClr val="6B2D8B"/>
                </a:solidFill>
                <a:latin typeface="Calibri"/>
              </a:rPr>
              <a:t>activity</a:t>
            </a:r>
          </a:p>
        </p:txBody>
      </p:sp>
      <p:sp>
        <p:nvSpPr>
          <p:cNvPr id="9" name="TextBox 8"/>
          <p:cNvSpPr txBox="1"/>
          <p:nvPr/>
        </p:nvSpPr>
        <p:spPr>
          <a:xfrm>
            <a:off x="1554480" y="6583680"/>
            <a:ext cx="6035040" cy="256032"/>
          </a:xfrm>
          <a:prstGeom prst="rect">
            <a:avLst/>
          </a:prstGeom>
          <a:noFill/>
        </p:spPr>
        <p:txBody>
          <a:bodyPr wrap="square" anchor="t">
            <a:spAutoFit/>
          </a:bodyPr>
          <a:lstStyle/>
          <a:p>
            <a:pPr algn="ctr">
              <a:spcAft>
                <a:spcPts val="400"/>
              </a:spcAft>
            </a:pPr>
            <a:r>
              <a:rPr sz="900" b="0" i="0">
                <a:solidFill>
                  <a:srgbClr val="5A5A5A"/>
                </a:solidFill>
                <a:latin typeface="Calibri"/>
              </a:rPr>
              <a:t>Original course © Boardworks Ltd 2009. Reconstructed interactive resource.</a:t>
            </a:r>
          </a:p>
        </p:txBody>
      </p:sp>
      <p:sp>
        <p:nvSpPr>
          <p:cNvPr id="10" name="Rounded Rectangle 9"/>
          <p:cNvSpPr/>
          <p:nvPr/>
        </p:nvSpPr>
        <p:spPr>
          <a:xfrm>
            <a:off x="640080" y="1463040"/>
            <a:ext cx="7863840" cy="2743200"/>
          </a:xfrm>
          <a:prstGeom prst="roundRect">
            <a:avLst>
              <a:gd name="adj" fmla="val 15000"/>
            </a:avLst>
          </a:prstGeom>
          <a:solidFill>
            <a:srgbClr val="FFEBEE"/>
          </a:solidFill>
          <a:ln w="15875">
            <a:solidFill>
              <a:srgbClr val="C62828"/>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spcBef>
                <a:spcPts val="0"/>
              </a:spcBef>
              <a:spcAft>
                <a:spcPts val="200"/>
              </a:spcAft>
            </a:pPr>
            <a:r>
              <a:rPr sz="1600" b="0" i="0">
                <a:solidFill>
                  <a:srgbClr val="1B3A6B"/>
                </a:solidFill>
                <a:latin typeface="Calibri"/>
              </a:rPr>
              <a:t>Incorrect.  The statement is TRUE.</a:t>
            </a:r>
          </a:p>
          <a:p>
            <a:pPr algn="ctr">
              <a:spcAft>
                <a:spcPts val="200"/>
              </a:spcAft>
            </a:pPr>
            <a:r>
              <a:rPr sz="1600" b="0" i="0">
                <a:solidFill>
                  <a:srgbClr val="1B3A6B"/>
                </a:solidFill>
                <a:latin typeface="Calibri"/>
              </a:rPr>
              <a:t/>
            </a:r>
          </a:p>
          <a:p>
            <a:pPr algn="ctr">
              <a:spcAft>
                <a:spcPts val="200"/>
              </a:spcAft>
            </a:pPr>
            <a:r>
              <a:rPr sz="1600" b="0" i="0">
                <a:solidFill>
                  <a:srgbClr val="1B3A6B"/>
                </a:solidFill>
                <a:latin typeface="Calibri"/>
              </a:rPr>
              <a:t>It is impossible for an action potential to be generated during the absolute refractory period.</a:t>
            </a:r>
          </a:p>
          <a:p>
            <a:pPr algn="ctr">
              <a:spcAft>
                <a:spcPts val="200"/>
              </a:spcAft>
            </a:pPr>
            <a:r>
              <a:rPr sz="1600" b="0" i="0">
                <a:solidFill>
                  <a:srgbClr val="1B3A6B"/>
                </a:solidFill>
                <a:latin typeface="Calibri"/>
              </a:rPr>
              <a:t/>
            </a:r>
          </a:p>
          <a:p>
            <a:pPr algn="ctr">
              <a:spcAft>
                <a:spcPts val="200"/>
              </a:spcAft>
            </a:pPr>
            <a:r>
              <a:rPr sz="1600" b="0" i="0">
                <a:solidFill>
                  <a:srgbClr val="1B3A6B"/>
                </a:solidFill>
                <a:latin typeface="Calibri"/>
              </a:rPr>
              <a:t>Na⁺ channels are inactivated. No stimulus, however strong, can open enough of them.</a:t>
            </a:r>
          </a:p>
        </p:txBody>
      </p:sp>
      <p:sp>
        <p:nvSpPr>
          <p:cNvPr id="11" name="Rounded Rectangle 10">
            <a:hlinkClick r:id="rId2" action="ppaction://hlinksldjump"/>
          </p:cNvPr>
          <p:cNvSpPr/>
          <p:nvPr/>
        </p:nvSpPr>
        <p:spPr>
          <a:xfrm>
            <a:off x="3200400" y="4663440"/>
            <a:ext cx="2743200" cy="411480"/>
          </a:xfrm>
          <a:prstGeom prst="roundRect">
            <a:avLst>
              <a:gd name="adj" fmla="val 15000"/>
            </a:avLst>
          </a:prstGeom>
          <a:solidFill>
            <a:srgbClr val="2E9E4F"/>
          </a:solidFill>
          <a:ln w="12700">
            <a:solidFill>
              <a:srgbClr val="2E9E4F"/>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spcBef>
                <a:spcPts val="0"/>
              </a:spcBef>
              <a:spcAft>
                <a:spcPts val="200"/>
              </a:spcAft>
            </a:pPr>
            <a:r>
              <a:rPr sz="1400" b="1" i="0">
                <a:solidFill>
                  <a:srgbClr val="FFFFFF"/>
                </a:solidFill>
                <a:latin typeface="Calibri"/>
              </a:rPr>
              <a:t>Back to quiz</a:t>
            </a:r>
          </a:p>
        </p:txBody>
      </p:sp>
    </p:spTree>
  </p:cSld>
  <p:clrMapOvr>
    <a:masterClrMapping/>
  </p:clrMapOvr>
</p:sld>
</file>

<file path=ppt/slides/slide83.xml><?xml version="1.0" encoding="utf-8"?>
<p:sld xmlns:a="http://schemas.openxmlformats.org/drawingml/2006/main" xmlns:p="http://schemas.openxmlformats.org/presentationml/2006/main" xmlns:r="http://schemas.openxmlformats.org/officeDocument/2006/relationships" show="0">
  <p:cSld>
    <p:spTree>
      <p:nvGrpSpPr>
        <p:cNvPr id="1" name=""/>
        <p:cNvGrpSpPr/>
        <p:nvPr/>
      </p:nvGrpSpPr>
      <p:grpSpPr/>
      <p:sp>
        <p:nvSpPr>
          <p:cNvPr id="2" name="Rectangle 1"/>
          <p:cNvSpPr/>
          <p:nvPr/>
        </p:nvSpPr>
        <p:spPr>
          <a:xfrm>
            <a:off x="0" y="0"/>
            <a:ext cx="9144000" cy="658368"/>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640080"/>
            <a:ext cx="9144000" cy="54864"/>
          </a:xfrm>
          <a:prstGeom prst="rect">
            <a:avLst/>
          </a:pr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256032" y="91440"/>
            <a:ext cx="7498079" cy="502920"/>
          </a:xfrm>
          <a:prstGeom prst="rect">
            <a:avLst/>
          </a:prstGeom>
          <a:noFill/>
        </p:spPr>
        <p:txBody>
          <a:bodyPr wrap="square" anchor="t">
            <a:spAutoFit/>
          </a:bodyPr>
          <a:lstStyle/>
          <a:p>
            <a:pPr algn="l">
              <a:spcAft>
                <a:spcPts val="400"/>
              </a:spcAft>
            </a:pPr>
            <a:r>
              <a:rPr sz="2600" b="1" i="0">
                <a:solidFill>
                  <a:srgbClr val="2E9E4F"/>
                </a:solidFill>
                <a:latin typeface="Calibri"/>
              </a:rPr>
              <a:t>True or false? – answers</a:t>
            </a:r>
          </a:p>
        </p:txBody>
      </p:sp>
      <p:sp>
        <p:nvSpPr>
          <p:cNvPr id="5" name="Rounded Rectangle 4"/>
          <p:cNvSpPr/>
          <p:nvPr/>
        </p:nvSpPr>
        <p:spPr>
          <a:xfrm>
            <a:off x="7452360" y="109728"/>
            <a:ext cx="1536192" cy="420624"/>
          </a:xfrm>
          <a:prstGeom prst="roundRect">
            <a:avLst>
              <a:gd name="adj" fmla="val 15000"/>
            </a:avLst>
          </a:prstGeom>
          <a:solidFill>
            <a:srgbClr val="C8E6A0"/>
          </a:solidFill>
          <a:ln w="12700">
            <a:solidFill>
              <a:srgbClr val="1B7A3A"/>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spcBef>
                <a:spcPts val="0"/>
              </a:spcBef>
              <a:spcAft>
                <a:spcPts val="200"/>
              </a:spcAft>
            </a:pPr>
            <a:r>
              <a:rPr sz="1100" b="1" i="0">
                <a:solidFill>
                  <a:srgbClr val="1B7A3A"/>
                </a:solidFill>
                <a:latin typeface="Calibri"/>
              </a:rPr>
              <a:t>A2 Biology</a:t>
            </a:r>
          </a:p>
        </p:txBody>
      </p:sp>
      <p:sp>
        <p:nvSpPr>
          <p:cNvPr id="6" name="Rectangle 5"/>
          <p:cNvSpPr/>
          <p:nvPr/>
        </p:nvSpPr>
        <p:spPr>
          <a:xfrm>
            <a:off x="0" y="0"/>
            <a:ext cx="73152" cy="6858000"/>
          </a:xfrm>
          <a:prstGeom prst="rect">
            <a:avLst/>
          </a:prstGeom>
          <a:solidFill>
            <a:srgbClr val="6B2D8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3152" y="6565392"/>
            <a:ext cx="9070848" cy="36576"/>
          </a:xfrm>
          <a:prstGeom prst="rect">
            <a:avLst/>
          </a:prstGeom>
          <a:solidFill>
            <a:srgbClr val="7A3E9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228600" y="6583680"/>
            <a:ext cx="1280160" cy="256032"/>
          </a:xfrm>
          <a:prstGeom prst="rect">
            <a:avLst/>
          </a:prstGeom>
          <a:noFill/>
        </p:spPr>
        <p:txBody>
          <a:bodyPr wrap="square" anchor="t">
            <a:spAutoFit/>
          </a:bodyPr>
          <a:lstStyle/>
          <a:p>
            <a:pPr algn="l">
              <a:spcAft>
                <a:spcPts val="400"/>
              </a:spcAft>
            </a:pPr>
            <a:r>
              <a:rPr sz="1000" b="0" i="0">
                <a:solidFill>
                  <a:srgbClr val="6B2D8B"/>
                </a:solidFill>
                <a:latin typeface="Calibri"/>
              </a:rPr>
              <a:t>activity</a:t>
            </a:r>
          </a:p>
        </p:txBody>
      </p:sp>
      <p:sp>
        <p:nvSpPr>
          <p:cNvPr id="9" name="TextBox 8"/>
          <p:cNvSpPr txBox="1"/>
          <p:nvPr/>
        </p:nvSpPr>
        <p:spPr>
          <a:xfrm>
            <a:off x="1554480" y="6583680"/>
            <a:ext cx="6035040" cy="256032"/>
          </a:xfrm>
          <a:prstGeom prst="rect">
            <a:avLst/>
          </a:prstGeom>
          <a:noFill/>
        </p:spPr>
        <p:txBody>
          <a:bodyPr wrap="square" anchor="t">
            <a:spAutoFit/>
          </a:bodyPr>
          <a:lstStyle/>
          <a:p>
            <a:pPr algn="ctr">
              <a:spcAft>
                <a:spcPts val="400"/>
              </a:spcAft>
            </a:pPr>
            <a:r>
              <a:rPr sz="900" b="0" i="0">
                <a:solidFill>
                  <a:srgbClr val="5A5A5A"/>
                </a:solidFill>
                <a:latin typeface="Calibri"/>
              </a:rPr>
              <a:t>Original course © Boardworks Ltd 2009. Reconstructed interactive resource.</a:t>
            </a:r>
          </a:p>
        </p:txBody>
      </p:sp>
      <p:sp>
        <p:nvSpPr>
          <p:cNvPr id="10" name="TextBox 9"/>
          <p:cNvSpPr txBox="1"/>
          <p:nvPr/>
        </p:nvSpPr>
        <p:spPr>
          <a:xfrm>
            <a:off x="365760" y="868680"/>
            <a:ext cx="8412480" cy="868680"/>
          </a:xfrm>
          <a:prstGeom prst="rect">
            <a:avLst/>
          </a:prstGeom>
          <a:noFill/>
        </p:spPr>
        <p:txBody>
          <a:bodyPr wrap="square" anchor="t">
            <a:spAutoFit/>
          </a:bodyPr>
          <a:lstStyle/>
          <a:p>
            <a:pPr algn="l">
              <a:spcAft>
                <a:spcPts val="400"/>
              </a:spcAft>
            </a:pPr>
            <a:r>
              <a:rPr sz="1300" b="0" i="0">
                <a:solidFill>
                  <a:srgbClr val="1B3A6B"/>
                </a:solidFill>
                <a:latin typeface="Calibri"/>
              </a:rPr>
              <a:t>1. FALSE.  Every stimulus detected by the sensory receptors causes an action potential to be generated.  The generator potential must reach threshold. Subthreshold stimuli fail to trigger an action potential.</a:t>
            </a:r>
          </a:p>
        </p:txBody>
      </p:sp>
      <p:sp>
        <p:nvSpPr>
          <p:cNvPr id="11" name="TextBox 10"/>
          <p:cNvSpPr txBox="1"/>
          <p:nvPr/>
        </p:nvSpPr>
        <p:spPr>
          <a:xfrm>
            <a:off x="365760" y="1783080"/>
            <a:ext cx="8412480" cy="868680"/>
          </a:xfrm>
          <a:prstGeom prst="rect">
            <a:avLst/>
          </a:prstGeom>
          <a:noFill/>
        </p:spPr>
        <p:txBody>
          <a:bodyPr wrap="square" anchor="t">
            <a:spAutoFit/>
          </a:bodyPr>
          <a:lstStyle/>
          <a:p>
            <a:pPr algn="l">
              <a:spcAft>
                <a:spcPts val="400"/>
              </a:spcAft>
            </a:pPr>
            <a:r>
              <a:rPr sz="1300" b="0" i="0">
                <a:solidFill>
                  <a:srgbClr val="1B3A6B"/>
                </a:solidFill>
                <a:latin typeface="Calibri"/>
              </a:rPr>
              <a:t>2. TRUE.  An action potential is always the same size regardless of the strength of stimuli.  All-or-nothing: once threshold is reached, amplitude is constant. Strength is coded by frequency.</a:t>
            </a:r>
          </a:p>
        </p:txBody>
      </p:sp>
      <p:sp>
        <p:nvSpPr>
          <p:cNvPr id="12" name="TextBox 11"/>
          <p:cNvSpPr txBox="1"/>
          <p:nvPr/>
        </p:nvSpPr>
        <p:spPr>
          <a:xfrm>
            <a:off x="365760" y="2697480"/>
            <a:ext cx="8412480" cy="868680"/>
          </a:xfrm>
          <a:prstGeom prst="rect">
            <a:avLst/>
          </a:prstGeom>
          <a:noFill/>
        </p:spPr>
        <p:txBody>
          <a:bodyPr wrap="square" anchor="t">
            <a:spAutoFit/>
          </a:bodyPr>
          <a:lstStyle/>
          <a:p>
            <a:pPr algn="l">
              <a:spcAft>
                <a:spcPts val="400"/>
              </a:spcAft>
            </a:pPr>
            <a:r>
              <a:rPr sz="1300" b="0" i="0">
                <a:solidFill>
                  <a:srgbClr val="1B3A6B"/>
                </a:solidFill>
                <a:latin typeface="Calibri"/>
              </a:rPr>
              <a:t>3. FALSE.  The amplitude of the action potential increases when the stimulus is stronger.  Amplitude stays the same. Frequency increases.</a:t>
            </a:r>
          </a:p>
        </p:txBody>
      </p:sp>
      <p:sp>
        <p:nvSpPr>
          <p:cNvPr id="13" name="TextBox 12"/>
          <p:cNvSpPr txBox="1"/>
          <p:nvPr/>
        </p:nvSpPr>
        <p:spPr>
          <a:xfrm>
            <a:off x="365760" y="3611880"/>
            <a:ext cx="8412480" cy="868680"/>
          </a:xfrm>
          <a:prstGeom prst="rect">
            <a:avLst/>
          </a:prstGeom>
          <a:noFill/>
        </p:spPr>
        <p:txBody>
          <a:bodyPr wrap="square" anchor="t">
            <a:spAutoFit/>
          </a:bodyPr>
          <a:lstStyle/>
          <a:p>
            <a:pPr algn="l">
              <a:spcAft>
                <a:spcPts val="400"/>
              </a:spcAft>
            </a:pPr>
            <a:r>
              <a:rPr sz="1300" b="0" i="0">
                <a:solidFill>
                  <a:srgbClr val="1B3A6B"/>
                </a:solidFill>
                <a:latin typeface="Calibri"/>
              </a:rPr>
              <a:t>4. FALSE.  In an unmyelinated neurone an action potential will travel by saltatory conduction.  Saltatory conduction requires myelin and nodes of Ranvier. Unmyelinated axons use continuous conduction.</a:t>
            </a:r>
          </a:p>
        </p:txBody>
      </p:sp>
      <p:sp>
        <p:nvSpPr>
          <p:cNvPr id="14" name="TextBox 13"/>
          <p:cNvSpPr txBox="1"/>
          <p:nvPr/>
        </p:nvSpPr>
        <p:spPr>
          <a:xfrm>
            <a:off x="365760" y="4526280"/>
            <a:ext cx="8412480" cy="868680"/>
          </a:xfrm>
          <a:prstGeom prst="rect">
            <a:avLst/>
          </a:prstGeom>
          <a:noFill/>
        </p:spPr>
        <p:txBody>
          <a:bodyPr wrap="square" anchor="t">
            <a:spAutoFit/>
          </a:bodyPr>
          <a:lstStyle/>
          <a:p>
            <a:pPr algn="l">
              <a:spcAft>
                <a:spcPts val="400"/>
              </a:spcAft>
            </a:pPr>
            <a:r>
              <a:rPr sz="1300" b="0" i="0">
                <a:solidFill>
                  <a:srgbClr val="1B3A6B"/>
                </a:solidFill>
                <a:latin typeface="Calibri"/>
              </a:rPr>
              <a:t>5. TRUE.  It is impossible for an action potential to be generated during the absolute refractory period.  Na⁺ channels are inactivated. No stimulus, however strong, can open enough of them.</a:t>
            </a:r>
          </a:p>
        </p:txBody>
      </p:sp>
      <p:sp>
        <p:nvSpPr>
          <p:cNvPr id="15" name="Rounded Rectangle 14">
            <a:hlinkClick r:id="rId2" action="ppaction://hlinksldjump"/>
          </p:cNvPr>
          <p:cNvSpPr/>
          <p:nvPr/>
        </p:nvSpPr>
        <p:spPr>
          <a:xfrm>
            <a:off x="2194560" y="5852160"/>
            <a:ext cx="2194560" cy="365760"/>
          </a:xfrm>
          <a:prstGeom prst="roundRect">
            <a:avLst>
              <a:gd name="adj" fmla="val 15000"/>
            </a:avLst>
          </a:prstGeom>
          <a:solidFill>
            <a:srgbClr val="2E9E4F"/>
          </a:solidFill>
          <a:ln w="12700">
            <a:solidFill>
              <a:srgbClr val="2E9E4F"/>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spcBef>
                <a:spcPts val="0"/>
              </a:spcBef>
              <a:spcAft>
                <a:spcPts val="200"/>
              </a:spcAft>
            </a:pPr>
            <a:r>
              <a:rPr sz="1400" b="1" i="0">
                <a:solidFill>
                  <a:srgbClr val="FFFFFF"/>
                </a:solidFill>
                <a:latin typeface="Calibri"/>
              </a:rPr>
              <a:t>Back to quiz</a:t>
            </a:r>
          </a:p>
        </p:txBody>
      </p:sp>
      <p:sp>
        <p:nvSpPr>
          <p:cNvPr id="16" name="Rounded Rectangle 15">
            <a:hlinkClick r:id="rId3" action="ppaction://hlinksldjump"/>
          </p:cNvPr>
          <p:cNvSpPr/>
          <p:nvPr/>
        </p:nvSpPr>
        <p:spPr>
          <a:xfrm>
            <a:off x="4663440" y="5852160"/>
            <a:ext cx="2194560" cy="365760"/>
          </a:xfrm>
          <a:prstGeom prst="roundRect">
            <a:avLst>
              <a:gd name="adj" fmla="val 15000"/>
            </a:avLst>
          </a:prstGeom>
          <a:solidFill>
            <a:srgbClr val="1B7A3A"/>
          </a:solidFill>
          <a:ln w="12700">
            <a:solidFill>
              <a:srgbClr val="1B7A3A"/>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spcBef>
                <a:spcPts val="0"/>
              </a:spcBef>
              <a:spcAft>
                <a:spcPts val="200"/>
              </a:spcAft>
            </a:pPr>
            <a:r>
              <a:rPr sz="1400" b="1" i="0">
                <a:solidFill>
                  <a:srgbClr val="FFFFFF"/>
                </a:solidFill>
                <a:latin typeface="Calibri"/>
              </a:rPr>
              <a:t>Continue</a:t>
            </a:r>
          </a:p>
        </p:txBody>
      </p:sp>
    </p:spTree>
  </p:cSld>
  <p:clrMapOvr>
    <a:masterClrMapping/>
  </p:clrMapOvr>
</p:sld>
</file>

<file path=ppt/slides/slide8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9144000" cy="658368"/>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640080"/>
            <a:ext cx="9144000" cy="54864"/>
          </a:xfrm>
          <a:prstGeom prst="rect">
            <a:avLst/>
          </a:pr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256032" y="91440"/>
            <a:ext cx="7498079" cy="502920"/>
          </a:xfrm>
          <a:prstGeom prst="rect">
            <a:avLst/>
          </a:prstGeom>
          <a:noFill/>
        </p:spPr>
        <p:txBody>
          <a:bodyPr wrap="square" anchor="t">
            <a:spAutoFit/>
          </a:bodyPr>
          <a:lstStyle/>
          <a:p>
            <a:pPr algn="l">
              <a:spcAft>
                <a:spcPts val="400"/>
              </a:spcAft>
            </a:pPr>
            <a:r>
              <a:rPr sz="2600" b="1" i="0">
                <a:solidFill>
                  <a:srgbClr val="2E9E4F"/>
                </a:solidFill>
                <a:latin typeface="Calibri"/>
              </a:rPr>
              <a:t>End of Part 2</a:t>
            </a:r>
          </a:p>
        </p:txBody>
      </p:sp>
      <p:sp>
        <p:nvSpPr>
          <p:cNvPr id="5" name="Rounded Rectangle 4"/>
          <p:cNvSpPr/>
          <p:nvPr/>
        </p:nvSpPr>
        <p:spPr>
          <a:xfrm>
            <a:off x="7452360" y="109728"/>
            <a:ext cx="1536192" cy="420624"/>
          </a:xfrm>
          <a:prstGeom prst="roundRect">
            <a:avLst>
              <a:gd name="adj" fmla="val 15000"/>
            </a:avLst>
          </a:prstGeom>
          <a:solidFill>
            <a:srgbClr val="C8E6A0"/>
          </a:solidFill>
          <a:ln w="12700">
            <a:solidFill>
              <a:srgbClr val="1B7A3A"/>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spcBef>
                <a:spcPts val="0"/>
              </a:spcBef>
              <a:spcAft>
                <a:spcPts val="200"/>
              </a:spcAft>
            </a:pPr>
            <a:r>
              <a:rPr sz="1100" b="1" i="0">
                <a:solidFill>
                  <a:srgbClr val="1B7A3A"/>
                </a:solidFill>
                <a:latin typeface="Calibri"/>
              </a:rPr>
              <a:t>A2 Biology</a:t>
            </a:r>
          </a:p>
        </p:txBody>
      </p:sp>
      <p:sp>
        <p:nvSpPr>
          <p:cNvPr id="6" name="Rectangle 5"/>
          <p:cNvSpPr/>
          <p:nvPr/>
        </p:nvSpPr>
        <p:spPr>
          <a:xfrm>
            <a:off x="0" y="0"/>
            <a:ext cx="73152" cy="6858000"/>
          </a:xfrm>
          <a:prstGeom prst="rect">
            <a:avLst/>
          </a:prstGeom>
          <a:solidFill>
            <a:srgbClr val="6B2D8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3152" y="6565392"/>
            <a:ext cx="9070848" cy="36576"/>
          </a:xfrm>
          <a:prstGeom prst="rect">
            <a:avLst/>
          </a:prstGeom>
          <a:solidFill>
            <a:srgbClr val="7A3E9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228600" y="6583680"/>
            <a:ext cx="1280160" cy="256032"/>
          </a:xfrm>
          <a:prstGeom prst="rect">
            <a:avLst/>
          </a:prstGeom>
          <a:noFill/>
        </p:spPr>
        <p:txBody>
          <a:bodyPr wrap="square" anchor="t">
            <a:spAutoFit/>
          </a:bodyPr>
          <a:lstStyle/>
          <a:p>
            <a:pPr algn="l">
              <a:spcAft>
                <a:spcPts val="400"/>
              </a:spcAft>
            </a:pPr>
            <a:r>
              <a:rPr sz="1000" b="0" i="0">
                <a:solidFill>
                  <a:srgbClr val="6B2D8B"/>
                </a:solidFill>
                <a:latin typeface="Calibri"/>
              </a:rPr>
              <a:t>29 of 29</a:t>
            </a:r>
          </a:p>
        </p:txBody>
      </p:sp>
      <p:sp>
        <p:nvSpPr>
          <p:cNvPr id="9" name="TextBox 8"/>
          <p:cNvSpPr txBox="1"/>
          <p:nvPr/>
        </p:nvSpPr>
        <p:spPr>
          <a:xfrm>
            <a:off x="1554480" y="6583680"/>
            <a:ext cx="6035040" cy="256032"/>
          </a:xfrm>
          <a:prstGeom prst="rect">
            <a:avLst/>
          </a:prstGeom>
          <a:noFill/>
        </p:spPr>
        <p:txBody>
          <a:bodyPr wrap="square" anchor="t">
            <a:spAutoFit/>
          </a:bodyPr>
          <a:lstStyle/>
          <a:p>
            <a:pPr algn="ctr">
              <a:spcAft>
                <a:spcPts val="400"/>
              </a:spcAft>
            </a:pPr>
            <a:r>
              <a:rPr sz="900" b="0" i="0">
                <a:solidFill>
                  <a:srgbClr val="5A5A5A"/>
                </a:solidFill>
                <a:latin typeface="Calibri"/>
              </a:rPr>
              <a:t>Original course © Boardworks Ltd 2009. Reconstructed interactive resource.</a:t>
            </a:r>
          </a:p>
        </p:txBody>
      </p:sp>
      <p:sp>
        <p:nvSpPr>
          <p:cNvPr id="10" name="Oval 9">
            <a:hlinkClick r:id="rId3" action="ppaction://hlinksldjump"/>
          </p:cNvPr>
          <p:cNvSpPr/>
          <p:nvPr/>
        </p:nvSpPr>
        <p:spPr>
          <a:xfrm>
            <a:off x="146304" y="5760720"/>
            <a:ext cx="384048" cy="384048"/>
          </a:xfrm>
          <a:prstGeom prst="ellipse">
            <a:avLst/>
          </a:prstGeom>
          <a:solidFill>
            <a:srgbClr val="FFFFFF"/>
          </a:solidFill>
          <a:ln w="22225">
            <a:solidFill>
              <a:srgbClr val="6B2D8B"/>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spcBef>
                <a:spcPts val="0"/>
              </a:spcBef>
              <a:spcAft>
                <a:spcPts val="200"/>
              </a:spcAft>
            </a:pPr>
            <a:r>
              <a:rPr sz="1400" b="1" i="0">
                <a:solidFill>
                  <a:srgbClr val="6B2D8B"/>
                </a:solidFill>
                <a:latin typeface="Calibri"/>
              </a:rPr>
              <a:t>◀</a:t>
            </a:r>
          </a:p>
        </p:txBody>
      </p:sp>
      <p:sp>
        <p:nvSpPr>
          <p:cNvPr id="11" name="Oval 10"/>
          <p:cNvSpPr/>
          <p:nvPr/>
        </p:nvSpPr>
        <p:spPr>
          <a:xfrm>
            <a:off x="8613648" y="5760720"/>
            <a:ext cx="384048" cy="384048"/>
          </a:xfrm>
          <a:prstGeom prst="ellipse">
            <a:avLst/>
          </a:prstGeom>
          <a:solidFill>
            <a:srgbClr val="6B2D8B"/>
          </a:solidFill>
          <a:ln w="12700">
            <a:solidFill>
              <a:srgbClr val="6B2D8B"/>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spcBef>
                <a:spcPts val="0"/>
              </a:spcBef>
              <a:spcAft>
                <a:spcPts val="200"/>
              </a:spcAft>
            </a:pPr>
            <a:r>
              <a:rPr sz="1400" b="1" i="0">
                <a:solidFill>
                  <a:srgbClr val="FFFFFF"/>
                </a:solidFill>
                <a:latin typeface="Calibri"/>
              </a:rPr>
              <a:t>▶</a:t>
            </a:r>
          </a:p>
        </p:txBody>
      </p:sp>
      <p:sp>
        <p:nvSpPr>
          <p:cNvPr id="12" name="TextBox 11"/>
          <p:cNvSpPr txBox="1"/>
          <p:nvPr/>
        </p:nvSpPr>
        <p:spPr>
          <a:xfrm>
            <a:off x="457200" y="1828800"/>
            <a:ext cx="8229600" cy="914400"/>
          </a:xfrm>
          <a:prstGeom prst="rect">
            <a:avLst/>
          </a:prstGeom>
          <a:noFill/>
        </p:spPr>
        <p:txBody>
          <a:bodyPr wrap="square" anchor="t">
            <a:spAutoFit/>
          </a:bodyPr>
          <a:lstStyle/>
          <a:p>
            <a:pPr algn="ctr">
              <a:spcAft>
                <a:spcPts val="400"/>
              </a:spcAft>
            </a:pPr>
            <a:r>
              <a:rPr sz="2600" b="1" i="0">
                <a:solidFill>
                  <a:srgbClr val="2E9E4F"/>
                </a:solidFill>
                <a:latin typeface="Calibri"/>
              </a:rPr>
              <a:t>Next: Part 3 – Sensory receptors</a:t>
            </a:r>
          </a:p>
        </p:txBody>
      </p:sp>
      <p:sp>
        <p:nvSpPr>
          <p:cNvPr id="13" name="Rounded Rectangle 12">
            <a:hlinkClick r:id="rId2" action="ppaction://hlinksldjump"/>
          </p:cNvPr>
          <p:cNvSpPr/>
          <p:nvPr/>
        </p:nvSpPr>
        <p:spPr>
          <a:xfrm>
            <a:off x="3017520" y="3657600"/>
            <a:ext cx="3108960" cy="457200"/>
          </a:xfrm>
          <a:prstGeom prst="roundRect">
            <a:avLst>
              <a:gd name="adj" fmla="val 15000"/>
            </a:avLst>
          </a:prstGeom>
          <a:solidFill>
            <a:srgbClr val="2E9E4F"/>
          </a:solidFill>
          <a:ln w="12700">
            <a:solidFill>
              <a:srgbClr val="2E9E4F"/>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spcBef>
                <a:spcPts val="0"/>
              </a:spcBef>
              <a:spcAft>
                <a:spcPts val="200"/>
              </a:spcAft>
            </a:pPr>
            <a:r>
              <a:rPr sz="1400" b="1" i="0">
                <a:solidFill>
                  <a:srgbClr val="FFFFFF"/>
                </a:solidFill>
                <a:latin typeface="Calibri"/>
              </a:rPr>
              <a:t>Back to contents</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