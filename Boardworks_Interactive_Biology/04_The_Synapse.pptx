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synapse animation as an 8-step sequence covering AP arrival, Ca²⁺ entry, vesicle fusion, ACh diffusion, receptor binding and postsynaptic depolarisation.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synapse animation as an 8-step sequence covering AP arrival, Ca²⁺ entry, vesicle fusion, ACh diffusion, receptor binding and postsynaptic depolarisation.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synapse animation as an 8-step sequence covering AP arrival, Ca²⁺ entry, vesicle fusion, ACh diffusion, receptor binding and postsynaptic depolarisation.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synapse animation as an 8-step sequence covering AP arrival, Ca²⁺ entry, vesicle fusion, ACh diffusion, receptor binding and postsynaptic depolarisation.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synapse animation as an 8-step sequence covering AP arrival, Ca²⁺ entry, vesicle fusion, ACh diffusion, receptor binding and postsynaptic depolarisation.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synapse animation as an 8-step sequence covering AP arrival, Ca²⁺ entry, vesicle fusion, ACh diffusion, receptor binding and postsynaptic depolarisation.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synapse animation as an 8-step sequence covering AP arrival, Ca²⁺ entry, vesicle fusion, ACh diffusion, receptor binding and postsynaptic depolarisation.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synapse animation as an 8-step sequence covering AP arrival, Ca²⁺ entry, vesicle fusion, ACh diffusion, receptor binding and postsynaptic depolarisation.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Flash toggle (micrograph / diagram) rebuilt. The electron-micrograph lookalike is an original illustration, not the copyrighted TEM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Flash sequencing activity. Shuffled order retained from the source slide. Correct order: 4, 1, 3, 5, 6, 7, 8, 2 of the numbered source list (AP arrives → Ca²⁺ in → vesicles move → ACh released → bind → Na⁺ channels open → Na⁺ in / depolarise → postsynaptic 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Rebuilt Flash drop-down labelling. Seven structures around the synaptic knob and cleft.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= B. Ca²⁺ is the trigger for vesicle exocytosis of acetylcholine.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= B. Neurotransmitter is released from one side only; receptors sit only on the other. The impulse cannot reverse.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1.xml"/><Relationship Id="rId4" Type="http://schemas.openxmlformats.org/officeDocument/2006/relationships/slide" Target="slide15.xml"/><Relationship Id="rId5" Type="http://schemas.openxmlformats.org/officeDocument/2006/relationships/slide" Target="slide17.xml"/><Relationship Id="rId6" Type="http://schemas.openxmlformats.org/officeDocument/2006/relationships/slide" Target="slide40.xml"/><Relationship Id="rId7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3.xml"/><Relationship Id="rId4" Type="http://schemas.openxmlformats.org/officeDocument/2006/relationships/notesSlide" Target="../notesSlides/notesSlide1.xml"/><Relationship Id="rId5" Type="http://schemas.openxmlformats.org/officeDocument/2006/relationships/slide" Target="slide4.xml"/><Relationship Id="rId6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.xml"/><Relationship Id="rId4" Type="http://schemas.openxmlformats.org/officeDocument/2006/relationships/notesSlide" Target="../notesSlides/notesSlide2.xml"/><Relationship Id="rId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4.xml"/><Relationship Id="rId4" Type="http://schemas.openxmlformats.org/officeDocument/2006/relationships/slide" Target="slide3.xml"/><Relationship Id="rId5" Type="http://schemas.openxmlformats.org/officeDocument/2006/relationships/notesSlide" Target="../notesSlides/notesSlide3.xml"/><Relationship Id="rId6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5.xml"/><Relationship Id="rId4" Type="http://schemas.openxmlformats.org/officeDocument/2006/relationships/slide" Target="slide3.xml"/><Relationship Id="rId5" Type="http://schemas.openxmlformats.org/officeDocument/2006/relationships/notesSlide" Target="../notesSlides/notesSlide4.xml"/><Relationship Id="rId6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slide" Target="slide6.xml"/><Relationship Id="rId4" Type="http://schemas.openxmlformats.org/officeDocument/2006/relationships/slide" Target="slide3.xml"/><Relationship Id="rId5" Type="http://schemas.openxmlformats.org/officeDocument/2006/relationships/notesSlide" Target="../notesSlides/notesSlide5.xml"/><Relationship Id="rId6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slide" Target="slide7.xml"/><Relationship Id="rId4" Type="http://schemas.openxmlformats.org/officeDocument/2006/relationships/slide" Target="slide3.xml"/><Relationship Id="rId5" Type="http://schemas.openxmlformats.org/officeDocument/2006/relationships/notesSlide" Target="../notesSlides/notesSlide6.xml"/><Relationship Id="rId6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slide" Target="slide8.xml"/><Relationship Id="rId4" Type="http://schemas.openxmlformats.org/officeDocument/2006/relationships/slide" Target="slide3.xml"/><Relationship Id="rId5" Type="http://schemas.openxmlformats.org/officeDocument/2006/relationships/notesSlide" Target="../notesSlides/notesSlide7.xml"/><Relationship Id="rId6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slide" Target="slide9.xml"/><Relationship Id="rId4" Type="http://schemas.openxmlformats.org/officeDocument/2006/relationships/slide" Target="slide3.xml"/><Relationship Id="rId5" Type="http://schemas.openxmlformats.org/officeDocument/2006/relationships/notesSlide" Target="../notesSlides/notesSlide8.xml"/><Relationship Id="rId6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9.xml"/><Relationship Id="rId4" Type="http://schemas.openxmlformats.org/officeDocument/2006/relationships/slide" Target="slide12.xml"/><Relationship Id="rId5" Type="http://schemas.openxmlformats.org/officeDocument/2006/relationships/slide" Target="slide13.xml"/><Relationship Id="rId6" Type="http://schemas.openxmlformats.org/officeDocument/2006/relationships/slide" Target="slide14.xml"/><Relationship Id="rId7" Type="http://schemas.openxmlformats.org/officeDocument/2006/relationships/slide" Target="slide10.xml"/><Relationship Id="rId8" Type="http://schemas.openxmlformats.org/officeDocument/2006/relationships/slide" Target="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Relationship Id="rId3" Type="http://schemas.openxmlformats.org/officeDocument/2006/relationships/notesSlide" Target="../notesSlides/notesSlide10.xml"/><Relationship Id="rId4" Type="http://schemas.openxmlformats.org/officeDocument/2006/relationships/slide" Target="slide16.xml"/><Relationship Id="rId5" Type="http://schemas.openxmlformats.org/officeDocument/2006/relationships/slide" Target="slide11.xml"/><Relationship Id="rId6" Type="http://schemas.openxmlformats.org/officeDocument/2006/relationships/slide" Target="slide1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slide" Target="slide17.xml"/><Relationship Id="rId4" Type="http://schemas.openxmlformats.org/officeDocument/2006/relationships/notesSlide" Target="../notesSlides/notesSlide11.xml"/><Relationship Id="rId5" Type="http://schemas.openxmlformats.org/officeDocument/2006/relationships/slide" Target="slide18.xml"/><Relationship Id="rId6" Type="http://schemas.openxmlformats.org/officeDocument/2006/relationships/slide" Target="slide21.xml"/><Relationship Id="rId7" Type="http://schemas.openxmlformats.org/officeDocument/2006/relationships/slide" Target="slide24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3.xml"/><Relationship Id="rId11" Type="http://schemas.openxmlformats.org/officeDocument/2006/relationships/slide" Target="slide36.xml"/><Relationship Id="rId12" Type="http://schemas.openxmlformats.org/officeDocument/2006/relationships/slide" Target="slide39.xml"/><Relationship Id="rId13" Type="http://schemas.openxmlformats.org/officeDocument/2006/relationships/slide" Target="slide15.xml"/><Relationship Id="rId14" Type="http://schemas.openxmlformats.org/officeDocument/2006/relationships/slide" Target="slide4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9.xml"/><Relationship Id="rId3" Type="http://schemas.openxmlformats.org/officeDocument/2006/relationships/slide" Target="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3.xml"/><Relationship Id="rId3" Type="http://schemas.openxmlformats.org/officeDocument/2006/relationships/slide" Target="slide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6.xml"/><Relationship Id="rId3" Type="http://schemas.openxmlformats.org/officeDocument/2006/relationships/slide" Target="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9.xml"/><Relationship Id="rId3" Type="http://schemas.openxmlformats.org/officeDocument/2006/relationships/slide" Target="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2.xml"/><Relationship Id="rId3" Type="http://schemas.openxmlformats.org/officeDocument/2006/relationships/slide" Target="slide3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5.xml"/><Relationship Id="rId3" Type="http://schemas.openxmlformats.org/officeDocument/2006/relationships/slide" Target="slide3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Relationship Id="rId3" Type="http://schemas.openxmlformats.org/officeDocument/2006/relationships/slide" Target="slide3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slide" Target="slide42.xml"/><Relationship Id="rId4" Type="http://schemas.openxmlformats.org/officeDocument/2006/relationships/slide" Target="slide41.xml"/><Relationship Id="rId5" Type="http://schemas.openxmlformats.org/officeDocument/2006/relationships/slide" Target="slide43.xml"/><Relationship Id="rId6" Type="http://schemas.openxmlformats.org/officeDocument/2006/relationships/slide" Target="slide44.xml"/><Relationship Id="rId7" Type="http://schemas.openxmlformats.org/officeDocument/2006/relationships/slide" Target="slide17.xml"/><Relationship Id="rId8" Type="http://schemas.openxmlformats.org/officeDocument/2006/relationships/slide" Target="slide4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47.xml"/><Relationship Id="rId4" Type="http://schemas.openxmlformats.org/officeDocument/2006/relationships/slide" Target="slide46.xml"/><Relationship Id="rId5" Type="http://schemas.openxmlformats.org/officeDocument/2006/relationships/slide" Target="slide48.xml"/><Relationship Id="rId6" Type="http://schemas.openxmlformats.org/officeDocument/2006/relationships/slide" Target="slide49.xml"/><Relationship Id="rId7" Type="http://schemas.openxmlformats.org/officeDocument/2006/relationships/slide" Target="slide40.xml"/><Relationship Id="rId8" Type="http://schemas.openxmlformats.org/officeDocument/2006/relationships/slide" Target="slide5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CB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A2 Biology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097280"/>
            <a:ext cx="6583680" cy="640080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905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The Nervous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5623560"/>
            <a:ext cx="4754880" cy="56692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Part 4: The synapse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6364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Interactive reconstruction  ·  Flash-free  ·  Original course © Boardworks Ltd 2009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" y="6601968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620256"/>
            <a:ext cx="8595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1" name="Oval 10">
            <a:hlinkClick r:id="rId3" action="ppaction://hlinksldjump"/>
          </p:cNvPr>
          <p:cNvSpPr/>
          <p:nvPr/>
        </p:nvSpPr>
        <p:spPr>
          <a:xfrm>
            <a:off x="8613648" y="589788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" y="589788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pic>
        <p:nvPicPr>
          <p:cNvPr id="13" name="Picture 12" descr="title_ret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874519"/>
            <a:ext cx="4046726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2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7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2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1280160" y="1280160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1.  what happens at a synapse? (animation)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1280160" y="1993391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2.  features of a synapse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1280160" y="2706624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3.  transmission sequence</a:t>
            </a:r>
          </a:p>
        </p:txBody>
      </p:sp>
      <p:sp>
        <p:nvSpPr>
          <p:cNvPr id="15" name="Rounded Rectangle 14">
            <a:hlinkClick r:id="rId5" action="ppaction://hlinksldjump"/>
          </p:cNvPr>
          <p:cNvSpPr/>
          <p:nvPr/>
        </p:nvSpPr>
        <p:spPr>
          <a:xfrm>
            <a:off x="1280160" y="3419856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4.  structure – labelling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1280160" y="4133088"/>
            <a:ext cx="6583680" cy="59436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5.  knowledge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happens at a synapse?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3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6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5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804672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Step 1 of 8:  The junction</a:t>
            </a:r>
          </a:p>
        </p:txBody>
      </p:sp>
      <p:pic>
        <p:nvPicPr>
          <p:cNvPr id="14" name="Picture 13" descr="synaps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029200" cy="37434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40680" y="1170432"/>
            <a:ext cx="3337560" cy="3977639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F5A"/>
                </a:solidFill>
                <a:latin typeface="Calibri"/>
              </a:rPr>
              <a:t>Nervous impulses can be transmitted from one neurone to another. This transfer occurs at a junction called the synapse. Press Next step to watch neurotransmitter release, diffusion, binding and the postsynaptic response.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1828800" y="6217920"/>
            <a:ext cx="123444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320040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happens at a synapse?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4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5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804672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Step 2 of 8:  Action potential arrives</a:t>
            </a:r>
          </a:p>
        </p:txBody>
      </p:sp>
      <p:pic>
        <p:nvPicPr>
          <p:cNvPr id="14" name="Picture 13" descr="synaps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029200" cy="37434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40680" y="1170432"/>
            <a:ext cx="3337560" cy="3977639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F5A"/>
                </a:solidFill>
                <a:latin typeface="Calibri"/>
              </a:rPr>
              <a:t>An action potential reaches the synaptic knob of the presynaptic neurone. The membrane depolarises.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320040" y="621792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Previous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1828800" y="6217920"/>
            <a:ext cx="123444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8" name="Rounded Rectangle 17">
            <a:hlinkClick r:id="rId5" action="ppaction://hlinksldjump"/>
          </p:cNvPr>
          <p:cNvSpPr/>
          <p:nvPr/>
        </p:nvSpPr>
        <p:spPr>
          <a:xfrm>
            <a:off x="320040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happens at a synapse?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5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804672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Step 3 of 8:  Calcium ions enter</a:t>
            </a:r>
          </a:p>
        </p:txBody>
      </p:sp>
      <p:pic>
        <p:nvPicPr>
          <p:cNvPr id="14" name="Picture 13" descr="synaps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029200" cy="37434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40680" y="1170432"/>
            <a:ext cx="3337560" cy="3977639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F5A"/>
                </a:solidFill>
                <a:latin typeface="Calibri"/>
              </a:rPr>
              <a:t>Voltage-gated calcium channels open. Ca²⁺ diffuses into the synaptic knob down its concentration gradient.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320040" y="621792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Previous</a:t>
            </a:r>
          </a:p>
        </p:txBody>
      </p:sp>
      <p:sp>
        <p:nvSpPr>
          <p:cNvPr id="17" name="Rounded Rectangle 16">
            <a:hlinkClick r:id="rId4" action="ppaction://hlinksldjump"/>
          </p:cNvPr>
          <p:cNvSpPr/>
          <p:nvPr/>
        </p:nvSpPr>
        <p:spPr>
          <a:xfrm>
            <a:off x="1828800" y="6217920"/>
            <a:ext cx="123444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20040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happens at a synapse?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6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804672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Step 4 of 8:  Vesicles move</a:t>
            </a:r>
          </a:p>
        </p:txBody>
      </p:sp>
      <p:pic>
        <p:nvPicPr>
          <p:cNvPr id="14" name="Picture 13" descr="synaps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029200" cy="37434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40680" y="1170432"/>
            <a:ext cx="3337560" cy="3977639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F5A"/>
                </a:solidFill>
                <a:latin typeface="Calibri"/>
              </a:rPr>
              <a:t>Ca²⁺ causes synaptic vesicles to move to and fuse with the presynaptic membrane.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320040" y="621792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Previous</a:t>
            </a:r>
          </a:p>
        </p:txBody>
      </p:sp>
      <p:sp>
        <p:nvSpPr>
          <p:cNvPr id="17" name="Rounded Rectangle 16">
            <a:hlinkClick r:id="rId4" action="ppaction://hlinksldjump"/>
          </p:cNvPr>
          <p:cNvSpPr/>
          <p:nvPr/>
        </p:nvSpPr>
        <p:spPr>
          <a:xfrm>
            <a:off x="1828800" y="6217920"/>
            <a:ext cx="123444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20040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happens at a synapse?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7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804672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Step 5 of 8:  Acetylcholine released</a:t>
            </a:r>
          </a:p>
        </p:txBody>
      </p:sp>
      <p:pic>
        <p:nvPicPr>
          <p:cNvPr id="14" name="Picture 13" descr="synaps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029200" cy="37434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40680" y="1170432"/>
            <a:ext cx="3337560" cy="3977639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F5A"/>
                </a:solidFill>
                <a:latin typeface="Calibri"/>
              </a:rPr>
              <a:t>Vesicles release acetylcholine (ACh) into the synaptic cleft by exocytosis.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320040" y="621792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Previous</a:t>
            </a:r>
          </a:p>
        </p:txBody>
      </p:sp>
      <p:sp>
        <p:nvSpPr>
          <p:cNvPr id="17" name="Rounded Rectangle 16">
            <a:hlinkClick r:id="rId4" action="ppaction://hlinksldjump"/>
          </p:cNvPr>
          <p:cNvSpPr/>
          <p:nvPr/>
        </p:nvSpPr>
        <p:spPr>
          <a:xfrm>
            <a:off x="1828800" y="6217920"/>
            <a:ext cx="123444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20040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happens at a synapse?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8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804672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Step 6 of 8:  Diffusion across the cleft</a:t>
            </a:r>
          </a:p>
        </p:txBody>
      </p:sp>
      <p:pic>
        <p:nvPicPr>
          <p:cNvPr id="14" name="Picture 13" descr="synaps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029200" cy="37434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40680" y="1170432"/>
            <a:ext cx="3337560" cy="3977639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F5A"/>
                </a:solidFill>
                <a:latin typeface="Calibri"/>
              </a:rPr>
              <a:t>ACh diffuses across the synaptic cleft (about 20–30 nm). This is the reason synaptic transmission is slower than electrical conduction along an axon.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320040" y="621792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Previous</a:t>
            </a:r>
          </a:p>
        </p:txBody>
      </p:sp>
      <p:sp>
        <p:nvSpPr>
          <p:cNvPr id="17" name="Rounded Rectangle 16">
            <a:hlinkClick r:id="rId4" action="ppaction://hlinksldjump"/>
          </p:cNvPr>
          <p:cNvSpPr/>
          <p:nvPr/>
        </p:nvSpPr>
        <p:spPr>
          <a:xfrm>
            <a:off x="1828800" y="6217920"/>
            <a:ext cx="123444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20040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happens at a synapse?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9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804672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Step 7 of 8:  Receptor binding</a:t>
            </a:r>
          </a:p>
        </p:txBody>
      </p:sp>
      <p:pic>
        <p:nvPicPr>
          <p:cNvPr id="14" name="Picture 13" descr="synaps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029200" cy="37434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40680" y="1170432"/>
            <a:ext cx="3337560" cy="3977639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F5A"/>
                </a:solidFill>
                <a:latin typeface="Calibri"/>
              </a:rPr>
              <a:t>ACh binds to complementary receptors on the postsynaptic membrane. This opens ligand-gated sodium channels.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320040" y="621792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Previous</a:t>
            </a:r>
          </a:p>
        </p:txBody>
      </p:sp>
      <p:sp>
        <p:nvSpPr>
          <p:cNvPr id="17" name="Rounded Rectangle 16">
            <a:hlinkClick r:id="rId4" action="ppaction://hlinksldjump"/>
          </p:cNvPr>
          <p:cNvSpPr/>
          <p:nvPr/>
        </p:nvSpPr>
        <p:spPr>
          <a:xfrm>
            <a:off x="1828800" y="6217920"/>
            <a:ext cx="123444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20040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Next step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happens at a synapse?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10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804672"/>
            <a:ext cx="6766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3A6B"/>
                </a:solidFill>
                <a:latin typeface="Calibri"/>
              </a:rPr>
              <a:t>Step 8 of 8:  Postsynaptic response</a:t>
            </a:r>
          </a:p>
        </p:txBody>
      </p:sp>
      <p:pic>
        <p:nvPicPr>
          <p:cNvPr id="14" name="Picture 13" descr="synaps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70432"/>
            <a:ext cx="5029200" cy="37434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40680" y="1170432"/>
            <a:ext cx="3337560" cy="3977639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F5A"/>
                </a:solidFill>
                <a:latin typeface="Calibri"/>
              </a:rPr>
              <a:t>Na⁺ enters the postsynaptic neurone. If the excitatory postsynaptic potential reaches threshold, an action potential is generated. ACh is then hydrolysed by acetylcholinesterase so the membrane can repolarise.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320040" y="621792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Previous</a:t>
            </a:r>
          </a:p>
        </p:txBody>
      </p:sp>
      <p:sp>
        <p:nvSpPr>
          <p:cNvPr id="17" name="Rounded Rectangle 16">
            <a:hlinkClick r:id="rId4" action="ppaction://hlinksldjump"/>
          </p:cNvPr>
          <p:cNvSpPr/>
          <p:nvPr/>
        </p:nvSpPr>
        <p:spPr>
          <a:xfrm>
            <a:off x="1828800" y="6217920"/>
            <a:ext cx="123444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320040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are the main features?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11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7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8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The features of a synapse</a:t>
            </a:r>
          </a:p>
        </p:txBody>
      </p:sp>
      <p:pic>
        <p:nvPicPr>
          <p:cNvPr id="14" name="Picture 13" descr="synapse_em_sty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0"/>
            <a:ext cx="4572000" cy="4572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212080" y="1143000"/>
            <a:ext cx="3566160" cy="1965960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A2F5A"/>
                </a:solidFill>
                <a:latin typeface="Calibri"/>
              </a:rPr>
              <a:t>Which structures can you identify?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2F5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2F5A"/>
                </a:solidFill>
                <a:latin typeface="Calibri"/>
              </a:rPr>
              <a:t>Which cell is the presynaptic neurone?</a:t>
            </a:r>
          </a:p>
        </p:txBody>
      </p:sp>
      <p:sp>
        <p:nvSpPr>
          <p:cNvPr id="16" name="Rounded Rectangle 15">
            <a:hlinkClick r:id="rId4" action="ppaction://hlinksldjump"/>
          </p:cNvPr>
          <p:cNvSpPr/>
          <p:nvPr/>
        </p:nvSpPr>
        <p:spPr>
          <a:xfrm>
            <a:off x="5349240" y="3246120"/>
            <a:ext cx="3291840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show diagram</a:t>
            </a:r>
          </a:p>
        </p:txBody>
      </p:sp>
      <p:sp>
        <p:nvSpPr>
          <p:cNvPr id="17" name="Rounded Rectangle 16">
            <a:hlinkClick r:id="rId5" action="ppaction://hlinksldjump"/>
          </p:cNvPr>
          <p:cNvSpPr/>
          <p:nvPr/>
        </p:nvSpPr>
        <p:spPr>
          <a:xfrm>
            <a:off x="5349240" y="3794760"/>
            <a:ext cx="3291840" cy="438912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identify structures</a:t>
            </a:r>
          </a:p>
        </p:txBody>
      </p:sp>
      <p:sp>
        <p:nvSpPr>
          <p:cNvPr id="18" name="Rounded Rectangle 17">
            <a:hlinkClick r:id="rId6" action="ppaction://hlinksldjump"/>
          </p:cNvPr>
          <p:cNvSpPr/>
          <p:nvPr/>
        </p:nvSpPr>
        <p:spPr>
          <a:xfrm>
            <a:off x="5349240" y="4343400"/>
            <a:ext cx="3291840" cy="438912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which is presynaptic?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are the main features?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pic>
        <p:nvPicPr>
          <p:cNvPr id="10" name="Picture 9" descr="synaps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303520" cy="39476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0" y="1097280"/>
            <a:ext cx="3108960" cy="4023360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A2F5A"/>
                </a:solidFill>
                <a:latin typeface="Calibri"/>
              </a:rPr>
              <a:t>2D diagram of a cholinergic synapse.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2F5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2F5A"/>
                </a:solidFill>
                <a:latin typeface="Calibri"/>
              </a:rPr>
              <a:t>Orange: presynaptic knob (vesicles, mitochondria, Ca²⁺ channels).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2F5A"/>
                </a:solidFill>
                <a:latin typeface="Calibri"/>
              </a:rPr>
              <a:t>Blue band: synaptic cleft.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1A2F5A"/>
                </a:solidFill>
                <a:latin typeface="Calibri"/>
              </a:rPr>
              <a:t>Lower cell: postsynaptic membrane with receptors.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5943600" y="539496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are the main features?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960120"/>
            <a:ext cx="7863840" cy="56692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B3A6B"/>
                </a:solidFill>
                <a:latin typeface="Calibri"/>
              </a:rPr>
              <a:t>Synaptic vesicles (contain neurotransmitter)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18488"/>
            <a:ext cx="7863840" cy="56692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B3A6B"/>
                </a:solidFill>
                <a:latin typeface="Calibri"/>
              </a:rPr>
              <a:t>Mitochondria (ATP for exocytosis and pumps)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76856"/>
            <a:ext cx="7863840" cy="56692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B3A6B"/>
                </a:solidFill>
                <a:latin typeface="Calibri"/>
              </a:rPr>
              <a:t>Presynaptic membrane with voltage-gated Ca²⁺ channels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35224"/>
            <a:ext cx="7863840" cy="56692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B3A6B"/>
                </a:solidFill>
                <a:latin typeface="Calibri"/>
              </a:rPr>
              <a:t>Synaptic cleft (diffusion pathway)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93591"/>
            <a:ext cx="7863840" cy="56692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B3A6B"/>
                </a:solidFill>
                <a:latin typeface="Calibri"/>
              </a:rPr>
              <a:t>Postsynaptic receptors / ligand-gated Na⁺ channels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51959"/>
            <a:ext cx="7863840" cy="56692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B3A6B"/>
                </a:solidFill>
                <a:latin typeface="Calibri"/>
              </a:rPr>
              <a:t>Postsynaptic neurone</a:t>
            </a:r>
          </a:p>
        </p:txBody>
      </p:sp>
      <p:sp>
        <p:nvSpPr>
          <p:cNvPr id="16" name="Rounded Rectangle 15">
            <a:hlinkClick r:id="rId2" action="ppaction://hlinksldjump"/>
          </p:cNvPr>
          <p:cNvSpPr/>
          <p:nvPr/>
        </p:nvSpPr>
        <p:spPr>
          <a:xfrm>
            <a:off x="3200400" y="521208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What are the main features?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7863840" cy="3291840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C5B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A2F5A"/>
                </a:solidFill>
                <a:latin typeface="Calibri"/>
              </a:rPr>
              <a:t>The presynaptic neurone is the one that contains the synaptic vesicles (the upper cell in the diagram).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2F5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2F5A"/>
                </a:solidFill>
                <a:latin typeface="Calibri"/>
              </a:rPr>
              <a:t>It is the cell that arrives with the action potential and releases neurotransmitter. The postsynaptic cell has the receptors and, if threshold is reached, fires the next action potential.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2F5A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1A2F5A"/>
                </a:solidFill>
                <a:latin typeface="Calibri"/>
              </a:rPr>
              <a:t>Synapses are unidirectional because vesicles are only in the presynaptic knob and receptors only on the postsynaptic membrane.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93776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Transmission across a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12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5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6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786384"/>
            <a:ext cx="8686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What is the sequence in events across a synapse?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115568"/>
            <a:ext cx="8595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The statements are jumbled (as in the original). Click Check to see the correct order.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417320"/>
            <a:ext cx="384048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1417320"/>
            <a:ext cx="8046720" cy="438912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Calcium channels in the membrane open and ions move 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1915668"/>
            <a:ext cx="384048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1915668"/>
            <a:ext cx="8046720" cy="438912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An action potential is generated in the postsynaptic neurone.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414016"/>
            <a:ext cx="384048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2414016"/>
            <a:ext cx="8046720" cy="438912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Synaptic vesicles move towards the presynaptic membrane.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912364"/>
            <a:ext cx="384048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2912364"/>
            <a:ext cx="8046720" cy="438912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An action potential arrives at the presynaptic neurone.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410712"/>
            <a:ext cx="384048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410712"/>
            <a:ext cx="8046720" cy="438912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Vesicles fuse with the membrane, releasing acetylcholine.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909060"/>
            <a:ext cx="384048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909060"/>
            <a:ext cx="8046720" cy="438912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Acetylcholine binds to receptors on the postsynaptic cell.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4407408"/>
            <a:ext cx="384048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407408"/>
            <a:ext cx="8046720" cy="438912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Sodium channels on the postsynaptic membrane open.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905756"/>
            <a:ext cx="384048" cy="438912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4905756"/>
            <a:ext cx="8046720" cy="438912"/>
          </a:xfrm>
          <a:prstGeom prst="roundRect">
            <a:avLst>
              <a:gd name="adj" fmla="val 15000"/>
            </a:avLst>
          </a:prstGeom>
          <a:solidFill>
            <a:srgbClr val="FFF6B0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Sodium ions move into the cell, causing it to depolarize.</a:t>
            </a:r>
          </a:p>
        </p:txBody>
      </p:sp>
      <p:sp>
        <p:nvSpPr>
          <p:cNvPr id="31" name="Rounded Rectangle 30">
            <a:hlinkClick r:id="rId4" action="ppaction://hlinksldjump"/>
          </p:cNvPr>
          <p:cNvSpPr/>
          <p:nvPr/>
        </p:nvSpPr>
        <p:spPr>
          <a:xfrm>
            <a:off x="32004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32" name="Rounded Rectangle 31">
            <a:hlinkClick r:id="rId2" action="ppaction://hlinksldjump"/>
          </p:cNvPr>
          <p:cNvSpPr/>
          <p:nvPr/>
        </p:nvSpPr>
        <p:spPr>
          <a:xfrm>
            <a:off x="1965960" y="6217920"/>
            <a:ext cx="137160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Transmission – correct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804672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2E9E4F"/>
                </a:solidFill>
                <a:latin typeface="Calibri"/>
              </a:rPr>
              <a:t>Correct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170432"/>
            <a:ext cx="384048" cy="47548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170432"/>
            <a:ext cx="8046720" cy="47548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An action potential arrives at the presynaptic neurone.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700784"/>
            <a:ext cx="384048" cy="47548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700784"/>
            <a:ext cx="8046720" cy="47548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Calcium channels in the membrane open and ions move 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231136"/>
            <a:ext cx="384048" cy="47548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231136"/>
            <a:ext cx="8046720" cy="47548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Synaptic vesicles move towards the presynaptic membrane.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761488"/>
            <a:ext cx="384048" cy="47548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2761488"/>
            <a:ext cx="8046720" cy="47548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Vesicles fuse with the membrane, releasing acetylcholine.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291840"/>
            <a:ext cx="384048" cy="47548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291840"/>
            <a:ext cx="8046720" cy="47548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Acetylcholine binds to receptors on the postsynaptic cell.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822191"/>
            <a:ext cx="384048" cy="47548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822191"/>
            <a:ext cx="8046720" cy="47548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Sodium channels on the postsynaptic membrane open.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352544"/>
            <a:ext cx="384048" cy="47548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352544"/>
            <a:ext cx="8046720" cy="47548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Sodium ions move into the cell, causing it to depolarize.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882896"/>
            <a:ext cx="384048" cy="475488"/>
          </a:xfrm>
          <a:prstGeom prst="roundRect">
            <a:avLst>
              <a:gd name="adj" fmla="val 15000"/>
            </a:avLst>
          </a:prstGeom>
          <a:solidFill>
            <a:srgbClr val="1B7A3A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882896"/>
            <a:ext cx="8046720" cy="475488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An action potential is generated in the postsynaptic neurone.</a:t>
            </a:r>
          </a:p>
        </p:txBody>
      </p:sp>
      <p:sp>
        <p:nvSpPr>
          <p:cNvPr id="27" name="Rounded Rectangle 26">
            <a:hlinkClick r:id="rId2" action="ppaction://hlinksldjump"/>
          </p:cNvPr>
          <p:cNvSpPr/>
          <p:nvPr/>
        </p:nvSpPr>
        <p:spPr>
          <a:xfrm>
            <a:off x="3200400" y="562356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13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1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14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" y="6199632"/>
            <a:ext cx="8741664" cy="32918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786384"/>
            <a:ext cx="8595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What are the main features of a synapse?</a:t>
            </a:r>
          </a:p>
        </p:txBody>
      </p:sp>
      <p:pic>
        <p:nvPicPr>
          <p:cNvPr id="14" name="Picture 13" descr="synapse_numb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024128"/>
            <a:ext cx="6263640" cy="46622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5349240"/>
            <a:ext cx="8595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1B3A6B"/>
                </a:solidFill>
                <a:latin typeface="Calibri"/>
              </a:rPr>
              <a:t>Click a numbered hotspot, then choose the correct label from the list.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256032" y="1115568"/>
            <a:ext cx="713232" cy="38404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Rounded Rectangle 16">
            <a:hlinkClick r:id="rId6" action="ppaction://hlinksldjump"/>
          </p:cNvPr>
          <p:cNvSpPr/>
          <p:nvPr/>
        </p:nvSpPr>
        <p:spPr>
          <a:xfrm>
            <a:off x="256032" y="2331720"/>
            <a:ext cx="713232" cy="38404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256032" y="3703320"/>
            <a:ext cx="713232" cy="38404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>
            <a:hlinkClick r:id="rId8" action="ppaction://hlinksldjump"/>
          </p:cNvPr>
          <p:cNvSpPr/>
          <p:nvPr/>
        </p:nvSpPr>
        <p:spPr>
          <a:xfrm>
            <a:off x="8092440" y="1115568"/>
            <a:ext cx="713232" cy="38404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ounded Rectangle 19">
            <a:hlinkClick r:id="rId9" action="ppaction://hlinksldjump"/>
          </p:cNvPr>
          <p:cNvSpPr/>
          <p:nvPr/>
        </p:nvSpPr>
        <p:spPr>
          <a:xfrm>
            <a:off x="8092440" y="2148840"/>
            <a:ext cx="713232" cy="38404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8092440" y="3063240"/>
            <a:ext cx="713232" cy="38404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Rounded Rectangle 21">
            <a:hlinkClick r:id="rId11" action="ppaction://hlinksldjump"/>
          </p:cNvPr>
          <p:cNvSpPr/>
          <p:nvPr/>
        </p:nvSpPr>
        <p:spPr>
          <a:xfrm>
            <a:off x="8092440" y="4160520"/>
            <a:ext cx="713232" cy="384048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Rounded Rectangle 22">
            <a:hlinkClick r:id="rId12" action="ppaction://hlinksldjump"/>
          </p:cNvPr>
          <p:cNvSpPr/>
          <p:nvPr/>
        </p:nvSpPr>
        <p:spPr>
          <a:xfrm>
            <a:off x="320040" y="6217920"/>
            <a:ext cx="1554480" cy="292608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24" name="Rounded Rectangle 23">
            <a:hlinkClick r:id="rId3" action="ppaction://hlinksldjump"/>
          </p:cNvPr>
          <p:cNvSpPr/>
          <p:nvPr/>
        </p:nvSpPr>
        <p:spPr>
          <a:xfrm>
            <a:off x="1965960" y="6217920"/>
            <a:ext cx="1280160" cy="292608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Choose the correct label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1463040" y="137160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mitochondrion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463040" y="190195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voltage-gated Ca²⁺ channel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1463040" y="2432304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cleft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1463040" y="2962656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vesicle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1463040" y="3493008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presynaptic membrane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1463040" y="402336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receptor (ligand-gated Na⁺ channel)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1463040" y="455371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postsynaptic membrane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7863840" cy="29260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Correct – 1  Mitochondrion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Provides ATP for active transport (Na⁺/K⁺ pump, Ca²⁺ removal) and for vesicle recycling / exocytosis.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66344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 to diagram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7863840" cy="219456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that one.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Look at the position of the leader line and try again.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29768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Choose the correct label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1463040" y="137160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mitochondrion</a:t>
            </a:r>
          </a:p>
        </p:txBody>
      </p:sp>
      <p:sp>
        <p:nvSpPr>
          <p:cNvPr id="12" name="Rounded Rectangle 11">
            <a:hlinkClick r:id="rId3" action="ppaction://hlinksldjump"/>
          </p:cNvPr>
          <p:cNvSpPr/>
          <p:nvPr/>
        </p:nvSpPr>
        <p:spPr>
          <a:xfrm>
            <a:off x="1463040" y="190195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voltage-gated Ca²⁺ channel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463040" y="2432304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cleft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1463040" y="2962656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vesicle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1463040" y="3493008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presynaptic membrane</a:t>
            </a:r>
          </a:p>
        </p:txBody>
      </p:sp>
      <p:sp>
        <p:nvSpPr>
          <p:cNvPr id="16" name="Rounded Rectangle 15">
            <a:hlinkClick r:id="rId2" action="ppaction://hlinksldjump"/>
          </p:cNvPr>
          <p:cNvSpPr/>
          <p:nvPr/>
        </p:nvSpPr>
        <p:spPr>
          <a:xfrm>
            <a:off x="1463040" y="402336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receptor (ligand-gated Na⁺ channel)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1463040" y="455371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postsynaptic membrane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7863840" cy="29260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Correct – 2  Voltage-gated Ca²⁺ channel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Opens when the action potential depolarises the presynaptic membrane, allowing Ca²⁺ in.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66344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 to diagram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7863840" cy="219456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that one.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Look at the position of the leader line and try again.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29768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Choose the correct label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1463040" y="137160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mitochondrion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1463040" y="190195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voltage-gated Ca²⁺ channel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1463040" y="2432304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cleft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1463040" y="2962656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vesicle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1463040" y="3493008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presynaptic membrane</a:t>
            </a:r>
          </a:p>
        </p:txBody>
      </p:sp>
      <p:sp>
        <p:nvSpPr>
          <p:cNvPr id="16" name="Rounded Rectangle 15">
            <a:hlinkClick r:id="rId2" action="ppaction://hlinksldjump"/>
          </p:cNvPr>
          <p:cNvSpPr/>
          <p:nvPr/>
        </p:nvSpPr>
        <p:spPr>
          <a:xfrm>
            <a:off x="1463040" y="402336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receptor (ligand-gated Na⁺ channel)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1463040" y="455371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postsynaptic membrane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7863840" cy="29260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Correct – 3  Synaptic cleft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Narrow gap between the two neurones. Neurotransmitter diffuses across it. It also ensures the impulse cannot jump electrically, keeping the synapse unidirectional and integrable.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66344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 to diagram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7863840" cy="219456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that one.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Look at the position of the leader line and try again.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29768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Choose the correct label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1463040" y="137160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mitochondrion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1463040" y="190195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voltage-gated Ca²⁺ channel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463040" y="2432304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cleft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1463040" y="2962656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vesicle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1463040" y="3493008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presynaptic membrane</a:t>
            </a:r>
          </a:p>
        </p:txBody>
      </p:sp>
      <p:sp>
        <p:nvSpPr>
          <p:cNvPr id="16" name="Rounded Rectangle 15">
            <a:hlinkClick r:id="rId2" action="ppaction://hlinksldjump"/>
          </p:cNvPr>
          <p:cNvSpPr/>
          <p:nvPr/>
        </p:nvSpPr>
        <p:spPr>
          <a:xfrm>
            <a:off x="1463040" y="402336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receptor (ligand-gated Na⁺ channel)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1463040" y="455371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postsynaptic membrane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7863840" cy="29260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Correct – 4  Synaptic vesicle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Contains acetylcholine (in this cholinergic example). Fuses with the presynaptic membrane during exocytosis.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66344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 to diagram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7863840" cy="219456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that one.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Look at the position of the leader line and try again.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29768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Choose the correct label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1463040" y="137160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mitochondrion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1463040" y="190195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voltage-gated Ca²⁺ channel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463040" y="2432304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cleft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1463040" y="2962656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vesicle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1463040" y="3493008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presynaptic membrane</a:t>
            </a:r>
          </a:p>
        </p:txBody>
      </p:sp>
      <p:sp>
        <p:nvSpPr>
          <p:cNvPr id="16" name="Rounded Rectangle 15">
            <a:hlinkClick r:id="rId2" action="ppaction://hlinksldjump"/>
          </p:cNvPr>
          <p:cNvSpPr/>
          <p:nvPr/>
        </p:nvSpPr>
        <p:spPr>
          <a:xfrm>
            <a:off x="1463040" y="402336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receptor (ligand-gated Na⁺ channel)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1463040" y="455371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postsynaptic membrane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7863840" cy="29260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Correct – 5  Presynaptic membrane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Membrane of the synaptic knob. Site of vesicle fusion and Ca²⁺ channels.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66344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 to diagram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7863840" cy="219456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that one.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Look at the position of the leader line and try again.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29768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Choose the correct label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1463040" y="137160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mitochondrion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1463040" y="190195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voltage-gated Ca²⁺ channel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463040" y="2432304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cleft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1463040" y="2962656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vesicle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1463040" y="3493008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presynaptic membrane</a:t>
            </a:r>
          </a:p>
        </p:txBody>
      </p:sp>
      <p:sp>
        <p:nvSpPr>
          <p:cNvPr id="16" name="Rounded Rectangle 15">
            <a:hlinkClick r:id="rId3" action="ppaction://hlinksldjump"/>
          </p:cNvPr>
          <p:cNvSpPr/>
          <p:nvPr/>
        </p:nvSpPr>
        <p:spPr>
          <a:xfrm>
            <a:off x="1463040" y="402336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receptor (ligand-gated Na⁺ channel)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1463040" y="455371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postsynaptic membrane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7863840" cy="29260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Correct – 6  Receptor / ligand-gated Na⁺ channel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On the postsynaptic membrane. ACh binding opens the channel so Na⁺ can enter.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66344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 to diagram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7863840" cy="219456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that one.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Look at the position of the leader line and try again.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29768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B3A6B"/>
                </a:solidFill>
                <a:latin typeface="Calibri"/>
              </a:rPr>
              <a:t>Choose the correct label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1463040" y="137160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mitochondrion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1463040" y="190195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voltage-gated Ca²⁺ channel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463040" y="2432304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cleft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1463040" y="2962656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synaptic vesicle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1463040" y="3493008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presynaptic membrane</a:t>
            </a:r>
          </a:p>
        </p:txBody>
      </p:sp>
      <p:sp>
        <p:nvSpPr>
          <p:cNvPr id="16" name="Rounded Rectangle 15">
            <a:hlinkClick r:id="rId2" action="ppaction://hlinksldjump"/>
          </p:cNvPr>
          <p:cNvSpPr/>
          <p:nvPr/>
        </p:nvSpPr>
        <p:spPr>
          <a:xfrm>
            <a:off x="1463040" y="4023360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receptor (ligand-gated Na⁺ channel)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1463040" y="4553712"/>
            <a:ext cx="6217920" cy="475488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3A6B"/>
                </a:solidFill>
                <a:latin typeface="Calibri"/>
              </a:rPr>
              <a:t>postsynaptic membrane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7863840" cy="292608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Correct – 7  Postsynaptic membrane</a:t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Membrane of the next neurone (or effector). Generates an excitatory (or inhibitory) postsynaptic potential.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66344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 to diagram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The structure of the synapse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7863840" cy="219456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that one.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Look at the position of the leader line and try again.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29768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Synapse structure –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1  Mitochondrion  –  Provides ATP for active transport (Na⁺/K⁺ pump, Ca²⁺ removal) and for vesicle recycling / exocytosis.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572768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2  Voltage-gated Ca²⁺ channel  –  Opens when the action potential depolarises the presynaptic membrane, allowing Ca²⁺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231136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3  Synaptic cleft  –  Narrow gap between the two neurones. Neurotransmitter diffuses across it. It also ensures the impulse cannot jump electrically, keeping the synapse unidirectional and integrable.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889504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4  Synaptic vesicle  –  Contains acetylcholine (in this cholinergic example). Fuses with the presynaptic membrane during exocytosis.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47872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5  Presynaptic membrane  –  Membrane of the synaptic knob. Site of vesicle fusion and Ca²⁺ channels.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6  Receptor / ligand-gated Na⁺ channel  –  On the postsynaptic membrane. ACh binding opens the channel so Na⁺ can enter.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64607"/>
            <a:ext cx="8412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B3A6B"/>
                </a:solidFill>
                <a:latin typeface="Calibri"/>
              </a:rPr>
              <a:t>7  Postsynaptic membrane  –  Membrane of the next neurone (or effector). Generates an excitatory (or inhibitory) postsynaptic potential.</a:t>
            </a:r>
          </a:p>
        </p:txBody>
      </p:sp>
      <p:sp>
        <p:nvSpPr>
          <p:cNvPr id="17" name="Rounded Rectangle 16">
            <a:hlinkClick r:id="rId2" action="ppaction://hlinksldjump"/>
          </p:cNvPr>
          <p:cNvSpPr/>
          <p:nvPr/>
        </p:nvSpPr>
        <p:spPr>
          <a:xfrm>
            <a:off x="3200400" y="5669280"/>
            <a:ext cx="2743200" cy="36576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14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7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8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868680"/>
            <a:ext cx="8412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3A6B"/>
                </a:solidFill>
                <a:latin typeface="Calibri"/>
              </a:rPr>
              <a:t>What is the immediate effect of Ca²⁺ entering the synaptic knob?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594360" y="2011680"/>
            <a:ext cx="7955279" cy="621792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A   Acetylcholinesterase is activated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594360" y="2761488"/>
            <a:ext cx="7955279" cy="621792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B   Synaptic vesicles move to and fuse with the presynaptic membrane</a:t>
            </a:r>
          </a:p>
        </p:txBody>
      </p:sp>
      <p:sp>
        <p:nvSpPr>
          <p:cNvPr id="15" name="Rounded Rectangle 14">
            <a:hlinkClick r:id="rId5" action="ppaction://hlinksldjump"/>
          </p:cNvPr>
          <p:cNvSpPr/>
          <p:nvPr/>
        </p:nvSpPr>
        <p:spPr>
          <a:xfrm>
            <a:off x="594360" y="3511296"/>
            <a:ext cx="7955279" cy="621792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C   Sodium ions leave the postsynaptic neurone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94360" y="4261104"/>
            <a:ext cx="7955279" cy="621792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D   The synaptic cleft becomes wider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7863840" cy="256032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Correct.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Ca²⁺ is the trigger for vesicle exocytosis of acetylcholine.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57200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7863840" cy="228600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quite.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Calcium entry is the step that links the action potential to neurotransmitter release.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38912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7863840" cy="228600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quite.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Calcium entry is the step that links the action potential to neurotransmitter release.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38912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7863840" cy="228600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quite.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Calcium entry is the step that links the action potential to neurotransmitter release.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38912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15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7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>
            <a:hlinkClick r:id="rId8" action="ppaction://hlinksldjump"/>
          </p:cNvPr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868680"/>
            <a:ext cx="84124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3A6B"/>
                </a:solidFill>
                <a:latin typeface="Calibri"/>
              </a:rPr>
              <a:t>Why is transmission at a cholinergic synapse unidirectional?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594360" y="2011680"/>
            <a:ext cx="7955279" cy="621792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A   Myelin is only on the postsynaptic side</a:t>
            </a:r>
          </a:p>
        </p:txBody>
      </p:sp>
      <p:sp>
        <p:nvSpPr>
          <p:cNvPr id="14" name="Rounded Rectangle 13">
            <a:hlinkClick r:id="rId4" action="ppaction://hlinksldjump"/>
          </p:cNvPr>
          <p:cNvSpPr/>
          <p:nvPr/>
        </p:nvSpPr>
        <p:spPr>
          <a:xfrm>
            <a:off x="594360" y="2761488"/>
            <a:ext cx="7955279" cy="621792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B   Vesicles are only presynaptic and receptors are only postsynaptic</a:t>
            </a:r>
          </a:p>
        </p:txBody>
      </p:sp>
      <p:sp>
        <p:nvSpPr>
          <p:cNvPr id="15" name="Rounded Rectangle 14">
            <a:hlinkClick r:id="rId5" action="ppaction://hlinksldjump"/>
          </p:cNvPr>
          <p:cNvSpPr/>
          <p:nvPr/>
        </p:nvSpPr>
        <p:spPr>
          <a:xfrm>
            <a:off x="594360" y="3511296"/>
            <a:ext cx="7955279" cy="621792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C   Sodium ions can only diffuse one way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594360" y="4261104"/>
            <a:ext cx="7955279" cy="621792"/>
          </a:xfrm>
          <a:prstGeom prst="roundRect">
            <a:avLst>
              <a:gd name="adj" fmla="val 15000"/>
            </a:avLst>
          </a:prstGeom>
          <a:solidFill>
            <a:srgbClr val="E3F2FD"/>
          </a:solidFill>
          <a:ln w="1270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B3A6B"/>
                </a:solidFill>
                <a:latin typeface="Calibri"/>
              </a:rPr>
              <a:t>D   The cleft contains mitochondria that pump ACh backwards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7863840" cy="2560320"/>
          </a:xfrm>
          <a:prstGeom prst="roundRect">
            <a:avLst>
              <a:gd name="adj" fmla="val 15000"/>
            </a:avLst>
          </a:prstGeom>
          <a:solidFill>
            <a:srgbClr val="E8F5E9"/>
          </a:solidFill>
          <a:ln w="15875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Correct.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Neurotransmitter is released from one side only; receptors sit only on the other. The impulse cannot reverse.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57200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7863840" cy="228600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quite.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Think about where the vesicles are, and where the receptors are.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38912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7863840" cy="228600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quite.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Think about where the vesicles are, and where the receptors are.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38912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Knowledge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7863840" cy="2286000"/>
          </a:xfrm>
          <a:prstGeom prst="roundRect">
            <a:avLst>
              <a:gd name="adj" fmla="val 15000"/>
            </a:avLst>
          </a:prstGeom>
          <a:solidFill>
            <a:srgbClr val="FFEBEE"/>
          </a:solidFill>
          <a:ln w="15875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Not quite.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1B3A6B"/>
                </a:solidFill>
                <a:latin typeface="Calibri"/>
              </a:rPr>
              <a:t>Think about where the vesicles are, and where the receptors are.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3200400" y="438912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EF6C0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Try again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91440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End of Part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09728"/>
            <a:ext cx="1536192" cy="420624"/>
          </a:xfrm>
          <a:prstGeom prst="roundRect">
            <a:avLst>
              <a:gd name="adj" fmla="val 15000"/>
            </a:avLst>
          </a:prstGeom>
          <a:solidFill>
            <a:srgbClr val="C8E6A0"/>
          </a:solidFill>
          <a:ln w="12700">
            <a:solidFill>
              <a:srgbClr val="1B7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7A3A"/>
                </a:solidFill>
                <a:latin typeface="Calibri"/>
              </a:rPr>
              <a:t>A2 Biology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" y="6565392"/>
            <a:ext cx="9070848" cy="36576"/>
          </a:xfrm>
          <a:prstGeom prst="rect">
            <a:avLst/>
          </a:prstGeom>
          <a:solidFill>
            <a:srgbClr val="7A3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658368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B2D8B"/>
                </a:solidFill>
                <a:latin typeface="Calibri"/>
              </a:rPr>
              <a:t>16 of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583680"/>
            <a:ext cx="6035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Original course © Boardworks Ltd 2009. Reconstructed interactive resource.</a:t>
            </a:r>
          </a:p>
        </p:txBody>
      </p:sp>
      <p:sp>
        <p:nvSpPr>
          <p:cNvPr id="10" name="Oval 9">
            <a:hlinkClick r:id="rId3" action="ppaction://hlinksldjump"/>
          </p:cNvPr>
          <p:cNvSpPr/>
          <p:nvPr/>
        </p:nvSpPr>
        <p:spPr>
          <a:xfrm>
            <a:off x="146304" y="5760720"/>
            <a:ext cx="384048" cy="38404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B2D8B"/>
                </a:solidFill>
                <a:latin typeface="Calibri"/>
              </a:rPr>
              <a:t>◀</a:t>
            </a:r>
          </a:p>
        </p:txBody>
      </p:sp>
      <p:sp>
        <p:nvSpPr>
          <p:cNvPr id="11" name="Oval 10"/>
          <p:cNvSpPr/>
          <p:nvPr/>
        </p:nvSpPr>
        <p:spPr>
          <a:xfrm>
            <a:off x="8613648" y="5760720"/>
            <a:ext cx="384048" cy="384048"/>
          </a:xfrm>
          <a:prstGeom prst="ellipse">
            <a:avLst/>
          </a:prstGeom>
          <a:solidFill>
            <a:srgbClr val="6B2D8B"/>
          </a:solidFill>
          <a:ln w="12700">
            <a:solidFill>
              <a:srgbClr val="6B2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2E9E4F"/>
                </a:solidFill>
                <a:latin typeface="Calibri"/>
              </a:rPr>
              <a:t>End of the nervous system 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7680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B3A6B"/>
                </a:solidFill>
                <a:latin typeface="Calibri"/>
              </a:rPr>
              <a:t>Replay any activity from Contents. Reset returns each activity to its first screen so you can use it again in the same lesson.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3017520" y="4206240"/>
            <a:ext cx="3108960" cy="457200"/>
          </a:xfrm>
          <a:prstGeom prst="roundRect">
            <a:avLst>
              <a:gd name="adj" fmla="val 15000"/>
            </a:avLst>
          </a:prstGeom>
          <a:solidFill>
            <a:srgbClr val="2E9E4F"/>
          </a:solidFill>
          <a:ln w="12700">
            <a:solidFill>
              <a:srgbClr val="2E9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Back to contents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