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Skin-block diagram rebuilt (Pacinian corpuscle highlighted in later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play animation of pressure transduction in a Pacinian corpuscle.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click-label retina activity.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At A-level, bleaching of rhodopsin → opsin + retinal → generator potential is the required sequence. (More advanced courses note that light actually closes Na⁺ channels in rods; the Boardworks 2009 wording is kept here as in the source course.)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wording retained. Trichromatic theory: three iodopsin forms, colour from relative stimulation.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rods/cones sort. Original first card was ‘mostly used for night vision’ (rods).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A. Pressure deforms the ending, stretch-mediated Na⁺ channels open, Na⁺ influx creates a graded generator potential.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 Rods use rhodopsin, operate in dim light, show convergence, and are absent from the fovea.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8.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42.xml"/><Relationship Id="rId9" Type="http://schemas.openxmlformats.org/officeDocument/2006/relationships/slide" Target="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slide" Target="slide2.xml"/><Relationship Id="rId5"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4.xml"/><Relationship Id="rId4" Type="http://schemas.openxmlformats.org/officeDocument/2006/relationships/notesSlide" Target="../notesSlides/notesSlide2.xml"/><Relationship Id="rId5" Type="http://schemas.openxmlformats.org/officeDocument/2006/relationships/slide" Target="slide5.xml"/><Relationship Id="rId6" Type="http://schemas.openxmlformats.org/officeDocument/2006/relationships/slide" Target="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4.xml"/><Relationship Id="rId4" Type="http://schemas.openxmlformats.org/officeDocument/2006/relationships/notesSlide" Target="../notesSlides/notesSlide3.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notesSlide" Target="../notesSlides/notesSlide4.xml"/><Relationship Id="rId6"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6.xml"/><Relationship Id="rId4" Type="http://schemas.openxmlformats.org/officeDocument/2006/relationships/slide" Target="slide4.xml"/><Relationship Id="rId5" Type="http://schemas.openxmlformats.org/officeDocument/2006/relationships/notesSlide" Target="../notesSlides/notesSlide5.xml"/><Relationship Id="rId6"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notesSlide" Target="../notesSlides/notesSlide6.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3.xml"/><Relationship Id="rId10" Type="http://schemas.openxmlformats.org/officeDocument/2006/relationships/slide" Target="slide7.xml"/><Relationship Id="rId11" Type="http://schemas.openxmlformats.org/officeDocument/2006/relationships/slide" Target="slide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 Id="rId4" Type="http://schemas.openxmlformats.org/officeDocument/2006/relationships/slide" Target="slide8.xml"/><Relationship Id="rId5"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 Id="rId4" Type="http://schemas.openxmlformats.org/officeDocument/2006/relationships/slide" Target="slide14.xml"/><Relationship Id="rId5"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 Id="rId3" Type="http://schemas.openxmlformats.org/officeDocument/2006/relationships/notesSlide" Target="../notesSlides/notesSlide9.xml"/><Relationship Id="rId4" Type="http://schemas.openxmlformats.org/officeDocument/2006/relationships/slide" Target="slide17.xml"/><Relationship Id="rId5" Type="http://schemas.openxmlformats.org/officeDocument/2006/relationships/slide" Target="slide20.xml"/><Relationship Id="rId6" Type="http://schemas.openxmlformats.org/officeDocument/2006/relationships/slide" Target="slide23.xml"/><Relationship Id="rId7" Type="http://schemas.openxmlformats.org/officeDocument/2006/relationships/slide" Target="slide26.xml"/><Relationship Id="rId8" Type="http://schemas.openxmlformats.org/officeDocument/2006/relationships/slide" Target="slide29.xml"/><Relationship Id="rId9" Type="http://schemas.openxmlformats.org/officeDocument/2006/relationships/slide" Target="slide32.xml"/><Relationship Id="rId10" Type="http://schemas.openxmlformats.org/officeDocument/2006/relationships/slide" Target="slide35.xml"/><Relationship Id="rId11" Type="http://schemas.openxmlformats.org/officeDocument/2006/relationships/slide" Target="slide38.xml"/><Relationship Id="rId12" Type="http://schemas.openxmlformats.org/officeDocument/2006/relationships/slide" Target="slide41.xml"/><Relationship Id="rId13" Type="http://schemas.openxmlformats.org/officeDocument/2006/relationships/slide" Target="slide15.xml"/><Relationship Id="rId14" Type="http://schemas.openxmlformats.org/officeDocument/2006/relationships/slide" Target="slide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1.xml"/><Relationship Id="rId3" Type="http://schemas.openxmlformats.org/officeDocument/2006/relationships/slide" Target="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7.xml"/><Relationship Id="rId3" Type="http://schemas.openxmlformats.org/officeDocument/2006/relationships/slide" Target="slide2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0.xml"/><Relationship Id="rId3" Type="http://schemas.openxmlformats.org/officeDocument/2006/relationships/slide" Target="slide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6.xml"/><Relationship Id="rId3" Type="http://schemas.openxmlformats.org/officeDocument/2006/relationships/slide" Target="slide3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slide" Target="slide43.xml"/><Relationship Id="rId4" Type="http://schemas.openxmlformats.org/officeDocument/2006/relationships/slide" Target="slide44.xml"/><Relationship Id="rId5" Type="http://schemas.openxmlformats.org/officeDocument/2006/relationships/slide" Target="slide45.xml"/><Relationship Id="rId6" Type="http://schemas.openxmlformats.org/officeDocument/2006/relationships/slide" Target="slide46.xml"/><Relationship Id="rId7" Type="http://schemas.openxmlformats.org/officeDocument/2006/relationships/slide" Target="slide16.xml"/><Relationship Id="rId8" Type="http://schemas.openxmlformats.org/officeDocument/2006/relationships/slide" Target="slide4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49.xml"/><Relationship Id="rId4" Type="http://schemas.openxmlformats.org/officeDocument/2006/relationships/slide" Target="slide48.xml"/><Relationship Id="rId5" Type="http://schemas.openxmlformats.org/officeDocument/2006/relationships/slide" Target="slide50.xml"/><Relationship Id="rId6" Type="http://schemas.openxmlformats.org/officeDocument/2006/relationships/slide" Target="slide51.xml"/><Relationship Id="rId7" Type="http://schemas.openxmlformats.org/officeDocument/2006/relationships/slide" Target="slide42.xml"/><Relationship Id="rId8" Type="http://schemas.openxmlformats.org/officeDocument/2006/relationships/slide" Target="slide5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3: Sensory receptors</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3"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pic>
        <p:nvPicPr>
          <p:cNvPr id="13" name="Picture 12" descr="title_retina.png"/>
          <p:cNvPicPr>
            <a:picLocks noChangeAspect="1"/>
          </p:cNvPicPr>
          <p:nvPr/>
        </p:nvPicPr>
        <p:blipFill>
          <a:blip r:embed="rId2"/>
          <a:stretch>
            <a:fillRect/>
          </a:stretch>
        </p:blipFill>
        <p:spPr>
          <a:xfrm>
            <a:off x="2468880" y="1874519"/>
            <a:ext cx="4046726" cy="36118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2"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2" action="ppaction://hlinksldjump"/>
          </p:cNvPr>
          <p:cNvSpPr/>
          <p:nvPr/>
        </p:nvSpPr>
        <p:spPr>
          <a:xfrm>
            <a:off x="1463040" y="1051560"/>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  the sensory nervous system</a:t>
            </a:r>
          </a:p>
        </p:txBody>
      </p:sp>
      <p:sp>
        <p:nvSpPr>
          <p:cNvPr id="13" name="Rounded Rectangle 12">
            <a:hlinkClick r:id="rId3" action="ppaction://hlinksldjump"/>
          </p:cNvPr>
          <p:cNvSpPr/>
          <p:nvPr/>
        </p:nvSpPr>
        <p:spPr>
          <a:xfrm>
            <a:off x="1463040" y="1673352"/>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  Pacinian corpuscle animation</a:t>
            </a:r>
          </a:p>
        </p:txBody>
      </p:sp>
      <p:sp>
        <p:nvSpPr>
          <p:cNvPr id="14" name="Rounded Rectangle 13">
            <a:hlinkClick r:id="rId4" action="ppaction://hlinksldjump"/>
          </p:cNvPr>
          <p:cNvSpPr/>
          <p:nvPr/>
        </p:nvSpPr>
        <p:spPr>
          <a:xfrm>
            <a:off x="1463040" y="2295144"/>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  photoreceptors in the retina</a:t>
            </a:r>
          </a:p>
        </p:txBody>
      </p:sp>
      <p:sp>
        <p:nvSpPr>
          <p:cNvPr id="15" name="Rounded Rectangle 14">
            <a:hlinkClick r:id="rId5" action="ppaction://hlinksldjump"/>
          </p:cNvPr>
          <p:cNvSpPr/>
          <p:nvPr/>
        </p:nvSpPr>
        <p:spPr>
          <a:xfrm>
            <a:off x="1463040" y="2916936"/>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  rod cells and rhodopsin</a:t>
            </a:r>
          </a:p>
        </p:txBody>
      </p:sp>
      <p:sp>
        <p:nvSpPr>
          <p:cNvPr id="16" name="Rounded Rectangle 15">
            <a:hlinkClick r:id="rId6" action="ppaction://hlinksldjump"/>
          </p:cNvPr>
          <p:cNvSpPr/>
          <p:nvPr/>
        </p:nvSpPr>
        <p:spPr>
          <a:xfrm>
            <a:off x="1463040" y="3538728"/>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  cone cells and iodopsin</a:t>
            </a:r>
          </a:p>
        </p:txBody>
      </p:sp>
      <p:sp>
        <p:nvSpPr>
          <p:cNvPr id="17" name="Rounded Rectangle 16">
            <a:hlinkClick r:id="rId7" action="ppaction://hlinksldjump"/>
          </p:cNvPr>
          <p:cNvSpPr/>
          <p:nvPr/>
        </p:nvSpPr>
        <p:spPr>
          <a:xfrm>
            <a:off x="1463040" y="4160520"/>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6.  rods vs cones sorting</a:t>
            </a:r>
          </a:p>
        </p:txBody>
      </p:sp>
      <p:sp>
        <p:nvSpPr>
          <p:cNvPr id="18" name="Rounded Rectangle 17">
            <a:hlinkClick r:id="rId8" action="ppaction://hlinksldjump"/>
          </p:cNvPr>
          <p:cNvSpPr/>
          <p:nvPr/>
        </p:nvSpPr>
        <p:spPr>
          <a:xfrm>
            <a:off x="1463040" y="4782312"/>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7.  knowledge 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sensory nervous system</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68680"/>
            <a:ext cx="4937760" cy="4846320"/>
          </a:xfrm>
          <a:prstGeom prst="rect">
            <a:avLst/>
          </a:prstGeom>
          <a:noFill/>
        </p:spPr>
        <p:txBody>
          <a:bodyPr wrap="square" anchor="t">
            <a:spAutoFit/>
          </a:bodyPr>
          <a:lstStyle/>
          <a:p>
            <a:pPr algn="l"/>
            <a:r>
              <a:rPr sz="1800" b="1" i="0">
                <a:solidFill>
                  <a:srgbClr val="2E9E4F"/>
                </a:solidFill>
                <a:latin typeface="Calibri"/>
              </a:rPr>
              <a:t>Receptors</a:t>
            </a:r>
            <a:r>
              <a:rPr sz="1700" b="0" i="0">
                <a:solidFill>
                  <a:srgbClr val="1A2F5A"/>
                </a:solidFill>
                <a:latin typeface="Calibri"/>
              </a:rPr>
              <a:t> are specialized cells that can detect changes in the body’s internal and external environment. Most receptor cells are only sensitive to one type of stimulus.</a:t>
            </a:r>
          </a:p>
          <a:p>
            <a:pPr algn="l">
              <a:spcAft>
                <a:spcPts val="600"/>
              </a:spcAft>
            </a:pPr>
            <a:r>
              <a:rPr sz="1700" b="0" i="0">
                <a:solidFill>
                  <a:srgbClr val="1A2F5A"/>
                </a:solidFill>
                <a:latin typeface="Calibri"/>
              </a:rPr>
              <a:t/>
            </a:r>
          </a:p>
          <a:p>
            <a:pPr algn="l">
              <a:spcAft>
                <a:spcPts val="600"/>
              </a:spcAft>
            </a:pPr>
            <a:r>
              <a:rPr sz="1700" b="0" i="0">
                <a:solidFill>
                  <a:srgbClr val="1A2F5A"/>
                </a:solidFill>
                <a:latin typeface="Calibri"/>
              </a:rPr>
              <a:t>Receptors convert the energy of the stimulus into the start of a nerve impulse known as a </a:t>
            </a:r>
            <a:r>
              <a:rPr sz="1700" b="1" i="0">
                <a:solidFill>
                  <a:srgbClr val="2E9E4F"/>
                </a:solidFill>
                <a:latin typeface="Calibri"/>
              </a:rPr>
              <a:t>generator potential</a:t>
            </a:r>
            <a:r>
              <a:rPr sz="1700" b="0" i="0">
                <a:solidFill>
                  <a:srgbClr val="1A2F5A"/>
                </a:solidFill>
                <a:latin typeface="Calibri"/>
              </a:rPr>
              <a:t>.</a:t>
            </a:r>
          </a:p>
          <a:p>
            <a:pPr algn="l">
              <a:spcAft>
                <a:spcPts val="600"/>
              </a:spcAft>
            </a:pPr>
            <a:r>
              <a:rPr sz="1700" b="0" i="0">
                <a:solidFill>
                  <a:srgbClr val="1A2F5A"/>
                </a:solidFill>
                <a:latin typeface="Calibri"/>
              </a:rPr>
              <a:t/>
            </a:r>
          </a:p>
          <a:p>
            <a:pPr algn="l">
              <a:spcAft>
                <a:spcPts val="600"/>
              </a:spcAft>
            </a:pPr>
            <a:r>
              <a:rPr sz="1700" b="0" i="0">
                <a:solidFill>
                  <a:srgbClr val="1A2F5A"/>
                </a:solidFill>
                <a:latin typeface="Calibri"/>
              </a:rPr>
              <a:t>For example, </a:t>
            </a:r>
            <a:r>
              <a:rPr sz="1700" b="1" i="0">
                <a:solidFill>
                  <a:srgbClr val="2E9E4F"/>
                </a:solidFill>
                <a:latin typeface="Calibri"/>
              </a:rPr>
              <a:t>mechanoreceptors</a:t>
            </a:r>
            <a:r>
              <a:rPr sz="1700" b="0" i="0">
                <a:solidFill>
                  <a:srgbClr val="1A2F5A"/>
                </a:solidFill>
                <a:latin typeface="Calibri"/>
              </a:rPr>
              <a:t> detect changes in mechanical energy, such as pressure.</a:t>
            </a:r>
          </a:p>
        </p:txBody>
      </p:sp>
      <p:pic>
        <p:nvPicPr>
          <p:cNvPr id="13" name="Picture 12" descr="skin_block.png"/>
          <p:cNvPicPr>
            <a:picLocks noChangeAspect="1"/>
          </p:cNvPicPr>
          <p:nvPr/>
        </p:nvPicPr>
        <p:blipFill>
          <a:blip r:embed="rId2"/>
          <a:stretch>
            <a:fillRect/>
          </a:stretch>
        </p:blipFill>
        <p:spPr>
          <a:xfrm>
            <a:off x="5212080" y="1005840"/>
            <a:ext cx="4594242" cy="4754880"/>
          </a:xfrm>
          <a:prstGeom prst="rect">
            <a:avLst/>
          </a:prstGeom>
        </p:spPr>
      </p:pic>
      <p:sp>
        <p:nvSpPr>
          <p:cNvPr id="14" name="TextBox 13"/>
          <p:cNvSpPr txBox="1"/>
          <p:nvPr/>
        </p:nvSpPr>
        <p:spPr>
          <a:xfrm>
            <a:off x="5212080" y="5760720"/>
            <a:ext cx="3474720" cy="365760"/>
          </a:xfrm>
          <a:prstGeom prst="rect">
            <a:avLst/>
          </a:prstGeom>
          <a:noFill/>
        </p:spPr>
        <p:txBody>
          <a:bodyPr wrap="square" anchor="t">
            <a:spAutoFit/>
          </a:bodyPr>
          <a:lstStyle/>
          <a:p>
            <a:pPr algn="ctr">
              <a:spcAft>
                <a:spcPts val="400"/>
              </a:spcAft>
            </a:pPr>
            <a:r>
              <a:rPr sz="1200" b="1" i="0">
                <a:solidFill>
                  <a:srgbClr val="2E9E4F"/>
                </a:solidFill>
                <a:latin typeface="Calibri"/>
              </a:rPr>
              <a:t>mechanoreceptor in the skin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1 of 4:  Pacinian corpuscle at rest</a:t>
            </a:r>
          </a:p>
        </p:txBody>
      </p:sp>
      <p:pic>
        <p:nvPicPr>
          <p:cNvPr id="14" name="Picture 13" descr="pacinian.png"/>
          <p:cNvPicPr>
            <a:picLocks noChangeAspect="1"/>
          </p:cNvPicPr>
          <p:nvPr/>
        </p:nvPicPr>
        <p:blipFill>
          <a:blip r:embed="rId2"/>
          <a:stretch>
            <a:fillRect/>
          </a:stretch>
        </p:blipFill>
        <p:spPr>
          <a:xfrm>
            <a:off x="274320" y="1170432"/>
            <a:ext cx="5029200" cy="3657600"/>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Mechanoreceptors within the skin can detect pressure. The Pacinian corpuscle is a pressure receptor in the dermis/hypodermis. It has concentric lamellae of connective tissue around a sensory neurone ending.</a:t>
            </a:r>
          </a:p>
        </p:txBody>
      </p:sp>
      <p:sp>
        <p:nvSpPr>
          <p:cNvPr id="16" name="Rounded Rectangle 15">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7" name="Rounded Rectangle 16">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2 of 4:  Pressure deforms the lamellae</a:t>
            </a:r>
          </a:p>
        </p:txBody>
      </p:sp>
      <p:pic>
        <p:nvPicPr>
          <p:cNvPr id="14" name="Picture 13" descr="pacinian_deformed.png"/>
          <p:cNvPicPr>
            <a:picLocks noChangeAspect="1"/>
          </p:cNvPicPr>
          <p:nvPr/>
        </p:nvPicPr>
        <p:blipFill>
          <a:blip r:embed="rId2"/>
          <a:stretch>
            <a:fillRect/>
          </a:stretch>
        </p:blipFill>
        <p:spPr>
          <a:xfrm>
            <a:off x="274320" y="1170432"/>
            <a:ext cx="5029200" cy="3657600"/>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Pressure deforms the lamellae and stretches the neurone ending in the centre. Stretch-mediated sodium channels in the membrane open.</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3"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3 of 4:  Generator potential</a:t>
            </a:r>
          </a:p>
        </p:txBody>
      </p:sp>
      <p:pic>
        <p:nvPicPr>
          <p:cNvPr id="14" name="Picture 13" descr="pacinian_deformed.png"/>
          <p:cNvPicPr>
            <a:picLocks noChangeAspect="1"/>
          </p:cNvPicPr>
          <p:nvPr/>
        </p:nvPicPr>
        <p:blipFill>
          <a:blip r:embed="rId2"/>
          <a:stretch>
            <a:fillRect/>
          </a:stretch>
        </p:blipFill>
        <p:spPr>
          <a:xfrm>
            <a:off x="274320" y="1170432"/>
            <a:ext cx="5029200" cy="3657600"/>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Na⁺ enters and the membrane depolarises – a generator potential. The greater the pressure, the greater the deformation and the larger the generator potential (it is graded).</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Next step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Mechanoreceptors in the skin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6"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6766560" cy="347472"/>
          </a:xfrm>
          <a:prstGeom prst="rect">
            <a:avLst/>
          </a:prstGeom>
          <a:noFill/>
        </p:spPr>
        <p:txBody>
          <a:bodyPr wrap="square" anchor="t">
            <a:spAutoFit/>
          </a:bodyPr>
          <a:lstStyle/>
          <a:p>
            <a:pPr algn="l">
              <a:spcAft>
                <a:spcPts val="400"/>
              </a:spcAft>
            </a:pPr>
            <a:r>
              <a:rPr sz="1600" b="1" i="0">
                <a:solidFill>
                  <a:srgbClr val="1B3A6B"/>
                </a:solidFill>
                <a:latin typeface="Calibri"/>
              </a:rPr>
              <a:t>Step 4 of 4:  If threshold is reached</a:t>
            </a:r>
          </a:p>
        </p:txBody>
      </p:sp>
      <p:pic>
        <p:nvPicPr>
          <p:cNvPr id="14" name="Picture 13" descr="skin_pacinian.png"/>
          <p:cNvPicPr>
            <a:picLocks noChangeAspect="1"/>
          </p:cNvPicPr>
          <p:nvPr/>
        </p:nvPicPr>
        <p:blipFill>
          <a:blip r:embed="rId2"/>
          <a:stretch>
            <a:fillRect/>
          </a:stretch>
        </p:blipFill>
        <p:spPr>
          <a:xfrm>
            <a:off x="274320" y="1170432"/>
            <a:ext cx="5029200" cy="5205046"/>
          </a:xfrm>
          <a:prstGeom prst="rect">
            <a:avLst/>
          </a:prstGeom>
        </p:spPr>
      </p:pic>
      <p:sp>
        <p:nvSpPr>
          <p:cNvPr id="15" name="Rounded Rectangle 14"/>
          <p:cNvSpPr/>
          <p:nvPr/>
        </p:nvSpPr>
        <p:spPr>
          <a:xfrm>
            <a:off x="5440680" y="1170432"/>
            <a:ext cx="3337560" cy="3977639"/>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If the generator potential reaches threshold, voltage-gated Na⁺ channels open and an action potential fires along the sensory neurone towards the CNS. This is how mechanical energy is transduced into electrical energy.</a:t>
            </a:r>
          </a:p>
        </p:txBody>
      </p:sp>
      <p:sp>
        <p:nvSpPr>
          <p:cNvPr id="16" name="Rounded Rectangle 15">
            <a:hlinkClick r:id="rId3" action="ppaction://hlinksldjump"/>
          </p:cNvPr>
          <p:cNvSpPr/>
          <p:nvPr/>
        </p:nvSpPr>
        <p:spPr>
          <a:xfrm>
            <a:off x="320040" y="6217920"/>
            <a:ext cx="1371600" cy="29260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Previous</a:t>
            </a:r>
          </a:p>
        </p:txBody>
      </p:sp>
      <p:sp>
        <p:nvSpPr>
          <p:cNvPr id="17" name="Rounded Rectangle 16">
            <a:hlinkClick r:id="rId4" action="ppaction://hlinksldjump"/>
          </p:cNvPr>
          <p:cNvSpPr/>
          <p:nvPr/>
        </p:nvSpPr>
        <p:spPr>
          <a:xfrm>
            <a:off x="182880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320040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Continue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8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1"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What cells are found in the retina?</a:t>
            </a:r>
          </a:p>
        </p:txBody>
      </p:sp>
      <p:sp>
        <p:nvSpPr>
          <p:cNvPr id="14" name="Rounded Rectangle 13"/>
          <p:cNvSpPr/>
          <p:nvPr/>
        </p:nvSpPr>
        <p:spPr>
          <a:xfrm>
            <a:off x="274320" y="1188720"/>
            <a:ext cx="288036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retina is a photosensitive layer at the back of the eye. It contains two types of photoreceptors called rods and cones, which respond to different light intensities.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on each label to find out more about the cells of the retina.</a:t>
            </a:r>
          </a:p>
        </p:txBody>
      </p:sp>
      <p:pic>
        <p:nvPicPr>
          <p:cNvPr id="15" name="Picture 14" descr="title_retina.png"/>
          <p:cNvPicPr>
            <a:picLocks noChangeAspect="1"/>
          </p:cNvPicPr>
          <p:nvPr/>
        </p:nvPicPr>
        <p:blipFill>
          <a:blip r:embed="rId2"/>
          <a:stretch>
            <a:fillRect/>
          </a:stretch>
        </p:blipFill>
        <p:spPr>
          <a:xfrm>
            <a:off x="3108960" y="1097280"/>
            <a:ext cx="5276110" cy="4709160"/>
          </a:xfrm>
          <a:prstGeom prst="rect">
            <a:avLst/>
          </a:prstGeom>
        </p:spPr>
      </p:pic>
      <p:sp>
        <p:nvSpPr>
          <p:cNvPr id="16" name="Rounded Rectangle 15">
            <a:hlinkClick r:id="rId5" action="ppaction://hlinksldjump"/>
          </p:cNvPr>
          <p:cNvSpPr/>
          <p:nvPr/>
        </p:nvSpPr>
        <p:spPr>
          <a:xfrm>
            <a:off x="6903720" y="123444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cone cell ▶</a:t>
            </a:r>
          </a:p>
        </p:txBody>
      </p:sp>
      <p:sp>
        <p:nvSpPr>
          <p:cNvPr id="17" name="Rounded Rectangle 16">
            <a:hlinkClick r:id="rId6" action="ppaction://hlinksldjump"/>
          </p:cNvPr>
          <p:cNvSpPr/>
          <p:nvPr/>
        </p:nvSpPr>
        <p:spPr>
          <a:xfrm>
            <a:off x="6903720" y="178308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rod cell ▶</a:t>
            </a:r>
          </a:p>
        </p:txBody>
      </p:sp>
      <p:sp>
        <p:nvSpPr>
          <p:cNvPr id="18" name="Rounded Rectangle 17">
            <a:hlinkClick r:id="rId7" action="ppaction://hlinksldjump"/>
          </p:cNvPr>
          <p:cNvSpPr/>
          <p:nvPr/>
        </p:nvSpPr>
        <p:spPr>
          <a:xfrm>
            <a:off x="6903720" y="233172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bipolar cell ▶</a:t>
            </a:r>
          </a:p>
        </p:txBody>
      </p:sp>
      <p:sp>
        <p:nvSpPr>
          <p:cNvPr id="19" name="Rounded Rectangle 18">
            <a:hlinkClick r:id="rId8" action="ppaction://hlinksldjump"/>
          </p:cNvPr>
          <p:cNvSpPr/>
          <p:nvPr/>
        </p:nvSpPr>
        <p:spPr>
          <a:xfrm>
            <a:off x="6903720" y="288036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ganglion cell ▶</a:t>
            </a:r>
          </a:p>
        </p:txBody>
      </p:sp>
      <p:sp>
        <p:nvSpPr>
          <p:cNvPr id="20" name="Rounded Rectangle 19">
            <a:hlinkClick r:id="rId9" action="ppaction://hlinksldjump"/>
          </p:cNvPr>
          <p:cNvSpPr/>
          <p:nvPr/>
        </p:nvSpPr>
        <p:spPr>
          <a:xfrm>
            <a:off x="6903720" y="3429000"/>
            <a:ext cx="1874519" cy="43891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optic nerve ▶</a:t>
            </a:r>
          </a:p>
        </p:txBody>
      </p:sp>
      <p:sp>
        <p:nvSpPr>
          <p:cNvPr id="21" name="Rounded Rectangle 20">
            <a:hlinkClick r:id="rId3" action="ppaction://hlinksldjump"/>
          </p:cNvPr>
          <p:cNvSpPr/>
          <p:nvPr/>
        </p:nvSpPr>
        <p:spPr>
          <a:xfrm>
            <a:off x="6903720" y="6217920"/>
            <a:ext cx="137160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title_retina.png"/>
          <p:cNvPicPr>
            <a:picLocks noChangeAspect="1"/>
          </p:cNvPicPr>
          <p:nvPr/>
        </p:nvPicPr>
        <p:blipFill>
          <a:blip r:embed="rId2"/>
          <a:stretch>
            <a:fillRect/>
          </a:stretch>
        </p:blipFill>
        <p:spPr>
          <a:xfrm>
            <a:off x="274320" y="1005840"/>
            <a:ext cx="4815091" cy="4297680"/>
          </a:xfrm>
          <a:prstGeom prst="rect">
            <a:avLst/>
          </a:prstGeom>
        </p:spPr>
      </p:pic>
      <p:sp>
        <p:nvSpPr>
          <p:cNvPr id="11" name="Rounded Rectangle 10"/>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Cone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Photoreceptor for high light intensity and colour. Outer segment is conical. Concentrated in the fovea. Contains iodopsin. Usually a 1:1 link to a bipolar cell – high visual acuity.</a:t>
            </a:r>
          </a:p>
        </p:txBody>
      </p:sp>
      <p:sp>
        <p:nvSpPr>
          <p:cNvPr id="12" name="Rounded Rectangle 11">
            <a:hlinkClick r:id="rId3"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title_retina.png"/>
          <p:cNvPicPr>
            <a:picLocks noChangeAspect="1"/>
          </p:cNvPicPr>
          <p:nvPr/>
        </p:nvPicPr>
        <p:blipFill>
          <a:blip r:embed="rId2"/>
          <a:stretch>
            <a:fillRect/>
          </a:stretch>
        </p:blipFill>
        <p:spPr>
          <a:xfrm>
            <a:off x="274320" y="1005840"/>
            <a:ext cx="4815091" cy="4297680"/>
          </a:xfrm>
          <a:prstGeom prst="rect">
            <a:avLst/>
          </a:prstGeom>
        </p:spPr>
      </p:pic>
      <p:sp>
        <p:nvSpPr>
          <p:cNvPr id="11" name="Rounded Rectangle 10"/>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Rod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Photoreceptor for dim light (scotopic vision). Outer segment is rod-shaped with many rhodopsin discs. Many rods synapse with one bipolar cell (retinal convergence) – high sensitivity, lower acuity. Absent from the fovea.</a:t>
            </a:r>
          </a:p>
        </p:txBody>
      </p:sp>
      <p:sp>
        <p:nvSpPr>
          <p:cNvPr id="12" name="Rounded Rectangle 11">
            <a:hlinkClick r:id="rId3"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title_retina.png"/>
          <p:cNvPicPr>
            <a:picLocks noChangeAspect="1"/>
          </p:cNvPicPr>
          <p:nvPr/>
        </p:nvPicPr>
        <p:blipFill>
          <a:blip r:embed="rId2"/>
          <a:stretch>
            <a:fillRect/>
          </a:stretch>
        </p:blipFill>
        <p:spPr>
          <a:xfrm>
            <a:off x="274320" y="1005840"/>
            <a:ext cx="4815091" cy="4297680"/>
          </a:xfrm>
          <a:prstGeom prst="rect">
            <a:avLst/>
          </a:prstGeom>
        </p:spPr>
      </p:pic>
      <p:sp>
        <p:nvSpPr>
          <p:cNvPr id="11" name="Rounded Rectangle 10"/>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Bipolar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Connects photoreceptors to ganglion cells. In rod pathways, several rods share a bipolar cell (summation of generator potentials). In cone pathways at the fovea, the link is often one-to-one.</a:t>
            </a:r>
          </a:p>
        </p:txBody>
      </p:sp>
      <p:sp>
        <p:nvSpPr>
          <p:cNvPr id="12" name="Rounded Rectangle 11">
            <a:hlinkClick r:id="rId3"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title_retina.png"/>
          <p:cNvPicPr>
            <a:picLocks noChangeAspect="1"/>
          </p:cNvPicPr>
          <p:nvPr/>
        </p:nvPicPr>
        <p:blipFill>
          <a:blip r:embed="rId2"/>
          <a:stretch>
            <a:fillRect/>
          </a:stretch>
        </p:blipFill>
        <p:spPr>
          <a:xfrm>
            <a:off x="274320" y="1005840"/>
            <a:ext cx="4815091" cy="4297680"/>
          </a:xfrm>
          <a:prstGeom prst="rect">
            <a:avLst/>
          </a:prstGeom>
        </p:spPr>
      </p:pic>
      <p:sp>
        <p:nvSpPr>
          <p:cNvPr id="11" name="Rounded Rectangle 10"/>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Ganglion cell</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Its axon forms part of the optic nerve. An action potential is generated in the ganglion cell, not in the rod or cone themselves. The optic disc (blind spot) is where these axons leave the eye.</a:t>
            </a:r>
          </a:p>
        </p:txBody>
      </p:sp>
      <p:sp>
        <p:nvSpPr>
          <p:cNvPr id="12" name="Rounded Rectangle 11">
            <a:hlinkClick r:id="rId3"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in the retina</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title_retina.png"/>
          <p:cNvPicPr>
            <a:picLocks noChangeAspect="1"/>
          </p:cNvPicPr>
          <p:nvPr/>
        </p:nvPicPr>
        <p:blipFill>
          <a:blip r:embed="rId2"/>
          <a:stretch>
            <a:fillRect/>
          </a:stretch>
        </p:blipFill>
        <p:spPr>
          <a:xfrm>
            <a:off x="274320" y="1005840"/>
            <a:ext cx="4815091" cy="4297680"/>
          </a:xfrm>
          <a:prstGeom prst="rect">
            <a:avLst/>
          </a:prstGeom>
        </p:spPr>
      </p:pic>
      <p:sp>
        <p:nvSpPr>
          <p:cNvPr id="11" name="Rounded Rectangle 10"/>
          <p:cNvSpPr/>
          <p:nvPr/>
        </p:nvSpPr>
        <p:spPr>
          <a:xfrm>
            <a:off x="4846320" y="1097280"/>
            <a:ext cx="3931920" cy="41148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Optic nerve</a:t>
            </a:r>
          </a:p>
          <a:p>
            <a:pPr algn="l">
              <a:spcAft>
                <a:spcPts val="200"/>
              </a:spcAft>
            </a:pPr>
            <a:r>
              <a:rPr sz="1500" b="0" i="0">
                <a:solidFill>
                  <a:srgbClr val="1A2F5A"/>
                </a:solidFill>
                <a:latin typeface="Calibri"/>
              </a:rPr>
              <a:t/>
            </a:r>
          </a:p>
          <a:p>
            <a:pPr algn="l">
              <a:spcAft>
                <a:spcPts val="200"/>
              </a:spcAft>
            </a:pPr>
            <a:r>
              <a:rPr sz="1500" b="0" i="0">
                <a:solidFill>
                  <a:srgbClr val="1A2F5A"/>
                </a:solidFill>
                <a:latin typeface="Calibri"/>
              </a:rPr>
              <a:t>Bundle of ganglion-cell axons leaving at the blind spot. There are no photoreceptors here, so an image falling on the optic disc is not seen.</a:t>
            </a:r>
          </a:p>
        </p:txBody>
      </p:sp>
      <p:sp>
        <p:nvSpPr>
          <p:cNvPr id="12" name="Rounded Rectangle 11">
            <a:hlinkClick r:id="rId3" action="ppaction://hlinksldjump"/>
          </p:cNvPr>
          <p:cNvSpPr/>
          <p:nvPr/>
        </p:nvSpPr>
        <p:spPr>
          <a:xfrm>
            <a:off x="5760720" y="5440680"/>
            <a:ext cx="219456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 rod cells produce impulses?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9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68680"/>
            <a:ext cx="5760720" cy="4937760"/>
          </a:xfrm>
          <a:prstGeom prst="rect">
            <a:avLst/>
          </a:prstGeom>
          <a:noFill/>
        </p:spPr>
        <p:txBody>
          <a:bodyPr wrap="square" anchor="t">
            <a:spAutoFit/>
          </a:bodyPr>
          <a:lstStyle/>
          <a:p>
            <a:pPr algn="l"/>
            <a:r>
              <a:rPr sz="1600" b="0" i="0">
                <a:solidFill>
                  <a:srgbClr val="1A2F5A"/>
                </a:solidFill>
                <a:latin typeface="Calibri"/>
              </a:rPr>
              <a:t>Rod cells allow vision in dim light due to the presence of a pigment called </a:t>
            </a:r>
            <a:r>
              <a:rPr sz="1600" b="1" i="0">
                <a:solidFill>
                  <a:srgbClr val="2E9E4F"/>
                </a:solidFill>
                <a:latin typeface="Calibri"/>
              </a:rPr>
              <a:t>rhodopsin</a:t>
            </a:r>
            <a:r>
              <a:rPr sz="1600" b="0" i="0">
                <a:solidFill>
                  <a:srgbClr val="1A2F5A"/>
                </a:solidFill>
                <a:latin typeface="Calibri"/>
              </a:rPr>
              <a:t>, which is found in membrane-bound vesicles.</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When rhodopsin absorbs light it splits into its constituent parts, </a:t>
            </a:r>
            <a:r>
              <a:rPr sz="1600" b="1" i="0">
                <a:solidFill>
                  <a:srgbClr val="2E9E4F"/>
                </a:solidFill>
                <a:latin typeface="Calibri"/>
              </a:rPr>
              <a:t>opsin</a:t>
            </a:r>
            <a:r>
              <a:rPr sz="1600" b="0" i="0">
                <a:solidFill>
                  <a:srgbClr val="1A2F5A"/>
                </a:solidFill>
                <a:latin typeface="Calibri"/>
              </a:rPr>
              <a:t> and </a:t>
            </a:r>
            <a:r>
              <a:rPr sz="1600" b="1" i="0">
                <a:solidFill>
                  <a:srgbClr val="2E9E4F"/>
                </a:solidFill>
                <a:latin typeface="Calibri"/>
              </a:rPr>
              <a:t>retinal</a:t>
            </a:r>
            <a:r>
              <a:rPr sz="1600" b="0" i="0">
                <a:solidFill>
                  <a:srgbClr val="1A2F5A"/>
                </a:solidFill>
                <a:latin typeface="Calibri"/>
              </a:rPr>
              <a:t>. This is called </a:t>
            </a:r>
            <a:r>
              <a:rPr sz="1600" b="1" i="0">
                <a:solidFill>
                  <a:srgbClr val="2E9E4F"/>
                </a:solidFill>
                <a:latin typeface="Calibri"/>
              </a:rPr>
              <a:t>bleaching</a:t>
            </a:r>
            <a:r>
              <a:rPr sz="1600" b="0" i="0">
                <a:solidFill>
                  <a:srgbClr val="1A2F5A"/>
                </a:solidFill>
                <a:latin typeface="Calibri"/>
              </a:rPr>
              <a:t>. Low intensity light is sufficient to cause this breakdown.</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 presence of opsin causes a change in the permeability of the rod cell to sodium, which initiates a generator potential. Rhodopsin can reform in the absence of further light stimulation.</a:t>
            </a:r>
          </a:p>
        </p:txBody>
      </p:sp>
      <p:pic>
        <p:nvPicPr>
          <p:cNvPr id="13" name="Picture 12" descr="rod_cell.png"/>
          <p:cNvPicPr>
            <a:picLocks noChangeAspect="1"/>
          </p:cNvPicPr>
          <p:nvPr/>
        </p:nvPicPr>
        <p:blipFill>
          <a:blip r:embed="rId2"/>
          <a:stretch>
            <a:fillRect/>
          </a:stretch>
        </p:blipFill>
        <p:spPr>
          <a:xfrm>
            <a:off x="6126480" y="868680"/>
            <a:ext cx="2403909" cy="4937760"/>
          </a:xfrm>
          <a:prstGeom prst="rect">
            <a:avLst/>
          </a:prstGeom>
        </p:spPr>
      </p:pic>
      <p:sp>
        <p:nvSpPr>
          <p:cNvPr id="14" name="TextBox 13"/>
          <p:cNvSpPr txBox="1"/>
          <p:nvPr/>
        </p:nvSpPr>
        <p:spPr>
          <a:xfrm>
            <a:off x="5989320" y="914400"/>
            <a:ext cx="2926080" cy="640080"/>
          </a:xfrm>
          <a:prstGeom prst="rect">
            <a:avLst/>
          </a:prstGeom>
          <a:noFill/>
        </p:spPr>
        <p:txBody>
          <a:bodyPr wrap="square" anchor="t">
            <a:spAutoFit/>
          </a:bodyPr>
          <a:lstStyle/>
          <a:p>
            <a:pPr algn="l">
              <a:spcAft>
                <a:spcPts val="400"/>
              </a:spcAft>
            </a:pPr>
            <a:r>
              <a:rPr sz="1200" b="1" i="0">
                <a:solidFill>
                  <a:srgbClr val="2E9E4F"/>
                </a:solidFill>
                <a:latin typeface="Calibri"/>
              </a:rPr>
              <a:t>vesicles containing rhodopsin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do cone cells produce impulses?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10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20040" y="868680"/>
            <a:ext cx="5760720" cy="4937760"/>
          </a:xfrm>
          <a:prstGeom prst="rect">
            <a:avLst/>
          </a:prstGeom>
          <a:noFill/>
        </p:spPr>
        <p:txBody>
          <a:bodyPr wrap="square" anchor="t">
            <a:spAutoFit/>
          </a:bodyPr>
          <a:lstStyle/>
          <a:p>
            <a:pPr algn="l"/>
            <a:r>
              <a:rPr sz="1600" b="0" i="0">
                <a:solidFill>
                  <a:srgbClr val="1A2F5A"/>
                </a:solidFill>
                <a:latin typeface="Calibri"/>
              </a:rPr>
              <a:t>Cone cells are sensitive to high light intensities due to the presence of the pigment </a:t>
            </a:r>
            <a:r>
              <a:rPr sz="1600" b="1" i="0">
                <a:solidFill>
                  <a:srgbClr val="2E9E4F"/>
                </a:solidFill>
                <a:latin typeface="Calibri"/>
              </a:rPr>
              <a:t>iodopsin</a:t>
            </a:r>
            <a:r>
              <a:rPr sz="1600" b="0" i="0">
                <a:solidFill>
                  <a:srgbClr val="1A2F5A"/>
                </a:solidFill>
                <a:latin typeface="Calibri"/>
              </a:rPr>
              <a:t>.</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In bright light, iodopsin is broken down into its constituent parts, generating an action potential in the ganglion cell.</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There are three different types of cone cell, each containing a different form of iodopsin. Each form of iodopsin absorbs a different wavelength of light – green, blue or red.</a:t>
            </a:r>
          </a:p>
          <a:p>
            <a:pPr algn="l">
              <a:spcAft>
                <a:spcPts val="600"/>
              </a:spcAft>
            </a:pPr>
            <a:r>
              <a:rPr sz="1600" b="0" i="0">
                <a:solidFill>
                  <a:srgbClr val="1A2F5A"/>
                </a:solidFill>
                <a:latin typeface="Calibri"/>
              </a:rPr>
              <a:t/>
            </a:r>
          </a:p>
          <a:p>
            <a:pPr algn="l">
              <a:spcAft>
                <a:spcPts val="600"/>
              </a:spcAft>
            </a:pPr>
            <a:r>
              <a:rPr sz="1600" b="0" i="0">
                <a:solidFill>
                  <a:srgbClr val="1A2F5A"/>
                </a:solidFill>
                <a:latin typeface="Calibri"/>
              </a:rPr>
              <a:t>The colour seen depends on the relative degree of stimulation of the three different types of cone cell.</a:t>
            </a:r>
          </a:p>
        </p:txBody>
      </p:sp>
      <p:pic>
        <p:nvPicPr>
          <p:cNvPr id="13" name="Picture 12" descr="cone_cell.png"/>
          <p:cNvPicPr>
            <a:picLocks noChangeAspect="1"/>
          </p:cNvPicPr>
          <p:nvPr/>
        </p:nvPicPr>
        <p:blipFill>
          <a:blip r:embed="rId2"/>
          <a:stretch>
            <a:fillRect/>
          </a:stretch>
        </p:blipFill>
        <p:spPr>
          <a:xfrm>
            <a:off x="6126480" y="868680"/>
            <a:ext cx="2403909" cy="4937760"/>
          </a:xfrm>
          <a:prstGeom prst="rect">
            <a:avLst/>
          </a:prstGeom>
        </p:spPr>
      </p:pic>
      <p:sp>
        <p:nvSpPr>
          <p:cNvPr id="14" name="TextBox 13"/>
          <p:cNvSpPr txBox="1"/>
          <p:nvPr/>
        </p:nvSpPr>
        <p:spPr>
          <a:xfrm>
            <a:off x="5989320" y="914400"/>
            <a:ext cx="2926080" cy="640080"/>
          </a:xfrm>
          <a:prstGeom prst="rect">
            <a:avLst/>
          </a:prstGeom>
          <a:noFill/>
        </p:spPr>
        <p:txBody>
          <a:bodyPr wrap="square" anchor="t">
            <a:spAutoFit/>
          </a:bodyPr>
          <a:lstStyle/>
          <a:p>
            <a:pPr algn="l">
              <a:spcAft>
                <a:spcPts val="400"/>
              </a:spcAft>
            </a:pPr>
            <a:r>
              <a:rPr sz="1200" b="1" i="0">
                <a:solidFill>
                  <a:srgbClr val="2E9E4F"/>
                </a:solidFill>
                <a:latin typeface="Calibri"/>
              </a:rPr>
              <a:t>vesicles containing iodopsin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11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20040"/>
          </a:xfrm>
          <a:prstGeom prst="rect">
            <a:avLst/>
          </a:prstGeom>
          <a:noFill/>
        </p:spPr>
        <p:txBody>
          <a:bodyPr wrap="square" anchor="t">
            <a:spAutoFit/>
          </a:bodyPr>
          <a:lstStyle/>
          <a:p>
            <a:pPr algn="ctr">
              <a:spcAft>
                <a:spcPts val="400"/>
              </a:spcAft>
            </a:pPr>
            <a:r>
              <a:rPr sz="1800" b="1" i="0">
                <a:solidFill>
                  <a:srgbClr val="1B3A6B"/>
                </a:solidFill>
                <a:latin typeface="Calibri"/>
              </a:rPr>
              <a:t>Do these statements apply to rods or cones?</a:t>
            </a:r>
          </a:p>
        </p:txBody>
      </p:sp>
      <p:sp>
        <p:nvSpPr>
          <p:cNvPr id="14" name="TextBox 13"/>
          <p:cNvSpPr txBox="1"/>
          <p:nvPr/>
        </p:nvSpPr>
        <p:spPr>
          <a:xfrm>
            <a:off x="411480" y="1188720"/>
            <a:ext cx="3931920" cy="365760"/>
          </a:xfrm>
          <a:prstGeom prst="rect">
            <a:avLst/>
          </a:prstGeom>
          <a:noFill/>
        </p:spPr>
        <p:txBody>
          <a:bodyPr wrap="square" anchor="t">
            <a:spAutoFit/>
          </a:bodyPr>
          <a:lstStyle/>
          <a:p>
            <a:pPr algn="l">
              <a:spcAft>
                <a:spcPts val="400"/>
              </a:spcAft>
            </a:pPr>
            <a:r>
              <a:rPr sz="1400" b="0" i="0">
                <a:solidFill>
                  <a:srgbClr val="1B3A6B"/>
                </a:solidFill>
                <a:latin typeface="Calibri"/>
              </a:rPr>
              <a:t>Click a statement, then place it.</a:t>
            </a:r>
          </a:p>
        </p:txBody>
      </p:sp>
      <p:sp>
        <p:nvSpPr>
          <p:cNvPr id="15" name="Rounded Rectangle 14">
            <a:hlinkClick r:id="rId4" action="ppaction://hlinksldjump"/>
          </p:cNvPr>
          <p:cNvSpPr/>
          <p:nvPr/>
        </p:nvSpPr>
        <p:spPr>
          <a:xfrm>
            <a:off x="365760" y="1600200"/>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mostly used for night vision</a:t>
            </a:r>
          </a:p>
        </p:txBody>
      </p:sp>
      <p:sp>
        <p:nvSpPr>
          <p:cNvPr id="16" name="Rounded Rectangle 15">
            <a:hlinkClick r:id="rId5" action="ppaction://hlinksldjump"/>
          </p:cNvPr>
          <p:cNvSpPr/>
          <p:nvPr/>
        </p:nvSpPr>
        <p:spPr>
          <a:xfrm>
            <a:off x="4663440" y="1600200"/>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contain rhodopsin</a:t>
            </a:r>
          </a:p>
        </p:txBody>
      </p:sp>
      <p:sp>
        <p:nvSpPr>
          <p:cNvPr id="17" name="Rounded Rectangle 16">
            <a:hlinkClick r:id="rId6" action="ppaction://hlinksldjump"/>
          </p:cNvPr>
          <p:cNvSpPr/>
          <p:nvPr/>
        </p:nvSpPr>
        <p:spPr>
          <a:xfrm>
            <a:off x="365760" y="2130552"/>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contain iodopsin</a:t>
            </a:r>
          </a:p>
        </p:txBody>
      </p:sp>
      <p:sp>
        <p:nvSpPr>
          <p:cNvPr id="18" name="Rounded Rectangle 17">
            <a:hlinkClick r:id="rId7" action="ppaction://hlinksldjump"/>
          </p:cNvPr>
          <p:cNvSpPr/>
          <p:nvPr/>
        </p:nvSpPr>
        <p:spPr>
          <a:xfrm>
            <a:off x="4663440" y="2130552"/>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concentrated in the fovea</a:t>
            </a:r>
          </a:p>
        </p:txBody>
      </p:sp>
      <p:sp>
        <p:nvSpPr>
          <p:cNvPr id="19" name="Rounded Rectangle 18">
            <a:hlinkClick r:id="rId8" action="ppaction://hlinksldjump"/>
          </p:cNvPr>
          <p:cNvSpPr/>
          <p:nvPr/>
        </p:nvSpPr>
        <p:spPr>
          <a:xfrm>
            <a:off x="365760" y="2660904"/>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high sensitivity, lower acuity</a:t>
            </a:r>
          </a:p>
        </p:txBody>
      </p:sp>
      <p:sp>
        <p:nvSpPr>
          <p:cNvPr id="20" name="Rounded Rectangle 19">
            <a:hlinkClick r:id="rId9" action="ppaction://hlinksldjump"/>
          </p:cNvPr>
          <p:cNvSpPr/>
          <p:nvPr/>
        </p:nvSpPr>
        <p:spPr>
          <a:xfrm>
            <a:off x="4663440" y="2660904"/>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three types detect colour</a:t>
            </a:r>
          </a:p>
        </p:txBody>
      </p:sp>
      <p:sp>
        <p:nvSpPr>
          <p:cNvPr id="21" name="Rounded Rectangle 20">
            <a:hlinkClick r:id="rId10" action="ppaction://hlinksldjump"/>
          </p:cNvPr>
          <p:cNvSpPr/>
          <p:nvPr/>
        </p:nvSpPr>
        <p:spPr>
          <a:xfrm>
            <a:off x="365760" y="3191256"/>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many share one bipolar cell</a:t>
            </a:r>
          </a:p>
        </p:txBody>
      </p:sp>
      <p:sp>
        <p:nvSpPr>
          <p:cNvPr id="22" name="Rounded Rectangle 21">
            <a:hlinkClick r:id="rId11" action="ppaction://hlinksldjump"/>
          </p:cNvPr>
          <p:cNvSpPr/>
          <p:nvPr/>
        </p:nvSpPr>
        <p:spPr>
          <a:xfrm>
            <a:off x="4663440" y="3191256"/>
            <a:ext cx="4114800" cy="45720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work in bright light</a:t>
            </a:r>
          </a:p>
        </p:txBody>
      </p:sp>
      <p:sp>
        <p:nvSpPr>
          <p:cNvPr id="23" name="Rounded Rectangle 22">
            <a:hlinkClick r:id="rId12"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4" name="Rounded Rectangle 23">
            <a:hlinkClick r:id="rId2" action="ppaction://hlinksldjump"/>
          </p:cNvPr>
          <p:cNvSpPr/>
          <p:nvPr/>
        </p:nvSpPr>
        <p:spPr>
          <a:xfrm>
            <a:off x="1965960" y="6217920"/>
            <a:ext cx="128016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mostly used for night vision</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mostly used for night vision</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‘mostly used for night vision’ describes rods, not cones.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contain rhodopsin</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rhodopsin</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rhodopsin’ describes rods, not cones.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contain iodopsin</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iodopsin’ describes cones, not rods.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contain iodopsin</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concentrated in the fovea</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‘concentrated in the fovea’ describes cones, not rods.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concentrated in the fovea</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high sensitivity, lower acuity</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high sensitivity, lower acuity</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‘high sensitivity, lower acuity’ describes rods, not cones.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three types detect colour</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‘three types detect colour’ describes cones, not rods.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three types detect colour</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many share one bipolar cell</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rods.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many share one bipolar cell</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‘many share one bipolar cell’ describes rods, not cones.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097280"/>
            <a:ext cx="8229600" cy="548640"/>
          </a:xfrm>
          <a:prstGeom prst="rect">
            <a:avLst/>
          </a:prstGeom>
          <a:noFill/>
        </p:spPr>
        <p:txBody>
          <a:bodyPr wrap="square" anchor="t">
            <a:spAutoFit/>
          </a:bodyPr>
          <a:lstStyle/>
          <a:p>
            <a:pPr algn="ctr">
              <a:spcAft>
                <a:spcPts val="400"/>
              </a:spcAft>
            </a:pPr>
            <a:r>
              <a:rPr sz="2000" b="1" i="0">
                <a:solidFill>
                  <a:srgbClr val="1B3A6B"/>
                </a:solidFill>
                <a:latin typeface="Calibri"/>
              </a:rPr>
              <a:t>work in bright light</a:t>
            </a:r>
          </a:p>
        </p:txBody>
      </p:sp>
      <p:sp>
        <p:nvSpPr>
          <p:cNvPr id="11" name="TextBox 10"/>
          <p:cNvSpPr txBox="1"/>
          <p:nvPr/>
        </p:nvSpPr>
        <p:spPr>
          <a:xfrm>
            <a:off x="457200" y="1737360"/>
            <a:ext cx="8229600" cy="365760"/>
          </a:xfrm>
          <a:prstGeom prst="rect">
            <a:avLst/>
          </a:prstGeom>
          <a:noFill/>
        </p:spPr>
        <p:txBody>
          <a:bodyPr wrap="square" anchor="t">
            <a:spAutoFit/>
          </a:bodyPr>
          <a:lstStyle/>
          <a:p>
            <a:pPr algn="ctr">
              <a:spcAft>
                <a:spcPts val="400"/>
              </a:spcAft>
            </a:pPr>
            <a:r>
              <a:rPr sz="1600" b="0" i="0">
                <a:solidFill>
                  <a:srgbClr val="1B3A6B"/>
                </a:solidFill>
                <a:latin typeface="Calibri"/>
              </a:rPr>
              <a:t>Does this describe rods or cones?</a:t>
            </a:r>
          </a:p>
        </p:txBody>
      </p:sp>
      <p:sp>
        <p:nvSpPr>
          <p:cNvPr id="12" name="Rounded Rectangle 11">
            <a:hlinkClick r:id="rId2" action="ppaction://hlinksldjump"/>
          </p:cNvPr>
          <p:cNvSpPr/>
          <p:nvPr/>
        </p:nvSpPr>
        <p:spPr>
          <a:xfrm>
            <a:off x="1371600" y="2377440"/>
            <a:ext cx="2926080" cy="12801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rods</a:t>
            </a:r>
          </a:p>
        </p:txBody>
      </p:sp>
      <p:sp>
        <p:nvSpPr>
          <p:cNvPr id="13" name="Rounded Rectangle 12">
            <a:hlinkClick r:id="rId3" action="ppaction://hlinksldjump"/>
          </p:cNvPr>
          <p:cNvSpPr/>
          <p:nvPr/>
        </p:nvSpPr>
        <p:spPr>
          <a:xfrm>
            <a:off x="4846320" y="2377440"/>
            <a:ext cx="2926080" cy="1280160"/>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cones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‘work in bright light’ describes cones, not rods.</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 – cones.</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work in bright light</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sort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Photoreceptors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365760" y="914400"/>
            <a:ext cx="4114800" cy="43891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600" b="0" i="0">
                <a:solidFill>
                  <a:srgbClr val="1B3A6B"/>
                </a:solidFill>
                <a:latin typeface="Calibri"/>
              </a:rPr>
              <a:t>RODS</a:t>
            </a:r>
          </a:p>
          <a:p>
            <a:pPr algn="l">
              <a:spcAft>
                <a:spcPts val="200"/>
              </a:spcAft>
            </a:pPr>
            <a:r>
              <a:rPr sz="1600" b="0" i="0">
                <a:solidFill>
                  <a:srgbClr val="1B3A6B"/>
                </a:solidFill>
                <a:latin typeface="Calibri"/>
              </a:rPr>
              <a:t/>
            </a:r>
          </a:p>
          <a:p>
            <a:pPr algn="l">
              <a:spcAft>
                <a:spcPts val="200"/>
              </a:spcAft>
            </a:pPr>
            <a:r>
              <a:rPr sz="1600" b="0" i="0">
                <a:solidFill>
                  <a:srgbClr val="1B3A6B"/>
                </a:solidFill>
                <a:latin typeface="Calibri"/>
              </a:rPr>
              <a:t>• mostly used for night vision</a:t>
            </a:r>
          </a:p>
          <a:p>
            <a:pPr algn="l">
              <a:spcAft>
                <a:spcPts val="200"/>
              </a:spcAft>
            </a:pPr>
            <a:r>
              <a:rPr sz="1600" b="0" i="0">
                <a:solidFill>
                  <a:srgbClr val="1B3A6B"/>
                </a:solidFill>
                <a:latin typeface="Calibri"/>
              </a:rPr>
              <a:t>• contain rhodopsin</a:t>
            </a:r>
          </a:p>
          <a:p>
            <a:pPr algn="l">
              <a:spcAft>
                <a:spcPts val="200"/>
              </a:spcAft>
            </a:pPr>
            <a:r>
              <a:rPr sz="1600" b="0" i="0">
                <a:solidFill>
                  <a:srgbClr val="1B3A6B"/>
                </a:solidFill>
                <a:latin typeface="Calibri"/>
              </a:rPr>
              <a:t>• high sensitivity, lower acuity</a:t>
            </a:r>
          </a:p>
          <a:p>
            <a:pPr algn="l">
              <a:spcAft>
                <a:spcPts val="200"/>
              </a:spcAft>
            </a:pPr>
            <a:r>
              <a:rPr sz="1600" b="0" i="0">
                <a:solidFill>
                  <a:srgbClr val="1B3A6B"/>
                </a:solidFill>
                <a:latin typeface="Calibri"/>
              </a:rPr>
              <a:t>• many share one bipolar cell</a:t>
            </a:r>
          </a:p>
        </p:txBody>
      </p:sp>
      <p:sp>
        <p:nvSpPr>
          <p:cNvPr id="11" name="Rounded Rectangle 10"/>
          <p:cNvSpPr/>
          <p:nvPr/>
        </p:nvSpPr>
        <p:spPr>
          <a:xfrm>
            <a:off x="4663440" y="914400"/>
            <a:ext cx="4114800" cy="43891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600" b="0" i="0">
                <a:solidFill>
                  <a:srgbClr val="1B3A6B"/>
                </a:solidFill>
                <a:latin typeface="Calibri"/>
              </a:rPr>
              <a:t>CONES</a:t>
            </a:r>
          </a:p>
          <a:p>
            <a:pPr algn="l">
              <a:spcAft>
                <a:spcPts val="200"/>
              </a:spcAft>
            </a:pPr>
            <a:r>
              <a:rPr sz="1600" b="0" i="0">
                <a:solidFill>
                  <a:srgbClr val="1B3A6B"/>
                </a:solidFill>
                <a:latin typeface="Calibri"/>
              </a:rPr>
              <a:t/>
            </a:r>
          </a:p>
          <a:p>
            <a:pPr algn="l">
              <a:spcAft>
                <a:spcPts val="200"/>
              </a:spcAft>
            </a:pPr>
            <a:r>
              <a:rPr sz="1600" b="0" i="0">
                <a:solidFill>
                  <a:srgbClr val="1B3A6B"/>
                </a:solidFill>
                <a:latin typeface="Calibri"/>
              </a:rPr>
              <a:t>• contain iodopsin</a:t>
            </a:r>
          </a:p>
          <a:p>
            <a:pPr algn="l">
              <a:spcAft>
                <a:spcPts val="200"/>
              </a:spcAft>
            </a:pPr>
            <a:r>
              <a:rPr sz="1600" b="0" i="0">
                <a:solidFill>
                  <a:srgbClr val="1B3A6B"/>
                </a:solidFill>
                <a:latin typeface="Calibri"/>
              </a:rPr>
              <a:t>• concentrated in the fovea</a:t>
            </a:r>
          </a:p>
          <a:p>
            <a:pPr algn="l">
              <a:spcAft>
                <a:spcPts val="200"/>
              </a:spcAft>
            </a:pPr>
            <a:r>
              <a:rPr sz="1600" b="0" i="0">
                <a:solidFill>
                  <a:srgbClr val="1B3A6B"/>
                </a:solidFill>
                <a:latin typeface="Calibri"/>
              </a:rPr>
              <a:t>• three types detect colour</a:t>
            </a:r>
          </a:p>
          <a:p>
            <a:pPr algn="l">
              <a:spcAft>
                <a:spcPts val="200"/>
              </a:spcAft>
            </a:pPr>
            <a:r>
              <a:rPr sz="1600" b="0" i="0">
                <a:solidFill>
                  <a:srgbClr val="1B3A6B"/>
                </a:solidFill>
                <a:latin typeface="Calibri"/>
              </a:rPr>
              <a:t>• work in bright light</a:t>
            </a:r>
          </a:p>
        </p:txBody>
      </p:sp>
      <p:sp>
        <p:nvSpPr>
          <p:cNvPr id="12" name="Rounded Rectangle 11">
            <a:hlinkClick r:id="rId2" action="ppaction://hlinksldjump"/>
          </p:cNvPr>
          <p:cNvSpPr/>
          <p:nvPr/>
        </p:nvSpPr>
        <p:spPr>
          <a:xfrm>
            <a:off x="3200400" y="557784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12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A Pacinian corpuscle produces a generator potential when:</a:t>
            </a:r>
          </a:p>
        </p:txBody>
      </p:sp>
      <p:sp>
        <p:nvSpPr>
          <p:cNvPr id="13" name="Rounded Rectangle 12">
            <a:hlinkClick r:id="rId3"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stretch-mediated sodium channels open and Na⁺ enters</a:t>
            </a:r>
          </a:p>
        </p:txBody>
      </p:sp>
      <p:sp>
        <p:nvSpPr>
          <p:cNvPr id="14" name="Rounded Rectangle 13">
            <a:hlinkClick r:id="rId4"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iodopsin is bleached by dim light</a:t>
            </a:r>
          </a:p>
        </p:txBody>
      </p:sp>
      <p:sp>
        <p:nvSpPr>
          <p:cNvPr id="15" name="Rounded Rectangle 14">
            <a:hlinkClick r:id="rId5"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voltage-gated potassium channels close permanently</a:t>
            </a:r>
          </a:p>
        </p:txBody>
      </p:sp>
      <p:sp>
        <p:nvSpPr>
          <p:cNvPr id="16" name="Rounded Rectangle 15">
            <a:hlinkClick r:id="rId6"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acetylcholine is released from the lamellae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Pressure deforms the ending, stretch-mediated Na⁺ channels open, Na⁺ influx creates a graded generator potential.</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transduction of mechanical energy in the Pacinian corpuscle.</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13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51560"/>
          </a:xfrm>
          <a:prstGeom prst="rect">
            <a:avLst/>
          </a:prstGeom>
          <a:noFill/>
        </p:spPr>
        <p:txBody>
          <a:bodyPr wrap="square" anchor="t">
            <a:spAutoFit/>
          </a:bodyPr>
          <a:lstStyle/>
          <a:p>
            <a:pPr algn="l">
              <a:spcAft>
                <a:spcPts val="400"/>
              </a:spcAft>
            </a:pPr>
            <a:r>
              <a:rPr sz="2000" b="1" i="0">
                <a:solidFill>
                  <a:srgbClr val="1B3A6B"/>
                </a:solidFill>
                <a:latin typeface="Calibri"/>
              </a:rPr>
              <a:t>Which statement about rods is correct?</a:t>
            </a:r>
          </a:p>
        </p:txBody>
      </p:sp>
      <p:sp>
        <p:nvSpPr>
          <p:cNvPr id="13" name="Rounded Rectangle 12">
            <a:hlinkClick r:id="rId3" action="ppaction://hlinksldjump"/>
          </p:cNvPr>
          <p:cNvSpPr/>
          <p:nvPr/>
        </p:nvSpPr>
        <p:spPr>
          <a:xfrm>
            <a:off x="594360" y="2011680"/>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They contain iodopsin and give high visual acuity</a:t>
            </a:r>
          </a:p>
        </p:txBody>
      </p:sp>
      <p:sp>
        <p:nvSpPr>
          <p:cNvPr id="14" name="Rounded Rectangle 13">
            <a:hlinkClick r:id="rId4" action="ppaction://hlinksldjump"/>
          </p:cNvPr>
          <p:cNvSpPr/>
          <p:nvPr/>
        </p:nvSpPr>
        <p:spPr>
          <a:xfrm>
            <a:off x="594360" y="2761488"/>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They contain rhodopsin and are used in dim light</a:t>
            </a:r>
          </a:p>
        </p:txBody>
      </p:sp>
      <p:sp>
        <p:nvSpPr>
          <p:cNvPr id="15" name="Rounded Rectangle 14">
            <a:hlinkClick r:id="rId5" action="ppaction://hlinksldjump"/>
          </p:cNvPr>
          <p:cNvSpPr/>
          <p:nvPr/>
        </p:nvSpPr>
        <p:spPr>
          <a:xfrm>
            <a:off x="594360" y="3511296"/>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They are concentrated in the fovea</a:t>
            </a:r>
          </a:p>
        </p:txBody>
      </p:sp>
      <p:sp>
        <p:nvSpPr>
          <p:cNvPr id="16" name="Rounded Rectangle 15">
            <a:hlinkClick r:id="rId6" action="ppaction://hlinksldjump"/>
          </p:cNvPr>
          <p:cNvSpPr/>
          <p:nvPr/>
        </p:nvSpPr>
        <p:spPr>
          <a:xfrm>
            <a:off x="594360" y="4261104"/>
            <a:ext cx="7955279" cy="621792"/>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Each rod has a 1:1 connection to a ganglion cell at the fovea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Rods use rhodopsin, operate in dim light, show convergence, and are absent from the fovea.</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554480"/>
            <a:ext cx="7863840" cy="228600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Compare pigment, location and connectivity of rods and cones.</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End of Part 3</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14 of 14</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457200" y="1828800"/>
            <a:ext cx="8229600" cy="914400"/>
          </a:xfrm>
          <a:prstGeom prst="rect">
            <a:avLst/>
          </a:prstGeom>
          <a:noFill/>
        </p:spPr>
        <p:txBody>
          <a:bodyPr wrap="square" anchor="t">
            <a:spAutoFit/>
          </a:bodyPr>
          <a:lstStyle/>
          <a:p>
            <a:pPr algn="ctr">
              <a:spcAft>
                <a:spcPts val="400"/>
              </a:spcAft>
            </a:pPr>
            <a:r>
              <a:rPr sz="2600" b="1" i="0">
                <a:solidFill>
                  <a:srgbClr val="2E9E4F"/>
                </a:solidFill>
                <a:latin typeface="Calibri"/>
              </a:rPr>
              <a:t>Next: Part 4 – The synapse</a:t>
            </a:r>
          </a:p>
        </p:txBody>
      </p:sp>
      <p:sp>
        <p:nvSpPr>
          <p:cNvPr id="13" name="Rounded Rectangle 12">
            <a:hlinkClick r:id="rId2" action="ppaction://hlinksldjump"/>
          </p:cNvPr>
          <p:cNvSpPr/>
          <p:nvPr/>
        </p:nvSpPr>
        <p:spPr>
          <a:xfrm>
            <a:off x="3017520" y="36576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