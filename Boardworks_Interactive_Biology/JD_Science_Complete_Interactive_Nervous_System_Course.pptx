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home. Four module buttons jump to each part title. Sequential Next opens Part 1. Home buttons on later slides return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Click the green arrow on later slides, or press the on-slide buttons. Original Boardworks Flash activities could not be executed; this file rebuilds them with hyperlinks.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Slide Show mode. Buttons do not jump in Normal (edit) 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 for jumping around the lesson. Useful when reusing activities.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static teaching slide – scientific wording retained. Diagram is a new 2D reconstruction of retinal circuitry (rods, cones, bipolar and ganglion cells), which appears throughout the series.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labelling activity. Each label opens a hidden explanation slide, then Back returns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comparison diagrams rebuilt. Info buttons open function cards.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table is a hidden slide so Space will skip it during a straight run-through.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matching activity. Definitions are shuffled (original order). Click a term to highlight its match, or Check to show the full key. Correct pairs: node of Ranvier = gap in myelin; axon = long single fibre; myelin sheath = insulating layer; Schwann cell = cell wrapped around axon; dendrites = highly branched fibres.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Flash dropdown and photograph were not recoverable and are not copied. Reconstructed Q&amp;A for classroom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static teaching slide. Wording retained. Diagram rebuilt.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play-bar animation as a teacher-paced step sequence with Reset.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drop-down cloze. Original S/C (show/check) buttons become Show all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ion movement during an action potential.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open/closed drag table. Click Check for the key.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click-on-graph. Stages 1–5 match the original numbered labels.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start-quiz. Three MCQs follow.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A. Voltage-gated sodium channels open and Na⁺ floods in, making the inside positive.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Voltage-gated potassium channels open and K⁺ efflux restores the negative inside.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Inward Na⁺ makes that patch positive. Nearby resting membrane is depolarised to threshold and a new action potential is generated – the impulse propagates.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static teaching slide. Graph rebuilt.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slider. Weak/medium/strong buttons show different AP frequencies.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click-on-graph for refractory periods.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saltatory conduction animation plus the original speed-factor teaching points.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true or false for each statement. Show all reveals the key.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 Skin-block diagram rebuilt (Pacinian corpuscle highlighted in later slides).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click-label retina activity.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 At A-level, bleaching of rhodopsin → opsin + retinal → generator potential is the required sequence. (More advanced courses note that light actually closes Na⁺ channels in rods; the Boardworks 2009 wording is kept here as in the source course.)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 Trichromatic theory: three iodopsin forms, colour from relative stimulation.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rods/cones sort. Original first card was ‘mostly used for night vision’ (rods).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A. Pressure deforms the ending, stretch-mediated Na⁺ channels open, Na⁺ influx creates a graded generator potential.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Rods use rhodopsin, operate in dim light, show convergence, and are absent from the fovea.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synapse animation as an 8-step sequence covering AP arrival, Ca²⁺ entry, vesicle fusion, ACh diffusion, receptor binding and postsynaptic depolarisation.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Flash toggle (micrograph / diagram) rebuilt. The electron-micrograph lookalike is an original illustration, not the copyrighted TEM image.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Flash sequencing activity. Shuffled order retained from the source slide. Correct order: 4, 1, 3, 5, 6, 7, 8, 2 of the numbered source list (AP arrives → Ca²⁺ in → vesicles move → ACh released → bind → Na⁺ channels open → Na⁺ in / depolarise → postsynaptic AP).</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drop-down labelling. Seven structures around the synaptic knob and cleft.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Ca²⁺ is the trigger for vesicle exocytosis of acetylcholine.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Neurotransmitter is released from one side only; receptors sit only on the other. The impulse cannot reverse.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slide" Target="slide2.xml"/><Relationship Id="rId5" Type="http://schemas.openxmlformats.org/officeDocument/2006/relationships/slide" Target="slide55.xml"/><Relationship Id="rId6" Type="http://schemas.openxmlformats.org/officeDocument/2006/relationships/slide" Target="slide139.xml"/><Relationship Id="rId7" Type="http://schemas.openxmlformats.org/officeDocument/2006/relationships/slide" Target="slide19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notesSlide" Target="../notesSlides/notesSlide2.xml"/><Relationship Id="rId5"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3.xml"/><Relationship Id="rId4" Type="http://schemas.openxmlformats.org/officeDocument/2006/relationships/slide" Target="slide2.xml"/><Relationship Id="rId5"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13.xml"/><Relationship Id="rId7" Type="http://schemas.openxmlformats.org/officeDocument/2006/relationships/slide" Target="slide20.xml"/><Relationship Id="rId8" Type="http://schemas.openxmlformats.org/officeDocument/2006/relationships/slide" Target="slide26.xml"/><Relationship Id="rId9" Type="http://schemas.openxmlformats.org/officeDocument/2006/relationships/slide" Target="slide33.xml"/><Relationship Id="rId10" Type="http://schemas.openxmlformats.org/officeDocument/2006/relationships/slide" Target="slide43.xml"/><Relationship Id="rId11" Type="http://schemas.openxmlformats.org/officeDocument/2006/relationships/slide" Target="slide48.xml"/><Relationship Id="rId1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notesSlide" Target="../notesSlides/notesSlide5.xml"/><Relationship Id="rId5" Type="http://schemas.openxmlformats.org/officeDocument/2006/relationships/slide" Target="slide5.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png"/><Relationship Id="rId4" Type="http://schemas.openxmlformats.org/officeDocument/2006/relationships/slide" Target="slide7.xml"/><Relationship Id="rId5" Type="http://schemas.openxmlformats.org/officeDocument/2006/relationships/notesSlide" Target="../notesSlides/notesSlide6.xml"/><Relationship Id="rId6" Type="http://schemas.openxmlformats.org/officeDocument/2006/relationships/slide" Target="slide8.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png"/><Relationship Id="rId4" Type="http://schemas.openxmlformats.org/officeDocument/2006/relationships/slide" Target="slide7.xml"/><Relationship Id="rId5" Type="http://schemas.openxmlformats.org/officeDocument/2006/relationships/notesSlide" Target="../notesSlides/notesSlide7.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png"/><Relationship Id="rId4" Type="http://schemas.openxmlformats.org/officeDocument/2006/relationships/slide" Target="slide7.xml"/><Relationship Id="rId5" Type="http://schemas.openxmlformats.org/officeDocument/2006/relationships/notesSlide" Target="../notesSlides/notesSlide8.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5.png"/><Relationship Id="rId4" Type="http://schemas.openxmlformats.org/officeDocument/2006/relationships/slide" Target="slide7.xml"/><Relationship Id="rId5" Type="http://schemas.openxmlformats.org/officeDocument/2006/relationships/notesSlide" Target="../notesSlides/notesSlide9.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 Target="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6.png"/><Relationship Id="rId4" Type="http://schemas.openxmlformats.org/officeDocument/2006/relationships/slide" Target="slide7.xml"/><Relationship Id="rId5" Type="http://schemas.openxmlformats.org/officeDocument/2006/relationships/slide" Target="slide11.xml"/><Relationship Id="rId6" Type="http://schemas.openxmlformats.org/officeDocument/2006/relationships/notesSlide" Target="../notesSlides/notesSlide10.xml"/><Relationship Id="rId7" Type="http://schemas.openxmlformats.org/officeDocument/2006/relationships/slide" Target="slide12.xml"/><Relationship Id="rId8" Type="http://schemas.openxmlformats.org/officeDocument/2006/relationships/slide" Target="slide10.xml"/><Relationship Id="rId9" Type="http://schemas.openxmlformats.org/officeDocument/2006/relationships/slide" Target="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 Id="rId5" Type="http://schemas.openxmlformats.org/officeDocument/2006/relationships/notesSlide" Target="../notesSlides/notesSlide11.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7.xml"/><Relationship Id="rId9" Type="http://schemas.openxmlformats.org/officeDocument/2006/relationships/slide" Target="slide16.xml"/><Relationship Id="rId10" Type="http://schemas.openxmlformats.org/officeDocument/2006/relationships/slide" Target="slide18.xml"/><Relationship Id="rId11" Type="http://schemas.openxmlformats.org/officeDocument/2006/relationships/slide" Target="slide19.xml"/><Relationship Id="rId12" Type="http://schemas.openxmlformats.org/officeDocument/2006/relationships/slide" Target="slide11.xml"/><Relationship Id="rId13" Type="http://schemas.openxmlformats.org/officeDocument/2006/relationships/slide" Target="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7.png"/><Relationship Id="rId4" Type="http://schemas.openxmlformats.org/officeDocument/2006/relationships/slide" Target="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12.xml"/><Relationship Id="rId7" Type="http://schemas.openxmlformats.org/officeDocument/2006/relationships/slide" Target="slide21.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13.xml"/><Relationship Id="rId11" Type="http://schemas.openxmlformats.org/officeDocument/2006/relationships/slide" Target="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13.xml"/><Relationship Id="rId4" Type="http://schemas.openxmlformats.org/officeDocument/2006/relationships/slide" Target="slide25.xml"/><Relationship Id="rId5" Type="http://schemas.openxmlformats.org/officeDocument/2006/relationships/slide" Target="slide20.xml"/><Relationship Id="rId6" Type="http://schemas.openxmlformats.org/officeDocument/2006/relationships/slide" Target="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 Id="rId4" Type="http://schemas.openxmlformats.org/officeDocument/2006/relationships/notesSlide" Target="../notesSlides/notesSlide14.xml"/><Relationship Id="rId5" Type="http://schemas.openxmlformats.org/officeDocument/2006/relationships/slide" Target="slide27.xml"/><Relationship Id="rId6" Type="http://schemas.openxmlformats.org/officeDocument/2006/relationships/slide" Target="slide28.xml"/><Relationship Id="rId7" Type="http://schemas.openxmlformats.org/officeDocument/2006/relationships/slide" Target="slide29.xml"/><Relationship Id="rId8" Type="http://schemas.openxmlformats.org/officeDocument/2006/relationships/slide" Target="slide30.xml"/><Relationship Id="rId9" Type="http://schemas.openxmlformats.org/officeDocument/2006/relationships/slide" Target="slide31.xml"/><Relationship Id="rId10" Type="http://schemas.openxmlformats.org/officeDocument/2006/relationships/slide" Target="slide32.xml"/><Relationship Id="rId11" Type="http://schemas.openxmlformats.org/officeDocument/2006/relationships/slide" Target="slide24.xml"/><Relationship Id="rId12" Type="http://schemas.openxmlformats.org/officeDocument/2006/relationships/slide" Target="slide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15.xml"/><Relationship Id="rId4" Type="http://schemas.openxmlformats.org/officeDocument/2006/relationships/slide" Target="slide35.xml"/><Relationship Id="rId5" Type="http://schemas.openxmlformats.org/officeDocument/2006/relationships/slide" Target="slide34.xml"/><Relationship Id="rId6" Type="http://schemas.openxmlformats.org/officeDocument/2006/relationships/slide" Target="slide36.xml"/><Relationship Id="rId7" Type="http://schemas.openxmlformats.org/officeDocument/2006/relationships/slide" Target="slide37.xml"/><Relationship Id="rId8" Type="http://schemas.openxmlformats.org/officeDocument/2006/relationships/slide" Target="slide26.xml"/><Relationship Id="rId9" Type="http://schemas.openxmlformats.org/officeDocument/2006/relationships/slide" Target="slide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39.xml"/><Relationship Id="rId6" Type="http://schemas.openxmlformats.org/officeDocument/2006/relationships/slide" Target="slide42.xml"/><Relationship Id="rId7" Type="http://schemas.openxmlformats.org/officeDocument/2006/relationships/slide" Target="slide33.xml"/><Relationship Id="rId8" Type="http://schemas.openxmlformats.org/officeDocument/2006/relationships/slide" Target="slide4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16.xml"/><Relationship Id="rId4" Type="http://schemas.openxmlformats.org/officeDocument/2006/relationships/slide" Target="slide44.xml"/><Relationship Id="rId5" Type="http://schemas.openxmlformats.org/officeDocument/2006/relationships/slide" Target="slide45.xml"/><Relationship Id="rId6" Type="http://schemas.openxmlformats.org/officeDocument/2006/relationships/slide" Target="slide46.xml"/><Relationship Id="rId7" Type="http://schemas.openxmlformats.org/officeDocument/2006/relationships/slide" Target="slide47.xml"/><Relationship Id="rId8" Type="http://schemas.openxmlformats.org/officeDocument/2006/relationships/slide" Target="slide38.xml"/><Relationship Id="rId9" Type="http://schemas.openxmlformats.org/officeDocument/2006/relationships/slide" Target="slide4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9.xml"/><Relationship Id="rId4" Type="http://schemas.openxmlformats.org/officeDocument/2006/relationships/slide" Target="slide50.xml"/><Relationship Id="rId5" Type="http://schemas.openxmlformats.org/officeDocument/2006/relationships/slide" Target="slide51.xml"/><Relationship Id="rId6" Type="http://schemas.openxmlformats.org/officeDocument/2006/relationships/slide" Target="slide52.xml"/><Relationship Id="rId7" Type="http://schemas.openxmlformats.org/officeDocument/2006/relationships/slide" Target="slide53.xml"/><Relationship Id="rId8" Type="http://schemas.openxmlformats.org/officeDocument/2006/relationships/slide" Target="slide43.xml"/><Relationship Id="rId9" Type="http://schemas.openxmlformats.org/officeDocument/2006/relationships/slide" Target="slide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5.xml"/><Relationship Id="rId4" Type="http://schemas.openxmlformats.org/officeDocument/2006/relationships/slide" Target="slide55.xml"/><Relationship Id="rId5" Type="http://schemas.openxmlformats.org/officeDocument/2006/relationships/slide" Target="slide4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54.xml"/><Relationship Id="rId5" Type="http://schemas.openxmlformats.org/officeDocument/2006/relationships/slide" Target="slide5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57.xml"/><Relationship Id="rId4" Type="http://schemas.openxmlformats.org/officeDocument/2006/relationships/slide" Target="slide58.xml"/><Relationship Id="rId5" Type="http://schemas.openxmlformats.org/officeDocument/2006/relationships/slide" Target="slide62.xml"/><Relationship Id="rId6" Type="http://schemas.openxmlformats.org/officeDocument/2006/relationships/slide" Target="slide84.xml"/><Relationship Id="rId7" Type="http://schemas.openxmlformats.org/officeDocument/2006/relationships/slide" Target="slide89.xml"/><Relationship Id="rId8" Type="http://schemas.openxmlformats.org/officeDocument/2006/relationships/slide" Target="slide91.xml"/><Relationship Id="rId9" Type="http://schemas.openxmlformats.org/officeDocument/2006/relationships/slide" Target="slide113.xml"/><Relationship Id="rId10" Type="http://schemas.openxmlformats.org/officeDocument/2006/relationships/slide" Target="slide118.xml"/><Relationship Id="rId11" Type="http://schemas.openxmlformats.org/officeDocument/2006/relationships/slide" Target="slide121.xml"/><Relationship Id="rId12" Type="http://schemas.openxmlformats.org/officeDocument/2006/relationships/slide" Target="slide126.xml"/><Relationship Id="rId13" Type="http://schemas.openxmlformats.org/officeDocument/2006/relationships/slide" Target="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1.png"/><Relationship Id="rId4" Type="http://schemas.openxmlformats.org/officeDocument/2006/relationships/notesSlide" Target="../notesSlides/notesSlide17.xml"/><Relationship Id="rId5" Type="http://schemas.openxmlformats.org/officeDocument/2006/relationships/slide" Target="slide56.xml"/><Relationship Id="rId6" Type="http://schemas.openxmlformats.org/officeDocument/2006/relationships/slide" Target="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2.png"/><Relationship Id="rId4" Type="http://schemas.openxmlformats.org/officeDocument/2006/relationships/slide" Target="slide58.xml"/><Relationship Id="rId5" Type="http://schemas.openxmlformats.org/officeDocument/2006/relationships/notesSlide" Target="../notesSlides/notesSlide18.xml"/><Relationship Id="rId6" Type="http://schemas.openxmlformats.org/officeDocument/2006/relationships/slide" Target="slide59.xml"/><Relationship Id="rId7" Type="http://schemas.openxmlformats.org/officeDocument/2006/relationships/slide" Target="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3.png"/><Relationship Id="rId4" Type="http://schemas.openxmlformats.org/officeDocument/2006/relationships/slide" Target="slide58.xml"/><Relationship Id="rId5" Type="http://schemas.openxmlformats.org/officeDocument/2006/relationships/notesSlide" Target="../notesSlides/notesSlide19.xml"/><Relationship Id="rId6" Type="http://schemas.openxmlformats.org/officeDocument/2006/relationships/slide" Target="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3.png"/><Relationship Id="rId4" Type="http://schemas.openxmlformats.org/officeDocument/2006/relationships/slide" Target="slide59.xml"/><Relationship Id="rId5" Type="http://schemas.openxmlformats.org/officeDocument/2006/relationships/slide" Target="slide58.xml"/><Relationship Id="rId6" Type="http://schemas.openxmlformats.org/officeDocument/2006/relationships/notesSlide" Target="../notesSlides/notesSlide20.xml"/><Relationship Id="rId7" Type="http://schemas.openxmlformats.org/officeDocument/2006/relationships/slide" Target="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2.png"/><Relationship Id="rId4" Type="http://schemas.openxmlformats.org/officeDocument/2006/relationships/slide" Target="slide60.xml"/><Relationship Id="rId5" Type="http://schemas.openxmlformats.org/officeDocument/2006/relationships/slide" Target="slide58.xml"/><Relationship Id="rId6" Type="http://schemas.openxmlformats.org/officeDocument/2006/relationships/notesSlide" Target="../notesSlides/notesSlide21.xml"/><Relationship Id="rId7" Type="http://schemas.openxmlformats.org/officeDocument/2006/relationships/slide" Target="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22.xml"/><Relationship Id="rId4" Type="http://schemas.openxmlformats.org/officeDocument/2006/relationships/slide" Target="slide63.xml"/><Relationship Id="rId5" Type="http://schemas.openxmlformats.org/officeDocument/2006/relationships/slide" Target="slide64.xml"/><Relationship Id="rId6" Type="http://schemas.openxmlformats.org/officeDocument/2006/relationships/slide" Target="slide65.xml"/><Relationship Id="rId7" Type="http://schemas.openxmlformats.org/officeDocument/2006/relationships/slide" Target="slide66.xml"/><Relationship Id="rId8" Type="http://schemas.openxmlformats.org/officeDocument/2006/relationships/slide" Target="slide67.xml"/><Relationship Id="rId9" Type="http://schemas.openxmlformats.org/officeDocument/2006/relationships/slide" Target="slide83.xml"/><Relationship Id="rId10" Type="http://schemas.openxmlformats.org/officeDocument/2006/relationships/slide" Target="slide61.xml"/><Relationship Id="rId11" Type="http://schemas.openxmlformats.org/officeDocument/2006/relationships/slide" Target="slide8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8.xml"/><Relationship Id="rId4" Type="http://schemas.openxmlformats.org/officeDocument/2006/relationships/slide" Target="slide69.xml"/><Relationship Id="rId5" Type="http://schemas.openxmlformats.org/officeDocument/2006/relationships/slide" Target="slide7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71.xml"/><Relationship Id="rId4" Type="http://schemas.openxmlformats.org/officeDocument/2006/relationships/slide" Target="slide72.xml"/><Relationship Id="rId5" Type="http://schemas.openxmlformats.org/officeDocument/2006/relationships/slide" Target="slide7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74.xml"/><Relationship Id="rId4" Type="http://schemas.openxmlformats.org/officeDocument/2006/relationships/slide" Target="slide75.xml"/><Relationship Id="rId5" Type="http://schemas.openxmlformats.org/officeDocument/2006/relationships/slide" Target="slide7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77.xml"/><Relationship Id="rId4" Type="http://schemas.openxmlformats.org/officeDocument/2006/relationships/slide" Target="slide78.xml"/><Relationship Id="rId5" Type="http://schemas.openxmlformats.org/officeDocument/2006/relationships/slide" Target="slide7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80.xml"/><Relationship Id="rId4" Type="http://schemas.openxmlformats.org/officeDocument/2006/relationships/slide" Target="slide81.xml"/><Relationship Id="rId5" Type="http://schemas.openxmlformats.org/officeDocument/2006/relationships/slide" Target="slide8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6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0.png"/><Relationship Id="rId4" Type="http://schemas.openxmlformats.org/officeDocument/2006/relationships/slide" Target="slide85.xml"/><Relationship Id="rId5" Type="http://schemas.openxmlformats.org/officeDocument/2006/relationships/slide" Target="slide6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3.png"/><Relationship Id="rId4" Type="http://schemas.openxmlformats.org/officeDocument/2006/relationships/slide" Target="slide85.xml"/><Relationship Id="rId5" Type="http://schemas.openxmlformats.org/officeDocument/2006/relationships/notesSlide" Target="../notesSlides/notesSlide23.xml"/><Relationship Id="rId6" Type="http://schemas.openxmlformats.org/officeDocument/2006/relationships/slide" Target="slide86.xml"/><Relationship Id="rId7" Type="http://schemas.openxmlformats.org/officeDocument/2006/relationships/slide" Target="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4.png"/><Relationship Id="rId4" Type="http://schemas.openxmlformats.org/officeDocument/2006/relationships/slide" Target="slide85.xml"/><Relationship Id="rId5" Type="http://schemas.openxmlformats.org/officeDocument/2006/relationships/notesSlide" Target="../notesSlides/notesSlide24.xml"/><Relationship Id="rId6" Type="http://schemas.openxmlformats.org/officeDocument/2006/relationships/slide" Target="slide8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5.png"/><Relationship Id="rId4" Type="http://schemas.openxmlformats.org/officeDocument/2006/relationships/slide" Target="slide86.xml"/><Relationship Id="rId5" Type="http://schemas.openxmlformats.org/officeDocument/2006/relationships/slide" Target="slide85.xml"/><Relationship Id="rId6" Type="http://schemas.openxmlformats.org/officeDocument/2006/relationships/notesSlide" Target="../notesSlides/notesSlide25.xml"/><Relationship Id="rId7" Type="http://schemas.openxmlformats.org/officeDocument/2006/relationships/slide" Target="slide8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3.png"/><Relationship Id="rId4" Type="http://schemas.openxmlformats.org/officeDocument/2006/relationships/slide" Target="slide87.xml"/><Relationship Id="rId5" Type="http://schemas.openxmlformats.org/officeDocument/2006/relationships/slide" Target="slide85.xml"/><Relationship Id="rId6" Type="http://schemas.openxmlformats.org/officeDocument/2006/relationships/notesSlide" Target="../notesSlides/notesSlide26.xml"/><Relationship Id="rId7" Type="http://schemas.openxmlformats.org/officeDocument/2006/relationships/slide" Target="slide8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89.xml"/><Relationship Id="rId4" Type="http://schemas.openxmlformats.org/officeDocument/2006/relationships/notesSlide" Target="../notesSlides/notesSlide27.xml"/><Relationship Id="rId5" Type="http://schemas.openxmlformats.org/officeDocument/2006/relationships/slide" Target="slide90.xml"/><Relationship Id="rId6" Type="http://schemas.openxmlformats.org/officeDocument/2006/relationships/slide" Target="slide88.xml"/><Relationship Id="rId7" Type="http://schemas.openxmlformats.org/officeDocument/2006/relationships/slide" Target="slide9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6.png"/><Relationship Id="rId4" Type="http://schemas.openxmlformats.org/officeDocument/2006/relationships/notesSlide" Target="../notesSlides/notesSlide28.xml"/><Relationship Id="rId5" Type="http://schemas.openxmlformats.org/officeDocument/2006/relationships/slide" Target="slide92.xml"/><Relationship Id="rId6" Type="http://schemas.openxmlformats.org/officeDocument/2006/relationships/slide" Target="slide93.xml"/><Relationship Id="rId7" Type="http://schemas.openxmlformats.org/officeDocument/2006/relationships/slide" Target="slide94.xml"/><Relationship Id="rId8" Type="http://schemas.openxmlformats.org/officeDocument/2006/relationships/slide" Target="slide95.xml"/><Relationship Id="rId9" Type="http://schemas.openxmlformats.org/officeDocument/2006/relationships/slide" Target="slide96.xml"/><Relationship Id="rId10" Type="http://schemas.openxmlformats.org/officeDocument/2006/relationships/slide" Target="slide89.xml"/><Relationship Id="rId11" Type="http://schemas.openxmlformats.org/officeDocument/2006/relationships/slide" Target="slide9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7.png"/><Relationship Id="rId4" Type="http://schemas.openxmlformats.org/officeDocument/2006/relationships/slide" Target="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8.png"/><Relationship Id="rId4" Type="http://schemas.openxmlformats.org/officeDocument/2006/relationships/slide" Target="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9.png"/><Relationship Id="rId4" Type="http://schemas.openxmlformats.org/officeDocument/2006/relationships/slide" Target="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0.png"/><Relationship Id="rId4" Type="http://schemas.openxmlformats.org/officeDocument/2006/relationships/slide" Target="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1.png"/><Relationship Id="rId4" Type="http://schemas.openxmlformats.org/officeDocument/2006/relationships/slide" Target="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29.xml"/><Relationship Id="rId4" Type="http://schemas.openxmlformats.org/officeDocument/2006/relationships/slide" Target="slide98.xml"/><Relationship Id="rId5" Type="http://schemas.openxmlformats.org/officeDocument/2006/relationships/slide" Target="slide9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30.xml"/><Relationship Id="rId4" Type="http://schemas.openxmlformats.org/officeDocument/2006/relationships/slide" Target="slide99.xml"/><Relationship Id="rId5" Type="http://schemas.openxmlformats.org/officeDocument/2006/relationships/slide" Target="slide100.xml"/><Relationship Id="rId6" Type="http://schemas.openxmlformats.org/officeDocument/2006/relationships/slide" Target="slide101.xml"/><Relationship Id="rId7" Type="http://schemas.openxmlformats.org/officeDocument/2006/relationships/slide" Target="slide102.xml"/><Relationship Id="rId8" Type="http://schemas.openxmlformats.org/officeDocument/2006/relationships/slide" Target="slide97.xml"/><Relationship Id="rId9" Type="http://schemas.openxmlformats.org/officeDocument/2006/relationships/slide" Target="slide10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9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9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31.xml"/><Relationship Id="rId4" Type="http://schemas.openxmlformats.org/officeDocument/2006/relationships/slide" Target="slide105.xml"/><Relationship Id="rId5" Type="http://schemas.openxmlformats.org/officeDocument/2006/relationships/slide" Target="slide104.xml"/><Relationship Id="rId6" Type="http://schemas.openxmlformats.org/officeDocument/2006/relationships/slide" Target="slide106.xml"/><Relationship Id="rId7" Type="http://schemas.openxmlformats.org/officeDocument/2006/relationships/slide" Target="slide107.xml"/><Relationship Id="rId8" Type="http://schemas.openxmlformats.org/officeDocument/2006/relationships/slide" Target="slide98.xml"/><Relationship Id="rId9" Type="http://schemas.openxmlformats.org/officeDocument/2006/relationships/slide" Target="slide10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32.xml"/><Relationship Id="rId4" Type="http://schemas.openxmlformats.org/officeDocument/2006/relationships/slide" Target="slide110.xml"/><Relationship Id="rId5" Type="http://schemas.openxmlformats.org/officeDocument/2006/relationships/slide" Target="slide109.xml"/><Relationship Id="rId6" Type="http://schemas.openxmlformats.org/officeDocument/2006/relationships/slide" Target="slide111.xml"/><Relationship Id="rId7" Type="http://schemas.openxmlformats.org/officeDocument/2006/relationships/slide" Target="slide112.xml"/><Relationship Id="rId8" Type="http://schemas.openxmlformats.org/officeDocument/2006/relationships/slide" Target="slide103.xml"/><Relationship Id="rId9" Type="http://schemas.openxmlformats.org/officeDocument/2006/relationships/slide" Target="slide1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2.png"/><Relationship Id="rId4" Type="http://schemas.openxmlformats.org/officeDocument/2006/relationships/notesSlide" Target="../notesSlides/notesSlide33.xml"/><Relationship Id="rId5" Type="http://schemas.openxmlformats.org/officeDocument/2006/relationships/slide" Target="slide108.xml"/><Relationship Id="rId6" Type="http://schemas.openxmlformats.org/officeDocument/2006/relationships/slide" Target="slide11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3.png"/><Relationship Id="rId4" Type="http://schemas.openxmlformats.org/officeDocument/2006/relationships/notesSlide" Target="../notesSlides/notesSlide34.xml"/><Relationship Id="rId5" Type="http://schemas.openxmlformats.org/officeDocument/2006/relationships/slide" Target="slide115.xml"/><Relationship Id="rId6" Type="http://schemas.openxmlformats.org/officeDocument/2006/relationships/slide" Target="slide116.xml"/><Relationship Id="rId7" Type="http://schemas.openxmlformats.org/officeDocument/2006/relationships/slide" Target="slide117.xml"/><Relationship Id="rId8" Type="http://schemas.openxmlformats.org/officeDocument/2006/relationships/slide" Target="slide113.xml"/><Relationship Id="rId9" Type="http://schemas.openxmlformats.org/officeDocument/2006/relationships/slide" Target="slide1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4.png"/><Relationship Id="rId4" Type="http://schemas.openxmlformats.org/officeDocument/2006/relationships/slide" Target="slide1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3.png"/><Relationship Id="rId4" Type="http://schemas.openxmlformats.org/officeDocument/2006/relationships/slide" Target="slide1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5.png"/><Relationship Id="rId4" Type="http://schemas.openxmlformats.org/officeDocument/2006/relationships/slide" Target="slide11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6.png"/><Relationship Id="rId4" Type="http://schemas.openxmlformats.org/officeDocument/2006/relationships/notesSlide" Target="../notesSlides/notesSlide35.xml"/><Relationship Id="rId5" Type="http://schemas.openxmlformats.org/officeDocument/2006/relationships/slide" Target="slide119.xml"/><Relationship Id="rId6" Type="http://schemas.openxmlformats.org/officeDocument/2006/relationships/slide" Target="slide120.xml"/><Relationship Id="rId7" Type="http://schemas.openxmlformats.org/officeDocument/2006/relationships/slide" Target="slide114.xml"/><Relationship Id="rId8" Type="http://schemas.openxmlformats.org/officeDocument/2006/relationships/slide" Target="slide12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7.png"/><Relationship Id="rId4" Type="http://schemas.openxmlformats.org/officeDocument/2006/relationships/slide" Target="slide121.xml"/><Relationship Id="rId5" Type="http://schemas.openxmlformats.org/officeDocument/2006/relationships/notesSlide" Target="../notesSlides/notesSlide36.xml"/><Relationship Id="rId6" Type="http://schemas.openxmlformats.org/officeDocument/2006/relationships/slide" Target="slide122.xml"/><Relationship Id="rId7" Type="http://schemas.openxmlformats.org/officeDocument/2006/relationships/slide" Target="slide11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8.png"/><Relationship Id="rId4" Type="http://schemas.openxmlformats.org/officeDocument/2006/relationships/slide" Target="slide121.xml"/><Relationship Id="rId5" Type="http://schemas.openxmlformats.org/officeDocument/2006/relationships/notesSlide" Target="../notesSlides/notesSlide37.xml"/><Relationship Id="rId6" Type="http://schemas.openxmlformats.org/officeDocument/2006/relationships/slide" Target="slide12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29.png"/><Relationship Id="rId4" Type="http://schemas.openxmlformats.org/officeDocument/2006/relationships/slide" Target="slide122.xml"/><Relationship Id="rId5" Type="http://schemas.openxmlformats.org/officeDocument/2006/relationships/slide" Target="slide121.xml"/><Relationship Id="rId6" Type="http://schemas.openxmlformats.org/officeDocument/2006/relationships/notesSlide" Target="../notesSlides/notesSlide38.xml"/><Relationship Id="rId7" Type="http://schemas.openxmlformats.org/officeDocument/2006/relationships/slide" Target="slide12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0.png"/><Relationship Id="rId4" Type="http://schemas.openxmlformats.org/officeDocument/2006/relationships/slide" Target="slide123.xml"/><Relationship Id="rId5" Type="http://schemas.openxmlformats.org/officeDocument/2006/relationships/slide" Target="slide121.xml"/><Relationship Id="rId6" Type="http://schemas.openxmlformats.org/officeDocument/2006/relationships/notesSlide" Target="../notesSlides/notesSlide39.xml"/><Relationship Id="rId7" Type="http://schemas.openxmlformats.org/officeDocument/2006/relationships/slide" Target="slide1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40.xml"/><Relationship Id="rId4" Type="http://schemas.openxmlformats.org/officeDocument/2006/relationships/slide" Target="slide124.xml"/><Relationship Id="rId5" Type="http://schemas.openxmlformats.org/officeDocument/2006/relationships/slide" Target="slide12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 Id="rId4" Type="http://schemas.openxmlformats.org/officeDocument/2006/relationships/notesSlide" Target="../notesSlides/notesSlide41.xml"/><Relationship Id="rId5" Type="http://schemas.openxmlformats.org/officeDocument/2006/relationships/slide" Target="slide127.xml"/><Relationship Id="rId6" Type="http://schemas.openxmlformats.org/officeDocument/2006/relationships/slide" Target="slide128.xml"/><Relationship Id="rId7" Type="http://schemas.openxmlformats.org/officeDocument/2006/relationships/slide" Target="slide129.xml"/><Relationship Id="rId8" Type="http://schemas.openxmlformats.org/officeDocument/2006/relationships/slide" Target="slide130.xml"/><Relationship Id="rId9" Type="http://schemas.openxmlformats.org/officeDocument/2006/relationships/slide" Target="slide131.xml"/><Relationship Id="rId10" Type="http://schemas.openxmlformats.org/officeDocument/2006/relationships/slide" Target="slide132.xml"/><Relationship Id="rId11" Type="http://schemas.openxmlformats.org/officeDocument/2006/relationships/slide" Target="slide133.xml"/><Relationship Id="rId12" Type="http://schemas.openxmlformats.org/officeDocument/2006/relationships/slide" Target="slide134.xml"/><Relationship Id="rId13" Type="http://schemas.openxmlformats.org/officeDocument/2006/relationships/slide" Target="slide135.xml"/><Relationship Id="rId14" Type="http://schemas.openxmlformats.org/officeDocument/2006/relationships/slide" Target="slide136.xml"/><Relationship Id="rId15" Type="http://schemas.openxmlformats.org/officeDocument/2006/relationships/slide" Target="slide137.xml"/><Relationship Id="rId16" Type="http://schemas.openxmlformats.org/officeDocument/2006/relationships/slide" Target="slide125.xml"/><Relationship Id="rId17" Type="http://schemas.openxmlformats.org/officeDocument/2006/relationships/slide" Target="slide13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26.xml"/><Relationship Id="rId4" Type="http://schemas.openxmlformats.org/officeDocument/2006/relationships/slide" Target="slide13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56.xml"/><Relationship Id="rId4" Type="http://schemas.openxmlformats.org/officeDocument/2006/relationships/slide" Target="slide139.xml"/><Relationship Id="rId5" Type="http://schemas.openxmlformats.org/officeDocument/2006/relationships/slide" Target="slide12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38.xml"/><Relationship Id="rId5" Type="http://schemas.openxmlformats.org/officeDocument/2006/relationships/slide" Target="slide14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41.xml"/><Relationship Id="rId4" Type="http://schemas.openxmlformats.org/officeDocument/2006/relationships/slide" Target="slide142.xml"/><Relationship Id="rId5" Type="http://schemas.openxmlformats.org/officeDocument/2006/relationships/slide" Target="slide146.xml"/><Relationship Id="rId6" Type="http://schemas.openxmlformats.org/officeDocument/2006/relationships/slide" Target="slide152.xml"/><Relationship Id="rId7" Type="http://schemas.openxmlformats.org/officeDocument/2006/relationships/slide" Target="slide153.xml"/><Relationship Id="rId8" Type="http://schemas.openxmlformats.org/officeDocument/2006/relationships/slide" Target="slide154.xml"/><Relationship Id="rId9" Type="http://schemas.openxmlformats.org/officeDocument/2006/relationships/slide" Target="slide180.xml"/><Relationship Id="rId10" Type="http://schemas.openxmlformats.org/officeDocument/2006/relationships/slide" Target="slide13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1.png"/><Relationship Id="rId4" Type="http://schemas.openxmlformats.org/officeDocument/2006/relationships/notesSlide" Target="../notesSlides/notesSlide42.xml"/><Relationship Id="rId5" Type="http://schemas.openxmlformats.org/officeDocument/2006/relationships/slide" Target="slide140.xml"/><Relationship Id="rId6" Type="http://schemas.openxmlformats.org/officeDocument/2006/relationships/slide" Target="slide14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2.png"/><Relationship Id="rId4" Type="http://schemas.openxmlformats.org/officeDocument/2006/relationships/slide" Target="slide142.xml"/><Relationship Id="rId5" Type="http://schemas.openxmlformats.org/officeDocument/2006/relationships/notesSlide" Target="../notesSlides/notesSlide43.xml"/><Relationship Id="rId6" Type="http://schemas.openxmlformats.org/officeDocument/2006/relationships/slide" Target="slide143.xml"/><Relationship Id="rId7" Type="http://schemas.openxmlformats.org/officeDocument/2006/relationships/slide" Target="slide14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3.png"/><Relationship Id="rId4" Type="http://schemas.openxmlformats.org/officeDocument/2006/relationships/slide" Target="slide142.xml"/><Relationship Id="rId5" Type="http://schemas.openxmlformats.org/officeDocument/2006/relationships/notesSlide" Target="../notesSlides/notesSlide44.xml"/><Relationship Id="rId6" Type="http://schemas.openxmlformats.org/officeDocument/2006/relationships/slide" Target="slide14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3.png"/><Relationship Id="rId4" Type="http://schemas.openxmlformats.org/officeDocument/2006/relationships/slide" Target="slide143.xml"/><Relationship Id="rId5" Type="http://schemas.openxmlformats.org/officeDocument/2006/relationships/slide" Target="slide142.xml"/><Relationship Id="rId6" Type="http://schemas.openxmlformats.org/officeDocument/2006/relationships/notesSlide" Target="../notesSlides/notesSlide45.xml"/><Relationship Id="rId7" Type="http://schemas.openxmlformats.org/officeDocument/2006/relationships/slide" Target="slide14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4.png"/><Relationship Id="rId4" Type="http://schemas.openxmlformats.org/officeDocument/2006/relationships/slide" Target="slide144.xml"/><Relationship Id="rId5" Type="http://schemas.openxmlformats.org/officeDocument/2006/relationships/slide" Target="slide142.xml"/><Relationship Id="rId6" Type="http://schemas.openxmlformats.org/officeDocument/2006/relationships/notesSlide" Target="../notesSlides/notesSlide46.xml"/><Relationship Id="rId7" Type="http://schemas.openxmlformats.org/officeDocument/2006/relationships/slide" Target="slide14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46.xml"/><Relationship Id="rId5" Type="http://schemas.openxmlformats.org/officeDocument/2006/relationships/notesSlide" Target="../notesSlides/notesSlide47.xml"/><Relationship Id="rId6" Type="http://schemas.openxmlformats.org/officeDocument/2006/relationships/slide" Target="slide147.xml"/><Relationship Id="rId7" Type="http://schemas.openxmlformats.org/officeDocument/2006/relationships/slide" Target="slide148.xml"/><Relationship Id="rId8" Type="http://schemas.openxmlformats.org/officeDocument/2006/relationships/slide" Target="slide149.xml"/><Relationship Id="rId9" Type="http://schemas.openxmlformats.org/officeDocument/2006/relationships/slide" Target="slide150.xml"/><Relationship Id="rId10" Type="http://schemas.openxmlformats.org/officeDocument/2006/relationships/slide" Target="slide151.xml"/><Relationship Id="rId11" Type="http://schemas.openxmlformats.org/officeDocument/2006/relationships/slide" Target="slide145.xml"/><Relationship Id="rId12" Type="http://schemas.openxmlformats.org/officeDocument/2006/relationships/slide" Target="slide15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4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4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4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5.png"/><Relationship Id="rId4" Type="http://schemas.openxmlformats.org/officeDocument/2006/relationships/notesSlide" Target="../notesSlides/notesSlide48.xml"/><Relationship Id="rId5" Type="http://schemas.openxmlformats.org/officeDocument/2006/relationships/slide" Target="slide146.xml"/><Relationship Id="rId6" Type="http://schemas.openxmlformats.org/officeDocument/2006/relationships/slide" Target="slide15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6.png"/><Relationship Id="rId4" Type="http://schemas.openxmlformats.org/officeDocument/2006/relationships/notesSlide" Target="../notesSlides/notesSlide49.xml"/><Relationship Id="rId5" Type="http://schemas.openxmlformats.org/officeDocument/2006/relationships/slide" Target="slide152.xml"/><Relationship Id="rId6" Type="http://schemas.openxmlformats.org/officeDocument/2006/relationships/slide" Target="slide15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 Id="rId4" Type="http://schemas.openxmlformats.org/officeDocument/2006/relationships/notesSlide" Target="../notesSlides/notesSlide50.xml"/><Relationship Id="rId5" Type="http://schemas.openxmlformats.org/officeDocument/2006/relationships/slide" Target="slide155.xml"/><Relationship Id="rId6" Type="http://schemas.openxmlformats.org/officeDocument/2006/relationships/slide" Target="slide158.xml"/><Relationship Id="rId7" Type="http://schemas.openxmlformats.org/officeDocument/2006/relationships/slide" Target="slide161.xml"/><Relationship Id="rId8" Type="http://schemas.openxmlformats.org/officeDocument/2006/relationships/slide" Target="slide164.xml"/><Relationship Id="rId9" Type="http://schemas.openxmlformats.org/officeDocument/2006/relationships/slide" Target="slide167.xml"/><Relationship Id="rId10" Type="http://schemas.openxmlformats.org/officeDocument/2006/relationships/slide" Target="slide170.xml"/><Relationship Id="rId11" Type="http://schemas.openxmlformats.org/officeDocument/2006/relationships/slide" Target="slide173.xml"/><Relationship Id="rId12" Type="http://schemas.openxmlformats.org/officeDocument/2006/relationships/slide" Target="slide176.xml"/><Relationship Id="rId13" Type="http://schemas.openxmlformats.org/officeDocument/2006/relationships/slide" Target="slide179.xml"/><Relationship Id="rId14" Type="http://schemas.openxmlformats.org/officeDocument/2006/relationships/slide" Target="slide153.xml"/><Relationship Id="rId15" Type="http://schemas.openxmlformats.org/officeDocument/2006/relationships/slide" Target="slide18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6.xml"/><Relationship Id="rId4" Type="http://schemas.openxmlformats.org/officeDocument/2006/relationships/slide" Target="slide15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9.xml"/><Relationship Id="rId4" Type="http://schemas.openxmlformats.org/officeDocument/2006/relationships/slide" Target="slide16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62.xml"/><Relationship Id="rId4" Type="http://schemas.openxmlformats.org/officeDocument/2006/relationships/slide" Target="slide16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65.xml"/><Relationship Id="rId4" Type="http://schemas.openxmlformats.org/officeDocument/2006/relationships/slide" Target="slide16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68.xml"/><Relationship Id="rId4" Type="http://schemas.openxmlformats.org/officeDocument/2006/relationships/slide" Target="slide16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71.xml"/><Relationship Id="rId4" Type="http://schemas.openxmlformats.org/officeDocument/2006/relationships/slide" Target="slide17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74.xml"/><Relationship Id="rId4" Type="http://schemas.openxmlformats.org/officeDocument/2006/relationships/slide" Target="slide17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77.xml"/><Relationship Id="rId4" Type="http://schemas.openxmlformats.org/officeDocument/2006/relationships/slide" Target="slide17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5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51.xml"/><Relationship Id="rId4" Type="http://schemas.openxmlformats.org/officeDocument/2006/relationships/slide" Target="slide181.xml"/><Relationship Id="rId5" Type="http://schemas.openxmlformats.org/officeDocument/2006/relationships/slide" Target="slide182.xml"/><Relationship Id="rId6" Type="http://schemas.openxmlformats.org/officeDocument/2006/relationships/slide" Target="slide183.xml"/><Relationship Id="rId7" Type="http://schemas.openxmlformats.org/officeDocument/2006/relationships/slide" Target="slide184.xml"/><Relationship Id="rId8" Type="http://schemas.openxmlformats.org/officeDocument/2006/relationships/slide" Target="slide154.xml"/><Relationship Id="rId9" Type="http://schemas.openxmlformats.org/officeDocument/2006/relationships/slide" Target="slide18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52.xml"/><Relationship Id="rId4" Type="http://schemas.openxmlformats.org/officeDocument/2006/relationships/slide" Target="slide187.xml"/><Relationship Id="rId5" Type="http://schemas.openxmlformats.org/officeDocument/2006/relationships/slide" Target="slide186.xml"/><Relationship Id="rId6" Type="http://schemas.openxmlformats.org/officeDocument/2006/relationships/slide" Target="slide188.xml"/><Relationship Id="rId7" Type="http://schemas.openxmlformats.org/officeDocument/2006/relationships/slide" Target="slide189.xml"/><Relationship Id="rId8" Type="http://schemas.openxmlformats.org/officeDocument/2006/relationships/slide" Target="slide180.xml"/><Relationship Id="rId9" Type="http://schemas.openxmlformats.org/officeDocument/2006/relationships/slide" Target="slide19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90.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8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40.xml"/><Relationship Id="rId4" Type="http://schemas.openxmlformats.org/officeDocument/2006/relationships/slide" Target="slide191.xml"/><Relationship Id="rId5" Type="http://schemas.openxmlformats.org/officeDocument/2006/relationships/slide" Target="slide18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slide" Target="slide190.xml"/><Relationship Id="rId5" Type="http://schemas.openxmlformats.org/officeDocument/2006/relationships/slide" Target="slide19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93.xml"/><Relationship Id="rId4" Type="http://schemas.openxmlformats.org/officeDocument/2006/relationships/slide" Target="slide201.xml"/><Relationship Id="rId5" Type="http://schemas.openxmlformats.org/officeDocument/2006/relationships/slide" Target="slide205.xml"/><Relationship Id="rId6" Type="http://schemas.openxmlformats.org/officeDocument/2006/relationships/slide" Target="slide207.xml"/><Relationship Id="rId7" Type="http://schemas.openxmlformats.org/officeDocument/2006/relationships/slide" Target="slide230.xml"/><Relationship Id="rId8" Type="http://schemas.openxmlformats.org/officeDocument/2006/relationships/slide" Target="slide19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7.png"/><Relationship Id="rId4" Type="http://schemas.openxmlformats.org/officeDocument/2006/relationships/slide" Target="slide193.xml"/><Relationship Id="rId5" Type="http://schemas.openxmlformats.org/officeDocument/2006/relationships/notesSlide" Target="../notesSlides/notesSlide53.xml"/><Relationship Id="rId6" Type="http://schemas.openxmlformats.org/officeDocument/2006/relationships/slide" Target="slide194.xml"/><Relationship Id="rId7" Type="http://schemas.openxmlformats.org/officeDocument/2006/relationships/slide" Target="slide19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8.png"/><Relationship Id="rId4" Type="http://schemas.openxmlformats.org/officeDocument/2006/relationships/slide" Target="slide193.xml"/><Relationship Id="rId5" Type="http://schemas.openxmlformats.org/officeDocument/2006/relationships/notesSlide" Target="../notesSlides/notesSlide54.xml"/><Relationship Id="rId6" Type="http://schemas.openxmlformats.org/officeDocument/2006/relationships/slide" Target="slide19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9.png"/><Relationship Id="rId4" Type="http://schemas.openxmlformats.org/officeDocument/2006/relationships/slide" Target="slide194.xml"/><Relationship Id="rId5" Type="http://schemas.openxmlformats.org/officeDocument/2006/relationships/slide" Target="slide193.xml"/><Relationship Id="rId6" Type="http://schemas.openxmlformats.org/officeDocument/2006/relationships/notesSlide" Target="../notesSlides/notesSlide55.xml"/><Relationship Id="rId7" Type="http://schemas.openxmlformats.org/officeDocument/2006/relationships/slide" Target="slide19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0.png"/><Relationship Id="rId4" Type="http://schemas.openxmlformats.org/officeDocument/2006/relationships/slide" Target="slide195.xml"/><Relationship Id="rId5" Type="http://schemas.openxmlformats.org/officeDocument/2006/relationships/slide" Target="slide193.xml"/><Relationship Id="rId6" Type="http://schemas.openxmlformats.org/officeDocument/2006/relationships/notesSlide" Target="../notesSlides/notesSlide56.xml"/><Relationship Id="rId7" Type="http://schemas.openxmlformats.org/officeDocument/2006/relationships/slide" Target="slide19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1.png"/><Relationship Id="rId4" Type="http://schemas.openxmlformats.org/officeDocument/2006/relationships/slide" Target="slide196.xml"/><Relationship Id="rId5" Type="http://schemas.openxmlformats.org/officeDocument/2006/relationships/slide" Target="slide193.xml"/><Relationship Id="rId6" Type="http://schemas.openxmlformats.org/officeDocument/2006/relationships/notesSlide" Target="../notesSlides/notesSlide57.xml"/><Relationship Id="rId7" Type="http://schemas.openxmlformats.org/officeDocument/2006/relationships/slide" Target="slide19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2.png"/><Relationship Id="rId4" Type="http://schemas.openxmlformats.org/officeDocument/2006/relationships/slide" Target="slide197.xml"/><Relationship Id="rId5" Type="http://schemas.openxmlformats.org/officeDocument/2006/relationships/slide" Target="slide193.xml"/><Relationship Id="rId6" Type="http://schemas.openxmlformats.org/officeDocument/2006/relationships/notesSlide" Target="../notesSlides/notesSlide58.xml"/><Relationship Id="rId7" Type="http://schemas.openxmlformats.org/officeDocument/2006/relationships/slide" Target="slide19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3.png"/><Relationship Id="rId4" Type="http://schemas.openxmlformats.org/officeDocument/2006/relationships/slide" Target="slide198.xml"/><Relationship Id="rId5" Type="http://schemas.openxmlformats.org/officeDocument/2006/relationships/slide" Target="slide193.xml"/><Relationship Id="rId6" Type="http://schemas.openxmlformats.org/officeDocument/2006/relationships/notesSlide" Target="../notesSlides/notesSlide59.xml"/><Relationship Id="rId7" Type="http://schemas.openxmlformats.org/officeDocument/2006/relationships/slide" Target="slide20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4.png"/><Relationship Id="rId4" Type="http://schemas.openxmlformats.org/officeDocument/2006/relationships/slide" Target="slide199.xml"/><Relationship Id="rId5" Type="http://schemas.openxmlformats.org/officeDocument/2006/relationships/slide" Target="slide193.xml"/><Relationship Id="rId6" Type="http://schemas.openxmlformats.org/officeDocument/2006/relationships/notesSlide" Target="../notesSlides/notesSlide60.xml"/><Relationship Id="rId7" Type="http://schemas.openxmlformats.org/officeDocument/2006/relationships/slide" Target="slide20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5.png"/><Relationship Id="rId4" Type="http://schemas.openxmlformats.org/officeDocument/2006/relationships/notesSlide" Target="../notesSlides/notesSlide61.xml"/><Relationship Id="rId5" Type="http://schemas.openxmlformats.org/officeDocument/2006/relationships/slide" Target="slide202.xml"/><Relationship Id="rId6" Type="http://schemas.openxmlformats.org/officeDocument/2006/relationships/slide" Target="slide203.xml"/><Relationship Id="rId7" Type="http://schemas.openxmlformats.org/officeDocument/2006/relationships/slide" Target="slide204.xml"/><Relationship Id="rId8" Type="http://schemas.openxmlformats.org/officeDocument/2006/relationships/slide" Target="slide200.xml"/><Relationship Id="rId9" Type="http://schemas.openxmlformats.org/officeDocument/2006/relationships/slide" Target="slide20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37.png"/><Relationship Id="rId4" Type="http://schemas.openxmlformats.org/officeDocument/2006/relationships/slide" Target="slide20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5.xml"/><Relationship Id="rId4" Type="http://schemas.openxmlformats.org/officeDocument/2006/relationships/notesSlide" Target="../notesSlides/notesSlide62.xml"/><Relationship Id="rId5" Type="http://schemas.openxmlformats.org/officeDocument/2006/relationships/slide" Target="slide206.xml"/><Relationship Id="rId6" Type="http://schemas.openxmlformats.org/officeDocument/2006/relationships/slide" Target="slide201.xml"/><Relationship Id="rId7" Type="http://schemas.openxmlformats.org/officeDocument/2006/relationships/slide" Target="slide20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image" Target="../media/image46.png"/><Relationship Id="rId4" Type="http://schemas.openxmlformats.org/officeDocument/2006/relationships/slide" Target="slide207.xml"/><Relationship Id="rId5" Type="http://schemas.openxmlformats.org/officeDocument/2006/relationships/notesSlide" Target="../notesSlides/notesSlide63.xml"/><Relationship Id="rId6" Type="http://schemas.openxmlformats.org/officeDocument/2006/relationships/slide" Target="slide208.xml"/><Relationship Id="rId7" Type="http://schemas.openxmlformats.org/officeDocument/2006/relationships/slide" Target="slide211.xml"/><Relationship Id="rId8" Type="http://schemas.openxmlformats.org/officeDocument/2006/relationships/slide" Target="slide214.xml"/><Relationship Id="rId9" Type="http://schemas.openxmlformats.org/officeDocument/2006/relationships/slide" Target="slide217.xml"/><Relationship Id="rId10" Type="http://schemas.openxmlformats.org/officeDocument/2006/relationships/slide" Target="slide220.xml"/><Relationship Id="rId11" Type="http://schemas.openxmlformats.org/officeDocument/2006/relationships/slide" Target="slide223.xml"/><Relationship Id="rId12" Type="http://schemas.openxmlformats.org/officeDocument/2006/relationships/slide" Target="slide226.xml"/><Relationship Id="rId13" Type="http://schemas.openxmlformats.org/officeDocument/2006/relationships/slide" Target="slide229.xml"/><Relationship Id="rId14" Type="http://schemas.openxmlformats.org/officeDocument/2006/relationships/slide" Target="slide205.xml"/><Relationship Id="rId15" Type="http://schemas.openxmlformats.org/officeDocument/2006/relationships/slide" Target="slide230.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9.xml"/><Relationship Id="rId4" Type="http://schemas.openxmlformats.org/officeDocument/2006/relationships/slide" Target="slide21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13.xml"/><Relationship Id="rId4" Type="http://schemas.openxmlformats.org/officeDocument/2006/relationships/slide" Target="slide21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1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16.xml"/><Relationship Id="rId4" Type="http://schemas.openxmlformats.org/officeDocument/2006/relationships/slide" Target="slide21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14.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19.xml"/><Relationship Id="rId4" Type="http://schemas.openxmlformats.org/officeDocument/2006/relationships/slide" Target="slide218.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1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22.xml"/><Relationship Id="rId4" Type="http://schemas.openxmlformats.org/officeDocument/2006/relationships/slide" Target="slide22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20.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25.xml"/><Relationship Id="rId4" Type="http://schemas.openxmlformats.org/officeDocument/2006/relationships/slide" Target="slide22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2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28.xml"/><Relationship Id="rId4" Type="http://schemas.openxmlformats.org/officeDocument/2006/relationships/slide" Target="slide22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2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0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64.xml"/><Relationship Id="rId4" Type="http://schemas.openxmlformats.org/officeDocument/2006/relationships/slide" Target="slide232.xml"/><Relationship Id="rId5" Type="http://schemas.openxmlformats.org/officeDocument/2006/relationships/slide" Target="slide231.xml"/><Relationship Id="rId6" Type="http://schemas.openxmlformats.org/officeDocument/2006/relationships/slide" Target="slide233.xml"/><Relationship Id="rId7" Type="http://schemas.openxmlformats.org/officeDocument/2006/relationships/slide" Target="slide234.xml"/><Relationship Id="rId8" Type="http://schemas.openxmlformats.org/officeDocument/2006/relationships/slide" Target="slide207.xml"/><Relationship Id="rId9" Type="http://schemas.openxmlformats.org/officeDocument/2006/relationships/slide" Target="slide23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0.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65.xml"/><Relationship Id="rId4" Type="http://schemas.openxmlformats.org/officeDocument/2006/relationships/slide" Target="slide237.xml"/><Relationship Id="rId5" Type="http://schemas.openxmlformats.org/officeDocument/2006/relationships/slide" Target="slide236.xml"/><Relationship Id="rId6" Type="http://schemas.openxmlformats.org/officeDocument/2006/relationships/slide" Target="slide238.xml"/><Relationship Id="rId7" Type="http://schemas.openxmlformats.org/officeDocument/2006/relationships/slide" Target="slide239.xml"/><Relationship Id="rId8" Type="http://schemas.openxmlformats.org/officeDocument/2006/relationships/slide" Target="slide230.xml"/><Relationship Id="rId9" Type="http://schemas.openxmlformats.org/officeDocument/2006/relationships/slide" Target="slide24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40.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5.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3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192.xml"/><Relationship Id="rId4" Type="http://schemas.openxmlformats.org/officeDocument/2006/relationships/slide" Target="slide2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412480" cy="365760"/>
          </a:xfrm>
          <a:prstGeom prst="rect">
            <a:avLst/>
          </a:prstGeom>
          <a:noFill/>
        </p:spPr>
        <p:txBody>
          <a:bodyPr wrap="square" anchor="t">
            <a:spAutoFit/>
          </a:bodyPr>
          <a:lstStyle/>
          <a:p>
            <a:pPr algn="ctr">
              <a:spcAft>
                <a:spcPts val="400"/>
              </a:spcAft>
            </a:pPr>
            <a:r>
              <a:rPr sz="1800" b="1" i="0">
                <a:solidFill>
                  <a:srgbClr val="FFFFFF"/>
                </a:solidFill>
                <a:latin typeface="Calibri"/>
              </a:rPr>
              <a:t>A2 Biology  ·  JD Science</a:t>
            </a:r>
          </a:p>
        </p:txBody>
      </p:sp>
      <p:sp>
        <p:nvSpPr>
          <p:cNvPr id="5" name="TextBox 4"/>
          <p:cNvSpPr txBox="1"/>
          <p:nvPr/>
        </p:nvSpPr>
        <p:spPr>
          <a:xfrm>
            <a:off x="365760" y="475488"/>
            <a:ext cx="8412480" cy="411480"/>
          </a:xfrm>
          <a:prstGeom prst="rect">
            <a:avLst/>
          </a:prstGeom>
          <a:noFill/>
        </p:spPr>
        <p:txBody>
          <a:bodyPr wrap="square" anchor="t">
            <a:spAutoFit/>
          </a:bodyPr>
          <a:lstStyle/>
          <a:p>
            <a:pPr algn="ctr">
              <a:spcAft>
                <a:spcPts val="400"/>
              </a:spcAft>
            </a:pPr>
            <a:r>
              <a:rPr sz="2200" b="1" i="0">
                <a:solidFill>
                  <a:srgbClr val="FFFFFF"/>
                </a:solidFill>
                <a:latin typeface="Calibri"/>
              </a:rPr>
              <a:t>The Nervous System – complete interactive course</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itle_retina.png"/>
          <p:cNvPicPr>
            <a:picLocks noChangeAspect="1"/>
          </p:cNvPicPr>
          <p:nvPr/>
        </p:nvPicPr>
        <p:blipFill>
          <a:blip r:embed="rId2"/>
          <a:stretch>
            <a:fillRect/>
          </a:stretch>
        </p:blipFill>
        <p:spPr>
          <a:xfrm>
            <a:off x="228600" y="1143000"/>
            <a:ext cx="4661418" cy="4160520"/>
          </a:xfrm>
          <a:prstGeom prst="rect">
            <a:avLst/>
          </a:prstGeom>
        </p:spPr>
      </p:pic>
      <p:sp>
        <p:nvSpPr>
          <p:cNvPr id="8" name="TextBox 7"/>
          <p:cNvSpPr txBox="1"/>
          <p:nvPr/>
        </p:nvSpPr>
        <p:spPr>
          <a:xfrm>
            <a:off x="3291840" y="1097280"/>
            <a:ext cx="5577840" cy="640080"/>
          </a:xfrm>
          <a:prstGeom prst="rect">
            <a:avLst/>
          </a:prstGeom>
          <a:noFill/>
        </p:spPr>
        <p:txBody>
          <a:bodyPr wrap="square" anchor="t">
            <a:spAutoFit/>
          </a:bodyPr>
          <a:lstStyle/>
          <a:p>
            <a:pPr algn="l">
              <a:spcAft>
                <a:spcPts val="400"/>
              </a:spcAft>
            </a:pPr>
            <a:r>
              <a:rPr sz="1400" b="0" i="0">
                <a:solidFill>
                  <a:srgbClr val="1B3A6B"/>
                </a:solidFill>
                <a:latin typeface="Calibri"/>
              </a:rPr>
              <a:t>Choose a module. Home on every later slide returns here. Start the slide show (F5) before clicking buttons.</a:t>
            </a:r>
          </a:p>
        </p:txBody>
      </p:sp>
      <p:sp>
        <p:nvSpPr>
          <p:cNvPr id="9" name="Rounded Rectangle 8">
            <a:hlinkClick r:id="rId4" action="ppaction://hlinksldjump"/>
          </p:cNvPr>
          <p:cNvSpPr/>
          <p:nvPr/>
        </p:nvSpPr>
        <p:spPr>
          <a:xfrm>
            <a:off x="3291840" y="1874519"/>
            <a:ext cx="5394960" cy="65836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Part 1  ·  Organisation of the nervous system</a:t>
            </a:r>
          </a:p>
        </p:txBody>
      </p:sp>
      <p:sp>
        <p:nvSpPr>
          <p:cNvPr id="10" name="Rounded Rectangle 9">
            <a:hlinkClick r:id="rId5" action="ppaction://hlinksldjump"/>
          </p:cNvPr>
          <p:cNvSpPr/>
          <p:nvPr/>
        </p:nvSpPr>
        <p:spPr>
          <a:xfrm>
            <a:off x="3291840" y="2679191"/>
            <a:ext cx="5394960" cy="65836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Part 2  ·  The nerve impulse</a:t>
            </a:r>
          </a:p>
        </p:txBody>
      </p:sp>
      <p:sp>
        <p:nvSpPr>
          <p:cNvPr id="11" name="Rounded Rectangle 10">
            <a:hlinkClick r:id="rId6" action="ppaction://hlinksldjump"/>
          </p:cNvPr>
          <p:cNvSpPr/>
          <p:nvPr/>
        </p:nvSpPr>
        <p:spPr>
          <a:xfrm>
            <a:off x="3291840" y="3483863"/>
            <a:ext cx="5394960" cy="65836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Part 3  ·  Sensory receptors</a:t>
            </a:r>
          </a:p>
        </p:txBody>
      </p:sp>
      <p:sp>
        <p:nvSpPr>
          <p:cNvPr id="12" name="Rounded Rectangle 11">
            <a:hlinkClick r:id="rId7" action="ppaction://hlinksldjump"/>
          </p:cNvPr>
          <p:cNvSpPr/>
          <p:nvPr/>
        </p:nvSpPr>
        <p:spPr>
          <a:xfrm>
            <a:off x="3291840" y="4288536"/>
            <a:ext cx="5394960" cy="65836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Part 4  ·  The synapse</a:t>
            </a:r>
          </a:p>
        </p:txBody>
      </p:sp>
      <p:sp>
        <p:nvSpPr>
          <p:cNvPr id="13" name="TextBox 12"/>
          <p:cNvSpPr txBox="1"/>
          <p:nvPr/>
        </p:nvSpPr>
        <p:spPr>
          <a:xfrm>
            <a:off x="3291840" y="5166360"/>
            <a:ext cx="5394960" cy="777240"/>
          </a:xfrm>
          <a:prstGeom prst="rect">
            <a:avLst/>
          </a:prstGeom>
          <a:noFill/>
        </p:spPr>
        <p:txBody>
          <a:bodyPr wrap="square" anchor="t">
            <a:spAutoFit/>
          </a:bodyPr>
          <a:lstStyle/>
          <a:p>
            <a:pPr algn="l">
              <a:spcAft>
                <a:spcPts val="400"/>
              </a:spcAft>
            </a:pPr>
            <a:r>
              <a:rPr sz="1200" b="0" i="0">
                <a:solidFill>
                  <a:srgbClr val="1A2F5A"/>
                </a:solidFill>
                <a:latin typeface="Calibri"/>
              </a:rPr>
              <a:t>Teaching sequence is unchanged: explanations, diagrams, activities and questions stay in order inside each module. Hidden answer slides are skipped if you only press Space.</a:t>
            </a:r>
          </a:p>
        </p:txBody>
      </p:sp>
      <p:sp>
        <p:nvSpPr>
          <p:cNvPr id="14" name="Rectangle 13"/>
          <p:cNvSpPr/>
          <p:nvPr/>
        </p:nvSpPr>
        <p:spPr>
          <a:xfrm>
            <a:off x="73152" y="6601968"/>
            <a:ext cx="9070848" cy="36576"/>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6" name="Oval 15"/>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7" name="Oval 16">
            <a:hlinkClick r:id="rId4"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1: Organisation</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5"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a:hlinkClick r:id="rId2" action="ppaction://hlinksldjump"/>
          </p:cNvPr>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3" name="Rounded Rectangle 12">
            <a:hlinkClick r:id="rId2" action="ppaction://hlinksldjump"/>
          </p:cNvPr>
          <p:cNvSpPr/>
          <p:nvPr/>
        </p:nvSpPr>
        <p:spPr>
          <a:xfrm>
            <a:off x="201168" y="256032"/>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4" name="Picture 13" descr="title_retina.png"/>
          <p:cNvPicPr>
            <a:picLocks noChangeAspect="1"/>
          </p:cNvPicPr>
          <p:nvPr/>
        </p:nvPicPr>
        <p:blipFill>
          <a:blip r:embed="rId3"/>
          <a:stretch>
            <a:fillRect/>
          </a:stretch>
        </p:blipFill>
        <p:spPr>
          <a:xfrm>
            <a:off x="2468880" y="1874519"/>
            <a:ext cx="4046726" cy="3611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to use this presentation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p:cNvSpPr/>
          <p:nvPr/>
        </p:nvSpPr>
        <p:spPr>
          <a:xfrm>
            <a:off x="320040" y="868680"/>
            <a:ext cx="8503920" cy="12344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This is a reconstructed classroom presentation. Original 2009 Boardworks activities used Adobe Flash, which no longer runs. Every activity below uses native PowerPoint hyperlinks (no macros, no Flash).</a:t>
            </a:r>
          </a:p>
        </p:txBody>
      </p:sp>
      <p:sp>
        <p:nvSpPr>
          <p:cNvPr id="14" name="Rounded Rectangle 13"/>
          <p:cNvSpPr/>
          <p:nvPr/>
        </p:nvSpPr>
        <p:spPr>
          <a:xfrm>
            <a:off x="365760" y="2240280"/>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Next / Back arrows</a:t>
            </a:r>
          </a:p>
        </p:txBody>
      </p:sp>
      <p:sp>
        <p:nvSpPr>
          <p:cNvPr id="15" name="TextBox 14"/>
          <p:cNvSpPr txBox="1"/>
          <p:nvPr/>
        </p:nvSpPr>
        <p:spPr>
          <a:xfrm>
            <a:off x="2788920" y="2240280"/>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Move through the teaching sequence.</a:t>
            </a:r>
          </a:p>
        </p:txBody>
      </p:sp>
      <p:sp>
        <p:nvSpPr>
          <p:cNvPr id="16" name="Rounded Rectangle 15"/>
          <p:cNvSpPr/>
          <p:nvPr/>
        </p:nvSpPr>
        <p:spPr>
          <a:xfrm>
            <a:off x="365760" y="2898648"/>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Green buttons</a:t>
            </a:r>
          </a:p>
        </p:txBody>
      </p:sp>
      <p:sp>
        <p:nvSpPr>
          <p:cNvPr id="17" name="TextBox 16"/>
          <p:cNvSpPr txBox="1"/>
          <p:nvPr/>
        </p:nvSpPr>
        <p:spPr>
          <a:xfrm>
            <a:off x="2788920" y="2898648"/>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Reveal answers, open an activity, or jump to a labelled structure.</a:t>
            </a:r>
          </a:p>
        </p:txBody>
      </p:sp>
      <p:sp>
        <p:nvSpPr>
          <p:cNvPr id="18" name="Rounded Rectangle 17"/>
          <p:cNvSpPr/>
          <p:nvPr/>
        </p:nvSpPr>
        <p:spPr>
          <a:xfrm>
            <a:off x="365760" y="3557015"/>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Reset</a:t>
            </a:r>
          </a:p>
        </p:txBody>
      </p:sp>
      <p:sp>
        <p:nvSpPr>
          <p:cNvPr id="19" name="TextBox 18"/>
          <p:cNvSpPr txBox="1"/>
          <p:nvPr/>
        </p:nvSpPr>
        <p:spPr>
          <a:xfrm>
            <a:off x="2788920" y="3557015"/>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Returns an activity to its starting slide so you can reuse it in the same lesson.</a:t>
            </a:r>
          </a:p>
        </p:txBody>
      </p:sp>
      <p:sp>
        <p:nvSpPr>
          <p:cNvPr id="20" name="Rounded Rectangle 19"/>
          <p:cNvSpPr/>
          <p:nvPr/>
        </p:nvSpPr>
        <p:spPr>
          <a:xfrm>
            <a:off x="365760" y="4215383"/>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Check / Show answers</a:t>
            </a:r>
          </a:p>
        </p:txBody>
      </p:sp>
      <p:sp>
        <p:nvSpPr>
          <p:cNvPr id="21" name="TextBox 20"/>
          <p:cNvSpPr txBox="1"/>
          <p:nvPr/>
        </p:nvSpPr>
        <p:spPr>
          <a:xfrm>
            <a:off x="2788920" y="4215383"/>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Teacher-controlled reveal. Hidden slides are skipped if you just press Space.</a:t>
            </a:r>
          </a:p>
        </p:txBody>
      </p:sp>
      <p:sp>
        <p:nvSpPr>
          <p:cNvPr id="22" name="Rounded Rectangle 21"/>
          <p:cNvSpPr/>
          <p:nvPr/>
        </p:nvSpPr>
        <p:spPr>
          <a:xfrm>
            <a:off x="365760" y="4873751"/>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Slide Show mode</a:t>
            </a:r>
          </a:p>
        </p:txBody>
      </p:sp>
      <p:sp>
        <p:nvSpPr>
          <p:cNvPr id="23" name="TextBox 22"/>
          <p:cNvSpPr txBox="1"/>
          <p:nvPr/>
        </p:nvSpPr>
        <p:spPr>
          <a:xfrm>
            <a:off x="2788920" y="4873751"/>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Start the slide show (F5). Buttons only jump while the show is running.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Learning outcomes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411480" y="914400"/>
            <a:ext cx="8229600" cy="365760"/>
          </a:xfrm>
          <a:prstGeom prst="rect">
            <a:avLst/>
          </a:prstGeom>
          <a:noFill/>
        </p:spPr>
        <p:txBody>
          <a:bodyPr wrap="square" anchor="t">
            <a:spAutoFit/>
          </a:bodyPr>
          <a:lstStyle/>
          <a:p>
            <a:pPr algn="l">
              <a:spcAft>
                <a:spcPts val="400"/>
              </a:spcAft>
            </a:pPr>
            <a:r>
              <a:rPr sz="1600" b="0" i="0">
                <a:solidFill>
                  <a:srgbClr val="1B3A6B"/>
                </a:solidFill>
                <a:latin typeface="Calibri"/>
              </a:rPr>
              <a:t>By the end of this lesson you should be able to:</a:t>
            </a:r>
          </a:p>
        </p:txBody>
      </p:sp>
      <p:sp>
        <p:nvSpPr>
          <p:cNvPr id="14" name="Rounded Rectangle 13"/>
          <p:cNvSpPr/>
          <p:nvPr/>
        </p:nvSpPr>
        <p:spPr>
          <a:xfrm>
            <a:off x="411480" y="1371600"/>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a:t>
            </a:r>
          </a:p>
        </p:txBody>
      </p:sp>
      <p:sp>
        <p:nvSpPr>
          <p:cNvPr id="15" name="Rounded Rectangle 14"/>
          <p:cNvSpPr/>
          <p:nvPr/>
        </p:nvSpPr>
        <p:spPr>
          <a:xfrm>
            <a:off x="1005840" y="1371600"/>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Describe the organisation of the human nervous system (CNS and PNS, including somatic and autonomic divisions).</a:t>
            </a:r>
          </a:p>
        </p:txBody>
      </p:sp>
      <p:sp>
        <p:nvSpPr>
          <p:cNvPr id="16" name="Rounded Rectangle 15"/>
          <p:cNvSpPr/>
          <p:nvPr/>
        </p:nvSpPr>
        <p:spPr>
          <a:xfrm>
            <a:off x="411480" y="2029967"/>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a:t>
            </a:r>
          </a:p>
        </p:txBody>
      </p:sp>
      <p:sp>
        <p:nvSpPr>
          <p:cNvPr id="17" name="Rounded Rectangle 16"/>
          <p:cNvSpPr/>
          <p:nvPr/>
        </p:nvSpPr>
        <p:spPr>
          <a:xfrm>
            <a:off x="1005840" y="2029967"/>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Label the main parts of a neurone and state the function of each part.</a:t>
            </a:r>
          </a:p>
        </p:txBody>
      </p:sp>
      <p:sp>
        <p:nvSpPr>
          <p:cNvPr id="18" name="Rounded Rectangle 17"/>
          <p:cNvSpPr/>
          <p:nvPr/>
        </p:nvSpPr>
        <p:spPr>
          <a:xfrm>
            <a:off x="411480" y="2688335"/>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a:t>
            </a:r>
          </a:p>
        </p:txBody>
      </p:sp>
      <p:sp>
        <p:nvSpPr>
          <p:cNvPr id="19" name="Rounded Rectangle 18"/>
          <p:cNvSpPr/>
          <p:nvPr/>
        </p:nvSpPr>
        <p:spPr>
          <a:xfrm>
            <a:off x="1005840" y="2688335"/>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Compare sensory, relay and motor neurones in terms of structure and direction of impulse.</a:t>
            </a:r>
          </a:p>
        </p:txBody>
      </p:sp>
      <p:sp>
        <p:nvSpPr>
          <p:cNvPr id="20" name="Rounded Rectangle 19"/>
          <p:cNvSpPr/>
          <p:nvPr/>
        </p:nvSpPr>
        <p:spPr>
          <a:xfrm>
            <a:off x="411480" y="3346703"/>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a:t>
            </a:r>
          </a:p>
        </p:txBody>
      </p:sp>
      <p:sp>
        <p:nvSpPr>
          <p:cNvPr id="21" name="Rounded Rectangle 20"/>
          <p:cNvSpPr/>
          <p:nvPr/>
        </p:nvSpPr>
        <p:spPr>
          <a:xfrm>
            <a:off x="1005840" y="3346703"/>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Explain how myelination and nodes of Ranvier relate to neurone function.</a:t>
            </a:r>
          </a:p>
        </p:txBody>
      </p:sp>
      <p:sp>
        <p:nvSpPr>
          <p:cNvPr id="22" name="Rounded Rectangle 21"/>
          <p:cNvSpPr/>
          <p:nvPr/>
        </p:nvSpPr>
        <p:spPr>
          <a:xfrm>
            <a:off x="411480" y="4005071"/>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a:t>
            </a:r>
          </a:p>
        </p:txBody>
      </p:sp>
      <p:sp>
        <p:nvSpPr>
          <p:cNvPr id="23" name="Rounded Rectangle 22"/>
          <p:cNvSpPr/>
          <p:nvPr/>
        </p:nvSpPr>
        <p:spPr>
          <a:xfrm>
            <a:off x="1005840" y="4005071"/>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Link organisation of the nervous system to clinical work in neurology.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2"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a:hlinkClick r:id="rId4" action="ppaction://hlinksldjump"/>
          </p:cNvPr>
          <p:cNvSpPr/>
          <p:nvPr/>
        </p:nvSpPr>
        <p:spPr>
          <a:xfrm>
            <a:off x="1463040" y="960120"/>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  the human nervous system</a:t>
            </a:r>
          </a:p>
        </p:txBody>
      </p:sp>
      <p:sp>
        <p:nvSpPr>
          <p:cNvPr id="14" name="Rounded Rectangle 13">
            <a:hlinkClick r:id="rId5" action="ppaction://hlinksldjump"/>
          </p:cNvPr>
          <p:cNvSpPr/>
          <p:nvPr/>
        </p:nvSpPr>
        <p:spPr>
          <a:xfrm>
            <a:off x="1463040" y="1581912"/>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  organisation explorer (click to reveal)</a:t>
            </a:r>
          </a:p>
        </p:txBody>
      </p:sp>
      <p:sp>
        <p:nvSpPr>
          <p:cNvPr id="15" name="Rounded Rectangle 14">
            <a:hlinkClick r:id="rId6" action="ppaction://hlinksldjump"/>
          </p:cNvPr>
          <p:cNvSpPr/>
          <p:nvPr/>
        </p:nvSpPr>
        <p:spPr>
          <a:xfrm>
            <a:off x="1463040" y="2203704"/>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  neurone structure – click the labels</a:t>
            </a:r>
          </a:p>
        </p:txBody>
      </p:sp>
      <p:sp>
        <p:nvSpPr>
          <p:cNvPr id="16" name="Rounded Rectangle 15">
            <a:hlinkClick r:id="rId7" action="ppaction://hlinksldjump"/>
          </p:cNvPr>
          <p:cNvSpPr/>
          <p:nvPr/>
        </p:nvSpPr>
        <p:spPr>
          <a:xfrm>
            <a:off x="1463040" y="2825496"/>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  types of neurone</a:t>
            </a:r>
          </a:p>
        </p:txBody>
      </p:sp>
      <p:sp>
        <p:nvSpPr>
          <p:cNvPr id="17" name="Rounded Rectangle 16">
            <a:hlinkClick r:id="rId8" action="ppaction://hlinksldjump"/>
          </p:cNvPr>
          <p:cNvSpPr/>
          <p:nvPr/>
        </p:nvSpPr>
        <p:spPr>
          <a:xfrm>
            <a:off x="1463040" y="3447288"/>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  matching activity</a:t>
            </a:r>
          </a:p>
        </p:txBody>
      </p:sp>
      <p:sp>
        <p:nvSpPr>
          <p:cNvPr id="18" name="Rounded Rectangle 17">
            <a:hlinkClick r:id="rId9" action="ppaction://hlinksldjump"/>
          </p:cNvPr>
          <p:cNvSpPr/>
          <p:nvPr/>
        </p:nvSpPr>
        <p:spPr>
          <a:xfrm>
            <a:off x="1463040" y="4069080"/>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6.  knowledge check</a:t>
            </a:r>
          </a:p>
        </p:txBody>
      </p:sp>
      <p:sp>
        <p:nvSpPr>
          <p:cNvPr id="19" name="Rounded Rectangle 18">
            <a:hlinkClick r:id="rId10" action="ppaction://hlinksldjump"/>
          </p:cNvPr>
          <p:cNvSpPr/>
          <p:nvPr/>
        </p:nvSpPr>
        <p:spPr>
          <a:xfrm>
            <a:off x="1463040" y="4690872"/>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7.  scientist case study</a:t>
            </a:r>
          </a:p>
        </p:txBody>
      </p:sp>
      <p:sp>
        <p:nvSpPr>
          <p:cNvPr id="20" name="Rounded Rectangle 19">
            <a:hlinkClick r:id="rId11" action="ppaction://hlinksldjump"/>
          </p:cNvPr>
          <p:cNvSpPr/>
          <p:nvPr/>
        </p:nvSpPr>
        <p:spPr>
          <a:xfrm>
            <a:off x="1463040" y="5312664"/>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8.  plenary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human nervous system</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914400"/>
            <a:ext cx="4846320" cy="4572000"/>
          </a:xfrm>
          <a:prstGeom prst="rect">
            <a:avLst/>
          </a:prstGeom>
          <a:noFill/>
        </p:spPr>
        <p:txBody>
          <a:bodyPr wrap="square" anchor="t">
            <a:spAutoFit/>
          </a:bodyPr>
          <a:lstStyle/>
          <a:p>
            <a:pPr algn="l"/>
            <a:r>
              <a:rPr sz="2000" b="0" i="0">
                <a:solidFill>
                  <a:srgbClr val="1A2F5A"/>
                </a:solidFill>
                <a:latin typeface="Calibri"/>
              </a:rPr>
              <a:t>The </a:t>
            </a:r>
            <a:r>
              <a:rPr sz="2000" b="1" i="0">
                <a:solidFill>
                  <a:srgbClr val="2E9E4F"/>
                </a:solidFill>
                <a:latin typeface="Calibri"/>
              </a:rPr>
              <a:t>nervous system</a:t>
            </a:r>
            <a:r>
              <a:rPr sz="2000" b="0" i="0">
                <a:solidFill>
                  <a:srgbClr val="1A2F5A"/>
                </a:solidFill>
                <a:latin typeface="Calibri"/>
              </a:rPr>
              <a:t> is a highly organized system of nervous tissue that detects, relays and co-ordinates information about an organism’s internal and external environment.</a:t>
            </a:r>
          </a:p>
          <a:p>
            <a:pPr algn="l">
              <a:spcAft>
                <a:spcPts val="600"/>
              </a:spcAft>
            </a:pPr>
            <a:r>
              <a:rPr sz="2000" b="0" i="0">
                <a:solidFill>
                  <a:srgbClr val="1A2F5A"/>
                </a:solidFill>
                <a:latin typeface="Calibri"/>
              </a:rPr>
              <a:t/>
            </a:r>
          </a:p>
          <a:p>
            <a:pPr algn="l">
              <a:spcAft>
                <a:spcPts val="600"/>
              </a:spcAft>
            </a:pPr>
            <a:r>
              <a:rPr sz="2000" b="0" i="0">
                <a:solidFill>
                  <a:srgbClr val="1A2F5A"/>
                </a:solidFill>
                <a:latin typeface="Calibri"/>
              </a:rPr>
              <a:t/>
            </a:r>
            <a:r>
              <a:rPr sz="2000" b="0" i="0">
                <a:solidFill>
                  <a:srgbClr val="1A2F5A"/>
                </a:solidFill>
                <a:latin typeface="Calibri"/>
              </a:rPr>
              <a:t>All nervous systems contain nerve cells, called </a:t>
            </a:r>
            <a:r>
              <a:rPr sz="2000" b="1" i="0">
                <a:solidFill>
                  <a:srgbClr val="2E9E4F"/>
                </a:solidFill>
                <a:latin typeface="Calibri"/>
              </a:rPr>
              <a:t>neurones</a:t>
            </a:r>
            <a:r>
              <a:rPr sz="2000" b="0" i="0">
                <a:solidFill>
                  <a:srgbClr val="1A2F5A"/>
                </a:solidFill>
                <a:latin typeface="Calibri"/>
              </a:rPr>
              <a:t>, which convey information in the form of nerve impulses. They can produce a rapid, localized response.</a:t>
            </a:r>
          </a:p>
        </p:txBody>
      </p:sp>
      <p:pic>
        <p:nvPicPr>
          <p:cNvPr id="14" name="Picture 13" descr="title_retina.png"/>
          <p:cNvPicPr>
            <a:picLocks noChangeAspect="1"/>
          </p:cNvPicPr>
          <p:nvPr/>
        </p:nvPicPr>
        <p:blipFill>
          <a:blip r:embed="rId3"/>
          <a:stretch>
            <a:fillRect/>
          </a:stretch>
        </p:blipFill>
        <p:spPr>
          <a:xfrm>
            <a:off x="5212080" y="1051560"/>
            <a:ext cx="4712642" cy="4206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9"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5" name="Rounded Rectangle 14"/>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Each part of the nervous system performs a different function.</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the red button, then each new button, to reveal how the nervous system is organized.</a:t>
            </a:r>
          </a:p>
        </p:txBody>
      </p:sp>
      <p:pic>
        <p:nvPicPr>
          <p:cNvPr id="16" name="Picture 15" descr="org_0.png"/>
          <p:cNvPicPr>
            <a:picLocks noChangeAspect="1"/>
          </p:cNvPicPr>
          <p:nvPr/>
        </p:nvPicPr>
        <p:blipFill>
          <a:blip r:embed="rId3"/>
          <a:stretch>
            <a:fillRect/>
          </a:stretch>
        </p:blipFill>
        <p:spPr>
          <a:xfrm>
            <a:off x="3154680" y="1170432"/>
            <a:ext cx="5669280" cy="3472903"/>
          </a:xfrm>
          <a:prstGeom prst="rect">
            <a:avLst/>
          </a:prstGeom>
        </p:spPr>
      </p:pic>
      <p:sp>
        <p:nvSpPr>
          <p:cNvPr id="17" name="Rounded Rectangle 16">
            <a:hlinkClick r:id="rId6" action="ppaction://hlinksldjump"/>
          </p:cNvPr>
          <p:cNvSpPr/>
          <p:nvPr/>
        </p:nvSpPr>
        <p:spPr>
          <a:xfrm>
            <a:off x="4023360" y="4892040"/>
            <a:ext cx="3108960" cy="384048"/>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Reveal CNS and PNS</a:t>
            </a:r>
          </a:p>
        </p:txBody>
      </p:sp>
      <p:sp>
        <p:nvSpPr>
          <p:cNvPr id="18" name="Rounded Rectangle 17">
            <a:hlinkClick r:id="rId4"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20" name="Rounded Rectangle 19">
            <a:hlinkClick r:id="rId8"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5" name="Rounded Rectangle 14"/>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nervous system is divided into the CNS and the PNS.</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CNS and PNS to see what each contains.</a:t>
            </a:r>
          </a:p>
        </p:txBody>
      </p:sp>
      <p:pic>
        <p:nvPicPr>
          <p:cNvPr id="16" name="Picture 15" descr="org_1.png"/>
          <p:cNvPicPr>
            <a:picLocks noChangeAspect="1"/>
          </p:cNvPicPr>
          <p:nvPr/>
        </p:nvPicPr>
        <p:blipFill>
          <a:blip r:embed="rId3"/>
          <a:stretch>
            <a:fillRect/>
          </a:stretch>
        </p:blipFill>
        <p:spPr>
          <a:xfrm>
            <a:off x="3154680" y="1170432"/>
            <a:ext cx="5669280" cy="3472903"/>
          </a:xfrm>
          <a:prstGeom prst="rect">
            <a:avLst/>
          </a:prstGeom>
        </p:spPr>
      </p:pic>
      <p:sp>
        <p:nvSpPr>
          <p:cNvPr id="17" name="Rounded Rectangle 16">
            <a:hlinkClick r:id="rId6" action="ppaction://hlinksldjump"/>
          </p:cNvPr>
          <p:cNvSpPr/>
          <p:nvPr/>
        </p:nvSpPr>
        <p:spPr>
          <a:xfrm>
            <a:off x="3291840" y="4892040"/>
            <a:ext cx="228600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Reveal CNS parts</a:t>
            </a:r>
          </a:p>
        </p:txBody>
      </p:sp>
      <p:sp>
        <p:nvSpPr>
          <p:cNvPr id="18" name="Rounded Rectangle 17">
            <a:hlinkClick r:id="rId7" action="ppaction://hlinksldjump"/>
          </p:cNvPr>
          <p:cNvSpPr/>
          <p:nvPr/>
        </p:nvSpPr>
        <p:spPr>
          <a:xfrm>
            <a:off x="5715000" y="4892040"/>
            <a:ext cx="2286000"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Reveal PNS parts</a:t>
            </a:r>
          </a:p>
        </p:txBody>
      </p:sp>
      <p:sp>
        <p:nvSpPr>
          <p:cNvPr id="19" name="Rounded Rectangle 18">
            <a:hlinkClick r:id="rId4"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20" name="Rounded Rectangle 19">
            <a:hlinkClick r:id="rId8"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21" name="Rounded Rectangle 20">
            <a:hlinkClick r:id="rId9"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9"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5" name="Rounded Rectangle 14"/>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CNS is the brain and spinal cord.</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PNS to see its divisions.</a:t>
            </a:r>
          </a:p>
        </p:txBody>
      </p:sp>
      <p:pic>
        <p:nvPicPr>
          <p:cNvPr id="16" name="Picture 15" descr="org_2.png"/>
          <p:cNvPicPr>
            <a:picLocks noChangeAspect="1"/>
          </p:cNvPicPr>
          <p:nvPr/>
        </p:nvPicPr>
        <p:blipFill>
          <a:blip r:embed="rId3"/>
          <a:stretch>
            <a:fillRect/>
          </a:stretch>
        </p:blipFill>
        <p:spPr>
          <a:xfrm>
            <a:off x="3154680" y="1170432"/>
            <a:ext cx="5669280" cy="3472903"/>
          </a:xfrm>
          <a:prstGeom prst="rect">
            <a:avLst/>
          </a:prstGeom>
        </p:spPr>
      </p:pic>
      <p:sp>
        <p:nvSpPr>
          <p:cNvPr id="17" name="Rounded Rectangle 16">
            <a:hlinkClick r:id="rId6" action="ppaction://hlinksldjump"/>
          </p:cNvPr>
          <p:cNvSpPr/>
          <p:nvPr/>
        </p:nvSpPr>
        <p:spPr>
          <a:xfrm>
            <a:off x="4023360" y="4892040"/>
            <a:ext cx="3108960"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Reveal PNS parts</a:t>
            </a:r>
          </a:p>
        </p:txBody>
      </p:sp>
      <p:sp>
        <p:nvSpPr>
          <p:cNvPr id="18" name="Rounded Rectangle 17">
            <a:hlinkClick r:id="rId4"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20" name="Rounded Rectangle 19">
            <a:hlinkClick r:id="rId8"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10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5" name="Rounded Rectangle 14"/>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PNS is every nerve outside the CNS. It has somatic and autonomic divisions.</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autonomic to split it further.</a:t>
            </a:r>
          </a:p>
        </p:txBody>
      </p:sp>
      <p:pic>
        <p:nvPicPr>
          <p:cNvPr id="16" name="Picture 15" descr="org_3.png"/>
          <p:cNvPicPr>
            <a:picLocks noChangeAspect="1"/>
          </p:cNvPicPr>
          <p:nvPr/>
        </p:nvPicPr>
        <p:blipFill>
          <a:blip r:embed="rId3"/>
          <a:stretch>
            <a:fillRect/>
          </a:stretch>
        </p:blipFill>
        <p:spPr>
          <a:xfrm>
            <a:off x="3154680" y="1170432"/>
            <a:ext cx="5669280" cy="3472903"/>
          </a:xfrm>
          <a:prstGeom prst="rect">
            <a:avLst/>
          </a:prstGeom>
        </p:spPr>
      </p:pic>
      <p:sp>
        <p:nvSpPr>
          <p:cNvPr id="17" name="Rounded Rectangle 16">
            <a:hlinkClick r:id="rId6" action="ppaction://hlinksldjump"/>
          </p:cNvPr>
          <p:cNvSpPr/>
          <p:nvPr/>
        </p:nvSpPr>
        <p:spPr>
          <a:xfrm>
            <a:off x="3657600" y="4892040"/>
            <a:ext cx="3657600" cy="38404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Reveal autonomic branches</a:t>
            </a:r>
          </a:p>
        </p:txBody>
      </p:sp>
      <p:sp>
        <p:nvSpPr>
          <p:cNvPr id="18" name="Rounded Rectangle 17">
            <a:hlinkClick r:id="rId4"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6"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20" name="Rounded Rectangle 19">
            <a:hlinkClick r:id="rId7"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11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5" name="Rounded Rectangle 14"/>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autonomic nervous system has sympathetic (‘fight or flight’) and parasympathetic (‘rest and digest’) branches.</a:t>
            </a:r>
          </a:p>
        </p:txBody>
      </p:sp>
      <p:pic>
        <p:nvPicPr>
          <p:cNvPr id="16" name="Picture 15" descr="org_4.png"/>
          <p:cNvPicPr>
            <a:picLocks noChangeAspect="1"/>
          </p:cNvPicPr>
          <p:nvPr/>
        </p:nvPicPr>
        <p:blipFill>
          <a:blip r:embed="rId3"/>
          <a:stretch>
            <a:fillRect/>
          </a:stretch>
        </p:blipFill>
        <p:spPr>
          <a:xfrm>
            <a:off x="3154680" y="1170432"/>
            <a:ext cx="5669280" cy="3334871"/>
          </a:xfrm>
          <a:prstGeom prst="rect">
            <a:avLst/>
          </a:prstGeom>
        </p:spPr>
      </p:pic>
      <p:sp>
        <p:nvSpPr>
          <p:cNvPr id="17" name="Rounded Rectangle 16">
            <a:hlinkClick r:id="rId4"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5"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19" name="Rounded Rectangle 18">
            <a:hlinkClick r:id="rId7"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Functions of each division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320040" y="868680"/>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CNS – brain</a:t>
            </a:r>
          </a:p>
        </p:txBody>
      </p:sp>
      <p:sp>
        <p:nvSpPr>
          <p:cNvPr id="12" name="Rounded Rectangle 11"/>
          <p:cNvSpPr/>
          <p:nvPr/>
        </p:nvSpPr>
        <p:spPr>
          <a:xfrm>
            <a:off x="2743200" y="868680"/>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Processes sensory information, initiates motor output, higher functions (memory, language, coordination).</a:t>
            </a:r>
          </a:p>
        </p:txBody>
      </p:sp>
      <p:sp>
        <p:nvSpPr>
          <p:cNvPr id="13" name="Rounded Rectangle 12"/>
          <p:cNvSpPr/>
          <p:nvPr/>
        </p:nvSpPr>
        <p:spPr>
          <a:xfrm>
            <a:off x="320040" y="1673352"/>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CNS – spinal cord</a:t>
            </a:r>
          </a:p>
        </p:txBody>
      </p:sp>
      <p:sp>
        <p:nvSpPr>
          <p:cNvPr id="14" name="Rounded Rectangle 13"/>
          <p:cNvSpPr/>
          <p:nvPr/>
        </p:nvSpPr>
        <p:spPr>
          <a:xfrm>
            <a:off x="2743200" y="1673352"/>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Carries impulses between brain and PNS; is the integrating centre for many reflex arcs.</a:t>
            </a:r>
          </a:p>
        </p:txBody>
      </p:sp>
      <p:sp>
        <p:nvSpPr>
          <p:cNvPr id="15" name="Rounded Rectangle 14"/>
          <p:cNvSpPr/>
          <p:nvPr/>
        </p:nvSpPr>
        <p:spPr>
          <a:xfrm>
            <a:off x="320040" y="2478024"/>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Somatic PNS</a:t>
            </a:r>
          </a:p>
        </p:txBody>
      </p:sp>
      <p:sp>
        <p:nvSpPr>
          <p:cNvPr id="16" name="Rounded Rectangle 15"/>
          <p:cNvSpPr/>
          <p:nvPr/>
        </p:nvSpPr>
        <p:spPr>
          <a:xfrm>
            <a:off x="2743200" y="2478024"/>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Sensory neurones from skin, muscles and joints; motor neurones to skeletal muscle (mostly voluntary).</a:t>
            </a:r>
          </a:p>
        </p:txBody>
      </p:sp>
      <p:sp>
        <p:nvSpPr>
          <p:cNvPr id="17" name="Rounded Rectangle 16"/>
          <p:cNvSpPr/>
          <p:nvPr/>
        </p:nvSpPr>
        <p:spPr>
          <a:xfrm>
            <a:off x="320040" y="3282696"/>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Autonomic PNS</a:t>
            </a:r>
          </a:p>
        </p:txBody>
      </p:sp>
      <p:sp>
        <p:nvSpPr>
          <p:cNvPr id="18" name="Rounded Rectangle 17"/>
          <p:cNvSpPr/>
          <p:nvPr/>
        </p:nvSpPr>
        <p:spPr>
          <a:xfrm>
            <a:off x="2743200" y="3282696"/>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Controls glands, smooth muscle and cardiac muscle (involuntary).</a:t>
            </a:r>
          </a:p>
        </p:txBody>
      </p:sp>
      <p:sp>
        <p:nvSpPr>
          <p:cNvPr id="19" name="Rounded Rectangle 18"/>
          <p:cNvSpPr/>
          <p:nvPr/>
        </p:nvSpPr>
        <p:spPr>
          <a:xfrm>
            <a:off x="320040" y="4087368"/>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Sympathetic</a:t>
            </a:r>
          </a:p>
        </p:txBody>
      </p:sp>
      <p:sp>
        <p:nvSpPr>
          <p:cNvPr id="20" name="Rounded Rectangle 19"/>
          <p:cNvSpPr/>
          <p:nvPr/>
        </p:nvSpPr>
        <p:spPr>
          <a:xfrm>
            <a:off x="2743200" y="4087368"/>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Increases heart rate, dilates bronchioles, diverts blood to muscle – ‘fight or flight’.</a:t>
            </a:r>
          </a:p>
        </p:txBody>
      </p:sp>
      <p:sp>
        <p:nvSpPr>
          <p:cNvPr id="21" name="Rounded Rectangle 20"/>
          <p:cNvSpPr/>
          <p:nvPr/>
        </p:nvSpPr>
        <p:spPr>
          <a:xfrm>
            <a:off x="320040" y="4892040"/>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Parasympathetic</a:t>
            </a:r>
          </a:p>
        </p:txBody>
      </p:sp>
      <p:sp>
        <p:nvSpPr>
          <p:cNvPr id="22" name="Rounded Rectangle 21"/>
          <p:cNvSpPr/>
          <p:nvPr/>
        </p:nvSpPr>
        <p:spPr>
          <a:xfrm>
            <a:off x="2743200" y="4892040"/>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Slows heart rate, stimulates digestion – ‘rest and digest’. Antagonistic to sympathetic.</a:t>
            </a:r>
          </a:p>
        </p:txBody>
      </p:sp>
      <p:sp>
        <p:nvSpPr>
          <p:cNvPr id="23" name="Rounded Rectangle 22">
            <a:hlinkClick r:id="rId3" action="ppaction://hlinksldjump"/>
          </p:cNvPr>
          <p:cNvSpPr/>
          <p:nvPr/>
        </p:nvSpPr>
        <p:spPr>
          <a:xfrm>
            <a:off x="3291840" y="598932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explorer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2"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8503920" cy="347472"/>
          </a:xfrm>
          <a:prstGeom prst="rect">
            <a:avLst/>
          </a:prstGeom>
          <a:noFill/>
        </p:spPr>
        <p:txBody>
          <a:bodyPr wrap="square" anchor="t">
            <a:spAutoFit/>
          </a:bodyPr>
          <a:lstStyle/>
          <a:p>
            <a:pPr algn="ctr">
              <a:spcAft>
                <a:spcPts val="400"/>
              </a:spcAft>
            </a:pPr>
            <a:r>
              <a:rPr sz="2000" b="1" i="0">
                <a:solidFill>
                  <a:srgbClr val="1B3A6B"/>
                </a:solidFill>
                <a:latin typeface="Calibri"/>
              </a:rPr>
              <a:t>What is the structure of a neurone?</a:t>
            </a:r>
          </a:p>
        </p:txBody>
      </p:sp>
      <p:pic>
        <p:nvPicPr>
          <p:cNvPr id="15" name="Picture 14" descr="neurone_structure.png"/>
          <p:cNvPicPr>
            <a:picLocks noChangeAspect="1"/>
          </p:cNvPicPr>
          <p:nvPr/>
        </p:nvPicPr>
        <p:blipFill>
          <a:blip r:embed="rId3"/>
          <a:stretch>
            <a:fillRect/>
          </a:stretch>
        </p:blipFill>
        <p:spPr>
          <a:xfrm>
            <a:off x="182880" y="1143000"/>
            <a:ext cx="8686800" cy="4091158"/>
          </a:xfrm>
          <a:prstGeom prst="rect">
            <a:avLst/>
          </a:prstGeom>
        </p:spPr>
      </p:pic>
      <p:sp>
        <p:nvSpPr>
          <p:cNvPr id="16" name="Rounded Rectangle 15">
            <a:hlinkClick r:id="rId6" action="ppaction://hlinksldjump"/>
          </p:cNvPr>
          <p:cNvSpPr/>
          <p:nvPr/>
        </p:nvSpPr>
        <p:spPr>
          <a:xfrm>
            <a:off x="1965960" y="123444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cell body ▶</a:t>
            </a:r>
          </a:p>
        </p:txBody>
      </p:sp>
      <p:sp>
        <p:nvSpPr>
          <p:cNvPr id="17" name="Rounded Rectangle 16">
            <a:hlinkClick r:id="rId7" action="ppaction://hlinksldjump"/>
          </p:cNvPr>
          <p:cNvSpPr/>
          <p:nvPr/>
        </p:nvSpPr>
        <p:spPr>
          <a:xfrm>
            <a:off x="411480" y="324612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dendrites ▶</a:t>
            </a:r>
          </a:p>
        </p:txBody>
      </p:sp>
      <p:sp>
        <p:nvSpPr>
          <p:cNvPr id="18" name="Rounded Rectangle 17">
            <a:hlinkClick r:id="rId8" action="ppaction://hlinksldjump"/>
          </p:cNvPr>
          <p:cNvSpPr/>
          <p:nvPr/>
        </p:nvSpPr>
        <p:spPr>
          <a:xfrm>
            <a:off x="3977639" y="324612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myelin sheath ▶</a:t>
            </a:r>
          </a:p>
        </p:txBody>
      </p:sp>
      <p:sp>
        <p:nvSpPr>
          <p:cNvPr id="19" name="Rounded Rectangle 18">
            <a:hlinkClick r:id="rId9" action="ppaction://hlinksldjump"/>
          </p:cNvPr>
          <p:cNvSpPr/>
          <p:nvPr/>
        </p:nvSpPr>
        <p:spPr>
          <a:xfrm>
            <a:off x="4160520" y="123444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axon ▶</a:t>
            </a:r>
          </a:p>
        </p:txBody>
      </p:sp>
      <p:sp>
        <p:nvSpPr>
          <p:cNvPr id="20" name="Rounded Rectangle 19">
            <a:hlinkClick r:id="rId10" action="ppaction://hlinksldjump"/>
          </p:cNvPr>
          <p:cNvSpPr/>
          <p:nvPr/>
        </p:nvSpPr>
        <p:spPr>
          <a:xfrm>
            <a:off x="5989320" y="123444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node of Ranvier ▶</a:t>
            </a:r>
          </a:p>
        </p:txBody>
      </p:sp>
      <p:sp>
        <p:nvSpPr>
          <p:cNvPr id="21" name="Rounded Rectangle 20">
            <a:hlinkClick r:id="rId11" action="ppaction://hlinksldjump"/>
          </p:cNvPr>
          <p:cNvSpPr/>
          <p:nvPr/>
        </p:nvSpPr>
        <p:spPr>
          <a:xfrm>
            <a:off x="6126480" y="324612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nucleus of Schwann cell ▶</a:t>
            </a:r>
          </a:p>
        </p:txBody>
      </p:sp>
      <p:sp>
        <p:nvSpPr>
          <p:cNvPr id="22" name="Rounded Rectangle 21"/>
          <p:cNvSpPr/>
          <p:nvPr/>
        </p:nvSpPr>
        <p:spPr>
          <a:xfrm>
            <a:off x="320040" y="5074920"/>
            <a:ext cx="8503920" cy="1005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Neurones are specialized cells that convey information in the form of nerve impulses. Press on the labels to find out more about each part of the neurone.</a:t>
            </a:r>
          </a:p>
        </p:txBody>
      </p:sp>
      <p:sp>
        <p:nvSpPr>
          <p:cNvPr id="23" name="Rounded Rectangle 22">
            <a:hlinkClick r:id="rId4" action="ppaction://hlinksldjump"/>
          </p:cNvPr>
          <p:cNvSpPr/>
          <p:nvPr/>
        </p:nvSpPr>
        <p:spPr>
          <a:xfrm>
            <a:off x="7223760" y="6217920"/>
            <a:ext cx="155448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neurone_structure.png"/>
          <p:cNvPicPr>
            <a:picLocks noChangeAspect="1"/>
          </p:cNvPicPr>
          <p:nvPr/>
        </p:nvPicPr>
        <p:blipFill>
          <a:blip r:embed="rId3"/>
          <a:stretch>
            <a:fillRect/>
          </a:stretch>
        </p:blipFill>
        <p:spPr>
          <a:xfrm>
            <a:off x="228600" y="914400"/>
            <a:ext cx="8595360" cy="4048093"/>
          </a:xfrm>
          <a:prstGeom prst="rect">
            <a:avLst/>
          </a:prstGeom>
        </p:spPr>
      </p:pic>
      <p:sp>
        <p:nvSpPr>
          <p:cNvPr id="12" name="Rounded Rectangle 11"/>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Cell body</a:t>
            </a:r>
          </a:p>
        </p:txBody>
      </p:sp>
      <p:sp>
        <p:nvSpPr>
          <p:cNvPr id="13" name="Rounded Rectangle 12"/>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Cell body</a:t>
            </a:r>
          </a:p>
        </p:txBody>
      </p:sp>
      <p:sp>
        <p:nvSpPr>
          <p:cNvPr id="14" name="Rounded Rectangle 13"/>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The cell body (soma) contains the nucleus and organelles. It is the metabolic centre of the neurone and manufactures proteins and neurotransmitters. In motor neurones it lies in the CNS; in sensory neurones it lies in a ganglion just outside the CNS.</a:t>
            </a:r>
          </a:p>
        </p:txBody>
      </p:sp>
      <p:sp>
        <p:nvSpPr>
          <p:cNvPr id="15" name="Rounded Rectangle 14">
            <a:hlinkClick r:id="rId4"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neurone_structure.png"/>
          <p:cNvPicPr>
            <a:picLocks noChangeAspect="1"/>
          </p:cNvPicPr>
          <p:nvPr/>
        </p:nvPicPr>
        <p:blipFill>
          <a:blip r:embed="rId3"/>
          <a:stretch>
            <a:fillRect/>
          </a:stretch>
        </p:blipFill>
        <p:spPr>
          <a:xfrm>
            <a:off x="228600" y="914400"/>
            <a:ext cx="8595360" cy="4048093"/>
          </a:xfrm>
          <a:prstGeom prst="rect">
            <a:avLst/>
          </a:prstGeom>
        </p:spPr>
      </p:pic>
      <p:sp>
        <p:nvSpPr>
          <p:cNvPr id="12" name="Rounded Rectangle 11"/>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Dendrites</a:t>
            </a:r>
          </a:p>
        </p:txBody>
      </p:sp>
      <p:sp>
        <p:nvSpPr>
          <p:cNvPr id="13" name="Rounded Rectangle 12"/>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Dendrites</a:t>
            </a:r>
          </a:p>
        </p:txBody>
      </p:sp>
      <p:sp>
        <p:nvSpPr>
          <p:cNvPr id="14" name="Rounded Rectangle 13"/>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Dendrites are highly branched cytoplasmic extensions. They receive impulses from other neurones (or from a receptor) and carry them towards the cell body. More branches mean a larger surface area for synapses.</a:t>
            </a:r>
          </a:p>
        </p:txBody>
      </p:sp>
      <p:sp>
        <p:nvSpPr>
          <p:cNvPr id="15" name="Rounded Rectangle 14">
            <a:hlinkClick r:id="rId4"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neurone_structure.png"/>
          <p:cNvPicPr>
            <a:picLocks noChangeAspect="1"/>
          </p:cNvPicPr>
          <p:nvPr/>
        </p:nvPicPr>
        <p:blipFill>
          <a:blip r:embed="rId3"/>
          <a:stretch>
            <a:fillRect/>
          </a:stretch>
        </p:blipFill>
        <p:spPr>
          <a:xfrm>
            <a:off x="228600" y="914400"/>
            <a:ext cx="8595360" cy="4048093"/>
          </a:xfrm>
          <a:prstGeom prst="rect">
            <a:avLst/>
          </a:prstGeom>
        </p:spPr>
      </p:pic>
      <p:sp>
        <p:nvSpPr>
          <p:cNvPr id="12" name="Rounded Rectangle 11"/>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Axon</a:t>
            </a:r>
          </a:p>
        </p:txBody>
      </p:sp>
      <p:sp>
        <p:nvSpPr>
          <p:cNvPr id="13" name="Rounded Rectangle 12"/>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Axon</a:t>
            </a:r>
          </a:p>
        </p:txBody>
      </p:sp>
      <p:sp>
        <p:nvSpPr>
          <p:cNvPr id="14" name="Rounded Rectangle 13"/>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The axon is a long, single fibre that carries the nerve impulse away from the cell body towards the synaptic terminals. Motor axons may be more than a metre long. The axoplasm is surrounded by the axon membrane, where the action potential is generated.</a:t>
            </a:r>
          </a:p>
        </p:txBody>
      </p:sp>
      <p:sp>
        <p:nvSpPr>
          <p:cNvPr id="15" name="Rounded Rectangle 14">
            <a:hlinkClick r:id="rId4"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neurone_structure.png"/>
          <p:cNvPicPr>
            <a:picLocks noChangeAspect="1"/>
          </p:cNvPicPr>
          <p:nvPr/>
        </p:nvPicPr>
        <p:blipFill>
          <a:blip r:embed="rId3"/>
          <a:stretch>
            <a:fillRect/>
          </a:stretch>
        </p:blipFill>
        <p:spPr>
          <a:xfrm>
            <a:off x="228600" y="914400"/>
            <a:ext cx="8595360" cy="4048093"/>
          </a:xfrm>
          <a:prstGeom prst="rect">
            <a:avLst/>
          </a:prstGeom>
        </p:spPr>
      </p:pic>
      <p:sp>
        <p:nvSpPr>
          <p:cNvPr id="12" name="Rounded Rectangle 11"/>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Myelin sheath</a:t>
            </a:r>
          </a:p>
        </p:txBody>
      </p:sp>
      <p:sp>
        <p:nvSpPr>
          <p:cNvPr id="13" name="Rounded Rectangle 12"/>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Myelin sheath</a:t>
            </a:r>
          </a:p>
        </p:txBody>
      </p:sp>
      <p:sp>
        <p:nvSpPr>
          <p:cNvPr id="14" name="Rounded Rectangle 13"/>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thick insulating layer of fatty material (myelin) wrapped around the axon by Schwann cells in the PNS (oligodendrocytes in the CNS). It prevents ion leakage and greatly increases conduction speed.</a:t>
            </a:r>
          </a:p>
        </p:txBody>
      </p:sp>
      <p:sp>
        <p:nvSpPr>
          <p:cNvPr id="15" name="Rounded Rectangle 14">
            <a:hlinkClick r:id="rId4"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neurone_structure.png"/>
          <p:cNvPicPr>
            <a:picLocks noChangeAspect="1"/>
          </p:cNvPicPr>
          <p:nvPr/>
        </p:nvPicPr>
        <p:blipFill>
          <a:blip r:embed="rId3"/>
          <a:stretch>
            <a:fillRect/>
          </a:stretch>
        </p:blipFill>
        <p:spPr>
          <a:xfrm>
            <a:off x="228600" y="914400"/>
            <a:ext cx="8595360" cy="4048093"/>
          </a:xfrm>
          <a:prstGeom prst="rect">
            <a:avLst/>
          </a:prstGeom>
        </p:spPr>
      </p:pic>
      <p:sp>
        <p:nvSpPr>
          <p:cNvPr id="12" name="Rounded Rectangle 11"/>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Node of Ranvier</a:t>
            </a:r>
          </a:p>
        </p:txBody>
      </p:sp>
      <p:sp>
        <p:nvSpPr>
          <p:cNvPr id="13" name="Rounded Rectangle 12"/>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Node of Ranvier</a:t>
            </a:r>
          </a:p>
        </p:txBody>
      </p:sp>
      <p:sp>
        <p:nvSpPr>
          <p:cNvPr id="14" name="Rounded Rectangle 13"/>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gap in the myelin sheath where the axon membrane is exposed. Voltage-gated ion channels are concentrated here. The action potential ‘jumps’ from node to node – saltatory conduction.</a:t>
            </a:r>
          </a:p>
        </p:txBody>
      </p:sp>
      <p:sp>
        <p:nvSpPr>
          <p:cNvPr id="15" name="Rounded Rectangle 14">
            <a:hlinkClick r:id="rId4"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neurone_structure.png"/>
          <p:cNvPicPr>
            <a:picLocks noChangeAspect="1"/>
          </p:cNvPicPr>
          <p:nvPr/>
        </p:nvPicPr>
        <p:blipFill>
          <a:blip r:embed="rId3"/>
          <a:stretch>
            <a:fillRect/>
          </a:stretch>
        </p:blipFill>
        <p:spPr>
          <a:xfrm>
            <a:off x="228600" y="914400"/>
            <a:ext cx="8595360" cy="4048093"/>
          </a:xfrm>
          <a:prstGeom prst="rect">
            <a:avLst/>
          </a:prstGeom>
        </p:spPr>
      </p:pic>
      <p:sp>
        <p:nvSpPr>
          <p:cNvPr id="12" name="Rounded Rectangle 11"/>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Schwann cell</a:t>
            </a:r>
          </a:p>
        </p:txBody>
      </p:sp>
      <p:sp>
        <p:nvSpPr>
          <p:cNvPr id="13" name="Rounded Rectangle 12"/>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Schwann cell</a:t>
            </a:r>
          </a:p>
        </p:txBody>
      </p:sp>
      <p:sp>
        <p:nvSpPr>
          <p:cNvPr id="14" name="Rounded Rectangle 13"/>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glial cell that wraps around a PNS axon, forming the myelin sheath. The nucleus of the Schwann cell sits in the outermost layer of the wrap. One Schwann cell myelinates one internodal segment of one axon.</a:t>
            </a:r>
          </a:p>
        </p:txBody>
      </p:sp>
      <p:sp>
        <p:nvSpPr>
          <p:cNvPr id="15" name="Rounded Rectangle 14">
            <a:hlinkClick r:id="rId4"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0"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1"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04672"/>
            <a:ext cx="8229600" cy="320040"/>
          </a:xfrm>
          <a:prstGeom prst="rect">
            <a:avLst/>
          </a:prstGeom>
          <a:noFill/>
        </p:spPr>
        <p:txBody>
          <a:bodyPr wrap="square" anchor="t">
            <a:spAutoFit/>
          </a:bodyPr>
          <a:lstStyle/>
          <a:p>
            <a:pPr algn="l">
              <a:spcAft>
                <a:spcPts val="400"/>
              </a:spcAft>
            </a:pPr>
            <a:r>
              <a:rPr sz="1800" b="0" i="0">
                <a:solidFill>
                  <a:srgbClr val="1B3A6B"/>
                </a:solidFill>
                <a:latin typeface="Calibri"/>
              </a:rPr>
              <a:t>There are several different types of neurone:</a:t>
            </a:r>
          </a:p>
        </p:txBody>
      </p:sp>
      <p:sp>
        <p:nvSpPr>
          <p:cNvPr id="14" name="TextBox 13"/>
          <p:cNvSpPr txBox="1"/>
          <p:nvPr/>
        </p:nvSpPr>
        <p:spPr>
          <a:xfrm>
            <a:off x="228600" y="1170432"/>
            <a:ext cx="1417320" cy="822960"/>
          </a:xfrm>
          <a:prstGeom prst="rect">
            <a:avLst/>
          </a:prstGeom>
          <a:noFill/>
        </p:spPr>
        <p:txBody>
          <a:bodyPr wrap="square" anchor="t">
            <a:spAutoFit/>
          </a:bodyPr>
          <a:lstStyle/>
          <a:p>
            <a:pPr algn="l">
              <a:spcAft>
                <a:spcPts val="400"/>
              </a:spcAft>
            </a:pPr>
            <a:r>
              <a:rPr sz="1400" b="1" i="0">
                <a:solidFill>
                  <a:srgbClr val="2E9E4F"/>
                </a:solidFill>
                <a:latin typeface="Calibri"/>
              </a:rPr>
              <a:t>sensory</a:t>
            </a:r>
          </a:p>
          <a:p>
            <a:pPr algn="l">
              <a:spcAft>
                <a:spcPts val="400"/>
              </a:spcAft>
            </a:pPr>
            <a:r>
              <a:rPr sz="1400" b="1" i="0">
                <a:solidFill>
                  <a:srgbClr val="2E9E4F"/>
                </a:solidFill>
                <a:latin typeface="Calibri"/>
              </a:rPr>
              <a:t>neurones:</a:t>
            </a:r>
          </a:p>
        </p:txBody>
      </p:sp>
      <p:sp>
        <p:nvSpPr>
          <p:cNvPr id="15" name="TextBox 14"/>
          <p:cNvSpPr txBox="1"/>
          <p:nvPr/>
        </p:nvSpPr>
        <p:spPr>
          <a:xfrm>
            <a:off x="1554480" y="1399032"/>
            <a:ext cx="1417320" cy="457200"/>
          </a:xfrm>
          <a:prstGeom prst="rect">
            <a:avLst/>
          </a:prstGeom>
          <a:noFill/>
        </p:spPr>
        <p:txBody>
          <a:bodyPr wrap="square" anchor="t">
            <a:spAutoFit/>
          </a:bodyPr>
          <a:lstStyle/>
          <a:p>
            <a:pPr algn="r">
              <a:spcAft>
                <a:spcPts val="400"/>
              </a:spcAft>
            </a:pPr>
            <a:r>
              <a:rPr sz="1200" b="1" i="0">
                <a:solidFill>
                  <a:srgbClr val="1B3A6B"/>
                </a:solidFill>
                <a:latin typeface="Calibri"/>
              </a:rPr>
              <a:t>receptor organs</a:t>
            </a:r>
          </a:p>
        </p:txBody>
      </p:sp>
      <p:pic>
        <p:nvPicPr>
          <p:cNvPr id="16" name="Picture 15" descr="sensory_neurone.png"/>
          <p:cNvPicPr>
            <a:picLocks noChangeAspect="1"/>
          </p:cNvPicPr>
          <p:nvPr/>
        </p:nvPicPr>
        <p:blipFill>
          <a:blip r:embed="rId3"/>
          <a:stretch>
            <a:fillRect/>
          </a:stretch>
        </p:blipFill>
        <p:spPr>
          <a:xfrm>
            <a:off x="2971800" y="1124712"/>
            <a:ext cx="4160520" cy="1469587"/>
          </a:xfrm>
          <a:prstGeom prst="rect">
            <a:avLst/>
          </a:prstGeom>
        </p:spPr>
      </p:pic>
      <p:sp>
        <p:nvSpPr>
          <p:cNvPr id="17" name="TextBox 16"/>
          <p:cNvSpPr txBox="1"/>
          <p:nvPr/>
        </p:nvSpPr>
        <p:spPr>
          <a:xfrm>
            <a:off x="7178040" y="1399032"/>
            <a:ext cx="1234440" cy="457200"/>
          </a:xfrm>
          <a:prstGeom prst="rect">
            <a:avLst/>
          </a:prstGeom>
          <a:noFill/>
        </p:spPr>
        <p:txBody>
          <a:bodyPr wrap="square" anchor="t">
            <a:spAutoFit/>
          </a:bodyPr>
          <a:lstStyle/>
          <a:p>
            <a:pPr algn="l">
              <a:spcAft>
                <a:spcPts val="400"/>
              </a:spcAft>
            </a:pPr>
            <a:r>
              <a:rPr sz="1200" b="1" i="0">
                <a:solidFill>
                  <a:srgbClr val="1B3A6B"/>
                </a:solidFill>
                <a:latin typeface="Calibri"/>
              </a:rPr>
              <a:t>CNS</a:t>
            </a:r>
          </a:p>
        </p:txBody>
      </p:sp>
      <p:sp>
        <p:nvSpPr>
          <p:cNvPr id="18" name="Rounded Rectangle 17">
            <a:hlinkClick r:id="rId7" action="ppaction://hlinksldjump"/>
          </p:cNvPr>
          <p:cNvSpPr/>
          <p:nvPr/>
        </p:nvSpPr>
        <p:spPr>
          <a:xfrm>
            <a:off x="8092440" y="1426464"/>
            <a:ext cx="822960" cy="329184"/>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FFFFFF"/>
                </a:solidFill>
                <a:latin typeface="Calibri"/>
              </a:rPr>
              <a:t>info</a:t>
            </a:r>
          </a:p>
        </p:txBody>
      </p:sp>
      <p:sp>
        <p:nvSpPr>
          <p:cNvPr id="19" name="TextBox 18"/>
          <p:cNvSpPr txBox="1"/>
          <p:nvPr/>
        </p:nvSpPr>
        <p:spPr>
          <a:xfrm>
            <a:off x="228600" y="2587752"/>
            <a:ext cx="1417320" cy="822960"/>
          </a:xfrm>
          <a:prstGeom prst="rect">
            <a:avLst/>
          </a:prstGeom>
          <a:noFill/>
        </p:spPr>
        <p:txBody>
          <a:bodyPr wrap="square" anchor="t">
            <a:spAutoFit/>
          </a:bodyPr>
          <a:lstStyle/>
          <a:p>
            <a:pPr algn="l">
              <a:spcAft>
                <a:spcPts val="400"/>
              </a:spcAft>
            </a:pPr>
            <a:r>
              <a:rPr sz="1400" b="1" i="0">
                <a:solidFill>
                  <a:srgbClr val="2E9E4F"/>
                </a:solidFill>
                <a:latin typeface="Calibri"/>
              </a:rPr>
              <a:t>relay</a:t>
            </a:r>
          </a:p>
          <a:p>
            <a:pPr algn="l">
              <a:spcAft>
                <a:spcPts val="400"/>
              </a:spcAft>
            </a:pPr>
            <a:r>
              <a:rPr sz="1400" b="1" i="0">
                <a:solidFill>
                  <a:srgbClr val="2E9E4F"/>
                </a:solidFill>
                <a:latin typeface="Calibri"/>
              </a:rPr>
              <a:t>neurones:</a:t>
            </a:r>
          </a:p>
        </p:txBody>
      </p:sp>
      <p:sp>
        <p:nvSpPr>
          <p:cNvPr id="20" name="TextBox 19"/>
          <p:cNvSpPr txBox="1"/>
          <p:nvPr/>
        </p:nvSpPr>
        <p:spPr>
          <a:xfrm>
            <a:off x="1554480" y="2816352"/>
            <a:ext cx="1417320" cy="457200"/>
          </a:xfrm>
          <a:prstGeom prst="rect">
            <a:avLst/>
          </a:prstGeom>
          <a:noFill/>
        </p:spPr>
        <p:txBody>
          <a:bodyPr wrap="square" anchor="t">
            <a:spAutoFit/>
          </a:bodyPr>
          <a:lstStyle/>
          <a:p>
            <a:pPr algn="r">
              <a:spcAft>
                <a:spcPts val="400"/>
              </a:spcAft>
            </a:pPr>
            <a:r>
              <a:rPr sz="1200" b="1" i="0">
                <a:solidFill>
                  <a:srgbClr val="1B3A6B"/>
                </a:solidFill>
                <a:latin typeface="Calibri"/>
              </a:rPr>
              <a:t>sensory neurones</a:t>
            </a:r>
          </a:p>
        </p:txBody>
      </p:sp>
      <p:pic>
        <p:nvPicPr>
          <p:cNvPr id="21" name="Picture 20" descr="relay_neurone.png"/>
          <p:cNvPicPr>
            <a:picLocks noChangeAspect="1"/>
          </p:cNvPicPr>
          <p:nvPr/>
        </p:nvPicPr>
        <p:blipFill>
          <a:blip r:embed="rId4"/>
          <a:stretch>
            <a:fillRect/>
          </a:stretch>
        </p:blipFill>
        <p:spPr>
          <a:xfrm>
            <a:off x="2971800" y="2542032"/>
            <a:ext cx="4160520" cy="1469587"/>
          </a:xfrm>
          <a:prstGeom prst="rect">
            <a:avLst/>
          </a:prstGeom>
        </p:spPr>
      </p:pic>
      <p:sp>
        <p:nvSpPr>
          <p:cNvPr id="22" name="TextBox 21"/>
          <p:cNvSpPr txBox="1"/>
          <p:nvPr/>
        </p:nvSpPr>
        <p:spPr>
          <a:xfrm>
            <a:off x="7178040" y="2816352"/>
            <a:ext cx="1234440" cy="457200"/>
          </a:xfrm>
          <a:prstGeom prst="rect">
            <a:avLst/>
          </a:prstGeom>
          <a:noFill/>
        </p:spPr>
        <p:txBody>
          <a:bodyPr wrap="square" anchor="t">
            <a:spAutoFit/>
          </a:bodyPr>
          <a:lstStyle/>
          <a:p>
            <a:pPr algn="l">
              <a:spcAft>
                <a:spcPts val="400"/>
              </a:spcAft>
            </a:pPr>
            <a:r>
              <a:rPr sz="1200" b="1" i="0">
                <a:solidFill>
                  <a:srgbClr val="1B3A6B"/>
                </a:solidFill>
                <a:latin typeface="Calibri"/>
              </a:rPr>
              <a:t>motor neurones</a:t>
            </a:r>
          </a:p>
        </p:txBody>
      </p:sp>
      <p:sp>
        <p:nvSpPr>
          <p:cNvPr id="23" name="Rounded Rectangle 22">
            <a:hlinkClick r:id="rId8" action="ppaction://hlinksldjump"/>
          </p:cNvPr>
          <p:cNvSpPr/>
          <p:nvPr/>
        </p:nvSpPr>
        <p:spPr>
          <a:xfrm>
            <a:off x="8092440" y="2843784"/>
            <a:ext cx="822960" cy="329184"/>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FFFFFF"/>
                </a:solidFill>
                <a:latin typeface="Calibri"/>
              </a:rPr>
              <a:t>info</a:t>
            </a:r>
          </a:p>
        </p:txBody>
      </p:sp>
      <p:sp>
        <p:nvSpPr>
          <p:cNvPr id="24" name="TextBox 23"/>
          <p:cNvSpPr txBox="1"/>
          <p:nvPr/>
        </p:nvSpPr>
        <p:spPr>
          <a:xfrm>
            <a:off x="228600" y="4005072"/>
            <a:ext cx="1417320" cy="822960"/>
          </a:xfrm>
          <a:prstGeom prst="rect">
            <a:avLst/>
          </a:prstGeom>
          <a:noFill/>
        </p:spPr>
        <p:txBody>
          <a:bodyPr wrap="square" anchor="t">
            <a:spAutoFit/>
          </a:bodyPr>
          <a:lstStyle/>
          <a:p>
            <a:pPr algn="l">
              <a:spcAft>
                <a:spcPts val="400"/>
              </a:spcAft>
            </a:pPr>
            <a:r>
              <a:rPr sz="1400" b="1" i="0">
                <a:solidFill>
                  <a:srgbClr val="2E9E4F"/>
                </a:solidFill>
                <a:latin typeface="Calibri"/>
              </a:rPr>
              <a:t>motor</a:t>
            </a:r>
          </a:p>
          <a:p>
            <a:pPr algn="l">
              <a:spcAft>
                <a:spcPts val="400"/>
              </a:spcAft>
            </a:pPr>
            <a:r>
              <a:rPr sz="1400" b="1" i="0">
                <a:solidFill>
                  <a:srgbClr val="2E9E4F"/>
                </a:solidFill>
                <a:latin typeface="Calibri"/>
              </a:rPr>
              <a:t>neurones:</a:t>
            </a:r>
          </a:p>
        </p:txBody>
      </p:sp>
      <p:sp>
        <p:nvSpPr>
          <p:cNvPr id="25" name="TextBox 24"/>
          <p:cNvSpPr txBox="1"/>
          <p:nvPr/>
        </p:nvSpPr>
        <p:spPr>
          <a:xfrm>
            <a:off x="1554480" y="4233672"/>
            <a:ext cx="1417320" cy="457200"/>
          </a:xfrm>
          <a:prstGeom prst="rect">
            <a:avLst/>
          </a:prstGeom>
          <a:noFill/>
        </p:spPr>
        <p:txBody>
          <a:bodyPr wrap="square" anchor="t">
            <a:spAutoFit/>
          </a:bodyPr>
          <a:lstStyle/>
          <a:p>
            <a:pPr algn="r">
              <a:spcAft>
                <a:spcPts val="400"/>
              </a:spcAft>
            </a:pPr>
            <a:r>
              <a:rPr sz="1200" b="1" i="0">
                <a:solidFill>
                  <a:srgbClr val="1B3A6B"/>
                </a:solidFill>
                <a:latin typeface="Calibri"/>
              </a:rPr>
              <a:t>CNS</a:t>
            </a:r>
          </a:p>
        </p:txBody>
      </p:sp>
      <p:pic>
        <p:nvPicPr>
          <p:cNvPr id="26" name="Picture 25" descr="motor_neurone.png"/>
          <p:cNvPicPr>
            <a:picLocks noChangeAspect="1"/>
          </p:cNvPicPr>
          <p:nvPr/>
        </p:nvPicPr>
        <p:blipFill>
          <a:blip r:embed="rId5"/>
          <a:stretch>
            <a:fillRect/>
          </a:stretch>
        </p:blipFill>
        <p:spPr>
          <a:xfrm>
            <a:off x="2971800" y="3959352"/>
            <a:ext cx="4160520" cy="1797265"/>
          </a:xfrm>
          <a:prstGeom prst="rect">
            <a:avLst/>
          </a:prstGeom>
        </p:spPr>
      </p:pic>
      <p:sp>
        <p:nvSpPr>
          <p:cNvPr id="27" name="TextBox 26"/>
          <p:cNvSpPr txBox="1"/>
          <p:nvPr/>
        </p:nvSpPr>
        <p:spPr>
          <a:xfrm>
            <a:off x="7178040" y="4233672"/>
            <a:ext cx="1234440" cy="457200"/>
          </a:xfrm>
          <a:prstGeom prst="rect">
            <a:avLst/>
          </a:prstGeom>
          <a:noFill/>
        </p:spPr>
        <p:txBody>
          <a:bodyPr wrap="square" anchor="t">
            <a:spAutoFit/>
          </a:bodyPr>
          <a:lstStyle/>
          <a:p>
            <a:pPr algn="l">
              <a:spcAft>
                <a:spcPts val="400"/>
              </a:spcAft>
            </a:pPr>
            <a:r>
              <a:rPr sz="1200" b="1" i="0">
                <a:solidFill>
                  <a:srgbClr val="1B3A6B"/>
                </a:solidFill>
                <a:latin typeface="Calibri"/>
              </a:rPr>
              <a:t>effectors</a:t>
            </a:r>
          </a:p>
        </p:txBody>
      </p:sp>
      <p:sp>
        <p:nvSpPr>
          <p:cNvPr id="28" name="Rounded Rectangle 27">
            <a:hlinkClick r:id="rId9" action="ppaction://hlinksldjump"/>
          </p:cNvPr>
          <p:cNvSpPr/>
          <p:nvPr/>
        </p:nvSpPr>
        <p:spPr>
          <a:xfrm>
            <a:off x="8092440" y="4261104"/>
            <a:ext cx="822960" cy="329184"/>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FFFFFF"/>
                </a:solidFill>
                <a:latin typeface="Calibri"/>
              </a:rPr>
              <a:t>info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Sensory neurone</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Carries impulses from a receptor towards the CNS. The cell body is in a dorsal root ganglion, off to the side of the axon. There is a long dendron and a shorter axon. Many sensory neurones are myelinated.</a:t>
            </a:r>
          </a:p>
        </p:txBody>
      </p:sp>
      <p:sp>
        <p:nvSpPr>
          <p:cNvPr id="12" name="Rounded Rectangle 11">
            <a:hlinkClick r:id="rId3" action="ppaction://hlinksldjump"/>
          </p:cNvPr>
          <p:cNvSpPr/>
          <p:nvPr/>
        </p:nvSpPr>
        <p:spPr>
          <a:xfrm>
            <a:off x="3383280" y="4754880"/>
            <a:ext cx="22860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Relay (intermediate) neurone</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Found entirely within the CNS. Connects sensory neurones to motor neurones and to other relay neurones, allowing integration and coordination. Typically short, with many synapses. Also called an interneurone.</a:t>
            </a:r>
          </a:p>
        </p:txBody>
      </p:sp>
      <p:sp>
        <p:nvSpPr>
          <p:cNvPr id="12" name="Rounded Rectangle 11">
            <a:hlinkClick r:id="rId3" action="ppaction://hlinksldjump"/>
          </p:cNvPr>
          <p:cNvSpPr/>
          <p:nvPr/>
        </p:nvSpPr>
        <p:spPr>
          <a:xfrm>
            <a:off x="3383280" y="4754880"/>
            <a:ext cx="22860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Motor neurone</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Carries impulses from the CNS to an effector (muscle or gland). The cell body is in the CNS (grey matter of spinal cord or brain) with many dendrites. A long myelinated axon runs out through the PNS to the effector.</a:t>
            </a:r>
          </a:p>
        </p:txBody>
      </p:sp>
      <p:sp>
        <p:nvSpPr>
          <p:cNvPr id="12" name="Rounded Rectangle 11">
            <a:hlinkClick r:id="rId3" action="ppaction://hlinksldjump"/>
          </p:cNvPr>
          <p:cNvSpPr/>
          <p:nvPr/>
        </p:nvSpPr>
        <p:spPr>
          <a:xfrm>
            <a:off x="3383280" y="4754880"/>
            <a:ext cx="22860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Comparing neurone types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22960"/>
            <a:ext cx="8229600" cy="365760"/>
          </a:xfrm>
          <a:prstGeom prst="rect">
            <a:avLst/>
          </a:prstGeom>
          <a:noFill/>
        </p:spPr>
        <p:txBody>
          <a:bodyPr wrap="square" anchor="t">
            <a:spAutoFit/>
          </a:bodyPr>
          <a:lstStyle/>
          <a:p>
            <a:pPr algn="l">
              <a:spcAft>
                <a:spcPts val="400"/>
              </a:spcAft>
            </a:pPr>
            <a:r>
              <a:rPr sz="1400" b="0" i="0">
                <a:solidFill>
                  <a:srgbClr val="1B3A6B"/>
                </a:solidFill>
                <a:latin typeface="Calibri"/>
              </a:rPr>
              <a:t>Click a heading to reveal the comparison. Use Show all before moving on.</a:t>
            </a:r>
          </a:p>
        </p:txBody>
      </p:sp>
      <p:sp>
        <p:nvSpPr>
          <p:cNvPr id="14" name="Rounded Rectangle 13"/>
          <p:cNvSpPr/>
          <p:nvPr/>
        </p:nvSpPr>
        <p:spPr>
          <a:xfrm>
            <a:off x="32004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Feature</a:t>
            </a:r>
          </a:p>
        </p:txBody>
      </p:sp>
      <p:sp>
        <p:nvSpPr>
          <p:cNvPr id="15" name="Rounded Rectangle 14"/>
          <p:cNvSpPr/>
          <p:nvPr/>
        </p:nvSpPr>
        <p:spPr>
          <a:xfrm>
            <a:off x="233172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Sensory</a:t>
            </a:r>
          </a:p>
        </p:txBody>
      </p:sp>
      <p:sp>
        <p:nvSpPr>
          <p:cNvPr id="16" name="Rounded Rectangle 15"/>
          <p:cNvSpPr/>
          <p:nvPr/>
        </p:nvSpPr>
        <p:spPr>
          <a:xfrm>
            <a:off x="443484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Relay</a:t>
            </a:r>
          </a:p>
        </p:txBody>
      </p:sp>
      <p:sp>
        <p:nvSpPr>
          <p:cNvPr id="17" name="Rounded Rectangle 16"/>
          <p:cNvSpPr/>
          <p:nvPr/>
        </p:nvSpPr>
        <p:spPr>
          <a:xfrm>
            <a:off x="653796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Motor</a:t>
            </a:r>
          </a:p>
        </p:txBody>
      </p:sp>
      <p:sp>
        <p:nvSpPr>
          <p:cNvPr id="18" name="Rounded Rectangle 17">
            <a:hlinkClick r:id="rId4" action="ppaction://hlinksldjump"/>
          </p:cNvPr>
          <p:cNvSpPr/>
          <p:nvPr/>
        </p:nvSpPr>
        <p:spPr>
          <a:xfrm>
            <a:off x="3200400" y="2926080"/>
            <a:ext cx="27432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Show comparison table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Comparing neurone types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274320"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Feature</a:t>
            </a:r>
          </a:p>
        </p:txBody>
      </p:sp>
      <p:sp>
        <p:nvSpPr>
          <p:cNvPr id="12" name="Rounded Rectangle 11"/>
          <p:cNvSpPr/>
          <p:nvPr/>
        </p:nvSpPr>
        <p:spPr>
          <a:xfrm>
            <a:off x="2468879"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Sensory</a:t>
            </a:r>
          </a:p>
        </p:txBody>
      </p:sp>
      <p:sp>
        <p:nvSpPr>
          <p:cNvPr id="13" name="Rounded Rectangle 12"/>
          <p:cNvSpPr/>
          <p:nvPr/>
        </p:nvSpPr>
        <p:spPr>
          <a:xfrm>
            <a:off x="4663440"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Relay</a:t>
            </a:r>
          </a:p>
        </p:txBody>
      </p:sp>
      <p:sp>
        <p:nvSpPr>
          <p:cNvPr id="14" name="Rounded Rectangle 13"/>
          <p:cNvSpPr/>
          <p:nvPr/>
        </p:nvSpPr>
        <p:spPr>
          <a:xfrm>
            <a:off x="6857999"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Motor</a:t>
            </a:r>
          </a:p>
        </p:txBody>
      </p:sp>
      <p:sp>
        <p:nvSpPr>
          <p:cNvPr id="15" name="Rounded Rectangle 14"/>
          <p:cNvSpPr/>
          <p:nvPr/>
        </p:nvSpPr>
        <p:spPr>
          <a:xfrm>
            <a:off x="274320"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Direction of impulse</a:t>
            </a:r>
          </a:p>
        </p:txBody>
      </p:sp>
      <p:sp>
        <p:nvSpPr>
          <p:cNvPr id="16" name="Rounded Rectangle 15"/>
          <p:cNvSpPr/>
          <p:nvPr/>
        </p:nvSpPr>
        <p:spPr>
          <a:xfrm>
            <a:off x="2468879"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Receptor → CNS</a:t>
            </a:r>
          </a:p>
        </p:txBody>
      </p:sp>
      <p:sp>
        <p:nvSpPr>
          <p:cNvPr id="17" name="Rounded Rectangle 16"/>
          <p:cNvSpPr/>
          <p:nvPr/>
        </p:nvSpPr>
        <p:spPr>
          <a:xfrm>
            <a:off x="4663440"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CNS → CNS</a:t>
            </a:r>
          </a:p>
        </p:txBody>
      </p:sp>
      <p:sp>
        <p:nvSpPr>
          <p:cNvPr id="18" name="Rounded Rectangle 17"/>
          <p:cNvSpPr/>
          <p:nvPr/>
        </p:nvSpPr>
        <p:spPr>
          <a:xfrm>
            <a:off x="6857999"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CNS → effector</a:t>
            </a:r>
          </a:p>
        </p:txBody>
      </p:sp>
      <p:sp>
        <p:nvSpPr>
          <p:cNvPr id="19" name="Rounded Rectangle 18"/>
          <p:cNvSpPr/>
          <p:nvPr/>
        </p:nvSpPr>
        <p:spPr>
          <a:xfrm>
            <a:off x="274320"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Cell body position</a:t>
            </a:r>
          </a:p>
        </p:txBody>
      </p:sp>
      <p:sp>
        <p:nvSpPr>
          <p:cNvPr id="20" name="Rounded Rectangle 19"/>
          <p:cNvSpPr/>
          <p:nvPr/>
        </p:nvSpPr>
        <p:spPr>
          <a:xfrm>
            <a:off x="2468879"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Dorsal root ganglion</a:t>
            </a:r>
          </a:p>
        </p:txBody>
      </p:sp>
      <p:sp>
        <p:nvSpPr>
          <p:cNvPr id="21" name="Rounded Rectangle 20"/>
          <p:cNvSpPr/>
          <p:nvPr/>
        </p:nvSpPr>
        <p:spPr>
          <a:xfrm>
            <a:off x="4663440"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Entirely in CNS</a:t>
            </a:r>
          </a:p>
        </p:txBody>
      </p:sp>
      <p:sp>
        <p:nvSpPr>
          <p:cNvPr id="22" name="Rounded Rectangle 21"/>
          <p:cNvSpPr/>
          <p:nvPr/>
        </p:nvSpPr>
        <p:spPr>
          <a:xfrm>
            <a:off x="6857999"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In CNS (grey matter)</a:t>
            </a:r>
          </a:p>
        </p:txBody>
      </p:sp>
      <p:sp>
        <p:nvSpPr>
          <p:cNvPr id="23" name="Rounded Rectangle 22"/>
          <p:cNvSpPr/>
          <p:nvPr/>
        </p:nvSpPr>
        <p:spPr>
          <a:xfrm>
            <a:off x="274320"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Relative axon length</a:t>
            </a:r>
          </a:p>
        </p:txBody>
      </p:sp>
      <p:sp>
        <p:nvSpPr>
          <p:cNvPr id="24" name="Rounded Rectangle 23"/>
          <p:cNvSpPr/>
          <p:nvPr/>
        </p:nvSpPr>
        <p:spPr>
          <a:xfrm>
            <a:off x="2468879"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Short axon, long dendron</a:t>
            </a:r>
          </a:p>
        </p:txBody>
      </p:sp>
      <p:sp>
        <p:nvSpPr>
          <p:cNvPr id="25" name="Rounded Rectangle 24"/>
          <p:cNvSpPr/>
          <p:nvPr/>
        </p:nvSpPr>
        <p:spPr>
          <a:xfrm>
            <a:off x="4663440"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Short</a:t>
            </a:r>
          </a:p>
        </p:txBody>
      </p:sp>
      <p:sp>
        <p:nvSpPr>
          <p:cNvPr id="26" name="Rounded Rectangle 25"/>
          <p:cNvSpPr/>
          <p:nvPr/>
        </p:nvSpPr>
        <p:spPr>
          <a:xfrm>
            <a:off x="6857999"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Long axon</a:t>
            </a:r>
          </a:p>
        </p:txBody>
      </p:sp>
      <p:sp>
        <p:nvSpPr>
          <p:cNvPr id="27" name="Rounded Rectangle 26"/>
          <p:cNvSpPr/>
          <p:nvPr/>
        </p:nvSpPr>
        <p:spPr>
          <a:xfrm>
            <a:off x="274320"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Myelin</a:t>
            </a:r>
          </a:p>
        </p:txBody>
      </p:sp>
      <p:sp>
        <p:nvSpPr>
          <p:cNvPr id="28" name="Rounded Rectangle 27"/>
          <p:cNvSpPr/>
          <p:nvPr/>
        </p:nvSpPr>
        <p:spPr>
          <a:xfrm>
            <a:off x="2468879"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Usually myelinated</a:t>
            </a:r>
          </a:p>
        </p:txBody>
      </p:sp>
      <p:sp>
        <p:nvSpPr>
          <p:cNvPr id="29" name="Rounded Rectangle 28"/>
          <p:cNvSpPr/>
          <p:nvPr/>
        </p:nvSpPr>
        <p:spPr>
          <a:xfrm>
            <a:off x="4663440"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Often unmyelinated</a:t>
            </a:r>
          </a:p>
        </p:txBody>
      </p:sp>
      <p:sp>
        <p:nvSpPr>
          <p:cNvPr id="30" name="Rounded Rectangle 29"/>
          <p:cNvSpPr/>
          <p:nvPr/>
        </p:nvSpPr>
        <p:spPr>
          <a:xfrm>
            <a:off x="6857999"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Usually myelinated</a:t>
            </a:r>
          </a:p>
        </p:txBody>
      </p:sp>
      <p:sp>
        <p:nvSpPr>
          <p:cNvPr id="31" name="Rounded Rectangle 30">
            <a:hlinkClick r:id="rId3" action="ppaction://hlinksldjump"/>
          </p:cNvPr>
          <p:cNvSpPr/>
          <p:nvPr/>
        </p:nvSpPr>
        <p:spPr>
          <a:xfrm>
            <a:off x="3383280" y="5852160"/>
            <a:ext cx="22860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1"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2"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65760"/>
          </a:xfrm>
          <a:prstGeom prst="rect">
            <a:avLst/>
          </a:prstGeom>
          <a:noFill/>
        </p:spPr>
        <p:txBody>
          <a:bodyPr wrap="square" anchor="t">
            <a:spAutoFit/>
          </a:bodyPr>
          <a:lstStyle/>
          <a:p>
            <a:pPr algn="ctr">
              <a:spcAft>
                <a:spcPts val="400"/>
              </a:spcAft>
            </a:pPr>
            <a:r>
              <a:rPr sz="2000" b="1" i="0">
                <a:solidFill>
                  <a:srgbClr val="1B3A6B"/>
                </a:solidFill>
                <a:latin typeface="Calibri"/>
              </a:rPr>
              <a:t>Match the parts of the neurone to the definitions</a:t>
            </a:r>
          </a:p>
        </p:txBody>
      </p:sp>
      <p:sp>
        <p:nvSpPr>
          <p:cNvPr id="15" name="Rounded Rectangle 14">
            <a:hlinkClick r:id="rId5" action="ppaction://hlinksldjump"/>
          </p:cNvPr>
          <p:cNvSpPr/>
          <p:nvPr/>
        </p:nvSpPr>
        <p:spPr>
          <a:xfrm>
            <a:off x="320040" y="128016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node of Ranvier</a:t>
            </a:r>
          </a:p>
        </p:txBody>
      </p:sp>
      <p:sp>
        <p:nvSpPr>
          <p:cNvPr id="16" name="Rounded Rectangle 15"/>
          <p:cNvSpPr/>
          <p:nvPr/>
        </p:nvSpPr>
        <p:spPr>
          <a:xfrm>
            <a:off x="2926080" y="128016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long single fibre that carries nerve impulses</a:t>
            </a:r>
          </a:p>
        </p:txBody>
      </p:sp>
      <p:sp>
        <p:nvSpPr>
          <p:cNvPr id="17" name="Rounded Rectangle 16">
            <a:hlinkClick r:id="rId6" action="ppaction://hlinksldjump"/>
          </p:cNvPr>
          <p:cNvSpPr/>
          <p:nvPr/>
        </p:nvSpPr>
        <p:spPr>
          <a:xfrm>
            <a:off x="320040" y="205740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axon</a:t>
            </a:r>
          </a:p>
        </p:txBody>
      </p:sp>
      <p:sp>
        <p:nvSpPr>
          <p:cNvPr id="18" name="Rounded Rectangle 17"/>
          <p:cNvSpPr/>
          <p:nvPr/>
        </p:nvSpPr>
        <p:spPr>
          <a:xfrm>
            <a:off x="2926080" y="205740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thick insulating layer around the axon</a:t>
            </a:r>
          </a:p>
        </p:txBody>
      </p:sp>
      <p:sp>
        <p:nvSpPr>
          <p:cNvPr id="19" name="Rounded Rectangle 18">
            <a:hlinkClick r:id="rId7" action="ppaction://hlinksldjump"/>
          </p:cNvPr>
          <p:cNvSpPr/>
          <p:nvPr/>
        </p:nvSpPr>
        <p:spPr>
          <a:xfrm>
            <a:off x="320040" y="283464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myelin sheath</a:t>
            </a:r>
          </a:p>
        </p:txBody>
      </p:sp>
      <p:sp>
        <p:nvSpPr>
          <p:cNvPr id="20" name="Rounded Rectangle 19"/>
          <p:cNvSpPr/>
          <p:nvPr/>
        </p:nvSpPr>
        <p:spPr>
          <a:xfrm>
            <a:off x="2926080" y="283464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gap in the myelin sheath where the axon is exposed</a:t>
            </a:r>
          </a:p>
        </p:txBody>
      </p:sp>
      <p:sp>
        <p:nvSpPr>
          <p:cNvPr id="21" name="Rounded Rectangle 20">
            <a:hlinkClick r:id="rId8" action="ppaction://hlinksldjump"/>
          </p:cNvPr>
          <p:cNvSpPr/>
          <p:nvPr/>
        </p:nvSpPr>
        <p:spPr>
          <a:xfrm>
            <a:off x="320040" y="361188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Schwann cell</a:t>
            </a:r>
          </a:p>
        </p:txBody>
      </p:sp>
      <p:sp>
        <p:nvSpPr>
          <p:cNvPr id="22" name="Rounded Rectangle 21"/>
          <p:cNvSpPr/>
          <p:nvPr/>
        </p:nvSpPr>
        <p:spPr>
          <a:xfrm>
            <a:off x="2926080" y="361188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highly branched fibres that conduct impulses</a:t>
            </a:r>
          </a:p>
        </p:txBody>
      </p:sp>
      <p:sp>
        <p:nvSpPr>
          <p:cNvPr id="23" name="Rounded Rectangle 22">
            <a:hlinkClick r:id="rId9" action="ppaction://hlinksldjump"/>
          </p:cNvPr>
          <p:cNvSpPr/>
          <p:nvPr/>
        </p:nvSpPr>
        <p:spPr>
          <a:xfrm>
            <a:off x="320040" y="438912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dendrites</a:t>
            </a:r>
          </a:p>
        </p:txBody>
      </p:sp>
      <p:sp>
        <p:nvSpPr>
          <p:cNvPr id="24" name="Rounded Rectangle 23"/>
          <p:cNvSpPr/>
          <p:nvPr/>
        </p:nvSpPr>
        <p:spPr>
          <a:xfrm>
            <a:off x="2926080" y="438912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cell wrapped around the axon, forming the myelin sheath</a:t>
            </a:r>
          </a:p>
        </p:txBody>
      </p:sp>
      <p:sp>
        <p:nvSpPr>
          <p:cNvPr id="25" name="Rounded Rectangle 24">
            <a:hlinkClick r:id="rId10" action="ppaction://hlinksldjump"/>
          </p:cNvPr>
          <p:cNvSpPr/>
          <p:nvPr/>
        </p:nvSpPr>
        <p:spPr>
          <a:xfrm>
            <a:off x="32004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6" name="Rounded Rectangle 25">
            <a:hlinkClick r:id="rId3" action="ppaction://hlinksldjump"/>
          </p:cNvPr>
          <p:cNvSpPr/>
          <p:nvPr/>
        </p:nvSpPr>
        <p:spPr>
          <a:xfrm>
            <a:off x="1965960" y="6217920"/>
            <a:ext cx="137160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2" name="Rounded Rectangle 11"/>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node of Ranvier</a:t>
            </a:r>
          </a:p>
        </p:txBody>
      </p:sp>
      <p:sp>
        <p:nvSpPr>
          <p:cNvPr id="13" name="Rounded Rectangle 12"/>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gap in the myelin sheath where the axon is exposed</a:t>
            </a:r>
          </a:p>
        </p:txBody>
      </p:sp>
      <p:sp>
        <p:nvSpPr>
          <p:cNvPr id="14" name="Rounded Rectangle 13">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2" name="Rounded Rectangle 11"/>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axon</a:t>
            </a:r>
          </a:p>
        </p:txBody>
      </p:sp>
      <p:sp>
        <p:nvSpPr>
          <p:cNvPr id="13" name="Rounded Rectangle 12"/>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a long single fibre that carries nerve impulses</a:t>
            </a:r>
          </a:p>
        </p:txBody>
      </p:sp>
      <p:sp>
        <p:nvSpPr>
          <p:cNvPr id="14" name="Rounded Rectangle 13">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2" name="Rounded Rectangle 11"/>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myelin sheath</a:t>
            </a:r>
          </a:p>
        </p:txBody>
      </p:sp>
      <p:sp>
        <p:nvSpPr>
          <p:cNvPr id="13" name="Rounded Rectangle 12"/>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a thick insulating layer around the axon</a:t>
            </a:r>
          </a:p>
        </p:txBody>
      </p:sp>
      <p:sp>
        <p:nvSpPr>
          <p:cNvPr id="14" name="Rounded Rectangle 13">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2" name="Rounded Rectangle 11"/>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Schwann cell</a:t>
            </a:r>
          </a:p>
        </p:txBody>
      </p:sp>
      <p:sp>
        <p:nvSpPr>
          <p:cNvPr id="13" name="Rounded Rectangle 12"/>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a cell wrapped around the axon, forming the myelin sheath</a:t>
            </a:r>
          </a:p>
        </p:txBody>
      </p:sp>
      <p:sp>
        <p:nvSpPr>
          <p:cNvPr id="14" name="Rounded Rectangle 13">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2" name="Rounded Rectangle 11"/>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dendrites</a:t>
            </a:r>
          </a:p>
        </p:txBody>
      </p:sp>
      <p:sp>
        <p:nvSpPr>
          <p:cNvPr id="13" name="Rounded Rectangle 12"/>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highly branched fibres that conduct impulses</a:t>
            </a:r>
          </a:p>
        </p:txBody>
      </p:sp>
      <p:sp>
        <p:nvSpPr>
          <p:cNvPr id="14" name="Rounded Rectangle 13">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Neurone structure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274320" y="822960"/>
            <a:ext cx="8595360" cy="365760"/>
          </a:xfrm>
          <a:prstGeom prst="rect">
            <a:avLst/>
          </a:prstGeom>
          <a:noFill/>
        </p:spPr>
        <p:txBody>
          <a:bodyPr wrap="square" anchor="t">
            <a:spAutoFit/>
          </a:bodyPr>
          <a:lstStyle/>
          <a:p>
            <a:pPr algn="ctr">
              <a:spcAft>
                <a:spcPts val="400"/>
              </a:spcAft>
            </a:pPr>
            <a:r>
              <a:rPr sz="2000" b="1" i="0">
                <a:solidFill>
                  <a:srgbClr val="2E9E4F"/>
                </a:solidFill>
                <a:latin typeface="Calibri"/>
              </a:rPr>
              <a:t>Answer key</a:t>
            </a:r>
          </a:p>
        </p:txBody>
      </p:sp>
      <p:sp>
        <p:nvSpPr>
          <p:cNvPr id="12" name="Rounded Rectangle 11"/>
          <p:cNvSpPr/>
          <p:nvPr/>
        </p:nvSpPr>
        <p:spPr>
          <a:xfrm>
            <a:off x="320040" y="1280160"/>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node of Ranvier</a:t>
            </a:r>
          </a:p>
        </p:txBody>
      </p:sp>
      <p:sp>
        <p:nvSpPr>
          <p:cNvPr id="13" name="Rounded Rectangle 12"/>
          <p:cNvSpPr/>
          <p:nvPr/>
        </p:nvSpPr>
        <p:spPr>
          <a:xfrm>
            <a:off x="2926080" y="1280160"/>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gap in the myelin sheath where the axon is exposed</a:t>
            </a:r>
          </a:p>
        </p:txBody>
      </p:sp>
      <p:sp>
        <p:nvSpPr>
          <p:cNvPr id="14" name="Rounded Rectangle 13"/>
          <p:cNvSpPr/>
          <p:nvPr/>
        </p:nvSpPr>
        <p:spPr>
          <a:xfrm>
            <a:off x="320040" y="2029967"/>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axon</a:t>
            </a:r>
          </a:p>
        </p:txBody>
      </p:sp>
      <p:sp>
        <p:nvSpPr>
          <p:cNvPr id="15" name="Rounded Rectangle 14"/>
          <p:cNvSpPr/>
          <p:nvPr/>
        </p:nvSpPr>
        <p:spPr>
          <a:xfrm>
            <a:off x="2926080" y="2029967"/>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long single fibre that carries nerve impulses</a:t>
            </a:r>
          </a:p>
        </p:txBody>
      </p:sp>
      <p:sp>
        <p:nvSpPr>
          <p:cNvPr id="16" name="Rounded Rectangle 15"/>
          <p:cNvSpPr/>
          <p:nvPr/>
        </p:nvSpPr>
        <p:spPr>
          <a:xfrm>
            <a:off x="320040" y="2779775"/>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myelin sheath</a:t>
            </a:r>
          </a:p>
        </p:txBody>
      </p:sp>
      <p:sp>
        <p:nvSpPr>
          <p:cNvPr id="17" name="Rounded Rectangle 16"/>
          <p:cNvSpPr/>
          <p:nvPr/>
        </p:nvSpPr>
        <p:spPr>
          <a:xfrm>
            <a:off x="2926080" y="2779775"/>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thick insulating layer around the axon</a:t>
            </a:r>
          </a:p>
        </p:txBody>
      </p:sp>
      <p:sp>
        <p:nvSpPr>
          <p:cNvPr id="18" name="Rounded Rectangle 17"/>
          <p:cNvSpPr/>
          <p:nvPr/>
        </p:nvSpPr>
        <p:spPr>
          <a:xfrm>
            <a:off x="320040" y="3529583"/>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Schwann cell</a:t>
            </a:r>
          </a:p>
        </p:txBody>
      </p:sp>
      <p:sp>
        <p:nvSpPr>
          <p:cNvPr id="19" name="Rounded Rectangle 18"/>
          <p:cNvSpPr/>
          <p:nvPr/>
        </p:nvSpPr>
        <p:spPr>
          <a:xfrm>
            <a:off x="2926080" y="3529583"/>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cell wrapped around the axon, forming the myelin sheath</a:t>
            </a:r>
          </a:p>
        </p:txBody>
      </p:sp>
      <p:sp>
        <p:nvSpPr>
          <p:cNvPr id="20" name="Rounded Rectangle 19"/>
          <p:cNvSpPr/>
          <p:nvPr/>
        </p:nvSpPr>
        <p:spPr>
          <a:xfrm>
            <a:off x="320040" y="4279392"/>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dendrites</a:t>
            </a:r>
          </a:p>
        </p:txBody>
      </p:sp>
      <p:sp>
        <p:nvSpPr>
          <p:cNvPr id="21" name="Rounded Rectangle 20"/>
          <p:cNvSpPr/>
          <p:nvPr/>
        </p:nvSpPr>
        <p:spPr>
          <a:xfrm>
            <a:off x="2926080" y="4279392"/>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highly branched fibres that conduct impulses</a:t>
            </a:r>
          </a:p>
        </p:txBody>
      </p:sp>
      <p:sp>
        <p:nvSpPr>
          <p:cNvPr id="22" name="Rounded Rectangle 21">
            <a:hlinkClick r:id="rId3" action="ppaction://hlinksldjump"/>
          </p:cNvPr>
          <p:cNvSpPr/>
          <p:nvPr/>
        </p:nvSpPr>
        <p:spPr>
          <a:xfrm>
            <a:off x="3200400" y="594360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05840"/>
          </a:xfrm>
          <a:prstGeom prst="rect">
            <a:avLst/>
          </a:prstGeom>
          <a:noFill/>
        </p:spPr>
        <p:txBody>
          <a:bodyPr wrap="square" anchor="t">
            <a:spAutoFit/>
          </a:bodyPr>
          <a:lstStyle/>
          <a:p>
            <a:pPr algn="l">
              <a:spcAft>
                <a:spcPts val="400"/>
              </a:spcAft>
            </a:pPr>
            <a:r>
              <a:rPr sz="2000" b="1" i="0">
                <a:solidFill>
                  <a:srgbClr val="1B3A6B"/>
                </a:solidFill>
                <a:latin typeface="Calibri"/>
              </a:rPr>
              <a:t>Which statement about relay neurones is correct?</a:t>
            </a:r>
          </a:p>
        </p:txBody>
      </p:sp>
      <p:sp>
        <p:nvSpPr>
          <p:cNvPr id="14" name="Rounded Rectangle 13">
            <a:hlinkClick r:id="rId4" action="ppaction://hlinksldjump"/>
          </p:cNvPr>
          <p:cNvSpPr/>
          <p:nvPr/>
        </p:nvSpPr>
        <p:spPr>
          <a:xfrm>
            <a:off x="640080" y="201168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They carry impulses from receptors directly to effectors.</a:t>
            </a:r>
          </a:p>
        </p:txBody>
      </p:sp>
      <p:sp>
        <p:nvSpPr>
          <p:cNvPr id="15" name="Rounded Rectangle 14">
            <a:hlinkClick r:id="rId5" action="ppaction://hlinksldjump"/>
          </p:cNvPr>
          <p:cNvSpPr/>
          <p:nvPr/>
        </p:nvSpPr>
        <p:spPr>
          <a:xfrm>
            <a:off x="640080" y="278892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They are found entirely in the CNS and connect other neurones.</a:t>
            </a:r>
          </a:p>
        </p:txBody>
      </p:sp>
      <p:sp>
        <p:nvSpPr>
          <p:cNvPr id="16" name="Rounded Rectangle 15">
            <a:hlinkClick r:id="rId6" action="ppaction://hlinksldjump"/>
          </p:cNvPr>
          <p:cNvSpPr/>
          <p:nvPr/>
        </p:nvSpPr>
        <p:spPr>
          <a:xfrm>
            <a:off x="640080" y="356616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Their cell bodies always lie in a dorsal root ganglion.</a:t>
            </a:r>
          </a:p>
        </p:txBody>
      </p:sp>
      <p:sp>
        <p:nvSpPr>
          <p:cNvPr id="17" name="Rounded Rectangle 16">
            <a:hlinkClick r:id="rId7" action="ppaction://hlinksldjump"/>
          </p:cNvPr>
          <p:cNvSpPr/>
          <p:nvPr/>
        </p:nvSpPr>
        <p:spPr>
          <a:xfrm>
            <a:off x="640080" y="434340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They are the only myelinated neurones in the nervous system.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Relay (intermediate) neurones lie entirely in the CNS and synapse with sensory and motor neurones, allowing integration.</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a relay neurone is found, and what it connects. Try again.</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a relay neurone is found, and what it connects. Try again.</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a relay neurone is found, and what it connects. Try again.</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97280"/>
          </a:xfrm>
          <a:prstGeom prst="rect">
            <a:avLst/>
          </a:prstGeom>
          <a:noFill/>
        </p:spPr>
        <p:txBody>
          <a:bodyPr wrap="square" anchor="t">
            <a:spAutoFit/>
          </a:bodyPr>
          <a:lstStyle/>
          <a:p>
            <a:pPr algn="l">
              <a:spcAft>
                <a:spcPts val="400"/>
              </a:spcAft>
            </a:pPr>
            <a:r>
              <a:rPr sz="2000" b="1" i="0">
                <a:solidFill>
                  <a:srgbClr val="1B3A6B"/>
                </a:solidFill>
                <a:latin typeface="Calibri"/>
              </a:rPr>
              <a:t>The nodes of Ranvier are:</a:t>
            </a:r>
          </a:p>
        </p:txBody>
      </p:sp>
      <p:sp>
        <p:nvSpPr>
          <p:cNvPr id="14" name="Rounded Rectangle 13">
            <a:hlinkClick r:id="rId3" action="ppaction://hlinksldjump"/>
          </p:cNvPr>
          <p:cNvSpPr/>
          <p:nvPr/>
        </p:nvSpPr>
        <p:spPr>
          <a:xfrm>
            <a:off x="640080" y="210312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 nuclei of Schwann cells</a:t>
            </a:r>
          </a:p>
        </p:txBody>
      </p:sp>
      <p:sp>
        <p:nvSpPr>
          <p:cNvPr id="15" name="Rounded Rectangle 14">
            <a:hlinkClick r:id="rId4" action="ppaction://hlinksldjump"/>
          </p:cNvPr>
          <p:cNvSpPr/>
          <p:nvPr/>
        </p:nvSpPr>
        <p:spPr>
          <a:xfrm>
            <a:off x="640080" y="288036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synapses between sensory and motor neurones</a:t>
            </a:r>
          </a:p>
        </p:txBody>
      </p:sp>
      <p:sp>
        <p:nvSpPr>
          <p:cNvPr id="16" name="Rounded Rectangle 15">
            <a:hlinkClick r:id="rId5" action="ppaction://hlinksldjump"/>
          </p:cNvPr>
          <p:cNvSpPr/>
          <p:nvPr/>
        </p:nvSpPr>
        <p:spPr>
          <a:xfrm>
            <a:off x="640080" y="365760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gaps in the myelin sheath where the axon is exposed</a:t>
            </a:r>
          </a:p>
        </p:txBody>
      </p:sp>
      <p:sp>
        <p:nvSpPr>
          <p:cNvPr id="17" name="Rounded Rectangle 16">
            <a:hlinkClick r:id="rId6" action="ppaction://hlinksldjump"/>
          </p:cNvPr>
          <p:cNvSpPr/>
          <p:nvPr/>
        </p:nvSpPr>
        <p:spPr>
          <a:xfrm>
            <a:off x="640080" y="443484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 cell bodies of sensory neurones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19456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Nodes of Ranvier are unmyelinated gaps. They allow saltatory conduction.</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01168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labelled neurone.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01168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labelled neurone.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01168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labelled neurone.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22960"/>
            <a:ext cx="8412480" cy="411480"/>
          </a:xfrm>
          <a:prstGeom prst="rect">
            <a:avLst/>
          </a:prstGeom>
          <a:noFill/>
        </p:spPr>
        <p:txBody>
          <a:bodyPr wrap="square" anchor="t">
            <a:spAutoFit/>
          </a:bodyPr>
          <a:lstStyle/>
          <a:p>
            <a:pPr algn="ctr">
              <a:spcAft>
                <a:spcPts val="400"/>
              </a:spcAft>
            </a:pPr>
            <a:r>
              <a:rPr sz="2000" b="1" i="0">
                <a:solidFill>
                  <a:srgbClr val="1B3A6B"/>
                </a:solidFill>
                <a:latin typeface="Calibri"/>
              </a:rPr>
              <a:t>Scientists in the real world: the neurologist</a:t>
            </a:r>
          </a:p>
        </p:txBody>
      </p:sp>
      <p:sp>
        <p:nvSpPr>
          <p:cNvPr id="14" name="Rounded Rectangle 13"/>
          <p:cNvSpPr/>
          <p:nvPr/>
        </p:nvSpPr>
        <p:spPr>
          <a:xfrm>
            <a:off x="365760" y="1325880"/>
            <a:ext cx="8412480" cy="15544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original Boardworks activity was a Flash interview with Dr Kevin Talbot, then Reader in Clinical Neurology at Oxford University, with a drop-down question menu. The interview recording cannot be recovered from the flattened export. The questions below keep the same classroom purpose: linking organisation of the nervous system to clinical neurology.</a:t>
            </a:r>
          </a:p>
        </p:txBody>
      </p:sp>
      <p:sp>
        <p:nvSpPr>
          <p:cNvPr id="15" name="Rounded Rectangle 14">
            <a:hlinkClick r:id="rId4" action="ppaction://hlinksldjump"/>
          </p:cNvPr>
          <p:cNvSpPr/>
          <p:nvPr/>
        </p:nvSpPr>
        <p:spPr>
          <a:xfrm>
            <a:off x="1371600" y="306324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What does a neurologist do?</a:t>
            </a:r>
          </a:p>
        </p:txBody>
      </p:sp>
      <p:sp>
        <p:nvSpPr>
          <p:cNvPr id="16" name="Rounded Rectangle 15">
            <a:hlinkClick r:id="rId5" action="ppaction://hlinksldjump"/>
          </p:cNvPr>
          <p:cNvSpPr/>
          <p:nvPr/>
        </p:nvSpPr>
        <p:spPr>
          <a:xfrm>
            <a:off x="1371600" y="365760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How does motor neurone disease relate to this topic?</a:t>
            </a:r>
          </a:p>
        </p:txBody>
      </p:sp>
      <p:sp>
        <p:nvSpPr>
          <p:cNvPr id="17" name="Rounded Rectangle 16">
            <a:hlinkClick r:id="rId6" action="ppaction://hlinksldjump"/>
          </p:cNvPr>
          <p:cNvSpPr/>
          <p:nvPr/>
        </p:nvSpPr>
        <p:spPr>
          <a:xfrm>
            <a:off x="1371600" y="425196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Why does organisation of the nervous system matter in diagnosis?</a:t>
            </a:r>
          </a:p>
        </p:txBody>
      </p:sp>
      <p:sp>
        <p:nvSpPr>
          <p:cNvPr id="18" name="Rounded Rectangle 17">
            <a:hlinkClick r:id="rId7" action="ppaction://hlinksldjump"/>
          </p:cNvPr>
          <p:cNvSpPr/>
          <p:nvPr/>
        </p:nvSpPr>
        <p:spPr>
          <a:xfrm>
            <a:off x="1371600" y="484632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What skills do clinical neurologists use?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A neurologist is a doctor who diagnoses and treats disorders of the brain, spinal cord and peripheral nerves. They use knowledge of how the nervous system is organised to work out where a lesion is – CNS or PNS, sensory or motor, somatic or autonomic.</a:t>
            </a:r>
          </a:p>
        </p:txBody>
      </p:sp>
      <p:sp>
        <p:nvSpPr>
          <p:cNvPr id="12" name="Rounded Rectangle 11">
            <a:hlinkClick r:id="rId3"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Motor neurone disease (MND / ALS) destroys motor neurones in the CNS. Signals no longer reach skeletal muscle, so muscles weaken and waste. Sensory neurones are typically spared, which is why the organisation into sensory, relay and motor pathways is clinically important.</a:t>
            </a:r>
          </a:p>
        </p:txBody>
      </p:sp>
      <p:sp>
        <p:nvSpPr>
          <p:cNvPr id="12" name="Rounded Rectangle 11">
            <a:hlinkClick r:id="rId3"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Symptoms follow the wiring. A problem in a spinal motor neurone affects effectors supplied by that segment. A brain lesion may affect many pathways. Distinguishing upper from lower motor neurone signs, and CNS from PNS, depends on this map of organisation.</a:t>
            </a:r>
          </a:p>
        </p:txBody>
      </p:sp>
      <p:sp>
        <p:nvSpPr>
          <p:cNvPr id="12" name="Rounded Rectangle 11">
            <a:hlinkClick r:id="rId3"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History taking, neurological examination (tone, power, reflexes, sensation, coordination), and linking signs to named pathways. Research neurologists also study how neurones live, die and might be protected – building on the cell biology of the neurone you have just labelled.</a:t>
            </a:r>
          </a:p>
        </p:txBody>
      </p:sp>
      <p:sp>
        <p:nvSpPr>
          <p:cNvPr id="12" name="Rounded Rectangle 11">
            <a:hlinkClick r:id="rId3"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365760"/>
          </a:xfrm>
          <a:prstGeom prst="rect">
            <a:avLst/>
          </a:prstGeom>
          <a:noFill/>
        </p:spPr>
        <p:txBody>
          <a:bodyPr wrap="square" anchor="t">
            <a:spAutoFit/>
          </a:bodyPr>
          <a:lstStyle/>
          <a:p>
            <a:pPr algn="l">
              <a:spcAft>
                <a:spcPts val="400"/>
              </a:spcAft>
            </a:pPr>
            <a:r>
              <a:rPr sz="1800" b="1" i="0">
                <a:solidFill>
                  <a:srgbClr val="1B3A6B"/>
                </a:solidFill>
                <a:latin typeface="Calibri"/>
              </a:rPr>
              <a:t>True or false? Click a statement, then decide.</a:t>
            </a:r>
          </a:p>
        </p:txBody>
      </p:sp>
      <p:sp>
        <p:nvSpPr>
          <p:cNvPr id="14" name="Rounded Rectangle 13">
            <a:hlinkClick r:id="rId3" action="ppaction://hlinksldjump"/>
          </p:cNvPr>
          <p:cNvSpPr/>
          <p:nvPr/>
        </p:nvSpPr>
        <p:spPr>
          <a:xfrm>
            <a:off x="502920" y="137160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Sensory neurones carry impulses from the CNS to effectors.</a:t>
            </a:r>
          </a:p>
        </p:txBody>
      </p:sp>
      <p:sp>
        <p:nvSpPr>
          <p:cNvPr id="15" name="Rounded Rectangle 14">
            <a:hlinkClick r:id="rId4" action="ppaction://hlinksldjump"/>
          </p:cNvPr>
          <p:cNvSpPr/>
          <p:nvPr/>
        </p:nvSpPr>
        <p:spPr>
          <a:xfrm>
            <a:off x="502920" y="214884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The sympathetic and parasympathetic systems are both autonomic.</a:t>
            </a:r>
          </a:p>
        </p:txBody>
      </p:sp>
      <p:sp>
        <p:nvSpPr>
          <p:cNvPr id="16" name="Rounded Rectangle 15">
            <a:hlinkClick r:id="rId5" action="ppaction://hlinksldjump"/>
          </p:cNvPr>
          <p:cNvSpPr/>
          <p:nvPr/>
        </p:nvSpPr>
        <p:spPr>
          <a:xfrm>
            <a:off x="502920" y="292608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Myelin is produced by Schwann cells in the PNS.</a:t>
            </a:r>
          </a:p>
        </p:txBody>
      </p:sp>
      <p:sp>
        <p:nvSpPr>
          <p:cNvPr id="17" name="Rounded Rectangle 16">
            <a:hlinkClick r:id="rId6" action="ppaction://hlinksldjump"/>
          </p:cNvPr>
          <p:cNvSpPr/>
          <p:nvPr/>
        </p:nvSpPr>
        <p:spPr>
          <a:xfrm>
            <a:off x="502920" y="370332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Relay neurones have their cell bodies in the dorsal root ganglion.</a:t>
            </a:r>
          </a:p>
        </p:txBody>
      </p:sp>
      <p:sp>
        <p:nvSpPr>
          <p:cNvPr id="18" name="Rounded Rectangle 17">
            <a:hlinkClick r:id="rId7" action="ppaction://hlinksldjump"/>
          </p:cNvPr>
          <p:cNvSpPr/>
          <p:nvPr/>
        </p:nvSpPr>
        <p:spPr>
          <a:xfrm>
            <a:off x="3017520" y="4754880"/>
            <a:ext cx="3108960" cy="41148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Show all answers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554480"/>
            <a:ext cx="7680960" cy="256032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False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Sensory neurones carry impulses from receptors to the CNS. Motor neurones run from the CNS to effectors.</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554480"/>
            <a:ext cx="768096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True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Both are divisions of the autonomic (involuntary) nervous system and usually act antagonistically.</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554480"/>
            <a:ext cx="768096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True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In the PNS, Schwann cells wrap the axon. In the CNS the equivalent cells are oligodendrocytes.</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554480"/>
            <a:ext cx="7680960" cy="256032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False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Dorsal root ganglia contain sensory neurone cell bodies. Relay neurone cell bodies are in the CNS.</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Plenary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1005840"/>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False.  Sensory neurones carry impulses from the CNS to effectors.  Sensory neurones carry impulses from receptors to the CNS. Motor neurones run from the CNS to effectors.</a:t>
            </a:r>
          </a:p>
        </p:txBody>
      </p:sp>
      <p:sp>
        <p:nvSpPr>
          <p:cNvPr id="12" name="TextBox 11"/>
          <p:cNvSpPr txBox="1"/>
          <p:nvPr/>
        </p:nvSpPr>
        <p:spPr>
          <a:xfrm>
            <a:off x="365760" y="1920240"/>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True.  The sympathetic and parasympathetic systems are both autonomic.  Both are divisions of the autonomic (involuntary) nervous system and usually act antagonistically.</a:t>
            </a:r>
          </a:p>
        </p:txBody>
      </p:sp>
      <p:sp>
        <p:nvSpPr>
          <p:cNvPr id="13" name="TextBox 12"/>
          <p:cNvSpPr txBox="1"/>
          <p:nvPr/>
        </p:nvSpPr>
        <p:spPr>
          <a:xfrm>
            <a:off x="365760" y="2834640"/>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True.  Myelin is produced by Schwann cells in the PNS.  In the PNS, Schwann cells wrap the axon. In the CNS the equivalent cells are oligodendrocytes.</a:t>
            </a:r>
          </a:p>
        </p:txBody>
      </p:sp>
      <p:sp>
        <p:nvSpPr>
          <p:cNvPr id="14" name="TextBox 13"/>
          <p:cNvSpPr txBox="1"/>
          <p:nvPr/>
        </p:nvSpPr>
        <p:spPr>
          <a:xfrm>
            <a:off x="365760" y="3749039"/>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False.  Relay neurones have their cell bodies in the dorsal root ganglion.  Dorsal root ganglia contain sensory neurone cell bodies. Relay neurone cell bodies are in the CNS.</a:t>
            </a:r>
          </a:p>
        </p:txBody>
      </p:sp>
      <p:sp>
        <p:nvSpPr>
          <p:cNvPr id="15" name="Rounded Rectangle 14">
            <a:hlinkClick r:id="rId3" action="ppaction://hlinksldjump"/>
          </p:cNvPr>
          <p:cNvSpPr/>
          <p:nvPr/>
        </p:nvSpPr>
        <p:spPr>
          <a:xfrm>
            <a:off x="3200400" y="576072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End of Part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20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457200" y="1645920"/>
            <a:ext cx="8229600" cy="1097280"/>
          </a:xfrm>
          <a:prstGeom prst="rect">
            <a:avLst/>
          </a:prstGeom>
          <a:noFill/>
        </p:spPr>
        <p:txBody>
          <a:bodyPr wrap="square" anchor="t">
            <a:spAutoFit/>
          </a:bodyPr>
          <a:lstStyle/>
          <a:p>
            <a:pPr algn="ctr">
              <a:spcAft>
                <a:spcPts val="400"/>
              </a:spcAft>
            </a:pPr>
            <a:r>
              <a:rPr sz="2600" b="1" i="0">
                <a:solidFill>
                  <a:srgbClr val="2E9E4F"/>
                </a:solidFill>
                <a:latin typeface="Calibri"/>
              </a:rPr>
              <a:t>Next: Part 2 – The nerve impulse</a:t>
            </a:r>
          </a:p>
        </p:txBody>
      </p:sp>
      <p:sp>
        <p:nvSpPr>
          <p:cNvPr id="14" name="TextBox 13"/>
          <p:cNvSpPr txBox="1"/>
          <p:nvPr/>
        </p:nvSpPr>
        <p:spPr>
          <a:xfrm>
            <a:off x="731520" y="2834640"/>
            <a:ext cx="7680960" cy="1463040"/>
          </a:xfrm>
          <a:prstGeom prst="rect">
            <a:avLst/>
          </a:prstGeom>
          <a:noFill/>
        </p:spPr>
        <p:txBody>
          <a:bodyPr wrap="square" anchor="t">
            <a:spAutoFit/>
          </a:bodyPr>
          <a:lstStyle/>
          <a:p>
            <a:pPr algn="ctr">
              <a:spcAft>
                <a:spcPts val="400"/>
              </a:spcAft>
            </a:pPr>
            <a:r>
              <a:rPr sz="1600" b="0" i="0">
                <a:solidFill>
                  <a:srgbClr val="1B3A6B"/>
                </a:solidFill>
                <a:latin typeface="Calibri"/>
              </a:rPr>
              <a:t>You can replay any activity from the Contents slide. Reset always returns an activity to its first screen so it can be used again with another group or a second pass.</a:t>
            </a:r>
          </a:p>
        </p:txBody>
      </p:sp>
      <p:sp>
        <p:nvSpPr>
          <p:cNvPr id="15" name="Rounded Rectangle 14">
            <a:hlinkClick r:id="rId3" action="ppaction://hlinksldjump"/>
          </p:cNvPr>
          <p:cNvSpPr/>
          <p:nvPr/>
        </p:nvSpPr>
        <p:spPr>
          <a:xfrm>
            <a:off x="3017520" y="457200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
        <p:nvSpPr>
          <p:cNvPr id="16" name="Rounded Rectangle 15">
            <a:hlinkClick r:id="rId4" action="ppaction://hlinksldjump"/>
          </p:cNvPr>
          <p:cNvSpPr/>
          <p:nvPr/>
        </p:nvSpPr>
        <p:spPr>
          <a:xfrm>
            <a:off x="3017520" y="5166360"/>
            <a:ext cx="310896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Next: The nerve impulse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2: The nerve impulse</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5"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a:hlinkClick r:id="rId4" action="ppaction://hlinksldjump"/>
          </p:cNvPr>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3" name="Rounded Rectangle 12">
            <a:hlinkClick r:id="rId2" action="ppaction://hlinksldjump"/>
          </p:cNvPr>
          <p:cNvSpPr/>
          <p:nvPr/>
        </p:nvSpPr>
        <p:spPr>
          <a:xfrm>
            <a:off x="201168" y="256032"/>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4" name="Picture 13" descr="title_retina.png"/>
          <p:cNvPicPr>
            <a:picLocks noChangeAspect="1"/>
          </p:cNvPicPr>
          <p:nvPr/>
        </p:nvPicPr>
        <p:blipFill>
          <a:blip r:embed="rId3"/>
          <a:stretch>
            <a:fillRect/>
          </a:stretch>
        </p:blipFill>
        <p:spPr>
          <a:xfrm>
            <a:off x="2468880" y="1874519"/>
            <a:ext cx="4046726" cy="361188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a:hlinkClick r:id="rId3" action="ppaction://hlinksldjump"/>
          </p:cNvPr>
          <p:cNvSpPr/>
          <p:nvPr/>
        </p:nvSpPr>
        <p:spPr>
          <a:xfrm>
            <a:off x="1371600" y="868680"/>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1.  what is a nerve impulse?</a:t>
            </a:r>
          </a:p>
        </p:txBody>
      </p:sp>
      <p:sp>
        <p:nvSpPr>
          <p:cNvPr id="14" name="Rounded Rectangle 13">
            <a:hlinkClick r:id="rId4" action="ppaction://hlinksldjump"/>
          </p:cNvPr>
          <p:cNvSpPr/>
          <p:nvPr/>
        </p:nvSpPr>
        <p:spPr>
          <a:xfrm>
            <a:off x="1371600" y="1371600"/>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2.  resting potential animation</a:t>
            </a:r>
          </a:p>
        </p:txBody>
      </p:sp>
      <p:sp>
        <p:nvSpPr>
          <p:cNvPr id="15" name="Rounded Rectangle 14">
            <a:hlinkClick r:id="rId5" action="ppaction://hlinksldjump"/>
          </p:cNvPr>
          <p:cNvSpPr/>
          <p:nvPr/>
        </p:nvSpPr>
        <p:spPr>
          <a:xfrm>
            <a:off x="1371600" y="187451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3.  resting potential questions</a:t>
            </a:r>
          </a:p>
        </p:txBody>
      </p:sp>
      <p:sp>
        <p:nvSpPr>
          <p:cNvPr id="16" name="Rounded Rectangle 15">
            <a:hlinkClick r:id="rId6" action="ppaction://hlinksldjump"/>
          </p:cNvPr>
          <p:cNvSpPr/>
          <p:nvPr/>
        </p:nvSpPr>
        <p:spPr>
          <a:xfrm>
            <a:off x="1371600" y="237743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4.  action potential animation</a:t>
            </a:r>
          </a:p>
        </p:txBody>
      </p:sp>
      <p:sp>
        <p:nvSpPr>
          <p:cNvPr id="17" name="Rounded Rectangle 16">
            <a:hlinkClick r:id="rId7" action="ppaction://hlinksldjump"/>
          </p:cNvPr>
          <p:cNvSpPr/>
          <p:nvPr/>
        </p:nvSpPr>
        <p:spPr>
          <a:xfrm>
            <a:off x="1371600" y="288035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5.  ion channels table</a:t>
            </a:r>
          </a:p>
        </p:txBody>
      </p:sp>
      <p:sp>
        <p:nvSpPr>
          <p:cNvPr id="18" name="Rounded Rectangle 17">
            <a:hlinkClick r:id="rId8" action="ppaction://hlinksldjump"/>
          </p:cNvPr>
          <p:cNvSpPr/>
          <p:nvPr/>
        </p:nvSpPr>
        <p:spPr>
          <a:xfrm>
            <a:off x="1371600" y="338327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6.  action potential graph</a:t>
            </a:r>
          </a:p>
        </p:txBody>
      </p:sp>
      <p:sp>
        <p:nvSpPr>
          <p:cNvPr id="19" name="Rounded Rectangle 18">
            <a:hlinkClick r:id="rId9" action="ppaction://hlinksldjump"/>
          </p:cNvPr>
          <p:cNvSpPr/>
          <p:nvPr/>
        </p:nvSpPr>
        <p:spPr>
          <a:xfrm>
            <a:off x="1371600" y="388619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7.  all-or-nothing and stimulus strength</a:t>
            </a:r>
          </a:p>
        </p:txBody>
      </p:sp>
      <p:sp>
        <p:nvSpPr>
          <p:cNvPr id="20" name="Rounded Rectangle 19">
            <a:hlinkClick r:id="rId10" action="ppaction://hlinksldjump"/>
          </p:cNvPr>
          <p:cNvSpPr/>
          <p:nvPr/>
        </p:nvSpPr>
        <p:spPr>
          <a:xfrm>
            <a:off x="1371600" y="438911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8.  refractory period</a:t>
            </a:r>
          </a:p>
        </p:txBody>
      </p:sp>
      <p:sp>
        <p:nvSpPr>
          <p:cNvPr id="21" name="Rounded Rectangle 20">
            <a:hlinkClick r:id="rId11" action="ppaction://hlinksldjump"/>
          </p:cNvPr>
          <p:cNvSpPr/>
          <p:nvPr/>
        </p:nvSpPr>
        <p:spPr>
          <a:xfrm>
            <a:off x="1371600" y="4892039"/>
            <a:ext cx="64008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9.  saltatory conduction</a:t>
            </a:r>
          </a:p>
        </p:txBody>
      </p:sp>
      <p:sp>
        <p:nvSpPr>
          <p:cNvPr id="22" name="Rounded Rectangle 21">
            <a:hlinkClick r:id="rId12" action="ppaction://hlinksldjump"/>
          </p:cNvPr>
          <p:cNvSpPr/>
          <p:nvPr/>
        </p:nvSpPr>
        <p:spPr>
          <a:xfrm>
            <a:off x="1371600" y="5394959"/>
            <a:ext cx="640080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10.  true or false plenary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is a nerve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20040" y="868680"/>
            <a:ext cx="4937760" cy="4846320"/>
          </a:xfrm>
          <a:prstGeom prst="rect">
            <a:avLst/>
          </a:prstGeom>
          <a:noFill/>
        </p:spPr>
        <p:txBody>
          <a:bodyPr wrap="square" anchor="t">
            <a:spAutoFit/>
          </a:bodyPr>
          <a:lstStyle/>
          <a:p>
            <a:pPr algn="l"/>
            <a:r>
              <a:rPr sz="1600" b="0" i="0">
                <a:solidFill>
                  <a:srgbClr val="1A2F5A"/>
                </a:solidFill>
                <a:latin typeface="Calibri"/>
              </a:rPr>
              <a:t>All cells have a difference in electrical charge across the plasma membrane. This is called the </a:t>
            </a:r>
            <a:r>
              <a:rPr sz="1600" b="1" i="0">
                <a:solidFill>
                  <a:srgbClr val="2E9E4F"/>
                </a:solidFill>
                <a:latin typeface="Calibri"/>
              </a:rPr>
              <a:t>potential difference (p.d.)</a:t>
            </a:r>
            <a:r>
              <a:rPr sz="1600" b="0" i="0">
                <a:solidFill>
                  <a:srgbClr val="1A2F5A"/>
                </a:solidFill>
                <a:latin typeface="Calibri"/>
              </a:rPr>
              <a:t>. It is measured in millivolts (mV).</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
            </a:r>
            <a:r>
              <a:rPr sz="1600" b="0" i="0">
                <a:solidFill>
                  <a:srgbClr val="1A2F5A"/>
                </a:solidFill>
                <a:latin typeface="Calibri"/>
              </a:rPr>
              <a:t>The normal, resting state of an axon is called the </a:t>
            </a:r>
            <a:r>
              <a:rPr sz="1600" b="1" i="0">
                <a:solidFill>
                  <a:srgbClr val="2E9E4F"/>
                </a:solidFill>
                <a:latin typeface="Calibri"/>
              </a:rPr>
              <a:t>resting potential</a:t>
            </a:r>
            <a:r>
              <a:rPr sz="1600" b="0" i="0">
                <a:solidFill>
                  <a:srgbClr val="1A2F5A"/>
                </a:solidFill>
                <a:latin typeface="Calibri"/>
              </a:rPr>
              <a:t>. In this state the p.d. across the axon is </a:t>
            </a:r>
            <a:r>
              <a:rPr sz="1600" b="1" i="0">
                <a:solidFill>
                  <a:srgbClr val="1B3A6B"/>
                </a:solidFill>
                <a:latin typeface="Calibri"/>
              </a:rPr>
              <a:t>–70 mV</a:t>
            </a:r>
            <a:r>
              <a:rPr sz="1600" b="0" i="0">
                <a:solidFill>
                  <a:srgbClr val="1A2F5A"/>
                </a:solidFill>
                <a:latin typeface="Calibri"/>
              </a:rPr>
              <a:t>. The membrane is said to be </a:t>
            </a:r>
            <a:r>
              <a:rPr sz="1600" b="1" i="0">
                <a:solidFill>
                  <a:srgbClr val="2E9E4F"/>
                </a:solidFill>
                <a:latin typeface="Calibri"/>
              </a:rPr>
              <a:t>polarized</a:t>
            </a:r>
            <a:r>
              <a:rPr sz="1600" b="0" i="0">
                <a:solidFill>
                  <a:srgbClr val="1A2F5A"/>
                </a:solidFill>
                <a:latin typeface="Calibri"/>
              </a:rPr>
              <a:t>.</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A nerve impulse, or </a:t>
            </a:r>
            <a:r>
              <a:rPr sz="1600" b="1" i="0">
                <a:solidFill>
                  <a:srgbClr val="2E9E4F"/>
                </a:solidFill>
                <a:latin typeface="Calibri"/>
              </a:rPr>
              <a:t>action potential</a:t>
            </a:r>
            <a:r>
              <a:rPr sz="1600" b="0" i="0">
                <a:solidFill>
                  <a:srgbClr val="1A2F5A"/>
                </a:solidFill>
                <a:latin typeface="Calibri"/>
              </a:rPr>
              <a:t>, occurs when the p.d. across an axon is temporarily reversed. The p.d. changes to around </a:t>
            </a:r>
            <a:r>
              <a:rPr sz="1600" b="1" i="0">
                <a:solidFill>
                  <a:srgbClr val="1B3A6B"/>
                </a:solidFill>
                <a:latin typeface="Calibri"/>
              </a:rPr>
              <a:t>+35 mV</a:t>
            </a:r>
            <a:r>
              <a:rPr sz="1600" b="0" i="0">
                <a:solidFill>
                  <a:srgbClr val="1A2F5A"/>
                </a:solidFill>
                <a:latin typeface="Calibri"/>
              </a:rPr>
              <a:t>. The membrane is said to be </a:t>
            </a:r>
            <a:r>
              <a:rPr sz="1600" b="1" i="0">
                <a:solidFill>
                  <a:srgbClr val="2E9E4F"/>
                </a:solidFill>
                <a:latin typeface="Calibri"/>
              </a:rPr>
              <a:t>depolarized</a:t>
            </a:r>
            <a:r>
              <a:rPr sz="1600" b="0" i="0">
                <a:solidFill>
                  <a:srgbClr val="1A2F5A"/>
                </a:solidFill>
                <a:latin typeface="Calibri"/>
              </a:rPr>
              <a:t>.</a:t>
            </a:r>
          </a:p>
        </p:txBody>
      </p:sp>
      <p:pic>
        <p:nvPicPr>
          <p:cNvPr id="14" name="Picture 13" descr="axon_electrodes.png"/>
          <p:cNvPicPr>
            <a:picLocks noChangeAspect="1"/>
          </p:cNvPicPr>
          <p:nvPr/>
        </p:nvPicPr>
        <p:blipFill>
          <a:blip r:embed="rId3"/>
          <a:stretch>
            <a:fillRect/>
          </a:stretch>
        </p:blipFill>
        <p:spPr>
          <a:xfrm>
            <a:off x="5120640" y="1188720"/>
            <a:ext cx="3749039" cy="192796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Charge difference</a:t>
            </a:r>
          </a:p>
        </p:txBody>
      </p:sp>
      <p:pic>
        <p:nvPicPr>
          <p:cNvPr id="15" name="Picture 14" descr="resting_charges.png"/>
          <p:cNvPicPr>
            <a:picLocks noChangeAspect="1"/>
          </p:cNvPicPr>
          <p:nvPr/>
        </p:nvPicPr>
        <p:blipFill>
          <a:blip r:embed="rId3"/>
          <a:stretch>
            <a:fillRect/>
          </a:stretch>
        </p:blipFill>
        <p:spPr>
          <a:xfrm>
            <a:off x="274320" y="1170432"/>
            <a:ext cx="5029200" cy="262816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An axon is at resting potential when no impulse is present. The inside is negative compared with the outside (about –70 mV). Click Next step to see how this state is maintained.</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Sodium–potassium pump</a:t>
            </a:r>
          </a:p>
        </p:txBody>
      </p:sp>
      <p:pic>
        <p:nvPicPr>
          <p:cNvPr id="15" name="Picture 14" descr="membrane_rest.png"/>
          <p:cNvPicPr>
            <a:picLocks noChangeAspect="1"/>
          </p:cNvPicPr>
          <p:nvPr/>
        </p:nvPicPr>
        <p:blipFill>
          <a:blip r:embed="rId3"/>
          <a:stretch>
            <a:fillRect/>
          </a:stretch>
        </p:blipFill>
        <p:spPr>
          <a:xfrm>
            <a:off x="274320" y="1170432"/>
            <a:ext cx="5029200" cy="272503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Na⁺/K⁺ pump uses ATP to move 3 Na⁺ out for every 2 K⁺ in. This is active transport. The unequal exchange makes the inside more negative.</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Membrane permeability</a:t>
            </a:r>
          </a:p>
        </p:txBody>
      </p:sp>
      <p:pic>
        <p:nvPicPr>
          <p:cNvPr id="15" name="Picture 14" descr="membrane_rest.png"/>
          <p:cNvPicPr>
            <a:picLocks noChangeAspect="1"/>
          </p:cNvPicPr>
          <p:nvPr/>
        </p:nvPicPr>
        <p:blipFill>
          <a:blip r:embed="rId3"/>
          <a:stretch>
            <a:fillRect/>
          </a:stretch>
        </p:blipFill>
        <p:spPr>
          <a:xfrm>
            <a:off x="274320" y="1170432"/>
            <a:ext cx="5029200" cy="272503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resting membrane is much more permeable to K⁺ than to Na⁺ because of open potassium leak channels. K⁺ diffuses out, leaving behind negatively charged organic ions (proteins) that cannot leave.</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the resting state?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Putting it together</a:t>
            </a:r>
          </a:p>
        </p:txBody>
      </p:sp>
      <p:pic>
        <p:nvPicPr>
          <p:cNvPr id="15" name="Picture 14" descr="resting_charges.png"/>
          <p:cNvPicPr>
            <a:picLocks noChangeAspect="1"/>
          </p:cNvPicPr>
          <p:nvPr/>
        </p:nvPicPr>
        <p:blipFill>
          <a:blip r:embed="rId3"/>
          <a:stretch>
            <a:fillRect/>
          </a:stretch>
        </p:blipFill>
        <p:spPr>
          <a:xfrm>
            <a:off x="274320" y="1170432"/>
            <a:ext cx="5029200" cy="262816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Pump (3 Na⁺ out, 2 K⁺ in) + K⁺ leak + trapped organic anions = polarised membrane at about –70 mV. Voltage-gated Na⁺ and K⁺ channels are closed.</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0"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1"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20040" y="822960"/>
            <a:ext cx="8503920" cy="365760"/>
          </a:xfrm>
          <a:prstGeom prst="rect">
            <a:avLst/>
          </a:prstGeom>
          <a:noFill/>
        </p:spPr>
        <p:txBody>
          <a:bodyPr wrap="square" anchor="t">
            <a:spAutoFit/>
          </a:bodyPr>
          <a:lstStyle/>
          <a:p>
            <a:pPr algn="l">
              <a:spcAft>
                <a:spcPts val="400"/>
              </a:spcAft>
            </a:pPr>
            <a:r>
              <a:rPr sz="1600" b="0" i="0">
                <a:solidFill>
                  <a:srgbClr val="1B3A6B"/>
                </a:solidFill>
                <a:latin typeface="Calibri"/>
              </a:rPr>
              <a:t>What happens during resting potential? Choose the correct ending for each sentence.</a:t>
            </a:r>
          </a:p>
        </p:txBody>
      </p:sp>
      <p:sp>
        <p:nvSpPr>
          <p:cNvPr id="14" name="Rounded Rectangle 13">
            <a:hlinkClick r:id="rId4" action="ppaction://hlinksldjump"/>
          </p:cNvPr>
          <p:cNvSpPr/>
          <p:nvPr/>
        </p:nvSpPr>
        <p:spPr>
          <a:xfrm>
            <a:off x="502920" y="132588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potential difference across the axon is  …</a:t>
            </a:r>
          </a:p>
        </p:txBody>
      </p:sp>
      <p:sp>
        <p:nvSpPr>
          <p:cNvPr id="15" name="Rounded Rectangle 14">
            <a:hlinkClick r:id="rId5" action="ppaction://hlinksldjump"/>
          </p:cNvPr>
          <p:cNvSpPr/>
          <p:nvPr/>
        </p:nvSpPr>
        <p:spPr>
          <a:xfrm>
            <a:off x="502920" y="210312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During this state the axon is  …</a:t>
            </a:r>
          </a:p>
        </p:txBody>
      </p:sp>
      <p:sp>
        <p:nvSpPr>
          <p:cNvPr id="16" name="Rounded Rectangle 15">
            <a:hlinkClick r:id="rId6" action="ppaction://hlinksldjump"/>
          </p:cNvPr>
          <p:cNvSpPr/>
          <p:nvPr/>
        </p:nvSpPr>
        <p:spPr>
          <a:xfrm>
            <a:off x="502920" y="288036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inside of the axon is  …</a:t>
            </a:r>
          </a:p>
        </p:txBody>
      </p:sp>
      <p:sp>
        <p:nvSpPr>
          <p:cNvPr id="17" name="Rounded Rectangle 16">
            <a:hlinkClick r:id="rId7" action="ppaction://hlinksldjump"/>
          </p:cNvPr>
          <p:cNvSpPr/>
          <p:nvPr/>
        </p:nvSpPr>
        <p:spPr>
          <a:xfrm>
            <a:off x="502920" y="365760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sodium–potassium pump moves  …</a:t>
            </a:r>
          </a:p>
        </p:txBody>
      </p:sp>
      <p:sp>
        <p:nvSpPr>
          <p:cNvPr id="18" name="Rounded Rectangle 17">
            <a:hlinkClick r:id="rId8" action="ppaction://hlinksldjump"/>
          </p:cNvPr>
          <p:cNvSpPr/>
          <p:nvPr/>
        </p:nvSpPr>
        <p:spPr>
          <a:xfrm>
            <a:off x="502920" y="4434840"/>
            <a:ext cx="813816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The axon membrane is more permeable to  …</a:t>
            </a:r>
          </a:p>
        </p:txBody>
      </p:sp>
      <p:sp>
        <p:nvSpPr>
          <p:cNvPr id="19" name="Rounded Rectangle 18">
            <a:hlinkClick r:id="rId9" action="ppaction://hlinksldjump"/>
          </p:cNvPr>
          <p:cNvSpPr/>
          <p:nvPr/>
        </p:nvSpPr>
        <p:spPr>
          <a:xfrm>
            <a:off x="3108960" y="5486400"/>
            <a:ext cx="2926080" cy="38404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Show all answers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potential difference across the axon is …</a:t>
            </a:r>
          </a:p>
        </p:txBody>
      </p:sp>
      <p:sp>
        <p:nvSpPr>
          <p:cNvPr id="12" name="Rounded Rectangle 11">
            <a:hlinkClick r:id="rId3"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-70 mV</a:t>
            </a:r>
          </a:p>
        </p:txBody>
      </p:sp>
      <p:sp>
        <p:nvSpPr>
          <p:cNvPr id="13" name="Rounded Rectangle 12">
            <a:hlinkClick r:id="rId4"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0 mV</a:t>
            </a:r>
          </a:p>
        </p:txBody>
      </p:sp>
      <p:sp>
        <p:nvSpPr>
          <p:cNvPr id="14" name="Rounded Rectangle 13">
            <a:hlinkClick r:id="rId5"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+35 mV</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During this state the axon is …</a:t>
            </a:r>
          </a:p>
        </p:txBody>
      </p:sp>
      <p:sp>
        <p:nvSpPr>
          <p:cNvPr id="12" name="Rounded Rectangle 11">
            <a:hlinkClick r:id="rId3"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polarised</a:t>
            </a:r>
          </a:p>
        </p:txBody>
      </p:sp>
      <p:sp>
        <p:nvSpPr>
          <p:cNvPr id="13" name="Rounded Rectangle 12">
            <a:hlinkClick r:id="rId4"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depolarised</a:t>
            </a:r>
          </a:p>
        </p:txBody>
      </p:sp>
      <p:sp>
        <p:nvSpPr>
          <p:cNvPr id="14" name="Rounded Rectangle 13">
            <a:hlinkClick r:id="rId5"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at threshold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inside of the axon is …</a:t>
            </a:r>
          </a:p>
        </p:txBody>
      </p:sp>
      <p:sp>
        <p:nvSpPr>
          <p:cNvPr id="12" name="Rounded Rectangle 11">
            <a:hlinkClick r:id="rId3"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negative compared with the outside</a:t>
            </a:r>
          </a:p>
        </p:txBody>
      </p:sp>
      <p:sp>
        <p:nvSpPr>
          <p:cNvPr id="13" name="Rounded Rectangle 12">
            <a:hlinkClick r:id="rId4"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positive compared with the outside</a:t>
            </a:r>
          </a:p>
        </p:txBody>
      </p:sp>
      <p:sp>
        <p:nvSpPr>
          <p:cNvPr id="14" name="Rounded Rectangle 13">
            <a:hlinkClick r:id="rId5"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at the same charge as the outside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sodium–potassium pump moves …</a:t>
            </a:r>
          </a:p>
        </p:txBody>
      </p:sp>
      <p:sp>
        <p:nvSpPr>
          <p:cNvPr id="12" name="Rounded Rectangle 11">
            <a:hlinkClick r:id="rId3"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an unequal number of ions (3 Na⁺ out, 2 K⁺ in)</a:t>
            </a:r>
          </a:p>
        </p:txBody>
      </p:sp>
      <p:sp>
        <p:nvSpPr>
          <p:cNvPr id="13" name="Rounded Rectangle 12">
            <a:hlinkClick r:id="rId4"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equal numbers of Na⁺ and K⁺</a:t>
            </a:r>
          </a:p>
        </p:txBody>
      </p:sp>
      <p:sp>
        <p:nvSpPr>
          <p:cNvPr id="14" name="Rounded Rectangle 13">
            <a:hlinkClick r:id="rId5"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only sodium ions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05840"/>
            <a:ext cx="8229600" cy="640080"/>
          </a:xfrm>
          <a:prstGeom prst="rect">
            <a:avLst/>
          </a:prstGeom>
          <a:noFill/>
        </p:spPr>
        <p:txBody>
          <a:bodyPr wrap="square" anchor="t">
            <a:spAutoFit/>
          </a:bodyPr>
          <a:lstStyle/>
          <a:p>
            <a:pPr algn="ctr">
              <a:spcAft>
                <a:spcPts val="400"/>
              </a:spcAft>
            </a:pPr>
            <a:r>
              <a:rPr sz="1800" b="1" i="0">
                <a:solidFill>
                  <a:srgbClr val="1B3A6B"/>
                </a:solidFill>
                <a:latin typeface="Calibri"/>
              </a:rPr>
              <a:t>The axon membrane is more permeable to …</a:t>
            </a:r>
          </a:p>
        </p:txBody>
      </p:sp>
      <p:sp>
        <p:nvSpPr>
          <p:cNvPr id="12" name="Rounded Rectangle 11">
            <a:hlinkClick r:id="rId3" action="ppaction://hlinksldjump"/>
          </p:cNvPr>
          <p:cNvSpPr/>
          <p:nvPr/>
        </p:nvSpPr>
        <p:spPr>
          <a:xfrm>
            <a:off x="1188720" y="182880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potassium ions than sodium ions</a:t>
            </a:r>
          </a:p>
        </p:txBody>
      </p:sp>
      <p:sp>
        <p:nvSpPr>
          <p:cNvPr id="13" name="Rounded Rectangle 12">
            <a:hlinkClick r:id="rId4" action="ppaction://hlinksldjump"/>
          </p:cNvPr>
          <p:cNvSpPr/>
          <p:nvPr/>
        </p:nvSpPr>
        <p:spPr>
          <a:xfrm>
            <a:off x="1188720" y="260604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sodium ions than potassium ions</a:t>
            </a:r>
          </a:p>
        </p:txBody>
      </p:sp>
      <p:sp>
        <p:nvSpPr>
          <p:cNvPr id="14" name="Rounded Rectangle 13">
            <a:hlinkClick r:id="rId5" action="ppaction://hlinksldjump"/>
          </p:cNvPr>
          <p:cNvSpPr/>
          <p:nvPr/>
        </p:nvSpPr>
        <p:spPr>
          <a:xfrm>
            <a:off x="1188720" y="3383280"/>
            <a:ext cx="676656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calcium ions than potassium ions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Resting potential is about –70 mV (some texts use –65 to –70 mV).</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The membrane has a charge difference, so it is polarised.</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Organic anions and net ion movement keep the inside negative.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The 3:2 ratio helps generate the resting potential.</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K⁺ leak channels are open at rest; voltage-gated Na⁺ channels are closed.</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Understanding resting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194560"/>
          </a:xfrm>
          <a:prstGeom prst="roundRect">
            <a:avLst>
              <a:gd name="adj" fmla="val 15000"/>
            </a:avLst>
          </a:prstGeom>
          <a:solidFill>
            <a:srgbClr val="FFEBEE"/>
          </a:solidFill>
          <a:ln w="15875">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resting-potential animation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Resting potential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188720"/>
            <a:ext cx="7863840" cy="347472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Answer key</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 p.d. = –70 mV</a:t>
            </a:r>
          </a:p>
          <a:p>
            <a:pPr algn="l">
              <a:spcAft>
                <a:spcPts val="200"/>
              </a:spcAft>
            </a:pPr>
            <a:r>
              <a:rPr sz="1800" b="0" i="0">
                <a:solidFill>
                  <a:srgbClr val="1A2F5A"/>
                </a:solidFill>
                <a:latin typeface="Calibri"/>
              </a:rPr>
              <a:t>• the axon is polarised</a:t>
            </a:r>
          </a:p>
          <a:p>
            <a:pPr algn="l">
              <a:spcAft>
                <a:spcPts val="200"/>
              </a:spcAft>
            </a:pPr>
            <a:r>
              <a:rPr sz="1800" b="0" i="0">
                <a:solidFill>
                  <a:srgbClr val="1A2F5A"/>
                </a:solidFill>
                <a:latin typeface="Calibri"/>
              </a:rPr>
              <a:t>• inside is negative compared with the outside</a:t>
            </a:r>
          </a:p>
          <a:p>
            <a:pPr algn="l">
              <a:spcAft>
                <a:spcPts val="200"/>
              </a:spcAft>
            </a:pPr>
            <a:r>
              <a:rPr sz="1800" b="0" i="0">
                <a:solidFill>
                  <a:srgbClr val="1A2F5A"/>
                </a:solidFill>
                <a:latin typeface="Calibri"/>
              </a:rPr>
              <a:t>• the pump moves 3 Na⁺ out and 2 K⁺ in (unequal numbers)</a:t>
            </a:r>
          </a:p>
          <a:p>
            <a:pPr algn="l">
              <a:spcAft>
                <a:spcPts val="200"/>
              </a:spcAft>
            </a:pPr>
            <a:r>
              <a:rPr sz="1800" b="0" i="0">
                <a:solidFill>
                  <a:srgbClr val="1A2F5A"/>
                </a:solidFill>
                <a:latin typeface="Calibri"/>
              </a:rPr>
              <a:t>• the membrane is more permeable to K⁺ than to Na⁺</a:t>
            </a:r>
          </a:p>
        </p:txBody>
      </p:sp>
      <p:sp>
        <p:nvSpPr>
          <p:cNvPr id="12" name="Rounded Rectangle 11">
            <a:hlinkClick r:id="rId3" action="ppaction://hlinksldjump"/>
          </p:cNvPr>
          <p:cNvSpPr/>
          <p:nvPr/>
        </p:nvSpPr>
        <p:spPr>
          <a:xfrm>
            <a:off x="3200400" y="50292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p:cNvSpPr/>
          <p:nvPr/>
        </p:nvSpPr>
        <p:spPr>
          <a:xfrm>
            <a:off x="320040" y="914400"/>
            <a:ext cx="3200400" cy="42062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A temporary reversal of the potential difference in the axon is caused by a change in the distribution of ions.</a:t>
            </a:r>
          </a:p>
          <a:p>
            <a:pPr algn="l">
              <a:spcAft>
                <a:spcPts val="200"/>
              </a:spcAft>
            </a:pPr>
            <a:r>
              <a:rPr sz="1600" b="0" i="0">
                <a:solidFill>
                  <a:srgbClr val="1A2F5A"/>
                </a:solidFill>
                <a:latin typeface="Calibri"/>
              </a:rPr>
              <a:t/>
            </a:r>
          </a:p>
          <a:p>
            <a:pPr algn="l">
              <a:spcAft>
                <a:spcPts val="200"/>
              </a:spcAft>
            </a:pPr>
            <a:r>
              <a:rPr sz="1600" b="0" i="0">
                <a:solidFill>
                  <a:srgbClr val="1A2F5A"/>
                </a:solidFill>
                <a:latin typeface="Calibri"/>
              </a:rPr>
              <a:t>Press play on the next screens to see how this change propagates a nerve impulse.</a:t>
            </a:r>
          </a:p>
        </p:txBody>
      </p:sp>
      <p:pic>
        <p:nvPicPr>
          <p:cNvPr id="14" name="Picture 13" descr="motor_neurone.png"/>
          <p:cNvPicPr>
            <a:picLocks noChangeAspect="1"/>
          </p:cNvPicPr>
          <p:nvPr/>
        </p:nvPicPr>
        <p:blipFill>
          <a:blip r:embed="rId3"/>
          <a:stretch>
            <a:fillRect/>
          </a:stretch>
        </p:blipFill>
        <p:spPr>
          <a:xfrm>
            <a:off x="3566160" y="1371600"/>
            <a:ext cx="5212080" cy="2251519"/>
          </a:xfrm>
          <a:prstGeom prst="rect">
            <a:avLst/>
          </a:prstGeom>
        </p:spPr>
      </p:pic>
      <p:sp>
        <p:nvSpPr>
          <p:cNvPr id="15" name="Rounded Rectangle 14">
            <a:hlinkClick r:id="rId4" action="ppaction://hlinksldjump"/>
          </p:cNvPr>
          <p:cNvSpPr/>
          <p:nvPr/>
        </p:nvSpPr>
        <p:spPr>
          <a:xfrm>
            <a:off x="3200400" y="53949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Play sequence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30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Resting – channels closed</a:t>
            </a:r>
          </a:p>
        </p:txBody>
      </p:sp>
      <p:pic>
        <p:nvPicPr>
          <p:cNvPr id="15" name="Picture 14" descr="membrane_rest.png"/>
          <p:cNvPicPr>
            <a:picLocks noChangeAspect="1"/>
          </p:cNvPicPr>
          <p:nvPr/>
        </p:nvPicPr>
        <p:blipFill>
          <a:blip r:embed="rId3"/>
          <a:stretch>
            <a:fillRect/>
          </a:stretch>
        </p:blipFill>
        <p:spPr>
          <a:xfrm>
            <a:off x="274320" y="1170432"/>
            <a:ext cx="5029200" cy="272503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Voltage-gated Na⁺ and K⁺ channels are closed. The membrane is polarised at about –70 mV.</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31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Depolarisation – Na⁺ in</a:t>
            </a:r>
          </a:p>
        </p:txBody>
      </p:sp>
      <p:pic>
        <p:nvPicPr>
          <p:cNvPr id="15" name="Picture 14" descr="membrane_depol.png"/>
          <p:cNvPicPr>
            <a:picLocks noChangeAspect="1"/>
          </p:cNvPicPr>
          <p:nvPr/>
        </p:nvPicPr>
        <p:blipFill>
          <a:blip r:embed="rId3"/>
          <a:stretch>
            <a:fillRect/>
          </a:stretch>
        </p:blipFill>
        <p:spPr>
          <a:xfrm>
            <a:off x="274320" y="1170432"/>
            <a:ext cx="5029200" cy="272503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 stimulus opens voltage-gated sodium channels. Na⁺ rushes in down its electrochemical gradient. The inside becomes positive (about +35 mV). This is depolarisation.</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Repolarisation – K⁺ out</a:t>
            </a:r>
          </a:p>
        </p:txBody>
      </p:sp>
      <p:pic>
        <p:nvPicPr>
          <p:cNvPr id="15" name="Picture 14" descr="membrane_repol.png"/>
          <p:cNvPicPr>
            <a:picLocks noChangeAspect="1"/>
          </p:cNvPicPr>
          <p:nvPr/>
        </p:nvPicPr>
        <p:blipFill>
          <a:blip r:embed="rId3"/>
          <a:stretch>
            <a:fillRect/>
          </a:stretch>
        </p:blipFill>
        <p:spPr>
          <a:xfrm>
            <a:off x="274320" y="1170432"/>
            <a:ext cx="5029200" cy="272503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Na⁺ channels inactivate. Voltage-gated K⁺ channels open. K⁺ leaves the axon and the inside becomes negative again. This is repolarisation.</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Return to rest</a:t>
            </a:r>
          </a:p>
        </p:txBody>
      </p:sp>
      <p:pic>
        <p:nvPicPr>
          <p:cNvPr id="15" name="Picture 14" descr="membrane_rest.png"/>
          <p:cNvPicPr>
            <a:picLocks noChangeAspect="1"/>
          </p:cNvPicPr>
          <p:nvPr/>
        </p:nvPicPr>
        <p:blipFill>
          <a:blip r:embed="rId3"/>
          <a:stretch>
            <a:fillRect/>
          </a:stretch>
        </p:blipFill>
        <p:spPr>
          <a:xfrm>
            <a:off x="274320" y="1170432"/>
            <a:ext cx="5029200" cy="272503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There is a brief hyperpolarisation (more negative than rest). The Na⁺/K⁺ pump and leak channels restore the resting ion distribution. Local currents then depolarise the next patch of membrane.</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65760"/>
          </a:xfrm>
          <a:prstGeom prst="rect">
            <a:avLst/>
          </a:prstGeom>
          <a:noFill/>
        </p:spPr>
        <p:txBody>
          <a:bodyPr wrap="square" anchor="t">
            <a:spAutoFit/>
          </a:bodyPr>
          <a:lstStyle/>
          <a:p>
            <a:pPr algn="ctr">
              <a:spcAft>
                <a:spcPts val="400"/>
              </a:spcAft>
            </a:pPr>
            <a:r>
              <a:rPr sz="1800" b="1" i="0">
                <a:solidFill>
                  <a:srgbClr val="1B3A6B"/>
                </a:solidFill>
                <a:latin typeface="Calibri"/>
              </a:rPr>
              <a:t>Which voltage-gated ion channels are open during each stage?</a:t>
            </a:r>
          </a:p>
        </p:txBody>
      </p:sp>
      <p:sp>
        <p:nvSpPr>
          <p:cNvPr id="15" name="Rounded Rectangle 14"/>
          <p:cNvSpPr/>
          <p:nvPr/>
        </p:nvSpPr>
        <p:spPr>
          <a:xfrm>
            <a:off x="320040" y="1280160"/>
            <a:ext cx="2468880" cy="5029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
            </a:r>
          </a:p>
        </p:txBody>
      </p:sp>
      <p:sp>
        <p:nvSpPr>
          <p:cNvPr id="16" name="Rounded Rectangle 15"/>
          <p:cNvSpPr/>
          <p:nvPr/>
        </p:nvSpPr>
        <p:spPr>
          <a:xfrm>
            <a:off x="2880360" y="1280160"/>
            <a:ext cx="2926080" cy="5029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voltage-gated potassium</a:t>
            </a:r>
          </a:p>
        </p:txBody>
      </p:sp>
      <p:sp>
        <p:nvSpPr>
          <p:cNvPr id="17" name="Rounded Rectangle 16"/>
          <p:cNvSpPr/>
          <p:nvPr/>
        </p:nvSpPr>
        <p:spPr>
          <a:xfrm>
            <a:off x="5897880" y="1280160"/>
            <a:ext cx="2926080" cy="5029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voltage-gated sodium</a:t>
            </a:r>
          </a:p>
        </p:txBody>
      </p:sp>
      <p:sp>
        <p:nvSpPr>
          <p:cNvPr id="18" name="Rounded Rectangle 17"/>
          <p:cNvSpPr/>
          <p:nvPr/>
        </p:nvSpPr>
        <p:spPr>
          <a:xfrm>
            <a:off x="320040" y="1874519"/>
            <a:ext cx="2468880" cy="77724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resting potential</a:t>
            </a:r>
          </a:p>
        </p:txBody>
      </p:sp>
      <p:sp>
        <p:nvSpPr>
          <p:cNvPr id="19" name="Rounded Rectangle 18">
            <a:hlinkClick r:id="rId5" action="ppaction://hlinksldjump"/>
          </p:cNvPr>
          <p:cNvSpPr/>
          <p:nvPr/>
        </p:nvSpPr>
        <p:spPr>
          <a:xfrm>
            <a:off x="2880360" y="1874519"/>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0" name="Rounded Rectangle 19">
            <a:hlinkClick r:id="rId5" action="ppaction://hlinksldjump"/>
          </p:cNvPr>
          <p:cNvSpPr/>
          <p:nvPr/>
        </p:nvSpPr>
        <p:spPr>
          <a:xfrm>
            <a:off x="5897880" y="1874519"/>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1" name="Rounded Rectangle 20"/>
          <p:cNvSpPr/>
          <p:nvPr/>
        </p:nvSpPr>
        <p:spPr>
          <a:xfrm>
            <a:off x="320040" y="2770632"/>
            <a:ext cx="2468880" cy="77724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depolarisation</a:t>
            </a:r>
          </a:p>
        </p:txBody>
      </p:sp>
      <p:sp>
        <p:nvSpPr>
          <p:cNvPr id="22" name="Rounded Rectangle 21">
            <a:hlinkClick r:id="rId5" action="ppaction://hlinksldjump"/>
          </p:cNvPr>
          <p:cNvSpPr/>
          <p:nvPr/>
        </p:nvSpPr>
        <p:spPr>
          <a:xfrm>
            <a:off x="2880360" y="2770632"/>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3" name="Rounded Rectangle 22">
            <a:hlinkClick r:id="rId5" action="ppaction://hlinksldjump"/>
          </p:cNvPr>
          <p:cNvSpPr/>
          <p:nvPr/>
        </p:nvSpPr>
        <p:spPr>
          <a:xfrm>
            <a:off x="5897880" y="2770632"/>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4" name="Rounded Rectangle 23"/>
          <p:cNvSpPr/>
          <p:nvPr/>
        </p:nvSpPr>
        <p:spPr>
          <a:xfrm>
            <a:off x="320040" y="3666744"/>
            <a:ext cx="2468880" cy="77724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repolarisation</a:t>
            </a:r>
          </a:p>
        </p:txBody>
      </p:sp>
      <p:sp>
        <p:nvSpPr>
          <p:cNvPr id="25" name="Rounded Rectangle 24">
            <a:hlinkClick r:id="rId5" action="ppaction://hlinksldjump"/>
          </p:cNvPr>
          <p:cNvSpPr/>
          <p:nvPr/>
        </p:nvSpPr>
        <p:spPr>
          <a:xfrm>
            <a:off x="2880360" y="3666744"/>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6" name="Rounded Rectangle 25">
            <a:hlinkClick r:id="rId5" action="ppaction://hlinksldjump"/>
          </p:cNvPr>
          <p:cNvSpPr/>
          <p:nvPr/>
        </p:nvSpPr>
        <p:spPr>
          <a:xfrm>
            <a:off x="5897880" y="3666744"/>
            <a:ext cx="2926080" cy="77724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click to reveal</a:t>
            </a:r>
          </a:p>
        </p:txBody>
      </p:sp>
      <p:sp>
        <p:nvSpPr>
          <p:cNvPr id="27" name="Rounded Rectangle 26">
            <a:hlinkClick r:id="rId5" action="ppaction://hlinksldjump"/>
          </p:cNvPr>
          <p:cNvSpPr/>
          <p:nvPr/>
        </p:nvSpPr>
        <p:spPr>
          <a:xfrm>
            <a:off x="320040" y="6217920"/>
            <a:ext cx="146304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8" name="Rounded Rectangle 27">
            <a:hlinkClick r:id="rId3" action="ppaction://hlinksldjump"/>
          </p:cNvPr>
          <p:cNvSpPr/>
          <p:nvPr/>
        </p:nvSpPr>
        <p:spPr>
          <a:xfrm>
            <a:off x="192024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Ion channels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274320" y="822960"/>
            <a:ext cx="8595360" cy="365760"/>
          </a:xfrm>
          <a:prstGeom prst="rect">
            <a:avLst/>
          </a:prstGeom>
          <a:noFill/>
        </p:spPr>
        <p:txBody>
          <a:bodyPr wrap="square" anchor="t">
            <a:spAutoFit/>
          </a:bodyPr>
          <a:lstStyle/>
          <a:p>
            <a:pPr algn="ctr">
              <a:spcAft>
                <a:spcPts val="400"/>
              </a:spcAft>
            </a:pPr>
            <a:r>
              <a:rPr sz="2000" b="1" i="0">
                <a:solidFill>
                  <a:srgbClr val="2E9E4F"/>
                </a:solidFill>
                <a:latin typeface="Calibri"/>
              </a:rPr>
              <a:t>Answer key</a:t>
            </a:r>
          </a:p>
        </p:txBody>
      </p:sp>
      <p:sp>
        <p:nvSpPr>
          <p:cNvPr id="12" name="Rounded Rectangle 11"/>
          <p:cNvSpPr/>
          <p:nvPr/>
        </p:nvSpPr>
        <p:spPr>
          <a:xfrm>
            <a:off x="365760" y="1280160"/>
            <a:ext cx="2697480" cy="6400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
            </a:r>
          </a:p>
        </p:txBody>
      </p:sp>
      <p:sp>
        <p:nvSpPr>
          <p:cNvPr id="13" name="Rounded Rectangle 12"/>
          <p:cNvSpPr/>
          <p:nvPr/>
        </p:nvSpPr>
        <p:spPr>
          <a:xfrm>
            <a:off x="3154679" y="1280160"/>
            <a:ext cx="2697480" cy="6400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K⁺ voltage-gated</a:t>
            </a:r>
          </a:p>
        </p:txBody>
      </p:sp>
      <p:sp>
        <p:nvSpPr>
          <p:cNvPr id="14" name="Rounded Rectangle 13"/>
          <p:cNvSpPr/>
          <p:nvPr/>
        </p:nvSpPr>
        <p:spPr>
          <a:xfrm>
            <a:off x="5943600" y="1280160"/>
            <a:ext cx="2697480" cy="6400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Na⁺ voltage-gated</a:t>
            </a:r>
          </a:p>
        </p:txBody>
      </p:sp>
      <p:sp>
        <p:nvSpPr>
          <p:cNvPr id="15" name="Rounded Rectangle 14"/>
          <p:cNvSpPr/>
          <p:nvPr/>
        </p:nvSpPr>
        <p:spPr>
          <a:xfrm>
            <a:off x="365760" y="201168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resting potential</a:t>
            </a:r>
          </a:p>
        </p:txBody>
      </p:sp>
      <p:sp>
        <p:nvSpPr>
          <p:cNvPr id="16" name="Rounded Rectangle 15"/>
          <p:cNvSpPr/>
          <p:nvPr/>
        </p:nvSpPr>
        <p:spPr>
          <a:xfrm>
            <a:off x="3154679" y="201168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17" name="Rounded Rectangle 16"/>
          <p:cNvSpPr/>
          <p:nvPr/>
        </p:nvSpPr>
        <p:spPr>
          <a:xfrm>
            <a:off x="5943600" y="201168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18" name="Rounded Rectangle 17"/>
          <p:cNvSpPr/>
          <p:nvPr/>
        </p:nvSpPr>
        <p:spPr>
          <a:xfrm>
            <a:off x="365760" y="2743200"/>
            <a:ext cx="2697480" cy="64008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depolarisation</a:t>
            </a:r>
          </a:p>
        </p:txBody>
      </p:sp>
      <p:sp>
        <p:nvSpPr>
          <p:cNvPr id="19" name="Rounded Rectangle 18"/>
          <p:cNvSpPr/>
          <p:nvPr/>
        </p:nvSpPr>
        <p:spPr>
          <a:xfrm>
            <a:off x="3154679" y="2743200"/>
            <a:ext cx="2697480" cy="64008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20" name="Rounded Rectangle 19"/>
          <p:cNvSpPr/>
          <p:nvPr/>
        </p:nvSpPr>
        <p:spPr>
          <a:xfrm>
            <a:off x="5943600" y="2743200"/>
            <a:ext cx="2697480" cy="64008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open</a:t>
            </a:r>
          </a:p>
        </p:txBody>
      </p:sp>
      <p:sp>
        <p:nvSpPr>
          <p:cNvPr id="21" name="Rounded Rectangle 20"/>
          <p:cNvSpPr/>
          <p:nvPr/>
        </p:nvSpPr>
        <p:spPr>
          <a:xfrm>
            <a:off x="365760" y="347472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repolarisation</a:t>
            </a:r>
          </a:p>
        </p:txBody>
      </p:sp>
      <p:sp>
        <p:nvSpPr>
          <p:cNvPr id="22" name="Rounded Rectangle 21"/>
          <p:cNvSpPr/>
          <p:nvPr/>
        </p:nvSpPr>
        <p:spPr>
          <a:xfrm>
            <a:off x="3154679" y="347472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open</a:t>
            </a:r>
          </a:p>
        </p:txBody>
      </p:sp>
      <p:sp>
        <p:nvSpPr>
          <p:cNvPr id="23" name="Rounded Rectangle 22"/>
          <p:cNvSpPr/>
          <p:nvPr/>
        </p:nvSpPr>
        <p:spPr>
          <a:xfrm>
            <a:off x="5943600" y="3474720"/>
            <a:ext cx="2697480" cy="64008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closed</a:t>
            </a:r>
          </a:p>
        </p:txBody>
      </p:sp>
      <p:sp>
        <p:nvSpPr>
          <p:cNvPr id="24" name="TextBox 23"/>
          <p:cNvSpPr txBox="1"/>
          <p:nvPr/>
        </p:nvSpPr>
        <p:spPr>
          <a:xfrm>
            <a:off x="457200" y="4389120"/>
            <a:ext cx="8229600" cy="1005840"/>
          </a:xfrm>
          <a:prstGeom prst="rect">
            <a:avLst/>
          </a:prstGeom>
          <a:noFill/>
        </p:spPr>
        <p:txBody>
          <a:bodyPr wrap="square" anchor="t">
            <a:spAutoFit/>
          </a:bodyPr>
          <a:lstStyle/>
          <a:p>
            <a:pPr algn="l">
              <a:spcAft>
                <a:spcPts val="400"/>
              </a:spcAft>
            </a:pPr>
            <a:r>
              <a:rPr sz="1400" b="0" i="0">
                <a:solidFill>
                  <a:srgbClr val="1B3A6B"/>
                </a:solidFill>
                <a:latin typeface="Calibri"/>
              </a:rPr>
              <a:t>Note: potassium leak channels stay open at rest. This table is about voltage-gated channels only, matching the original Boardworks activity.</a:t>
            </a:r>
          </a:p>
        </p:txBody>
      </p:sp>
      <p:sp>
        <p:nvSpPr>
          <p:cNvPr id="25" name="Rounded Rectangle 24">
            <a:hlinkClick r:id="rId3" action="ppaction://hlinksldjump"/>
          </p:cNvPr>
          <p:cNvSpPr/>
          <p:nvPr/>
        </p:nvSpPr>
        <p:spPr>
          <a:xfrm>
            <a:off x="3200400" y="566928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0"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1"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777240"/>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How does the potential difference change?</a:t>
            </a:r>
          </a:p>
        </p:txBody>
      </p:sp>
      <p:pic>
        <p:nvPicPr>
          <p:cNvPr id="15" name="Picture 14" descr="ap_graph.png"/>
          <p:cNvPicPr>
            <a:picLocks noChangeAspect="1"/>
          </p:cNvPicPr>
          <p:nvPr/>
        </p:nvPicPr>
        <p:blipFill>
          <a:blip r:embed="rId3"/>
          <a:stretch>
            <a:fillRect/>
          </a:stretch>
        </p:blipFill>
        <p:spPr>
          <a:xfrm>
            <a:off x="182880" y="1097280"/>
            <a:ext cx="5120640" cy="3351416"/>
          </a:xfrm>
          <a:prstGeom prst="rect">
            <a:avLst/>
          </a:prstGeom>
        </p:spPr>
      </p:pic>
      <p:sp>
        <p:nvSpPr>
          <p:cNvPr id="16" name="Rounded Rectangle 15"/>
          <p:cNvSpPr/>
          <p:nvPr/>
        </p:nvSpPr>
        <p:spPr>
          <a:xfrm>
            <a:off x="5394960" y="1234440"/>
            <a:ext cx="3383280" cy="20116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Press on the numbered graph labels to view a summary of the events during each stage of an action potential.</a:t>
            </a:r>
          </a:p>
        </p:txBody>
      </p:sp>
      <p:sp>
        <p:nvSpPr>
          <p:cNvPr id="17" name="Rounded Rectangle 16">
            <a:hlinkClick r:id="rId5" action="ppaction://hlinksldjump"/>
          </p:cNvPr>
          <p:cNvSpPr/>
          <p:nvPr/>
        </p:nvSpPr>
        <p:spPr>
          <a:xfrm>
            <a:off x="5440680" y="3337560"/>
            <a:ext cx="324612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1 rest</a:t>
            </a:r>
          </a:p>
        </p:txBody>
      </p:sp>
      <p:sp>
        <p:nvSpPr>
          <p:cNvPr id="18" name="Rounded Rectangle 17">
            <a:hlinkClick r:id="rId6" action="ppaction://hlinksldjump"/>
          </p:cNvPr>
          <p:cNvSpPr/>
          <p:nvPr/>
        </p:nvSpPr>
        <p:spPr>
          <a:xfrm>
            <a:off x="5440680" y="3776472"/>
            <a:ext cx="3246120" cy="38404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2 depolarisation</a:t>
            </a:r>
          </a:p>
        </p:txBody>
      </p:sp>
      <p:sp>
        <p:nvSpPr>
          <p:cNvPr id="19" name="Rounded Rectangle 18">
            <a:hlinkClick r:id="rId7" action="ppaction://hlinksldjump"/>
          </p:cNvPr>
          <p:cNvSpPr/>
          <p:nvPr/>
        </p:nvSpPr>
        <p:spPr>
          <a:xfrm>
            <a:off x="5440680" y="4215383"/>
            <a:ext cx="324612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3 repolarisation</a:t>
            </a:r>
          </a:p>
        </p:txBody>
      </p:sp>
      <p:sp>
        <p:nvSpPr>
          <p:cNvPr id="20" name="Rounded Rectangle 19">
            <a:hlinkClick r:id="rId8" action="ppaction://hlinksldjump"/>
          </p:cNvPr>
          <p:cNvSpPr/>
          <p:nvPr/>
        </p:nvSpPr>
        <p:spPr>
          <a:xfrm>
            <a:off x="5440680" y="4654296"/>
            <a:ext cx="3246120" cy="38404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4 hyperpolarisation</a:t>
            </a:r>
          </a:p>
        </p:txBody>
      </p:sp>
      <p:sp>
        <p:nvSpPr>
          <p:cNvPr id="21" name="Rounded Rectangle 20">
            <a:hlinkClick r:id="rId9" action="ppaction://hlinksldjump"/>
          </p:cNvPr>
          <p:cNvSpPr/>
          <p:nvPr/>
        </p:nvSpPr>
        <p:spPr>
          <a:xfrm>
            <a:off x="5440680" y="5093208"/>
            <a:ext cx="324612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5 return to rest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ap_graph_1.png"/>
          <p:cNvPicPr>
            <a:picLocks noChangeAspect="1"/>
          </p:cNvPicPr>
          <p:nvPr/>
        </p:nvPicPr>
        <p:blipFill>
          <a:blip r:embed="rId3"/>
          <a:stretch>
            <a:fillRect/>
          </a:stretch>
        </p:blipFill>
        <p:spPr>
          <a:xfrm>
            <a:off x="228600" y="914400"/>
            <a:ext cx="5029200" cy="3291569"/>
          </a:xfrm>
          <a:prstGeom prst="rect">
            <a:avLst/>
          </a:prstGeom>
        </p:spPr>
      </p:pic>
      <p:sp>
        <p:nvSpPr>
          <p:cNvPr id="12" name="Rounded Rectangle 11"/>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1  Resting potential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Voltage-gated channels closed. p.d. ≈ –70 mV. Membrane polarised. Na⁺/K⁺ pump and K⁺ leak maintain the gradient.</a:t>
            </a:r>
          </a:p>
        </p:txBody>
      </p:sp>
      <p:sp>
        <p:nvSpPr>
          <p:cNvPr id="13" name="Rounded Rectangle 12">
            <a:hlinkClick r:id="rId4"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ap_graph_2.png"/>
          <p:cNvPicPr>
            <a:picLocks noChangeAspect="1"/>
          </p:cNvPicPr>
          <p:nvPr/>
        </p:nvPicPr>
        <p:blipFill>
          <a:blip r:embed="rId3"/>
          <a:stretch>
            <a:fillRect/>
          </a:stretch>
        </p:blipFill>
        <p:spPr>
          <a:xfrm>
            <a:off x="228600" y="914400"/>
            <a:ext cx="5029200" cy="3291569"/>
          </a:xfrm>
          <a:prstGeom prst="rect">
            <a:avLst/>
          </a:prstGeom>
        </p:spPr>
      </p:pic>
      <p:sp>
        <p:nvSpPr>
          <p:cNvPr id="12" name="Rounded Rectangle 11"/>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2  Depolarisation</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Threshold reached. Voltage-gated Na⁺ channels open. Na⁺ influx reverses the p.d. towards +35 mV. The membrane is depolarised.</a:t>
            </a:r>
          </a:p>
        </p:txBody>
      </p:sp>
      <p:sp>
        <p:nvSpPr>
          <p:cNvPr id="13" name="Rounded Rectangle 12">
            <a:hlinkClick r:id="rId4"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ap_graph_3.png"/>
          <p:cNvPicPr>
            <a:picLocks noChangeAspect="1"/>
          </p:cNvPicPr>
          <p:nvPr/>
        </p:nvPicPr>
        <p:blipFill>
          <a:blip r:embed="rId3"/>
          <a:stretch>
            <a:fillRect/>
          </a:stretch>
        </p:blipFill>
        <p:spPr>
          <a:xfrm>
            <a:off x="228600" y="914400"/>
            <a:ext cx="5029200" cy="3291569"/>
          </a:xfrm>
          <a:prstGeom prst="rect">
            <a:avLst/>
          </a:prstGeom>
        </p:spPr>
      </p:pic>
      <p:sp>
        <p:nvSpPr>
          <p:cNvPr id="12" name="Rounded Rectangle 11"/>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3  Repolarisation</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Na⁺ channels inactivate. Voltage-gated K⁺ channels open. K⁺ efflux restores negativity inside the axon.</a:t>
            </a:r>
          </a:p>
        </p:txBody>
      </p:sp>
      <p:sp>
        <p:nvSpPr>
          <p:cNvPr id="13" name="Rounded Rectangle 12">
            <a:hlinkClick r:id="rId4"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ap_graph_4.png"/>
          <p:cNvPicPr>
            <a:picLocks noChangeAspect="1"/>
          </p:cNvPicPr>
          <p:nvPr/>
        </p:nvPicPr>
        <p:blipFill>
          <a:blip r:embed="rId3"/>
          <a:stretch>
            <a:fillRect/>
          </a:stretch>
        </p:blipFill>
        <p:spPr>
          <a:xfrm>
            <a:off x="228600" y="914400"/>
            <a:ext cx="5029200" cy="3291569"/>
          </a:xfrm>
          <a:prstGeom prst="rect">
            <a:avLst/>
          </a:prstGeom>
        </p:spPr>
      </p:pic>
      <p:sp>
        <p:nvSpPr>
          <p:cNvPr id="12" name="Rounded Rectangle 11"/>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4  Hyperpolarisation</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K⁺ channels are slow to close, so the p.d. briefly becomes more negative than rest (undershoot).</a:t>
            </a:r>
          </a:p>
        </p:txBody>
      </p:sp>
      <p:sp>
        <p:nvSpPr>
          <p:cNvPr id="13" name="Rounded Rectangle 12">
            <a:hlinkClick r:id="rId4"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Changes during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ap_graph_5.png"/>
          <p:cNvPicPr>
            <a:picLocks noChangeAspect="1"/>
          </p:cNvPicPr>
          <p:nvPr/>
        </p:nvPicPr>
        <p:blipFill>
          <a:blip r:embed="rId3"/>
          <a:stretch>
            <a:fillRect/>
          </a:stretch>
        </p:blipFill>
        <p:spPr>
          <a:xfrm>
            <a:off x="228600" y="914400"/>
            <a:ext cx="5029200" cy="3291569"/>
          </a:xfrm>
          <a:prstGeom prst="rect">
            <a:avLst/>
          </a:prstGeom>
        </p:spPr>
      </p:pic>
      <p:sp>
        <p:nvSpPr>
          <p:cNvPr id="12" name="Rounded Rectangle 11"/>
          <p:cNvSpPr/>
          <p:nvPr/>
        </p:nvSpPr>
        <p:spPr>
          <a:xfrm>
            <a:off x="5394960" y="1097280"/>
            <a:ext cx="338328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5  Return to resting potential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Ion channels reset. The pump restores Na⁺ and K⁺ concentrations. The axon is ready for another impulse once the refractory period ends.</a:t>
            </a:r>
          </a:p>
        </p:txBody>
      </p:sp>
      <p:sp>
        <p:nvSpPr>
          <p:cNvPr id="13" name="Rounded Rectangle 12">
            <a:hlinkClick r:id="rId4" action="ppaction://hlinksldjump"/>
          </p:cNvPr>
          <p:cNvSpPr/>
          <p:nvPr/>
        </p:nvSpPr>
        <p:spPr>
          <a:xfrm>
            <a:off x="5943600" y="534924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graph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p:cNvSpPr/>
          <p:nvPr/>
        </p:nvSpPr>
        <p:spPr>
          <a:xfrm>
            <a:off x="1188720" y="1463040"/>
            <a:ext cx="6766560" cy="3108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Changes within the axon are essential for the propagation of an action potential.</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Answer these questions about the properties of depolarisation, repolarisation and resting potential.</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Press start to begin.</a:t>
            </a:r>
          </a:p>
        </p:txBody>
      </p:sp>
      <p:sp>
        <p:nvSpPr>
          <p:cNvPr id="14" name="Rounded Rectangle 13">
            <a:hlinkClick r:id="rId4" action="ppaction://hlinksldjump"/>
          </p:cNvPr>
          <p:cNvSpPr/>
          <p:nvPr/>
        </p:nvSpPr>
        <p:spPr>
          <a:xfrm>
            <a:off x="3383280" y="4754880"/>
            <a:ext cx="2377440" cy="45720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FFFFFF"/>
                </a:solidFill>
                <a:latin typeface="Calibri"/>
              </a:rPr>
              <a:t>start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During depolarisation, which ions move where?</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Na⁺ ions move into the axon</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K⁺ ions move into the axon</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Na⁺ ions move out of the axon</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Organic anions leave the axon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Voltage-gated sodium channels open and Na⁺ floods in, making the inside positive.</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which channels open first when threshold is reached.</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which channels open first when threshold is reached.</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which channels open first when threshold is reached.</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During repolarisation, the inside of the axon becomes negative again because:</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Na⁺ continues to enter</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K⁺ ions leave the axon</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The membrane becomes impermeable to all ions</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Chloride ions enter in large amounts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Voltage-gated potassium channels open and K⁺ efflux restores the negative inside.</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Repolarisation is caused by potassium leaving, not by sodium still entering.</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Repolarisation is caused by potassium leaving, not by sodium still entering.</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Repolarisation is caused by potassium leaving, not by sodium still entering.</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Why does a local circuit cause the next region of membrane to depolarise?</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 pump reverses direction</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Positive charge inside spreads to the adjacent region, opening Na⁺ channels there</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Myelin pumps sodium</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 synapse releases calcium along the axon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Inward Na⁺ makes that patch positive. Nearby resting membrane is depolarised to threshold and a new action potential is generated – the impulse propagates.</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Local currents (local circuits) are the link between one depolarised patch and the next.</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Local currents (local circuits) are the link between one depolarised patch and the next.</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does the axon change?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Local currents (local circuits) are the link between one depolarised patch and the next.</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all or nothing principle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40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20040" y="868680"/>
            <a:ext cx="4572000" cy="4754880"/>
          </a:xfrm>
          <a:prstGeom prst="rect">
            <a:avLst/>
          </a:prstGeom>
          <a:noFill/>
        </p:spPr>
        <p:txBody>
          <a:bodyPr wrap="square" anchor="t">
            <a:spAutoFit/>
          </a:bodyPr>
          <a:lstStyle/>
          <a:p>
            <a:pPr algn="l"/>
            <a:r>
              <a:rPr sz="1600" b="0" i="0">
                <a:solidFill>
                  <a:srgbClr val="1A2F5A"/>
                </a:solidFill>
                <a:latin typeface="Calibri"/>
              </a:rPr>
              <a:t>For an action potential to be generated, the stimulus must be greater than the </a:t>
            </a:r>
            <a:r>
              <a:rPr sz="1600" b="1" i="0">
                <a:solidFill>
                  <a:srgbClr val="2E9E4F"/>
                </a:solidFill>
                <a:latin typeface="Calibri"/>
              </a:rPr>
              <a:t>threshold value</a:t>
            </a:r>
            <a:r>
              <a:rPr sz="1600" b="0" i="0">
                <a:solidFill>
                  <a:srgbClr val="1A2F5A"/>
                </a:solidFill>
                <a:latin typeface="Calibri"/>
              </a:rPr>
              <a:t>.</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A stimulus will be below the threshold value if insufficient numbers of sodium channels open, preventing full depolarization of the axon.</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Once the threshold value is reached, the action potential generated is always the same size regardless of the strength of the stimulus. It is an ‘</a:t>
            </a:r>
            <a:r>
              <a:rPr sz="1600" b="1" i="0">
                <a:solidFill>
                  <a:srgbClr val="2E9E4F"/>
                </a:solidFill>
                <a:latin typeface="Calibri"/>
              </a:rPr>
              <a:t>all or nothing</a:t>
            </a:r>
            <a:r>
              <a:rPr sz="1600" b="0" i="0">
                <a:solidFill>
                  <a:srgbClr val="1A2F5A"/>
                </a:solidFill>
                <a:latin typeface="Calibri"/>
              </a:rPr>
              <a:t>’ response.</a:t>
            </a:r>
          </a:p>
        </p:txBody>
      </p:sp>
      <p:pic>
        <p:nvPicPr>
          <p:cNvPr id="14" name="Picture 13" descr="ap_failed.png"/>
          <p:cNvPicPr>
            <a:picLocks noChangeAspect="1"/>
          </p:cNvPicPr>
          <p:nvPr/>
        </p:nvPicPr>
        <p:blipFill>
          <a:blip r:embed="rId3"/>
          <a:stretch>
            <a:fillRect/>
          </a:stretch>
        </p:blipFill>
        <p:spPr>
          <a:xfrm>
            <a:off x="4754880" y="1051560"/>
            <a:ext cx="4114800" cy="2693102"/>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41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Changing the strength of the stimulus</a:t>
            </a:r>
          </a:p>
        </p:txBody>
      </p:sp>
      <p:pic>
        <p:nvPicPr>
          <p:cNvPr id="15" name="Picture 14" descr="stim_medium.png"/>
          <p:cNvPicPr>
            <a:picLocks noChangeAspect="1"/>
          </p:cNvPicPr>
          <p:nvPr/>
        </p:nvPicPr>
        <p:blipFill>
          <a:blip r:embed="rId3"/>
          <a:stretch>
            <a:fillRect/>
          </a:stretch>
        </p:blipFill>
        <p:spPr>
          <a:xfrm>
            <a:off x="228600" y="1143000"/>
            <a:ext cx="5212080" cy="3364761"/>
          </a:xfrm>
          <a:prstGeom prst="rect">
            <a:avLst/>
          </a:prstGeom>
        </p:spPr>
      </p:pic>
      <p:sp>
        <p:nvSpPr>
          <p:cNvPr id="16" name="Rounded Rectangle 15"/>
          <p:cNvSpPr/>
          <p:nvPr/>
        </p:nvSpPr>
        <p:spPr>
          <a:xfrm>
            <a:off x="5577840" y="1188720"/>
            <a:ext cx="3200400" cy="14630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Adjust the strength of the stimulus to see how this affects the frequency of an action potential.</a:t>
            </a:r>
          </a:p>
        </p:txBody>
      </p:sp>
      <p:sp>
        <p:nvSpPr>
          <p:cNvPr id="17" name="Rounded Rectangle 16">
            <a:hlinkClick r:id="rId5" action="ppaction://hlinksldjump"/>
          </p:cNvPr>
          <p:cNvSpPr/>
          <p:nvPr/>
        </p:nvSpPr>
        <p:spPr>
          <a:xfrm>
            <a:off x="5669280" y="2834640"/>
            <a:ext cx="3017520" cy="457200"/>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1B3A6B"/>
                </a:solidFill>
                <a:latin typeface="Calibri"/>
              </a:rPr>
              <a:t>weak</a:t>
            </a:r>
          </a:p>
        </p:txBody>
      </p:sp>
      <p:sp>
        <p:nvSpPr>
          <p:cNvPr id="18" name="Rounded Rectangle 17">
            <a:hlinkClick r:id="rId6" action="ppaction://hlinksldjump"/>
          </p:cNvPr>
          <p:cNvSpPr/>
          <p:nvPr/>
        </p:nvSpPr>
        <p:spPr>
          <a:xfrm>
            <a:off x="5669280" y="3429000"/>
            <a:ext cx="301752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medium</a:t>
            </a:r>
          </a:p>
        </p:txBody>
      </p:sp>
      <p:sp>
        <p:nvSpPr>
          <p:cNvPr id="19" name="Rounded Rectangle 18">
            <a:hlinkClick r:id="rId7" action="ppaction://hlinksldjump"/>
          </p:cNvPr>
          <p:cNvSpPr/>
          <p:nvPr/>
        </p:nvSpPr>
        <p:spPr>
          <a:xfrm>
            <a:off x="5669280" y="4023360"/>
            <a:ext cx="301752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strong</a:t>
            </a:r>
          </a:p>
        </p:txBody>
      </p:sp>
      <p:sp>
        <p:nvSpPr>
          <p:cNvPr id="20" name="Rounded Rectangle 19"/>
          <p:cNvSpPr/>
          <p:nvPr/>
        </p:nvSpPr>
        <p:spPr>
          <a:xfrm>
            <a:off x="320040" y="5074920"/>
            <a:ext cx="8503920" cy="8686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stronger stimulus does not make a bigger action potential. It increases the frequency of action potentials.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stim_weak.png"/>
          <p:cNvPicPr>
            <a:picLocks noChangeAspect="1"/>
          </p:cNvPicPr>
          <p:nvPr/>
        </p:nvPicPr>
        <p:blipFill>
          <a:blip r:embed="rId3"/>
          <a:stretch>
            <a:fillRect/>
          </a:stretch>
        </p:blipFill>
        <p:spPr>
          <a:xfrm>
            <a:off x="274320" y="1005840"/>
            <a:ext cx="5486400" cy="3541853"/>
          </a:xfrm>
          <a:prstGeom prst="rect">
            <a:avLst/>
          </a:prstGeom>
        </p:spPr>
      </p:pic>
      <p:sp>
        <p:nvSpPr>
          <p:cNvPr id="12" name="Rounded Rectangle 11"/>
          <p:cNvSpPr/>
          <p:nvPr/>
        </p:nvSpPr>
        <p:spPr>
          <a:xfrm>
            <a:off x="5852160" y="1188720"/>
            <a:ext cx="29260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Weak (just above threshold): low frequency of action potentials.</a:t>
            </a:r>
          </a:p>
        </p:txBody>
      </p:sp>
      <p:sp>
        <p:nvSpPr>
          <p:cNvPr id="13" name="Rounded Rectangle 12">
            <a:hlinkClick r:id="rId4" action="ppaction://hlinksldjump"/>
          </p:cNvPr>
          <p:cNvSpPr/>
          <p:nvPr/>
        </p:nvSpPr>
        <p:spPr>
          <a:xfrm>
            <a:off x="6126480" y="475488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stim_medium.png"/>
          <p:cNvPicPr>
            <a:picLocks noChangeAspect="1"/>
          </p:cNvPicPr>
          <p:nvPr/>
        </p:nvPicPr>
        <p:blipFill>
          <a:blip r:embed="rId3"/>
          <a:stretch>
            <a:fillRect/>
          </a:stretch>
        </p:blipFill>
        <p:spPr>
          <a:xfrm>
            <a:off x="274320" y="1005840"/>
            <a:ext cx="5486400" cy="3541853"/>
          </a:xfrm>
          <a:prstGeom prst="rect">
            <a:avLst/>
          </a:prstGeom>
        </p:spPr>
      </p:pic>
      <p:sp>
        <p:nvSpPr>
          <p:cNvPr id="12" name="Rounded Rectangle 11"/>
          <p:cNvSpPr/>
          <p:nvPr/>
        </p:nvSpPr>
        <p:spPr>
          <a:xfrm>
            <a:off x="5852160" y="1188720"/>
            <a:ext cx="29260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Medium: higher frequency. Amplitude of each action potential is unchanged.</a:t>
            </a:r>
          </a:p>
        </p:txBody>
      </p:sp>
      <p:sp>
        <p:nvSpPr>
          <p:cNvPr id="13" name="Rounded Rectangle 12">
            <a:hlinkClick r:id="rId4" action="ppaction://hlinksldjump"/>
          </p:cNvPr>
          <p:cNvSpPr/>
          <p:nvPr/>
        </p:nvSpPr>
        <p:spPr>
          <a:xfrm>
            <a:off x="6126480" y="475488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Different strengths of stimuli</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stim_strong.png"/>
          <p:cNvPicPr>
            <a:picLocks noChangeAspect="1"/>
          </p:cNvPicPr>
          <p:nvPr/>
        </p:nvPicPr>
        <p:blipFill>
          <a:blip r:embed="rId3"/>
          <a:stretch>
            <a:fillRect/>
          </a:stretch>
        </p:blipFill>
        <p:spPr>
          <a:xfrm>
            <a:off x="274320" y="1005840"/>
            <a:ext cx="5486400" cy="3541853"/>
          </a:xfrm>
          <a:prstGeom prst="rect">
            <a:avLst/>
          </a:prstGeom>
        </p:spPr>
      </p:pic>
      <p:sp>
        <p:nvSpPr>
          <p:cNvPr id="12" name="Rounded Rectangle 11"/>
          <p:cNvSpPr/>
          <p:nvPr/>
        </p:nvSpPr>
        <p:spPr>
          <a:xfrm>
            <a:off x="5852160" y="1188720"/>
            <a:ext cx="29260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Strong: highest frequency. Still the same amplitude – all or nothing.</a:t>
            </a:r>
          </a:p>
        </p:txBody>
      </p:sp>
      <p:sp>
        <p:nvSpPr>
          <p:cNvPr id="13" name="Rounded Rectangle 12">
            <a:hlinkClick r:id="rId4" action="ppaction://hlinksldjump"/>
          </p:cNvPr>
          <p:cNvSpPr/>
          <p:nvPr/>
        </p:nvSpPr>
        <p:spPr>
          <a:xfrm>
            <a:off x="6126480" y="475488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axon after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What is the refractory period?</a:t>
            </a:r>
          </a:p>
        </p:txBody>
      </p:sp>
      <p:pic>
        <p:nvPicPr>
          <p:cNvPr id="15" name="Picture 14" descr="refractory.png"/>
          <p:cNvPicPr>
            <a:picLocks noChangeAspect="1"/>
          </p:cNvPicPr>
          <p:nvPr/>
        </p:nvPicPr>
        <p:blipFill>
          <a:blip r:embed="rId3"/>
          <a:stretch>
            <a:fillRect/>
          </a:stretch>
        </p:blipFill>
        <p:spPr>
          <a:xfrm>
            <a:off x="3017520" y="1097280"/>
            <a:ext cx="5760720" cy="3712464"/>
          </a:xfrm>
          <a:prstGeom prst="rect">
            <a:avLst/>
          </a:prstGeom>
        </p:spPr>
      </p:pic>
      <p:sp>
        <p:nvSpPr>
          <p:cNvPr id="16" name="Rounded Rectangle 15"/>
          <p:cNvSpPr/>
          <p:nvPr/>
        </p:nvSpPr>
        <p:spPr>
          <a:xfrm>
            <a:off x="274320" y="1143000"/>
            <a:ext cx="269748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Once an action potential has passed, the axon becomes inexcitable for a short period of time. Press on each area of the graph to learn more about how the axon excitability changes.</a:t>
            </a:r>
          </a:p>
        </p:txBody>
      </p:sp>
      <p:sp>
        <p:nvSpPr>
          <p:cNvPr id="17" name="Rounded Rectangle 16">
            <a:hlinkClick r:id="rId5" action="ppaction://hlinksldjump"/>
          </p:cNvPr>
          <p:cNvSpPr/>
          <p:nvPr/>
        </p:nvSpPr>
        <p:spPr>
          <a:xfrm>
            <a:off x="274320" y="4480560"/>
            <a:ext cx="2697480"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absolute refractory</a:t>
            </a:r>
          </a:p>
        </p:txBody>
      </p:sp>
      <p:sp>
        <p:nvSpPr>
          <p:cNvPr id="18" name="Rounded Rectangle 17">
            <a:hlinkClick r:id="rId6" action="ppaction://hlinksldjump"/>
          </p:cNvPr>
          <p:cNvSpPr/>
          <p:nvPr/>
        </p:nvSpPr>
        <p:spPr>
          <a:xfrm>
            <a:off x="274320" y="4937760"/>
            <a:ext cx="269748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relative refractory</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axon after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3108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Absolute refractory period</a:t>
            </a:r>
          </a:p>
          <a:p>
            <a:pPr algn="l">
              <a:spcAft>
                <a:spcPts val="200"/>
              </a:spcAft>
            </a:pPr>
            <a:r>
              <a:rPr sz="1700" b="0" i="0">
                <a:solidFill>
                  <a:srgbClr val="1A2F5A"/>
                </a:solidFill>
                <a:latin typeface="Calibri"/>
              </a:rPr>
              <a:t/>
            </a:r>
          </a:p>
          <a:p>
            <a:pPr algn="l">
              <a:spcAft>
                <a:spcPts val="200"/>
              </a:spcAft>
            </a:pPr>
            <a:r>
              <a:rPr sz="1700" b="0" i="0">
                <a:solidFill>
                  <a:srgbClr val="1A2F5A"/>
                </a:solidFill>
                <a:latin typeface="Calibri"/>
              </a:rPr>
              <a:t>No new action potential can be generated, however strong the stimulus. Voltage-gated Na⁺ channels are inactivated and must reset. This also forces unidirectional propagation – the region behind the impulse cannot fire again yet.</a:t>
            </a:r>
          </a:p>
        </p:txBody>
      </p:sp>
      <p:sp>
        <p:nvSpPr>
          <p:cNvPr id="12" name="Rounded Rectangle 11">
            <a:hlinkClick r:id="rId3" action="ppaction://hlinksldjump"/>
          </p:cNvPr>
          <p:cNvSpPr/>
          <p:nvPr/>
        </p:nvSpPr>
        <p:spPr>
          <a:xfrm>
            <a:off x="3200400" y="48463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axon after an action potential</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3108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Relative refractory period</a:t>
            </a:r>
          </a:p>
          <a:p>
            <a:pPr algn="l">
              <a:spcAft>
                <a:spcPts val="200"/>
              </a:spcAft>
            </a:pPr>
            <a:r>
              <a:rPr sz="1700" b="0" i="0">
                <a:solidFill>
                  <a:srgbClr val="1A2F5A"/>
                </a:solidFill>
                <a:latin typeface="Calibri"/>
              </a:rPr>
              <a:t/>
            </a:r>
          </a:p>
          <a:p>
            <a:pPr algn="l">
              <a:spcAft>
                <a:spcPts val="200"/>
              </a:spcAft>
            </a:pPr>
            <a:r>
              <a:rPr sz="1700" b="0" i="0">
                <a:solidFill>
                  <a:srgbClr val="1A2F5A"/>
                </a:solidFill>
                <a:latin typeface="Calibri"/>
              </a:rPr>
              <a:t>A larger-than-normal stimulus can generate an action potential because some Na⁺ channels have recovered but the membrane is still hyperpolarised. Excitability rises back to normal as the resting potential is restored.</a:t>
            </a:r>
          </a:p>
        </p:txBody>
      </p:sp>
      <p:sp>
        <p:nvSpPr>
          <p:cNvPr id="12" name="Rounded Rectangle 11">
            <a:hlinkClick r:id="rId3" action="ppaction://hlinksldjump"/>
          </p:cNvPr>
          <p:cNvSpPr/>
          <p:nvPr/>
        </p:nvSpPr>
        <p:spPr>
          <a:xfrm>
            <a:off x="3200400" y="484632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Myelin and nodes</a:t>
            </a:r>
          </a:p>
        </p:txBody>
      </p:sp>
      <p:pic>
        <p:nvPicPr>
          <p:cNvPr id="15" name="Picture 14" descr="saltatory_0.png"/>
          <p:cNvPicPr>
            <a:picLocks noChangeAspect="1"/>
          </p:cNvPicPr>
          <p:nvPr/>
        </p:nvPicPr>
        <p:blipFill>
          <a:blip r:embed="rId3"/>
          <a:stretch>
            <a:fillRect/>
          </a:stretch>
        </p:blipFill>
        <p:spPr>
          <a:xfrm>
            <a:off x="274320" y="1170432"/>
            <a:ext cx="5029200" cy="7539169"/>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An action potential moves faster along myelinated neurones than those without a myelin sheath.</a:t>
            </a:r>
          </a:p>
          <a:p>
            <a:pPr algn="l">
              <a:spcAft>
                <a:spcPts val="200"/>
              </a:spcAft>
            </a:pPr>
            <a:r>
              <a:rPr sz="1400" b="0" i="0">
                <a:solidFill>
                  <a:srgbClr val="1A2F5A"/>
                </a:solidFill>
                <a:latin typeface="Calibri"/>
              </a:rPr>
              <a:t/>
            </a:r>
          </a:p>
          <a:p>
            <a:pPr algn="l">
              <a:spcAft>
                <a:spcPts val="200"/>
              </a:spcAft>
            </a:pPr>
            <a:r>
              <a:rPr sz="1400" b="0" i="0">
                <a:solidFill>
                  <a:srgbClr val="1A2F5A"/>
                </a:solidFill>
                <a:latin typeface="Calibri"/>
              </a:rPr>
              <a:t>Ion channels at the nodes of Ranvier allow Na⁺ and K⁺ to cross. It is only at these points that an action potential is generated in a myelinated neurone.</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Jumping from node to node</a:t>
            </a:r>
          </a:p>
        </p:txBody>
      </p:sp>
      <p:pic>
        <p:nvPicPr>
          <p:cNvPr id="15" name="Picture 14" descr="saltatory_1.png"/>
          <p:cNvPicPr>
            <a:picLocks noChangeAspect="1"/>
          </p:cNvPicPr>
          <p:nvPr/>
        </p:nvPicPr>
        <p:blipFill>
          <a:blip r:embed="rId3"/>
          <a:stretch>
            <a:fillRect/>
          </a:stretch>
        </p:blipFill>
        <p:spPr>
          <a:xfrm>
            <a:off x="274320" y="1170432"/>
            <a:ext cx="5029200" cy="7539169"/>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action potential appears at a node. Local currents depolarise the next node. This jumping is saltatory conduction and is much quicker than step-by-step conduction in a non-myelinated axon.</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Next node fires</a:t>
            </a:r>
          </a:p>
        </p:txBody>
      </p:sp>
      <p:pic>
        <p:nvPicPr>
          <p:cNvPr id="15" name="Picture 14" descr="saltatory_2.png"/>
          <p:cNvPicPr>
            <a:picLocks noChangeAspect="1"/>
          </p:cNvPicPr>
          <p:nvPr/>
        </p:nvPicPr>
        <p:blipFill>
          <a:blip r:embed="rId3"/>
          <a:stretch>
            <a:fillRect/>
          </a:stretch>
        </p:blipFill>
        <p:spPr>
          <a:xfrm>
            <a:off x="274320" y="1170432"/>
            <a:ext cx="5029200" cy="7539169"/>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impulse ‘jumps’ to the next exposed node. Myelin prevents ion leakage in the internodes, so the local current remains strong enough to bring the distant node to threshold.</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Axon diameter and temperature</a:t>
            </a:r>
          </a:p>
        </p:txBody>
      </p:sp>
      <p:pic>
        <p:nvPicPr>
          <p:cNvPr id="15" name="Picture 14" descr="saltatory_3.png"/>
          <p:cNvPicPr>
            <a:picLocks noChangeAspect="1"/>
          </p:cNvPicPr>
          <p:nvPr/>
        </p:nvPicPr>
        <p:blipFill>
          <a:blip r:embed="rId3"/>
          <a:stretch>
            <a:fillRect/>
          </a:stretch>
        </p:blipFill>
        <p:spPr>
          <a:xfrm>
            <a:off x="274320" y="1170432"/>
            <a:ext cx="5029200" cy="7539169"/>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Greater axon diameter → faster impulse (smaller surface area to volume ratio, less ion leak).</a:t>
            </a:r>
          </a:p>
          <a:p>
            <a:pPr algn="l">
              <a:spcAft>
                <a:spcPts val="200"/>
              </a:spcAft>
            </a:pPr>
            <a:r>
              <a:rPr sz="1400" b="0" i="0">
                <a:solidFill>
                  <a:srgbClr val="1A2F5A"/>
                </a:solidFill>
                <a:latin typeface="Calibri"/>
              </a:rPr>
              <a:t/>
            </a:r>
          </a:p>
          <a:p>
            <a:pPr algn="l">
              <a:spcAft>
                <a:spcPts val="200"/>
              </a:spcAft>
            </a:pPr>
            <a:r>
              <a:rPr sz="1400" b="0" i="0">
                <a:solidFill>
                  <a:srgbClr val="1A2F5A"/>
                </a:solidFill>
                <a:latin typeface="Calibri"/>
              </a:rPr>
              <a:t>Higher temperature → faster impulse (faster ion diffusion), until proteins denature. This is why local cooling slows nerves.</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affects the speed of an impulse?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411480" y="914400"/>
            <a:ext cx="8321040" cy="411480"/>
          </a:xfrm>
          <a:prstGeom prst="rect">
            <a:avLst/>
          </a:prstGeom>
          <a:noFill/>
        </p:spPr>
        <p:txBody>
          <a:bodyPr wrap="square" anchor="t">
            <a:spAutoFit/>
          </a:bodyPr>
          <a:lstStyle/>
          <a:p>
            <a:pPr algn="l">
              <a:spcAft>
                <a:spcPts val="400"/>
              </a:spcAft>
            </a:pPr>
            <a:r>
              <a:rPr sz="1800" b="0" i="0">
                <a:solidFill>
                  <a:srgbClr val="1B3A6B"/>
                </a:solidFill>
                <a:latin typeface="Calibri"/>
              </a:rPr>
              <a:t>The speed of a nerve impulse is also affected by:</a:t>
            </a:r>
          </a:p>
        </p:txBody>
      </p:sp>
      <p:sp>
        <p:nvSpPr>
          <p:cNvPr id="14" name="Rounded Rectangle 13"/>
          <p:cNvSpPr/>
          <p:nvPr/>
        </p:nvSpPr>
        <p:spPr>
          <a:xfrm>
            <a:off x="411480" y="1417320"/>
            <a:ext cx="8321040" cy="1965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Axon diameter – The greater the diameter of the axon the faster the impulse travels.</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Axons with a small diameter have a larger surface area to volume ratio than axons with a large diameter. This causes a larger amount of ions to leak out of the axon, making it more difficult for an action potential to propagate.</a:t>
            </a:r>
          </a:p>
        </p:txBody>
      </p:sp>
      <p:sp>
        <p:nvSpPr>
          <p:cNvPr id="15" name="Rounded Rectangle 14"/>
          <p:cNvSpPr/>
          <p:nvPr/>
        </p:nvSpPr>
        <p:spPr>
          <a:xfrm>
            <a:off x="411480" y="3566160"/>
            <a:ext cx="8321040" cy="15544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Temperature – The higher the temperature, the faster the speed of the impulse. Temperature affects the rate of diffusion of ions across the axon.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65760"/>
          </a:xfrm>
          <a:prstGeom prst="rect">
            <a:avLst/>
          </a:prstGeom>
          <a:noFill/>
        </p:spPr>
        <p:txBody>
          <a:bodyPr wrap="square" anchor="t">
            <a:spAutoFit/>
          </a:bodyPr>
          <a:lstStyle/>
          <a:p>
            <a:pPr algn="ctr">
              <a:spcAft>
                <a:spcPts val="400"/>
              </a:spcAft>
            </a:pPr>
            <a:r>
              <a:rPr sz="1800" b="1" i="0">
                <a:solidFill>
                  <a:srgbClr val="1B3A6B"/>
                </a:solidFill>
                <a:latin typeface="Calibri"/>
              </a:rPr>
              <a:t>Are these statements about action potentials true or false?</a:t>
            </a:r>
          </a:p>
        </p:txBody>
      </p:sp>
      <p:sp>
        <p:nvSpPr>
          <p:cNvPr id="15" name="Rounded Rectangle 14"/>
          <p:cNvSpPr/>
          <p:nvPr/>
        </p:nvSpPr>
        <p:spPr>
          <a:xfrm>
            <a:off x="274320" y="1234440"/>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1.  Every stimulus detected by the sensory receptors causes an action potential to be generated.</a:t>
            </a:r>
          </a:p>
        </p:txBody>
      </p:sp>
      <p:sp>
        <p:nvSpPr>
          <p:cNvPr id="16" name="Rounded Rectangle 15">
            <a:hlinkClick r:id="rId5" action="ppaction://hlinksldjump"/>
          </p:cNvPr>
          <p:cNvSpPr/>
          <p:nvPr/>
        </p:nvSpPr>
        <p:spPr>
          <a:xfrm>
            <a:off x="6400800" y="1380744"/>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17" name="Rounded Rectangle 16">
            <a:hlinkClick r:id="rId6" action="ppaction://hlinksldjump"/>
          </p:cNvPr>
          <p:cNvSpPr/>
          <p:nvPr/>
        </p:nvSpPr>
        <p:spPr>
          <a:xfrm>
            <a:off x="7543800" y="1380744"/>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18" name="Rounded Rectangle 17"/>
          <p:cNvSpPr/>
          <p:nvPr/>
        </p:nvSpPr>
        <p:spPr>
          <a:xfrm>
            <a:off x="274320" y="2039112"/>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2.  An action potential is always the same size regardless of the strength of stimuli.</a:t>
            </a:r>
          </a:p>
        </p:txBody>
      </p:sp>
      <p:sp>
        <p:nvSpPr>
          <p:cNvPr id="19" name="Rounded Rectangle 18">
            <a:hlinkClick r:id="rId7" action="ppaction://hlinksldjump"/>
          </p:cNvPr>
          <p:cNvSpPr/>
          <p:nvPr/>
        </p:nvSpPr>
        <p:spPr>
          <a:xfrm>
            <a:off x="6400800" y="2185416"/>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0" name="Rounded Rectangle 19">
            <a:hlinkClick r:id="rId8" action="ppaction://hlinksldjump"/>
          </p:cNvPr>
          <p:cNvSpPr/>
          <p:nvPr/>
        </p:nvSpPr>
        <p:spPr>
          <a:xfrm>
            <a:off x="7543800" y="2185416"/>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1" name="Rounded Rectangle 20"/>
          <p:cNvSpPr/>
          <p:nvPr/>
        </p:nvSpPr>
        <p:spPr>
          <a:xfrm>
            <a:off x="274320" y="2843784"/>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3.  The amplitude of the action potential increases when the stimulus is stronger.</a:t>
            </a:r>
          </a:p>
        </p:txBody>
      </p:sp>
      <p:sp>
        <p:nvSpPr>
          <p:cNvPr id="22" name="Rounded Rectangle 21">
            <a:hlinkClick r:id="rId9" action="ppaction://hlinksldjump"/>
          </p:cNvPr>
          <p:cNvSpPr/>
          <p:nvPr/>
        </p:nvSpPr>
        <p:spPr>
          <a:xfrm>
            <a:off x="6400800" y="2990088"/>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3" name="Rounded Rectangle 22">
            <a:hlinkClick r:id="rId10" action="ppaction://hlinksldjump"/>
          </p:cNvPr>
          <p:cNvSpPr/>
          <p:nvPr/>
        </p:nvSpPr>
        <p:spPr>
          <a:xfrm>
            <a:off x="7543800" y="2990088"/>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4" name="Rounded Rectangle 23"/>
          <p:cNvSpPr/>
          <p:nvPr/>
        </p:nvSpPr>
        <p:spPr>
          <a:xfrm>
            <a:off x="274320" y="3648456"/>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4.  In an unmyelinated neurone an action potential will travel by saltatory conduction.</a:t>
            </a:r>
          </a:p>
        </p:txBody>
      </p:sp>
      <p:sp>
        <p:nvSpPr>
          <p:cNvPr id="25" name="Rounded Rectangle 24">
            <a:hlinkClick r:id="rId11" action="ppaction://hlinksldjump"/>
          </p:cNvPr>
          <p:cNvSpPr/>
          <p:nvPr/>
        </p:nvSpPr>
        <p:spPr>
          <a:xfrm>
            <a:off x="6400800" y="3794759"/>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6" name="Rounded Rectangle 25">
            <a:hlinkClick r:id="rId12" action="ppaction://hlinksldjump"/>
          </p:cNvPr>
          <p:cNvSpPr/>
          <p:nvPr/>
        </p:nvSpPr>
        <p:spPr>
          <a:xfrm>
            <a:off x="7543800" y="3794759"/>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27" name="Rounded Rectangle 26"/>
          <p:cNvSpPr/>
          <p:nvPr/>
        </p:nvSpPr>
        <p:spPr>
          <a:xfrm>
            <a:off x="274320" y="4453128"/>
            <a:ext cx="598932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5.  It is impossible for an action potential to be generated during the absolute refractory period.</a:t>
            </a:r>
          </a:p>
        </p:txBody>
      </p:sp>
      <p:sp>
        <p:nvSpPr>
          <p:cNvPr id="28" name="Rounded Rectangle 27">
            <a:hlinkClick r:id="rId13" action="ppaction://hlinksldjump"/>
          </p:cNvPr>
          <p:cNvSpPr/>
          <p:nvPr/>
        </p:nvSpPr>
        <p:spPr>
          <a:xfrm>
            <a:off x="6400800" y="4599432"/>
            <a:ext cx="105156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true</a:t>
            </a:r>
          </a:p>
        </p:txBody>
      </p:sp>
      <p:sp>
        <p:nvSpPr>
          <p:cNvPr id="29" name="Rounded Rectangle 28">
            <a:hlinkClick r:id="rId14" action="ppaction://hlinksldjump"/>
          </p:cNvPr>
          <p:cNvSpPr/>
          <p:nvPr/>
        </p:nvSpPr>
        <p:spPr>
          <a:xfrm>
            <a:off x="7543800" y="4599432"/>
            <a:ext cx="1097280" cy="438912"/>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false</a:t>
            </a:r>
          </a:p>
        </p:txBody>
      </p:sp>
      <p:sp>
        <p:nvSpPr>
          <p:cNvPr id="30" name="Rounded Rectangle 29">
            <a:hlinkClick r:id="rId15" action="ppaction://hlinksldjump"/>
          </p:cNvPr>
          <p:cNvSpPr/>
          <p:nvPr/>
        </p:nvSpPr>
        <p:spPr>
          <a:xfrm>
            <a:off x="32004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31" name="Rounded Rectangle 30">
            <a:hlinkClick r:id="rId3" action="ppaction://hlinksldjump"/>
          </p:cNvPr>
          <p:cNvSpPr/>
          <p:nvPr/>
        </p:nvSpPr>
        <p:spPr>
          <a:xfrm>
            <a:off x="196596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Every stimulus detected by the sensory receptors causes an action potential to be generated.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generator potential must reach threshold. Subthreshold stimuli fail to trigger an action potential.</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Every stimulus detected by the sensory receptors causes an action potential to be generated.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generator potential must reach threshold. Subthreshold stimuli fail to trigger an action potential.</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An action potential is always the same size regardless of the strength of stimuli.</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All-or-nothing: once threshold is reached, amplitude is constant. Strength is coded by frequency.</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An action potential is always the same size regardless of the strength of stimuli.</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All-or-nothing: once threshold is reached, amplitude is constant. Strength is coded by frequency.</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amplitude of the action potential increases when the stimulus is stronger.</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Amplitude stays the same. Frequency increases.</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The amplitude of the action potential increases when the stimulus is stronger.</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Amplitude stays the same. Frequency increases.</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In an unmyelinated neurone an action potential will travel by saltatory conduction.</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Saltatory conduction requires myelin and nodes of Ranvier. Unmyelinated axons use continuous conduction.</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FALSE.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In an unmyelinated neurone an action potential will travel by saltatory conduction.</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Saltatory conduction requires myelin and nodes of Ranvier. Unmyelinated axons use continuous conduction.</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It is impossible for an action potential to be generated during the absolute refractory period.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Na⁺ channels are inactivated. No stimulus, however strong, can open enough of them.</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463040"/>
            <a:ext cx="7863840" cy="27432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Incorrect.  The statement is TRUE.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It is impossible for an action potential to be generated during the absolute refractory period.</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Na⁺ channels are inactivated. No stimulus, however strong, can open enough of them.</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True or false?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1. FALSE.  Every stimulus detected by the sensory receptors causes an action potential to be generated.  The generator potential must reach threshold. Subthreshold stimuli fail to trigger an action potential.</a:t>
            </a:r>
          </a:p>
        </p:txBody>
      </p:sp>
      <p:sp>
        <p:nvSpPr>
          <p:cNvPr id="12" name="TextBox 11"/>
          <p:cNvSpPr txBox="1"/>
          <p:nvPr/>
        </p:nvSpPr>
        <p:spPr>
          <a:xfrm>
            <a:off x="365760" y="17830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2. TRUE.  An action potential is always the same size regardless of the strength of stimuli.  All-or-nothing: once threshold is reached, amplitude is constant. Strength is coded by frequency.</a:t>
            </a:r>
          </a:p>
        </p:txBody>
      </p:sp>
      <p:sp>
        <p:nvSpPr>
          <p:cNvPr id="13" name="TextBox 12"/>
          <p:cNvSpPr txBox="1"/>
          <p:nvPr/>
        </p:nvSpPr>
        <p:spPr>
          <a:xfrm>
            <a:off x="365760" y="26974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3. FALSE.  The amplitude of the action potential increases when the stimulus is stronger.  Amplitude stays the same. Frequency increases.</a:t>
            </a:r>
          </a:p>
        </p:txBody>
      </p:sp>
      <p:sp>
        <p:nvSpPr>
          <p:cNvPr id="14" name="TextBox 13"/>
          <p:cNvSpPr txBox="1"/>
          <p:nvPr/>
        </p:nvSpPr>
        <p:spPr>
          <a:xfrm>
            <a:off x="365760" y="36118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4. FALSE.  In an unmyelinated neurone an action potential will travel by saltatory conduction.  Saltatory conduction requires myelin and nodes of Ranvier. Unmyelinated axons use continuous conduction.</a:t>
            </a:r>
          </a:p>
        </p:txBody>
      </p:sp>
      <p:sp>
        <p:nvSpPr>
          <p:cNvPr id="15" name="TextBox 14"/>
          <p:cNvSpPr txBox="1"/>
          <p:nvPr/>
        </p:nvSpPr>
        <p:spPr>
          <a:xfrm>
            <a:off x="365760" y="4526280"/>
            <a:ext cx="8412480" cy="868680"/>
          </a:xfrm>
          <a:prstGeom prst="rect">
            <a:avLst/>
          </a:prstGeom>
          <a:noFill/>
        </p:spPr>
        <p:txBody>
          <a:bodyPr wrap="square" anchor="t">
            <a:spAutoFit/>
          </a:bodyPr>
          <a:lstStyle/>
          <a:p>
            <a:pPr algn="l">
              <a:spcAft>
                <a:spcPts val="400"/>
              </a:spcAft>
            </a:pPr>
            <a:r>
              <a:rPr sz="1300" b="0" i="0">
                <a:solidFill>
                  <a:srgbClr val="1B3A6B"/>
                </a:solidFill>
                <a:latin typeface="Calibri"/>
              </a:rPr>
              <a:t>5. TRUE.  It is impossible for an action potential to be generated during the absolute refractory period.  Na⁺ channels are inactivated. No stimulus, however strong, can open enough of them.</a:t>
            </a:r>
          </a:p>
        </p:txBody>
      </p:sp>
      <p:sp>
        <p:nvSpPr>
          <p:cNvPr id="16" name="Rounded Rectangle 15">
            <a:hlinkClick r:id="rId3" action="ppaction://hlinksldjump"/>
          </p:cNvPr>
          <p:cNvSpPr/>
          <p:nvPr/>
        </p:nvSpPr>
        <p:spPr>
          <a:xfrm>
            <a:off x="2194560" y="585216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quiz</a:t>
            </a:r>
          </a:p>
        </p:txBody>
      </p:sp>
      <p:sp>
        <p:nvSpPr>
          <p:cNvPr id="17" name="Rounded Rectangle 16">
            <a:hlinkClick r:id="rId4" action="ppaction://hlinksldjump"/>
          </p:cNvPr>
          <p:cNvSpPr/>
          <p:nvPr/>
        </p:nvSpPr>
        <p:spPr>
          <a:xfrm>
            <a:off x="4663440" y="5852160"/>
            <a:ext cx="2194560" cy="36576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End of Part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457200" y="1828800"/>
            <a:ext cx="8229600" cy="914400"/>
          </a:xfrm>
          <a:prstGeom prst="rect">
            <a:avLst/>
          </a:prstGeom>
          <a:noFill/>
        </p:spPr>
        <p:txBody>
          <a:bodyPr wrap="square" anchor="t">
            <a:spAutoFit/>
          </a:bodyPr>
          <a:lstStyle/>
          <a:p>
            <a:pPr algn="ctr">
              <a:spcAft>
                <a:spcPts val="400"/>
              </a:spcAft>
            </a:pPr>
            <a:r>
              <a:rPr sz="2600" b="1" i="0">
                <a:solidFill>
                  <a:srgbClr val="2E9E4F"/>
                </a:solidFill>
                <a:latin typeface="Calibri"/>
              </a:rPr>
              <a:t>Next: Part 3 – Sensory receptors</a:t>
            </a:r>
          </a:p>
        </p:txBody>
      </p:sp>
      <p:sp>
        <p:nvSpPr>
          <p:cNvPr id="14" name="Rounded Rectangle 13">
            <a:hlinkClick r:id="rId3" action="ppaction://hlinksldjump"/>
          </p:cNvPr>
          <p:cNvSpPr/>
          <p:nvPr/>
        </p:nvSpPr>
        <p:spPr>
          <a:xfrm>
            <a:off x="3017520" y="365760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
        <p:nvSpPr>
          <p:cNvPr id="15" name="Rounded Rectangle 14">
            <a:hlinkClick r:id="rId4" action="ppaction://hlinksldjump"/>
          </p:cNvPr>
          <p:cNvSpPr/>
          <p:nvPr/>
        </p:nvSpPr>
        <p:spPr>
          <a:xfrm>
            <a:off x="3017520" y="4251960"/>
            <a:ext cx="310896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Next: Sensory receptors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3: Sensory receptors</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5"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a:hlinkClick r:id="rId4" action="ppaction://hlinksldjump"/>
          </p:cNvPr>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3" name="Rounded Rectangle 12">
            <a:hlinkClick r:id="rId2" action="ppaction://hlinksldjump"/>
          </p:cNvPr>
          <p:cNvSpPr/>
          <p:nvPr/>
        </p:nvSpPr>
        <p:spPr>
          <a:xfrm>
            <a:off x="201168" y="256032"/>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4" name="Picture 13" descr="title_retina.png"/>
          <p:cNvPicPr>
            <a:picLocks noChangeAspect="1"/>
          </p:cNvPicPr>
          <p:nvPr/>
        </p:nvPicPr>
        <p:blipFill>
          <a:blip r:embed="rId3"/>
          <a:stretch>
            <a:fillRect/>
          </a:stretch>
        </p:blipFill>
        <p:spPr>
          <a:xfrm>
            <a:off x="2468880" y="1874519"/>
            <a:ext cx="4046726" cy="361188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51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0"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a:hlinkClick r:id="rId3" action="ppaction://hlinksldjump"/>
          </p:cNvPr>
          <p:cNvSpPr/>
          <p:nvPr/>
        </p:nvSpPr>
        <p:spPr>
          <a:xfrm>
            <a:off x="1463040" y="1051560"/>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  the sensory nervous system</a:t>
            </a:r>
          </a:p>
        </p:txBody>
      </p:sp>
      <p:sp>
        <p:nvSpPr>
          <p:cNvPr id="14" name="Rounded Rectangle 13">
            <a:hlinkClick r:id="rId4" action="ppaction://hlinksldjump"/>
          </p:cNvPr>
          <p:cNvSpPr/>
          <p:nvPr/>
        </p:nvSpPr>
        <p:spPr>
          <a:xfrm>
            <a:off x="1463040" y="1673352"/>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  Pacinian corpuscle animation</a:t>
            </a:r>
          </a:p>
        </p:txBody>
      </p:sp>
      <p:sp>
        <p:nvSpPr>
          <p:cNvPr id="15" name="Rounded Rectangle 14">
            <a:hlinkClick r:id="rId5" action="ppaction://hlinksldjump"/>
          </p:cNvPr>
          <p:cNvSpPr/>
          <p:nvPr/>
        </p:nvSpPr>
        <p:spPr>
          <a:xfrm>
            <a:off x="1463040" y="2295144"/>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  photoreceptors in the retina</a:t>
            </a:r>
          </a:p>
        </p:txBody>
      </p:sp>
      <p:sp>
        <p:nvSpPr>
          <p:cNvPr id="16" name="Rounded Rectangle 15">
            <a:hlinkClick r:id="rId6" action="ppaction://hlinksldjump"/>
          </p:cNvPr>
          <p:cNvSpPr/>
          <p:nvPr/>
        </p:nvSpPr>
        <p:spPr>
          <a:xfrm>
            <a:off x="1463040" y="2916936"/>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  rod cells and rhodopsin</a:t>
            </a:r>
          </a:p>
        </p:txBody>
      </p:sp>
      <p:sp>
        <p:nvSpPr>
          <p:cNvPr id="17" name="Rounded Rectangle 16">
            <a:hlinkClick r:id="rId7" action="ppaction://hlinksldjump"/>
          </p:cNvPr>
          <p:cNvSpPr/>
          <p:nvPr/>
        </p:nvSpPr>
        <p:spPr>
          <a:xfrm>
            <a:off x="1463040" y="3538728"/>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  cone cells and iodopsin</a:t>
            </a:r>
          </a:p>
        </p:txBody>
      </p:sp>
      <p:sp>
        <p:nvSpPr>
          <p:cNvPr id="18" name="Rounded Rectangle 17">
            <a:hlinkClick r:id="rId8" action="ppaction://hlinksldjump"/>
          </p:cNvPr>
          <p:cNvSpPr/>
          <p:nvPr/>
        </p:nvSpPr>
        <p:spPr>
          <a:xfrm>
            <a:off x="1463040" y="4160520"/>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6.  rods vs cones sorting</a:t>
            </a:r>
          </a:p>
        </p:txBody>
      </p:sp>
      <p:sp>
        <p:nvSpPr>
          <p:cNvPr id="19" name="Rounded Rectangle 18">
            <a:hlinkClick r:id="rId9" action="ppaction://hlinksldjump"/>
          </p:cNvPr>
          <p:cNvSpPr/>
          <p:nvPr/>
        </p:nvSpPr>
        <p:spPr>
          <a:xfrm>
            <a:off x="1463040" y="4782312"/>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7.  knowledge check</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sensory nervous system</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20040" y="868680"/>
            <a:ext cx="4937760" cy="4846320"/>
          </a:xfrm>
          <a:prstGeom prst="rect">
            <a:avLst/>
          </a:prstGeom>
          <a:noFill/>
        </p:spPr>
        <p:txBody>
          <a:bodyPr wrap="square" anchor="t">
            <a:spAutoFit/>
          </a:bodyPr>
          <a:lstStyle/>
          <a:p>
            <a:pPr algn="l"/>
            <a:r>
              <a:rPr sz="1800" b="1" i="0">
                <a:solidFill>
                  <a:srgbClr val="2E9E4F"/>
                </a:solidFill>
                <a:latin typeface="Calibri"/>
              </a:rPr>
              <a:t>Receptors</a:t>
            </a:r>
            <a:r>
              <a:rPr sz="1700" b="0" i="0">
                <a:solidFill>
                  <a:srgbClr val="1A2F5A"/>
                </a:solidFill>
                <a:latin typeface="Calibri"/>
              </a:rPr>
              <a:t> are specialized cells that can detect changes in the body’s internal and external environment. Most receptor cells are only sensitive to one type of stimulus.</a:t>
            </a:r>
          </a:p>
          <a:p>
            <a:pPr algn="l">
              <a:spcAft>
                <a:spcPts val="600"/>
              </a:spcAft>
            </a:pPr>
            <a:r>
              <a:rPr sz="1700" b="0" i="0">
                <a:solidFill>
                  <a:srgbClr val="1A2F5A"/>
                </a:solidFill>
                <a:latin typeface="Calibri"/>
              </a:rPr>
              <a:t/>
            </a:r>
          </a:p>
          <a:p>
            <a:pPr algn="l">
              <a:spcAft>
                <a:spcPts val="600"/>
              </a:spcAft>
            </a:pPr>
            <a:r>
              <a:rPr sz="1700" b="0" i="0">
                <a:solidFill>
                  <a:srgbClr val="1A2F5A"/>
                </a:solidFill>
                <a:latin typeface="Calibri"/>
              </a:rPr>
              <a:t>Receptors convert the energy of the stimulus into the start of a nerve impulse known as a </a:t>
            </a:r>
            <a:r>
              <a:rPr sz="1700" b="1" i="0">
                <a:solidFill>
                  <a:srgbClr val="2E9E4F"/>
                </a:solidFill>
                <a:latin typeface="Calibri"/>
              </a:rPr>
              <a:t>generator potential</a:t>
            </a:r>
            <a:r>
              <a:rPr sz="1700" b="0" i="0">
                <a:solidFill>
                  <a:srgbClr val="1A2F5A"/>
                </a:solidFill>
                <a:latin typeface="Calibri"/>
              </a:rPr>
              <a:t>.</a:t>
            </a:r>
          </a:p>
          <a:p>
            <a:pPr algn="l">
              <a:spcAft>
                <a:spcPts val="600"/>
              </a:spcAft>
            </a:pPr>
            <a:r>
              <a:rPr sz="1700" b="0" i="0">
                <a:solidFill>
                  <a:srgbClr val="1A2F5A"/>
                </a:solidFill>
                <a:latin typeface="Calibri"/>
              </a:rPr>
              <a:t/>
            </a:r>
          </a:p>
          <a:p>
            <a:pPr algn="l">
              <a:spcAft>
                <a:spcPts val="600"/>
              </a:spcAft>
            </a:pPr>
            <a:r>
              <a:rPr sz="1700" b="0" i="0">
                <a:solidFill>
                  <a:srgbClr val="1A2F5A"/>
                </a:solidFill>
                <a:latin typeface="Calibri"/>
              </a:rPr>
              <a:t>For example, </a:t>
            </a:r>
            <a:r>
              <a:rPr sz="1700" b="1" i="0">
                <a:solidFill>
                  <a:srgbClr val="2E9E4F"/>
                </a:solidFill>
                <a:latin typeface="Calibri"/>
              </a:rPr>
              <a:t>mechanoreceptors</a:t>
            </a:r>
            <a:r>
              <a:rPr sz="1700" b="0" i="0">
                <a:solidFill>
                  <a:srgbClr val="1A2F5A"/>
                </a:solidFill>
                <a:latin typeface="Calibri"/>
              </a:rPr>
              <a:t> detect changes in mechanical energy, such as pressure.</a:t>
            </a:r>
          </a:p>
        </p:txBody>
      </p:sp>
      <p:pic>
        <p:nvPicPr>
          <p:cNvPr id="14" name="Picture 13" descr="skin_block.png"/>
          <p:cNvPicPr>
            <a:picLocks noChangeAspect="1"/>
          </p:cNvPicPr>
          <p:nvPr/>
        </p:nvPicPr>
        <p:blipFill>
          <a:blip r:embed="rId3"/>
          <a:stretch>
            <a:fillRect/>
          </a:stretch>
        </p:blipFill>
        <p:spPr>
          <a:xfrm>
            <a:off x="5212080" y="1005840"/>
            <a:ext cx="4594242" cy="4754880"/>
          </a:xfrm>
          <a:prstGeom prst="rect">
            <a:avLst/>
          </a:prstGeom>
        </p:spPr>
      </p:pic>
      <p:sp>
        <p:nvSpPr>
          <p:cNvPr id="15" name="TextBox 14"/>
          <p:cNvSpPr txBox="1"/>
          <p:nvPr/>
        </p:nvSpPr>
        <p:spPr>
          <a:xfrm>
            <a:off x="5212080" y="5760720"/>
            <a:ext cx="3474720" cy="365760"/>
          </a:xfrm>
          <a:prstGeom prst="rect">
            <a:avLst/>
          </a:prstGeom>
          <a:noFill/>
        </p:spPr>
        <p:txBody>
          <a:bodyPr wrap="square" anchor="t">
            <a:spAutoFit/>
          </a:bodyPr>
          <a:lstStyle/>
          <a:p>
            <a:pPr algn="ctr">
              <a:spcAft>
                <a:spcPts val="400"/>
              </a:spcAft>
            </a:pPr>
            <a:r>
              <a:rPr sz="1200" b="1" i="0">
                <a:solidFill>
                  <a:srgbClr val="2E9E4F"/>
                </a:solidFill>
                <a:latin typeface="Calibri"/>
              </a:rPr>
              <a:t>mechanoreceptor in the skin</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Pacinian corpuscle at rest</a:t>
            </a:r>
          </a:p>
        </p:txBody>
      </p:sp>
      <p:pic>
        <p:nvPicPr>
          <p:cNvPr id="15" name="Picture 14" descr="pacinian.png"/>
          <p:cNvPicPr>
            <a:picLocks noChangeAspect="1"/>
          </p:cNvPicPr>
          <p:nvPr/>
        </p:nvPicPr>
        <p:blipFill>
          <a:blip r:embed="rId3"/>
          <a:stretch>
            <a:fillRect/>
          </a:stretch>
        </p:blipFill>
        <p:spPr>
          <a:xfrm>
            <a:off x="274320" y="1170432"/>
            <a:ext cx="5029200" cy="3657600"/>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Mechanoreceptors within the skin can detect pressure. The Pacinian corpuscle is a pressure receptor in the dermis/hypodermis. It has concentric lamellae of connective tissue around a sensory neurone ending.</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Pressure deforms the lamellae</a:t>
            </a:r>
          </a:p>
        </p:txBody>
      </p:sp>
      <p:pic>
        <p:nvPicPr>
          <p:cNvPr id="15" name="Picture 14" descr="pacinian_deformed.png"/>
          <p:cNvPicPr>
            <a:picLocks noChangeAspect="1"/>
          </p:cNvPicPr>
          <p:nvPr/>
        </p:nvPicPr>
        <p:blipFill>
          <a:blip r:embed="rId3"/>
          <a:stretch>
            <a:fillRect/>
          </a:stretch>
        </p:blipFill>
        <p:spPr>
          <a:xfrm>
            <a:off x="274320" y="1170432"/>
            <a:ext cx="5029200" cy="3657600"/>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Pressure deforms the lamellae and stretches the neurone ending in the centre. Stretch-mediated sodium channels in the membrane open.</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Generator potential</a:t>
            </a:r>
          </a:p>
        </p:txBody>
      </p:sp>
      <p:pic>
        <p:nvPicPr>
          <p:cNvPr id="15" name="Picture 14" descr="pacinian_deformed.png"/>
          <p:cNvPicPr>
            <a:picLocks noChangeAspect="1"/>
          </p:cNvPicPr>
          <p:nvPr/>
        </p:nvPicPr>
        <p:blipFill>
          <a:blip r:embed="rId3"/>
          <a:stretch>
            <a:fillRect/>
          </a:stretch>
        </p:blipFill>
        <p:spPr>
          <a:xfrm>
            <a:off x="274320" y="1170432"/>
            <a:ext cx="5029200" cy="3657600"/>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Na⁺ enters and the membrane depolarises – a generator potential. The greater the pressure, the greater the deformation and the larger the generator potential (it is graded).</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If threshold is reached</a:t>
            </a:r>
          </a:p>
        </p:txBody>
      </p:sp>
      <p:pic>
        <p:nvPicPr>
          <p:cNvPr id="15" name="Picture 14" descr="skin_pacinian.png"/>
          <p:cNvPicPr>
            <a:picLocks noChangeAspect="1"/>
          </p:cNvPicPr>
          <p:nvPr/>
        </p:nvPicPr>
        <p:blipFill>
          <a:blip r:embed="rId3"/>
          <a:stretch>
            <a:fillRect/>
          </a:stretch>
        </p:blipFill>
        <p:spPr>
          <a:xfrm>
            <a:off x="274320" y="1170432"/>
            <a:ext cx="5029200" cy="5205046"/>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If the generator potential reaches threshold, voltage-gated Na⁺ channels open and an action potential fires along the sensory neurone towards the CNS. This is how mechanical energy is transduced into electrical energy.</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1"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2"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What cells are found in the retina?</a:t>
            </a:r>
          </a:p>
        </p:txBody>
      </p:sp>
      <p:sp>
        <p:nvSpPr>
          <p:cNvPr id="15" name="Rounded Rectangle 14"/>
          <p:cNvSpPr/>
          <p:nvPr/>
        </p:nvSpPr>
        <p:spPr>
          <a:xfrm>
            <a:off x="274320" y="1188720"/>
            <a:ext cx="288036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retina is a photosensitive layer at the back of the eye. It contains two types of photoreceptors called rods and cones, which respond to different light intensities.</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on each label to find out more about the cells of the retina.</a:t>
            </a:r>
          </a:p>
        </p:txBody>
      </p:sp>
      <p:pic>
        <p:nvPicPr>
          <p:cNvPr id="16" name="Picture 15" descr="title_retina.png"/>
          <p:cNvPicPr>
            <a:picLocks noChangeAspect="1"/>
          </p:cNvPicPr>
          <p:nvPr/>
        </p:nvPicPr>
        <p:blipFill>
          <a:blip r:embed="rId3"/>
          <a:stretch>
            <a:fillRect/>
          </a:stretch>
        </p:blipFill>
        <p:spPr>
          <a:xfrm>
            <a:off x="3108960" y="1097280"/>
            <a:ext cx="5276110" cy="4709160"/>
          </a:xfrm>
          <a:prstGeom prst="rect">
            <a:avLst/>
          </a:prstGeom>
        </p:spPr>
      </p:pic>
      <p:sp>
        <p:nvSpPr>
          <p:cNvPr id="17" name="Rounded Rectangle 16">
            <a:hlinkClick r:id="rId6" action="ppaction://hlinksldjump"/>
          </p:cNvPr>
          <p:cNvSpPr/>
          <p:nvPr/>
        </p:nvSpPr>
        <p:spPr>
          <a:xfrm>
            <a:off x="6903720" y="123444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cone cell ▶</a:t>
            </a:r>
          </a:p>
        </p:txBody>
      </p:sp>
      <p:sp>
        <p:nvSpPr>
          <p:cNvPr id="18" name="Rounded Rectangle 17">
            <a:hlinkClick r:id="rId7" action="ppaction://hlinksldjump"/>
          </p:cNvPr>
          <p:cNvSpPr/>
          <p:nvPr/>
        </p:nvSpPr>
        <p:spPr>
          <a:xfrm>
            <a:off x="6903720" y="178308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rod cell ▶</a:t>
            </a:r>
          </a:p>
        </p:txBody>
      </p:sp>
      <p:sp>
        <p:nvSpPr>
          <p:cNvPr id="19" name="Rounded Rectangle 18">
            <a:hlinkClick r:id="rId8" action="ppaction://hlinksldjump"/>
          </p:cNvPr>
          <p:cNvSpPr/>
          <p:nvPr/>
        </p:nvSpPr>
        <p:spPr>
          <a:xfrm>
            <a:off x="6903720" y="233172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bipolar cell ▶</a:t>
            </a:r>
          </a:p>
        </p:txBody>
      </p:sp>
      <p:sp>
        <p:nvSpPr>
          <p:cNvPr id="20" name="Rounded Rectangle 19">
            <a:hlinkClick r:id="rId9" action="ppaction://hlinksldjump"/>
          </p:cNvPr>
          <p:cNvSpPr/>
          <p:nvPr/>
        </p:nvSpPr>
        <p:spPr>
          <a:xfrm>
            <a:off x="6903720" y="288036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ganglion cell ▶</a:t>
            </a:r>
          </a:p>
        </p:txBody>
      </p:sp>
      <p:sp>
        <p:nvSpPr>
          <p:cNvPr id="21" name="Rounded Rectangle 20">
            <a:hlinkClick r:id="rId10" action="ppaction://hlinksldjump"/>
          </p:cNvPr>
          <p:cNvSpPr/>
          <p:nvPr/>
        </p:nvSpPr>
        <p:spPr>
          <a:xfrm>
            <a:off x="6903720" y="342900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optic nerve ▶</a:t>
            </a:r>
          </a:p>
        </p:txBody>
      </p:sp>
      <p:sp>
        <p:nvSpPr>
          <p:cNvPr id="22" name="Rounded Rectangle 21">
            <a:hlinkClick r:id="rId4" action="ppaction://hlinksldjump"/>
          </p:cNvPr>
          <p:cNvSpPr/>
          <p:nvPr/>
        </p:nvSpPr>
        <p:spPr>
          <a:xfrm>
            <a:off x="6903720" y="6217920"/>
            <a:ext cx="137160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title_retina.png"/>
          <p:cNvPicPr>
            <a:picLocks noChangeAspect="1"/>
          </p:cNvPicPr>
          <p:nvPr/>
        </p:nvPicPr>
        <p:blipFill>
          <a:blip r:embed="rId3"/>
          <a:stretch>
            <a:fillRect/>
          </a:stretch>
        </p:blipFill>
        <p:spPr>
          <a:xfrm>
            <a:off x="274320" y="1005840"/>
            <a:ext cx="4815091" cy="4297680"/>
          </a:xfrm>
          <a:prstGeom prst="rect">
            <a:avLst/>
          </a:prstGeom>
        </p:spPr>
      </p:pic>
      <p:sp>
        <p:nvSpPr>
          <p:cNvPr id="12" name="Rounded Rectangle 11"/>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Cone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Photoreceptor for high light intensity and colour. Outer segment is conical. Concentrated in the fovea. Contains iodopsin. Usually a 1:1 link to a bipolar cell – high visual acuity.</a:t>
            </a:r>
          </a:p>
        </p:txBody>
      </p:sp>
      <p:sp>
        <p:nvSpPr>
          <p:cNvPr id="13" name="Rounded Rectangle 12">
            <a:hlinkClick r:id="rId4"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title_retina.png"/>
          <p:cNvPicPr>
            <a:picLocks noChangeAspect="1"/>
          </p:cNvPicPr>
          <p:nvPr/>
        </p:nvPicPr>
        <p:blipFill>
          <a:blip r:embed="rId3"/>
          <a:stretch>
            <a:fillRect/>
          </a:stretch>
        </p:blipFill>
        <p:spPr>
          <a:xfrm>
            <a:off x="274320" y="1005840"/>
            <a:ext cx="4815091" cy="4297680"/>
          </a:xfrm>
          <a:prstGeom prst="rect">
            <a:avLst/>
          </a:prstGeom>
        </p:spPr>
      </p:pic>
      <p:sp>
        <p:nvSpPr>
          <p:cNvPr id="12" name="Rounded Rectangle 11"/>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Rod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Photoreceptor for dim light (scotopic vision). Outer segment is rod-shaped with many rhodopsin discs. Many rods synapse with one bipolar cell (retinal convergence) – high sensitivity, lower acuity. Absent from the fovea.</a:t>
            </a:r>
          </a:p>
        </p:txBody>
      </p:sp>
      <p:sp>
        <p:nvSpPr>
          <p:cNvPr id="13" name="Rounded Rectangle 12">
            <a:hlinkClick r:id="rId4"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title_retina.png"/>
          <p:cNvPicPr>
            <a:picLocks noChangeAspect="1"/>
          </p:cNvPicPr>
          <p:nvPr/>
        </p:nvPicPr>
        <p:blipFill>
          <a:blip r:embed="rId3"/>
          <a:stretch>
            <a:fillRect/>
          </a:stretch>
        </p:blipFill>
        <p:spPr>
          <a:xfrm>
            <a:off x="274320" y="1005840"/>
            <a:ext cx="4815091" cy="4297680"/>
          </a:xfrm>
          <a:prstGeom prst="rect">
            <a:avLst/>
          </a:prstGeom>
        </p:spPr>
      </p:pic>
      <p:sp>
        <p:nvSpPr>
          <p:cNvPr id="12" name="Rounded Rectangle 11"/>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Bipolar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Connects photoreceptors to ganglion cells. In rod pathways, several rods share a bipolar cell (summation of generator potentials). In cone pathways at the fovea, the link is often one-to-one.</a:t>
            </a:r>
          </a:p>
        </p:txBody>
      </p:sp>
      <p:sp>
        <p:nvSpPr>
          <p:cNvPr id="13" name="Rounded Rectangle 12">
            <a:hlinkClick r:id="rId4"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title_retina.png"/>
          <p:cNvPicPr>
            <a:picLocks noChangeAspect="1"/>
          </p:cNvPicPr>
          <p:nvPr/>
        </p:nvPicPr>
        <p:blipFill>
          <a:blip r:embed="rId3"/>
          <a:stretch>
            <a:fillRect/>
          </a:stretch>
        </p:blipFill>
        <p:spPr>
          <a:xfrm>
            <a:off x="274320" y="1005840"/>
            <a:ext cx="4815091" cy="4297680"/>
          </a:xfrm>
          <a:prstGeom prst="rect">
            <a:avLst/>
          </a:prstGeom>
        </p:spPr>
      </p:pic>
      <p:sp>
        <p:nvSpPr>
          <p:cNvPr id="12" name="Rounded Rectangle 11"/>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Ganglion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Its axon forms part of the optic nerve. An action potential is generated in the ganglion cell, not in the rod or cone themselves. The optic disc (blind spot) is where these axons leave the eye.</a:t>
            </a:r>
          </a:p>
        </p:txBody>
      </p:sp>
      <p:sp>
        <p:nvSpPr>
          <p:cNvPr id="13" name="Rounded Rectangle 12">
            <a:hlinkClick r:id="rId4"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title_retina.png"/>
          <p:cNvPicPr>
            <a:picLocks noChangeAspect="1"/>
          </p:cNvPicPr>
          <p:nvPr/>
        </p:nvPicPr>
        <p:blipFill>
          <a:blip r:embed="rId3"/>
          <a:stretch>
            <a:fillRect/>
          </a:stretch>
        </p:blipFill>
        <p:spPr>
          <a:xfrm>
            <a:off x="274320" y="1005840"/>
            <a:ext cx="4815091" cy="4297680"/>
          </a:xfrm>
          <a:prstGeom prst="rect">
            <a:avLst/>
          </a:prstGeom>
        </p:spPr>
      </p:pic>
      <p:sp>
        <p:nvSpPr>
          <p:cNvPr id="12" name="Rounded Rectangle 11"/>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Optic nerve</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Bundle of ganglion-cell axons leaving at the blind spot. There are no photoreceptors here, so an image falling on the optic disc is not seen.</a:t>
            </a:r>
          </a:p>
        </p:txBody>
      </p:sp>
      <p:sp>
        <p:nvSpPr>
          <p:cNvPr id="13" name="Rounded Rectangle 12">
            <a:hlinkClick r:id="rId4"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 rod cells produce impulses?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20040" y="868680"/>
            <a:ext cx="5760720" cy="4937760"/>
          </a:xfrm>
          <a:prstGeom prst="rect">
            <a:avLst/>
          </a:prstGeom>
          <a:noFill/>
        </p:spPr>
        <p:txBody>
          <a:bodyPr wrap="square" anchor="t">
            <a:spAutoFit/>
          </a:bodyPr>
          <a:lstStyle/>
          <a:p>
            <a:pPr algn="l"/>
            <a:r>
              <a:rPr sz="1600" b="0" i="0">
                <a:solidFill>
                  <a:srgbClr val="1A2F5A"/>
                </a:solidFill>
                <a:latin typeface="Calibri"/>
              </a:rPr>
              <a:t>Rod cells allow vision in dim light due to the presence of a pigment called </a:t>
            </a:r>
            <a:r>
              <a:rPr sz="1600" b="1" i="0">
                <a:solidFill>
                  <a:srgbClr val="2E9E4F"/>
                </a:solidFill>
                <a:latin typeface="Calibri"/>
              </a:rPr>
              <a:t>rhodopsin</a:t>
            </a:r>
            <a:r>
              <a:rPr sz="1600" b="0" i="0">
                <a:solidFill>
                  <a:srgbClr val="1A2F5A"/>
                </a:solidFill>
                <a:latin typeface="Calibri"/>
              </a:rPr>
              <a:t>, which is found in membrane-bound vesicles.</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When rhodopsin absorbs light it splits into its constituent parts, </a:t>
            </a:r>
            <a:r>
              <a:rPr sz="1600" b="1" i="0">
                <a:solidFill>
                  <a:srgbClr val="2E9E4F"/>
                </a:solidFill>
                <a:latin typeface="Calibri"/>
              </a:rPr>
              <a:t>opsin</a:t>
            </a:r>
            <a:r>
              <a:rPr sz="1600" b="0" i="0">
                <a:solidFill>
                  <a:srgbClr val="1A2F5A"/>
                </a:solidFill>
                <a:latin typeface="Calibri"/>
              </a:rPr>
              <a:t> and </a:t>
            </a:r>
            <a:r>
              <a:rPr sz="1600" b="1" i="0">
                <a:solidFill>
                  <a:srgbClr val="2E9E4F"/>
                </a:solidFill>
                <a:latin typeface="Calibri"/>
              </a:rPr>
              <a:t>retinal</a:t>
            </a:r>
            <a:r>
              <a:rPr sz="1600" b="0" i="0">
                <a:solidFill>
                  <a:srgbClr val="1A2F5A"/>
                </a:solidFill>
                <a:latin typeface="Calibri"/>
              </a:rPr>
              <a:t>. This is called </a:t>
            </a:r>
            <a:r>
              <a:rPr sz="1600" b="1" i="0">
                <a:solidFill>
                  <a:srgbClr val="2E9E4F"/>
                </a:solidFill>
                <a:latin typeface="Calibri"/>
              </a:rPr>
              <a:t>bleaching</a:t>
            </a:r>
            <a:r>
              <a:rPr sz="1600" b="0" i="0">
                <a:solidFill>
                  <a:srgbClr val="1A2F5A"/>
                </a:solidFill>
                <a:latin typeface="Calibri"/>
              </a:rPr>
              <a:t>. Low intensity light is sufficient to cause this breakdown.</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The presence of opsin causes a change in the permeability of the rod cell to sodium, which initiates a generator potential. Rhodopsin can reform in the absence of further light stimulation.</a:t>
            </a:r>
          </a:p>
        </p:txBody>
      </p:sp>
      <p:pic>
        <p:nvPicPr>
          <p:cNvPr id="14" name="Picture 13" descr="rod_cell.png"/>
          <p:cNvPicPr>
            <a:picLocks noChangeAspect="1"/>
          </p:cNvPicPr>
          <p:nvPr/>
        </p:nvPicPr>
        <p:blipFill>
          <a:blip r:embed="rId3"/>
          <a:stretch>
            <a:fillRect/>
          </a:stretch>
        </p:blipFill>
        <p:spPr>
          <a:xfrm>
            <a:off x="6126480" y="868680"/>
            <a:ext cx="2403909" cy="4937760"/>
          </a:xfrm>
          <a:prstGeom prst="rect">
            <a:avLst/>
          </a:prstGeom>
        </p:spPr>
      </p:pic>
      <p:sp>
        <p:nvSpPr>
          <p:cNvPr id="15" name="TextBox 14"/>
          <p:cNvSpPr txBox="1"/>
          <p:nvPr/>
        </p:nvSpPr>
        <p:spPr>
          <a:xfrm>
            <a:off x="5989320" y="914400"/>
            <a:ext cx="2926080" cy="640080"/>
          </a:xfrm>
          <a:prstGeom prst="rect">
            <a:avLst/>
          </a:prstGeom>
          <a:noFill/>
        </p:spPr>
        <p:txBody>
          <a:bodyPr wrap="square" anchor="t">
            <a:spAutoFit/>
          </a:bodyPr>
          <a:lstStyle/>
          <a:p>
            <a:pPr algn="l">
              <a:spcAft>
                <a:spcPts val="400"/>
              </a:spcAft>
            </a:pPr>
            <a:r>
              <a:rPr sz="1200" b="1" i="0">
                <a:solidFill>
                  <a:srgbClr val="2E9E4F"/>
                </a:solidFill>
                <a:latin typeface="Calibri"/>
              </a:rPr>
              <a:t>vesicles containing rhodopsin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How do cone cells produce impulses?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20040" y="868680"/>
            <a:ext cx="5760720" cy="4937760"/>
          </a:xfrm>
          <a:prstGeom prst="rect">
            <a:avLst/>
          </a:prstGeom>
          <a:noFill/>
        </p:spPr>
        <p:txBody>
          <a:bodyPr wrap="square" anchor="t">
            <a:spAutoFit/>
          </a:bodyPr>
          <a:lstStyle/>
          <a:p>
            <a:pPr algn="l"/>
            <a:r>
              <a:rPr sz="1600" b="0" i="0">
                <a:solidFill>
                  <a:srgbClr val="1A2F5A"/>
                </a:solidFill>
                <a:latin typeface="Calibri"/>
              </a:rPr>
              <a:t>Cone cells are sensitive to high light intensities due to the presence of the pigment </a:t>
            </a:r>
            <a:r>
              <a:rPr sz="1600" b="1" i="0">
                <a:solidFill>
                  <a:srgbClr val="2E9E4F"/>
                </a:solidFill>
                <a:latin typeface="Calibri"/>
              </a:rPr>
              <a:t>iodopsin</a:t>
            </a:r>
            <a:r>
              <a:rPr sz="1600" b="0" i="0">
                <a:solidFill>
                  <a:srgbClr val="1A2F5A"/>
                </a:solidFill>
                <a:latin typeface="Calibri"/>
              </a:rPr>
              <a:t>.</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In bright light, iodopsin is broken down into its constituent parts, generating an action potential in the ganglion cell.</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There are three different types of cone cell, each containing a different form of iodopsin. Each form of iodopsin absorbs a different wavelength of light – green, blue or red.</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The colour seen depends on the relative degree of stimulation of the three different types of cone cell.</a:t>
            </a:r>
          </a:p>
        </p:txBody>
      </p:sp>
      <p:pic>
        <p:nvPicPr>
          <p:cNvPr id="14" name="Picture 13" descr="cone_cell.png"/>
          <p:cNvPicPr>
            <a:picLocks noChangeAspect="1"/>
          </p:cNvPicPr>
          <p:nvPr/>
        </p:nvPicPr>
        <p:blipFill>
          <a:blip r:embed="rId3"/>
          <a:stretch>
            <a:fillRect/>
          </a:stretch>
        </p:blipFill>
        <p:spPr>
          <a:xfrm>
            <a:off x="6126480" y="868680"/>
            <a:ext cx="2403909" cy="4937760"/>
          </a:xfrm>
          <a:prstGeom prst="rect">
            <a:avLst/>
          </a:prstGeom>
        </p:spPr>
      </p:pic>
      <p:sp>
        <p:nvSpPr>
          <p:cNvPr id="15" name="TextBox 14"/>
          <p:cNvSpPr txBox="1"/>
          <p:nvPr/>
        </p:nvSpPr>
        <p:spPr>
          <a:xfrm>
            <a:off x="5989320" y="914400"/>
            <a:ext cx="2926080" cy="640080"/>
          </a:xfrm>
          <a:prstGeom prst="rect">
            <a:avLst/>
          </a:prstGeom>
          <a:noFill/>
        </p:spPr>
        <p:txBody>
          <a:bodyPr wrap="square" anchor="t">
            <a:spAutoFit/>
          </a:bodyPr>
          <a:lstStyle/>
          <a:p>
            <a:pPr algn="l">
              <a:spcAft>
                <a:spcPts val="400"/>
              </a:spcAft>
            </a:pPr>
            <a:r>
              <a:rPr sz="1200" b="1" i="0">
                <a:solidFill>
                  <a:srgbClr val="2E9E4F"/>
                </a:solidFill>
                <a:latin typeface="Calibri"/>
              </a:rPr>
              <a:t>vesicles containing iodopsin</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60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Do these statements apply to rods or cones?</a:t>
            </a:r>
          </a:p>
        </p:txBody>
      </p:sp>
      <p:sp>
        <p:nvSpPr>
          <p:cNvPr id="15" name="TextBox 14"/>
          <p:cNvSpPr txBox="1"/>
          <p:nvPr/>
        </p:nvSpPr>
        <p:spPr>
          <a:xfrm>
            <a:off x="411480" y="1188720"/>
            <a:ext cx="3931920" cy="365760"/>
          </a:xfrm>
          <a:prstGeom prst="rect">
            <a:avLst/>
          </a:prstGeom>
          <a:noFill/>
        </p:spPr>
        <p:txBody>
          <a:bodyPr wrap="square" anchor="t">
            <a:spAutoFit/>
          </a:bodyPr>
          <a:lstStyle/>
          <a:p>
            <a:pPr algn="l">
              <a:spcAft>
                <a:spcPts val="400"/>
              </a:spcAft>
            </a:pPr>
            <a:r>
              <a:rPr sz="1400" b="0" i="0">
                <a:solidFill>
                  <a:srgbClr val="1B3A6B"/>
                </a:solidFill>
                <a:latin typeface="Calibri"/>
              </a:rPr>
              <a:t>Click a statement, then place it.</a:t>
            </a:r>
          </a:p>
        </p:txBody>
      </p:sp>
      <p:sp>
        <p:nvSpPr>
          <p:cNvPr id="16" name="Rounded Rectangle 15">
            <a:hlinkClick r:id="rId5" action="ppaction://hlinksldjump"/>
          </p:cNvPr>
          <p:cNvSpPr/>
          <p:nvPr/>
        </p:nvSpPr>
        <p:spPr>
          <a:xfrm>
            <a:off x="365760" y="1600200"/>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mostly used for night vision</a:t>
            </a:r>
          </a:p>
        </p:txBody>
      </p:sp>
      <p:sp>
        <p:nvSpPr>
          <p:cNvPr id="17" name="Rounded Rectangle 16">
            <a:hlinkClick r:id="rId6" action="ppaction://hlinksldjump"/>
          </p:cNvPr>
          <p:cNvSpPr/>
          <p:nvPr/>
        </p:nvSpPr>
        <p:spPr>
          <a:xfrm>
            <a:off x="4663440" y="1600200"/>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contain rhodopsin</a:t>
            </a:r>
          </a:p>
        </p:txBody>
      </p:sp>
      <p:sp>
        <p:nvSpPr>
          <p:cNvPr id="18" name="Rounded Rectangle 17">
            <a:hlinkClick r:id="rId7" action="ppaction://hlinksldjump"/>
          </p:cNvPr>
          <p:cNvSpPr/>
          <p:nvPr/>
        </p:nvSpPr>
        <p:spPr>
          <a:xfrm>
            <a:off x="365760" y="2130552"/>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contain iodopsin</a:t>
            </a:r>
          </a:p>
        </p:txBody>
      </p:sp>
      <p:sp>
        <p:nvSpPr>
          <p:cNvPr id="19" name="Rounded Rectangle 18">
            <a:hlinkClick r:id="rId8" action="ppaction://hlinksldjump"/>
          </p:cNvPr>
          <p:cNvSpPr/>
          <p:nvPr/>
        </p:nvSpPr>
        <p:spPr>
          <a:xfrm>
            <a:off x="4663440" y="2130552"/>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concentrated in the fovea</a:t>
            </a:r>
          </a:p>
        </p:txBody>
      </p:sp>
      <p:sp>
        <p:nvSpPr>
          <p:cNvPr id="20" name="Rounded Rectangle 19">
            <a:hlinkClick r:id="rId9" action="ppaction://hlinksldjump"/>
          </p:cNvPr>
          <p:cNvSpPr/>
          <p:nvPr/>
        </p:nvSpPr>
        <p:spPr>
          <a:xfrm>
            <a:off x="365760" y="2660904"/>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high sensitivity, lower acuity</a:t>
            </a:r>
          </a:p>
        </p:txBody>
      </p:sp>
      <p:sp>
        <p:nvSpPr>
          <p:cNvPr id="21" name="Rounded Rectangle 20">
            <a:hlinkClick r:id="rId10" action="ppaction://hlinksldjump"/>
          </p:cNvPr>
          <p:cNvSpPr/>
          <p:nvPr/>
        </p:nvSpPr>
        <p:spPr>
          <a:xfrm>
            <a:off x="4663440" y="2660904"/>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three types detect colour</a:t>
            </a:r>
          </a:p>
        </p:txBody>
      </p:sp>
      <p:sp>
        <p:nvSpPr>
          <p:cNvPr id="22" name="Rounded Rectangle 21">
            <a:hlinkClick r:id="rId11" action="ppaction://hlinksldjump"/>
          </p:cNvPr>
          <p:cNvSpPr/>
          <p:nvPr/>
        </p:nvSpPr>
        <p:spPr>
          <a:xfrm>
            <a:off x="365760" y="3191256"/>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many share one bipolar cell</a:t>
            </a:r>
          </a:p>
        </p:txBody>
      </p:sp>
      <p:sp>
        <p:nvSpPr>
          <p:cNvPr id="23" name="Rounded Rectangle 22">
            <a:hlinkClick r:id="rId12" action="ppaction://hlinksldjump"/>
          </p:cNvPr>
          <p:cNvSpPr/>
          <p:nvPr/>
        </p:nvSpPr>
        <p:spPr>
          <a:xfrm>
            <a:off x="4663440" y="3191256"/>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work in bright light</a:t>
            </a:r>
          </a:p>
        </p:txBody>
      </p:sp>
      <p:sp>
        <p:nvSpPr>
          <p:cNvPr id="24" name="Rounded Rectangle 23">
            <a:hlinkClick r:id="rId13" action="ppaction://hlinksldjump"/>
          </p:cNvPr>
          <p:cNvSpPr/>
          <p:nvPr/>
        </p:nvSpPr>
        <p:spPr>
          <a:xfrm>
            <a:off x="32004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5" name="Rounded Rectangle 24">
            <a:hlinkClick r:id="rId3" action="ppaction://hlinksldjump"/>
          </p:cNvPr>
          <p:cNvSpPr/>
          <p:nvPr/>
        </p:nvSpPr>
        <p:spPr>
          <a:xfrm>
            <a:off x="196596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mostly used for night vision</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mostly used for night vision</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‘mostly used for night vision’ describes rods, not cones.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contain rhodopsin</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rhodopsin</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rhodopsin’ describes rods, not cones.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contain iodopsin</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iodopsin’ describes cones, not rods.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iodopsin</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concentrated in the fovea</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‘concentrated in the fovea’ describes cones, not rods.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concentrated in the fovea</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high sensitivity, lower acuity</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high sensitivity, lower acuity</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‘high sensitivity, lower acuity’ describes rods, not cones.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three types detect colour</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‘three types detect colour’ describes cones, not rods.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three types detect colour</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many share one bipolar cell</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many share one bipolar cell</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‘many share one bipolar cell’ describes rods, not cones.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work in bright light</a:t>
            </a:r>
          </a:p>
        </p:txBody>
      </p:sp>
      <p:sp>
        <p:nvSpPr>
          <p:cNvPr id="12" name="TextBox 11"/>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3" name="Rounded Rectangle 12">
            <a:hlinkClick r:id="rId3"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4" name="Rounded Rectangle 13">
            <a:hlinkClick r:id="rId4"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‘work in bright light’ describes cones, not rods.</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work in bright light</a:t>
            </a:r>
          </a:p>
        </p:txBody>
      </p:sp>
      <p:sp>
        <p:nvSpPr>
          <p:cNvPr id="12" name="Rounded Rectangle 11">
            <a:hlinkClick r:id="rId3"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Photoreceptors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365760" y="914400"/>
            <a:ext cx="4114800" cy="43891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600" b="0" i="0">
                <a:solidFill>
                  <a:srgbClr val="1B3A6B"/>
                </a:solidFill>
                <a:latin typeface="Calibri"/>
              </a:rPr>
              <a:t>RODS</a:t>
            </a:r>
          </a:p>
          <a:p>
            <a:pPr algn="l">
              <a:spcAft>
                <a:spcPts val="200"/>
              </a:spcAft>
            </a:pPr>
            <a:r>
              <a:rPr sz="1600" b="0" i="0">
                <a:solidFill>
                  <a:srgbClr val="1B3A6B"/>
                </a:solidFill>
                <a:latin typeface="Calibri"/>
              </a:rPr>
              <a:t/>
            </a:r>
          </a:p>
          <a:p>
            <a:pPr algn="l">
              <a:spcAft>
                <a:spcPts val="200"/>
              </a:spcAft>
            </a:pPr>
            <a:r>
              <a:rPr sz="1600" b="0" i="0">
                <a:solidFill>
                  <a:srgbClr val="1B3A6B"/>
                </a:solidFill>
                <a:latin typeface="Calibri"/>
              </a:rPr>
              <a:t>• mostly used for night vision</a:t>
            </a:r>
          </a:p>
          <a:p>
            <a:pPr algn="l">
              <a:spcAft>
                <a:spcPts val="200"/>
              </a:spcAft>
            </a:pPr>
            <a:r>
              <a:rPr sz="1600" b="0" i="0">
                <a:solidFill>
                  <a:srgbClr val="1B3A6B"/>
                </a:solidFill>
                <a:latin typeface="Calibri"/>
              </a:rPr>
              <a:t>• contain rhodopsin</a:t>
            </a:r>
          </a:p>
          <a:p>
            <a:pPr algn="l">
              <a:spcAft>
                <a:spcPts val="200"/>
              </a:spcAft>
            </a:pPr>
            <a:r>
              <a:rPr sz="1600" b="0" i="0">
                <a:solidFill>
                  <a:srgbClr val="1B3A6B"/>
                </a:solidFill>
                <a:latin typeface="Calibri"/>
              </a:rPr>
              <a:t>• high sensitivity, lower acuity</a:t>
            </a:r>
          </a:p>
          <a:p>
            <a:pPr algn="l">
              <a:spcAft>
                <a:spcPts val="200"/>
              </a:spcAft>
            </a:pPr>
            <a:r>
              <a:rPr sz="1600" b="0" i="0">
                <a:solidFill>
                  <a:srgbClr val="1B3A6B"/>
                </a:solidFill>
                <a:latin typeface="Calibri"/>
              </a:rPr>
              <a:t>• many share one bipolar cell</a:t>
            </a:r>
          </a:p>
        </p:txBody>
      </p:sp>
      <p:sp>
        <p:nvSpPr>
          <p:cNvPr id="12" name="Rounded Rectangle 11"/>
          <p:cNvSpPr/>
          <p:nvPr/>
        </p:nvSpPr>
        <p:spPr>
          <a:xfrm>
            <a:off x="4663440" y="914400"/>
            <a:ext cx="4114800" cy="438912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600" b="0" i="0">
                <a:solidFill>
                  <a:srgbClr val="1B3A6B"/>
                </a:solidFill>
                <a:latin typeface="Calibri"/>
              </a:rPr>
              <a:t>CONES</a:t>
            </a:r>
          </a:p>
          <a:p>
            <a:pPr algn="l">
              <a:spcAft>
                <a:spcPts val="200"/>
              </a:spcAft>
            </a:pPr>
            <a:r>
              <a:rPr sz="1600" b="0" i="0">
                <a:solidFill>
                  <a:srgbClr val="1B3A6B"/>
                </a:solidFill>
                <a:latin typeface="Calibri"/>
              </a:rPr>
              <a:t/>
            </a:r>
          </a:p>
          <a:p>
            <a:pPr algn="l">
              <a:spcAft>
                <a:spcPts val="200"/>
              </a:spcAft>
            </a:pPr>
            <a:r>
              <a:rPr sz="1600" b="0" i="0">
                <a:solidFill>
                  <a:srgbClr val="1B3A6B"/>
                </a:solidFill>
                <a:latin typeface="Calibri"/>
              </a:rPr>
              <a:t>• contain iodopsin</a:t>
            </a:r>
          </a:p>
          <a:p>
            <a:pPr algn="l">
              <a:spcAft>
                <a:spcPts val="200"/>
              </a:spcAft>
            </a:pPr>
            <a:r>
              <a:rPr sz="1600" b="0" i="0">
                <a:solidFill>
                  <a:srgbClr val="1B3A6B"/>
                </a:solidFill>
                <a:latin typeface="Calibri"/>
              </a:rPr>
              <a:t>• concentrated in the fovea</a:t>
            </a:r>
          </a:p>
          <a:p>
            <a:pPr algn="l">
              <a:spcAft>
                <a:spcPts val="200"/>
              </a:spcAft>
            </a:pPr>
            <a:r>
              <a:rPr sz="1600" b="0" i="0">
                <a:solidFill>
                  <a:srgbClr val="1B3A6B"/>
                </a:solidFill>
                <a:latin typeface="Calibri"/>
              </a:rPr>
              <a:t>• three types detect colour</a:t>
            </a:r>
          </a:p>
          <a:p>
            <a:pPr algn="l">
              <a:spcAft>
                <a:spcPts val="200"/>
              </a:spcAft>
            </a:pPr>
            <a:r>
              <a:rPr sz="1600" b="0" i="0">
                <a:solidFill>
                  <a:srgbClr val="1B3A6B"/>
                </a:solidFill>
                <a:latin typeface="Calibri"/>
              </a:rPr>
              <a:t>• work in bright light</a:t>
            </a:r>
          </a:p>
        </p:txBody>
      </p:sp>
      <p:sp>
        <p:nvSpPr>
          <p:cNvPr id="13" name="Rounded Rectangle 12">
            <a:hlinkClick r:id="rId3" action="ppaction://hlinksldjump"/>
          </p:cNvPr>
          <p:cNvSpPr/>
          <p:nvPr/>
        </p:nvSpPr>
        <p:spPr>
          <a:xfrm>
            <a:off x="3200400" y="557784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61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A Pacinian corpuscle produces a generator potential when:</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stretch-mediated sodium channels open and Na⁺ enters</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iodopsin is bleached by dim light</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voltage-gated potassium channels close permanently</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acetylcholine is released from the lamellae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Pressure deforms the ending, stretch-mediated Na⁺ channels open, Na⁺ influx creates a graded generator potential.</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transduction of mechanical energy in the Pacinian corpuscle.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transduction of mechanical energy in the Pacinian corpuscle.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transduction of mechanical energy in the Pacinian corpuscle.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Which statement about rods is correct?</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They contain iodopsin and give high visual acuity</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They contain rhodopsin and are used in dim light</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They are concentrated in the fovea</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Each rod has a 1:1 connection to a ganglion cell at the fovea</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Rods use rhodopsin, operate in dim light, show convergence, and are absent from the fovea.</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Compare pigment, location and connectivity of rods and cones.</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Compare pigment, location and connectivity of rods and cones.</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Compare pigment, location and connectivity of rods and cones.</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End of Part 3</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5"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457200" y="1828800"/>
            <a:ext cx="8229600" cy="914400"/>
          </a:xfrm>
          <a:prstGeom prst="rect">
            <a:avLst/>
          </a:prstGeom>
          <a:noFill/>
        </p:spPr>
        <p:txBody>
          <a:bodyPr wrap="square" anchor="t">
            <a:spAutoFit/>
          </a:bodyPr>
          <a:lstStyle/>
          <a:p>
            <a:pPr algn="ctr">
              <a:spcAft>
                <a:spcPts val="400"/>
              </a:spcAft>
            </a:pPr>
            <a:r>
              <a:rPr sz="2600" b="1" i="0">
                <a:solidFill>
                  <a:srgbClr val="2E9E4F"/>
                </a:solidFill>
                <a:latin typeface="Calibri"/>
              </a:rPr>
              <a:t>Next: Part 4 – The synapse</a:t>
            </a:r>
          </a:p>
        </p:txBody>
      </p:sp>
      <p:sp>
        <p:nvSpPr>
          <p:cNvPr id="14" name="Rounded Rectangle 13">
            <a:hlinkClick r:id="rId3" action="ppaction://hlinksldjump"/>
          </p:cNvPr>
          <p:cNvSpPr/>
          <p:nvPr/>
        </p:nvSpPr>
        <p:spPr>
          <a:xfrm>
            <a:off x="3017520" y="365760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
        <p:nvSpPr>
          <p:cNvPr id="15" name="Rounded Rectangle 14">
            <a:hlinkClick r:id="rId4" action="ppaction://hlinksldjump"/>
          </p:cNvPr>
          <p:cNvSpPr/>
          <p:nvPr/>
        </p:nvSpPr>
        <p:spPr>
          <a:xfrm>
            <a:off x="3017520" y="4251960"/>
            <a:ext cx="310896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Next: The synapse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4: The synapse</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5"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a:hlinkClick r:id="rId4" action="ppaction://hlinksldjump"/>
          </p:cNvPr>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3" name="Rounded Rectangle 12">
            <a:hlinkClick r:id="rId2" action="ppaction://hlinksldjump"/>
          </p:cNvPr>
          <p:cNvSpPr/>
          <p:nvPr/>
        </p:nvSpPr>
        <p:spPr>
          <a:xfrm>
            <a:off x="201168" y="256032"/>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4" name="Picture 13" descr="title_retina.png"/>
          <p:cNvPicPr>
            <a:picLocks noChangeAspect="1"/>
          </p:cNvPicPr>
          <p:nvPr/>
        </p:nvPicPr>
        <p:blipFill>
          <a:blip r:embed="rId3"/>
          <a:stretch>
            <a:fillRect/>
          </a:stretch>
        </p:blipFill>
        <p:spPr>
          <a:xfrm>
            <a:off x="2468880" y="1874519"/>
            <a:ext cx="4046726" cy="3611880"/>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ounded Rectangle 12">
            <a:hlinkClick r:id="rId3" action="ppaction://hlinksldjump"/>
          </p:cNvPr>
          <p:cNvSpPr/>
          <p:nvPr/>
        </p:nvSpPr>
        <p:spPr>
          <a:xfrm>
            <a:off x="1280160" y="1280160"/>
            <a:ext cx="6583680" cy="5943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  what happens at a synapse? (animation)</a:t>
            </a:r>
          </a:p>
        </p:txBody>
      </p:sp>
      <p:sp>
        <p:nvSpPr>
          <p:cNvPr id="14" name="Rounded Rectangle 13">
            <a:hlinkClick r:id="rId4" action="ppaction://hlinksldjump"/>
          </p:cNvPr>
          <p:cNvSpPr/>
          <p:nvPr/>
        </p:nvSpPr>
        <p:spPr>
          <a:xfrm>
            <a:off x="1280160" y="1993391"/>
            <a:ext cx="6583680" cy="59436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  features of a synapse</a:t>
            </a:r>
          </a:p>
        </p:txBody>
      </p:sp>
      <p:sp>
        <p:nvSpPr>
          <p:cNvPr id="15" name="Rounded Rectangle 14">
            <a:hlinkClick r:id="rId5" action="ppaction://hlinksldjump"/>
          </p:cNvPr>
          <p:cNvSpPr/>
          <p:nvPr/>
        </p:nvSpPr>
        <p:spPr>
          <a:xfrm>
            <a:off x="1280160" y="2706624"/>
            <a:ext cx="6583680" cy="5943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  transmission sequence</a:t>
            </a:r>
          </a:p>
        </p:txBody>
      </p:sp>
      <p:sp>
        <p:nvSpPr>
          <p:cNvPr id="16" name="Rounded Rectangle 15">
            <a:hlinkClick r:id="rId6" action="ppaction://hlinksldjump"/>
          </p:cNvPr>
          <p:cNvSpPr/>
          <p:nvPr/>
        </p:nvSpPr>
        <p:spPr>
          <a:xfrm>
            <a:off x="1280160" y="3419856"/>
            <a:ext cx="6583680" cy="59436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  structure – labelling</a:t>
            </a:r>
          </a:p>
        </p:txBody>
      </p:sp>
      <p:sp>
        <p:nvSpPr>
          <p:cNvPr id="17" name="Rounded Rectangle 16">
            <a:hlinkClick r:id="rId7" action="ppaction://hlinksldjump"/>
          </p:cNvPr>
          <p:cNvSpPr/>
          <p:nvPr/>
        </p:nvSpPr>
        <p:spPr>
          <a:xfrm>
            <a:off x="1280160" y="4133088"/>
            <a:ext cx="6583680" cy="5943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  knowledge check</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8:  The junction</a:t>
            </a:r>
          </a:p>
        </p:txBody>
      </p:sp>
      <p:pic>
        <p:nvPicPr>
          <p:cNvPr id="15" name="Picture 14" descr="synapse_0.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Nervous impulses can be transmitted from one neurone to another. This transfer occurs at a junction called the synapse. Press Next step to watch neurotransmitter release, diffusion, binding and the postsynaptic response.</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8:  Action potential arrives</a:t>
            </a:r>
          </a:p>
        </p:txBody>
      </p:sp>
      <p:pic>
        <p:nvPicPr>
          <p:cNvPr id="15" name="Picture 14" descr="synapse_1.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An action potential reaches the synaptic knob of the presynaptic neurone. The membrane depolarises.</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8:  Calcium ions enter</a:t>
            </a:r>
          </a:p>
        </p:txBody>
      </p:sp>
      <p:pic>
        <p:nvPicPr>
          <p:cNvPr id="15" name="Picture 14" descr="synapse_2.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Voltage-gated calcium channels open. Ca²⁺ diffuses into the synaptic knob down its concentration gradient.</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8:  Vesicles move</a:t>
            </a:r>
          </a:p>
        </p:txBody>
      </p:sp>
      <p:pic>
        <p:nvPicPr>
          <p:cNvPr id="15" name="Picture 14" descr="synapse_3.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Ca²⁺ causes synaptic vesicles to move to and fuse with the presynaptic membrane.</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70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5 of 8:  Acetylcholine released</a:t>
            </a:r>
          </a:p>
        </p:txBody>
      </p:sp>
      <p:pic>
        <p:nvPicPr>
          <p:cNvPr id="15" name="Picture 14" descr="synapse_4.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Vesicles release acetylcholine (ACh) into the synaptic cleft by exocytosis.</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71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6 of 8:  Diffusion across the cleft</a:t>
            </a:r>
          </a:p>
        </p:txBody>
      </p:sp>
      <p:pic>
        <p:nvPicPr>
          <p:cNvPr id="15" name="Picture 14" descr="synapse_5.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ACh diffuses across the synaptic cleft (about 20–30 nm). This is the reason synaptic transmission is slower than electrical conduction along an axon.</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72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7 of 8:  Receptor binding</a:t>
            </a:r>
          </a:p>
        </p:txBody>
      </p:sp>
      <p:pic>
        <p:nvPicPr>
          <p:cNvPr id="15" name="Picture 14" descr="synapse_6.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ACh binds to complementary receptors on the postsynaptic membrane. This opens ligand-gated sodium channels.</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happens at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73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8 of 8:  Postsynaptic response</a:t>
            </a:r>
          </a:p>
        </p:txBody>
      </p:sp>
      <p:pic>
        <p:nvPicPr>
          <p:cNvPr id="15" name="Picture 14" descr="synapse_7.png"/>
          <p:cNvPicPr>
            <a:picLocks noChangeAspect="1"/>
          </p:cNvPicPr>
          <p:nvPr/>
        </p:nvPicPr>
        <p:blipFill>
          <a:blip r:embed="rId3"/>
          <a:stretch>
            <a:fillRect/>
          </a:stretch>
        </p:blipFill>
        <p:spPr>
          <a:xfrm>
            <a:off x="274320" y="1170432"/>
            <a:ext cx="5029200" cy="3743433"/>
          </a:xfrm>
          <a:prstGeom prst="rect">
            <a:avLst/>
          </a:prstGeom>
        </p:spPr>
      </p:pic>
      <p:sp>
        <p:nvSpPr>
          <p:cNvPr id="16" name="Rounded Rectangle 15"/>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Na⁺ enters the postsynaptic neurone. If the excitatory postsynaptic potential reaches threshold, an action potential is generated. ACh is then hydrolysed by acetylcholinesterase so the membrane can repolarise.</a:t>
            </a:r>
          </a:p>
        </p:txBody>
      </p:sp>
      <p:sp>
        <p:nvSpPr>
          <p:cNvPr id="17" name="Rounded Rectangle 16">
            <a:hlinkClick r:id="rId4"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8" name="Rounded Rectangle 17">
            <a:hlinkClick r:id="rId5"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are the main features?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74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The features of a synapse</a:t>
            </a:r>
          </a:p>
        </p:txBody>
      </p:sp>
      <p:pic>
        <p:nvPicPr>
          <p:cNvPr id="15" name="Picture 14" descr="synapse_em_style.png"/>
          <p:cNvPicPr>
            <a:picLocks noChangeAspect="1"/>
          </p:cNvPicPr>
          <p:nvPr/>
        </p:nvPicPr>
        <p:blipFill>
          <a:blip r:embed="rId3"/>
          <a:stretch>
            <a:fillRect/>
          </a:stretch>
        </p:blipFill>
        <p:spPr>
          <a:xfrm>
            <a:off x="228600" y="1097280"/>
            <a:ext cx="4572000" cy="4572000"/>
          </a:xfrm>
          <a:prstGeom prst="rect">
            <a:avLst/>
          </a:prstGeom>
        </p:spPr>
      </p:pic>
      <p:sp>
        <p:nvSpPr>
          <p:cNvPr id="16" name="Rounded Rectangle 15"/>
          <p:cNvSpPr/>
          <p:nvPr/>
        </p:nvSpPr>
        <p:spPr>
          <a:xfrm>
            <a:off x="5212080" y="1143000"/>
            <a:ext cx="3566160" cy="19659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Which structures can you identify?</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Which cell is the presynaptic neurone?</a:t>
            </a:r>
          </a:p>
        </p:txBody>
      </p:sp>
      <p:sp>
        <p:nvSpPr>
          <p:cNvPr id="17" name="Rounded Rectangle 16">
            <a:hlinkClick r:id="rId5" action="ppaction://hlinksldjump"/>
          </p:cNvPr>
          <p:cNvSpPr/>
          <p:nvPr/>
        </p:nvSpPr>
        <p:spPr>
          <a:xfrm>
            <a:off x="5349240" y="3246120"/>
            <a:ext cx="3291840" cy="43891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show diagram</a:t>
            </a:r>
          </a:p>
        </p:txBody>
      </p:sp>
      <p:sp>
        <p:nvSpPr>
          <p:cNvPr id="18" name="Rounded Rectangle 17">
            <a:hlinkClick r:id="rId6" action="ppaction://hlinksldjump"/>
          </p:cNvPr>
          <p:cNvSpPr/>
          <p:nvPr/>
        </p:nvSpPr>
        <p:spPr>
          <a:xfrm>
            <a:off x="5349240" y="3794760"/>
            <a:ext cx="3291840" cy="438912"/>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identify structures</a:t>
            </a:r>
          </a:p>
        </p:txBody>
      </p:sp>
      <p:sp>
        <p:nvSpPr>
          <p:cNvPr id="19" name="Rounded Rectangle 18">
            <a:hlinkClick r:id="rId7" action="ppaction://hlinksldjump"/>
          </p:cNvPr>
          <p:cNvSpPr/>
          <p:nvPr/>
        </p:nvSpPr>
        <p:spPr>
          <a:xfrm>
            <a:off x="5349240" y="4343400"/>
            <a:ext cx="3291840" cy="438912"/>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which is presynaptic?</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are the main features?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pic>
        <p:nvPicPr>
          <p:cNvPr id="11" name="Picture 10" descr="synapse_0.png"/>
          <p:cNvPicPr>
            <a:picLocks noChangeAspect="1"/>
          </p:cNvPicPr>
          <p:nvPr/>
        </p:nvPicPr>
        <p:blipFill>
          <a:blip r:embed="rId3"/>
          <a:stretch>
            <a:fillRect/>
          </a:stretch>
        </p:blipFill>
        <p:spPr>
          <a:xfrm>
            <a:off x="274320" y="914400"/>
            <a:ext cx="5303520" cy="3947620"/>
          </a:xfrm>
          <a:prstGeom prst="rect">
            <a:avLst/>
          </a:prstGeom>
        </p:spPr>
      </p:pic>
      <p:sp>
        <p:nvSpPr>
          <p:cNvPr id="12" name="Rounded Rectangle 11"/>
          <p:cNvSpPr/>
          <p:nvPr/>
        </p:nvSpPr>
        <p:spPr>
          <a:xfrm>
            <a:off x="5669280" y="1097280"/>
            <a:ext cx="3108960" cy="402336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2D diagram of a cholinergic synapse.</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Orange: presynaptic knob (vesicles, mitochondria, Ca²⁺ channels).</a:t>
            </a:r>
          </a:p>
          <a:p>
            <a:pPr algn="l">
              <a:spcAft>
                <a:spcPts val="200"/>
              </a:spcAft>
            </a:pPr>
            <a:r>
              <a:rPr sz="1500" b="0" i="0">
                <a:solidFill>
                  <a:srgbClr val="1A2F5A"/>
                </a:solidFill>
                <a:latin typeface="Calibri"/>
              </a:rPr>
              <a:t>Blue band: synaptic cleft.</a:t>
            </a:r>
          </a:p>
          <a:p>
            <a:pPr algn="l">
              <a:spcAft>
                <a:spcPts val="200"/>
              </a:spcAft>
            </a:pPr>
            <a:r>
              <a:rPr sz="1500" b="0" i="0">
                <a:solidFill>
                  <a:srgbClr val="1A2F5A"/>
                </a:solidFill>
                <a:latin typeface="Calibri"/>
              </a:rPr>
              <a:t>Lower cell: postsynaptic membrane with receptors.</a:t>
            </a:r>
          </a:p>
        </p:txBody>
      </p:sp>
      <p:sp>
        <p:nvSpPr>
          <p:cNvPr id="13" name="Rounded Rectangle 12">
            <a:hlinkClick r:id="rId4" action="ppaction://hlinksldjump"/>
          </p:cNvPr>
          <p:cNvSpPr/>
          <p:nvPr/>
        </p:nvSpPr>
        <p:spPr>
          <a:xfrm>
            <a:off x="5943600" y="5394960"/>
            <a:ext cx="256032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are the main features?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960120"/>
            <a:ext cx="7863840" cy="56692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500" b="0" i="0">
                <a:solidFill>
                  <a:srgbClr val="1B3A6B"/>
                </a:solidFill>
                <a:latin typeface="Calibri"/>
              </a:rPr>
              <a:t>Synaptic vesicles (contain neurotransmitter)</a:t>
            </a:r>
          </a:p>
        </p:txBody>
      </p:sp>
      <p:sp>
        <p:nvSpPr>
          <p:cNvPr id="12" name="Rounded Rectangle 11"/>
          <p:cNvSpPr/>
          <p:nvPr/>
        </p:nvSpPr>
        <p:spPr>
          <a:xfrm>
            <a:off x="640080" y="1618488"/>
            <a:ext cx="7863840" cy="56692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500" b="0" i="0">
                <a:solidFill>
                  <a:srgbClr val="1B3A6B"/>
                </a:solidFill>
                <a:latin typeface="Calibri"/>
              </a:rPr>
              <a:t>Mitochondria (ATP for exocytosis and pumps)</a:t>
            </a:r>
          </a:p>
        </p:txBody>
      </p:sp>
      <p:sp>
        <p:nvSpPr>
          <p:cNvPr id="13" name="Rounded Rectangle 12"/>
          <p:cNvSpPr/>
          <p:nvPr/>
        </p:nvSpPr>
        <p:spPr>
          <a:xfrm>
            <a:off x="640080" y="2276856"/>
            <a:ext cx="7863840" cy="56692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500" b="0" i="0">
                <a:solidFill>
                  <a:srgbClr val="1B3A6B"/>
                </a:solidFill>
                <a:latin typeface="Calibri"/>
              </a:rPr>
              <a:t>Presynaptic membrane with voltage-gated Ca²⁺ channels</a:t>
            </a:r>
          </a:p>
        </p:txBody>
      </p:sp>
      <p:sp>
        <p:nvSpPr>
          <p:cNvPr id="14" name="Rounded Rectangle 13"/>
          <p:cNvSpPr/>
          <p:nvPr/>
        </p:nvSpPr>
        <p:spPr>
          <a:xfrm>
            <a:off x="640080" y="2935224"/>
            <a:ext cx="7863840" cy="56692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500" b="0" i="0">
                <a:solidFill>
                  <a:srgbClr val="1B3A6B"/>
                </a:solidFill>
                <a:latin typeface="Calibri"/>
              </a:rPr>
              <a:t>Synaptic cleft (diffusion pathway)</a:t>
            </a:r>
          </a:p>
        </p:txBody>
      </p:sp>
      <p:sp>
        <p:nvSpPr>
          <p:cNvPr id="15" name="Rounded Rectangle 14"/>
          <p:cNvSpPr/>
          <p:nvPr/>
        </p:nvSpPr>
        <p:spPr>
          <a:xfrm>
            <a:off x="640080" y="3593591"/>
            <a:ext cx="7863840" cy="56692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500" b="0" i="0">
                <a:solidFill>
                  <a:srgbClr val="1B3A6B"/>
                </a:solidFill>
                <a:latin typeface="Calibri"/>
              </a:rPr>
              <a:t>Postsynaptic receptors / ligand-gated Na⁺ channels</a:t>
            </a:r>
          </a:p>
        </p:txBody>
      </p:sp>
      <p:sp>
        <p:nvSpPr>
          <p:cNvPr id="16" name="Rounded Rectangle 15"/>
          <p:cNvSpPr/>
          <p:nvPr/>
        </p:nvSpPr>
        <p:spPr>
          <a:xfrm>
            <a:off x="640080" y="4251959"/>
            <a:ext cx="7863840" cy="56692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500" b="0" i="0">
                <a:solidFill>
                  <a:srgbClr val="1B3A6B"/>
                </a:solidFill>
                <a:latin typeface="Calibri"/>
              </a:rPr>
              <a:t>Postsynaptic neurone</a:t>
            </a:r>
          </a:p>
        </p:txBody>
      </p:sp>
      <p:sp>
        <p:nvSpPr>
          <p:cNvPr id="17" name="Rounded Rectangle 16">
            <a:hlinkClick r:id="rId3" action="ppaction://hlinksldjump"/>
          </p:cNvPr>
          <p:cNvSpPr/>
          <p:nvPr/>
        </p:nvSpPr>
        <p:spPr>
          <a:xfrm>
            <a:off x="3200400" y="521208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What are the main features?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280160"/>
            <a:ext cx="7863840" cy="3291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600" b="0" i="0">
                <a:solidFill>
                  <a:srgbClr val="1A2F5A"/>
                </a:solidFill>
                <a:latin typeface="Calibri"/>
              </a:rPr>
              <a:t>The presynaptic neurone is the one that contains the synaptic vesicles (the upper cell in the diagram).</a:t>
            </a:r>
          </a:p>
          <a:p>
            <a:pPr algn="l">
              <a:spcAft>
                <a:spcPts val="200"/>
              </a:spcAft>
            </a:pPr>
            <a:r>
              <a:rPr sz="1600" b="0" i="0">
                <a:solidFill>
                  <a:srgbClr val="1A2F5A"/>
                </a:solidFill>
                <a:latin typeface="Calibri"/>
              </a:rPr>
              <a:t/>
            </a:r>
          </a:p>
          <a:p>
            <a:pPr algn="l">
              <a:spcAft>
                <a:spcPts val="200"/>
              </a:spcAft>
            </a:pPr>
            <a:r>
              <a:rPr sz="1600" b="0" i="0">
                <a:solidFill>
                  <a:srgbClr val="1A2F5A"/>
                </a:solidFill>
                <a:latin typeface="Calibri"/>
              </a:rPr>
              <a:t>It is the cell that arrives with the action potential and releases neurotransmitter. The postsynaptic cell has the receptors and, if threshold is reached, fires the next action potential.</a:t>
            </a:r>
          </a:p>
          <a:p>
            <a:pPr algn="l">
              <a:spcAft>
                <a:spcPts val="200"/>
              </a:spcAft>
            </a:pPr>
            <a:r>
              <a:rPr sz="1600" b="0" i="0">
                <a:solidFill>
                  <a:srgbClr val="1A2F5A"/>
                </a:solidFill>
                <a:latin typeface="Calibri"/>
              </a:rPr>
              <a:t/>
            </a:r>
          </a:p>
          <a:p>
            <a:pPr algn="l">
              <a:spcAft>
                <a:spcPts val="200"/>
              </a:spcAft>
            </a:pPr>
            <a:r>
              <a:rPr sz="1600" b="0" i="0">
                <a:solidFill>
                  <a:srgbClr val="1A2F5A"/>
                </a:solidFill>
                <a:latin typeface="Calibri"/>
              </a:rPr>
              <a:t>Synapses are unidirectional because vesicles are only in the presynaptic knob and receptors only on the postsynaptic membrane.</a:t>
            </a:r>
          </a:p>
        </p:txBody>
      </p:sp>
      <p:sp>
        <p:nvSpPr>
          <p:cNvPr id="12" name="Rounded Rectangle 11">
            <a:hlinkClick r:id="rId3"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Transmission across a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75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786384"/>
            <a:ext cx="8686800" cy="347472"/>
          </a:xfrm>
          <a:prstGeom prst="rect">
            <a:avLst/>
          </a:prstGeom>
          <a:noFill/>
        </p:spPr>
        <p:txBody>
          <a:bodyPr wrap="square" anchor="t">
            <a:spAutoFit/>
          </a:bodyPr>
          <a:lstStyle/>
          <a:p>
            <a:pPr algn="ctr">
              <a:spcAft>
                <a:spcPts val="400"/>
              </a:spcAft>
            </a:pPr>
            <a:r>
              <a:rPr sz="1800" b="1" i="0">
                <a:solidFill>
                  <a:srgbClr val="1B3A6B"/>
                </a:solidFill>
                <a:latin typeface="Calibri"/>
              </a:rPr>
              <a:t>What is the sequence in events across a synapse?</a:t>
            </a:r>
          </a:p>
        </p:txBody>
      </p:sp>
      <p:sp>
        <p:nvSpPr>
          <p:cNvPr id="15" name="TextBox 14"/>
          <p:cNvSpPr txBox="1"/>
          <p:nvPr/>
        </p:nvSpPr>
        <p:spPr>
          <a:xfrm>
            <a:off x="274320" y="1115568"/>
            <a:ext cx="8595360" cy="292608"/>
          </a:xfrm>
          <a:prstGeom prst="rect">
            <a:avLst/>
          </a:prstGeom>
          <a:noFill/>
        </p:spPr>
        <p:txBody>
          <a:bodyPr wrap="square" anchor="t">
            <a:spAutoFit/>
          </a:bodyPr>
          <a:lstStyle/>
          <a:p>
            <a:pPr algn="l">
              <a:spcAft>
                <a:spcPts val="400"/>
              </a:spcAft>
            </a:pPr>
            <a:r>
              <a:rPr sz="1300" b="0" i="0">
                <a:solidFill>
                  <a:srgbClr val="1B3A6B"/>
                </a:solidFill>
                <a:latin typeface="Calibri"/>
              </a:rPr>
              <a:t>The statements are jumbled (as in the original). Click Check to see the correct order.</a:t>
            </a:r>
          </a:p>
        </p:txBody>
      </p:sp>
      <p:sp>
        <p:nvSpPr>
          <p:cNvPr id="16" name="Rounded Rectangle 15"/>
          <p:cNvSpPr/>
          <p:nvPr/>
        </p:nvSpPr>
        <p:spPr>
          <a:xfrm>
            <a:off x="274320" y="1417320"/>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1</a:t>
            </a:r>
          </a:p>
        </p:txBody>
      </p:sp>
      <p:sp>
        <p:nvSpPr>
          <p:cNvPr id="17" name="Rounded Rectangle 16"/>
          <p:cNvSpPr/>
          <p:nvPr/>
        </p:nvSpPr>
        <p:spPr>
          <a:xfrm>
            <a:off x="749808" y="1417320"/>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Calcium channels in the membrane open and ions move in.</a:t>
            </a:r>
          </a:p>
        </p:txBody>
      </p:sp>
      <p:sp>
        <p:nvSpPr>
          <p:cNvPr id="18" name="Rounded Rectangle 17"/>
          <p:cNvSpPr/>
          <p:nvPr/>
        </p:nvSpPr>
        <p:spPr>
          <a:xfrm>
            <a:off x="274320" y="1915668"/>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2</a:t>
            </a:r>
          </a:p>
        </p:txBody>
      </p:sp>
      <p:sp>
        <p:nvSpPr>
          <p:cNvPr id="19" name="Rounded Rectangle 18"/>
          <p:cNvSpPr/>
          <p:nvPr/>
        </p:nvSpPr>
        <p:spPr>
          <a:xfrm>
            <a:off x="749808" y="1915668"/>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An action potential is generated in the postsynaptic neurone.</a:t>
            </a:r>
          </a:p>
        </p:txBody>
      </p:sp>
      <p:sp>
        <p:nvSpPr>
          <p:cNvPr id="20" name="Rounded Rectangle 19"/>
          <p:cNvSpPr/>
          <p:nvPr/>
        </p:nvSpPr>
        <p:spPr>
          <a:xfrm>
            <a:off x="274320" y="2414016"/>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3</a:t>
            </a:r>
          </a:p>
        </p:txBody>
      </p:sp>
      <p:sp>
        <p:nvSpPr>
          <p:cNvPr id="21" name="Rounded Rectangle 20"/>
          <p:cNvSpPr/>
          <p:nvPr/>
        </p:nvSpPr>
        <p:spPr>
          <a:xfrm>
            <a:off x="749808" y="2414016"/>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Synaptic vesicles move towards the presynaptic membrane.</a:t>
            </a:r>
          </a:p>
        </p:txBody>
      </p:sp>
      <p:sp>
        <p:nvSpPr>
          <p:cNvPr id="22" name="Rounded Rectangle 21"/>
          <p:cNvSpPr/>
          <p:nvPr/>
        </p:nvSpPr>
        <p:spPr>
          <a:xfrm>
            <a:off x="274320" y="2912364"/>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4</a:t>
            </a:r>
          </a:p>
        </p:txBody>
      </p:sp>
      <p:sp>
        <p:nvSpPr>
          <p:cNvPr id="23" name="Rounded Rectangle 22"/>
          <p:cNvSpPr/>
          <p:nvPr/>
        </p:nvSpPr>
        <p:spPr>
          <a:xfrm>
            <a:off x="749808" y="2912364"/>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An action potential arrives at the presynaptic neurone.</a:t>
            </a:r>
          </a:p>
        </p:txBody>
      </p:sp>
      <p:sp>
        <p:nvSpPr>
          <p:cNvPr id="24" name="Rounded Rectangle 23"/>
          <p:cNvSpPr/>
          <p:nvPr/>
        </p:nvSpPr>
        <p:spPr>
          <a:xfrm>
            <a:off x="274320" y="3410712"/>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5</a:t>
            </a:r>
          </a:p>
        </p:txBody>
      </p:sp>
      <p:sp>
        <p:nvSpPr>
          <p:cNvPr id="25" name="Rounded Rectangle 24"/>
          <p:cNvSpPr/>
          <p:nvPr/>
        </p:nvSpPr>
        <p:spPr>
          <a:xfrm>
            <a:off x="749808" y="3410712"/>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Vesicles fuse with the membrane, releasing acetylcholine.</a:t>
            </a:r>
          </a:p>
        </p:txBody>
      </p:sp>
      <p:sp>
        <p:nvSpPr>
          <p:cNvPr id="26" name="Rounded Rectangle 25"/>
          <p:cNvSpPr/>
          <p:nvPr/>
        </p:nvSpPr>
        <p:spPr>
          <a:xfrm>
            <a:off x="274320" y="3909060"/>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6</a:t>
            </a:r>
          </a:p>
        </p:txBody>
      </p:sp>
      <p:sp>
        <p:nvSpPr>
          <p:cNvPr id="27" name="Rounded Rectangle 26"/>
          <p:cNvSpPr/>
          <p:nvPr/>
        </p:nvSpPr>
        <p:spPr>
          <a:xfrm>
            <a:off x="749808" y="3909060"/>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Acetylcholine binds to receptors on the postsynaptic cell.</a:t>
            </a:r>
          </a:p>
        </p:txBody>
      </p:sp>
      <p:sp>
        <p:nvSpPr>
          <p:cNvPr id="28" name="Rounded Rectangle 27"/>
          <p:cNvSpPr/>
          <p:nvPr/>
        </p:nvSpPr>
        <p:spPr>
          <a:xfrm>
            <a:off x="274320" y="4407408"/>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7</a:t>
            </a:r>
          </a:p>
        </p:txBody>
      </p:sp>
      <p:sp>
        <p:nvSpPr>
          <p:cNvPr id="29" name="Rounded Rectangle 28"/>
          <p:cNvSpPr/>
          <p:nvPr/>
        </p:nvSpPr>
        <p:spPr>
          <a:xfrm>
            <a:off x="749808" y="4407408"/>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Sodium channels on the postsynaptic membrane open.</a:t>
            </a:r>
          </a:p>
        </p:txBody>
      </p:sp>
      <p:sp>
        <p:nvSpPr>
          <p:cNvPr id="30" name="Rounded Rectangle 29"/>
          <p:cNvSpPr/>
          <p:nvPr/>
        </p:nvSpPr>
        <p:spPr>
          <a:xfrm>
            <a:off x="274320" y="4905756"/>
            <a:ext cx="384048" cy="438912"/>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8</a:t>
            </a:r>
          </a:p>
        </p:txBody>
      </p:sp>
      <p:sp>
        <p:nvSpPr>
          <p:cNvPr id="31" name="Rounded Rectangle 30"/>
          <p:cNvSpPr/>
          <p:nvPr/>
        </p:nvSpPr>
        <p:spPr>
          <a:xfrm>
            <a:off x="749808" y="4905756"/>
            <a:ext cx="8046720" cy="438912"/>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Sodium ions move into the cell, causing it to depolarize.</a:t>
            </a:r>
          </a:p>
        </p:txBody>
      </p:sp>
      <p:sp>
        <p:nvSpPr>
          <p:cNvPr id="32" name="Rounded Rectangle 31">
            <a:hlinkClick r:id="rId5" action="ppaction://hlinksldjump"/>
          </p:cNvPr>
          <p:cNvSpPr/>
          <p:nvPr/>
        </p:nvSpPr>
        <p:spPr>
          <a:xfrm>
            <a:off x="32004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33" name="Rounded Rectangle 32">
            <a:hlinkClick r:id="rId3" action="ppaction://hlinksldjump"/>
          </p:cNvPr>
          <p:cNvSpPr/>
          <p:nvPr/>
        </p:nvSpPr>
        <p:spPr>
          <a:xfrm>
            <a:off x="1965960" y="6217920"/>
            <a:ext cx="137160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Transmission – correct order</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2E9E4F"/>
                </a:solidFill>
                <a:latin typeface="Calibri"/>
              </a:rPr>
              <a:t>Correct sequence</a:t>
            </a:r>
          </a:p>
        </p:txBody>
      </p:sp>
      <p:sp>
        <p:nvSpPr>
          <p:cNvPr id="12" name="Rounded Rectangle 11"/>
          <p:cNvSpPr/>
          <p:nvPr/>
        </p:nvSpPr>
        <p:spPr>
          <a:xfrm>
            <a:off x="274320" y="1170432"/>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1</a:t>
            </a:r>
          </a:p>
        </p:txBody>
      </p:sp>
      <p:sp>
        <p:nvSpPr>
          <p:cNvPr id="13" name="Rounded Rectangle 12"/>
          <p:cNvSpPr/>
          <p:nvPr/>
        </p:nvSpPr>
        <p:spPr>
          <a:xfrm>
            <a:off x="749808" y="1170432"/>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An action potential arrives at the presynaptic neurone.</a:t>
            </a:r>
          </a:p>
        </p:txBody>
      </p:sp>
      <p:sp>
        <p:nvSpPr>
          <p:cNvPr id="14" name="Rounded Rectangle 13"/>
          <p:cNvSpPr/>
          <p:nvPr/>
        </p:nvSpPr>
        <p:spPr>
          <a:xfrm>
            <a:off x="274320" y="1700784"/>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2</a:t>
            </a:r>
          </a:p>
        </p:txBody>
      </p:sp>
      <p:sp>
        <p:nvSpPr>
          <p:cNvPr id="15" name="Rounded Rectangle 14"/>
          <p:cNvSpPr/>
          <p:nvPr/>
        </p:nvSpPr>
        <p:spPr>
          <a:xfrm>
            <a:off x="749808" y="1700784"/>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Calcium channels in the membrane open and ions move in.</a:t>
            </a:r>
          </a:p>
        </p:txBody>
      </p:sp>
      <p:sp>
        <p:nvSpPr>
          <p:cNvPr id="16" name="Rounded Rectangle 15"/>
          <p:cNvSpPr/>
          <p:nvPr/>
        </p:nvSpPr>
        <p:spPr>
          <a:xfrm>
            <a:off x="274320" y="2231136"/>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3</a:t>
            </a:r>
          </a:p>
        </p:txBody>
      </p:sp>
      <p:sp>
        <p:nvSpPr>
          <p:cNvPr id="17" name="Rounded Rectangle 16"/>
          <p:cNvSpPr/>
          <p:nvPr/>
        </p:nvSpPr>
        <p:spPr>
          <a:xfrm>
            <a:off x="749808" y="2231136"/>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Synaptic vesicles move towards the presynaptic membrane.</a:t>
            </a:r>
          </a:p>
        </p:txBody>
      </p:sp>
      <p:sp>
        <p:nvSpPr>
          <p:cNvPr id="18" name="Rounded Rectangle 17"/>
          <p:cNvSpPr/>
          <p:nvPr/>
        </p:nvSpPr>
        <p:spPr>
          <a:xfrm>
            <a:off x="274320" y="2761488"/>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4</a:t>
            </a:r>
          </a:p>
        </p:txBody>
      </p:sp>
      <p:sp>
        <p:nvSpPr>
          <p:cNvPr id="19" name="Rounded Rectangle 18"/>
          <p:cNvSpPr/>
          <p:nvPr/>
        </p:nvSpPr>
        <p:spPr>
          <a:xfrm>
            <a:off x="749808" y="2761488"/>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Vesicles fuse with the membrane, releasing acetylcholine.</a:t>
            </a:r>
          </a:p>
        </p:txBody>
      </p:sp>
      <p:sp>
        <p:nvSpPr>
          <p:cNvPr id="20" name="Rounded Rectangle 19"/>
          <p:cNvSpPr/>
          <p:nvPr/>
        </p:nvSpPr>
        <p:spPr>
          <a:xfrm>
            <a:off x="274320" y="3291840"/>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5</a:t>
            </a:r>
          </a:p>
        </p:txBody>
      </p:sp>
      <p:sp>
        <p:nvSpPr>
          <p:cNvPr id="21" name="Rounded Rectangle 20"/>
          <p:cNvSpPr/>
          <p:nvPr/>
        </p:nvSpPr>
        <p:spPr>
          <a:xfrm>
            <a:off x="749808" y="3291840"/>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Acetylcholine binds to receptors on the postsynaptic cell.</a:t>
            </a:r>
          </a:p>
        </p:txBody>
      </p:sp>
      <p:sp>
        <p:nvSpPr>
          <p:cNvPr id="22" name="Rounded Rectangle 21"/>
          <p:cNvSpPr/>
          <p:nvPr/>
        </p:nvSpPr>
        <p:spPr>
          <a:xfrm>
            <a:off x="274320" y="3822191"/>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6</a:t>
            </a:r>
          </a:p>
        </p:txBody>
      </p:sp>
      <p:sp>
        <p:nvSpPr>
          <p:cNvPr id="23" name="Rounded Rectangle 22"/>
          <p:cNvSpPr/>
          <p:nvPr/>
        </p:nvSpPr>
        <p:spPr>
          <a:xfrm>
            <a:off x="749808" y="3822191"/>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Sodium channels on the postsynaptic membrane open.</a:t>
            </a:r>
          </a:p>
        </p:txBody>
      </p:sp>
      <p:sp>
        <p:nvSpPr>
          <p:cNvPr id="24" name="Rounded Rectangle 23"/>
          <p:cNvSpPr/>
          <p:nvPr/>
        </p:nvSpPr>
        <p:spPr>
          <a:xfrm>
            <a:off x="274320" y="4352544"/>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7</a:t>
            </a:r>
          </a:p>
        </p:txBody>
      </p:sp>
      <p:sp>
        <p:nvSpPr>
          <p:cNvPr id="25" name="Rounded Rectangle 24"/>
          <p:cNvSpPr/>
          <p:nvPr/>
        </p:nvSpPr>
        <p:spPr>
          <a:xfrm>
            <a:off x="749808" y="4352544"/>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Sodium ions move into the cell, causing it to depolarize.</a:t>
            </a:r>
          </a:p>
        </p:txBody>
      </p:sp>
      <p:sp>
        <p:nvSpPr>
          <p:cNvPr id="26" name="Rounded Rectangle 25"/>
          <p:cNvSpPr/>
          <p:nvPr/>
        </p:nvSpPr>
        <p:spPr>
          <a:xfrm>
            <a:off x="274320" y="4882896"/>
            <a:ext cx="384048" cy="475488"/>
          </a:xfrm>
          <a:prstGeom prst="roundRect">
            <a:avLst>
              <a:gd name="adj" fmla="val 15000"/>
            </a:avLst>
          </a:prstGeom>
          <a:solidFill>
            <a:srgbClr val="1B7A3A"/>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8</a:t>
            </a:r>
          </a:p>
        </p:txBody>
      </p:sp>
      <p:sp>
        <p:nvSpPr>
          <p:cNvPr id="27" name="Rounded Rectangle 26"/>
          <p:cNvSpPr/>
          <p:nvPr/>
        </p:nvSpPr>
        <p:spPr>
          <a:xfrm>
            <a:off x="749808" y="4882896"/>
            <a:ext cx="8046720" cy="475488"/>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B3A6B"/>
                </a:solidFill>
                <a:latin typeface="Calibri"/>
              </a:rPr>
              <a:t>An action potential is generated in the postsynaptic neurone.</a:t>
            </a:r>
          </a:p>
        </p:txBody>
      </p:sp>
      <p:sp>
        <p:nvSpPr>
          <p:cNvPr id="28" name="Rounded Rectangle 27">
            <a:hlinkClick r:id="rId3" action="ppaction://hlinksldjump"/>
          </p:cNvPr>
          <p:cNvSpPr/>
          <p:nvPr/>
        </p:nvSpPr>
        <p:spPr>
          <a:xfrm>
            <a:off x="3200400" y="562356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76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Rectangle 12"/>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786384"/>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What are the main features of a synapse?</a:t>
            </a:r>
          </a:p>
        </p:txBody>
      </p:sp>
      <p:pic>
        <p:nvPicPr>
          <p:cNvPr id="15" name="Picture 14" descr="synapse_numbered.png"/>
          <p:cNvPicPr>
            <a:picLocks noChangeAspect="1"/>
          </p:cNvPicPr>
          <p:nvPr/>
        </p:nvPicPr>
        <p:blipFill>
          <a:blip r:embed="rId3"/>
          <a:stretch>
            <a:fillRect/>
          </a:stretch>
        </p:blipFill>
        <p:spPr>
          <a:xfrm>
            <a:off x="1417320" y="1024128"/>
            <a:ext cx="6263640" cy="4662275"/>
          </a:xfrm>
          <a:prstGeom prst="rect">
            <a:avLst/>
          </a:prstGeom>
        </p:spPr>
      </p:pic>
      <p:sp>
        <p:nvSpPr>
          <p:cNvPr id="16" name="TextBox 15"/>
          <p:cNvSpPr txBox="1"/>
          <p:nvPr/>
        </p:nvSpPr>
        <p:spPr>
          <a:xfrm>
            <a:off x="274320" y="5349240"/>
            <a:ext cx="8595360" cy="292608"/>
          </a:xfrm>
          <a:prstGeom prst="rect">
            <a:avLst/>
          </a:prstGeom>
          <a:noFill/>
        </p:spPr>
        <p:txBody>
          <a:bodyPr wrap="square" anchor="t">
            <a:spAutoFit/>
          </a:bodyPr>
          <a:lstStyle/>
          <a:p>
            <a:pPr algn="ctr">
              <a:spcAft>
                <a:spcPts val="400"/>
              </a:spcAft>
            </a:pPr>
            <a:r>
              <a:rPr sz="1400" b="0" i="0">
                <a:solidFill>
                  <a:srgbClr val="1B3A6B"/>
                </a:solidFill>
                <a:latin typeface="Calibri"/>
              </a:rPr>
              <a:t>Click a numbered hotspot, then choose the correct label from the list.</a:t>
            </a:r>
          </a:p>
        </p:txBody>
      </p:sp>
      <p:sp>
        <p:nvSpPr>
          <p:cNvPr id="17" name="Rounded Rectangle 16">
            <a:hlinkClick r:id="rId6" action="ppaction://hlinksldjump"/>
          </p:cNvPr>
          <p:cNvSpPr/>
          <p:nvPr/>
        </p:nvSpPr>
        <p:spPr>
          <a:xfrm>
            <a:off x="256032" y="1115568"/>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1</a:t>
            </a:r>
          </a:p>
        </p:txBody>
      </p:sp>
      <p:sp>
        <p:nvSpPr>
          <p:cNvPr id="18" name="Rounded Rectangle 17">
            <a:hlinkClick r:id="rId7" action="ppaction://hlinksldjump"/>
          </p:cNvPr>
          <p:cNvSpPr/>
          <p:nvPr/>
        </p:nvSpPr>
        <p:spPr>
          <a:xfrm>
            <a:off x="256032" y="2331720"/>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2</a:t>
            </a:r>
          </a:p>
        </p:txBody>
      </p:sp>
      <p:sp>
        <p:nvSpPr>
          <p:cNvPr id="19" name="Rounded Rectangle 18">
            <a:hlinkClick r:id="rId8" action="ppaction://hlinksldjump"/>
          </p:cNvPr>
          <p:cNvSpPr/>
          <p:nvPr/>
        </p:nvSpPr>
        <p:spPr>
          <a:xfrm>
            <a:off x="256032" y="3703320"/>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3</a:t>
            </a:r>
          </a:p>
        </p:txBody>
      </p:sp>
      <p:sp>
        <p:nvSpPr>
          <p:cNvPr id="20" name="Rounded Rectangle 19">
            <a:hlinkClick r:id="rId9" action="ppaction://hlinksldjump"/>
          </p:cNvPr>
          <p:cNvSpPr/>
          <p:nvPr/>
        </p:nvSpPr>
        <p:spPr>
          <a:xfrm>
            <a:off x="8092440" y="1115568"/>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4</a:t>
            </a:r>
          </a:p>
        </p:txBody>
      </p:sp>
      <p:sp>
        <p:nvSpPr>
          <p:cNvPr id="21" name="Rounded Rectangle 20">
            <a:hlinkClick r:id="rId10" action="ppaction://hlinksldjump"/>
          </p:cNvPr>
          <p:cNvSpPr/>
          <p:nvPr/>
        </p:nvSpPr>
        <p:spPr>
          <a:xfrm>
            <a:off x="8092440" y="2148840"/>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5</a:t>
            </a:r>
          </a:p>
        </p:txBody>
      </p:sp>
      <p:sp>
        <p:nvSpPr>
          <p:cNvPr id="22" name="Rounded Rectangle 21">
            <a:hlinkClick r:id="rId11" action="ppaction://hlinksldjump"/>
          </p:cNvPr>
          <p:cNvSpPr/>
          <p:nvPr/>
        </p:nvSpPr>
        <p:spPr>
          <a:xfrm>
            <a:off x="8092440" y="3063240"/>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6</a:t>
            </a:r>
          </a:p>
        </p:txBody>
      </p:sp>
      <p:sp>
        <p:nvSpPr>
          <p:cNvPr id="23" name="Rounded Rectangle 22">
            <a:hlinkClick r:id="rId12" action="ppaction://hlinksldjump"/>
          </p:cNvPr>
          <p:cNvSpPr/>
          <p:nvPr/>
        </p:nvSpPr>
        <p:spPr>
          <a:xfrm>
            <a:off x="8092440" y="4160520"/>
            <a:ext cx="713232"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7</a:t>
            </a:r>
          </a:p>
        </p:txBody>
      </p:sp>
      <p:sp>
        <p:nvSpPr>
          <p:cNvPr id="24" name="Rounded Rectangle 23">
            <a:hlinkClick r:id="rId13" action="ppaction://hlinksldjump"/>
          </p:cNvPr>
          <p:cNvSpPr/>
          <p:nvPr/>
        </p:nvSpPr>
        <p:spPr>
          <a:xfrm>
            <a:off x="32004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5" name="Rounded Rectangle 24">
            <a:hlinkClick r:id="rId4" action="ppaction://hlinksldjump"/>
          </p:cNvPr>
          <p:cNvSpPr/>
          <p:nvPr/>
        </p:nvSpPr>
        <p:spPr>
          <a:xfrm>
            <a:off x="196596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4"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4"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4"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4"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4"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4"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1  Mitochondrion</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Provides ATP for active transport (Na⁺/K⁺ pump, Ca²⁺ removal) and for vesicle recycling / exocytosis.</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4"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3"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3"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3"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3"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3"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2  Voltage-gated Ca²⁺ channel</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Opens when the action potential depolarises the presynaptic membrane, allowing Ca²⁺ in.</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3"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4"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3"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3"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3"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3"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3  Synaptic cleft</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Narrow gap between the two neurones. Neurotransmitter diffuses across it. It also ensures the impulse cannot jump electrically, keeping the synapse unidirectional and integrable.</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3"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3"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4"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3"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3"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3"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4  Synaptic vesicle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Contains acetylcholine (in this cholinergic example). Fuses with the presynaptic membrane during exocytosis.</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3"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3"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3"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4"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3"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3"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5  Presynaptic membrane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Membrane of the synaptic knob. Site of vesicle fusion and Ca²⁺ channels.</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3"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3"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3"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3"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4"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3"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6  Receptor / ligand-gated Na⁺ channel</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On the postsynaptic membrane. ACh binding opens the channel so Na⁺ can enter.</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868680"/>
            <a:ext cx="8412480" cy="411480"/>
          </a:xfrm>
          <a:prstGeom prst="rect">
            <a:avLst/>
          </a:prstGeom>
          <a:noFill/>
        </p:spPr>
        <p:txBody>
          <a:bodyPr wrap="square" anchor="t">
            <a:spAutoFit/>
          </a:bodyPr>
          <a:lstStyle/>
          <a:p>
            <a:pPr algn="ctr">
              <a:spcAft>
                <a:spcPts val="400"/>
              </a:spcAft>
            </a:pPr>
            <a:r>
              <a:rPr sz="1800" b="1" i="0">
                <a:solidFill>
                  <a:srgbClr val="1B3A6B"/>
                </a:solidFill>
                <a:latin typeface="Calibri"/>
              </a:rPr>
              <a:t>Choose the correct label</a:t>
            </a:r>
          </a:p>
        </p:txBody>
      </p:sp>
      <p:sp>
        <p:nvSpPr>
          <p:cNvPr id="12" name="Rounded Rectangle 11">
            <a:hlinkClick r:id="rId3" action="ppaction://hlinksldjump"/>
          </p:cNvPr>
          <p:cNvSpPr/>
          <p:nvPr/>
        </p:nvSpPr>
        <p:spPr>
          <a:xfrm>
            <a:off x="1463040" y="137160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mitochondrion</a:t>
            </a:r>
          </a:p>
        </p:txBody>
      </p:sp>
      <p:sp>
        <p:nvSpPr>
          <p:cNvPr id="13" name="Rounded Rectangle 12">
            <a:hlinkClick r:id="rId3" action="ppaction://hlinksldjump"/>
          </p:cNvPr>
          <p:cNvSpPr/>
          <p:nvPr/>
        </p:nvSpPr>
        <p:spPr>
          <a:xfrm>
            <a:off x="1463040" y="190195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voltage-gated Ca²⁺ channel</a:t>
            </a:r>
          </a:p>
        </p:txBody>
      </p:sp>
      <p:sp>
        <p:nvSpPr>
          <p:cNvPr id="14" name="Rounded Rectangle 13">
            <a:hlinkClick r:id="rId3" action="ppaction://hlinksldjump"/>
          </p:cNvPr>
          <p:cNvSpPr/>
          <p:nvPr/>
        </p:nvSpPr>
        <p:spPr>
          <a:xfrm>
            <a:off x="1463040" y="2432304"/>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cleft</a:t>
            </a:r>
          </a:p>
        </p:txBody>
      </p:sp>
      <p:sp>
        <p:nvSpPr>
          <p:cNvPr id="15" name="Rounded Rectangle 14">
            <a:hlinkClick r:id="rId3" action="ppaction://hlinksldjump"/>
          </p:cNvPr>
          <p:cNvSpPr/>
          <p:nvPr/>
        </p:nvSpPr>
        <p:spPr>
          <a:xfrm>
            <a:off x="1463040" y="2962656"/>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synaptic vesicle</a:t>
            </a:r>
          </a:p>
        </p:txBody>
      </p:sp>
      <p:sp>
        <p:nvSpPr>
          <p:cNvPr id="16" name="Rounded Rectangle 15">
            <a:hlinkClick r:id="rId3" action="ppaction://hlinksldjump"/>
          </p:cNvPr>
          <p:cNvSpPr/>
          <p:nvPr/>
        </p:nvSpPr>
        <p:spPr>
          <a:xfrm>
            <a:off x="1463040" y="3493008"/>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presynaptic membrane</a:t>
            </a:r>
          </a:p>
        </p:txBody>
      </p:sp>
      <p:sp>
        <p:nvSpPr>
          <p:cNvPr id="17" name="Rounded Rectangle 16">
            <a:hlinkClick r:id="rId3" action="ppaction://hlinksldjump"/>
          </p:cNvPr>
          <p:cNvSpPr/>
          <p:nvPr/>
        </p:nvSpPr>
        <p:spPr>
          <a:xfrm>
            <a:off x="1463040" y="4023360"/>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receptor (ligand-gated Na⁺ channel)</a:t>
            </a:r>
          </a:p>
        </p:txBody>
      </p:sp>
      <p:sp>
        <p:nvSpPr>
          <p:cNvPr id="18" name="Rounded Rectangle 17">
            <a:hlinkClick r:id="rId4" action="ppaction://hlinksldjump"/>
          </p:cNvPr>
          <p:cNvSpPr/>
          <p:nvPr/>
        </p:nvSpPr>
        <p:spPr>
          <a:xfrm>
            <a:off x="1463040" y="4553712"/>
            <a:ext cx="6217920" cy="475488"/>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postsynaptic membrane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371600"/>
            <a:ext cx="7863840" cy="2926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0" i="0">
                <a:solidFill>
                  <a:srgbClr val="1B3A6B"/>
                </a:solidFill>
                <a:latin typeface="Calibri"/>
              </a:rPr>
              <a:t>Correct – 7  Postsynaptic membrane</a:t>
            </a:r>
          </a:p>
          <a:p>
            <a:pPr algn="ctr">
              <a:spcAft>
                <a:spcPts val="200"/>
              </a:spcAft>
            </a:pPr>
            <a:r>
              <a:rPr sz="1600" b="0" i="0">
                <a:solidFill>
                  <a:srgbClr val="1B3A6B"/>
                </a:solidFill>
                <a:latin typeface="Calibri"/>
              </a:rPr>
              <a:t/>
            </a:r>
          </a:p>
          <a:p>
            <a:pPr algn="ctr">
              <a:spcAft>
                <a:spcPts val="200"/>
              </a:spcAft>
            </a:pPr>
            <a:r>
              <a:rPr sz="1600" b="0" i="0">
                <a:solidFill>
                  <a:srgbClr val="1B3A6B"/>
                </a:solidFill>
                <a:latin typeface="Calibri"/>
              </a:rPr>
              <a:t>Membrane of the next neurone (or effector). Generates an excitatory (or inhibitory) postsynaptic potential.</a:t>
            </a:r>
          </a:p>
        </p:txBody>
      </p:sp>
      <p:sp>
        <p:nvSpPr>
          <p:cNvPr id="12" name="Rounded Rectangle 11">
            <a:hlinkClick r:id="rId3" action="ppaction://hlinksldjump"/>
          </p:cNvPr>
          <p:cNvSpPr/>
          <p:nvPr/>
        </p:nvSpPr>
        <p:spPr>
          <a:xfrm>
            <a:off x="3200400" y="466344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The structure of the synapse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645920"/>
            <a:ext cx="786384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that one.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at the position of the leader line and try again.</a:t>
            </a:r>
          </a:p>
        </p:txBody>
      </p:sp>
      <p:sp>
        <p:nvSpPr>
          <p:cNvPr id="12" name="Rounded Rectangle 11">
            <a:hlinkClick r:id="rId3"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Synapse structure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TextBox 10"/>
          <p:cNvSpPr txBox="1"/>
          <p:nvPr/>
        </p:nvSpPr>
        <p:spPr>
          <a:xfrm>
            <a:off x="365760" y="914400"/>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1  Mitochondrion  –  Provides ATP for active transport (Na⁺/K⁺ pump, Ca²⁺ removal) and for vesicle recycling / exocytosis.</a:t>
            </a:r>
          </a:p>
        </p:txBody>
      </p:sp>
      <p:sp>
        <p:nvSpPr>
          <p:cNvPr id="12" name="TextBox 11"/>
          <p:cNvSpPr txBox="1"/>
          <p:nvPr/>
        </p:nvSpPr>
        <p:spPr>
          <a:xfrm>
            <a:off x="365760" y="1572768"/>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2  Voltage-gated Ca²⁺ channel  –  Opens when the action potential depolarises the presynaptic membrane, allowing Ca²⁺ in.</a:t>
            </a:r>
          </a:p>
        </p:txBody>
      </p:sp>
      <p:sp>
        <p:nvSpPr>
          <p:cNvPr id="13" name="TextBox 12"/>
          <p:cNvSpPr txBox="1"/>
          <p:nvPr/>
        </p:nvSpPr>
        <p:spPr>
          <a:xfrm>
            <a:off x="365760" y="2231136"/>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3  Synaptic cleft  –  Narrow gap between the two neurones. Neurotransmitter diffuses across it. It also ensures the impulse cannot jump electrically, keeping the synapse unidirectional and integrable.</a:t>
            </a:r>
          </a:p>
        </p:txBody>
      </p:sp>
      <p:sp>
        <p:nvSpPr>
          <p:cNvPr id="14" name="TextBox 13"/>
          <p:cNvSpPr txBox="1"/>
          <p:nvPr/>
        </p:nvSpPr>
        <p:spPr>
          <a:xfrm>
            <a:off x="365760" y="2889504"/>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4  Synaptic vesicle  –  Contains acetylcholine (in this cholinergic example). Fuses with the presynaptic membrane during exocytosis.</a:t>
            </a:r>
          </a:p>
        </p:txBody>
      </p:sp>
      <p:sp>
        <p:nvSpPr>
          <p:cNvPr id="15" name="TextBox 14"/>
          <p:cNvSpPr txBox="1"/>
          <p:nvPr/>
        </p:nvSpPr>
        <p:spPr>
          <a:xfrm>
            <a:off x="365760" y="3547872"/>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5  Presynaptic membrane  –  Membrane of the synaptic knob. Site of vesicle fusion and Ca²⁺ channels.</a:t>
            </a:r>
          </a:p>
        </p:txBody>
      </p:sp>
      <p:sp>
        <p:nvSpPr>
          <p:cNvPr id="16" name="TextBox 15"/>
          <p:cNvSpPr txBox="1"/>
          <p:nvPr/>
        </p:nvSpPr>
        <p:spPr>
          <a:xfrm>
            <a:off x="365760" y="4206240"/>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6  Receptor / ligand-gated Na⁺ channel  –  On the postsynaptic membrane. ACh binding opens the channel so Na⁺ can enter.</a:t>
            </a:r>
          </a:p>
        </p:txBody>
      </p:sp>
      <p:sp>
        <p:nvSpPr>
          <p:cNvPr id="17" name="TextBox 16"/>
          <p:cNvSpPr txBox="1"/>
          <p:nvPr/>
        </p:nvSpPr>
        <p:spPr>
          <a:xfrm>
            <a:off x="365760" y="4864607"/>
            <a:ext cx="8412480" cy="640080"/>
          </a:xfrm>
          <a:prstGeom prst="rect">
            <a:avLst/>
          </a:prstGeom>
          <a:noFill/>
        </p:spPr>
        <p:txBody>
          <a:bodyPr wrap="square" anchor="t">
            <a:spAutoFit/>
          </a:bodyPr>
          <a:lstStyle/>
          <a:p>
            <a:pPr algn="l">
              <a:spcAft>
                <a:spcPts val="400"/>
              </a:spcAft>
            </a:pPr>
            <a:r>
              <a:rPr sz="1300" b="0" i="0">
                <a:solidFill>
                  <a:srgbClr val="1B3A6B"/>
                </a:solidFill>
                <a:latin typeface="Calibri"/>
              </a:rPr>
              <a:t>7  Postsynaptic membrane  –  Membrane of the next neurone (or effector). Generates an excitatory (or inhibitory) postsynaptic potential.</a:t>
            </a:r>
          </a:p>
        </p:txBody>
      </p:sp>
      <p:sp>
        <p:nvSpPr>
          <p:cNvPr id="18" name="Rounded Rectangle 17">
            <a:hlinkClick r:id="rId3" action="ppaction://hlinksldjump"/>
          </p:cNvPr>
          <p:cNvSpPr/>
          <p:nvPr/>
        </p:nvSpPr>
        <p:spPr>
          <a:xfrm>
            <a:off x="3200400" y="566928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77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What is the immediate effect of Ca²⁺ entering the synaptic knob?</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Acetylcholinesterase is activated</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Synaptic vesicles move to and fuse with the presynaptic membrane</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Sodium ions leave the postsynaptic neurone</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 synaptic cleft becomes wider</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Ca²⁺ is the trigger for vesicle exocytosis of acetylcholine.</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Calcium entry is the step that links the action potential to neurotransmitter release.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Calcium entry is the step that links the action potential to neurotransmitter release.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Calcium entry is the step that links the action potential to neurotransmitter release.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78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9"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Why is transmission at a cholinergic synapse unidirectional?</a:t>
            </a:r>
          </a:p>
        </p:txBody>
      </p:sp>
      <p:sp>
        <p:nvSpPr>
          <p:cNvPr id="14" name="Rounded Rectangle 13">
            <a:hlinkClick r:id="rId4"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Myelin is only on the postsynaptic side</a:t>
            </a:r>
          </a:p>
        </p:txBody>
      </p:sp>
      <p:sp>
        <p:nvSpPr>
          <p:cNvPr id="15" name="Rounded Rectangle 14">
            <a:hlinkClick r:id="rId5"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Vesicles are only presynaptic and receptors are only postsynaptic</a:t>
            </a:r>
          </a:p>
        </p:txBody>
      </p:sp>
      <p:sp>
        <p:nvSpPr>
          <p:cNvPr id="16" name="Rounded Rectangle 15">
            <a:hlinkClick r:id="rId6"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Sodium ions can only diffuse one way</a:t>
            </a:r>
          </a:p>
        </p:txBody>
      </p:sp>
      <p:sp>
        <p:nvSpPr>
          <p:cNvPr id="17" name="Rounded Rectangle 16">
            <a:hlinkClick r:id="rId7"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 cleft contains mitochondria that pump ACh backwards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Neurotransmitter is released from one side only; receptors sit only on the other. The impulse cannot reverse.</a:t>
            </a:r>
          </a:p>
        </p:txBody>
      </p:sp>
      <p:sp>
        <p:nvSpPr>
          <p:cNvPr id="12" name="Rounded Rectangle 11">
            <a:hlinkClick r:id="rId3"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the vesicles are, and where the receptors are.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the vesicles are, and where the receptors are.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1" name="Rounded Rectangle 10"/>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the vesicles are, and where the receptors are.</a:t>
            </a:r>
          </a:p>
        </p:txBody>
      </p:sp>
      <p:sp>
        <p:nvSpPr>
          <p:cNvPr id="12" name="Rounded Rectangle 11">
            <a:hlinkClick r:id="rId3"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5623560" cy="502920"/>
          </a:xfrm>
          <a:prstGeom prst="rect">
            <a:avLst/>
          </a:prstGeom>
          <a:noFill/>
        </p:spPr>
        <p:txBody>
          <a:bodyPr wrap="square" anchor="t">
            <a:spAutoFit/>
          </a:bodyPr>
          <a:lstStyle/>
          <a:p>
            <a:pPr algn="l">
              <a:spcAft>
                <a:spcPts val="400"/>
              </a:spcAft>
            </a:pPr>
            <a:r>
              <a:rPr sz="2200" b="1" i="0">
                <a:solidFill>
                  <a:srgbClr val="2E9E4F"/>
                </a:solidFill>
                <a:latin typeface="Calibri"/>
              </a:rPr>
              <a:t>End of Part 4</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79 of 79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5961888" y="146304"/>
            <a:ext cx="1353312" cy="365760"/>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Home</a:t>
            </a:r>
          </a:p>
        </p:txBody>
      </p:sp>
      <p:sp>
        <p:nvSpPr>
          <p:cNvPr id="13" name="TextBox 12"/>
          <p:cNvSpPr txBox="1"/>
          <p:nvPr/>
        </p:nvSpPr>
        <p:spPr>
          <a:xfrm>
            <a:off x="457200" y="1554480"/>
            <a:ext cx="8229600" cy="914400"/>
          </a:xfrm>
          <a:prstGeom prst="rect">
            <a:avLst/>
          </a:prstGeom>
          <a:noFill/>
        </p:spPr>
        <p:txBody>
          <a:bodyPr wrap="square" anchor="t">
            <a:spAutoFit/>
          </a:bodyPr>
          <a:lstStyle/>
          <a:p>
            <a:pPr algn="ctr">
              <a:spcAft>
                <a:spcPts val="400"/>
              </a:spcAft>
            </a:pPr>
            <a:r>
              <a:rPr sz="2600" b="1" i="0">
                <a:solidFill>
                  <a:srgbClr val="2E9E4F"/>
                </a:solidFill>
                <a:latin typeface="Calibri"/>
              </a:rPr>
              <a:t>End of the nervous system series</a:t>
            </a:r>
          </a:p>
        </p:txBody>
      </p:sp>
      <p:sp>
        <p:nvSpPr>
          <p:cNvPr id="14" name="TextBox 13"/>
          <p:cNvSpPr txBox="1"/>
          <p:nvPr/>
        </p:nvSpPr>
        <p:spPr>
          <a:xfrm>
            <a:off x="731520" y="2560320"/>
            <a:ext cx="7680960" cy="1280160"/>
          </a:xfrm>
          <a:prstGeom prst="rect">
            <a:avLst/>
          </a:prstGeom>
          <a:noFill/>
        </p:spPr>
        <p:txBody>
          <a:bodyPr wrap="square" anchor="t">
            <a:spAutoFit/>
          </a:bodyPr>
          <a:lstStyle/>
          <a:p>
            <a:pPr algn="ctr">
              <a:spcAft>
                <a:spcPts val="400"/>
              </a:spcAft>
            </a:pPr>
            <a:r>
              <a:rPr sz="1600" b="0" i="0">
                <a:solidFill>
                  <a:srgbClr val="1B3A6B"/>
                </a:solidFill>
                <a:latin typeface="Calibri"/>
              </a:rPr>
              <a:t>Replay any activity from Contents. Reset returns each activity to its first screen so you can use it again in the same lesson.</a:t>
            </a:r>
          </a:p>
        </p:txBody>
      </p:sp>
      <p:sp>
        <p:nvSpPr>
          <p:cNvPr id="15" name="Rounded Rectangle 14">
            <a:hlinkClick r:id="rId3" action="ppaction://hlinksldjump"/>
          </p:cNvPr>
          <p:cNvSpPr/>
          <p:nvPr/>
        </p:nvSpPr>
        <p:spPr>
          <a:xfrm>
            <a:off x="3017520" y="420624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
        <p:nvSpPr>
          <p:cNvPr id="16" name="Rounded Rectangle 15">
            <a:hlinkClick r:id="rId2" action="ppaction://hlinksldjump"/>
          </p:cNvPr>
          <p:cNvSpPr/>
          <p:nvPr/>
        </p:nvSpPr>
        <p:spPr>
          <a:xfrm>
            <a:off x="3017520" y="4800600"/>
            <a:ext cx="3108960" cy="45720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Course menu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