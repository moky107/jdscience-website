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4"/>
  </p:notesMasterIdLst>
  <p:handoutMasterIdLst>
    <p:handoutMasterId r:id="rId75"/>
  </p:handoutMasterIdLst>
  <p:sldIdLst>
    <p:sldId id="488" r:id="rId2"/>
    <p:sldId id="540" r:id="rId3"/>
    <p:sldId id="259" r:id="rId4"/>
    <p:sldId id="513" r:id="rId5"/>
    <p:sldId id="514" r:id="rId6"/>
    <p:sldId id="510" r:id="rId7"/>
    <p:sldId id="515" r:id="rId8"/>
    <p:sldId id="538" r:id="rId9"/>
    <p:sldId id="323" r:id="rId10"/>
    <p:sldId id="543" r:id="rId11"/>
    <p:sldId id="518" r:id="rId12"/>
    <p:sldId id="517" r:id="rId13"/>
    <p:sldId id="519" r:id="rId14"/>
    <p:sldId id="378" r:id="rId15"/>
    <p:sldId id="263" r:id="rId16"/>
    <p:sldId id="265" r:id="rId17"/>
    <p:sldId id="266" r:id="rId18"/>
    <p:sldId id="544" r:id="rId19"/>
    <p:sldId id="545" r:id="rId20"/>
    <p:sldId id="546" r:id="rId21"/>
    <p:sldId id="547" r:id="rId22"/>
    <p:sldId id="548" r:id="rId23"/>
    <p:sldId id="549" r:id="rId24"/>
    <p:sldId id="557" r:id="rId25"/>
    <p:sldId id="552" r:id="rId26"/>
    <p:sldId id="550" r:id="rId27"/>
    <p:sldId id="551" r:id="rId28"/>
    <p:sldId id="553" r:id="rId29"/>
    <p:sldId id="554" r:id="rId30"/>
    <p:sldId id="555" r:id="rId31"/>
    <p:sldId id="558" r:id="rId32"/>
    <p:sldId id="559" r:id="rId33"/>
    <p:sldId id="560" r:id="rId34"/>
    <p:sldId id="561" r:id="rId35"/>
    <p:sldId id="570" r:id="rId36"/>
    <p:sldId id="562" r:id="rId37"/>
    <p:sldId id="563" r:id="rId38"/>
    <p:sldId id="564" r:id="rId39"/>
    <p:sldId id="565" r:id="rId40"/>
    <p:sldId id="573" r:id="rId41"/>
    <p:sldId id="571" r:id="rId42"/>
    <p:sldId id="556" r:id="rId43"/>
    <p:sldId id="572" r:id="rId44"/>
    <p:sldId id="567" r:id="rId45"/>
    <p:sldId id="568" r:id="rId46"/>
    <p:sldId id="574" r:id="rId47"/>
    <p:sldId id="575" r:id="rId48"/>
    <p:sldId id="576" r:id="rId49"/>
    <p:sldId id="578" r:id="rId50"/>
    <p:sldId id="577" r:id="rId51"/>
    <p:sldId id="579" r:id="rId52"/>
    <p:sldId id="580" r:id="rId53"/>
    <p:sldId id="581" r:id="rId54"/>
    <p:sldId id="582" r:id="rId55"/>
    <p:sldId id="539" r:id="rId56"/>
    <p:sldId id="583" r:id="rId57"/>
    <p:sldId id="584" r:id="rId58"/>
    <p:sldId id="603" r:id="rId59"/>
    <p:sldId id="585" r:id="rId60"/>
    <p:sldId id="586" r:id="rId61"/>
    <p:sldId id="592" r:id="rId62"/>
    <p:sldId id="594" r:id="rId63"/>
    <p:sldId id="598" r:id="rId64"/>
    <p:sldId id="589" r:id="rId65"/>
    <p:sldId id="590" r:id="rId66"/>
    <p:sldId id="591" r:id="rId67"/>
    <p:sldId id="597" r:id="rId68"/>
    <p:sldId id="599" r:id="rId69"/>
    <p:sldId id="600" r:id="rId70"/>
    <p:sldId id="593" r:id="rId71"/>
    <p:sldId id="601" r:id="rId72"/>
    <p:sldId id="602" r:id="rId73"/>
  </p:sldIdLst>
  <p:sldSz cx="9144000" cy="6858000" type="screen4x3"/>
  <p:notesSz cx="6669088" cy="9926638"/>
  <p:defaultTextStyle>
    <a:defPPr>
      <a:defRPr lang="en-GB"/>
    </a:defPPr>
    <a:lvl1pPr algn="l" rtl="0" fontAlgn="base">
      <a:spcBef>
        <a:spcPct val="0"/>
      </a:spcBef>
      <a:spcAft>
        <a:spcPct val="0"/>
      </a:spcAft>
      <a:defRPr sz="2400" kern="1200">
        <a:solidFill>
          <a:schemeClr val="bg1"/>
        </a:solidFill>
        <a:latin typeface="Comic Sans MS" panose="030F0702030302020204" pitchFamily="66" charset="0"/>
        <a:ea typeface="ＭＳ Ｐゴシック" pitchFamily="34" charset="-128"/>
        <a:cs typeface="+mn-cs"/>
      </a:defRPr>
    </a:lvl1pPr>
    <a:lvl2pPr marL="457200" algn="l" rtl="0" fontAlgn="base">
      <a:spcBef>
        <a:spcPct val="0"/>
      </a:spcBef>
      <a:spcAft>
        <a:spcPct val="0"/>
      </a:spcAft>
      <a:defRPr sz="2400" kern="1200">
        <a:solidFill>
          <a:schemeClr val="bg1"/>
        </a:solidFill>
        <a:latin typeface="Comic Sans MS" panose="030F0702030302020204" pitchFamily="66" charset="0"/>
        <a:ea typeface="ＭＳ Ｐゴシック" pitchFamily="34" charset="-128"/>
        <a:cs typeface="+mn-cs"/>
      </a:defRPr>
    </a:lvl2pPr>
    <a:lvl3pPr marL="914400" algn="l" rtl="0" fontAlgn="base">
      <a:spcBef>
        <a:spcPct val="0"/>
      </a:spcBef>
      <a:spcAft>
        <a:spcPct val="0"/>
      </a:spcAft>
      <a:defRPr sz="2400" kern="1200">
        <a:solidFill>
          <a:schemeClr val="bg1"/>
        </a:solidFill>
        <a:latin typeface="Comic Sans MS" panose="030F0702030302020204" pitchFamily="66" charset="0"/>
        <a:ea typeface="ＭＳ Ｐゴシック" pitchFamily="34" charset="-128"/>
        <a:cs typeface="+mn-cs"/>
      </a:defRPr>
    </a:lvl3pPr>
    <a:lvl4pPr marL="1371600" algn="l" rtl="0" fontAlgn="base">
      <a:spcBef>
        <a:spcPct val="0"/>
      </a:spcBef>
      <a:spcAft>
        <a:spcPct val="0"/>
      </a:spcAft>
      <a:defRPr sz="2400" kern="1200">
        <a:solidFill>
          <a:schemeClr val="bg1"/>
        </a:solidFill>
        <a:latin typeface="Comic Sans MS" panose="030F0702030302020204" pitchFamily="66" charset="0"/>
        <a:ea typeface="ＭＳ Ｐゴシック" pitchFamily="34" charset="-128"/>
        <a:cs typeface="+mn-cs"/>
      </a:defRPr>
    </a:lvl4pPr>
    <a:lvl5pPr marL="1828800" algn="l" rtl="0" fontAlgn="base">
      <a:spcBef>
        <a:spcPct val="0"/>
      </a:spcBef>
      <a:spcAft>
        <a:spcPct val="0"/>
      </a:spcAft>
      <a:defRPr sz="2400" kern="1200">
        <a:solidFill>
          <a:schemeClr val="bg1"/>
        </a:solidFill>
        <a:latin typeface="Comic Sans MS" panose="030F0702030302020204" pitchFamily="66" charset="0"/>
        <a:ea typeface="ＭＳ Ｐゴシック" pitchFamily="34" charset="-128"/>
        <a:cs typeface="+mn-cs"/>
      </a:defRPr>
    </a:lvl5pPr>
    <a:lvl6pPr marL="2286000" algn="l" defTabSz="914400" rtl="0" eaLnBrk="1" latinLnBrk="0" hangingPunct="1">
      <a:defRPr sz="2400" kern="1200">
        <a:solidFill>
          <a:schemeClr val="bg1"/>
        </a:solidFill>
        <a:latin typeface="Comic Sans MS" panose="030F0702030302020204" pitchFamily="66" charset="0"/>
        <a:ea typeface="ＭＳ Ｐゴシック" pitchFamily="34" charset="-128"/>
        <a:cs typeface="+mn-cs"/>
      </a:defRPr>
    </a:lvl6pPr>
    <a:lvl7pPr marL="2743200" algn="l" defTabSz="914400" rtl="0" eaLnBrk="1" latinLnBrk="0" hangingPunct="1">
      <a:defRPr sz="2400" kern="1200">
        <a:solidFill>
          <a:schemeClr val="bg1"/>
        </a:solidFill>
        <a:latin typeface="Comic Sans MS" panose="030F0702030302020204" pitchFamily="66" charset="0"/>
        <a:ea typeface="ＭＳ Ｐゴシック" pitchFamily="34" charset="-128"/>
        <a:cs typeface="+mn-cs"/>
      </a:defRPr>
    </a:lvl7pPr>
    <a:lvl8pPr marL="3200400" algn="l" defTabSz="914400" rtl="0" eaLnBrk="1" latinLnBrk="0" hangingPunct="1">
      <a:defRPr sz="2400" kern="1200">
        <a:solidFill>
          <a:schemeClr val="bg1"/>
        </a:solidFill>
        <a:latin typeface="Comic Sans MS" panose="030F0702030302020204" pitchFamily="66" charset="0"/>
        <a:ea typeface="ＭＳ Ｐゴシック" pitchFamily="34" charset="-128"/>
        <a:cs typeface="+mn-cs"/>
      </a:defRPr>
    </a:lvl8pPr>
    <a:lvl9pPr marL="3657600" algn="l" defTabSz="914400" rtl="0" eaLnBrk="1" latinLnBrk="0" hangingPunct="1">
      <a:defRPr sz="2400" kern="1200">
        <a:solidFill>
          <a:schemeClr val="bg1"/>
        </a:solidFill>
        <a:latin typeface="Comic Sans MS" panose="030F0702030302020204" pitchFamily="66"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CCECFF"/>
    <a:srgbClr val="C7FFAA"/>
    <a:srgbClr val="008000"/>
    <a:srgbClr val="FF3300"/>
    <a:srgbClr val="FFCCFF"/>
    <a:srgbClr val="BA3700"/>
    <a:srgbClr val="990000"/>
    <a:srgbClr val="900070"/>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890838"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lvl1pPr>
              <a:defRPr sz="1200">
                <a:latin typeface="Comic Sans MS" charset="0"/>
                <a:ea typeface="ＭＳ Ｐゴシック" charset="0"/>
                <a:cs typeface="+mn-cs"/>
              </a:defRPr>
            </a:lvl1pPr>
          </a:lstStyle>
          <a:p>
            <a:pPr>
              <a:defRPr/>
            </a:pPr>
            <a:endParaRPr lang="en-GB"/>
          </a:p>
        </p:txBody>
      </p:sp>
      <p:sp>
        <p:nvSpPr>
          <p:cNvPr id="24579" name="Rectangle 3"/>
          <p:cNvSpPr>
            <a:spLocks noGrp="1" noChangeArrowheads="1"/>
          </p:cNvSpPr>
          <p:nvPr>
            <p:ph type="dt" sz="quarter" idx="1"/>
          </p:nvPr>
        </p:nvSpPr>
        <p:spPr bwMode="auto">
          <a:xfrm>
            <a:off x="3778250" y="0"/>
            <a:ext cx="2890838"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lvl1pPr algn="r">
              <a:defRPr sz="1200">
                <a:latin typeface="Comic Sans MS" charset="0"/>
                <a:ea typeface="ＭＳ Ｐゴシック" charset="0"/>
                <a:cs typeface="+mn-cs"/>
              </a:defRPr>
            </a:lvl1pPr>
          </a:lstStyle>
          <a:p>
            <a:pPr>
              <a:defRPr/>
            </a:pPr>
            <a:endParaRPr lang="en-GB"/>
          </a:p>
        </p:txBody>
      </p:sp>
      <p:sp>
        <p:nvSpPr>
          <p:cNvPr id="24580" name="Rectangle 4"/>
          <p:cNvSpPr>
            <a:spLocks noGrp="1" noChangeArrowheads="1"/>
          </p:cNvSpPr>
          <p:nvPr>
            <p:ph type="ftr" sz="quarter" idx="2"/>
          </p:nvPr>
        </p:nvSpPr>
        <p:spPr bwMode="auto">
          <a:xfrm>
            <a:off x="0" y="9429750"/>
            <a:ext cx="2890838"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b" anchorCtr="0" compatLnSpc="1">
            <a:prstTxWarp prst="textNoShape">
              <a:avLst/>
            </a:prstTxWarp>
          </a:bodyPr>
          <a:lstStyle>
            <a:lvl1pPr>
              <a:defRPr sz="1200">
                <a:latin typeface="Comic Sans MS" charset="0"/>
                <a:ea typeface="ＭＳ Ｐゴシック" charset="0"/>
                <a:cs typeface="+mn-cs"/>
              </a:defRPr>
            </a:lvl1pPr>
          </a:lstStyle>
          <a:p>
            <a:pPr>
              <a:defRPr/>
            </a:pPr>
            <a:endParaRPr lang="en-GB"/>
          </a:p>
        </p:txBody>
      </p:sp>
      <p:sp>
        <p:nvSpPr>
          <p:cNvPr id="24581" name="Rectangle 5"/>
          <p:cNvSpPr>
            <a:spLocks noGrp="1" noChangeArrowheads="1"/>
          </p:cNvSpPr>
          <p:nvPr>
            <p:ph type="sldNum" sz="quarter" idx="3"/>
          </p:nvPr>
        </p:nvSpPr>
        <p:spPr bwMode="auto">
          <a:xfrm>
            <a:off x="3778250" y="9429750"/>
            <a:ext cx="2890838"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b" anchorCtr="0" compatLnSpc="1">
            <a:prstTxWarp prst="textNoShape">
              <a:avLst/>
            </a:prstTxWarp>
          </a:bodyPr>
          <a:lstStyle>
            <a:lvl1pPr algn="r">
              <a:defRPr sz="1200"/>
            </a:lvl1pPr>
          </a:lstStyle>
          <a:p>
            <a:fld id="{4C9F9884-461E-49C6-87AA-CF31B16C0326}" type="slidenum">
              <a:rPr lang="en-GB" altLang="en-US"/>
              <a:pPr/>
              <a:t>‹#›</a:t>
            </a:fld>
            <a:endParaRPr lang="en-GB" altLang="en-US"/>
          </a:p>
        </p:txBody>
      </p:sp>
    </p:spTree>
    <p:extLst>
      <p:ext uri="{BB962C8B-B14F-4D97-AF65-F5344CB8AC3E}">
        <p14:creationId xmlns:p14="http://schemas.microsoft.com/office/powerpoint/2010/main" val="16748070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890838"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lvl1pPr>
              <a:defRPr sz="1200">
                <a:latin typeface="Comic Sans MS" charset="0"/>
                <a:ea typeface="ＭＳ Ｐゴシック" charset="0"/>
                <a:cs typeface="+mn-cs"/>
              </a:defRPr>
            </a:lvl1pPr>
          </a:lstStyle>
          <a:p>
            <a:pPr>
              <a:defRPr/>
            </a:pPr>
            <a:endParaRPr lang="en-GB"/>
          </a:p>
        </p:txBody>
      </p:sp>
      <p:sp>
        <p:nvSpPr>
          <p:cNvPr id="3075" name="Rectangle 3"/>
          <p:cNvSpPr>
            <a:spLocks noGrp="1" noChangeArrowheads="1"/>
          </p:cNvSpPr>
          <p:nvPr>
            <p:ph type="dt" idx="1"/>
          </p:nvPr>
        </p:nvSpPr>
        <p:spPr bwMode="auto">
          <a:xfrm>
            <a:off x="3778250" y="0"/>
            <a:ext cx="2890838"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lvl1pPr algn="r">
              <a:defRPr sz="1200">
                <a:latin typeface="Comic Sans MS" charset="0"/>
                <a:ea typeface="ＭＳ Ｐゴシック" charset="0"/>
                <a:cs typeface="+mn-cs"/>
              </a:defRPr>
            </a:lvl1pPr>
          </a:lstStyle>
          <a:p>
            <a:pPr>
              <a:defRPr/>
            </a:pPr>
            <a:endParaRPr lang="en-GB"/>
          </a:p>
        </p:txBody>
      </p:sp>
      <p:sp>
        <p:nvSpPr>
          <p:cNvPr id="3076" name="Rectangle 4"/>
          <p:cNvSpPr>
            <a:spLocks noGrp="1" noRot="1" noChangeAspect="1" noChangeArrowheads="1" noTextEdit="1"/>
          </p:cNvSpPr>
          <p:nvPr>
            <p:ph type="sldImg" idx="2"/>
          </p:nvPr>
        </p:nvSpPr>
        <p:spPr bwMode="auto">
          <a:xfrm>
            <a:off x="852488" y="744538"/>
            <a:ext cx="4964112" cy="3722687"/>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889000" y="4714875"/>
            <a:ext cx="4891088" cy="446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078" name="Rectangle 6"/>
          <p:cNvSpPr>
            <a:spLocks noGrp="1" noChangeArrowheads="1"/>
          </p:cNvSpPr>
          <p:nvPr>
            <p:ph type="ftr" sz="quarter" idx="4"/>
          </p:nvPr>
        </p:nvSpPr>
        <p:spPr bwMode="auto">
          <a:xfrm>
            <a:off x="0" y="9429750"/>
            <a:ext cx="2890838"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b" anchorCtr="0" compatLnSpc="1">
            <a:prstTxWarp prst="textNoShape">
              <a:avLst/>
            </a:prstTxWarp>
          </a:bodyPr>
          <a:lstStyle>
            <a:lvl1pPr>
              <a:defRPr sz="1200">
                <a:latin typeface="Comic Sans MS" charset="0"/>
                <a:ea typeface="ＭＳ Ｐゴシック" charset="0"/>
                <a:cs typeface="+mn-cs"/>
              </a:defRPr>
            </a:lvl1pPr>
          </a:lstStyle>
          <a:p>
            <a:pPr>
              <a:defRPr/>
            </a:pPr>
            <a:endParaRPr lang="en-GB"/>
          </a:p>
        </p:txBody>
      </p:sp>
      <p:sp>
        <p:nvSpPr>
          <p:cNvPr id="3079" name="Rectangle 7"/>
          <p:cNvSpPr>
            <a:spLocks noGrp="1" noChangeArrowheads="1"/>
          </p:cNvSpPr>
          <p:nvPr>
            <p:ph type="sldNum" sz="quarter" idx="5"/>
          </p:nvPr>
        </p:nvSpPr>
        <p:spPr bwMode="auto">
          <a:xfrm>
            <a:off x="3778250" y="9429750"/>
            <a:ext cx="2890838"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b" anchorCtr="0" compatLnSpc="1">
            <a:prstTxWarp prst="textNoShape">
              <a:avLst/>
            </a:prstTxWarp>
          </a:bodyPr>
          <a:lstStyle>
            <a:lvl1pPr algn="r">
              <a:defRPr sz="1200"/>
            </a:lvl1pPr>
          </a:lstStyle>
          <a:p>
            <a:fld id="{4A1D714E-373F-4FF6-A563-296C1A3D5CDC}" type="slidenum">
              <a:rPr lang="en-GB" altLang="en-US"/>
              <a:pPr/>
              <a:t>‹#›</a:t>
            </a:fld>
            <a:endParaRPr lang="en-GB" altLang="en-US"/>
          </a:p>
        </p:txBody>
      </p:sp>
    </p:spTree>
    <p:extLst>
      <p:ext uri="{BB962C8B-B14F-4D97-AF65-F5344CB8AC3E}">
        <p14:creationId xmlns:p14="http://schemas.microsoft.com/office/powerpoint/2010/main" val="212016281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97A9BBED-4D26-47AE-96FA-4DB2EC017223}" type="datetime1">
              <a:rPr lang="en-GB"/>
              <a:pPr>
                <a:defRPr/>
              </a:pPr>
              <a:t>02/06/2020</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7EDDBB1F-32BA-43D8-ACC6-4171ABAB05EC}" type="slidenum">
              <a:rPr lang="en-GB" altLang="en-US"/>
              <a:pPr/>
              <a:t>‹#›</a:t>
            </a:fld>
            <a:endParaRPr lang="en-GB" altLang="en-US"/>
          </a:p>
        </p:txBody>
      </p:sp>
    </p:spTree>
    <p:extLst>
      <p:ext uri="{BB962C8B-B14F-4D97-AF65-F5344CB8AC3E}">
        <p14:creationId xmlns:p14="http://schemas.microsoft.com/office/powerpoint/2010/main" val="1249382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06FA6DEC-5478-4DDB-8A57-C55718162F5C}" type="datetime1">
              <a:rPr lang="en-GB"/>
              <a:pPr>
                <a:defRPr/>
              </a:pPr>
              <a:t>02/06/2020</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F121E2C9-39DC-4B3D-96E5-98A77EE80F25}" type="slidenum">
              <a:rPr lang="en-GB" altLang="en-US"/>
              <a:pPr/>
              <a:t>‹#›</a:t>
            </a:fld>
            <a:endParaRPr lang="en-GB" altLang="en-US"/>
          </a:p>
        </p:txBody>
      </p:sp>
    </p:spTree>
    <p:extLst>
      <p:ext uri="{BB962C8B-B14F-4D97-AF65-F5344CB8AC3E}">
        <p14:creationId xmlns:p14="http://schemas.microsoft.com/office/powerpoint/2010/main" val="43151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A3935EBE-BA95-4439-9F48-6252129C2B59}" type="datetime1">
              <a:rPr lang="en-GB"/>
              <a:pPr>
                <a:defRPr/>
              </a:pPr>
              <a:t>02/06/2020</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C595AD4B-B10F-4BB1-9DFD-A395DBD7B0BF}" type="slidenum">
              <a:rPr lang="en-GB" altLang="en-US"/>
              <a:pPr/>
              <a:t>‹#›</a:t>
            </a:fld>
            <a:endParaRPr lang="en-GB" altLang="en-US"/>
          </a:p>
        </p:txBody>
      </p:sp>
    </p:spTree>
    <p:extLst>
      <p:ext uri="{BB962C8B-B14F-4D97-AF65-F5344CB8AC3E}">
        <p14:creationId xmlns:p14="http://schemas.microsoft.com/office/powerpoint/2010/main" val="3262731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fld id="{473F387B-6817-4427-90D3-E91EFBD5C2A4}" type="datetime1">
              <a:rPr lang="en-GB"/>
              <a:pPr>
                <a:defRPr/>
              </a:pPr>
              <a:t>02/06/2020</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fld id="{701AE803-CFDA-4C2C-9EAD-D0247C6E6051}" type="slidenum">
              <a:rPr lang="en-GB" altLang="en-US"/>
              <a:pPr/>
              <a:t>‹#›</a:t>
            </a:fld>
            <a:endParaRPr lang="en-GB" altLang="en-US"/>
          </a:p>
        </p:txBody>
      </p:sp>
    </p:spTree>
    <p:extLst>
      <p:ext uri="{BB962C8B-B14F-4D97-AF65-F5344CB8AC3E}">
        <p14:creationId xmlns:p14="http://schemas.microsoft.com/office/powerpoint/2010/main" val="201869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fld id="{BACF9356-B688-4D87-8AB9-165CEFD84EA7}" type="datetime1">
              <a:rPr lang="en-GB"/>
              <a:pPr>
                <a:defRPr/>
              </a:pPr>
              <a:t>02/06/2020</a:t>
            </a:fld>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fld id="{8942697F-8616-4E3F-AC93-5B648A8C7598}" type="slidenum">
              <a:rPr lang="en-GB" altLang="en-US"/>
              <a:pPr/>
              <a:t>‹#›</a:t>
            </a:fld>
            <a:endParaRPr lang="en-GB" altLang="en-US"/>
          </a:p>
        </p:txBody>
      </p:sp>
    </p:spTree>
    <p:extLst>
      <p:ext uri="{BB962C8B-B14F-4D97-AF65-F5344CB8AC3E}">
        <p14:creationId xmlns:p14="http://schemas.microsoft.com/office/powerpoint/2010/main" val="3450055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fld id="{015E6D66-BACF-4A6D-9DB1-3B675C6F844B}" type="datetime1">
              <a:rPr lang="en-GB"/>
              <a:pPr>
                <a:defRPr/>
              </a:pPr>
              <a:t>02/06/2020</a:t>
            </a:fld>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fld id="{199FF48F-620B-4FF8-B0A8-C910B94BE6A8}" type="slidenum">
              <a:rPr lang="en-GB" altLang="en-US"/>
              <a:pPr/>
              <a:t>‹#›</a:t>
            </a:fld>
            <a:endParaRPr lang="en-GB" altLang="en-US"/>
          </a:p>
        </p:txBody>
      </p:sp>
    </p:spTree>
    <p:extLst>
      <p:ext uri="{BB962C8B-B14F-4D97-AF65-F5344CB8AC3E}">
        <p14:creationId xmlns:p14="http://schemas.microsoft.com/office/powerpoint/2010/main" val="2158962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E7798E91-16F3-41B9-9BD6-9673B3EFA2E8}" type="datetime1">
              <a:rPr lang="en-GB"/>
              <a:pPr>
                <a:defRPr/>
              </a:pPr>
              <a:t>02/06/2020</a:t>
            </a:fld>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fld id="{D8F42C82-BDF1-4705-B22D-CC442A67290D}" type="slidenum">
              <a:rPr lang="en-GB" altLang="en-US"/>
              <a:pPr/>
              <a:t>‹#›</a:t>
            </a:fld>
            <a:endParaRPr lang="en-GB" altLang="en-US"/>
          </a:p>
        </p:txBody>
      </p:sp>
    </p:spTree>
    <p:extLst>
      <p:ext uri="{BB962C8B-B14F-4D97-AF65-F5344CB8AC3E}">
        <p14:creationId xmlns:p14="http://schemas.microsoft.com/office/powerpoint/2010/main" val="3414847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B83DD0DC-41FB-48B1-896F-A2621B3FB90C}" type="datetime1">
              <a:rPr lang="en-GB"/>
              <a:pPr>
                <a:defRPr/>
              </a:pPr>
              <a:t>02/06/2020</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fld id="{9D9F10F9-8DF6-4BB1-AD2B-C2EAECC9561D}" type="slidenum">
              <a:rPr lang="en-GB" altLang="en-US"/>
              <a:pPr/>
              <a:t>‹#›</a:t>
            </a:fld>
            <a:endParaRPr lang="en-GB" altLang="en-US"/>
          </a:p>
        </p:txBody>
      </p:sp>
    </p:spTree>
    <p:extLst>
      <p:ext uri="{BB962C8B-B14F-4D97-AF65-F5344CB8AC3E}">
        <p14:creationId xmlns:p14="http://schemas.microsoft.com/office/powerpoint/2010/main" val="3000410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B8083CD-C131-4A5D-9B87-B2010571ADAC}" type="datetime1">
              <a:rPr lang="en-GB"/>
              <a:pPr>
                <a:defRPr/>
              </a:pPr>
              <a:t>02/06/2020</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fld id="{76C09140-6500-4B65-9F95-2CAB8C0CDEDF}" type="slidenum">
              <a:rPr lang="en-GB" altLang="en-US"/>
              <a:pPr/>
              <a:t>‹#›</a:t>
            </a:fld>
            <a:endParaRPr lang="en-GB" altLang="en-US"/>
          </a:p>
        </p:txBody>
      </p:sp>
    </p:spTree>
    <p:extLst>
      <p:ext uri="{BB962C8B-B14F-4D97-AF65-F5344CB8AC3E}">
        <p14:creationId xmlns:p14="http://schemas.microsoft.com/office/powerpoint/2010/main" val="972382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32136E1D-1C2A-48DB-B066-06000B46EA6A}" type="datetime1">
              <a:rPr lang="en-GB"/>
              <a:pPr>
                <a:defRPr/>
              </a:pPr>
              <a:t>02/06/2020</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D2FF583C-2E41-418D-AAFF-AD8D256AD343}" type="slidenum">
              <a:rPr lang="en-GB" altLang="en-US"/>
              <a:pPr/>
              <a:t>‹#›</a:t>
            </a:fld>
            <a:endParaRPr lang="en-GB" altLang="en-US"/>
          </a:p>
        </p:txBody>
      </p:sp>
    </p:spTree>
    <p:extLst>
      <p:ext uri="{BB962C8B-B14F-4D97-AF65-F5344CB8AC3E}">
        <p14:creationId xmlns:p14="http://schemas.microsoft.com/office/powerpoint/2010/main" val="945918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096000"/>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0" y="0"/>
            <a:ext cx="6705600" cy="60960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EEB689B2-3D84-4789-AC7D-BC61181468D7}" type="datetime1">
              <a:rPr lang="en-GB"/>
              <a:pPr>
                <a:defRPr/>
              </a:pPr>
              <a:t>02/06/2020</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892F5F75-B170-4C79-ABD3-E36A2F03BDBA}" type="slidenum">
              <a:rPr lang="en-GB" altLang="en-US"/>
              <a:pPr/>
              <a:t>‹#›</a:t>
            </a:fld>
            <a:endParaRPr lang="en-GB" altLang="en-US"/>
          </a:p>
        </p:txBody>
      </p:sp>
    </p:spTree>
    <p:extLst>
      <p:ext uri="{BB962C8B-B14F-4D97-AF65-F5344CB8AC3E}">
        <p14:creationId xmlns:p14="http://schemas.microsoft.com/office/powerpoint/2010/main" val="26243803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GB"/>
              <a:t>Click to edit Master title style</a:t>
            </a:r>
            <a:endParaRPr lang="en-US"/>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fld id="{E3B3D976-84E8-4077-96DD-32EC65A8C957}" type="datetime1">
              <a:rPr lang="en-GB"/>
              <a:pPr>
                <a:defRPr/>
              </a:pPr>
              <a:t>02/06/2020</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7878C5B3-2FB7-466B-B10E-55C20C4B5261}" type="slidenum">
              <a:rPr lang="en-GB" altLang="en-US"/>
              <a:pPr/>
              <a:t>‹#›</a:t>
            </a:fld>
            <a:endParaRPr lang="en-GB" altLang="en-US"/>
          </a:p>
        </p:txBody>
      </p:sp>
    </p:spTree>
    <p:extLst>
      <p:ext uri="{BB962C8B-B14F-4D97-AF65-F5344CB8AC3E}">
        <p14:creationId xmlns:p14="http://schemas.microsoft.com/office/powerpoint/2010/main" val="805418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0"/>
            <a:ext cx="9144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28" name="Rectangle 4"/>
          <p:cNvSpPr>
            <a:spLocks noGrp="1" noChangeArrowheads="1"/>
          </p:cNvSpPr>
          <p:nvPr>
            <p:ph type="dt" sz="half" idx="2"/>
          </p:nvPr>
        </p:nvSpPr>
        <p:spPr bwMode="auto">
          <a:xfrm>
            <a:off x="7239000" y="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lvl1pPr algn="r">
              <a:defRPr sz="1800">
                <a:solidFill>
                  <a:schemeClr val="folHlink"/>
                </a:solidFill>
              </a:defRPr>
            </a:lvl1pPr>
          </a:lstStyle>
          <a:p>
            <a:pPr>
              <a:defRPr/>
            </a:pPr>
            <a:fld id="{EE6B3BC8-A9A7-4177-8893-692DAFCC60CD}" type="datetime1">
              <a:rPr lang="en-GB"/>
              <a:pPr>
                <a:defRPr/>
              </a:pPr>
              <a:t>02/06/2020</a:t>
            </a:fld>
            <a:endParaRPr lang="en-GB"/>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lvl1pPr algn="ctr">
              <a:defRPr sz="1400">
                <a:solidFill>
                  <a:schemeClr val="tx1"/>
                </a:solidFill>
                <a:latin typeface="Times New Roman" charset="0"/>
                <a:ea typeface="ＭＳ Ｐゴシック" charset="0"/>
                <a:cs typeface="+mn-cs"/>
              </a:defRPr>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lvl1pPr algn="r">
              <a:defRPr sz="1400">
                <a:solidFill>
                  <a:schemeClr val="tx1"/>
                </a:solidFill>
                <a:latin typeface="Times New Roman" panose="02020603050405020304" pitchFamily="18" charset="0"/>
              </a:defRPr>
            </a:lvl1pPr>
          </a:lstStyle>
          <a:p>
            <a:fld id="{1403BAAC-4959-46A8-85E7-53C79B6EA817}" type="slidenum">
              <a:rPr lang="en-GB" altLang="en-US"/>
              <a:pPr/>
              <a:t>‹#›</a:t>
            </a:fld>
            <a:endParaRPr lang="en-GB"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ctr" rtl="0" eaLnBrk="0" fontAlgn="base" hangingPunct="0">
        <a:spcBef>
          <a:spcPct val="0"/>
        </a:spcBef>
        <a:spcAft>
          <a:spcPct val="0"/>
        </a:spcAft>
        <a:defRPr sz="4400" b="1">
          <a:solidFill>
            <a:schemeClr val="bg1"/>
          </a:solidFill>
          <a:effectLst>
            <a:outerShdw blurRad="38100" dist="38100" dir="2700000" algn="tl">
              <a:srgbClr val="808080"/>
            </a:outerShdw>
          </a:effectLst>
          <a:latin typeface="+mj-lt"/>
          <a:ea typeface="+mj-ea"/>
          <a:cs typeface="ＭＳ Ｐゴシック" charset="0"/>
        </a:defRPr>
      </a:lvl1pPr>
      <a:lvl2pPr algn="ctr" rtl="0" eaLnBrk="0" fontAlgn="base" hangingPunct="0">
        <a:spcBef>
          <a:spcPct val="0"/>
        </a:spcBef>
        <a:spcAft>
          <a:spcPct val="0"/>
        </a:spcAft>
        <a:defRPr sz="4400" b="1">
          <a:solidFill>
            <a:schemeClr val="bg1"/>
          </a:solidFill>
          <a:effectLst>
            <a:outerShdw blurRad="38100" dist="38100" dir="2700000" algn="tl">
              <a:srgbClr val="808080"/>
            </a:outerShdw>
          </a:effectLst>
          <a:latin typeface="Comic Sans MS" charset="0"/>
          <a:ea typeface="ＭＳ Ｐゴシック" charset="0"/>
          <a:cs typeface="ＭＳ Ｐゴシック" charset="0"/>
        </a:defRPr>
      </a:lvl2pPr>
      <a:lvl3pPr algn="ctr" rtl="0" eaLnBrk="0" fontAlgn="base" hangingPunct="0">
        <a:spcBef>
          <a:spcPct val="0"/>
        </a:spcBef>
        <a:spcAft>
          <a:spcPct val="0"/>
        </a:spcAft>
        <a:defRPr sz="4400" b="1">
          <a:solidFill>
            <a:schemeClr val="bg1"/>
          </a:solidFill>
          <a:effectLst>
            <a:outerShdw blurRad="38100" dist="38100" dir="2700000" algn="tl">
              <a:srgbClr val="808080"/>
            </a:outerShdw>
          </a:effectLst>
          <a:latin typeface="Comic Sans MS" charset="0"/>
          <a:ea typeface="ＭＳ Ｐゴシック" charset="0"/>
          <a:cs typeface="ＭＳ Ｐゴシック" charset="0"/>
        </a:defRPr>
      </a:lvl3pPr>
      <a:lvl4pPr algn="ctr" rtl="0" eaLnBrk="0" fontAlgn="base" hangingPunct="0">
        <a:spcBef>
          <a:spcPct val="0"/>
        </a:spcBef>
        <a:spcAft>
          <a:spcPct val="0"/>
        </a:spcAft>
        <a:defRPr sz="4400" b="1">
          <a:solidFill>
            <a:schemeClr val="bg1"/>
          </a:solidFill>
          <a:effectLst>
            <a:outerShdw blurRad="38100" dist="38100" dir="2700000" algn="tl">
              <a:srgbClr val="808080"/>
            </a:outerShdw>
          </a:effectLst>
          <a:latin typeface="Comic Sans MS" charset="0"/>
          <a:ea typeface="ＭＳ Ｐゴシック" charset="0"/>
          <a:cs typeface="ＭＳ Ｐゴシック" charset="0"/>
        </a:defRPr>
      </a:lvl4pPr>
      <a:lvl5pPr algn="ctr" rtl="0" eaLnBrk="0" fontAlgn="base" hangingPunct="0">
        <a:spcBef>
          <a:spcPct val="0"/>
        </a:spcBef>
        <a:spcAft>
          <a:spcPct val="0"/>
        </a:spcAft>
        <a:defRPr sz="4400" b="1">
          <a:solidFill>
            <a:schemeClr val="bg1"/>
          </a:solidFill>
          <a:effectLst>
            <a:outerShdw blurRad="38100" dist="38100" dir="2700000" algn="tl">
              <a:srgbClr val="808080"/>
            </a:outerShdw>
          </a:effectLst>
          <a:latin typeface="Comic Sans MS" charset="0"/>
          <a:ea typeface="ＭＳ Ｐゴシック" charset="0"/>
          <a:cs typeface="ＭＳ Ｐゴシック" charset="0"/>
        </a:defRPr>
      </a:lvl5pPr>
      <a:lvl6pPr marL="457200" algn="ctr" rtl="0" fontAlgn="base">
        <a:spcBef>
          <a:spcPct val="0"/>
        </a:spcBef>
        <a:spcAft>
          <a:spcPct val="0"/>
        </a:spcAft>
        <a:defRPr sz="4400" b="1">
          <a:solidFill>
            <a:schemeClr val="bg1"/>
          </a:solidFill>
          <a:effectLst>
            <a:outerShdw blurRad="38100" dist="38100" dir="2700000" algn="tl">
              <a:srgbClr val="808080"/>
            </a:outerShdw>
          </a:effectLst>
          <a:latin typeface="Comic Sans MS" charset="0"/>
          <a:ea typeface="ＭＳ Ｐゴシック" charset="0"/>
        </a:defRPr>
      </a:lvl6pPr>
      <a:lvl7pPr marL="914400" algn="ctr" rtl="0" fontAlgn="base">
        <a:spcBef>
          <a:spcPct val="0"/>
        </a:spcBef>
        <a:spcAft>
          <a:spcPct val="0"/>
        </a:spcAft>
        <a:defRPr sz="4400" b="1">
          <a:solidFill>
            <a:schemeClr val="bg1"/>
          </a:solidFill>
          <a:effectLst>
            <a:outerShdw blurRad="38100" dist="38100" dir="2700000" algn="tl">
              <a:srgbClr val="808080"/>
            </a:outerShdw>
          </a:effectLst>
          <a:latin typeface="Comic Sans MS" charset="0"/>
          <a:ea typeface="ＭＳ Ｐゴシック" charset="0"/>
        </a:defRPr>
      </a:lvl7pPr>
      <a:lvl8pPr marL="1371600" algn="ctr" rtl="0" fontAlgn="base">
        <a:spcBef>
          <a:spcPct val="0"/>
        </a:spcBef>
        <a:spcAft>
          <a:spcPct val="0"/>
        </a:spcAft>
        <a:defRPr sz="4400" b="1">
          <a:solidFill>
            <a:schemeClr val="bg1"/>
          </a:solidFill>
          <a:effectLst>
            <a:outerShdw blurRad="38100" dist="38100" dir="2700000" algn="tl">
              <a:srgbClr val="808080"/>
            </a:outerShdw>
          </a:effectLst>
          <a:latin typeface="Comic Sans MS" charset="0"/>
          <a:ea typeface="ＭＳ Ｐゴシック" charset="0"/>
        </a:defRPr>
      </a:lvl8pPr>
      <a:lvl9pPr marL="1828800" algn="ctr" rtl="0" fontAlgn="base">
        <a:spcBef>
          <a:spcPct val="0"/>
        </a:spcBef>
        <a:spcAft>
          <a:spcPct val="0"/>
        </a:spcAft>
        <a:defRPr sz="4400" b="1">
          <a:solidFill>
            <a:schemeClr val="bg1"/>
          </a:solidFill>
          <a:effectLst>
            <a:outerShdw blurRad="38100" dist="38100" dir="2700000" algn="tl">
              <a:srgbClr val="808080"/>
            </a:outerShdw>
          </a:effectLst>
          <a:latin typeface="Comic Sans MS" charset="0"/>
          <a:ea typeface="ＭＳ Ｐゴシック" charset="0"/>
        </a:defRPr>
      </a:lvl9pPr>
    </p:titleStyle>
    <p:bodyStyle>
      <a:lvl1pPr marL="342900" indent="-342900" algn="l" rtl="0" eaLnBrk="0" fontAlgn="base" hangingPunct="0">
        <a:spcBef>
          <a:spcPct val="20000"/>
        </a:spcBef>
        <a:spcAft>
          <a:spcPct val="0"/>
        </a:spcAft>
        <a:buChar char="•"/>
        <a:defRPr sz="2400">
          <a:solidFill>
            <a:schemeClr val="bg1"/>
          </a:solidFill>
          <a:latin typeface="+mn-lt"/>
          <a:ea typeface="+mn-ea"/>
          <a:cs typeface="ＭＳ Ｐゴシック" charset="0"/>
        </a:defRPr>
      </a:lvl1pPr>
      <a:lvl2pPr marL="742950" indent="-285750" algn="l" rtl="0" eaLnBrk="0" fontAlgn="base" hangingPunct="0">
        <a:spcBef>
          <a:spcPct val="20000"/>
        </a:spcBef>
        <a:spcAft>
          <a:spcPct val="0"/>
        </a:spcAft>
        <a:buChar char="–"/>
        <a:defRPr sz="2400">
          <a:solidFill>
            <a:schemeClr val="bg1"/>
          </a:solidFill>
          <a:latin typeface="+mn-lt"/>
          <a:ea typeface="+mn-ea"/>
        </a:defRPr>
      </a:lvl2pPr>
      <a:lvl3pPr marL="1143000" indent="-228600" algn="l" rtl="0" eaLnBrk="0" fontAlgn="base" hangingPunct="0">
        <a:spcBef>
          <a:spcPct val="20000"/>
        </a:spcBef>
        <a:spcAft>
          <a:spcPct val="0"/>
        </a:spcAft>
        <a:buChar char="•"/>
        <a:defRPr sz="2400">
          <a:solidFill>
            <a:schemeClr val="bg1"/>
          </a:solidFill>
          <a:latin typeface="+mn-lt"/>
          <a:ea typeface="+mn-ea"/>
        </a:defRPr>
      </a:lvl3pPr>
      <a:lvl4pPr marL="1600200" indent="-228600" algn="l" rtl="0" eaLnBrk="0" fontAlgn="base" hangingPunct="0">
        <a:spcBef>
          <a:spcPct val="20000"/>
        </a:spcBef>
        <a:spcAft>
          <a:spcPct val="0"/>
        </a:spcAft>
        <a:buChar char="–"/>
        <a:defRPr sz="2400">
          <a:solidFill>
            <a:schemeClr val="bg1"/>
          </a:solidFill>
          <a:latin typeface="+mn-lt"/>
          <a:ea typeface="+mn-ea"/>
        </a:defRPr>
      </a:lvl4pPr>
      <a:lvl5pPr marL="2057400" indent="-228600" algn="l" rtl="0" eaLnBrk="0" fontAlgn="base" hangingPunct="0">
        <a:spcBef>
          <a:spcPct val="20000"/>
        </a:spcBef>
        <a:spcAft>
          <a:spcPct val="0"/>
        </a:spcAft>
        <a:buChar char="»"/>
        <a:defRPr sz="2400">
          <a:solidFill>
            <a:schemeClr val="bg1"/>
          </a:solidFill>
          <a:latin typeface="+mn-lt"/>
          <a:ea typeface="+mn-ea"/>
        </a:defRPr>
      </a:lvl5pPr>
      <a:lvl6pPr marL="2514600" indent="-228600" algn="l" rtl="0" fontAlgn="base">
        <a:spcBef>
          <a:spcPct val="20000"/>
        </a:spcBef>
        <a:spcAft>
          <a:spcPct val="0"/>
        </a:spcAft>
        <a:buChar char="»"/>
        <a:defRPr sz="2400">
          <a:solidFill>
            <a:schemeClr val="bg1"/>
          </a:solidFill>
          <a:latin typeface="+mn-lt"/>
          <a:ea typeface="+mn-ea"/>
        </a:defRPr>
      </a:lvl6pPr>
      <a:lvl7pPr marL="2971800" indent="-228600" algn="l" rtl="0" fontAlgn="base">
        <a:spcBef>
          <a:spcPct val="20000"/>
        </a:spcBef>
        <a:spcAft>
          <a:spcPct val="0"/>
        </a:spcAft>
        <a:buChar char="»"/>
        <a:defRPr sz="2400">
          <a:solidFill>
            <a:schemeClr val="bg1"/>
          </a:solidFill>
          <a:latin typeface="+mn-lt"/>
          <a:ea typeface="+mn-ea"/>
        </a:defRPr>
      </a:lvl7pPr>
      <a:lvl8pPr marL="3429000" indent="-228600" algn="l" rtl="0" fontAlgn="base">
        <a:spcBef>
          <a:spcPct val="20000"/>
        </a:spcBef>
        <a:spcAft>
          <a:spcPct val="0"/>
        </a:spcAft>
        <a:buChar char="»"/>
        <a:defRPr sz="2400">
          <a:solidFill>
            <a:schemeClr val="bg1"/>
          </a:solidFill>
          <a:latin typeface="+mn-lt"/>
          <a:ea typeface="+mn-ea"/>
        </a:defRPr>
      </a:lvl8pPr>
      <a:lvl9pPr marL="3886200" indent="-228600" algn="l" rtl="0" fontAlgn="base">
        <a:spcBef>
          <a:spcPct val="20000"/>
        </a:spcBef>
        <a:spcAft>
          <a:spcPct val="0"/>
        </a:spcAft>
        <a:buChar char="»"/>
        <a:defRPr sz="2400">
          <a:solidFill>
            <a:schemeClr val="bg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educationusingpowerpoint.co.uk/"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hyperlink" Target="rates%20of%20reaction.exe" TargetMode="Externa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13.wmf"/><Relationship Id="rId5" Type="http://schemas.openxmlformats.org/officeDocument/2006/relationships/oleObject" Target="../embeddings/oleObject2.bin"/><Relationship Id="rId4" Type="http://schemas.openxmlformats.org/officeDocument/2006/relationships/image" Target="../media/image12.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Grp="1" noChangeArrowheads="1"/>
          </p:cNvSpPr>
          <p:nvPr>
            <p:ph type="dt" sz="quarter" idx="10"/>
          </p:nvPr>
        </p:nvSpPr>
        <p:spPr>
          <a:noFill/>
        </p:spPr>
        <p:txBody>
          <a:bodyPr/>
          <a:lstStyle>
            <a:lvl1pPr>
              <a:spcBef>
                <a:spcPct val="20000"/>
              </a:spcBef>
              <a:buChar char="•"/>
              <a:defRPr sz="3200">
                <a:solidFill>
                  <a:schemeClr val="bg1"/>
                </a:solidFill>
                <a:latin typeface="Comic Sans MS" panose="030F0702030302020204" pitchFamily="66" charset="0"/>
              </a:defRPr>
            </a:lvl1pPr>
            <a:lvl2pPr marL="742950" indent="-285750">
              <a:spcBef>
                <a:spcPct val="20000"/>
              </a:spcBef>
              <a:buChar char="–"/>
              <a:defRPr sz="2800">
                <a:solidFill>
                  <a:schemeClr val="bg1"/>
                </a:solidFill>
                <a:latin typeface="Comic Sans MS" panose="030F0702030302020204" pitchFamily="66" charset="0"/>
              </a:defRPr>
            </a:lvl2pPr>
            <a:lvl3pPr marL="1143000" indent="-228600">
              <a:spcBef>
                <a:spcPct val="20000"/>
              </a:spcBef>
              <a:buChar char="•"/>
              <a:defRPr sz="2400">
                <a:solidFill>
                  <a:schemeClr val="bg1"/>
                </a:solidFill>
                <a:latin typeface="Comic Sans MS" panose="030F0702030302020204" pitchFamily="66" charset="0"/>
              </a:defRPr>
            </a:lvl3pPr>
            <a:lvl4pPr marL="1600200" indent="-228600">
              <a:spcBef>
                <a:spcPct val="20000"/>
              </a:spcBef>
              <a:buChar char="–"/>
              <a:defRPr sz="2000">
                <a:solidFill>
                  <a:schemeClr val="bg1"/>
                </a:solidFill>
                <a:latin typeface="Comic Sans MS" panose="030F0702030302020204" pitchFamily="66" charset="0"/>
              </a:defRPr>
            </a:lvl4pPr>
            <a:lvl5pPr marL="2057400" indent="-228600">
              <a:spcBef>
                <a:spcPct val="20000"/>
              </a:spcBef>
              <a:buChar char="»"/>
              <a:defRPr sz="2000">
                <a:solidFill>
                  <a:schemeClr val="bg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bg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bg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bg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bg1"/>
                </a:solidFill>
                <a:latin typeface="Comic Sans MS" panose="030F0702030302020204" pitchFamily="66" charset="0"/>
              </a:defRPr>
            </a:lvl9pPr>
          </a:lstStyle>
          <a:p>
            <a:pPr>
              <a:spcBef>
                <a:spcPct val="0"/>
              </a:spcBef>
              <a:buFontTx/>
              <a:buNone/>
            </a:pPr>
            <a:fld id="{FDD65B75-036F-47B9-BFF9-8F5E60C90D45}" type="datetime1">
              <a:rPr lang="en-GB" altLang="en-US" sz="1600" smtClean="0">
                <a:solidFill>
                  <a:schemeClr val="bg2"/>
                </a:solidFill>
              </a:rPr>
              <a:pPr>
                <a:spcBef>
                  <a:spcPct val="0"/>
                </a:spcBef>
                <a:buFontTx/>
                <a:buNone/>
              </a:pPr>
              <a:t>02/06/2020</a:t>
            </a:fld>
            <a:endParaRPr lang="en-GB" altLang="en-US" sz="1600">
              <a:solidFill>
                <a:schemeClr val="bg2"/>
              </a:solidFill>
            </a:endParaRPr>
          </a:p>
        </p:txBody>
      </p:sp>
      <p:sp>
        <p:nvSpPr>
          <p:cNvPr id="4099" name="Date Placeholder 1"/>
          <p:cNvSpPr txBox="1">
            <a:spLocks noGrp="1"/>
          </p:cNvSpPr>
          <p:nvPr/>
        </p:nvSpPr>
        <p:spPr bwMode="auto">
          <a:xfrm>
            <a:off x="7239000" y="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bg1"/>
                </a:solidFill>
                <a:latin typeface="Comic Sans MS" panose="030F0702030302020204" pitchFamily="66" charset="0"/>
              </a:defRPr>
            </a:lvl1pPr>
            <a:lvl2pPr marL="742950" indent="-285750">
              <a:spcBef>
                <a:spcPct val="20000"/>
              </a:spcBef>
              <a:buChar char="–"/>
              <a:defRPr sz="2800">
                <a:solidFill>
                  <a:schemeClr val="bg1"/>
                </a:solidFill>
                <a:latin typeface="Comic Sans MS" panose="030F0702030302020204" pitchFamily="66" charset="0"/>
              </a:defRPr>
            </a:lvl2pPr>
            <a:lvl3pPr marL="1143000" indent="-228600">
              <a:spcBef>
                <a:spcPct val="20000"/>
              </a:spcBef>
              <a:buChar char="•"/>
              <a:defRPr sz="2400">
                <a:solidFill>
                  <a:schemeClr val="bg1"/>
                </a:solidFill>
                <a:latin typeface="Comic Sans MS" panose="030F0702030302020204" pitchFamily="66" charset="0"/>
              </a:defRPr>
            </a:lvl3pPr>
            <a:lvl4pPr marL="1600200" indent="-228600">
              <a:spcBef>
                <a:spcPct val="20000"/>
              </a:spcBef>
              <a:buChar char="–"/>
              <a:defRPr sz="2000">
                <a:solidFill>
                  <a:schemeClr val="bg1"/>
                </a:solidFill>
                <a:latin typeface="Comic Sans MS" panose="030F0702030302020204" pitchFamily="66" charset="0"/>
              </a:defRPr>
            </a:lvl4pPr>
            <a:lvl5pPr marL="2057400" indent="-228600">
              <a:spcBef>
                <a:spcPct val="20000"/>
              </a:spcBef>
              <a:buChar char="»"/>
              <a:defRPr sz="2000">
                <a:solidFill>
                  <a:schemeClr val="bg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bg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bg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bg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bg1"/>
                </a:solidFill>
                <a:latin typeface="Comic Sans MS" panose="030F0702030302020204" pitchFamily="66" charset="0"/>
              </a:defRPr>
            </a:lvl9pPr>
          </a:lstStyle>
          <a:p>
            <a:pPr algn="r" eaLnBrk="1" hangingPunct="1">
              <a:spcBef>
                <a:spcPct val="0"/>
              </a:spcBef>
              <a:buFontTx/>
              <a:buNone/>
            </a:pPr>
            <a:fld id="{CAFBAAE4-D613-44EE-B830-C50540B6CA4B}" type="datetime1">
              <a:rPr lang="en-GB" altLang="en-US" sz="1600">
                <a:solidFill>
                  <a:schemeClr val="bg2"/>
                </a:solidFill>
              </a:rPr>
              <a:pPr algn="r" eaLnBrk="1" hangingPunct="1">
                <a:spcBef>
                  <a:spcPct val="0"/>
                </a:spcBef>
                <a:buFontTx/>
                <a:buNone/>
              </a:pPr>
              <a:t>02/06/2020</a:t>
            </a:fld>
            <a:endParaRPr lang="en-GB" altLang="en-US" sz="1600">
              <a:solidFill>
                <a:schemeClr val="bg2"/>
              </a:solidFill>
            </a:endParaRPr>
          </a:p>
        </p:txBody>
      </p:sp>
      <p:sp>
        <p:nvSpPr>
          <p:cNvPr id="3074" name="Text Box 2"/>
          <p:cNvSpPr txBox="1">
            <a:spLocks noChangeArrowheads="1"/>
          </p:cNvSpPr>
          <p:nvPr/>
        </p:nvSpPr>
        <p:spPr bwMode="auto">
          <a:xfrm>
            <a:off x="209550" y="404664"/>
            <a:ext cx="870585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p>
            <a:pPr algn="ctr" eaLnBrk="1" hangingPunct="1">
              <a:spcBef>
                <a:spcPct val="50000"/>
              </a:spcBef>
              <a:defRPr/>
            </a:pPr>
            <a:r>
              <a:rPr lang="en-GB" sz="6000" b="1" dirty="0">
                <a:effectLst>
                  <a:outerShdw blurRad="38100" dist="38100" dir="2700000" algn="tl">
                    <a:srgbClr val="808080"/>
                  </a:outerShdw>
                </a:effectLst>
              </a:rPr>
              <a:t>Key Concepts in Chemistry</a:t>
            </a:r>
          </a:p>
        </p:txBody>
      </p:sp>
      <p:sp>
        <p:nvSpPr>
          <p:cNvPr id="4102" name="TextBox 1"/>
          <p:cNvSpPr txBox="1">
            <a:spLocks noChangeArrowheads="1"/>
          </p:cNvSpPr>
          <p:nvPr/>
        </p:nvSpPr>
        <p:spPr bwMode="auto">
          <a:xfrm>
            <a:off x="50800" y="2332038"/>
            <a:ext cx="90217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bg1"/>
                </a:solidFill>
                <a:latin typeface="Comic Sans MS" panose="030F0702030302020204" pitchFamily="66" charset="0"/>
              </a:defRPr>
            </a:lvl1pPr>
            <a:lvl2pPr marL="742950" indent="-285750">
              <a:spcBef>
                <a:spcPct val="20000"/>
              </a:spcBef>
              <a:buChar char="–"/>
              <a:defRPr sz="2800">
                <a:solidFill>
                  <a:schemeClr val="bg1"/>
                </a:solidFill>
                <a:latin typeface="Comic Sans MS" panose="030F0702030302020204" pitchFamily="66" charset="0"/>
              </a:defRPr>
            </a:lvl2pPr>
            <a:lvl3pPr marL="1143000" indent="-228600">
              <a:spcBef>
                <a:spcPct val="20000"/>
              </a:spcBef>
              <a:buChar char="•"/>
              <a:defRPr sz="2400">
                <a:solidFill>
                  <a:schemeClr val="bg1"/>
                </a:solidFill>
                <a:latin typeface="Comic Sans MS" panose="030F0702030302020204" pitchFamily="66" charset="0"/>
              </a:defRPr>
            </a:lvl3pPr>
            <a:lvl4pPr marL="1600200" indent="-228600">
              <a:spcBef>
                <a:spcPct val="20000"/>
              </a:spcBef>
              <a:buChar char="–"/>
              <a:defRPr sz="2000">
                <a:solidFill>
                  <a:schemeClr val="bg1"/>
                </a:solidFill>
                <a:latin typeface="Comic Sans MS" panose="030F0702030302020204" pitchFamily="66" charset="0"/>
              </a:defRPr>
            </a:lvl4pPr>
            <a:lvl5pPr marL="2057400" indent="-228600">
              <a:spcBef>
                <a:spcPct val="20000"/>
              </a:spcBef>
              <a:buChar char="»"/>
              <a:defRPr sz="2000">
                <a:solidFill>
                  <a:schemeClr val="bg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bg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bg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bg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bg1"/>
                </a:solidFill>
                <a:latin typeface="Comic Sans MS" panose="030F0702030302020204" pitchFamily="66" charset="0"/>
              </a:defRPr>
            </a:lvl9pPr>
          </a:lstStyle>
          <a:p>
            <a:pPr algn="ctr">
              <a:spcBef>
                <a:spcPct val="0"/>
              </a:spcBef>
              <a:buFontTx/>
              <a:buNone/>
            </a:pPr>
            <a:r>
              <a:rPr lang="en-GB" altLang="en-US" sz="2400" i="1"/>
              <a:t>EdExcel </a:t>
            </a:r>
            <a:r>
              <a:rPr lang="en-GB" altLang="en-US" sz="2400" i="1" dirty="0"/>
              <a:t>2016 Chemistry topic 1</a:t>
            </a:r>
          </a:p>
        </p:txBody>
      </p:sp>
      <p:pic>
        <p:nvPicPr>
          <p:cNvPr id="8" name="Picture 1" descr="buckeyb.g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32463" y="3521075"/>
            <a:ext cx="3411537" cy="333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4"/>
          <p:cNvSpPr txBox="1">
            <a:spLocks noChangeArrowheads="1"/>
          </p:cNvSpPr>
          <p:nvPr/>
        </p:nvSpPr>
        <p:spPr bwMode="auto">
          <a:xfrm>
            <a:off x="1115616" y="4581128"/>
            <a:ext cx="338455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Comic Sans MS" panose="030F0702030302020204" pitchFamily="66" charset="0"/>
              </a:defRPr>
            </a:lvl1pPr>
            <a:lvl2pPr marL="742950" indent="-285750">
              <a:spcBef>
                <a:spcPct val="20000"/>
              </a:spcBef>
              <a:buChar char="–"/>
              <a:defRPr sz="2800">
                <a:solidFill>
                  <a:schemeClr val="bg1"/>
                </a:solidFill>
                <a:latin typeface="Comic Sans MS" panose="030F0702030302020204" pitchFamily="66" charset="0"/>
              </a:defRPr>
            </a:lvl2pPr>
            <a:lvl3pPr marL="1143000" indent="-228600">
              <a:spcBef>
                <a:spcPct val="20000"/>
              </a:spcBef>
              <a:buChar char="•"/>
              <a:defRPr sz="2400">
                <a:solidFill>
                  <a:schemeClr val="bg1"/>
                </a:solidFill>
                <a:latin typeface="Comic Sans MS" panose="030F0702030302020204" pitchFamily="66" charset="0"/>
              </a:defRPr>
            </a:lvl3pPr>
            <a:lvl4pPr marL="1600200" indent="-228600">
              <a:spcBef>
                <a:spcPct val="20000"/>
              </a:spcBef>
              <a:buChar char="–"/>
              <a:defRPr sz="2000">
                <a:solidFill>
                  <a:schemeClr val="bg1"/>
                </a:solidFill>
                <a:latin typeface="Comic Sans MS" panose="030F0702030302020204" pitchFamily="66" charset="0"/>
              </a:defRPr>
            </a:lvl4pPr>
            <a:lvl5pPr marL="2057400" indent="-228600">
              <a:spcBef>
                <a:spcPct val="20000"/>
              </a:spcBef>
              <a:buChar char="»"/>
              <a:defRPr sz="2000">
                <a:solidFill>
                  <a:schemeClr val="bg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bg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bg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bg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bg1"/>
                </a:solidFill>
                <a:latin typeface="Comic Sans MS" panose="030F0702030302020204" pitchFamily="66" charset="0"/>
              </a:defRPr>
            </a:lvl9pPr>
          </a:lstStyle>
          <a:p>
            <a:pPr algn="ctr" eaLnBrk="1" hangingPunct="1">
              <a:spcBef>
                <a:spcPct val="50000"/>
              </a:spcBef>
              <a:buFontTx/>
              <a:buNone/>
            </a:pPr>
            <a:r>
              <a:rPr lang="cy-GB" altLang="en-US" sz="2400" dirty="0"/>
              <a:t>W Richards</a:t>
            </a:r>
          </a:p>
          <a:p>
            <a:pPr algn="ctr" eaLnBrk="1" hangingPunct="1">
              <a:spcBef>
                <a:spcPct val="50000"/>
              </a:spcBef>
              <a:buFontTx/>
              <a:buNone/>
            </a:pPr>
            <a:endParaRPr lang="cy-GB" altLang="en-US" sz="2400" dirty="0"/>
          </a:p>
          <a:p>
            <a:pPr algn="ctr" eaLnBrk="1" hangingPunct="1">
              <a:spcBef>
                <a:spcPct val="50000"/>
              </a:spcBef>
              <a:buFontTx/>
              <a:buNone/>
            </a:pPr>
            <a:r>
              <a:rPr lang="cy-GB" altLang="en-US" sz="2400" dirty="0" smtClean="0">
                <a:hlinkClick r:id="rId3"/>
              </a:rPr>
              <a:t>Education Using PowerPoint</a:t>
            </a:r>
            <a:endParaRPr lang="en-US" altLang="en-US" sz="2400" dirty="0"/>
          </a:p>
        </p:txBody>
      </p:sp>
    </p:spTree>
    <p:extLst>
      <p:ext uri="{BB962C8B-B14F-4D97-AF65-F5344CB8AC3E}">
        <p14:creationId xmlns:p14="http://schemas.microsoft.com/office/powerpoint/2010/main" val="752190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Atomic Structure</a:t>
            </a:r>
          </a:p>
        </p:txBody>
      </p:sp>
      <p:sp>
        <p:nvSpPr>
          <p:cNvPr id="3" name="Date Placeholder 2"/>
          <p:cNvSpPr>
            <a:spLocks noGrp="1"/>
          </p:cNvSpPr>
          <p:nvPr>
            <p:ph type="dt" sz="half" idx="10"/>
          </p:nvPr>
        </p:nvSpPr>
        <p:spPr/>
        <p:txBody>
          <a:bodyPr/>
          <a:lstStyle/>
          <a:p>
            <a:pPr>
              <a:defRPr/>
            </a:pPr>
            <a:fld id="{015E6D66-BACF-4A6D-9DB1-3B675C6F844B}" type="datetime1">
              <a:rPr lang="en-GB" smtClean="0"/>
              <a:pPr>
                <a:defRPr/>
              </a:pPr>
              <a:t>02/06/2020</a:t>
            </a:fld>
            <a:endParaRPr lang="en-GB"/>
          </a:p>
        </p:txBody>
      </p:sp>
    </p:spTree>
    <p:extLst>
      <p:ext uri="{BB962C8B-B14F-4D97-AF65-F5344CB8AC3E}">
        <p14:creationId xmlns:p14="http://schemas.microsoft.com/office/powerpoint/2010/main" val="2075076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Date Placeholder 2"/>
          <p:cNvSpPr>
            <a:spLocks noGrp="1"/>
          </p:cNvSpPr>
          <p:nvPr>
            <p:ph type="dt" sz="quarter" idx="10"/>
          </p:nvPr>
        </p:nvSpPr>
        <p:spPr/>
        <p:txBody>
          <a:bodyPr/>
          <a:lstStyle>
            <a:lvl1pPr eaLnBrk="0" hangingPunct="0">
              <a:defRPr sz="2400">
                <a:solidFill>
                  <a:schemeClr val="bg1"/>
                </a:solidFill>
                <a:latin typeface="Comic Sans MS" pitchFamily="66" charset="0"/>
                <a:ea typeface="ＭＳ Ｐゴシック" pitchFamily="34" charset="-128"/>
              </a:defRPr>
            </a:lvl1pPr>
            <a:lvl2pPr marL="742950" indent="-285750" eaLnBrk="0" hangingPunct="0">
              <a:defRPr sz="2400">
                <a:solidFill>
                  <a:schemeClr val="bg1"/>
                </a:solidFill>
                <a:latin typeface="Comic Sans MS" pitchFamily="66" charset="0"/>
                <a:ea typeface="ＭＳ Ｐゴシック" pitchFamily="34" charset="-128"/>
              </a:defRPr>
            </a:lvl2pPr>
            <a:lvl3pPr marL="1143000" indent="-228600" eaLnBrk="0" hangingPunct="0">
              <a:defRPr sz="2400">
                <a:solidFill>
                  <a:schemeClr val="bg1"/>
                </a:solidFill>
                <a:latin typeface="Comic Sans MS" pitchFamily="66" charset="0"/>
                <a:ea typeface="ＭＳ Ｐゴシック" pitchFamily="34" charset="-128"/>
              </a:defRPr>
            </a:lvl3pPr>
            <a:lvl4pPr marL="1600200" indent="-228600" eaLnBrk="0" hangingPunct="0">
              <a:defRPr sz="2400">
                <a:solidFill>
                  <a:schemeClr val="bg1"/>
                </a:solidFill>
                <a:latin typeface="Comic Sans MS" pitchFamily="66" charset="0"/>
                <a:ea typeface="ＭＳ Ｐゴシック" pitchFamily="34" charset="-128"/>
              </a:defRPr>
            </a:lvl4pPr>
            <a:lvl5pPr marL="2057400" indent="-228600" eaLnBrk="0" hangingPunct="0">
              <a:defRPr sz="2400">
                <a:solidFill>
                  <a:schemeClr val="bg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9pPr>
          </a:lstStyle>
          <a:p>
            <a:pPr eaLnBrk="1" hangingPunct="1">
              <a:defRPr/>
            </a:pPr>
            <a:fld id="{7F01D2BE-6A20-4A11-AE09-D10A7C385FBE}" type="datetime1">
              <a:rPr lang="en-GB" sz="1800" smtClean="0">
                <a:solidFill>
                  <a:schemeClr val="folHlink"/>
                </a:solidFill>
              </a:rPr>
              <a:pPr eaLnBrk="1" hangingPunct="1">
                <a:defRPr/>
              </a:pPr>
              <a:t>02/06/2020</a:t>
            </a:fld>
            <a:endParaRPr lang="en-GB" sz="1800">
              <a:solidFill>
                <a:schemeClr val="folHlink"/>
              </a:solidFill>
            </a:endParaRPr>
          </a:p>
        </p:txBody>
      </p:sp>
      <p:sp>
        <p:nvSpPr>
          <p:cNvPr id="6146" name="Rectangle 2"/>
          <p:cNvSpPr>
            <a:spLocks noGrp="1" noChangeArrowheads="1"/>
          </p:cNvSpPr>
          <p:nvPr>
            <p:ph type="title"/>
          </p:nvPr>
        </p:nvSpPr>
        <p:spPr/>
        <p:txBody>
          <a:bodyPr/>
          <a:lstStyle/>
          <a:p>
            <a:pPr eaLnBrk="1" hangingPunct="1">
              <a:defRPr/>
            </a:pPr>
            <a:r>
              <a:rPr lang="en-GB"/>
              <a:t>The structure of the atom</a:t>
            </a:r>
          </a:p>
        </p:txBody>
      </p:sp>
      <p:grpSp>
        <p:nvGrpSpPr>
          <p:cNvPr id="6170" name="Group 26"/>
          <p:cNvGrpSpPr>
            <a:grpSpLocks/>
          </p:cNvGrpSpPr>
          <p:nvPr/>
        </p:nvGrpSpPr>
        <p:grpSpPr bwMode="auto">
          <a:xfrm>
            <a:off x="152400" y="2790825"/>
            <a:ext cx="7162800" cy="2590800"/>
            <a:chOff x="96" y="1758"/>
            <a:chExt cx="4512" cy="1632"/>
          </a:xfrm>
        </p:grpSpPr>
        <p:grpSp>
          <p:nvGrpSpPr>
            <p:cNvPr id="3089" name="Group 3"/>
            <p:cNvGrpSpPr>
              <a:grpSpLocks/>
            </p:cNvGrpSpPr>
            <p:nvPr/>
          </p:nvGrpSpPr>
          <p:grpSpPr bwMode="auto">
            <a:xfrm>
              <a:off x="2016" y="2238"/>
              <a:ext cx="624" cy="672"/>
              <a:chOff x="1536" y="1344"/>
              <a:chExt cx="624" cy="672"/>
            </a:xfrm>
          </p:grpSpPr>
          <p:sp>
            <p:nvSpPr>
              <p:cNvPr id="6148" name="Oval 4"/>
              <p:cNvSpPr>
                <a:spLocks noChangeArrowheads="1"/>
              </p:cNvSpPr>
              <p:nvPr/>
            </p:nvSpPr>
            <p:spPr bwMode="auto">
              <a:xfrm>
                <a:off x="1776" y="1344"/>
                <a:ext cx="336" cy="336"/>
              </a:xfrm>
              <a:prstGeom prst="ellipse">
                <a:avLst/>
              </a:prstGeom>
              <a:gradFill rotWithShape="0">
                <a:gsLst>
                  <a:gs pos="0">
                    <a:schemeClr val="accent1">
                      <a:gamma/>
                      <a:shade val="46275"/>
                      <a:invGamma/>
                    </a:schemeClr>
                  </a:gs>
                  <a:gs pos="100000">
                    <a:schemeClr val="accent1"/>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6149" name="Oval 5"/>
              <p:cNvSpPr>
                <a:spLocks noChangeArrowheads="1"/>
              </p:cNvSpPr>
              <p:nvPr/>
            </p:nvSpPr>
            <p:spPr bwMode="auto">
              <a:xfrm>
                <a:off x="1536" y="1440"/>
                <a:ext cx="336" cy="336"/>
              </a:xfrm>
              <a:prstGeom prst="ellipse">
                <a:avLst/>
              </a:prstGeom>
              <a:gradFill rotWithShape="0">
                <a:gsLst>
                  <a:gs pos="0">
                    <a:srgbClr val="FF0000">
                      <a:gamma/>
                      <a:shade val="46275"/>
                      <a:invGamma/>
                    </a:srgbClr>
                  </a:gs>
                  <a:gs pos="100000">
                    <a:srgbClr val="FF0000"/>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6150" name="Oval 6"/>
              <p:cNvSpPr>
                <a:spLocks noChangeArrowheads="1"/>
              </p:cNvSpPr>
              <p:nvPr/>
            </p:nvSpPr>
            <p:spPr bwMode="auto">
              <a:xfrm>
                <a:off x="1824" y="1584"/>
                <a:ext cx="336" cy="336"/>
              </a:xfrm>
              <a:prstGeom prst="ellipse">
                <a:avLst/>
              </a:prstGeom>
              <a:gradFill rotWithShape="0">
                <a:gsLst>
                  <a:gs pos="0">
                    <a:srgbClr val="FF0000">
                      <a:gamma/>
                      <a:shade val="46275"/>
                      <a:invGamma/>
                    </a:srgbClr>
                  </a:gs>
                  <a:gs pos="100000">
                    <a:srgbClr val="FF0000"/>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6151" name="Oval 7"/>
              <p:cNvSpPr>
                <a:spLocks noChangeArrowheads="1"/>
              </p:cNvSpPr>
              <p:nvPr/>
            </p:nvSpPr>
            <p:spPr bwMode="auto">
              <a:xfrm>
                <a:off x="1536" y="1680"/>
                <a:ext cx="336" cy="336"/>
              </a:xfrm>
              <a:prstGeom prst="ellipse">
                <a:avLst/>
              </a:prstGeom>
              <a:gradFill rotWithShape="0">
                <a:gsLst>
                  <a:gs pos="0">
                    <a:schemeClr val="accent1">
                      <a:gamma/>
                      <a:shade val="46275"/>
                      <a:invGamma/>
                    </a:schemeClr>
                  </a:gs>
                  <a:gs pos="100000">
                    <a:schemeClr val="accent1"/>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
          <p:nvSpPr>
            <p:cNvPr id="6152" name="Oval 8"/>
            <p:cNvSpPr>
              <a:spLocks noChangeArrowheads="1"/>
            </p:cNvSpPr>
            <p:nvPr/>
          </p:nvSpPr>
          <p:spPr bwMode="auto">
            <a:xfrm>
              <a:off x="96" y="1758"/>
              <a:ext cx="4512" cy="1632"/>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6153" name="Oval 9"/>
            <p:cNvSpPr>
              <a:spLocks noChangeArrowheads="1"/>
            </p:cNvSpPr>
            <p:nvPr/>
          </p:nvSpPr>
          <p:spPr bwMode="auto">
            <a:xfrm>
              <a:off x="816" y="3102"/>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6154" name="Oval 10"/>
            <p:cNvSpPr>
              <a:spLocks noChangeArrowheads="1"/>
            </p:cNvSpPr>
            <p:nvPr/>
          </p:nvSpPr>
          <p:spPr bwMode="auto">
            <a:xfrm>
              <a:off x="3408" y="1806"/>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grpSp>
        <p:nvGrpSpPr>
          <p:cNvPr id="6171" name="Group 27"/>
          <p:cNvGrpSpPr>
            <a:grpSpLocks/>
          </p:cNvGrpSpPr>
          <p:nvPr/>
        </p:nvGrpSpPr>
        <p:grpSpPr bwMode="auto">
          <a:xfrm>
            <a:off x="5486400" y="3581400"/>
            <a:ext cx="3657600" cy="1797050"/>
            <a:chOff x="3456" y="2256"/>
            <a:chExt cx="2304" cy="1132"/>
          </a:xfrm>
        </p:grpSpPr>
        <p:sp>
          <p:nvSpPr>
            <p:cNvPr id="6157" name="AutoShape 13"/>
            <p:cNvSpPr>
              <a:spLocks noChangeArrowheads="1"/>
            </p:cNvSpPr>
            <p:nvPr/>
          </p:nvSpPr>
          <p:spPr bwMode="auto">
            <a:xfrm rot="23877444">
              <a:off x="3456" y="2256"/>
              <a:ext cx="1392" cy="336"/>
            </a:xfrm>
            <a:prstGeom prst="leftArrow">
              <a:avLst>
                <a:gd name="adj1" fmla="val 50000"/>
                <a:gd name="adj2" fmla="val 103571"/>
              </a:avLst>
            </a:prstGeom>
            <a:solidFill>
              <a:srgbClr val="CC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6158" name="Text Box 14"/>
            <p:cNvSpPr txBox="1">
              <a:spLocks noChangeArrowheads="1"/>
            </p:cNvSpPr>
            <p:nvPr/>
          </p:nvSpPr>
          <p:spPr bwMode="auto">
            <a:xfrm>
              <a:off x="4320" y="2640"/>
              <a:ext cx="1440" cy="748"/>
            </a:xfrm>
            <a:prstGeom prst="rect">
              <a:avLst/>
            </a:prstGeom>
            <a:solidFill>
              <a:srgbClr val="CC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400">
                  <a:solidFill>
                    <a:schemeClr val="bg1"/>
                  </a:solidFill>
                  <a:latin typeface="Comic Sans MS" pitchFamily="66" charset="0"/>
                  <a:ea typeface="ＭＳ Ｐゴシック" pitchFamily="34" charset="-128"/>
                </a:defRPr>
              </a:lvl1pPr>
              <a:lvl2pPr marL="742950" indent="-285750" eaLnBrk="0" hangingPunct="0">
                <a:defRPr sz="2400">
                  <a:solidFill>
                    <a:schemeClr val="bg1"/>
                  </a:solidFill>
                  <a:latin typeface="Comic Sans MS" pitchFamily="66" charset="0"/>
                  <a:ea typeface="ＭＳ Ｐゴシック" pitchFamily="34" charset="-128"/>
                </a:defRPr>
              </a:lvl2pPr>
              <a:lvl3pPr marL="1143000" indent="-228600" eaLnBrk="0" hangingPunct="0">
                <a:defRPr sz="2400">
                  <a:solidFill>
                    <a:schemeClr val="bg1"/>
                  </a:solidFill>
                  <a:latin typeface="Comic Sans MS" pitchFamily="66" charset="0"/>
                  <a:ea typeface="ＭＳ Ｐゴシック" pitchFamily="34" charset="-128"/>
                </a:defRPr>
              </a:lvl3pPr>
              <a:lvl4pPr marL="1600200" indent="-228600" eaLnBrk="0" hangingPunct="0">
                <a:defRPr sz="2400">
                  <a:solidFill>
                    <a:schemeClr val="bg1"/>
                  </a:solidFill>
                  <a:latin typeface="Comic Sans MS" pitchFamily="66" charset="0"/>
                  <a:ea typeface="ＭＳ Ｐゴシック" pitchFamily="34" charset="-128"/>
                </a:defRPr>
              </a:lvl4pPr>
              <a:lvl5pPr marL="2057400" indent="-228600" eaLnBrk="0" hangingPunct="0">
                <a:defRPr sz="2400">
                  <a:solidFill>
                    <a:schemeClr val="bg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9pPr>
            </a:lstStyle>
            <a:p>
              <a:pPr algn="ctr" eaLnBrk="1" hangingPunct="1">
                <a:spcBef>
                  <a:spcPct val="50000"/>
                </a:spcBef>
                <a:defRPr/>
              </a:pPr>
              <a:r>
                <a:rPr lang="en-GB">
                  <a:solidFill>
                    <a:schemeClr val="tx1"/>
                  </a:solidFill>
                </a:rPr>
                <a:t>ELECTRON – negative, mass nearly nothing</a:t>
              </a:r>
            </a:p>
          </p:txBody>
        </p:sp>
      </p:grpSp>
      <p:grpSp>
        <p:nvGrpSpPr>
          <p:cNvPr id="6169" name="Group 25"/>
          <p:cNvGrpSpPr>
            <a:grpSpLocks/>
          </p:cNvGrpSpPr>
          <p:nvPr/>
        </p:nvGrpSpPr>
        <p:grpSpPr bwMode="auto">
          <a:xfrm>
            <a:off x="4354513" y="4191000"/>
            <a:ext cx="2286000" cy="2667000"/>
            <a:chOff x="2743" y="2640"/>
            <a:chExt cx="1440" cy="1680"/>
          </a:xfrm>
        </p:grpSpPr>
        <p:sp>
          <p:nvSpPr>
            <p:cNvPr id="6160" name="AutoShape 16"/>
            <p:cNvSpPr>
              <a:spLocks noChangeArrowheads="1"/>
            </p:cNvSpPr>
            <p:nvPr/>
          </p:nvSpPr>
          <p:spPr bwMode="auto">
            <a:xfrm rot="-18775111">
              <a:off x="2448" y="2976"/>
              <a:ext cx="1008" cy="336"/>
            </a:xfrm>
            <a:prstGeom prst="leftArrow">
              <a:avLst>
                <a:gd name="adj1" fmla="val 50000"/>
                <a:gd name="adj2" fmla="val 75000"/>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6161" name="Text Box 17"/>
            <p:cNvSpPr txBox="1">
              <a:spLocks noChangeArrowheads="1"/>
            </p:cNvSpPr>
            <p:nvPr/>
          </p:nvSpPr>
          <p:spPr bwMode="auto">
            <a:xfrm>
              <a:off x="2743" y="3342"/>
              <a:ext cx="1440" cy="978"/>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400">
                  <a:solidFill>
                    <a:schemeClr val="bg1"/>
                  </a:solidFill>
                  <a:latin typeface="Comic Sans MS" pitchFamily="66" charset="0"/>
                  <a:ea typeface="ＭＳ Ｐゴシック" pitchFamily="34" charset="-128"/>
                </a:defRPr>
              </a:lvl1pPr>
              <a:lvl2pPr marL="742950" indent="-285750" eaLnBrk="0" hangingPunct="0">
                <a:defRPr sz="2400">
                  <a:solidFill>
                    <a:schemeClr val="bg1"/>
                  </a:solidFill>
                  <a:latin typeface="Comic Sans MS" pitchFamily="66" charset="0"/>
                  <a:ea typeface="ＭＳ Ｐゴシック" pitchFamily="34" charset="-128"/>
                </a:defRPr>
              </a:lvl2pPr>
              <a:lvl3pPr marL="1143000" indent="-228600" eaLnBrk="0" hangingPunct="0">
                <a:defRPr sz="2400">
                  <a:solidFill>
                    <a:schemeClr val="bg1"/>
                  </a:solidFill>
                  <a:latin typeface="Comic Sans MS" pitchFamily="66" charset="0"/>
                  <a:ea typeface="ＭＳ Ｐゴシック" pitchFamily="34" charset="-128"/>
                </a:defRPr>
              </a:lvl3pPr>
              <a:lvl4pPr marL="1600200" indent="-228600" eaLnBrk="0" hangingPunct="0">
                <a:defRPr sz="2400">
                  <a:solidFill>
                    <a:schemeClr val="bg1"/>
                  </a:solidFill>
                  <a:latin typeface="Comic Sans MS" pitchFamily="66" charset="0"/>
                  <a:ea typeface="ＭＳ Ｐゴシック" pitchFamily="34" charset="-128"/>
                </a:defRPr>
              </a:lvl4pPr>
              <a:lvl5pPr marL="2057400" indent="-228600" eaLnBrk="0" hangingPunct="0">
                <a:defRPr sz="2400">
                  <a:solidFill>
                    <a:schemeClr val="bg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9pPr>
            </a:lstStyle>
            <a:p>
              <a:pPr algn="ctr" eaLnBrk="1" hangingPunct="1">
                <a:spcBef>
                  <a:spcPct val="50000"/>
                </a:spcBef>
                <a:defRPr/>
              </a:pPr>
              <a:r>
                <a:rPr lang="en-GB">
                  <a:solidFill>
                    <a:schemeClr val="tx1"/>
                  </a:solidFill>
                </a:rPr>
                <a:t>PROTON – positive, same mass as neutron (</a:t>
              </a:r>
              <a:r>
                <a:rPr lang="ja-JP" altLang="en-GB">
                  <a:solidFill>
                    <a:schemeClr val="tx1"/>
                  </a:solidFill>
                  <a:latin typeface="Arial" pitchFamily="34" charset="0"/>
                </a:rPr>
                <a:t>“</a:t>
              </a:r>
              <a:r>
                <a:rPr lang="en-GB" altLang="ja-JP">
                  <a:solidFill>
                    <a:schemeClr val="tx1"/>
                  </a:solidFill>
                </a:rPr>
                <a:t>1</a:t>
              </a:r>
              <a:r>
                <a:rPr lang="ja-JP" altLang="en-GB">
                  <a:solidFill>
                    <a:schemeClr val="tx1"/>
                  </a:solidFill>
                  <a:latin typeface="Arial" pitchFamily="34" charset="0"/>
                </a:rPr>
                <a:t>”</a:t>
              </a:r>
              <a:r>
                <a:rPr lang="en-GB" altLang="ja-JP">
                  <a:solidFill>
                    <a:schemeClr val="tx1"/>
                  </a:solidFill>
                </a:rPr>
                <a:t>)</a:t>
              </a:r>
              <a:endParaRPr lang="en-GB">
                <a:solidFill>
                  <a:schemeClr val="tx1"/>
                </a:solidFill>
              </a:endParaRPr>
            </a:p>
          </p:txBody>
        </p:sp>
      </p:grpSp>
      <p:grpSp>
        <p:nvGrpSpPr>
          <p:cNvPr id="6162" name="Group 18"/>
          <p:cNvGrpSpPr>
            <a:grpSpLocks/>
          </p:cNvGrpSpPr>
          <p:nvPr/>
        </p:nvGrpSpPr>
        <p:grpSpPr bwMode="auto">
          <a:xfrm>
            <a:off x="0" y="4848225"/>
            <a:ext cx="3429000" cy="2009775"/>
            <a:chOff x="384" y="2832"/>
            <a:chExt cx="2160" cy="1266"/>
          </a:xfrm>
        </p:grpSpPr>
        <p:sp>
          <p:nvSpPr>
            <p:cNvPr id="6163" name="Text Box 19"/>
            <p:cNvSpPr txBox="1">
              <a:spLocks noChangeArrowheads="1"/>
            </p:cNvSpPr>
            <p:nvPr/>
          </p:nvSpPr>
          <p:spPr bwMode="auto">
            <a:xfrm>
              <a:off x="384" y="3120"/>
              <a:ext cx="1440" cy="978"/>
            </a:xfrm>
            <a:prstGeom prst="rect">
              <a:avLst/>
            </a:prstGeom>
            <a:solidFill>
              <a:srgbClr val="FF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400">
                  <a:solidFill>
                    <a:schemeClr val="bg1"/>
                  </a:solidFill>
                  <a:latin typeface="Comic Sans MS" pitchFamily="66" charset="0"/>
                  <a:ea typeface="ＭＳ Ｐゴシック" pitchFamily="34" charset="-128"/>
                </a:defRPr>
              </a:lvl1pPr>
              <a:lvl2pPr marL="742950" indent="-285750" eaLnBrk="0" hangingPunct="0">
                <a:defRPr sz="2400">
                  <a:solidFill>
                    <a:schemeClr val="bg1"/>
                  </a:solidFill>
                  <a:latin typeface="Comic Sans MS" pitchFamily="66" charset="0"/>
                  <a:ea typeface="ＭＳ Ｐゴシック" pitchFamily="34" charset="-128"/>
                </a:defRPr>
              </a:lvl2pPr>
              <a:lvl3pPr marL="1143000" indent="-228600" eaLnBrk="0" hangingPunct="0">
                <a:defRPr sz="2400">
                  <a:solidFill>
                    <a:schemeClr val="bg1"/>
                  </a:solidFill>
                  <a:latin typeface="Comic Sans MS" pitchFamily="66" charset="0"/>
                  <a:ea typeface="ＭＳ Ｐゴシック" pitchFamily="34" charset="-128"/>
                </a:defRPr>
              </a:lvl3pPr>
              <a:lvl4pPr marL="1600200" indent="-228600" eaLnBrk="0" hangingPunct="0">
                <a:defRPr sz="2400">
                  <a:solidFill>
                    <a:schemeClr val="bg1"/>
                  </a:solidFill>
                  <a:latin typeface="Comic Sans MS" pitchFamily="66" charset="0"/>
                  <a:ea typeface="ＭＳ Ｐゴシック" pitchFamily="34" charset="-128"/>
                </a:defRPr>
              </a:lvl4pPr>
              <a:lvl5pPr marL="2057400" indent="-228600" eaLnBrk="0" hangingPunct="0">
                <a:defRPr sz="2400">
                  <a:solidFill>
                    <a:schemeClr val="bg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9pPr>
            </a:lstStyle>
            <a:p>
              <a:pPr algn="ctr" eaLnBrk="1" hangingPunct="1">
                <a:spcBef>
                  <a:spcPct val="50000"/>
                </a:spcBef>
                <a:defRPr/>
              </a:pPr>
              <a:r>
                <a:rPr lang="en-GB">
                  <a:solidFill>
                    <a:schemeClr val="tx1"/>
                  </a:solidFill>
                </a:rPr>
                <a:t>NEUTRON – neutral, same mass as proton (</a:t>
              </a:r>
              <a:r>
                <a:rPr lang="ja-JP" altLang="en-GB">
                  <a:solidFill>
                    <a:schemeClr val="tx1"/>
                  </a:solidFill>
                  <a:latin typeface="Arial" pitchFamily="34" charset="0"/>
                </a:rPr>
                <a:t>“</a:t>
              </a:r>
              <a:r>
                <a:rPr lang="en-GB" altLang="ja-JP">
                  <a:solidFill>
                    <a:schemeClr val="tx1"/>
                  </a:solidFill>
                </a:rPr>
                <a:t>1</a:t>
              </a:r>
              <a:r>
                <a:rPr lang="ja-JP" altLang="en-GB">
                  <a:solidFill>
                    <a:schemeClr val="tx1"/>
                  </a:solidFill>
                  <a:latin typeface="Arial" pitchFamily="34" charset="0"/>
                </a:rPr>
                <a:t>”</a:t>
              </a:r>
              <a:r>
                <a:rPr lang="en-GB" altLang="ja-JP">
                  <a:solidFill>
                    <a:schemeClr val="tx1"/>
                  </a:solidFill>
                </a:rPr>
                <a:t>)</a:t>
              </a:r>
              <a:endParaRPr lang="en-GB">
                <a:solidFill>
                  <a:schemeClr val="tx1"/>
                </a:solidFill>
              </a:endParaRPr>
            </a:p>
          </p:txBody>
        </p:sp>
        <p:sp>
          <p:nvSpPr>
            <p:cNvPr id="6164" name="AutoShape 20"/>
            <p:cNvSpPr>
              <a:spLocks noChangeArrowheads="1"/>
            </p:cNvSpPr>
            <p:nvPr/>
          </p:nvSpPr>
          <p:spPr bwMode="auto">
            <a:xfrm rot="8274315">
              <a:off x="1536" y="2832"/>
              <a:ext cx="1008" cy="336"/>
            </a:xfrm>
            <a:prstGeom prst="leftArrow">
              <a:avLst>
                <a:gd name="adj1" fmla="val 50000"/>
                <a:gd name="adj2" fmla="val 75000"/>
              </a:avLst>
            </a:prstGeom>
            <a:solidFill>
              <a:srgbClr val="FF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pic>
        <p:nvPicPr>
          <p:cNvPr id="6165" name="Picture 21" descr="Dalt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2013" y="914400"/>
            <a:ext cx="1931987"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67" name="AutoShape 23"/>
          <p:cNvSpPr>
            <a:spLocks noChangeArrowheads="1"/>
          </p:cNvSpPr>
          <p:nvPr/>
        </p:nvSpPr>
        <p:spPr bwMode="auto">
          <a:xfrm>
            <a:off x="0" y="838200"/>
            <a:ext cx="7543800" cy="1676400"/>
          </a:xfrm>
          <a:prstGeom prst="wedgeRoundRectCallout">
            <a:avLst>
              <a:gd name="adj1" fmla="val 56125"/>
              <a:gd name="adj2" fmla="val 11366"/>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lgn="ctr">
              <a:defRPr/>
            </a:pPr>
            <a:r>
              <a:rPr lang="en-GB" dirty="0">
                <a:solidFill>
                  <a:schemeClr val="tx1"/>
                </a:solidFill>
                <a:latin typeface="Comic Sans MS" charset="0"/>
                <a:ea typeface="ＭＳ Ｐゴシック" charset="0"/>
              </a:rPr>
              <a:t>I first came up with the idea of the atom (after the Ancient Greeks).  Our understanding of what it looks like has changed over time due to discoveries of subatomic particles:</a:t>
            </a:r>
          </a:p>
        </p:txBody>
      </p:sp>
      <p:sp>
        <p:nvSpPr>
          <p:cNvPr id="6168" name="Text Box 24"/>
          <p:cNvSpPr txBox="1">
            <a:spLocks noChangeArrowheads="1"/>
          </p:cNvSpPr>
          <p:nvPr/>
        </p:nvSpPr>
        <p:spPr bwMode="auto">
          <a:xfrm>
            <a:off x="7239000" y="2971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GB">
                <a:latin typeface="Comic Sans MS" charset="0"/>
                <a:ea typeface="ＭＳ Ｐゴシック" charset="0"/>
              </a:rPr>
              <a:t>Dalton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6165"/>
                                        </p:tgtEl>
                                        <p:attrNameLst>
                                          <p:attrName>style.visibility</p:attrName>
                                        </p:attrNameLst>
                                      </p:cBhvr>
                                      <p:to>
                                        <p:strVal val="visible"/>
                                      </p:to>
                                    </p:set>
                                    <p:anim calcmode="lin" valueType="num">
                                      <p:cBhvr additive="base">
                                        <p:cTn id="7" dur="500" fill="hold"/>
                                        <p:tgtEl>
                                          <p:spTgt spid="6165"/>
                                        </p:tgtEl>
                                        <p:attrNameLst>
                                          <p:attrName>ppt_x</p:attrName>
                                        </p:attrNameLst>
                                      </p:cBhvr>
                                      <p:tavLst>
                                        <p:tav tm="0">
                                          <p:val>
                                            <p:strVal val="1+#ppt_w/2"/>
                                          </p:val>
                                        </p:tav>
                                        <p:tav tm="100000">
                                          <p:val>
                                            <p:strVal val="#ppt_x"/>
                                          </p:val>
                                        </p:tav>
                                      </p:tavLst>
                                    </p:anim>
                                    <p:anim calcmode="lin" valueType="num">
                                      <p:cBhvr additive="base">
                                        <p:cTn id="8" dur="500" fill="hold"/>
                                        <p:tgtEl>
                                          <p:spTgt spid="616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6168"/>
                                        </p:tgtEl>
                                        <p:attrNameLst>
                                          <p:attrName>style.visibility</p:attrName>
                                        </p:attrNameLst>
                                      </p:cBhvr>
                                      <p:to>
                                        <p:strVal val="visible"/>
                                      </p:to>
                                    </p:set>
                                    <p:animEffect transition="in" filter="wipe(left)">
                                      <p:cBhvr>
                                        <p:cTn id="13" dur="500"/>
                                        <p:tgtEl>
                                          <p:spTgt spid="616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2" fill="hold" grpId="0" nodeType="clickEffect">
                                  <p:stCondLst>
                                    <p:cond delay="0"/>
                                  </p:stCondLst>
                                  <p:childTnLst>
                                    <p:set>
                                      <p:cBhvr>
                                        <p:cTn id="17" dur="1" fill="hold">
                                          <p:stCondLst>
                                            <p:cond delay="0"/>
                                          </p:stCondLst>
                                        </p:cTn>
                                        <p:tgtEl>
                                          <p:spTgt spid="6167"/>
                                        </p:tgtEl>
                                        <p:attrNameLst>
                                          <p:attrName>style.visibility</p:attrName>
                                        </p:attrNameLst>
                                      </p:cBhvr>
                                      <p:to>
                                        <p:strVal val="visible"/>
                                      </p:to>
                                    </p:set>
                                    <p:animEffect transition="in" filter="wipe(right)">
                                      <p:cBhvr>
                                        <p:cTn id="18" dur="500"/>
                                        <p:tgtEl>
                                          <p:spTgt spid="616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6170"/>
                                        </p:tgtEl>
                                        <p:attrNameLst>
                                          <p:attrName>style.visibility</p:attrName>
                                        </p:attrNameLst>
                                      </p:cBhvr>
                                      <p:to>
                                        <p:strVal val="visible"/>
                                      </p:to>
                                    </p:set>
                                    <p:animEffect transition="in" filter="wipe(up)">
                                      <p:cBhvr>
                                        <p:cTn id="23" dur="500"/>
                                        <p:tgtEl>
                                          <p:spTgt spid="617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nodeType="clickEffect">
                                  <p:stCondLst>
                                    <p:cond delay="0"/>
                                  </p:stCondLst>
                                  <p:childTnLst>
                                    <p:set>
                                      <p:cBhvr>
                                        <p:cTn id="27" dur="1" fill="hold">
                                          <p:stCondLst>
                                            <p:cond delay="0"/>
                                          </p:stCondLst>
                                        </p:cTn>
                                        <p:tgtEl>
                                          <p:spTgt spid="6171"/>
                                        </p:tgtEl>
                                        <p:attrNameLst>
                                          <p:attrName>style.visibility</p:attrName>
                                        </p:attrNameLst>
                                      </p:cBhvr>
                                      <p:to>
                                        <p:strVal val="visible"/>
                                      </p:to>
                                    </p:set>
                                    <p:animEffect transition="in" filter="wipe(up)">
                                      <p:cBhvr>
                                        <p:cTn id="28" dur="500"/>
                                        <p:tgtEl>
                                          <p:spTgt spid="617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6169"/>
                                        </p:tgtEl>
                                        <p:attrNameLst>
                                          <p:attrName>style.visibility</p:attrName>
                                        </p:attrNameLst>
                                      </p:cBhvr>
                                      <p:to>
                                        <p:strVal val="visible"/>
                                      </p:to>
                                    </p:set>
                                    <p:animEffect transition="in" filter="wipe(up)">
                                      <p:cBhvr>
                                        <p:cTn id="33" dur="500"/>
                                        <p:tgtEl>
                                          <p:spTgt spid="616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6162"/>
                                        </p:tgtEl>
                                        <p:attrNameLst>
                                          <p:attrName>style.visibility</p:attrName>
                                        </p:attrNameLst>
                                      </p:cBhvr>
                                      <p:to>
                                        <p:strVal val="visible"/>
                                      </p:to>
                                    </p:set>
                                    <p:animEffect transition="in" filter="wipe(left)">
                                      <p:cBhvr>
                                        <p:cTn id="38" dur="500"/>
                                        <p:tgtEl>
                                          <p:spTgt spid="6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7" grpId="0" animBg="1" autoUpdateAnimBg="0"/>
      <p:bldP spid="6168"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4"/>
          <p:cNvSpPr>
            <a:spLocks noGrp="1" noChangeArrowheads="1"/>
          </p:cNvSpPr>
          <p:nvPr>
            <p:ph type="dt" sz="half" idx="10"/>
          </p:nvPr>
        </p:nvSpPr>
        <p:spPr>
          <a:ln/>
        </p:spPr>
        <p:txBody>
          <a:bodyPr/>
          <a:lstStyle/>
          <a:p>
            <a:pPr>
              <a:defRPr/>
            </a:pPr>
            <a:fld id="{76C7D861-F3F0-47EE-89D6-D821082EE0ED}" type="datetime1">
              <a:rPr lang="en-GB"/>
              <a:pPr>
                <a:defRPr/>
              </a:pPr>
              <a:t>02/06/2020</a:t>
            </a:fld>
            <a:endParaRPr lang="en-GB"/>
          </a:p>
        </p:txBody>
      </p:sp>
      <p:sp>
        <p:nvSpPr>
          <p:cNvPr id="99330" name="Rectangle 2"/>
          <p:cNvSpPr>
            <a:spLocks noGrp="1" noChangeArrowheads="1"/>
          </p:cNvSpPr>
          <p:nvPr>
            <p:ph type="title"/>
          </p:nvPr>
        </p:nvSpPr>
        <p:spPr/>
        <p:txBody>
          <a:bodyPr/>
          <a:lstStyle/>
          <a:p>
            <a:pPr eaLnBrk="1" hangingPunct="1">
              <a:defRPr/>
            </a:pPr>
            <a:r>
              <a:rPr lang="en-GB"/>
              <a:t>The structure of the atom</a:t>
            </a:r>
          </a:p>
        </p:txBody>
      </p:sp>
      <p:graphicFrame>
        <p:nvGraphicFramePr>
          <p:cNvPr id="106537" name="Group 41"/>
          <p:cNvGraphicFramePr>
            <a:graphicFrameLocks noGrp="1"/>
          </p:cNvGraphicFramePr>
          <p:nvPr/>
        </p:nvGraphicFramePr>
        <p:xfrm>
          <a:off x="304800" y="1219200"/>
          <a:ext cx="8610600" cy="1828800"/>
        </p:xfrm>
        <a:graphic>
          <a:graphicData uri="http://schemas.openxmlformats.org/drawingml/2006/table">
            <a:tbl>
              <a:tblPr/>
              <a:tblGrid>
                <a:gridCol w="2870200">
                  <a:extLst>
                    <a:ext uri="{9D8B030D-6E8A-4147-A177-3AD203B41FA5}">
                      <a16:colId xmlns:a16="http://schemas.microsoft.com/office/drawing/2014/main" val="20000"/>
                    </a:ext>
                  </a:extLst>
                </a:gridCol>
                <a:gridCol w="2870200">
                  <a:extLst>
                    <a:ext uri="{9D8B030D-6E8A-4147-A177-3AD203B41FA5}">
                      <a16:colId xmlns:a16="http://schemas.microsoft.com/office/drawing/2014/main" val="20001"/>
                    </a:ext>
                  </a:extLst>
                </a:gridCol>
                <a:gridCol w="2870200">
                  <a:extLst>
                    <a:ext uri="{9D8B030D-6E8A-4147-A177-3AD203B41FA5}">
                      <a16:colId xmlns:a16="http://schemas.microsoft.com/office/drawing/2014/main" val="20002"/>
                    </a:ext>
                  </a:extLst>
                </a:gridCol>
              </a:tblGrid>
              <a:tr h="450850">
                <a:tc>
                  <a:txBody>
                    <a:bodyPr/>
                    <a:lstStyle>
                      <a:lvl1pPr algn="l" eaLnBrk="0" hangingPunct="0">
                        <a:spcBef>
                          <a:spcPct val="20000"/>
                        </a:spcBef>
                        <a:defRPr sz="2800">
                          <a:solidFill>
                            <a:schemeClr val="bg1"/>
                          </a:solidFill>
                          <a:latin typeface="Comic Sans MS" panose="030F0702030302020204" pitchFamily="66" charset="0"/>
                        </a:defRPr>
                      </a:lvl1pPr>
                      <a:lvl2pPr marL="742950" indent="-285750" algn="l" eaLnBrk="0" hangingPunct="0">
                        <a:spcBef>
                          <a:spcPct val="20000"/>
                        </a:spcBef>
                        <a:defRPr sz="2400">
                          <a:solidFill>
                            <a:schemeClr val="bg1"/>
                          </a:solidFill>
                          <a:latin typeface="Comic Sans MS" panose="030F0702030302020204" pitchFamily="66" charset="0"/>
                        </a:defRPr>
                      </a:lvl2pPr>
                      <a:lvl3pPr marL="1143000" indent="-228600" algn="l" eaLnBrk="0" hangingPunct="0">
                        <a:spcBef>
                          <a:spcPct val="20000"/>
                        </a:spcBef>
                        <a:defRPr sz="2000">
                          <a:solidFill>
                            <a:schemeClr val="bg1"/>
                          </a:solidFill>
                          <a:latin typeface="Comic Sans MS" panose="030F0702030302020204" pitchFamily="66" charset="0"/>
                        </a:defRPr>
                      </a:lvl3pPr>
                      <a:lvl4pPr marL="1600200" indent="-228600" algn="l" eaLnBrk="0" hangingPunct="0">
                        <a:spcBef>
                          <a:spcPct val="20000"/>
                        </a:spcBef>
                        <a:defRPr>
                          <a:solidFill>
                            <a:schemeClr val="bg1"/>
                          </a:solidFill>
                          <a:latin typeface="Comic Sans MS" panose="030F0702030302020204" pitchFamily="66" charset="0"/>
                        </a:defRPr>
                      </a:lvl4pPr>
                      <a:lvl5pPr marL="2057400" indent="-228600" algn="l" eaLnBrk="0" hangingPunct="0">
                        <a:spcBef>
                          <a:spcPct val="20000"/>
                        </a:spcBef>
                        <a:defRPr>
                          <a:solidFill>
                            <a:schemeClr val="bg1"/>
                          </a:solidFill>
                          <a:latin typeface="Comic Sans MS" panose="030F0702030302020204" pitchFamily="66" charset="0"/>
                        </a:defRPr>
                      </a:lvl5pPr>
                      <a:lvl6pPr marL="2514600" indent="-228600" eaLnBrk="0" fontAlgn="base" hangingPunct="0">
                        <a:spcBef>
                          <a:spcPct val="20000"/>
                        </a:spcBef>
                        <a:spcAft>
                          <a:spcPct val="0"/>
                        </a:spcAft>
                        <a:defRPr>
                          <a:solidFill>
                            <a:schemeClr val="bg1"/>
                          </a:solidFill>
                          <a:latin typeface="Comic Sans MS" panose="030F0702030302020204" pitchFamily="66" charset="0"/>
                        </a:defRPr>
                      </a:lvl6pPr>
                      <a:lvl7pPr marL="2971800" indent="-228600" eaLnBrk="0" fontAlgn="base" hangingPunct="0">
                        <a:spcBef>
                          <a:spcPct val="20000"/>
                        </a:spcBef>
                        <a:spcAft>
                          <a:spcPct val="0"/>
                        </a:spcAft>
                        <a:defRPr>
                          <a:solidFill>
                            <a:schemeClr val="bg1"/>
                          </a:solidFill>
                          <a:latin typeface="Comic Sans MS" panose="030F0702030302020204" pitchFamily="66" charset="0"/>
                        </a:defRPr>
                      </a:lvl7pPr>
                      <a:lvl8pPr marL="3429000" indent="-228600" eaLnBrk="0" fontAlgn="base" hangingPunct="0">
                        <a:spcBef>
                          <a:spcPct val="20000"/>
                        </a:spcBef>
                        <a:spcAft>
                          <a:spcPct val="0"/>
                        </a:spcAft>
                        <a:defRPr>
                          <a:solidFill>
                            <a:schemeClr val="bg1"/>
                          </a:solidFill>
                          <a:latin typeface="Comic Sans MS" panose="030F0702030302020204" pitchFamily="66" charset="0"/>
                        </a:defRPr>
                      </a:lvl8pPr>
                      <a:lvl9pPr marL="3886200" indent="-228600" eaLnBrk="0" fontAlgn="base" hangingPunct="0">
                        <a:spcBef>
                          <a:spcPct val="20000"/>
                        </a:spcBef>
                        <a:spcAft>
                          <a:spcPct val="0"/>
                        </a:spcAft>
                        <a:defRPr>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1" i="0" u="none" strike="noStrike" cap="none" normalizeH="0" baseline="0">
                          <a:ln>
                            <a:noFill/>
                          </a:ln>
                          <a:solidFill>
                            <a:schemeClr val="bg1"/>
                          </a:solidFill>
                          <a:effectLst/>
                          <a:latin typeface="Comic Sans MS" panose="030F0702030302020204" pitchFamily="66" charset="0"/>
                        </a:rPr>
                        <a:t>Particle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3399"/>
                    </a:solidFill>
                  </a:tcPr>
                </a:tc>
                <a:tc>
                  <a:txBody>
                    <a:bodyPr/>
                    <a:lstStyle>
                      <a:lvl1pPr algn="l" eaLnBrk="0" hangingPunct="0">
                        <a:spcBef>
                          <a:spcPct val="20000"/>
                        </a:spcBef>
                        <a:defRPr sz="2800">
                          <a:solidFill>
                            <a:schemeClr val="bg1"/>
                          </a:solidFill>
                          <a:latin typeface="Comic Sans MS" panose="030F0702030302020204" pitchFamily="66" charset="0"/>
                        </a:defRPr>
                      </a:lvl1pPr>
                      <a:lvl2pPr marL="742950" indent="-285750" algn="l" eaLnBrk="0" hangingPunct="0">
                        <a:spcBef>
                          <a:spcPct val="20000"/>
                        </a:spcBef>
                        <a:defRPr sz="2400">
                          <a:solidFill>
                            <a:schemeClr val="bg1"/>
                          </a:solidFill>
                          <a:latin typeface="Comic Sans MS" panose="030F0702030302020204" pitchFamily="66" charset="0"/>
                        </a:defRPr>
                      </a:lvl2pPr>
                      <a:lvl3pPr marL="1143000" indent="-228600" algn="l" eaLnBrk="0" hangingPunct="0">
                        <a:spcBef>
                          <a:spcPct val="20000"/>
                        </a:spcBef>
                        <a:defRPr sz="2000">
                          <a:solidFill>
                            <a:schemeClr val="bg1"/>
                          </a:solidFill>
                          <a:latin typeface="Comic Sans MS" panose="030F0702030302020204" pitchFamily="66" charset="0"/>
                        </a:defRPr>
                      </a:lvl3pPr>
                      <a:lvl4pPr marL="1600200" indent="-228600" algn="l" eaLnBrk="0" hangingPunct="0">
                        <a:spcBef>
                          <a:spcPct val="20000"/>
                        </a:spcBef>
                        <a:defRPr>
                          <a:solidFill>
                            <a:schemeClr val="bg1"/>
                          </a:solidFill>
                          <a:latin typeface="Comic Sans MS" panose="030F0702030302020204" pitchFamily="66" charset="0"/>
                        </a:defRPr>
                      </a:lvl4pPr>
                      <a:lvl5pPr marL="2057400" indent="-228600" algn="l" eaLnBrk="0" hangingPunct="0">
                        <a:spcBef>
                          <a:spcPct val="20000"/>
                        </a:spcBef>
                        <a:defRPr>
                          <a:solidFill>
                            <a:schemeClr val="bg1"/>
                          </a:solidFill>
                          <a:latin typeface="Comic Sans MS" panose="030F0702030302020204" pitchFamily="66" charset="0"/>
                        </a:defRPr>
                      </a:lvl5pPr>
                      <a:lvl6pPr marL="2514600" indent="-228600" eaLnBrk="0" fontAlgn="base" hangingPunct="0">
                        <a:spcBef>
                          <a:spcPct val="20000"/>
                        </a:spcBef>
                        <a:spcAft>
                          <a:spcPct val="0"/>
                        </a:spcAft>
                        <a:defRPr>
                          <a:solidFill>
                            <a:schemeClr val="bg1"/>
                          </a:solidFill>
                          <a:latin typeface="Comic Sans MS" panose="030F0702030302020204" pitchFamily="66" charset="0"/>
                        </a:defRPr>
                      </a:lvl6pPr>
                      <a:lvl7pPr marL="2971800" indent="-228600" eaLnBrk="0" fontAlgn="base" hangingPunct="0">
                        <a:spcBef>
                          <a:spcPct val="20000"/>
                        </a:spcBef>
                        <a:spcAft>
                          <a:spcPct val="0"/>
                        </a:spcAft>
                        <a:defRPr>
                          <a:solidFill>
                            <a:schemeClr val="bg1"/>
                          </a:solidFill>
                          <a:latin typeface="Comic Sans MS" panose="030F0702030302020204" pitchFamily="66" charset="0"/>
                        </a:defRPr>
                      </a:lvl7pPr>
                      <a:lvl8pPr marL="3429000" indent="-228600" eaLnBrk="0" fontAlgn="base" hangingPunct="0">
                        <a:spcBef>
                          <a:spcPct val="20000"/>
                        </a:spcBef>
                        <a:spcAft>
                          <a:spcPct val="0"/>
                        </a:spcAft>
                        <a:defRPr>
                          <a:solidFill>
                            <a:schemeClr val="bg1"/>
                          </a:solidFill>
                          <a:latin typeface="Comic Sans MS" panose="030F0702030302020204" pitchFamily="66" charset="0"/>
                        </a:defRPr>
                      </a:lvl8pPr>
                      <a:lvl9pPr marL="3886200" indent="-228600" eaLnBrk="0" fontAlgn="base" hangingPunct="0">
                        <a:spcBef>
                          <a:spcPct val="20000"/>
                        </a:spcBef>
                        <a:spcAft>
                          <a:spcPct val="0"/>
                        </a:spcAft>
                        <a:defRPr>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1" i="0" u="none" strike="noStrike" cap="none" normalizeH="0" baseline="0">
                          <a:ln>
                            <a:noFill/>
                          </a:ln>
                          <a:solidFill>
                            <a:schemeClr val="bg1"/>
                          </a:solidFill>
                          <a:effectLst/>
                          <a:latin typeface="Comic Sans MS" panose="030F0702030302020204" pitchFamily="66" charset="0"/>
                        </a:rPr>
                        <a:t>Relative Mass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9999"/>
                    </a:solidFill>
                  </a:tcPr>
                </a:tc>
                <a:tc>
                  <a:txBody>
                    <a:bodyPr/>
                    <a:lstStyle>
                      <a:lvl1pPr algn="l" eaLnBrk="0" hangingPunct="0">
                        <a:spcBef>
                          <a:spcPct val="20000"/>
                        </a:spcBef>
                        <a:defRPr sz="2800">
                          <a:solidFill>
                            <a:schemeClr val="bg1"/>
                          </a:solidFill>
                          <a:latin typeface="Comic Sans MS" panose="030F0702030302020204" pitchFamily="66" charset="0"/>
                        </a:defRPr>
                      </a:lvl1pPr>
                      <a:lvl2pPr marL="742950" indent="-285750" algn="l" eaLnBrk="0" hangingPunct="0">
                        <a:spcBef>
                          <a:spcPct val="20000"/>
                        </a:spcBef>
                        <a:defRPr sz="2400">
                          <a:solidFill>
                            <a:schemeClr val="bg1"/>
                          </a:solidFill>
                          <a:latin typeface="Comic Sans MS" panose="030F0702030302020204" pitchFamily="66" charset="0"/>
                        </a:defRPr>
                      </a:lvl2pPr>
                      <a:lvl3pPr marL="1143000" indent="-228600" algn="l" eaLnBrk="0" hangingPunct="0">
                        <a:spcBef>
                          <a:spcPct val="20000"/>
                        </a:spcBef>
                        <a:defRPr sz="2000">
                          <a:solidFill>
                            <a:schemeClr val="bg1"/>
                          </a:solidFill>
                          <a:latin typeface="Comic Sans MS" panose="030F0702030302020204" pitchFamily="66" charset="0"/>
                        </a:defRPr>
                      </a:lvl3pPr>
                      <a:lvl4pPr marL="1600200" indent="-228600" algn="l" eaLnBrk="0" hangingPunct="0">
                        <a:spcBef>
                          <a:spcPct val="20000"/>
                        </a:spcBef>
                        <a:defRPr>
                          <a:solidFill>
                            <a:schemeClr val="bg1"/>
                          </a:solidFill>
                          <a:latin typeface="Comic Sans MS" panose="030F0702030302020204" pitchFamily="66" charset="0"/>
                        </a:defRPr>
                      </a:lvl4pPr>
                      <a:lvl5pPr marL="2057400" indent="-228600" algn="l" eaLnBrk="0" hangingPunct="0">
                        <a:spcBef>
                          <a:spcPct val="20000"/>
                        </a:spcBef>
                        <a:defRPr>
                          <a:solidFill>
                            <a:schemeClr val="bg1"/>
                          </a:solidFill>
                          <a:latin typeface="Comic Sans MS" panose="030F0702030302020204" pitchFamily="66" charset="0"/>
                        </a:defRPr>
                      </a:lvl5pPr>
                      <a:lvl6pPr marL="2514600" indent="-228600" eaLnBrk="0" fontAlgn="base" hangingPunct="0">
                        <a:spcBef>
                          <a:spcPct val="20000"/>
                        </a:spcBef>
                        <a:spcAft>
                          <a:spcPct val="0"/>
                        </a:spcAft>
                        <a:defRPr>
                          <a:solidFill>
                            <a:schemeClr val="bg1"/>
                          </a:solidFill>
                          <a:latin typeface="Comic Sans MS" panose="030F0702030302020204" pitchFamily="66" charset="0"/>
                        </a:defRPr>
                      </a:lvl6pPr>
                      <a:lvl7pPr marL="2971800" indent="-228600" eaLnBrk="0" fontAlgn="base" hangingPunct="0">
                        <a:spcBef>
                          <a:spcPct val="20000"/>
                        </a:spcBef>
                        <a:spcAft>
                          <a:spcPct val="0"/>
                        </a:spcAft>
                        <a:defRPr>
                          <a:solidFill>
                            <a:schemeClr val="bg1"/>
                          </a:solidFill>
                          <a:latin typeface="Comic Sans MS" panose="030F0702030302020204" pitchFamily="66" charset="0"/>
                        </a:defRPr>
                      </a:lvl7pPr>
                      <a:lvl8pPr marL="3429000" indent="-228600" eaLnBrk="0" fontAlgn="base" hangingPunct="0">
                        <a:spcBef>
                          <a:spcPct val="20000"/>
                        </a:spcBef>
                        <a:spcAft>
                          <a:spcPct val="0"/>
                        </a:spcAft>
                        <a:defRPr>
                          <a:solidFill>
                            <a:schemeClr val="bg1"/>
                          </a:solidFill>
                          <a:latin typeface="Comic Sans MS" panose="030F0702030302020204" pitchFamily="66" charset="0"/>
                        </a:defRPr>
                      </a:lvl8pPr>
                      <a:lvl9pPr marL="3886200" indent="-228600" eaLnBrk="0" fontAlgn="base" hangingPunct="0">
                        <a:spcBef>
                          <a:spcPct val="20000"/>
                        </a:spcBef>
                        <a:spcAft>
                          <a:spcPct val="0"/>
                        </a:spcAft>
                        <a:defRPr>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1" i="0" u="none" strike="noStrike" cap="none" normalizeH="0" baseline="0">
                          <a:ln>
                            <a:noFill/>
                          </a:ln>
                          <a:solidFill>
                            <a:schemeClr val="bg1"/>
                          </a:solidFill>
                          <a:effectLst/>
                          <a:latin typeface="Comic Sans MS" panose="030F0702030302020204" pitchFamily="66" charset="0"/>
                        </a:rPr>
                        <a:t>Relative Charge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39966"/>
                    </a:solidFill>
                  </a:tcPr>
                </a:tc>
                <a:extLst>
                  <a:ext uri="{0D108BD9-81ED-4DB2-BD59-A6C34878D82A}">
                    <a16:rowId xmlns:a16="http://schemas.microsoft.com/office/drawing/2014/main" val="10000"/>
                  </a:ext>
                </a:extLst>
              </a:tr>
              <a:tr h="450850">
                <a:tc>
                  <a:txBody>
                    <a:bodyPr/>
                    <a:lstStyle>
                      <a:lvl1pPr algn="l" eaLnBrk="0" hangingPunct="0">
                        <a:spcBef>
                          <a:spcPct val="20000"/>
                        </a:spcBef>
                        <a:defRPr sz="2800">
                          <a:solidFill>
                            <a:schemeClr val="bg1"/>
                          </a:solidFill>
                          <a:latin typeface="Comic Sans MS" panose="030F0702030302020204" pitchFamily="66" charset="0"/>
                        </a:defRPr>
                      </a:lvl1pPr>
                      <a:lvl2pPr marL="742950" indent="-285750" algn="l" eaLnBrk="0" hangingPunct="0">
                        <a:spcBef>
                          <a:spcPct val="20000"/>
                        </a:spcBef>
                        <a:defRPr sz="2400">
                          <a:solidFill>
                            <a:schemeClr val="bg1"/>
                          </a:solidFill>
                          <a:latin typeface="Comic Sans MS" panose="030F0702030302020204" pitchFamily="66" charset="0"/>
                        </a:defRPr>
                      </a:lvl2pPr>
                      <a:lvl3pPr marL="1143000" indent="-228600" algn="l" eaLnBrk="0" hangingPunct="0">
                        <a:spcBef>
                          <a:spcPct val="20000"/>
                        </a:spcBef>
                        <a:defRPr sz="2000">
                          <a:solidFill>
                            <a:schemeClr val="bg1"/>
                          </a:solidFill>
                          <a:latin typeface="Comic Sans MS" panose="030F0702030302020204" pitchFamily="66" charset="0"/>
                        </a:defRPr>
                      </a:lvl3pPr>
                      <a:lvl4pPr marL="1600200" indent="-228600" algn="l" eaLnBrk="0" hangingPunct="0">
                        <a:spcBef>
                          <a:spcPct val="20000"/>
                        </a:spcBef>
                        <a:defRPr>
                          <a:solidFill>
                            <a:schemeClr val="bg1"/>
                          </a:solidFill>
                          <a:latin typeface="Comic Sans MS" panose="030F0702030302020204" pitchFamily="66" charset="0"/>
                        </a:defRPr>
                      </a:lvl4pPr>
                      <a:lvl5pPr marL="2057400" indent="-228600" algn="l" eaLnBrk="0" hangingPunct="0">
                        <a:spcBef>
                          <a:spcPct val="20000"/>
                        </a:spcBef>
                        <a:defRPr>
                          <a:solidFill>
                            <a:schemeClr val="bg1"/>
                          </a:solidFill>
                          <a:latin typeface="Comic Sans MS" panose="030F0702030302020204" pitchFamily="66" charset="0"/>
                        </a:defRPr>
                      </a:lvl5pPr>
                      <a:lvl6pPr marL="2514600" indent="-228600" eaLnBrk="0" fontAlgn="base" hangingPunct="0">
                        <a:spcBef>
                          <a:spcPct val="20000"/>
                        </a:spcBef>
                        <a:spcAft>
                          <a:spcPct val="0"/>
                        </a:spcAft>
                        <a:defRPr>
                          <a:solidFill>
                            <a:schemeClr val="bg1"/>
                          </a:solidFill>
                          <a:latin typeface="Comic Sans MS" panose="030F0702030302020204" pitchFamily="66" charset="0"/>
                        </a:defRPr>
                      </a:lvl6pPr>
                      <a:lvl7pPr marL="2971800" indent="-228600" eaLnBrk="0" fontAlgn="base" hangingPunct="0">
                        <a:spcBef>
                          <a:spcPct val="20000"/>
                        </a:spcBef>
                        <a:spcAft>
                          <a:spcPct val="0"/>
                        </a:spcAft>
                        <a:defRPr>
                          <a:solidFill>
                            <a:schemeClr val="bg1"/>
                          </a:solidFill>
                          <a:latin typeface="Comic Sans MS" panose="030F0702030302020204" pitchFamily="66" charset="0"/>
                        </a:defRPr>
                      </a:lvl7pPr>
                      <a:lvl8pPr marL="3429000" indent="-228600" eaLnBrk="0" fontAlgn="base" hangingPunct="0">
                        <a:spcBef>
                          <a:spcPct val="20000"/>
                        </a:spcBef>
                        <a:spcAft>
                          <a:spcPct val="0"/>
                        </a:spcAft>
                        <a:defRPr>
                          <a:solidFill>
                            <a:schemeClr val="bg1"/>
                          </a:solidFill>
                          <a:latin typeface="Comic Sans MS" panose="030F0702030302020204" pitchFamily="66" charset="0"/>
                        </a:defRPr>
                      </a:lvl8pPr>
                      <a:lvl9pPr marL="3886200" indent="-228600" eaLnBrk="0" fontAlgn="base" hangingPunct="0">
                        <a:spcBef>
                          <a:spcPct val="20000"/>
                        </a:spcBef>
                        <a:spcAft>
                          <a:spcPct val="0"/>
                        </a:spcAft>
                        <a:defRPr>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Proton</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3399"/>
                    </a:solidFill>
                  </a:tcPr>
                </a:tc>
                <a:tc>
                  <a:txBody>
                    <a:bodyPr/>
                    <a:lstStyle>
                      <a:lvl1pPr algn="l" eaLnBrk="0" hangingPunct="0">
                        <a:spcBef>
                          <a:spcPct val="20000"/>
                        </a:spcBef>
                        <a:defRPr sz="2800">
                          <a:solidFill>
                            <a:schemeClr val="bg1"/>
                          </a:solidFill>
                          <a:latin typeface="Comic Sans MS" panose="030F0702030302020204" pitchFamily="66" charset="0"/>
                        </a:defRPr>
                      </a:lvl1pPr>
                      <a:lvl2pPr marL="742950" indent="-285750" algn="l" eaLnBrk="0" hangingPunct="0">
                        <a:spcBef>
                          <a:spcPct val="20000"/>
                        </a:spcBef>
                        <a:defRPr sz="2400">
                          <a:solidFill>
                            <a:schemeClr val="bg1"/>
                          </a:solidFill>
                          <a:latin typeface="Comic Sans MS" panose="030F0702030302020204" pitchFamily="66" charset="0"/>
                        </a:defRPr>
                      </a:lvl2pPr>
                      <a:lvl3pPr marL="1143000" indent="-228600" algn="l" eaLnBrk="0" hangingPunct="0">
                        <a:spcBef>
                          <a:spcPct val="20000"/>
                        </a:spcBef>
                        <a:defRPr sz="2000">
                          <a:solidFill>
                            <a:schemeClr val="bg1"/>
                          </a:solidFill>
                          <a:latin typeface="Comic Sans MS" panose="030F0702030302020204" pitchFamily="66" charset="0"/>
                        </a:defRPr>
                      </a:lvl3pPr>
                      <a:lvl4pPr marL="1600200" indent="-228600" algn="l" eaLnBrk="0" hangingPunct="0">
                        <a:spcBef>
                          <a:spcPct val="20000"/>
                        </a:spcBef>
                        <a:defRPr>
                          <a:solidFill>
                            <a:schemeClr val="bg1"/>
                          </a:solidFill>
                          <a:latin typeface="Comic Sans MS" panose="030F0702030302020204" pitchFamily="66" charset="0"/>
                        </a:defRPr>
                      </a:lvl4pPr>
                      <a:lvl5pPr marL="2057400" indent="-228600" algn="l" eaLnBrk="0" hangingPunct="0">
                        <a:spcBef>
                          <a:spcPct val="20000"/>
                        </a:spcBef>
                        <a:defRPr>
                          <a:solidFill>
                            <a:schemeClr val="bg1"/>
                          </a:solidFill>
                          <a:latin typeface="Comic Sans MS" panose="030F0702030302020204" pitchFamily="66" charset="0"/>
                        </a:defRPr>
                      </a:lvl5pPr>
                      <a:lvl6pPr marL="2514600" indent="-228600" eaLnBrk="0" fontAlgn="base" hangingPunct="0">
                        <a:spcBef>
                          <a:spcPct val="20000"/>
                        </a:spcBef>
                        <a:spcAft>
                          <a:spcPct val="0"/>
                        </a:spcAft>
                        <a:defRPr>
                          <a:solidFill>
                            <a:schemeClr val="bg1"/>
                          </a:solidFill>
                          <a:latin typeface="Comic Sans MS" panose="030F0702030302020204" pitchFamily="66" charset="0"/>
                        </a:defRPr>
                      </a:lvl6pPr>
                      <a:lvl7pPr marL="2971800" indent="-228600" eaLnBrk="0" fontAlgn="base" hangingPunct="0">
                        <a:spcBef>
                          <a:spcPct val="20000"/>
                        </a:spcBef>
                        <a:spcAft>
                          <a:spcPct val="0"/>
                        </a:spcAft>
                        <a:defRPr>
                          <a:solidFill>
                            <a:schemeClr val="bg1"/>
                          </a:solidFill>
                          <a:latin typeface="Comic Sans MS" panose="030F0702030302020204" pitchFamily="66" charset="0"/>
                        </a:defRPr>
                      </a:lvl7pPr>
                      <a:lvl8pPr marL="3429000" indent="-228600" eaLnBrk="0" fontAlgn="base" hangingPunct="0">
                        <a:spcBef>
                          <a:spcPct val="20000"/>
                        </a:spcBef>
                        <a:spcAft>
                          <a:spcPct val="0"/>
                        </a:spcAft>
                        <a:defRPr>
                          <a:solidFill>
                            <a:schemeClr val="bg1"/>
                          </a:solidFill>
                          <a:latin typeface="Comic Sans MS" panose="030F0702030302020204" pitchFamily="66" charset="0"/>
                        </a:defRPr>
                      </a:lvl8pPr>
                      <a:lvl9pPr marL="3886200" indent="-228600" eaLnBrk="0" fontAlgn="base" hangingPunct="0">
                        <a:spcBef>
                          <a:spcPct val="20000"/>
                        </a:spcBef>
                        <a:spcAft>
                          <a:spcPct val="0"/>
                        </a:spcAft>
                        <a:defRPr>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9999"/>
                    </a:solidFill>
                  </a:tcPr>
                </a:tc>
                <a:tc>
                  <a:txBody>
                    <a:bodyPr/>
                    <a:lstStyle>
                      <a:lvl1pPr algn="l" eaLnBrk="0" hangingPunct="0">
                        <a:spcBef>
                          <a:spcPct val="20000"/>
                        </a:spcBef>
                        <a:defRPr sz="2800">
                          <a:solidFill>
                            <a:schemeClr val="bg1"/>
                          </a:solidFill>
                          <a:latin typeface="Comic Sans MS" panose="030F0702030302020204" pitchFamily="66" charset="0"/>
                        </a:defRPr>
                      </a:lvl1pPr>
                      <a:lvl2pPr marL="742950" indent="-285750" algn="l" eaLnBrk="0" hangingPunct="0">
                        <a:spcBef>
                          <a:spcPct val="20000"/>
                        </a:spcBef>
                        <a:defRPr sz="2400">
                          <a:solidFill>
                            <a:schemeClr val="bg1"/>
                          </a:solidFill>
                          <a:latin typeface="Comic Sans MS" panose="030F0702030302020204" pitchFamily="66" charset="0"/>
                        </a:defRPr>
                      </a:lvl2pPr>
                      <a:lvl3pPr marL="1143000" indent="-228600" algn="l" eaLnBrk="0" hangingPunct="0">
                        <a:spcBef>
                          <a:spcPct val="20000"/>
                        </a:spcBef>
                        <a:defRPr sz="2000">
                          <a:solidFill>
                            <a:schemeClr val="bg1"/>
                          </a:solidFill>
                          <a:latin typeface="Comic Sans MS" panose="030F0702030302020204" pitchFamily="66" charset="0"/>
                        </a:defRPr>
                      </a:lvl3pPr>
                      <a:lvl4pPr marL="1600200" indent="-228600" algn="l" eaLnBrk="0" hangingPunct="0">
                        <a:spcBef>
                          <a:spcPct val="20000"/>
                        </a:spcBef>
                        <a:defRPr>
                          <a:solidFill>
                            <a:schemeClr val="bg1"/>
                          </a:solidFill>
                          <a:latin typeface="Comic Sans MS" panose="030F0702030302020204" pitchFamily="66" charset="0"/>
                        </a:defRPr>
                      </a:lvl4pPr>
                      <a:lvl5pPr marL="2057400" indent="-228600" algn="l" eaLnBrk="0" hangingPunct="0">
                        <a:spcBef>
                          <a:spcPct val="20000"/>
                        </a:spcBef>
                        <a:defRPr>
                          <a:solidFill>
                            <a:schemeClr val="bg1"/>
                          </a:solidFill>
                          <a:latin typeface="Comic Sans MS" panose="030F0702030302020204" pitchFamily="66" charset="0"/>
                        </a:defRPr>
                      </a:lvl5pPr>
                      <a:lvl6pPr marL="2514600" indent="-228600" eaLnBrk="0" fontAlgn="base" hangingPunct="0">
                        <a:spcBef>
                          <a:spcPct val="20000"/>
                        </a:spcBef>
                        <a:spcAft>
                          <a:spcPct val="0"/>
                        </a:spcAft>
                        <a:defRPr>
                          <a:solidFill>
                            <a:schemeClr val="bg1"/>
                          </a:solidFill>
                          <a:latin typeface="Comic Sans MS" panose="030F0702030302020204" pitchFamily="66" charset="0"/>
                        </a:defRPr>
                      </a:lvl6pPr>
                      <a:lvl7pPr marL="2971800" indent="-228600" eaLnBrk="0" fontAlgn="base" hangingPunct="0">
                        <a:spcBef>
                          <a:spcPct val="20000"/>
                        </a:spcBef>
                        <a:spcAft>
                          <a:spcPct val="0"/>
                        </a:spcAft>
                        <a:defRPr>
                          <a:solidFill>
                            <a:schemeClr val="bg1"/>
                          </a:solidFill>
                          <a:latin typeface="Comic Sans MS" panose="030F0702030302020204" pitchFamily="66" charset="0"/>
                        </a:defRPr>
                      </a:lvl7pPr>
                      <a:lvl8pPr marL="3429000" indent="-228600" eaLnBrk="0" fontAlgn="base" hangingPunct="0">
                        <a:spcBef>
                          <a:spcPct val="20000"/>
                        </a:spcBef>
                        <a:spcAft>
                          <a:spcPct val="0"/>
                        </a:spcAft>
                        <a:defRPr>
                          <a:solidFill>
                            <a:schemeClr val="bg1"/>
                          </a:solidFill>
                          <a:latin typeface="Comic Sans MS" panose="030F0702030302020204" pitchFamily="66" charset="0"/>
                        </a:defRPr>
                      </a:lvl8pPr>
                      <a:lvl9pPr marL="3886200" indent="-228600" eaLnBrk="0" fontAlgn="base" hangingPunct="0">
                        <a:spcBef>
                          <a:spcPct val="20000"/>
                        </a:spcBef>
                        <a:spcAft>
                          <a:spcPct val="0"/>
                        </a:spcAft>
                        <a:defRPr>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39966"/>
                    </a:solidFill>
                  </a:tcPr>
                </a:tc>
                <a:extLst>
                  <a:ext uri="{0D108BD9-81ED-4DB2-BD59-A6C34878D82A}">
                    <a16:rowId xmlns:a16="http://schemas.microsoft.com/office/drawing/2014/main" val="10001"/>
                  </a:ext>
                </a:extLst>
              </a:tr>
              <a:tr h="450850">
                <a:tc>
                  <a:txBody>
                    <a:bodyPr/>
                    <a:lstStyle>
                      <a:lvl1pPr algn="l" eaLnBrk="0" hangingPunct="0">
                        <a:spcBef>
                          <a:spcPct val="20000"/>
                        </a:spcBef>
                        <a:defRPr sz="2800">
                          <a:solidFill>
                            <a:schemeClr val="bg1"/>
                          </a:solidFill>
                          <a:latin typeface="Comic Sans MS" panose="030F0702030302020204" pitchFamily="66" charset="0"/>
                        </a:defRPr>
                      </a:lvl1pPr>
                      <a:lvl2pPr marL="742950" indent="-285750" algn="l" eaLnBrk="0" hangingPunct="0">
                        <a:spcBef>
                          <a:spcPct val="20000"/>
                        </a:spcBef>
                        <a:defRPr sz="2400">
                          <a:solidFill>
                            <a:schemeClr val="bg1"/>
                          </a:solidFill>
                          <a:latin typeface="Comic Sans MS" panose="030F0702030302020204" pitchFamily="66" charset="0"/>
                        </a:defRPr>
                      </a:lvl2pPr>
                      <a:lvl3pPr marL="1143000" indent="-228600" algn="l" eaLnBrk="0" hangingPunct="0">
                        <a:spcBef>
                          <a:spcPct val="20000"/>
                        </a:spcBef>
                        <a:defRPr sz="2000">
                          <a:solidFill>
                            <a:schemeClr val="bg1"/>
                          </a:solidFill>
                          <a:latin typeface="Comic Sans MS" panose="030F0702030302020204" pitchFamily="66" charset="0"/>
                        </a:defRPr>
                      </a:lvl3pPr>
                      <a:lvl4pPr marL="1600200" indent="-228600" algn="l" eaLnBrk="0" hangingPunct="0">
                        <a:spcBef>
                          <a:spcPct val="20000"/>
                        </a:spcBef>
                        <a:defRPr>
                          <a:solidFill>
                            <a:schemeClr val="bg1"/>
                          </a:solidFill>
                          <a:latin typeface="Comic Sans MS" panose="030F0702030302020204" pitchFamily="66" charset="0"/>
                        </a:defRPr>
                      </a:lvl4pPr>
                      <a:lvl5pPr marL="2057400" indent="-228600" algn="l" eaLnBrk="0" hangingPunct="0">
                        <a:spcBef>
                          <a:spcPct val="20000"/>
                        </a:spcBef>
                        <a:defRPr>
                          <a:solidFill>
                            <a:schemeClr val="bg1"/>
                          </a:solidFill>
                          <a:latin typeface="Comic Sans MS" panose="030F0702030302020204" pitchFamily="66" charset="0"/>
                        </a:defRPr>
                      </a:lvl5pPr>
                      <a:lvl6pPr marL="2514600" indent="-228600" eaLnBrk="0" fontAlgn="base" hangingPunct="0">
                        <a:spcBef>
                          <a:spcPct val="20000"/>
                        </a:spcBef>
                        <a:spcAft>
                          <a:spcPct val="0"/>
                        </a:spcAft>
                        <a:defRPr>
                          <a:solidFill>
                            <a:schemeClr val="bg1"/>
                          </a:solidFill>
                          <a:latin typeface="Comic Sans MS" panose="030F0702030302020204" pitchFamily="66" charset="0"/>
                        </a:defRPr>
                      </a:lvl6pPr>
                      <a:lvl7pPr marL="2971800" indent="-228600" eaLnBrk="0" fontAlgn="base" hangingPunct="0">
                        <a:spcBef>
                          <a:spcPct val="20000"/>
                        </a:spcBef>
                        <a:spcAft>
                          <a:spcPct val="0"/>
                        </a:spcAft>
                        <a:defRPr>
                          <a:solidFill>
                            <a:schemeClr val="bg1"/>
                          </a:solidFill>
                          <a:latin typeface="Comic Sans MS" panose="030F0702030302020204" pitchFamily="66" charset="0"/>
                        </a:defRPr>
                      </a:lvl7pPr>
                      <a:lvl8pPr marL="3429000" indent="-228600" eaLnBrk="0" fontAlgn="base" hangingPunct="0">
                        <a:spcBef>
                          <a:spcPct val="20000"/>
                        </a:spcBef>
                        <a:spcAft>
                          <a:spcPct val="0"/>
                        </a:spcAft>
                        <a:defRPr>
                          <a:solidFill>
                            <a:schemeClr val="bg1"/>
                          </a:solidFill>
                          <a:latin typeface="Comic Sans MS" panose="030F0702030302020204" pitchFamily="66" charset="0"/>
                        </a:defRPr>
                      </a:lvl8pPr>
                      <a:lvl9pPr marL="3886200" indent="-228600" eaLnBrk="0" fontAlgn="base" hangingPunct="0">
                        <a:spcBef>
                          <a:spcPct val="20000"/>
                        </a:spcBef>
                        <a:spcAft>
                          <a:spcPct val="0"/>
                        </a:spcAft>
                        <a:defRPr>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Neutron</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3399"/>
                    </a:solidFill>
                  </a:tcPr>
                </a:tc>
                <a:tc>
                  <a:txBody>
                    <a:bodyPr/>
                    <a:lstStyle>
                      <a:lvl1pPr algn="l" eaLnBrk="0" hangingPunct="0">
                        <a:spcBef>
                          <a:spcPct val="20000"/>
                        </a:spcBef>
                        <a:defRPr sz="2800">
                          <a:solidFill>
                            <a:schemeClr val="bg1"/>
                          </a:solidFill>
                          <a:latin typeface="Comic Sans MS" panose="030F0702030302020204" pitchFamily="66" charset="0"/>
                        </a:defRPr>
                      </a:lvl1pPr>
                      <a:lvl2pPr marL="742950" indent="-285750" algn="l" eaLnBrk="0" hangingPunct="0">
                        <a:spcBef>
                          <a:spcPct val="20000"/>
                        </a:spcBef>
                        <a:defRPr sz="2400">
                          <a:solidFill>
                            <a:schemeClr val="bg1"/>
                          </a:solidFill>
                          <a:latin typeface="Comic Sans MS" panose="030F0702030302020204" pitchFamily="66" charset="0"/>
                        </a:defRPr>
                      </a:lvl2pPr>
                      <a:lvl3pPr marL="1143000" indent="-228600" algn="l" eaLnBrk="0" hangingPunct="0">
                        <a:spcBef>
                          <a:spcPct val="20000"/>
                        </a:spcBef>
                        <a:defRPr sz="2000">
                          <a:solidFill>
                            <a:schemeClr val="bg1"/>
                          </a:solidFill>
                          <a:latin typeface="Comic Sans MS" panose="030F0702030302020204" pitchFamily="66" charset="0"/>
                        </a:defRPr>
                      </a:lvl3pPr>
                      <a:lvl4pPr marL="1600200" indent="-228600" algn="l" eaLnBrk="0" hangingPunct="0">
                        <a:spcBef>
                          <a:spcPct val="20000"/>
                        </a:spcBef>
                        <a:defRPr>
                          <a:solidFill>
                            <a:schemeClr val="bg1"/>
                          </a:solidFill>
                          <a:latin typeface="Comic Sans MS" panose="030F0702030302020204" pitchFamily="66" charset="0"/>
                        </a:defRPr>
                      </a:lvl4pPr>
                      <a:lvl5pPr marL="2057400" indent="-228600" algn="l" eaLnBrk="0" hangingPunct="0">
                        <a:spcBef>
                          <a:spcPct val="20000"/>
                        </a:spcBef>
                        <a:defRPr>
                          <a:solidFill>
                            <a:schemeClr val="bg1"/>
                          </a:solidFill>
                          <a:latin typeface="Comic Sans MS" panose="030F0702030302020204" pitchFamily="66" charset="0"/>
                        </a:defRPr>
                      </a:lvl5pPr>
                      <a:lvl6pPr marL="2514600" indent="-228600" eaLnBrk="0" fontAlgn="base" hangingPunct="0">
                        <a:spcBef>
                          <a:spcPct val="20000"/>
                        </a:spcBef>
                        <a:spcAft>
                          <a:spcPct val="0"/>
                        </a:spcAft>
                        <a:defRPr>
                          <a:solidFill>
                            <a:schemeClr val="bg1"/>
                          </a:solidFill>
                          <a:latin typeface="Comic Sans MS" panose="030F0702030302020204" pitchFamily="66" charset="0"/>
                        </a:defRPr>
                      </a:lvl6pPr>
                      <a:lvl7pPr marL="2971800" indent="-228600" eaLnBrk="0" fontAlgn="base" hangingPunct="0">
                        <a:spcBef>
                          <a:spcPct val="20000"/>
                        </a:spcBef>
                        <a:spcAft>
                          <a:spcPct val="0"/>
                        </a:spcAft>
                        <a:defRPr>
                          <a:solidFill>
                            <a:schemeClr val="bg1"/>
                          </a:solidFill>
                          <a:latin typeface="Comic Sans MS" panose="030F0702030302020204" pitchFamily="66" charset="0"/>
                        </a:defRPr>
                      </a:lvl7pPr>
                      <a:lvl8pPr marL="3429000" indent="-228600" eaLnBrk="0" fontAlgn="base" hangingPunct="0">
                        <a:spcBef>
                          <a:spcPct val="20000"/>
                        </a:spcBef>
                        <a:spcAft>
                          <a:spcPct val="0"/>
                        </a:spcAft>
                        <a:defRPr>
                          <a:solidFill>
                            <a:schemeClr val="bg1"/>
                          </a:solidFill>
                          <a:latin typeface="Comic Sans MS" panose="030F0702030302020204" pitchFamily="66" charset="0"/>
                        </a:defRPr>
                      </a:lvl8pPr>
                      <a:lvl9pPr marL="3886200" indent="-228600" eaLnBrk="0" fontAlgn="base" hangingPunct="0">
                        <a:spcBef>
                          <a:spcPct val="20000"/>
                        </a:spcBef>
                        <a:spcAft>
                          <a:spcPct val="0"/>
                        </a:spcAft>
                        <a:defRPr>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9999"/>
                    </a:solidFill>
                  </a:tcPr>
                </a:tc>
                <a:tc>
                  <a:txBody>
                    <a:bodyPr/>
                    <a:lstStyle>
                      <a:lvl1pPr algn="l" eaLnBrk="0" hangingPunct="0">
                        <a:spcBef>
                          <a:spcPct val="20000"/>
                        </a:spcBef>
                        <a:defRPr sz="2800">
                          <a:solidFill>
                            <a:schemeClr val="bg1"/>
                          </a:solidFill>
                          <a:latin typeface="Comic Sans MS" panose="030F0702030302020204" pitchFamily="66" charset="0"/>
                        </a:defRPr>
                      </a:lvl1pPr>
                      <a:lvl2pPr marL="742950" indent="-285750" algn="l" eaLnBrk="0" hangingPunct="0">
                        <a:spcBef>
                          <a:spcPct val="20000"/>
                        </a:spcBef>
                        <a:defRPr sz="2400">
                          <a:solidFill>
                            <a:schemeClr val="bg1"/>
                          </a:solidFill>
                          <a:latin typeface="Comic Sans MS" panose="030F0702030302020204" pitchFamily="66" charset="0"/>
                        </a:defRPr>
                      </a:lvl2pPr>
                      <a:lvl3pPr marL="1143000" indent="-228600" algn="l" eaLnBrk="0" hangingPunct="0">
                        <a:spcBef>
                          <a:spcPct val="20000"/>
                        </a:spcBef>
                        <a:defRPr sz="2000">
                          <a:solidFill>
                            <a:schemeClr val="bg1"/>
                          </a:solidFill>
                          <a:latin typeface="Comic Sans MS" panose="030F0702030302020204" pitchFamily="66" charset="0"/>
                        </a:defRPr>
                      </a:lvl3pPr>
                      <a:lvl4pPr marL="1600200" indent="-228600" algn="l" eaLnBrk="0" hangingPunct="0">
                        <a:spcBef>
                          <a:spcPct val="20000"/>
                        </a:spcBef>
                        <a:defRPr>
                          <a:solidFill>
                            <a:schemeClr val="bg1"/>
                          </a:solidFill>
                          <a:latin typeface="Comic Sans MS" panose="030F0702030302020204" pitchFamily="66" charset="0"/>
                        </a:defRPr>
                      </a:lvl4pPr>
                      <a:lvl5pPr marL="2057400" indent="-228600" algn="l" eaLnBrk="0" hangingPunct="0">
                        <a:spcBef>
                          <a:spcPct val="20000"/>
                        </a:spcBef>
                        <a:defRPr>
                          <a:solidFill>
                            <a:schemeClr val="bg1"/>
                          </a:solidFill>
                          <a:latin typeface="Comic Sans MS" panose="030F0702030302020204" pitchFamily="66" charset="0"/>
                        </a:defRPr>
                      </a:lvl5pPr>
                      <a:lvl6pPr marL="2514600" indent="-228600" eaLnBrk="0" fontAlgn="base" hangingPunct="0">
                        <a:spcBef>
                          <a:spcPct val="20000"/>
                        </a:spcBef>
                        <a:spcAft>
                          <a:spcPct val="0"/>
                        </a:spcAft>
                        <a:defRPr>
                          <a:solidFill>
                            <a:schemeClr val="bg1"/>
                          </a:solidFill>
                          <a:latin typeface="Comic Sans MS" panose="030F0702030302020204" pitchFamily="66" charset="0"/>
                        </a:defRPr>
                      </a:lvl6pPr>
                      <a:lvl7pPr marL="2971800" indent="-228600" eaLnBrk="0" fontAlgn="base" hangingPunct="0">
                        <a:spcBef>
                          <a:spcPct val="20000"/>
                        </a:spcBef>
                        <a:spcAft>
                          <a:spcPct val="0"/>
                        </a:spcAft>
                        <a:defRPr>
                          <a:solidFill>
                            <a:schemeClr val="bg1"/>
                          </a:solidFill>
                          <a:latin typeface="Comic Sans MS" panose="030F0702030302020204" pitchFamily="66" charset="0"/>
                        </a:defRPr>
                      </a:lvl7pPr>
                      <a:lvl8pPr marL="3429000" indent="-228600" eaLnBrk="0" fontAlgn="base" hangingPunct="0">
                        <a:spcBef>
                          <a:spcPct val="20000"/>
                        </a:spcBef>
                        <a:spcAft>
                          <a:spcPct val="0"/>
                        </a:spcAft>
                        <a:defRPr>
                          <a:solidFill>
                            <a:schemeClr val="bg1"/>
                          </a:solidFill>
                          <a:latin typeface="Comic Sans MS" panose="030F0702030302020204" pitchFamily="66" charset="0"/>
                        </a:defRPr>
                      </a:lvl8pPr>
                      <a:lvl9pPr marL="3886200" indent="-228600" eaLnBrk="0" fontAlgn="base" hangingPunct="0">
                        <a:spcBef>
                          <a:spcPct val="20000"/>
                        </a:spcBef>
                        <a:spcAft>
                          <a:spcPct val="0"/>
                        </a:spcAft>
                        <a:defRPr>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39966"/>
                    </a:solidFill>
                  </a:tcPr>
                </a:tc>
                <a:extLst>
                  <a:ext uri="{0D108BD9-81ED-4DB2-BD59-A6C34878D82A}">
                    <a16:rowId xmlns:a16="http://schemas.microsoft.com/office/drawing/2014/main" val="10002"/>
                  </a:ext>
                </a:extLst>
              </a:tr>
              <a:tr h="450850">
                <a:tc>
                  <a:txBody>
                    <a:bodyPr/>
                    <a:lstStyle>
                      <a:lvl1pPr algn="l" eaLnBrk="0" hangingPunct="0">
                        <a:spcBef>
                          <a:spcPct val="20000"/>
                        </a:spcBef>
                        <a:defRPr sz="2800">
                          <a:solidFill>
                            <a:schemeClr val="bg1"/>
                          </a:solidFill>
                          <a:latin typeface="Comic Sans MS" panose="030F0702030302020204" pitchFamily="66" charset="0"/>
                        </a:defRPr>
                      </a:lvl1pPr>
                      <a:lvl2pPr marL="742950" indent="-285750" algn="l" eaLnBrk="0" hangingPunct="0">
                        <a:spcBef>
                          <a:spcPct val="20000"/>
                        </a:spcBef>
                        <a:defRPr sz="2400">
                          <a:solidFill>
                            <a:schemeClr val="bg1"/>
                          </a:solidFill>
                          <a:latin typeface="Comic Sans MS" panose="030F0702030302020204" pitchFamily="66" charset="0"/>
                        </a:defRPr>
                      </a:lvl2pPr>
                      <a:lvl3pPr marL="1143000" indent="-228600" algn="l" eaLnBrk="0" hangingPunct="0">
                        <a:spcBef>
                          <a:spcPct val="20000"/>
                        </a:spcBef>
                        <a:defRPr sz="2000">
                          <a:solidFill>
                            <a:schemeClr val="bg1"/>
                          </a:solidFill>
                          <a:latin typeface="Comic Sans MS" panose="030F0702030302020204" pitchFamily="66" charset="0"/>
                        </a:defRPr>
                      </a:lvl3pPr>
                      <a:lvl4pPr marL="1600200" indent="-228600" algn="l" eaLnBrk="0" hangingPunct="0">
                        <a:spcBef>
                          <a:spcPct val="20000"/>
                        </a:spcBef>
                        <a:defRPr>
                          <a:solidFill>
                            <a:schemeClr val="bg1"/>
                          </a:solidFill>
                          <a:latin typeface="Comic Sans MS" panose="030F0702030302020204" pitchFamily="66" charset="0"/>
                        </a:defRPr>
                      </a:lvl4pPr>
                      <a:lvl5pPr marL="2057400" indent="-228600" algn="l" eaLnBrk="0" hangingPunct="0">
                        <a:spcBef>
                          <a:spcPct val="20000"/>
                        </a:spcBef>
                        <a:defRPr>
                          <a:solidFill>
                            <a:schemeClr val="bg1"/>
                          </a:solidFill>
                          <a:latin typeface="Comic Sans MS" panose="030F0702030302020204" pitchFamily="66" charset="0"/>
                        </a:defRPr>
                      </a:lvl5pPr>
                      <a:lvl6pPr marL="2514600" indent="-228600" eaLnBrk="0" fontAlgn="base" hangingPunct="0">
                        <a:spcBef>
                          <a:spcPct val="20000"/>
                        </a:spcBef>
                        <a:spcAft>
                          <a:spcPct val="0"/>
                        </a:spcAft>
                        <a:defRPr>
                          <a:solidFill>
                            <a:schemeClr val="bg1"/>
                          </a:solidFill>
                          <a:latin typeface="Comic Sans MS" panose="030F0702030302020204" pitchFamily="66" charset="0"/>
                        </a:defRPr>
                      </a:lvl6pPr>
                      <a:lvl7pPr marL="2971800" indent="-228600" eaLnBrk="0" fontAlgn="base" hangingPunct="0">
                        <a:spcBef>
                          <a:spcPct val="20000"/>
                        </a:spcBef>
                        <a:spcAft>
                          <a:spcPct val="0"/>
                        </a:spcAft>
                        <a:defRPr>
                          <a:solidFill>
                            <a:schemeClr val="bg1"/>
                          </a:solidFill>
                          <a:latin typeface="Comic Sans MS" panose="030F0702030302020204" pitchFamily="66" charset="0"/>
                        </a:defRPr>
                      </a:lvl7pPr>
                      <a:lvl8pPr marL="3429000" indent="-228600" eaLnBrk="0" fontAlgn="base" hangingPunct="0">
                        <a:spcBef>
                          <a:spcPct val="20000"/>
                        </a:spcBef>
                        <a:spcAft>
                          <a:spcPct val="0"/>
                        </a:spcAft>
                        <a:defRPr>
                          <a:solidFill>
                            <a:schemeClr val="bg1"/>
                          </a:solidFill>
                          <a:latin typeface="Comic Sans MS" panose="030F0702030302020204" pitchFamily="66" charset="0"/>
                        </a:defRPr>
                      </a:lvl8pPr>
                      <a:lvl9pPr marL="3886200" indent="-228600" eaLnBrk="0" fontAlgn="base" hangingPunct="0">
                        <a:spcBef>
                          <a:spcPct val="20000"/>
                        </a:spcBef>
                        <a:spcAft>
                          <a:spcPct val="0"/>
                        </a:spcAft>
                        <a:defRPr>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Electron</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3399"/>
                    </a:solidFill>
                  </a:tcPr>
                </a:tc>
                <a:tc>
                  <a:txBody>
                    <a:bodyPr/>
                    <a:lstStyle>
                      <a:lvl1pPr algn="l" eaLnBrk="0" hangingPunct="0">
                        <a:spcBef>
                          <a:spcPct val="20000"/>
                        </a:spcBef>
                        <a:defRPr sz="2800">
                          <a:solidFill>
                            <a:schemeClr val="bg1"/>
                          </a:solidFill>
                          <a:latin typeface="Comic Sans MS" panose="030F0702030302020204" pitchFamily="66" charset="0"/>
                        </a:defRPr>
                      </a:lvl1pPr>
                      <a:lvl2pPr marL="742950" indent="-285750" algn="l" eaLnBrk="0" hangingPunct="0">
                        <a:spcBef>
                          <a:spcPct val="20000"/>
                        </a:spcBef>
                        <a:defRPr sz="2400">
                          <a:solidFill>
                            <a:schemeClr val="bg1"/>
                          </a:solidFill>
                          <a:latin typeface="Comic Sans MS" panose="030F0702030302020204" pitchFamily="66" charset="0"/>
                        </a:defRPr>
                      </a:lvl2pPr>
                      <a:lvl3pPr marL="1143000" indent="-228600" algn="l" eaLnBrk="0" hangingPunct="0">
                        <a:spcBef>
                          <a:spcPct val="20000"/>
                        </a:spcBef>
                        <a:defRPr sz="2000">
                          <a:solidFill>
                            <a:schemeClr val="bg1"/>
                          </a:solidFill>
                          <a:latin typeface="Comic Sans MS" panose="030F0702030302020204" pitchFamily="66" charset="0"/>
                        </a:defRPr>
                      </a:lvl3pPr>
                      <a:lvl4pPr marL="1600200" indent="-228600" algn="l" eaLnBrk="0" hangingPunct="0">
                        <a:spcBef>
                          <a:spcPct val="20000"/>
                        </a:spcBef>
                        <a:defRPr>
                          <a:solidFill>
                            <a:schemeClr val="bg1"/>
                          </a:solidFill>
                          <a:latin typeface="Comic Sans MS" panose="030F0702030302020204" pitchFamily="66" charset="0"/>
                        </a:defRPr>
                      </a:lvl4pPr>
                      <a:lvl5pPr marL="2057400" indent="-228600" algn="l" eaLnBrk="0" hangingPunct="0">
                        <a:spcBef>
                          <a:spcPct val="20000"/>
                        </a:spcBef>
                        <a:defRPr>
                          <a:solidFill>
                            <a:schemeClr val="bg1"/>
                          </a:solidFill>
                          <a:latin typeface="Comic Sans MS" panose="030F0702030302020204" pitchFamily="66" charset="0"/>
                        </a:defRPr>
                      </a:lvl5pPr>
                      <a:lvl6pPr marL="2514600" indent="-228600" eaLnBrk="0" fontAlgn="base" hangingPunct="0">
                        <a:spcBef>
                          <a:spcPct val="20000"/>
                        </a:spcBef>
                        <a:spcAft>
                          <a:spcPct val="0"/>
                        </a:spcAft>
                        <a:defRPr>
                          <a:solidFill>
                            <a:schemeClr val="bg1"/>
                          </a:solidFill>
                          <a:latin typeface="Comic Sans MS" panose="030F0702030302020204" pitchFamily="66" charset="0"/>
                        </a:defRPr>
                      </a:lvl6pPr>
                      <a:lvl7pPr marL="2971800" indent="-228600" eaLnBrk="0" fontAlgn="base" hangingPunct="0">
                        <a:spcBef>
                          <a:spcPct val="20000"/>
                        </a:spcBef>
                        <a:spcAft>
                          <a:spcPct val="0"/>
                        </a:spcAft>
                        <a:defRPr>
                          <a:solidFill>
                            <a:schemeClr val="bg1"/>
                          </a:solidFill>
                          <a:latin typeface="Comic Sans MS" panose="030F0702030302020204" pitchFamily="66" charset="0"/>
                        </a:defRPr>
                      </a:lvl7pPr>
                      <a:lvl8pPr marL="3429000" indent="-228600" eaLnBrk="0" fontAlgn="base" hangingPunct="0">
                        <a:spcBef>
                          <a:spcPct val="20000"/>
                        </a:spcBef>
                        <a:spcAft>
                          <a:spcPct val="0"/>
                        </a:spcAft>
                        <a:defRPr>
                          <a:solidFill>
                            <a:schemeClr val="bg1"/>
                          </a:solidFill>
                          <a:latin typeface="Comic Sans MS" panose="030F0702030302020204" pitchFamily="66" charset="0"/>
                        </a:defRPr>
                      </a:lvl8pPr>
                      <a:lvl9pPr marL="3886200" indent="-228600" eaLnBrk="0" fontAlgn="base" hangingPunct="0">
                        <a:spcBef>
                          <a:spcPct val="20000"/>
                        </a:spcBef>
                        <a:spcAft>
                          <a:spcPct val="0"/>
                        </a:spcAft>
                        <a:defRPr>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1/2000 (i.e. 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9999"/>
                    </a:solidFill>
                  </a:tcPr>
                </a:tc>
                <a:tc>
                  <a:txBody>
                    <a:bodyPr/>
                    <a:lstStyle>
                      <a:lvl1pPr algn="l" eaLnBrk="0" hangingPunct="0">
                        <a:spcBef>
                          <a:spcPct val="20000"/>
                        </a:spcBef>
                        <a:defRPr sz="2800">
                          <a:solidFill>
                            <a:schemeClr val="bg1"/>
                          </a:solidFill>
                          <a:latin typeface="Comic Sans MS" panose="030F0702030302020204" pitchFamily="66" charset="0"/>
                        </a:defRPr>
                      </a:lvl1pPr>
                      <a:lvl2pPr marL="742950" indent="-285750" algn="l" eaLnBrk="0" hangingPunct="0">
                        <a:spcBef>
                          <a:spcPct val="20000"/>
                        </a:spcBef>
                        <a:defRPr sz="2400">
                          <a:solidFill>
                            <a:schemeClr val="bg1"/>
                          </a:solidFill>
                          <a:latin typeface="Comic Sans MS" panose="030F0702030302020204" pitchFamily="66" charset="0"/>
                        </a:defRPr>
                      </a:lvl2pPr>
                      <a:lvl3pPr marL="1143000" indent="-228600" algn="l" eaLnBrk="0" hangingPunct="0">
                        <a:spcBef>
                          <a:spcPct val="20000"/>
                        </a:spcBef>
                        <a:defRPr sz="2000">
                          <a:solidFill>
                            <a:schemeClr val="bg1"/>
                          </a:solidFill>
                          <a:latin typeface="Comic Sans MS" panose="030F0702030302020204" pitchFamily="66" charset="0"/>
                        </a:defRPr>
                      </a:lvl3pPr>
                      <a:lvl4pPr marL="1600200" indent="-228600" algn="l" eaLnBrk="0" hangingPunct="0">
                        <a:spcBef>
                          <a:spcPct val="20000"/>
                        </a:spcBef>
                        <a:defRPr>
                          <a:solidFill>
                            <a:schemeClr val="bg1"/>
                          </a:solidFill>
                          <a:latin typeface="Comic Sans MS" panose="030F0702030302020204" pitchFamily="66" charset="0"/>
                        </a:defRPr>
                      </a:lvl4pPr>
                      <a:lvl5pPr marL="2057400" indent="-228600" algn="l" eaLnBrk="0" hangingPunct="0">
                        <a:spcBef>
                          <a:spcPct val="20000"/>
                        </a:spcBef>
                        <a:defRPr>
                          <a:solidFill>
                            <a:schemeClr val="bg1"/>
                          </a:solidFill>
                          <a:latin typeface="Comic Sans MS" panose="030F0702030302020204" pitchFamily="66" charset="0"/>
                        </a:defRPr>
                      </a:lvl5pPr>
                      <a:lvl6pPr marL="2514600" indent="-228600" eaLnBrk="0" fontAlgn="base" hangingPunct="0">
                        <a:spcBef>
                          <a:spcPct val="20000"/>
                        </a:spcBef>
                        <a:spcAft>
                          <a:spcPct val="0"/>
                        </a:spcAft>
                        <a:defRPr>
                          <a:solidFill>
                            <a:schemeClr val="bg1"/>
                          </a:solidFill>
                          <a:latin typeface="Comic Sans MS" panose="030F0702030302020204" pitchFamily="66" charset="0"/>
                        </a:defRPr>
                      </a:lvl6pPr>
                      <a:lvl7pPr marL="2971800" indent="-228600" eaLnBrk="0" fontAlgn="base" hangingPunct="0">
                        <a:spcBef>
                          <a:spcPct val="20000"/>
                        </a:spcBef>
                        <a:spcAft>
                          <a:spcPct val="0"/>
                        </a:spcAft>
                        <a:defRPr>
                          <a:solidFill>
                            <a:schemeClr val="bg1"/>
                          </a:solidFill>
                          <a:latin typeface="Comic Sans MS" panose="030F0702030302020204" pitchFamily="66" charset="0"/>
                        </a:defRPr>
                      </a:lvl7pPr>
                      <a:lvl8pPr marL="3429000" indent="-228600" eaLnBrk="0" fontAlgn="base" hangingPunct="0">
                        <a:spcBef>
                          <a:spcPct val="20000"/>
                        </a:spcBef>
                        <a:spcAft>
                          <a:spcPct val="0"/>
                        </a:spcAft>
                        <a:defRPr>
                          <a:solidFill>
                            <a:schemeClr val="bg1"/>
                          </a:solidFill>
                          <a:latin typeface="Comic Sans MS" panose="030F0702030302020204" pitchFamily="66" charset="0"/>
                        </a:defRPr>
                      </a:lvl8pPr>
                      <a:lvl9pPr marL="3886200" indent="-228600" eaLnBrk="0" fontAlgn="base" hangingPunct="0">
                        <a:spcBef>
                          <a:spcPct val="20000"/>
                        </a:spcBef>
                        <a:spcAft>
                          <a:spcPct val="0"/>
                        </a:spcAft>
                        <a:defRPr>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39966"/>
                    </a:solidFill>
                  </a:tcPr>
                </a:tc>
                <a:extLst>
                  <a:ext uri="{0D108BD9-81ED-4DB2-BD59-A6C34878D82A}">
                    <a16:rowId xmlns:a16="http://schemas.microsoft.com/office/drawing/2014/main" val="10003"/>
                  </a:ext>
                </a:extLst>
              </a:tr>
            </a:tbl>
          </a:graphicData>
        </a:graphic>
      </p:graphicFrame>
      <p:grpSp>
        <p:nvGrpSpPr>
          <p:cNvPr id="99353" name="Group 25"/>
          <p:cNvGrpSpPr>
            <a:grpSpLocks/>
          </p:cNvGrpSpPr>
          <p:nvPr/>
        </p:nvGrpSpPr>
        <p:grpSpPr bwMode="auto">
          <a:xfrm>
            <a:off x="685800" y="3962400"/>
            <a:ext cx="1905000" cy="2362200"/>
            <a:chOff x="432" y="2496"/>
            <a:chExt cx="1200" cy="1488"/>
          </a:xfrm>
        </p:grpSpPr>
        <p:sp>
          <p:nvSpPr>
            <p:cNvPr id="106532" name="Rectangle 26"/>
            <p:cNvSpPr>
              <a:spLocks noChangeArrowheads="1"/>
            </p:cNvSpPr>
            <p:nvPr/>
          </p:nvSpPr>
          <p:spPr bwMode="auto">
            <a:xfrm>
              <a:off x="432" y="2496"/>
              <a:ext cx="1200" cy="14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106533" name="WordArt 27"/>
            <p:cNvSpPr>
              <a:spLocks noChangeArrowheads="1" noChangeShapeType="1" noTextEdit="1"/>
            </p:cNvSpPr>
            <p:nvPr/>
          </p:nvSpPr>
          <p:spPr bwMode="auto">
            <a:xfrm>
              <a:off x="768" y="2928"/>
              <a:ext cx="528" cy="6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3366"/>
                  </a:solidFill>
                  <a:latin typeface="Arial Black" panose="020B0A04020102020204" pitchFamily="34" charset="0"/>
                </a:rPr>
                <a:t>He</a:t>
              </a:r>
            </a:p>
          </p:txBody>
        </p:sp>
        <p:sp>
          <p:nvSpPr>
            <p:cNvPr id="106534" name="WordArt 28"/>
            <p:cNvSpPr>
              <a:spLocks noChangeArrowheads="1" noChangeShapeType="1" noTextEdit="1"/>
            </p:cNvSpPr>
            <p:nvPr/>
          </p:nvSpPr>
          <p:spPr bwMode="auto">
            <a:xfrm>
              <a:off x="1344" y="3648"/>
              <a:ext cx="192" cy="216"/>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8000"/>
                  </a:solidFill>
                  <a:latin typeface="Arial Black" panose="020B0A04020102020204" pitchFamily="34" charset="0"/>
                </a:rPr>
                <a:t>2</a:t>
              </a:r>
            </a:p>
          </p:txBody>
        </p:sp>
        <p:sp>
          <p:nvSpPr>
            <p:cNvPr id="106535" name="WordArt 29"/>
            <p:cNvSpPr>
              <a:spLocks noChangeArrowheads="1" noChangeShapeType="1" noTextEdit="1"/>
            </p:cNvSpPr>
            <p:nvPr/>
          </p:nvSpPr>
          <p:spPr bwMode="auto">
            <a:xfrm>
              <a:off x="1344" y="2592"/>
              <a:ext cx="192" cy="24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800000"/>
                  </a:solidFill>
                  <a:latin typeface="Arial Black" panose="020B0A04020102020204" pitchFamily="34" charset="0"/>
                </a:rPr>
                <a:t>4</a:t>
              </a:r>
            </a:p>
          </p:txBody>
        </p:sp>
      </p:grpSp>
      <p:grpSp>
        <p:nvGrpSpPr>
          <p:cNvPr id="99358" name="Group 30"/>
          <p:cNvGrpSpPr>
            <a:grpSpLocks/>
          </p:cNvGrpSpPr>
          <p:nvPr/>
        </p:nvGrpSpPr>
        <p:grpSpPr bwMode="auto">
          <a:xfrm>
            <a:off x="2514600" y="3581400"/>
            <a:ext cx="6172200" cy="838200"/>
            <a:chOff x="1584" y="2256"/>
            <a:chExt cx="3888" cy="528"/>
          </a:xfrm>
        </p:grpSpPr>
        <p:sp>
          <p:nvSpPr>
            <p:cNvPr id="106531" name="AutoShape 32"/>
            <p:cNvSpPr>
              <a:spLocks noChangeArrowheads="1"/>
            </p:cNvSpPr>
            <p:nvPr/>
          </p:nvSpPr>
          <p:spPr bwMode="auto">
            <a:xfrm>
              <a:off x="1584" y="2592"/>
              <a:ext cx="720" cy="192"/>
            </a:xfrm>
            <a:prstGeom prst="leftArrow">
              <a:avLst>
                <a:gd name="adj1" fmla="val 50000"/>
                <a:gd name="adj2" fmla="val 93750"/>
              </a:avLst>
            </a:prstGeom>
            <a:solidFill>
              <a:srgbClr val="8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106530" name="Text Box 31"/>
            <p:cNvSpPr txBox="1">
              <a:spLocks noChangeArrowheads="1"/>
            </p:cNvSpPr>
            <p:nvPr/>
          </p:nvSpPr>
          <p:spPr bwMode="auto">
            <a:xfrm>
              <a:off x="2160" y="2256"/>
              <a:ext cx="3312" cy="523"/>
            </a:xfrm>
            <a:prstGeom prst="rect">
              <a:avLst/>
            </a:prstGeom>
            <a:solidFill>
              <a:srgbClr val="8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algn="ctr" eaLnBrk="1" hangingPunct="1">
                <a:spcBef>
                  <a:spcPct val="50000"/>
                </a:spcBef>
              </a:pPr>
              <a:r>
                <a:rPr lang="en-GB" altLang="en-US" dirty="0"/>
                <a:t>MASS NUMBER = number of protons + number of neutrons</a:t>
              </a:r>
            </a:p>
          </p:txBody>
        </p:sp>
      </p:grpSp>
      <p:grpSp>
        <p:nvGrpSpPr>
          <p:cNvPr id="99361" name="Group 33"/>
          <p:cNvGrpSpPr>
            <a:grpSpLocks/>
          </p:cNvGrpSpPr>
          <p:nvPr/>
        </p:nvGrpSpPr>
        <p:grpSpPr bwMode="auto">
          <a:xfrm>
            <a:off x="2371043" y="4671223"/>
            <a:ext cx="6324600" cy="503238"/>
            <a:chOff x="1488" y="3072"/>
            <a:chExt cx="3984" cy="317"/>
          </a:xfrm>
        </p:grpSpPr>
        <p:sp>
          <p:nvSpPr>
            <p:cNvPr id="106528" name="Text Box 34"/>
            <p:cNvSpPr txBox="1">
              <a:spLocks noChangeArrowheads="1"/>
            </p:cNvSpPr>
            <p:nvPr/>
          </p:nvSpPr>
          <p:spPr bwMode="auto">
            <a:xfrm>
              <a:off x="2160" y="3072"/>
              <a:ext cx="3312" cy="288"/>
            </a:xfrm>
            <a:prstGeom prst="rect">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algn="ctr" eaLnBrk="1" hangingPunct="1">
                <a:spcBef>
                  <a:spcPct val="50000"/>
                </a:spcBef>
              </a:pPr>
              <a:r>
                <a:rPr lang="en-GB" altLang="en-US" dirty="0"/>
                <a:t>SYMBOL</a:t>
              </a:r>
            </a:p>
          </p:txBody>
        </p:sp>
        <p:sp>
          <p:nvSpPr>
            <p:cNvPr id="106529" name="AutoShape 35"/>
            <p:cNvSpPr>
              <a:spLocks noChangeArrowheads="1"/>
            </p:cNvSpPr>
            <p:nvPr/>
          </p:nvSpPr>
          <p:spPr bwMode="auto">
            <a:xfrm>
              <a:off x="1488" y="3197"/>
              <a:ext cx="720" cy="192"/>
            </a:xfrm>
            <a:prstGeom prst="leftArrow">
              <a:avLst>
                <a:gd name="adj1" fmla="val 50000"/>
                <a:gd name="adj2" fmla="val 93750"/>
              </a:avLst>
            </a:prstGeom>
            <a:solidFill>
              <a:srgbClr val="00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grpSp>
      <p:grpSp>
        <p:nvGrpSpPr>
          <p:cNvPr id="99364" name="Group 36"/>
          <p:cNvGrpSpPr>
            <a:grpSpLocks/>
          </p:cNvGrpSpPr>
          <p:nvPr/>
        </p:nvGrpSpPr>
        <p:grpSpPr bwMode="auto">
          <a:xfrm>
            <a:off x="2514600" y="5287961"/>
            <a:ext cx="6172200" cy="1570039"/>
            <a:chOff x="1584" y="3648"/>
            <a:chExt cx="3888" cy="989"/>
          </a:xfrm>
        </p:grpSpPr>
        <p:sp>
          <p:nvSpPr>
            <p:cNvPr id="106527" name="AutoShape 38"/>
            <p:cNvSpPr>
              <a:spLocks noChangeArrowheads="1"/>
            </p:cNvSpPr>
            <p:nvPr/>
          </p:nvSpPr>
          <p:spPr bwMode="auto">
            <a:xfrm>
              <a:off x="1584" y="4009"/>
              <a:ext cx="720" cy="192"/>
            </a:xfrm>
            <a:prstGeom prst="leftArrow">
              <a:avLst>
                <a:gd name="adj1" fmla="val 50000"/>
                <a:gd name="adj2" fmla="val 93750"/>
              </a:avLst>
            </a:prstGeom>
            <a:solidFill>
              <a:srgbClr val="00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106526" name="Text Box 37"/>
            <p:cNvSpPr txBox="1">
              <a:spLocks noChangeArrowheads="1"/>
            </p:cNvSpPr>
            <p:nvPr/>
          </p:nvSpPr>
          <p:spPr bwMode="auto">
            <a:xfrm>
              <a:off x="2160" y="3648"/>
              <a:ext cx="3312" cy="989"/>
            </a:xfrm>
            <a:prstGeom prst="rect">
              <a:avLst/>
            </a:prstGeom>
            <a:solidFill>
              <a:srgbClr val="00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algn="ctr" eaLnBrk="1" hangingPunct="1">
                <a:spcBef>
                  <a:spcPct val="50000"/>
                </a:spcBef>
              </a:pPr>
              <a:r>
                <a:rPr lang="en-GB" altLang="en-US" dirty="0"/>
                <a:t>ATOMIC NUMBER = number of protons.  All atoms of a particular element must have the same number of protons.</a:t>
              </a:r>
            </a:p>
          </p:txBody>
        </p:sp>
      </p:grpSp>
    </p:spTree>
    <p:extLst>
      <p:ext uri="{BB962C8B-B14F-4D97-AF65-F5344CB8AC3E}">
        <p14:creationId xmlns:p14="http://schemas.microsoft.com/office/powerpoint/2010/main" val="4044743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06537"/>
                                        </p:tgtEl>
                                        <p:attrNameLst>
                                          <p:attrName>style.visibility</p:attrName>
                                        </p:attrNameLst>
                                      </p:cBhvr>
                                      <p:to>
                                        <p:strVal val="visible"/>
                                      </p:to>
                                    </p:set>
                                    <p:animEffect transition="in" filter="wipe(up)">
                                      <p:cBhvr>
                                        <p:cTn id="7" dur="500"/>
                                        <p:tgtEl>
                                          <p:spTgt spid="1065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9353"/>
                                        </p:tgtEl>
                                        <p:attrNameLst>
                                          <p:attrName>style.visibility</p:attrName>
                                        </p:attrNameLst>
                                      </p:cBhvr>
                                      <p:to>
                                        <p:strVal val="visible"/>
                                      </p:to>
                                    </p:set>
                                    <p:animEffect transition="in" filter="wipe(up)">
                                      <p:cBhvr>
                                        <p:cTn id="12" dur="500"/>
                                        <p:tgtEl>
                                          <p:spTgt spid="993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nodeType="clickEffect">
                                  <p:stCondLst>
                                    <p:cond delay="0"/>
                                  </p:stCondLst>
                                  <p:childTnLst>
                                    <p:set>
                                      <p:cBhvr>
                                        <p:cTn id="16" dur="1" fill="hold">
                                          <p:stCondLst>
                                            <p:cond delay="0"/>
                                          </p:stCondLst>
                                        </p:cTn>
                                        <p:tgtEl>
                                          <p:spTgt spid="99358"/>
                                        </p:tgtEl>
                                        <p:attrNameLst>
                                          <p:attrName>style.visibility</p:attrName>
                                        </p:attrNameLst>
                                      </p:cBhvr>
                                      <p:to>
                                        <p:strVal val="visible"/>
                                      </p:to>
                                    </p:set>
                                    <p:anim calcmode="lin" valueType="num">
                                      <p:cBhvr additive="base">
                                        <p:cTn id="17" dur="500" fill="hold"/>
                                        <p:tgtEl>
                                          <p:spTgt spid="99358"/>
                                        </p:tgtEl>
                                        <p:attrNameLst>
                                          <p:attrName>ppt_x</p:attrName>
                                        </p:attrNameLst>
                                      </p:cBhvr>
                                      <p:tavLst>
                                        <p:tav tm="0">
                                          <p:val>
                                            <p:strVal val="1+#ppt_w/2"/>
                                          </p:val>
                                        </p:tav>
                                        <p:tav tm="100000">
                                          <p:val>
                                            <p:strVal val="#ppt_x"/>
                                          </p:val>
                                        </p:tav>
                                      </p:tavLst>
                                    </p:anim>
                                    <p:anim calcmode="lin" valueType="num">
                                      <p:cBhvr additive="base">
                                        <p:cTn id="18" dur="500" fill="hold"/>
                                        <p:tgtEl>
                                          <p:spTgt spid="99358"/>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nodeType="clickEffect">
                                  <p:stCondLst>
                                    <p:cond delay="0"/>
                                  </p:stCondLst>
                                  <p:childTnLst>
                                    <p:set>
                                      <p:cBhvr>
                                        <p:cTn id="22" dur="1" fill="hold">
                                          <p:stCondLst>
                                            <p:cond delay="0"/>
                                          </p:stCondLst>
                                        </p:cTn>
                                        <p:tgtEl>
                                          <p:spTgt spid="99361"/>
                                        </p:tgtEl>
                                        <p:attrNameLst>
                                          <p:attrName>style.visibility</p:attrName>
                                        </p:attrNameLst>
                                      </p:cBhvr>
                                      <p:to>
                                        <p:strVal val="visible"/>
                                      </p:to>
                                    </p:set>
                                    <p:anim calcmode="lin" valueType="num">
                                      <p:cBhvr additive="base">
                                        <p:cTn id="23" dur="500" fill="hold"/>
                                        <p:tgtEl>
                                          <p:spTgt spid="99361"/>
                                        </p:tgtEl>
                                        <p:attrNameLst>
                                          <p:attrName>ppt_x</p:attrName>
                                        </p:attrNameLst>
                                      </p:cBhvr>
                                      <p:tavLst>
                                        <p:tav tm="0">
                                          <p:val>
                                            <p:strVal val="1+#ppt_w/2"/>
                                          </p:val>
                                        </p:tav>
                                        <p:tav tm="100000">
                                          <p:val>
                                            <p:strVal val="#ppt_x"/>
                                          </p:val>
                                        </p:tav>
                                      </p:tavLst>
                                    </p:anim>
                                    <p:anim calcmode="lin" valueType="num">
                                      <p:cBhvr additive="base">
                                        <p:cTn id="24" dur="500" fill="hold"/>
                                        <p:tgtEl>
                                          <p:spTgt spid="99361"/>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nodeType="clickEffect">
                                  <p:stCondLst>
                                    <p:cond delay="0"/>
                                  </p:stCondLst>
                                  <p:childTnLst>
                                    <p:set>
                                      <p:cBhvr>
                                        <p:cTn id="28" dur="1" fill="hold">
                                          <p:stCondLst>
                                            <p:cond delay="0"/>
                                          </p:stCondLst>
                                        </p:cTn>
                                        <p:tgtEl>
                                          <p:spTgt spid="99364"/>
                                        </p:tgtEl>
                                        <p:attrNameLst>
                                          <p:attrName>style.visibility</p:attrName>
                                        </p:attrNameLst>
                                      </p:cBhvr>
                                      <p:to>
                                        <p:strVal val="visible"/>
                                      </p:to>
                                    </p:set>
                                    <p:anim calcmode="lin" valueType="num">
                                      <p:cBhvr additive="base">
                                        <p:cTn id="29" dur="500" fill="hold"/>
                                        <p:tgtEl>
                                          <p:spTgt spid="99364"/>
                                        </p:tgtEl>
                                        <p:attrNameLst>
                                          <p:attrName>ppt_x</p:attrName>
                                        </p:attrNameLst>
                                      </p:cBhvr>
                                      <p:tavLst>
                                        <p:tav tm="0">
                                          <p:val>
                                            <p:strVal val="1+#ppt_w/2"/>
                                          </p:val>
                                        </p:tav>
                                        <p:tav tm="100000">
                                          <p:val>
                                            <p:strVal val="#ppt_x"/>
                                          </p:val>
                                        </p:tav>
                                      </p:tavLst>
                                    </p:anim>
                                    <p:anim calcmode="lin" valueType="num">
                                      <p:cBhvr additive="base">
                                        <p:cTn id="30" dur="500" fill="hold"/>
                                        <p:tgtEl>
                                          <p:spTgt spid="993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4"/>
          <p:cNvSpPr>
            <a:spLocks noGrp="1" noChangeArrowheads="1"/>
          </p:cNvSpPr>
          <p:nvPr>
            <p:ph type="dt" sz="half" idx="10"/>
          </p:nvPr>
        </p:nvSpPr>
        <p:spPr>
          <a:ln/>
        </p:spPr>
        <p:txBody>
          <a:bodyPr/>
          <a:lstStyle/>
          <a:p>
            <a:pPr>
              <a:defRPr/>
            </a:pPr>
            <a:fld id="{14C0AAE6-01BB-4BE0-BA34-36B06C468018}" type="datetime1">
              <a:rPr lang="en-GB"/>
              <a:pPr>
                <a:defRPr/>
              </a:pPr>
              <a:t>02/06/2020</a:t>
            </a:fld>
            <a:endParaRPr lang="en-GB"/>
          </a:p>
        </p:txBody>
      </p:sp>
      <p:sp>
        <p:nvSpPr>
          <p:cNvPr id="143362" name="Rectangle 2"/>
          <p:cNvSpPr>
            <a:spLocks noGrp="1" noChangeArrowheads="1"/>
          </p:cNvSpPr>
          <p:nvPr>
            <p:ph type="title"/>
          </p:nvPr>
        </p:nvSpPr>
        <p:spPr/>
        <p:txBody>
          <a:bodyPr/>
          <a:lstStyle/>
          <a:p>
            <a:pPr eaLnBrk="1" hangingPunct="1">
              <a:defRPr/>
            </a:pPr>
            <a:r>
              <a:rPr lang="en-GB" dirty="0"/>
              <a:t>Mass and atomic number</a:t>
            </a:r>
          </a:p>
        </p:txBody>
      </p:sp>
      <p:sp>
        <p:nvSpPr>
          <p:cNvPr id="107524" name="Rectangle 3"/>
          <p:cNvSpPr>
            <a:spLocks noChangeArrowheads="1"/>
          </p:cNvSpPr>
          <p:nvPr/>
        </p:nvSpPr>
        <p:spPr bwMode="auto">
          <a:xfrm>
            <a:off x="533400" y="1600200"/>
            <a:ext cx="1905000" cy="2362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107525" name="WordArt 4"/>
          <p:cNvSpPr>
            <a:spLocks noChangeArrowheads="1" noChangeShapeType="1" noTextEdit="1"/>
          </p:cNvSpPr>
          <p:nvPr/>
        </p:nvSpPr>
        <p:spPr bwMode="auto">
          <a:xfrm>
            <a:off x="1066800" y="2286000"/>
            <a:ext cx="838200" cy="9525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3366"/>
                </a:solidFill>
                <a:latin typeface="Arial Black" panose="020B0A04020102020204" pitchFamily="34" charset="0"/>
              </a:rPr>
              <a:t>H</a:t>
            </a:r>
          </a:p>
        </p:txBody>
      </p:sp>
      <p:sp>
        <p:nvSpPr>
          <p:cNvPr id="107526" name="WordArt 5"/>
          <p:cNvSpPr>
            <a:spLocks noChangeArrowheads="1" noChangeShapeType="1" noTextEdit="1"/>
          </p:cNvSpPr>
          <p:nvPr/>
        </p:nvSpPr>
        <p:spPr bwMode="auto">
          <a:xfrm>
            <a:off x="1981200" y="3429000"/>
            <a:ext cx="304800" cy="3429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8000"/>
                </a:solidFill>
                <a:latin typeface="Arial Black" panose="020B0A04020102020204" pitchFamily="34" charset="0"/>
              </a:rPr>
              <a:t>1</a:t>
            </a:r>
          </a:p>
        </p:txBody>
      </p:sp>
      <p:sp>
        <p:nvSpPr>
          <p:cNvPr id="107527" name="WordArt 6"/>
          <p:cNvSpPr>
            <a:spLocks noChangeArrowheads="1" noChangeShapeType="1" noTextEdit="1"/>
          </p:cNvSpPr>
          <p:nvPr/>
        </p:nvSpPr>
        <p:spPr bwMode="auto">
          <a:xfrm>
            <a:off x="1981200" y="1752600"/>
            <a:ext cx="304800" cy="3810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800000"/>
                </a:solidFill>
                <a:latin typeface="Arial Black" panose="020B0A04020102020204" pitchFamily="34" charset="0"/>
              </a:rPr>
              <a:t>1</a:t>
            </a:r>
          </a:p>
        </p:txBody>
      </p:sp>
      <p:sp>
        <p:nvSpPr>
          <p:cNvPr id="107528" name="Rectangle 7"/>
          <p:cNvSpPr>
            <a:spLocks noChangeArrowheads="1"/>
          </p:cNvSpPr>
          <p:nvPr/>
        </p:nvSpPr>
        <p:spPr bwMode="auto">
          <a:xfrm>
            <a:off x="3581400" y="1600200"/>
            <a:ext cx="1905000" cy="2362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107529" name="WordArt 8"/>
          <p:cNvSpPr>
            <a:spLocks noChangeArrowheads="1" noChangeShapeType="1" noTextEdit="1"/>
          </p:cNvSpPr>
          <p:nvPr/>
        </p:nvSpPr>
        <p:spPr bwMode="auto">
          <a:xfrm>
            <a:off x="4114800" y="2286000"/>
            <a:ext cx="838200" cy="9525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3366"/>
                </a:solidFill>
                <a:latin typeface="Arial Black" panose="020B0A04020102020204" pitchFamily="34" charset="0"/>
              </a:rPr>
              <a:t>B</a:t>
            </a:r>
          </a:p>
        </p:txBody>
      </p:sp>
      <p:sp>
        <p:nvSpPr>
          <p:cNvPr id="107530" name="WordArt 9"/>
          <p:cNvSpPr>
            <a:spLocks noChangeArrowheads="1" noChangeShapeType="1" noTextEdit="1"/>
          </p:cNvSpPr>
          <p:nvPr/>
        </p:nvSpPr>
        <p:spPr bwMode="auto">
          <a:xfrm>
            <a:off x="5029200" y="3429000"/>
            <a:ext cx="304800" cy="3429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8000"/>
                </a:solidFill>
                <a:latin typeface="Arial Black" panose="020B0A04020102020204" pitchFamily="34" charset="0"/>
              </a:rPr>
              <a:t>5</a:t>
            </a:r>
          </a:p>
        </p:txBody>
      </p:sp>
      <p:sp>
        <p:nvSpPr>
          <p:cNvPr id="107531" name="WordArt 10"/>
          <p:cNvSpPr>
            <a:spLocks noChangeArrowheads="1" noChangeShapeType="1" noTextEdit="1"/>
          </p:cNvSpPr>
          <p:nvPr/>
        </p:nvSpPr>
        <p:spPr bwMode="auto">
          <a:xfrm>
            <a:off x="4953000" y="1752600"/>
            <a:ext cx="381000" cy="3810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800000"/>
                </a:solidFill>
                <a:latin typeface="Arial Black" panose="020B0A04020102020204" pitchFamily="34" charset="0"/>
              </a:rPr>
              <a:t>11</a:t>
            </a:r>
          </a:p>
        </p:txBody>
      </p:sp>
      <p:sp>
        <p:nvSpPr>
          <p:cNvPr id="107532" name="Rectangle 11"/>
          <p:cNvSpPr>
            <a:spLocks noChangeArrowheads="1"/>
          </p:cNvSpPr>
          <p:nvPr/>
        </p:nvSpPr>
        <p:spPr bwMode="auto">
          <a:xfrm>
            <a:off x="6477000" y="1600200"/>
            <a:ext cx="1905000" cy="2362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107533" name="WordArt 12"/>
          <p:cNvSpPr>
            <a:spLocks noChangeArrowheads="1" noChangeShapeType="1" noTextEdit="1"/>
          </p:cNvSpPr>
          <p:nvPr/>
        </p:nvSpPr>
        <p:spPr bwMode="auto">
          <a:xfrm>
            <a:off x="7010400" y="2286000"/>
            <a:ext cx="838200" cy="9525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3366"/>
                </a:solidFill>
                <a:latin typeface="Arial Black" panose="020B0A04020102020204" pitchFamily="34" charset="0"/>
              </a:rPr>
              <a:t>O</a:t>
            </a:r>
          </a:p>
        </p:txBody>
      </p:sp>
      <p:sp>
        <p:nvSpPr>
          <p:cNvPr id="107534" name="WordArt 13"/>
          <p:cNvSpPr>
            <a:spLocks noChangeArrowheads="1" noChangeShapeType="1" noTextEdit="1"/>
          </p:cNvSpPr>
          <p:nvPr/>
        </p:nvSpPr>
        <p:spPr bwMode="auto">
          <a:xfrm>
            <a:off x="7924800" y="3429000"/>
            <a:ext cx="304800" cy="3429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8000"/>
                </a:solidFill>
                <a:latin typeface="Arial Black" panose="020B0A04020102020204" pitchFamily="34" charset="0"/>
              </a:rPr>
              <a:t>8</a:t>
            </a:r>
          </a:p>
        </p:txBody>
      </p:sp>
      <p:sp>
        <p:nvSpPr>
          <p:cNvPr id="107535" name="WordArt 14"/>
          <p:cNvSpPr>
            <a:spLocks noChangeArrowheads="1" noChangeShapeType="1" noTextEdit="1"/>
          </p:cNvSpPr>
          <p:nvPr/>
        </p:nvSpPr>
        <p:spPr bwMode="auto">
          <a:xfrm>
            <a:off x="7848600" y="1752600"/>
            <a:ext cx="381000" cy="3810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800000"/>
                </a:solidFill>
                <a:latin typeface="Arial Black" panose="020B0A04020102020204" pitchFamily="34" charset="0"/>
              </a:rPr>
              <a:t>16</a:t>
            </a:r>
          </a:p>
        </p:txBody>
      </p:sp>
      <p:sp>
        <p:nvSpPr>
          <p:cNvPr id="107536" name="Rectangle 15"/>
          <p:cNvSpPr>
            <a:spLocks noChangeArrowheads="1"/>
          </p:cNvSpPr>
          <p:nvPr/>
        </p:nvSpPr>
        <p:spPr bwMode="auto">
          <a:xfrm>
            <a:off x="533400" y="4495800"/>
            <a:ext cx="1905000" cy="2362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107537" name="WordArt 16"/>
          <p:cNvSpPr>
            <a:spLocks noChangeArrowheads="1" noChangeShapeType="1" noTextEdit="1"/>
          </p:cNvSpPr>
          <p:nvPr/>
        </p:nvSpPr>
        <p:spPr bwMode="auto">
          <a:xfrm>
            <a:off x="838200" y="5181600"/>
            <a:ext cx="1371600" cy="9525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3366"/>
                </a:solidFill>
                <a:latin typeface="Arial Black" panose="020B0A04020102020204" pitchFamily="34" charset="0"/>
              </a:rPr>
              <a:t>Na</a:t>
            </a:r>
          </a:p>
        </p:txBody>
      </p:sp>
      <p:sp>
        <p:nvSpPr>
          <p:cNvPr id="107538" name="WordArt 17"/>
          <p:cNvSpPr>
            <a:spLocks noChangeArrowheads="1" noChangeShapeType="1" noTextEdit="1"/>
          </p:cNvSpPr>
          <p:nvPr/>
        </p:nvSpPr>
        <p:spPr bwMode="auto">
          <a:xfrm>
            <a:off x="1905000" y="6324600"/>
            <a:ext cx="381000" cy="3429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8000"/>
                </a:solidFill>
                <a:latin typeface="Arial Black" panose="020B0A04020102020204" pitchFamily="34" charset="0"/>
              </a:rPr>
              <a:t>11</a:t>
            </a:r>
          </a:p>
        </p:txBody>
      </p:sp>
      <p:sp>
        <p:nvSpPr>
          <p:cNvPr id="107539" name="WordArt 18"/>
          <p:cNvSpPr>
            <a:spLocks noChangeArrowheads="1" noChangeShapeType="1" noTextEdit="1"/>
          </p:cNvSpPr>
          <p:nvPr/>
        </p:nvSpPr>
        <p:spPr bwMode="auto">
          <a:xfrm>
            <a:off x="1828800" y="4648200"/>
            <a:ext cx="457200" cy="3810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800000"/>
                </a:solidFill>
                <a:latin typeface="Arial Black" panose="020B0A04020102020204" pitchFamily="34" charset="0"/>
              </a:rPr>
              <a:t>23</a:t>
            </a:r>
          </a:p>
        </p:txBody>
      </p:sp>
      <p:sp>
        <p:nvSpPr>
          <p:cNvPr id="107540" name="Rectangle 19"/>
          <p:cNvSpPr>
            <a:spLocks noChangeArrowheads="1"/>
          </p:cNvSpPr>
          <p:nvPr/>
        </p:nvSpPr>
        <p:spPr bwMode="auto">
          <a:xfrm>
            <a:off x="3581400" y="4495800"/>
            <a:ext cx="1905000" cy="2362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107541" name="WordArt 20"/>
          <p:cNvSpPr>
            <a:spLocks noChangeArrowheads="1" noChangeShapeType="1" noTextEdit="1"/>
          </p:cNvSpPr>
          <p:nvPr/>
        </p:nvSpPr>
        <p:spPr bwMode="auto">
          <a:xfrm>
            <a:off x="3962400" y="5181600"/>
            <a:ext cx="1143000" cy="9525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3366"/>
                </a:solidFill>
                <a:latin typeface="Arial Black" panose="020B0A04020102020204" pitchFamily="34" charset="0"/>
              </a:rPr>
              <a:t>Cl</a:t>
            </a:r>
          </a:p>
        </p:txBody>
      </p:sp>
      <p:sp>
        <p:nvSpPr>
          <p:cNvPr id="107542" name="WordArt 21"/>
          <p:cNvSpPr>
            <a:spLocks noChangeArrowheads="1" noChangeShapeType="1" noTextEdit="1"/>
          </p:cNvSpPr>
          <p:nvPr/>
        </p:nvSpPr>
        <p:spPr bwMode="auto">
          <a:xfrm>
            <a:off x="4876800" y="6324600"/>
            <a:ext cx="457200" cy="3429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8000"/>
                </a:solidFill>
                <a:latin typeface="Arial Black" panose="020B0A04020102020204" pitchFamily="34" charset="0"/>
              </a:rPr>
              <a:t>17</a:t>
            </a:r>
          </a:p>
        </p:txBody>
      </p:sp>
      <p:sp>
        <p:nvSpPr>
          <p:cNvPr id="107543" name="WordArt 22"/>
          <p:cNvSpPr>
            <a:spLocks noChangeArrowheads="1" noChangeShapeType="1" noTextEdit="1"/>
          </p:cNvSpPr>
          <p:nvPr/>
        </p:nvSpPr>
        <p:spPr bwMode="auto">
          <a:xfrm>
            <a:off x="4876800" y="4648200"/>
            <a:ext cx="457200" cy="3810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800000"/>
                </a:solidFill>
                <a:latin typeface="Arial Black" panose="020B0A04020102020204" pitchFamily="34" charset="0"/>
              </a:rPr>
              <a:t>35</a:t>
            </a:r>
          </a:p>
        </p:txBody>
      </p:sp>
      <p:sp>
        <p:nvSpPr>
          <p:cNvPr id="107544" name="Rectangle 23"/>
          <p:cNvSpPr>
            <a:spLocks noChangeArrowheads="1"/>
          </p:cNvSpPr>
          <p:nvPr/>
        </p:nvSpPr>
        <p:spPr bwMode="auto">
          <a:xfrm>
            <a:off x="6477000" y="4495800"/>
            <a:ext cx="1905000" cy="2362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107545" name="WordArt 24"/>
          <p:cNvSpPr>
            <a:spLocks noChangeArrowheads="1" noChangeShapeType="1" noTextEdit="1"/>
          </p:cNvSpPr>
          <p:nvPr/>
        </p:nvSpPr>
        <p:spPr bwMode="auto">
          <a:xfrm>
            <a:off x="7010400" y="5181600"/>
            <a:ext cx="838200" cy="9525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3366"/>
                </a:solidFill>
                <a:latin typeface="Arial Black" panose="020B0A04020102020204" pitchFamily="34" charset="0"/>
              </a:rPr>
              <a:t>U</a:t>
            </a:r>
          </a:p>
        </p:txBody>
      </p:sp>
      <p:sp>
        <p:nvSpPr>
          <p:cNvPr id="107546" name="WordArt 25"/>
          <p:cNvSpPr>
            <a:spLocks noChangeArrowheads="1" noChangeShapeType="1" noTextEdit="1"/>
          </p:cNvSpPr>
          <p:nvPr/>
        </p:nvSpPr>
        <p:spPr bwMode="auto">
          <a:xfrm>
            <a:off x="7848600" y="6324600"/>
            <a:ext cx="381000" cy="3429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8000"/>
                </a:solidFill>
                <a:latin typeface="Arial Black" panose="020B0A04020102020204" pitchFamily="34" charset="0"/>
              </a:rPr>
              <a:t>92</a:t>
            </a:r>
          </a:p>
        </p:txBody>
      </p:sp>
      <p:sp>
        <p:nvSpPr>
          <p:cNvPr id="107547" name="WordArt 26"/>
          <p:cNvSpPr>
            <a:spLocks noChangeArrowheads="1" noChangeShapeType="1" noTextEdit="1"/>
          </p:cNvSpPr>
          <p:nvPr/>
        </p:nvSpPr>
        <p:spPr bwMode="auto">
          <a:xfrm>
            <a:off x="7620000" y="4648200"/>
            <a:ext cx="609600" cy="3810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800000"/>
                </a:solidFill>
                <a:latin typeface="Arial Black" panose="020B0A04020102020204" pitchFamily="34" charset="0"/>
              </a:rPr>
              <a:t>238</a:t>
            </a:r>
          </a:p>
        </p:txBody>
      </p:sp>
      <p:sp>
        <p:nvSpPr>
          <p:cNvPr id="107548" name="Text Box 27"/>
          <p:cNvSpPr txBox="1">
            <a:spLocks noChangeArrowheads="1"/>
          </p:cNvSpPr>
          <p:nvPr/>
        </p:nvSpPr>
        <p:spPr bwMode="auto">
          <a:xfrm>
            <a:off x="0" y="838200"/>
            <a:ext cx="9144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spcBef>
                <a:spcPct val="50000"/>
              </a:spcBef>
            </a:pPr>
            <a:r>
              <a:rPr lang="en-GB" altLang="en-US" sz="2800" i="1" dirty="0">
                <a:solidFill>
                  <a:srgbClr val="FFCCFF"/>
                </a:solidFill>
              </a:rPr>
              <a:t>How many protons, neutrons and electrons?</a:t>
            </a:r>
          </a:p>
        </p:txBody>
      </p:sp>
    </p:spTree>
    <p:extLst>
      <p:ext uri="{BB962C8B-B14F-4D97-AF65-F5344CB8AC3E}">
        <p14:creationId xmlns:p14="http://schemas.microsoft.com/office/powerpoint/2010/main" val="651058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4"/>
          <p:cNvSpPr>
            <a:spLocks noGrp="1" noChangeArrowheads="1"/>
          </p:cNvSpPr>
          <p:nvPr>
            <p:ph type="dt" sz="half" idx="10"/>
          </p:nvPr>
        </p:nvSpPr>
        <p:spPr>
          <a:ln/>
        </p:spPr>
        <p:txBody>
          <a:bodyPr/>
          <a:lstStyle/>
          <a:p>
            <a:pPr>
              <a:defRPr/>
            </a:pPr>
            <a:fld id="{0605F18F-5F4F-4C39-86D3-994CB4F1B6DD}" type="datetime1">
              <a:rPr lang="en-GB"/>
              <a:pPr>
                <a:defRPr/>
              </a:pPr>
              <a:t>02/06/2020</a:t>
            </a:fld>
            <a:endParaRPr lang="en-GB"/>
          </a:p>
        </p:txBody>
      </p:sp>
      <p:sp>
        <p:nvSpPr>
          <p:cNvPr id="96258" name="Rectangle 2"/>
          <p:cNvSpPr>
            <a:spLocks noGrp="1" noChangeArrowheads="1"/>
          </p:cNvSpPr>
          <p:nvPr>
            <p:ph type="title"/>
          </p:nvPr>
        </p:nvSpPr>
        <p:spPr/>
        <p:txBody>
          <a:bodyPr/>
          <a:lstStyle/>
          <a:p>
            <a:pPr eaLnBrk="1" hangingPunct="1">
              <a:defRPr/>
            </a:pPr>
            <a:r>
              <a:rPr lang="en-GB" sz="3200" dirty="0"/>
              <a:t>The structure of the atom in more detail</a:t>
            </a:r>
          </a:p>
        </p:txBody>
      </p:sp>
      <p:grpSp>
        <p:nvGrpSpPr>
          <p:cNvPr id="103428" name="Group 3"/>
          <p:cNvGrpSpPr>
            <a:grpSpLocks/>
          </p:cNvGrpSpPr>
          <p:nvPr/>
        </p:nvGrpSpPr>
        <p:grpSpPr bwMode="auto">
          <a:xfrm>
            <a:off x="4067944" y="3068960"/>
            <a:ext cx="990600" cy="1066800"/>
            <a:chOff x="1536" y="1344"/>
            <a:chExt cx="624" cy="672"/>
          </a:xfrm>
        </p:grpSpPr>
        <p:sp>
          <p:nvSpPr>
            <p:cNvPr id="96260" name="Oval 4"/>
            <p:cNvSpPr>
              <a:spLocks noChangeArrowheads="1"/>
            </p:cNvSpPr>
            <p:nvPr/>
          </p:nvSpPr>
          <p:spPr bwMode="auto">
            <a:xfrm>
              <a:off x="1776" y="1344"/>
              <a:ext cx="336" cy="336"/>
            </a:xfrm>
            <a:prstGeom prst="ellipse">
              <a:avLst/>
            </a:prstGeom>
            <a:gradFill rotWithShape="0">
              <a:gsLst>
                <a:gs pos="0">
                  <a:schemeClr val="accent1">
                    <a:gamma/>
                    <a:shade val="46275"/>
                    <a:invGamma/>
                  </a:schemeClr>
                </a:gs>
                <a:gs pos="100000">
                  <a:schemeClr val="accent1"/>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p>
          </p:txBody>
        </p:sp>
        <p:sp>
          <p:nvSpPr>
            <p:cNvPr id="103442" name="Oval 5"/>
            <p:cNvSpPr>
              <a:spLocks noChangeArrowheads="1"/>
            </p:cNvSpPr>
            <p:nvPr/>
          </p:nvSpPr>
          <p:spPr bwMode="auto">
            <a:xfrm>
              <a:off x="1536" y="1440"/>
              <a:ext cx="336" cy="336"/>
            </a:xfrm>
            <a:prstGeom prst="ellipse">
              <a:avLst/>
            </a:prstGeom>
            <a:gradFill rotWithShape="0">
              <a:gsLst>
                <a:gs pos="0">
                  <a:srgbClr val="760000"/>
                </a:gs>
                <a:gs pos="100000">
                  <a:srgbClr val="FF0000"/>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103443" name="Oval 6"/>
            <p:cNvSpPr>
              <a:spLocks noChangeArrowheads="1"/>
            </p:cNvSpPr>
            <p:nvPr/>
          </p:nvSpPr>
          <p:spPr bwMode="auto">
            <a:xfrm>
              <a:off x="1824" y="1584"/>
              <a:ext cx="336" cy="336"/>
            </a:xfrm>
            <a:prstGeom prst="ellipse">
              <a:avLst/>
            </a:prstGeom>
            <a:gradFill rotWithShape="0">
              <a:gsLst>
                <a:gs pos="0">
                  <a:srgbClr val="760000"/>
                </a:gs>
                <a:gs pos="100000">
                  <a:srgbClr val="FF0000"/>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96263" name="Oval 7"/>
            <p:cNvSpPr>
              <a:spLocks noChangeArrowheads="1"/>
            </p:cNvSpPr>
            <p:nvPr/>
          </p:nvSpPr>
          <p:spPr bwMode="auto">
            <a:xfrm>
              <a:off x="1536" y="1680"/>
              <a:ext cx="336" cy="336"/>
            </a:xfrm>
            <a:prstGeom prst="ellipse">
              <a:avLst/>
            </a:prstGeom>
            <a:gradFill rotWithShape="0">
              <a:gsLst>
                <a:gs pos="0">
                  <a:schemeClr val="accent1">
                    <a:gamma/>
                    <a:shade val="46275"/>
                    <a:invGamma/>
                  </a:schemeClr>
                </a:gs>
                <a:gs pos="100000">
                  <a:schemeClr val="accent1"/>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p>
          </p:txBody>
        </p:sp>
      </p:grpSp>
      <p:sp>
        <p:nvSpPr>
          <p:cNvPr id="103429" name="Oval 8"/>
          <p:cNvSpPr>
            <a:spLocks noChangeArrowheads="1"/>
          </p:cNvSpPr>
          <p:nvPr/>
        </p:nvSpPr>
        <p:spPr bwMode="auto">
          <a:xfrm>
            <a:off x="1019944" y="2306960"/>
            <a:ext cx="7162800" cy="259080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96265" name="Oval 9"/>
          <p:cNvSpPr>
            <a:spLocks noChangeArrowheads="1"/>
          </p:cNvSpPr>
          <p:nvPr/>
        </p:nvSpPr>
        <p:spPr bwMode="auto">
          <a:xfrm>
            <a:off x="4393382" y="4813623"/>
            <a:ext cx="228600" cy="228600"/>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96266" name="Oval 10"/>
          <p:cNvSpPr>
            <a:spLocks noChangeArrowheads="1"/>
          </p:cNvSpPr>
          <p:nvPr/>
        </p:nvSpPr>
        <p:spPr bwMode="auto">
          <a:xfrm>
            <a:off x="4466407" y="2149798"/>
            <a:ext cx="228600" cy="228600"/>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grpSp>
        <p:nvGrpSpPr>
          <p:cNvPr id="96267" name="Group 11"/>
          <p:cNvGrpSpPr>
            <a:grpSpLocks/>
          </p:cNvGrpSpPr>
          <p:nvPr/>
        </p:nvGrpSpPr>
        <p:grpSpPr bwMode="auto">
          <a:xfrm>
            <a:off x="1297757" y="979810"/>
            <a:ext cx="3124200" cy="1260475"/>
            <a:chOff x="1824" y="838"/>
            <a:chExt cx="1968" cy="794"/>
          </a:xfrm>
        </p:grpSpPr>
        <p:sp>
          <p:nvSpPr>
            <p:cNvPr id="103439" name="AutoShape 12"/>
            <p:cNvSpPr>
              <a:spLocks noChangeArrowheads="1"/>
            </p:cNvSpPr>
            <p:nvPr/>
          </p:nvSpPr>
          <p:spPr bwMode="auto">
            <a:xfrm rot="-9900000">
              <a:off x="3168" y="1296"/>
              <a:ext cx="624" cy="336"/>
            </a:xfrm>
            <a:prstGeom prst="leftArrow">
              <a:avLst>
                <a:gd name="adj1" fmla="val 50000"/>
                <a:gd name="adj2" fmla="val 46429"/>
              </a:avLst>
            </a:prstGeom>
            <a:solidFill>
              <a:srgbClr val="CC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103440" name="Text Box 13"/>
            <p:cNvSpPr txBox="1">
              <a:spLocks noChangeArrowheads="1"/>
            </p:cNvSpPr>
            <p:nvPr/>
          </p:nvSpPr>
          <p:spPr bwMode="auto">
            <a:xfrm>
              <a:off x="1824" y="838"/>
              <a:ext cx="1440" cy="748"/>
            </a:xfrm>
            <a:prstGeom prst="rect">
              <a:avLst/>
            </a:prstGeom>
            <a:solidFill>
              <a:srgbClr val="CC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spcBef>
                  <a:spcPct val="50000"/>
                </a:spcBef>
              </a:pPr>
              <a:r>
                <a:rPr lang="en-GB" altLang="en-US">
                  <a:solidFill>
                    <a:schemeClr val="tx1"/>
                  </a:solidFill>
                </a:rPr>
                <a:t>ELECTRON – negative, mass nearly nothing</a:t>
              </a:r>
            </a:p>
          </p:txBody>
        </p:sp>
      </p:grpSp>
      <p:grpSp>
        <p:nvGrpSpPr>
          <p:cNvPr id="96270" name="Group 14"/>
          <p:cNvGrpSpPr>
            <a:grpSpLocks/>
          </p:cNvGrpSpPr>
          <p:nvPr/>
        </p:nvGrpSpPr>
        <p:grpSpPr bwMode="auto">
          <a:xfrm>
            <a:off x="5035847" y="3078483"/>
            <a:ext cx="3776662" cy="1552575"/>
            <a:chOff x="2853" y="2736"/>
            <a:chExt cx="2379" cy="978"/>
          </a:xfrm>
          <a:solidFill>
            <a:srgbClr val="FFCCFF"/>
          </a:solidFill>
        </p:grpSpPr>
        <p:sp>
          <p:nvSpPr>
            <p:cNvPr id="103437" name="AutoShape 15"/>
            <p:cNvSpPr>
              <a:spLocks noChangeArrowheads="1"/>
            </p:cNvSpPr>
            <p:nvPr/>
          </p:nvSpPr>
          <p:spPr bwMode="auto">
            <a:xfrm rot="21161824">
              <a:off x="2853" y="2905"/>
              <a:ext cx="1008" cy="336"/>
            </a:xfrm>
            <a:prstGeom prst="leftArrow">
              <a:avLst>
                <a:gd name="adj1" fmla="val 50000"/>
                <a:gd name="adj2" fmla="val 75000"/>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103438" name="Text Box 16"/>
            <p:cNvSpPr txBox="1">
              <a:spLocks noChangeArrowheads="1"/>
            </p:cNvSpPr>
            <p:nvPr/>
          </p:nvSpPr>
          <p:spPr bwMode="auto">
            <a:xfrm>
              <a:off x="3792" y="2736"/>
              <a:ext cx="1440" cy="97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spcBef>
                  <a:spcPct val="50000"/>
                </a:spcBef>
              </a:pPr>
              <a:r>
                <a:rPr lang="en-GB" altLang="en-US">
                  <a:solidFill>
                    <a:schemeClr val="tx1"/>
                  </a:solidFill>
                </a:rPr>
                <a:t>PROTON – positive, same mass as neutron (“1”)</a:t>
              </a:r>
            </a:p>
          </p:txBody>
        </p:sp>
      </p:grpSp>
      <p:grpSp>
        <p:nvGrpSpPr>
          <p:cNvPr id="96273" name="Group 17"/>
          <p:cNvGrpSpPr>
            <a:grpSpLocks/>
          </p:cNvGrpSpPr>
          <p:nvPr/>
        </p:nvGrpSpPr>
        <p:grpSpPr bwMode="auto">
          <a:xfrm>
            <a:off x="865957" y="4364360"/>
            <a:ext cx="3429000" cy="2009775"/>
            <a:chOff x="384" y="2832"/>
            <a:chExt cx="2160" cy="1266"/>
          </a:xfrm>
          <a:solidFill>
            <a:schemeClr val="accent1">
              <a:lumMod val="40000"/>
              <a:lumOff val="60000"/>
            </a:schemeClr>
          </a:solidFill>
        </p:grpSpPr>
        <p:sp>
          <p:nvSpPr>
            <p:cNvPr id="103435" name="Text Box 18"/>
            <p:cNvSpPr txBox="1">
              <a:spLocks noChangeArrowheads="1"/>
            </p:cNvSpPr>
            <p:nvPr/>
          </p:nvSpPr>
          <p:spPr bwMode="auto">
            <a:xfrm>
              <a:off x="384" y="3120"/>
              <a:ext cx="1440" cy="97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spcBef>
                  <a:spcPct val="50000"/>
                </a:spcBef>
              </a:pPr>
              <a:r>
                <a:rPr lang="en-GB" altLang="en-US">
                  <a:solidFill>
                    <a:schemeClr val="tx1"/>
                  </a:solidFill>
                </a:rPr>
                <a:t>NEUTRON – neutral, same mass as proton (“1”)</a:t>
              </a:r>
            </a:p>
          </p:txBody>
        </p:sp>
        <p:sp>
          <p:nvSpPr>
            <p:cNvPr id="103436" name="AutoShape 19"/>
            <p:cNvSpPr>
              <a:spLocks noChangeArrowheads="1"/>
            </p:cNvSpPr>
            <p:nvPr/>
          </p:nvSpPr>
          <p:spPr bwMode="auto">
            <a:xfrm rot="8274315">
              <a:off x="1536" y="2832"/>
              <a:ext cx="1008" cy="336"/>
            </a:xfrm>
            <a:prstGeom prst="leftArrow">
              <a:avLst>
                <a:gd name="adj1" fmla="val 50000"/>
                <a:gd name="adj2" fmla="val 75000"/>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grpSp>
      <p:sp>
        <p:nvSpPr>
          <p:cNvPr id="24" name="Text Box 23"/>
          <p:cNvSpPr txBox="1">
            <a:spLocks noChangeArrowheads="1"/>
          </p:cNvSpPr>
          <p:nvPr/>
        </p:nvSpPr>
        <p:spPr bwMode="auto">
          <a:xfrm>
            <a:off x="3843503" y="5271139"/>
            <a:ext cx="5256857" cy="1569660"/>
          </a:xfrm>
          <a:prstGeom prst="rect">
            <a:avLst/>
          </a:prstGeom>
          <a:solidFill>
            <a:srgbClr val="A50021"/>
          </a:solidFill>
          <a:ln>
            <a:noFill/>
          </a:ln>
          <a:effectLst/>
          <a:extLst>
            <a:ext uri="{91240B29-F687-4F45-9708-019B960494DF}">
              <a14:hiddenLine xmlns:a14="http://schemas.microsoft.com/office/drawing/2010/main" w="1905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altLang="en-US" dirty="0"/>
              <a:t>Atoms always have the same number of protons and electrons so they are neutral overall.  The atom is around 0.1nm big (i.e. 10-10m).</a:t>
            </a:r>
          </a:p>
        </p:txBody>
      </p:sp>
      <p:sp>
        <p:nvSpPr>
          <p:cNvPr id="25" name="Text Box 22"/>
          <p:cNvSpPr txBox="1">
            <a:spLocks noChangeArrowheads="1"/>
          </p:cNvSpPr>
          <p:nvPr/>
        </p:nvSpPr>
        <p:spPr bwMode="auto">
          <a:xfrm>
            <a:off x="4663284" y="814751"/>
            <a:ext cx="4479465" cy="1569660"/>
          </a:xfrm>
          <a:prstGeom prst="rect">
            <a:avLst/>
          </a:prstGeom>
          <a:solidFill>
            <a:srgbClr val="A50021"/>
          </a:solidFill>
          <a:ln>
            <a:noFill/>
          </a:ln>
          <a:effectLst/>
          <a:extLst>
            <a:ext uri="{91240B29-F687-4F45-9708-019B960494DF}">
              <a14:hiddenLine xmlns:a14="http://schemas.microsoft.com/office/drawing/2010/main" w="1905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altLang="en-US" dirty="0"/>
              <a:t>The nucleus is around 10,000 times smaller then the atom!  The diameter of the nucleus is around 10</a:t>
            </a:r>
            <a:r>
              <a:rPr lang="en-GB" altLang="en-US" baseline="30000" dirty="0"/>
              <a:t>-14</a:t>
            </a:r>
            <a:r>
              <a:rPr lang="en-GB" altLang="en-US" dirty="0"/>
              <a:t>m.</a:t>
            </a:r>
          </a:p>
        </p:txBody>
      </p:sp>
      <p:grpSp>
        <p:nvGrpSpPr>
          <p:cNvPr id="5" name="Group 4"/>
          <p:cNvGrpSpPr/>
          <p:nvPr/>
        </p:nvGrpSpPr>
        <p:grpSpPr>
          <a:xfrm>
            <a:off x="403635" y="2524160"/>
            <a:ext cx="3439868" cy="1200329"/>
            <a:chOff x="403635" y="2524160"/>
            <a:chExt cx="3439868" cy="1200329"/>
          </a:xfrm>
          <a:solidFill>
            <a:schemeClr val="accent1">
              <a:lumMod val="75000"/>
            </a:schemeClr>
          </a:solidFill>
        </p:grpSpPr>
        <p:sp>
          <p:nvSpPr>
            <p:cNvPr id="2" name="TextBox 1"/>
            <p:cNvSpPr txBox="1"/>
            <p:nvPr/>
          </p:nvSpPr>
          <p:spPr>
            <a:xfrm>
              <a:off x="403635" y="2524160"/>
              <a:ext cx="3095986" cy="1200329"/>
            </a:xfrm>
            <a:prstGeom prst="rect">
              <a:avLst/>
            </a:prstGeom>
            <a:grpFill/>
            <a:ln w="38100">
              <a:noFill/>
            </a:ln>
          </p:spPr>
          <p:txBody>
            <a:bodyPr wrap="square" rtlCol="0">
              <a:spAutoFit/>
            </a:bodyPr>
            <a:lstStyle/>
            <a:p>
              <a:r>
                <a:rPr lang="en-GB" dirty="0"/>
                <a:t>The nucleus – this contains most of the mass in an atom</a:t>
              </a:r>
            </a:p>
          </p:txBody>
        </p:sp>
        <p:sp>
          <p:nvSpPr>
            <p:cNvPr id="3" name="Right Arrow 2"/>
            <p:cNvSpPr/>
            <p:nvPr/>
          </p:nvSpPr>
          <p:spPr bwMode="auto">
            <a:xfrm>
              <a:off x="3298781" y="3238748"/>
              <a:ext cx="544722" cy="381000"/>
            </a:xfrm>
            <a:prstGeom prst="rightArrow">
              <a:avLst/>
            </a:prstGeom>
            <a:grpFill/>
            <a:ln w="25400"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chemeClr val="bg1"/>
                </a:solidFill>
                <a:effectLst/>
                <a:latin typeface="Comic Sans MS" charset="0"/>
                <a:ea typeface="ＭＳ Ｐゴシック" charset="0"/>
              </a:endParaRPr>
            </a:p>
          </p:txBody>
        </p:sp>
      </p:grpSp>
      <p:sp>
        <p:nvSpPr>
          <p:cNvPr id="4" name="Oval 3"/>
          <p:cNvSpPr/>
          <p:nvPr/>
        </p:nvSpPr>
        <p:spPr bwMode="auto">
          <a:xfrm>
            <a:off x="3860476" y="2889678"/>
            <a:ext cx="1359521" cy="1396110"/>
          </a:xfrm>
          <a:prstGeom prst="ellipse">
            <a:avLst/>
          </a:prstGeom>
          <a:noFill/>
          <a:ln w="25400" cap="flat" cmpd="sng" algn="ctr">
            <a:solidFill>
              <a:srgbClr val="FF0000"/>
            </a:solidFill>
            <a:prstDash val="dash"/>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a:ln>
                <a:noFill/>
              </a:ln>
              <a:solidFill>
                <a:schemeClr val="bg1"/>
              </a:solidFill>
              <a:effectLst/>
              <a:latin typeface="Comic Sans MS" charset="0"/>
              <a:ea typeface="ＭＳ Ｐゴシック" charset="0"/>
            </a:endParaRPr>
          </a:p>
        </p:txBody>
      </p:sp>
    </p:spTree>
    <p:extLst>
      <p:ext uri="{BB962C8B-B14F-4D97-AF65-F5344CB8AC3E}">
        <p14:creationId xmlns:p14="http://schemas.microsoft.com/office/powerpoint/2010/main" val="4204827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96270"/>
                                        </p:tgtEl>
                                        <p:attrNameLst>
                                          <p:attrName>style.visibility</p:attrName>
                                        </p:attrNameLst>
                                      </p:cBhvr>
                                      <p:to>
                                        <p:strVal val="visible"/>
                                      </p:to>
                                    </p:set>
                                    <p:animEffect transition="in" filter="wipe(right)">
                                      <p:cBhvr>
                                        <p:cTn id="7" dur="500"/>
                                        <p:tgtEl>
                                          <p:spTgt spid="962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6273"/>
                                        </p:tgtEl>
                                        <p:attrNameLst>
                                          <p:attrName>style.visibility</p:attrName>
                                        </p:attrNameLst>
                                      </p:cBhvr>
                                      <p:to>
                                        <p:strVal val="visible"/>
                                      </p:to>
                                    </p:set>
                                    <p:animEffect transition="in" filter="wipe(left)">
                                      <p:cBhvr>
                                        <p:cTn id="12" dur="500"/>
                                        <p:tgtEl>
                                          <p:spTgt spid="962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96267"/>
                                        </p:tgtEl>
                                        <p:attrNameLst>
                                          <p:attrName>style.visibility</p:attrName>
                                        </p:attrNameLst>
                                      </p:cBhvr>
                                      <p:to>
                                        <p:strVal val="visible"/>
                                      </p:to>
                                    </p:set>
                                    <p:animEffect transition="in" filter="wipe(up)">
                                      <p:cBhvr>
                                        <p:cTn id="17" dur="500"/>
                                        <p:tgtEl>
                                          <p:spTgt spid="9626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path" presetSubtype="0" repeatCount="3000" fill="hold" grpId="0" nodeType="clickEffect">
                                  <p:stCondLst>
                                    <p:cond delay="0"/>
                                  </p:stCondLst>
                                  <p:childTnLst>
                                    <p:animMotion origin="layout" path="M 1.94444E-6 -2.59259E-6 C 0.21493 -2.59259E-6 0.38993 0.08472 0.38993 0.18866 C 0.38993 0.2926 0.21493 0.37778 1.94444E-6 0.37778 C -0.21493 0.37778 -0.38976 0.2926 -0.38976 0.18866 C -0.38976 0.08472 -0.21493 -2.59259E-6 1.94444E-6 -2.59259E-6 Z " pathEditMode="relative" rAng="0" ptsTypes="AAAAA">
                                      <p:cBhvr>
                                        <p:cTn id="21" dur="2000" fill="hold"/>
                                        <p:tgtEl>
                                          <p:spTgt spid="96266"/>
                                        </p:tgtEl>
                                        <p:attrNameLst>
                                          <p:attrName>ppt_x</p:attrName>
                                          <p:attrName>ppt_y</p:attrName>
                                        </p:attrNameLst>
                                      </p:cBhvr>
                                      <p:rCtr x="0" y="18889"/>
                                    </p:animMotion>
                                  </p:childTnLst>
                                </p:cTn>
                              </p:par>
                              <p:par>
                                <p:cTn id="22" presetID="1" presetClass="path" presetSubtype="0" repeatCount="3000" fill="hold" grpId="0" nodeType="withEffect">
                                  <p:stCondLst>
                                    <p:cond delay="0"/>
                                  </p:stCondLst>
                                  <p:childTnLst>
                                    <p:animMotion origin="layout" path="M -1.94444E-6 -0.00046 C -0.21475 -0.00046 -0.38993 -0.08727 -0.38993 -0.19445 C -0.38993 -0.30139 -0.21475 -0.38866 -1.94444E-6 -0.38866 C 0.21511 -0.38866 0.38976 -0.30139 0.38976 -0.19445 C 0.38976 -0.08727 0.21511 -0.00046 -1.94444E-6 -0.00046 Z " pathEditMode="relative" rAng="10800000" ptsTypes="AAAAA">
                                      <p:cBhvr>
                                        <p:cTn id="23" dur="2000" fill="hold"/>
                                        <p:tgtEl>
                                          <p:spTgt spid="96265"/>
                                        </p:tgtEl>
                                        <p:attrNameLst>
                                          <p:attrName>ppt_x</p:attrName>
                                          <p:attrName>ppt_y</p:attrName>
                                        </p:attrNameLst>
                                      </p:cBhvr>
                                      <p:rCtr x="0" y="-19398"/>
                                    </p:animMotion>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wipe(left)">
                                      <p:cBhvr>
                                        <p:cTn id="28" dur="500"/>
                                        <p:tgtEl>
                                          <p:spTgt spid="2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left)">
                                      <p:cBhvr>
                                        <p:cTn id="33" dur="500"/>
                                        <p:tgtEl>
                                          <p:spTgt spid="5"/>
                                        </p:tgtEl>
                                      </p:cBhvr>
                                    </p:animEffect>
                                  </p:childTnLst>
                                </p:cTn>
                              </p:par>
                            </p:childTnLst>
                          </p:cTn>
                        </p:par>
                        <p:par>
                          <p:cTn id="34" fill="hold">
                            <p:stCondLst>
                              <p:cond delay="500"/>
                            </p:stCondLst>
                            <p:childTnLst>
                              <p:par>
                                <p:cTn id="35" presetID="22" presetClass="entr" presetSubtype="1" fill="hold" grpId="0" nodeType="after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up)">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left)">
                                      <p:cBhvr>
                                        <p:cTn id="4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5" grpId="0" animBg="1"/>
      <p:bldP spid="96266" grpId="0" animBg="1"/>
      <p:bldP spid="24" grpId="0" animBg="1"/>
      <p:bldP spid="25" grpId="0" animBg="1"/>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4"/>
          <p:cNvSpPr>
            <a:spLocks noGrp="1" noChangeArrowheads="1"/>
          </p:cNvSpPr>
          <p:nvPr>
            <p:ph type="dt" sz="half" idx="10"/>
          </p:nvPr>
        </p:nvSpPr>
        <p:spPr>
          <a:ln/>
        </p:spPr>
        <p:txBody>
          <a:bodyPr/>
          <a:lstStyle/>
          <a:p>
            <a:pPr>
              <a:defRPr/>
            </a:pPr>
            <a:fld id="{D6D167C7-BDBD-496A-AB02-D381AE3E36B1}" type="datetime1">
              <a:rPr lang="en-GB"/>
              <a:pPr>
                <a:defRPr/>
              </a:pPr>
              <a:t>02/06/2020</a:t>
            </a:fld>
            <a:endParaRPr lang="en-GB"/>
          </a:p>
        </p:txBody>
      </p:sp>
      <p:sp>
        <p:nvSpPr>
          <p:cNvPr id="108546" name="Date Placeholder 2"/>
          <p:cNvSpPr txBox="1">
            <a:spLocks noGrp="1"/>
          </p:cNvSpPr>
          <p:nvPr/>
        </p:nvSpPr>
        <p:spPr bwMode="auto">
          <a:xfrm>
            <a:off x="7239000" y="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algn="r" eaLnBrk="1" hangingPunct="1"/>
            <a:fld id="{94CE5139-8DBB-4535-97F3-CD672B1A108A}" type="datetime1">
              <a:rPr lang="en-GB" altLang="en-US" sz="1600">
                <a:solidFill>
                  <a:schemeClr val="bg2"/>
                </a:solidFill>
              </a:rPr>
              <a:pPr algn="r" eaLnBrk="1" hangingPunct="1"/>
              <a:t>02/06/2020</a:t>
            </a:fld>
            <a:endParaRPr lang="en-GB" altLang="en-US" sz="1600">
              <a:solidFill>
                <a:schemeClr val="bg2"/>
              </a:solidFill>
            </a:endParaRPr>
          </a:p>
        </p:txBody>
      </p:sp>
      <p:sp>
        <p:nvSpPr>
          <p:cNvPr id="98306" name="Rectangle 2"/>
          <p:cNvSpPr>
            <a:spLocks noGrp="1" noChangeArrowheads="1"/>
          </p:cNvSpPr>
          <p:nvPr>
            <p:ph type="title"/>
          </p:nvPr>
        </p:nvSpPr>
        <p:spPr>
          <a:xfrm>
            <a:off x="0" y="0"/>
            <a:ext cx="9144000" cy="679450"/>
          </a:xfrm>
        </p:spPr>
        <p:txBody>
          <a:bodyPr/>
          <a:lstStyle/>
          <a:p>
            <a:pPr eaLnBrk="1" hangingPunct="1">
              <a:defRPr/>
            </a:pPr>
            <a:r>
              <a:rPr lang="en-GB"/>
              <a:t>Isotopes</a:t>
            </a:r>
          </a:p>
        </p:txBody>
      </p:sp>
      <p:sp>
        <p:nvSpPr>
          <p:cNvPr id="98307" name="Text Box 3"/>
          <p:cNvSpPr txBox="1">
            <a:spLocks noChangeArrowheads="1"/>
          </p:cNvSpPr>
          <p:nvPr/>
        </p:nvSpPr>
        <p:spPr bwMode="auto">
          <a:xfrm>
            <a:off x="228600" y="685800"/>
            <a:ext cx="868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algn="l" eaLnBrk="1" hangingPunct="1">
              <a:spcBef>
                <a:spcPct val="50000"/>
              </a:spcBef>
            </a:pPr>
            <a:r>
              <a:rPr lang="en-GB" altLang="en-US">
                <a:solidFill>
                  <a:srgbClr val="99FFCC"/>
                </a:solidFill>
              </a:rPr>
              <a:t>An isotope is an atom with a different number of neutrons:</a:t>
            </a:r>
          </a:p>
        </p:txBody>
      </p:sp>
      <p:grpSp>
        <p:nvGrpSpPr>
          <p:cNvPr id="98308" name="Group 4"/>
          <p:cNvGrpSpPr>
            <a:grpSpLocks/>
          </p:cNvGrpSpPr>
          <p:nvPr/>
        </p:nvGrpSpPr>
        <p:grpSpPr bwMode="auto">
          <a:xfrm>
            <a:off x="533400" y="2286000"/>
            <a:ext cx="1905000" cy="2362200"/>
            <a:chOff x="336" y="1296"/>
            <a:chExt cx="1200" cy="1488"/>
          </a:xfrm>
        </p:grpSpPr>
        <p:sp>
          <p:nvSpPr>
            <p:cNvPr id="108571" name="Rectangle 5"/>
            <p:cNvSpPr>
              <a:spLocks noChangeArrowheads="1"/>
            </p:cNvSpPr>
            <p:nvPr/>
          </p:nvSpPr>
          <p:spPr bwMode="auto">
            <a:xfrm>
              <a:off x="336" y="1296"/>
              <a:ext cx="1200" cy="14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108572" name="WordArt 6"/>
            <p:cNvSpPr>
              <a:spLocks noChangeArrowheads="1" noChangeShapeType="1" noTextEdit="1"/>
            </p:cNvSpPr>
            <p:nvPr/>
          </p:nvSpPr>
          <p:spPr bwMode="auto">
            <a:xfrm>
              <a:off x="672" y="1728"/>
              <a:ext cx="528" cy="6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3366"/>
                  </a:solidFill>
                  <a:latin typeface="Arial Black" panose="020B0A04020102020204" pitchFamily="34" charset="0"/>
                </a:rPr>
                <a:t>O</a:t>
              </a:r>
            </a:p>
          </p:txBody>
        </p:sp>
        <p:sp>
          <p:nvSpPr>
            <p:cNvPr id="108573" name="WordArt 7"/>
            <p:cNvSpPr>
              <a:spLocks noChangeArrowheads="1" noChangeShapeType="1" noTextEdit="1"/>
            </p:cNvSpPr>
            <p:nvPr/>
          </p:nvSpPr>
          <p:spPr bwMode="auto">
            <a:xfrm>
              <a:off x="1248" y="2448"/>
              <a:ext cx="192" cy="216"/>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8000"/>
                  </a:solidFill>
                  <a:latin typeface="Arial Black" panose="020B0A04020102020204" pitchFamily="34" charset="0"/>
                </a:rPr>
                <a:t>8</a:t>
              </a:r>
            </a:p>
          </p:txBody>
        </p:sp>
        <p:sp>
          <p:nvSpPr>
            <p:cNvPr id="108574" name="WordArt 8"/>
            <p:cNvSpPr>
              <a:spLocks noChangeArrowheads="1" noChangeShapeType="1" noTextEdit="1"/>
            </p:cNvSpPr>
            <p:nvPr/>
          </p:nvSpPr>
          <p:spPr bwMode="auto">
            <a:xfrm>
              <a:off x="1152" y="1392"/>
              <a:ext cx="288" cy="24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800000"/>
                  </a:solidFill>
                  <a:latin typeface="Arial Black" panose="020B0A04020102020204" pitchFamily="34" charset="0"/>
                </a:rPr>
                <a:t>16</a:t>
              </a:r>
            </a:p>
          </p:txBody>
        </p:sp>
      </p:grpSp>
      <p:grpSp>
        <p:nvGrpSpPr>
          <p:cNvPr id="98313" name="Group 9"/>
          <p:cNvGrpSpPr>
            <a:grpSpLocks/>
          </p:cNvGrpSpPr>
          <p:nvPr/>
        </p:nvGrpSpPr>
        <p:grpSpPr bwMode="auto">
          <a:xfrm>
            <a:off x="3657600" y="2286000"/>
            <a:ext cx="1905000" cy="2362200"/>
            <a:chOff x="2304" y="1824"/>
            <a:chExt cx="1200" cy="1488"/>
          </a:xfrm>
        </p:grpSpPr>
        <p:sp>
          <p:nvSpPr>
            <p:cNvPr id="108567" name="Rectangle 10"/>
            <p:cNvSpPr>
              <a:spLocks noChangeArrowheads="1"/>
            </p:cNvSpPr>
            <p:nvPr/>
          </p:nvSpPr>
          <p:spPr bwMode="auto">
            <a:xfrm>
              <a:off x="2304" y="1824"/>
              <a:ext cx="1200" cy="14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108568" name="WordArt 11"/>
            <p:cNvSpPr>
              <a:spLocks noChangeArrowheads="1" noChangeShapeType="1" noTextEdit="1"/>
            </p:cNvSpPr>
            <p:nvPr/>
          </p:nvSpPr>
          <p:spPr bwMode="auto">
            <a:xfrm>
              <a:off x="2640" y="2256"/>
              <a:ext cx="528" cy="6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3366"/>
                  </a:solidFill>
                  <a:latin typeface="Arial Black" panose="020B0A04020102020204" pitchFamily="34" charset="0"/>
                </a:rPr>
                <a:t>O</a:t>
              </a:r>
            </a:p>
          </p:txBody>
        </p:sp>
        <p:sp>
          <p:nvSpPr>
            <p:cNvPr id="108569" name="WordArt 12"/>
            <p:cNvSpPr>
              <a:spLocks noChangeArrowheads="1" noChangeShapeType="1" noTextEdit="1"/>
            </p:cNvSpPr>
            <p:nvPr/>
          </p:nvSpPr>
          <p:spPr bwMode="auto">
            <a:xfrm>
              <a:off x="3216" y="2976"/>
              <a:ext cx="192" cy="216"/>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8000"/>
                  </a:solidFill>
                  <a:latin typeface="Arial Black" panose="020B0A04020102020204" pitchFamily="34" charset="0"/>
                </a:rPr>
                <a:t>8</a:t>
              </a:r>
            </a:p>
          </p:txBody>
        </p:sp>
        <p:sp>
          <p:nvSpPr>
            <p:cNvPr id="108570" name="WordArt 13"/>
            <p:cNvSpPr>
              <a:spLocks noChangeArrowheads="1" noChangeShapeType="1" noTextEdit="1"/>
            </p:cNvSpPr>
            <p:nvPr/>
          </p:nvSpPr>
          <p:spPr bwMode="auto">
            <a:xfrm>
              <a:off x="3120" y="1920"/>
              <a:ext cx="288" cy="24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8080"/>
                  </a:solidFill>
                  <a:latin typeface="Arial Black" panose="020B0A04020102020204" pitchFamily="34" charset="0"/>
                </a:rPr>
                <a:t>17</a:t>
              </a:r>
            </a:p>
          </p:txBody>
        </p:sp>
      </p:grpSp>
      <p:grpSp>
        <p:nvGrpSpPr>
          <p:cNvPr id="98318" name="Group 14"/>
          <p:cNvGrpSpPr>
            <a:grpSpLocks/>
          </p:cNvGrpSpPr>
          <p:nvPr/>
        </p:nvGrpSpPr>
        <p:grpSpPr bwMode="auto">
          <a:xfrm>
            <a:off x="6705600" y="2286000"/>
            <a:ext cx="1905000" cy="2362200"/>
            <a:chOff x="4224" y="1824"/>
            <a:chExt cx="1200" cy="1488"/>
          </a:xfrm>
        </p:grpSpPr>
        <p:sp>
          <p:nvSpPr>
            <p:cNvPr id="108563" name="Rectangle 15"/>
            <p:cNvSpPr>
              <a:spLocks noChangeArrowheads="1"/>
            </p:cNvSpPr>
            <p:nvPr/>
          </p:nvSpPr>
          <p:spPr bwMode="auto">
            <a:xfrm>
              <a:off x="4224" y="1824"/>
              <a:ext cx="1200" cy="14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108564" name="WordArt 16"/>
            <p:cNvSpPr>
              <a:spLocks noChangeArrowheads="1" noChangeShapeType="1" noTextEdit="1"/>
            </p:cNvSpPr>
            <p:nvPr/>
          </p:nvSpPr>
          <p:spPr bwMode="auto">
            <a:xfrm>
              <a:off x="4560" y="2256"/>
              <a:ext cx="528" cy="6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3366"/>
                  </a:solidFill>
                  <a:latin typeface="Arial Black" panose="020B0A04020102020204" pitchFamily="34" charset="0"/>
                </a:rPr>
                <a:t>O</a:t>
              </a:r>
            </a:p>
          </p:txBody>
        </p:sp>
        <p:sp>
          <p:nvSpPr>
            <p:cNvPr id="108565" name="WordArt 17"/>
            <p:cNvSpPr>
              <a:spLocks noChangeArrowheads="1" noChangeShapeType="1" noTextEdit="1"/>
            </p:cNvSpPr>
            <p:nvPr/>
          </p:nvSpPr>
          <p:spPr bwMode="auto">
            <a:xfrm>
              <a:off x="5136" y="2976"/>
              <a:ext cx="192" cy="216"/>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8000"/>
                  </a:solidFill>
                  <a:latin typeface="Arial Black" panose="020B0A04020102020204" pitchFamily="34" charset="0"/>
                </a:rPr>
                <a:t>8</a:t>
              </a:r>
            </a:p>
          </p:txBody>
        </p:sp>
        <p:sp>
          <p:nvSpPr>
            <p:cNvPr id="108566" name="WordArt 18"/>
            <p:cNvSpPr>
              <a:spLocks noChangeArrowheads="1" noChangeShapeType="1" noTextEdit="1"/>
            </p:cNvSpPr>
            <p:nvPr/>
          </p:nvSpPr>
          <p:spPr bwMode="auto">
            <a:xfrm>
              <a:off x="5040" y="1920"/>
              <a:ext cx="288" cy="24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993366"/>
                  </a:solidFill>
                  <a:latin typeface="Arial Black" panose="020B0A04020102020204" pitchFamily="34" charset="0"/>
                </a:rPr>
                <a:t>18</a:t>
              </a:r>
            </a:p>
          </p:txBody>
        </p:sp>
      </p:grpSp>
      <p:grpSp>
        <p:nvGrpSpPr>
          <p:cNvPr id="98323" name="Group 19"/>
          <p:cNvGrpSpPr>
            <a:grpSpLocks/>
          </p:cNvGrpSpPr>
          <p:nvPr/>
        </p:nvGrpSpPr>
        <p:grpSpPr bwMode="auto">
          <a:xfrm>
            <a:off x="457200" y="4495800"/>
            <a:ext cx="8305800" cy="1279525"/>
            <a:chOff x="288" y="3216"/>
            <a:chExt cx="5232" cy="806"/>
          </a:xfrm>
        </p:grpSpPr>
        <p:sp>
          <p:nvSpPr>
            <p:cNvPr id="108559" name="Text Box 20"/>
            <p:cNvSpPr txBox="1">
              <a:spLocks noChangeArrowheads="1"/>
            </p:cNvSpPr>
            <p:nvPr/>
          </p:nvSpPr>
          <p:spPr bwMode="auto">
            <a:xfrm>
              <a:off x="288" y="3504"/>
              <a:ext cx="5232" cy="518"/>
            </a:xfrm>
            <a:prstGeom prst="rect">
              <a:avLst/>
            </a:prstGeom>
            <a:solidFill>
              <a:srgbClr val="990000"/>
            </a:solidFill>
            <a:ln>
              <a:noFill/>
            </a:ln>
            <a:effectLst/>
            <a:extLs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spcBef>
                  <a:spcPct val="50000"/>
                </a:spcBef>
              </a:pPr>
              <a:r>
                <a:rPr lang="en-GB" altLang="en-US"/>
                <a:t>Each isotope has 8 protons – </a:t>
              </a:r>
              <a:r>
                <a:rPr lang="en-GB" altLang="en-US" i="1"/>
                <a:t>if it didn’t then it just wouldn’t be oxygen any more.</a:t>
              </a:r>
            </a:p>
          </p:txBody>
        </p:sp>
        <p:sp>
          <p:nvSpPr>
            <p:cNvPr id="108560" name="AutoShape 21"/>
            <p:cNvSpPr>
              <a:spLocks noChangeArrowheads="1"/>
            </p:cNvSpPr>
            <p:nvPr/>
          </p:nvSpPr>
          <p:spPr bwMode="auto">
            <a:xfrm>
              <a:off x="1248" y="3216"/>
              <a:ext cx="192" cy="288"/>
            </a:xfrm>
            <a:prstGeom prst="upArrow">
              <a:avLst>
                <a:gd name="adj1" fmla="val 50000"/>
                <a:gd name="adj2" fmla="val 37500"/>
              </a:avLst>
            </a:prstGeom>
            <a:solidFill>
              <a:srgbClr val="990000"/>
            </a:solidFill>
            <a:ln>
              <a:noFill/>
            </a:ln>
            <a:effectLst/>
            <a:extLs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108561" name="AutoShape 22"/>
            <p:cNvSpPr>
              <a:spLocks noChangeArrowheads="1"/>
            </p:cNvSpPr>
            <p:nvPr/>
          </p:nvSpPr>
          <p:spPr bwMode="auto">
            <a:xfrm>
              <a:off x="5136" y="3216"/>
              <a:ext cx="192" cy="288"/>
            </a:xfrm>
            <a:prstGeom prst="upArrow">
              <a:avLst>
                <a:gd name="adj1" fmla="val 50000"/>
                <a:gd name="adj2" fmla="val 37500"/>
              </a:avLst>
            </a:prstGeom>
            <a:solidFill>
              <a:srgbClr val="990000"/>
            </a:solidFill>
            <a:ln>
              <a:noFill/>
            </a:ln>
            <a:effectLst/>
            <a:extLs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108562" name="AutoShape 23"/>
            <p:cNvSpPr>
              <a:spLocks noChangeArrowheads="1"/>
            </p:cNvSpPr>
            <p:nvPr/>
          </p:nvSpPr>
          <p:spPr bwMode="auto">
            <a:xfrm>
              <a:off x="3216" y="3216"/>
              <a:ext cx="192" cy="288"/>
            </a:xfrm>
            <a:prstGeom prst="upArrow">
              <a:avLst>
                <a:gd name="adj1" fmla="val 50000"/>
                <a:gd name="adj2" fmla="val 37500"/>
              </a:avLst>
            </a:prstGeom>
            <a:solidFill>
              <a:srgbClr val="990000"/>
            </a:solidFill>
            <a:ln>
              <a:noFill/>
            </a:ln>
            <a:effectLst/>
            <a:extLs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grpSp>
      <p:grpSp>
        <p:nvGrpSpPr>
          <p:cNvPr id="98328" name="Group 24"/>
          <p:cNvGrpSpPr>
            <a:grpSpLocks/>
          </p:cNvGrpSpPr>
          <p:nvPr/>
        </p:nvGrpSpPr>
        <p:grpSpPr bwMode="auto">
          <a:xfrm>
            <a:off x="457200" y="1219200"/>
            <a:ext cx="8305800" cy="1143000"/>
            <a:chOff x="288" y="1152"/>
            <a:chExt cx="5232" cy="720"/>
          </a:xfrm>
        </p:grpSpPr>
        <p:sp>
          <p:nvSpPr>
            <p:cNvPr id="108555" name="Text Box 25"/>
            <p:cNvSpPr txBox="1">
              <a:spLocks noChangeArrowheads="1"/>
            </p:cNvSpPr>
            <p:nvPr/>
          </p:nvSpPr>
          <p:spPr bwMode="auto">
            <a:xfrm>
              <a:off x="288" y="1152"/>
              <a:ext cx="5232" cy="518"/>
            </a:xfrm>
            <a:prstGeom prst="rect">
              <a:avLst/>
            </a:prstGeom>
            <a:solidFill>
              <a:srgbClr val="008080"/>
            </a:solidFill>
            <a:ln>
              <a:noFill/>
            </a:ln>
            <a:effectLst/>
            <a:extLs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algn="l" eaLnBrk="1" hangingPunct="1">
                <a:spcBef>
                  <a:spcPct val="50000"/>
                </a:spcBef>
              </a:pPr>
              <a:r>
                <a:rPr lang="en-GB" altLang="en-US" i="1"/>
                <a:t>Notice that the mass number is different.  How many neutrons does each isotope have?</a:t>
              </a:r>
            </a:p>
          </p:txBody>
        </p:sp>
        <p:sp>
          <p:nvSpPr>
            <p:cNvPr id="108556" name="AutoShape 26"/>
            <p:cNvSpPr>
              <a:spLocks noChangeArrowheads="1"/>
            </p:cNvSpPr>
            <p:nvPr/>
          </p:nvSpPr>
          <p:spPr bwMode="auto">
            <a:xfrm>
              <a:off x="1248" y="1632"/>
              <a:ext cx="192" cy="240"/>
            </a:xfrm>
            <a:prstGeom prst="downArrow">
              <a:avLst>
                <a:gd name="adj1" fmla="val 50000"/>
                <a:gd name="adj2" fmla="val 31250"/>
              </a:avLst>
            </a:prstGeom>
            <a:solidFill>
              <a:srgbClr val="008080"/>
            </a:solidFill>
            <a:ln>
              <a:noFill/>
            </a:ln>
            <a:effectLst/>
            <a:extLs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108557" name="AutoShape 27"/>
            <p:cNvSpPr>
              <a:spLocks noChangeArrowheads="1"/>
            </p:cNvSpPr>
            <p:nvPr/>
          </p:nvSpPr>
          <p:spPr bwMode="auto">
            <a:xfrm>
              <a:off x="3168" y="1632"/>
              <a:ext cx="192" cy="240"/>
            </a:xfrm>
            <a:prstGeom prst="downArrow">
              <a:avLst>
                <a:gd name="adj1" fmla="val 50000"/>
                <a:gd name="adj2" fmla="val 31250"/>
              </a:avLst>
            </a:prstGeom>
            <a:solidFill>
              <a:srgbClr val="008080"/>
            </a:solidFill>
            <a:ln>
              <a:noFill/>
            </a:ln>
            <a:effectLst/>
            <a:extLs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108558" name="AutoShape 28"/>
            <p:cNvSpPr>
              <a:spLocks noChangeArrowheads="1"/>
            </p:cNvSpPr>
            <p:nvPr/>
          </p:nvSpPr>
          <p:spPr bwMode="auto">
            <a:xfrm>
              <a:off x="5088" y="1632"/>
              <a:ext cx="192" cy="240"/>
            </a:xfrm>
            <a:prstGeom prst="downArrow">
              <a:avLst>
                <a:gd name="adj1" fmla="val 50000"/>
                <a:gd name="adj2" fmla="val 31250"/>
              </a:avLst>
            </a:prstGeom>
            <a:solidFill>
              <a:srgbClr val="008080"/>
            </a:solidFill>
            <a:ln>
              <a:noFill/>
            </a:ln>
            <a:effectLst/>
            <a:extLs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grpSp>
    </p:spTree>
    <p:extLst>
      <p:ext uri="{BB962C8B-B14F-4D97-AF65-F5344CB8AC3E}">
        <p14:creationId xmlns:p14="http://schemas.microsoft.com/office/powerpoint/2010/main" val="8325372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8307"/>
                                        </p:tgtEl>
                                        <p:attrNameLst>
                                          <p:attrName>style.visibility</p:attrName>
                                        </p:attrNameLst>
                                      </p:cBhvr>
                                      <p:to>
                                        <p:strVal val="visible"/>
                                      </p:to>
                                    </p:set>
                                    <p:animEffect transition="in" filter="wipe(left)">
                                      <p:cBhvr>
                                        <p:cTn id="7" dur="500"/>
                                        <p:tgtEl>
                                          <p:spTgt spid="983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8308"/>
                                        </p:tgtEl>
                                        <p:attrNameLst>
                                          <p:attrName>style.visibility</p:attrName>
                                        </p:attrNameLst>
                                      </p:cBhvr>
                                      <p:to>
                                        <p:strVal val="visible"/>
                                      </p:to>
                                    </p:set>
                                    <p:animEffect transition="in" filter="wipe(up)">
                                      <p:cBhvr>
                                        <p:cTn id="12" dur="500"/>
                                        <p:tgtEl>
                                          <p:spTgt spid="983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98313"/>
                                        </p:tgtEl>
                                        <p:attrNameLst>
                                          <p:attrName>style.visibility</p:attrName>
                                        </p:attrNameLst>
                                      </p:cBhvr>
                                      <p:to>
                                        <p:strVal val="visible"/>
                                      </p:to>
                                    </p:set>
                                    <p:animEffect transition="in" filter="wipe(up)">
                                      <p:cBhvr>
                                        <p:cTn id="17" dur="500"/>
                                        <p:tgtEl>
                                          <p:spTgt spid="983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98318"/>
                                        </p:tgtEl>
                                        <p:attrNameLst>
                                          <p:attrName>style.visibility</p:attrName>
                                        </p:attrNameLst>
                                      </p:cBhvr>
                                      <p:to>
                                        <p:strVal val="visible"/>
                                      </p:to>
                                    </p:set>
                                    <p:animEffect transition="in" filter="wipe(up)">
                                      <p:cBhvr>
                                        <p:cTn id="22" dur="500"/>
                                        <p:tgtEl>
                                          <p:spTgt spid="983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98323"/>
                                        </p:tgtEl>
                                        <p:attrNameLst>
                                          <p:attrName>style.visibility</p:attrName>
                                        </p:attrNameLst>
                                      </p:cBhvr>
                                      <p:to>
                                        <p:strVal val="visible"/>
                                      </p:to>
                                    </p:set>
                                    <p:animEffect transition="in" filter="wipe(down)">
                                      <p:cBhvr>
                                        <p:cTn id="27" dur="500"/>
                                        <p:tgtEl>
                                          <p:spTgt spid="9832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98328"/>
                                        </p:tgtEl>
                                        <p:attrNameLst>
                                          <p:attrName>style.visibility</p:attrName>
                                        </p:attrNameLst>
                                      </p:cBhvr>
                                      <p:to>
                                        <p:strVal val="visible"/>
                                      </p:to>
                                    </p:set>
                                    <p:animEffect transition="in" filter="wipe(up)">
                                      <p:cBhvr>
                                        <p:cTn id="32" dur="500"/>
                                        <p:tgtEl>
                                          <p:spTgt spid="98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7"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Date Placeholder 3"/>
          <p:cNvSpPr>
            <a:spLocks noGrp="1"/>
          </p:cNvSpPr>
          <p:nvPr>
            <p:ph type="dt" sz="half" idx="10"/>
          </p:nvPr>
        </p:nvSpPr>
        <p:spPr/>
        <p:txBody>
          <a:bodyPr/>
          <a:lstStyle/>
          <a:p>
            <a:fld id="{C3CFBED1-C86F-45AA-8558-C69C46E3AFBC}" type="datetime1">
              <a:rPr lang="en-GB" altLang="en-US"/>
              <a:pPr/>
              <a:t>02/06/2020</a:t>
            </a:fld>
            <a:endParaRPr lang="en-GB" altLang="en-US"/>
          </a:p>
        </p:txBody>
      </p:sp>
      <p:sp>
        <p:nvSpPr>
          <p:cNvPr id="219138" name="Rectangle 2"/>
          <p:cNvSpPr>
            <a:spLocks noGrp="1" noChangeArrowheads="1"/>
          </p:cNvSpPr>
          <p:nvPr>
            <p:ph type="title"/>
          </p:nvPr>
        </p:nvSpPr>
        <p:spPr/>
        <p:txBody>
          <a:bodyPr/>
          <a:lstStyle/>
          <a:p>
            <a:r>
              <a:rPr lang="en-GB" altLang="en-US"/>
              <a:t>Strange atomic masses</a:t>
            </a:r>
          </a:p>
        </p:txBody>
      </p:sp>
      <p:pic>
        <p:nvPicPr>
          <p:cNvPr id="219140" name="Picture 206" descr="Mendeleev"/>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1150" y="333375"/>
            <a:ext cx="121285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616" name="AutoShape 208"/>
          <p:cNvSpPr>
            <a:spLocks noChangeArrowheads="1"/>
          </p:cNvSpPr>
          <p:nvPr/>
        </p:nvSpPr>
        <p:spPr bwMode="auto">
          <a:xfrm>
            <a:off x="0" y="857250"/>
            <a:ext cx="7429500" cy="1347788"/>
          </a:xfrm>
          <a:prstGeom prst="wedgeRoundRectCallout">
            <a:avLst>
              <a:gd name="adj1" fmla="val 61347"/>
              <a:gd name="adj2" fmla="val -43759"/>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lgn="ctr"/>
            <a:r>
              <a:rPr lang="en-GB" altLang="en-US">
                <a:latin typeface="Comic Sans MS" panose="030F0702030302020204" pitchFamily="66" charset="0"/>
                <a:ea typeface="MS PGothic" panose="020B0600070205080204" pitchFamily="34" charset="-128"/>
              </a:rPr>
              <a:t>When you look at a periodic table sometimes the atomic mass is not a whole number.  Consider chlorine, for example:</a:t>
            </a:r>
          </a:p>
        </p:txBody>
      </p:sp>
      <p:grpSp>
        <p:nvGrpSpPr>
          <p:cNvPr id="219148" name="Group 12"/>
          <p:cNvGrpSpPr>
            <a:grpSpLocks/>
          </p:cNvGrpSpPr>
          <p:nvPr/>
        </p:nvGrpSpPr>
        <p:grpSpPr bwMode="auto">
          <a:xfrm>
            <a:off x="250825" y="2506663"/>
            <a:ext cx="1905000" cy="2362200"/>
            <a:chOff x="158" y="1525"/>
            <a:chExt cx="1200" cy="1488"/>
          </a:xfrm>
        </p:grpSpPr>
        <p:sp>
          <p:nvSpPr>
            <p:cNvPr id="10264" name="Rectangle 24"/>
            <p:cNvSpPr>
              <a:spLocks noChangeArrowheads="1"/>
            </p:cNvSpPr>
            <p:nvPr/>
          </p:nvSpPr>
          <p:spPr bwMode="auto">
            <a:xfrm>
              <a:off x="158" y="1525"/>
              <a:ext cx="1200" cy="14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219144" name="WordArt 25"/>
            <p:cNvSpPr>
              <a:spLocks noChangeArrowheads="1" noChangeShapeType="1" noTextEdit="1"/>
            </p:cNvSpPr>
            <p:nvPr/>
          </p:nvSpPr>
          <p:spPr bwMode="auto">
            <a:xfrm>
              <a:off x="398" y="1957"/>
              <a:ext cx="720" cy="600"/>
            </a:xfrm>
            <a:prstGeom prst="rect">
              <a:avLst/>
            </a:prstGeom>
          </p:spPr>
          <p:txBody>
            <a:bodyPr wrap="none" fromWordArt="1">
              <a:prstTxWarp prst="textPlain">
                <a:avLst>
                  <a:gd name="adj" fmla="val 50000"/>
                </a:avLst>
              </a:prstTxWarp>
            </a:bodyPr>
            <a:lstStyle/>
            <a:p>
              <a:pPr algn="ctr"/>
              <a:r>
                <a:rPr lang="en-GB" sz="3600" kern="10">
                  <a:ln w="9525">
                    <a:solidFill>
                      <a:srgbClr val="000000"/>
                    </a:solidFill>
                    <a:round/>
                    <a:headEnd/>
                    <a:tailEnd/>
                  </a:ln>
                  <a:solidFill>
                    <a:srgbClr val="003366"/>
                  </a:solidFill>
                  <a:latin typeface="Arial Black" panose="020B0A04020102020204" pitchFamily="34" charset="0"/>
                </a:rPr>
                <a:t>Cl</a:t>
              </a:r>
            </a:p>
          </p:txBody>
        </p:sp>
        <p:sp>
          <p:nvSpPr>
            <p:cNvPr id="219145" name="WordArt 26"/>
            <p:cNvSpPr>
              <a:spLocks noChangeArrowheads="1" noChangeShapeType="1" noTextEdit="1"/>
            </p:cNvSpPr>
            <p:nvPr/>
          </p:nvSpPr>
          <p:spPr bwMode="auto">
            <a:xfrm>
              <a:off x="974" y="2677"/>
              <a:ext cx="288" cy="216"/>
            </a:xfrm>
            <a:prstGeom prst="rect">
              <a:avLst/>
            </a:prstGeom>
          </p:spPr>
          <p:txBody>
            <a:bodyPr wrap="none" fromWordArt="1">
              <a:prstTxWarp prst="textPlain">
                <a:avLst>
                  <a:gd name="adj" fmla="val 50000"/>
                </a:avLst>
              </a:prstTxWarp>
            </a:bodyPr>
            <a:lstStyle/>
            <a:p>
              <a:pPr algn="ctr"/>
              <a:r>
                <a:rPr lang="en-GB" sz="3600" kern="10">
                  <a:ln w="9525">
                    <a:solidFill>
                      <a:srgbClr val="000000"/>
                    </a:solidFill>
                    <a:round/>
                    <a:headEnd/>
                    <a:tailEnd/>
                  </a:ln>
                  <a:solidFill>
                    <a:srgbClr val="008000"/>
                  </a:solidFill>
                  <a:latin typeface="Arial Black" panose="020B0A04020102020204" pitchFamily="34" charset="0"/>
                </a:rPr>
                <a:t>17</a:t>
              </a:r>
            </a:p>
          </p:txBody>
        </p:sp>
        <p:sp>
          <p:nvSpPr>
            <p:cNvPr id="219146" name="WordArt 27"/>
            <p:cNvSpPr>
              <a:spLocks noChangeArrowheads="1" noChangeShapeType="1" noTextEdit="1"/>
            </p:cNvSpPr>
            <p:nvPr/>
          </p:nvSpPr>
          <p:spPr bwMode="auto">
            <a:xfrm>
              <a:off x="793" y="1616"/>
              <a:ext cx="470" cy="240"/>
            </a:xfrm>
            <a:prstGeom prst="rect">
              <a:avLst/>
            </a:prstGeom>
          </p:spPr>
          <p:txBody>
            <a:bodyPr wrap="none" fromWordArt="1">
              <a:prstTxWarp prst="textPlain">
                <a:avLst>
                  <a:gd name="adj" fmla="val 50000"/>
                </a:avLst>
              </a:prstTxWarp>
            </a:bodyPr>
            <a:lstStyle/>
            <a:p>
              <a:pPr algn="ctr"/>
              <a:r>
                <a:rPr lang="en-GB" sz="3600" kern="10">
                  <a:ln w="9525">
                    <a:solidFill>
                      <a:srgbClr val="000000"/>
                    </a:solidFill>
                    <a:round/>
                    <a:headEnd/>
                    <a:tailEnd/>
                  </a:ln>
                  <a:solidFill>
                    <a:srgbClr val="800000"/>
                  </a:solidFill>
                  <a:latin typeface="Arial Black" panose="020B0A04020102020204" pitchFamily="34" charset="0"/>
                </a:rPr>
                <a:t>35.5</a:t>
              </a:r>
            </a:p>
          </p:txBody>
        </p:sp>
      </p:grpSp>
      <p:sp>
        <p:nvSpPr>
          <p:cNvPr id="219149" name="Text Box 13"/>
          <p:cNvSpPr txBox="1">
            <a:spLocks noChangeArrowheads="1"/>
          </p:cNvSpPr>
          <p:nvPr/>
        </p:nvSpPr>
        <p:spPr bwMode="auto">
          <a:xfrm>
            <a:off x="2268538" y="2420938"/>
            <a:ext cx="68754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99FF99"/>
                </a:solidFill>
              </a:rPr>
              <a:t>How can an atom have a decimal for its mass?</a:t>
            </a:r>
          </a:p>
        </p:txBody>
      </p:sp>
      <p:sp>
        <p:nvSpPr>
          <p:cNvPr id="219150" name="Text Box 14"/>
          <p:cNvSpPr txBox="1">
            <a:spLocks noChangeArrowheads="1"/>
          </p:cNvSpPr>
          <p:nvPr/>
        </p:nvSpPr>
        <p:spPr bwMode="auto">
          <a:xfrm>
            <a:off x="2268538" y="2924175"/>
            <a:ext cx="6875462"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CCCCFF"/>
                </a:solidFill>
              </a:rPr>
              <a:t>This is because out of every four naturally occurring chlorine atoms, 3 have a mass of 35 and 1 has a mass of 37 so the average atomic mass is:</a:t>
            </a:r>
          </a:p>
        </p:txBody>
      </p:sp>
      <p:sp>
        <p:nvSpPr>
          <p:cNvPr id="219151" name="Text Box 15"/>
          <p:cNvSpPr txBox="1">
            <a:spLocks noChangeArrowheads="1"/>
          </p:cNvSpPr>
          <p:nvPr/>
        </p:nvSpPr>
        <p:spPr bwMode="auto">
          <a:xfrm>
            <a:off x="2339975" y="4508500"/>
            <a:ext cx="6804025" cy="457200"/>
          </a:xfrm>
          <a:prstGeom prst="rect">
            <a:avLst/>
          </a:prstGeom>
          <a:solidFill>
            <a:srgbClr val="FF0000"/>
          </a:solidFill>
          <a:ln>
            <a:noFill/>
          </a:ln>
          <a:effectLst/>
          <a:extLs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t>(3 x 35 + 1 x 37) / 4 = 35.5 </a:t>
            </a:r>
          </a:p>
        </p:txBody>
      </p:sp>
      <p:sp>
        <p:nvSpPr>
          <p:cNvPr id="219152" name="Text Box 16"/>
          <p:cNvSpPr txBox="1">
            <a:spLocks noChangeArrowheads="1"/>
          </p:cNvSpPr>
          <p:nvPr/>
        </p:nvSpPr>
        <p:spPr bwMode="auto">
          <a:xfrm>
            <a:off x="0" y="5229225"/>
            <a:ext cx="9144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CC99"/>
                </a:solidFill>
              </a:rPr>
              <a:t>Q. Magnesium is often found as </a:t>
            </a:r>
            <a:r>
              <a:rPr lang="en-GB" altLang="en-US" baseline="30000">
                <a:solidFill>
                  <a:srgbClr val="FFCC99"/>
                </a:solidFill>
              </a:rPr>
              <a:t>24</a:t>
            </a:r>
            <a:r>
              <a:rPr lang="en-GB" altLang="en-US">
                <a:solidFill>
                  <a:srgbClr val="FFCC99"/>
                </a:solidFill>
              </a:rPr>
              <a:t>Mg or </a:t>
            </a:r>
            <a:r>
              <a:rPr lang="en-GB" altLang="en-US" baseline="30000">
                <a:solidFill>
                  <a:srgbClr val="FFCC99"/>
                </a:solidFill>
              </a:rPr>
              <a:t>26</a:t>
            </a:r>
            <a:r>
              <a:rPr lang="en-GB" altLang="en-US">
                <a:solidFill>
                  <a:srgbClr val="FFCC99"/>
                </a:solidFill>
              </a:rPr>
              <a:t>Mg.  If 79% of magnesium is </a:t>
            </a:r>
            <a:r>
              <a:rPr lang="en-GB" altLang="en-US" baseline="30000">
                <a:solidFill>
                  <a:srgbClr val="FFCC99"/>
                </a:solidFill>
              </a:rPr>
              <a:t>24</a:t>
            </a:r>
            <a:r>
              <a:rPr lang="en-GB" altLang="en-US">
                <a:solidFill>
                  <a:srgbClr val="FFCC99"/>
                </a:solidFill>
              </a:rPr>
              <a:t>Mg what is the average atomic mass?</a:t>
            </a:r>
          </a:p>
        </p:txBody>
      </p:sp>
      <p:sp>
        <p:nvSpPr>
          <p:cNvPr id="219153" name="Text Box 17"/>
          <p:cNvSpPr txBox="1">
            <a:spLocks noChangeArrowheads="1"/>
          </p:cNvSpPr>
          <p:nvPr/>
        </p:nvSpPr>
        <p:spPr bwMode="auto">
          <a:xfrm>
            <a:off x="1116013" y="6237288"/>
            <a:ext cx="6804025" cy="457200"/>
          </a:xfrm>
          <a:prstGeom prst="rect">
            <a:avLst/>
          </a:prstGeom>
          <a:solidFill>
            <a:srgbClr val="FF0000"/>
          </a:solidFill>
          <a:ln>
            <a:noFill/>
          </a:ln>
          <a:effectLst/>
          <a:extLs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t>(79 x 24 + 21 x 26) / 100 = 24.4 </a:t>
            </a:r>
          </a:p>
        </p:txBody>
      </p:sp>
    </p:spTree>
    <p:extLst>
      <p:ext uri="{BB962C8B-B14F-4D97-AF65-F5344CB8AC3E}">
        <p14:creationId xmlns:p14="http://schemas.microsoft.com/office/powerpoint/2010/main" val="20740553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7616">
                                            <p:bg/>
                                          </p:spTgt>
                                        </p:tgtEl>
                                        <p:attrNameLst>
                                          <p:attrName>style.visibility</p:attrName>
                                        </p:attrNameLst>
                                      </p:cBhvr>
                                      <p:to>
                                        <p:strVal val="visible"/>
                                      </p:to>
                                    </p:set>
                                    <p:animEffect transition="in" filter="wipe(right)">
                                      <p:cBhvr>
                                        <p:cTn id="7" dur="500"/>
                                        <p:tgtEl>
                                          <p:spTgt spid="17616">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17616">
                                            <p:txEl>
                                              <p:pRg st="0" end="0"/>
                                            </p:txEl>
                                          </p:spTgt>
                                        </p:tgtEl>
                                        <p:attrNameLst>
                                          <p:attrName>style.visibility</p:attrName>
                                        </p:attrNameLst>
                                      </p:cBhvr>
                                      <p:to>
                                        <p:strVal val="visible"/>
                                      </p:to>
                                    </p:set>
                                    <p:animEffect transition="in" filter="wipe(right)">
                                      <p:cBhvr>
                                        <p:cTn id="12" dur="500"/>
                                        <p:tgtEl>
                                          <p:spTgt spid="1761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19148"/>
                                        </p:tgtEl>
                                        <p:attrNameLst>
                                          <p:attrName>style.visibility</p:attrName>
                                        </p:attrNameLst>
                                      </p:cBhvr>
                                      <p:to>
                                        <p:strVal val="visible"/>
                                      </p:to>
                                    </p:set>
                                    <p:animEffect transition="in" filter="wipe(up)">
                                      <p:cBhvr>
                                        <p:cTn id="17" dur="500"/>
                                        <p:tgtEl>
                                          <p:spTgt spid="2191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9149"/>
                                        </p:tgtEl>
                                        <p:attrNameLst>
                                          <p:attrName>style.visibility</p:attrName>
                                        </p:attrNameLst>
                                      </p:cBhvr>
                                      <p:to>
                                        <p:strVal val="visible"/>
                                      </p:to>
                                    </p:set>
                                    <p:animEffect transition="in" filter="wipe(left)">
                                      <p:cBhvr>
                                        <p:cTn id="22" dur="500"/>
                                        <p:tgtEl>
                                          <p:spTgt spid="21914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9150"/>
                                        </p:tgtEl>
                                        <p:attrNameLst>
                                          <p:attrName>style.visibility</p:attrName>
                                        </p:attrNameLst>
                                      </p:cBhvr>
                                      <p:to>
                                        <p:strVal val="visible"/>
                                      </p:to>
                                    </p:set>
                                    <p:animEffect transition="in" filter="wipe(left)">
                                      <p:cBhvr>
                                        <p:cTn id="27" dur="500"/>
                                        <p:tgtEl>
                                          <p:spTgt spid="21915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9151"/>
                                        </p:tgtEl>
                                        <p:attrNameLst>
                                          <p:attrName>style.visibility</p:attrName>
                                        </p:attrNameLst>
                                      </p:cBhvr>
                                      <p:to>
                                        <p:strVal val="visible"/>
                                      </p:to>
                                    </p:set>
                                    <p:animEffect transition="in" filter="wipe(left)">
                                      <p:cBhvr>
                                        <p:cTn id="32" dur="500"/>
                                        <p:tgtEl>
                                          <p:spTgt spid="21915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9152"/>
                                        </p:tgtEl>
                                        <p:attrNameLst>
                                          <p:attrName>style.visibility</p:attrName>
                                        </p:attrNameLst>
                                      </p:cBhvr>
                                      <p:to>
                                        <p:strVal val="visible"/>
                                      </p:to>
                                    </p:set>
                                    <p:animEffect transition="in" filter="wipe(left)">
                                      <p:cBhvr>
                                        <p:cTn id="37" dur="500"/>
                                        <p:tgtEl>
                                          <p:spTgt spid="21915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19153"/>
                                        </p:tgtEl>
                                        <p:attrNameLst>
                                          <p:attrName>style.visibility</p:attrName>
                                        </p:attrNameLst>
                                      </p:cBhvr>
                                      <p:to>
                                        <p:strVal val="visible"/>
                                      </p:to>
                                    </p:set>
                                    <p:animEffect transition="in" filter="wipe(left)">
                                      <p:cBhvr>
                                        <p:cTn id="42" dur="500"/>
                                        <p:tgtEl>
                                          <p:spTgt spid="219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6" grpId="0" build="p" animBg="1" autoUpdateAnimBg="0"/>
      <p:bldP spid="219149" grpId="0"/>
      <p:bldP spid="219150" grpId="0"/>
      <p:bldP spid="219151" grpId="0" animBg="1"/>
      <p:bldP spid="219152" grpId="0"/>
      <p:bldP spid="21915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3"/>
          <p:cNvSpPr>
            <a:spLocks noGrp="1"/>
          </p:cNvSpPr>
          <p:nvPr>
            <p:ph type="dt" sz="quarter" idx="10"/>
          </p:nvPr>
        </p:nvSpPr>
        <p:spPr/>
        <p:txBody>
          <a:bodyPr/>
          <a:lstStyle>
            <a:lvl1pPr eaLnBrk="0" hangingPunct="0">
              <a:defRPr sz="2400">
                <a:solidFill>
                  <a:schemeClr val="bg1"/>
                </a:solidFill>
                <a:latin typeface="Comic Sans MS" pitchFamily="66" charset="0"/>
                <a:ea typeface="ＭＳ Ｐゴシック" pitchFamily="34" charset="-128"/>
              </a:defRPr>
            </a:lvl1pPr>
            <a:lvl2pPr marL="742950" indent="-285750" eaLnBrk="0" hangingPunct="0">
              <a:defRPr sz="2400">
                <a:solidFill>
                  <a:schemeClr val="bg1"/>
                </a:solidFill>
                <a:latin typeface="Comic Sans MS" pitchFamily="66" charset="0"/>
                <a:ea typeface="ＭＳ Ｐゴシック" pitchFamily="34" charset="-128"/>
              </a:defRPr>
            </a:lvl2pPr>
            <a:lvl3pPr marL="1143000" indent="-228600" eaLnBrk="0" hangingPunct="0">
              <a:defRPr sz="2400">
                <a:solidFill>
                  <a:schemeClr val="bg1"/>
                </a:solidFill>
                <a:latin typeface="Comic Sans MS" pitchFamily="66" charset="0"/>
                <a:ea typeface="ＭＳ Ｐゴシック" pitchFamily="34" charset="-128"/>
              </a:defRPr>
            </a:lvl3pPr>
            <a:lvl4pPr marL="1600200" indent="-228600" eaLnBrk="0" hangingPunct="0">
              <a:defRPr sz="2400">
                <a:solidFill>
                  <a:schemeClr val="bg1"/>
                </a:solidFill>
                <a:latin typeface="Comic Sans MS" pitchFamily="66" charset="0"/>
                <a:ea typeface="ＭＳ Ｐゴシック" pitchFamily="34" charset="-128"/>
              </a:defRPr>
            </a:lvl4pPr>
            <a:lvl5pPr marL="2057400" indent="-228600" eaLnBrk="0" hangingPunct="0">
              <a:defRPr sz="2400">
                <a:solidFill>
                  <a:schemeClr val="bg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9pPr>
          </a:lstStyle>
          <a:p>
            <a:pPr eaLnBrk="1" hangingPunct="1">
              <a:defRPr/>
            </a:pPr>
            <a:fld id="{ACBE991D-A5F6-47BB-B4E5-7B8B2D02900A}" type="datetime1">
              <a:rPr lang="en-GB" sz="1800" smtClean="0">
                <a:solidFill>
                  <a:schemeClr val="folHlink"/>
                </a:solidFill>
              </a:rPr>
              <a:pPr eaLnBrk="1" hangingPunct="1">
                <a:defRPr/>
              </a:pPr>
              <a:t>02/06/2020</a:t>
            </a:fld>
            <a:endParaRPr lang="en-GB" sz="1800">
              <a:solidFill>
                <a:schemeClr val="folHlink"/>
              </a:solidFill>
            </a:endParaRPr>
          </a:p>
        </p:txBody>
      </p:sp>
      <p:sp>
        <p:nvSpPr>
          <p:cNvPr id="77826" name="Rectangle 2"/>
          <p:cNvSpPr>
            <a:spLocks noGrp="1" noChangeArrowheads="1"/>
          </p:cNvSpPr>
          <p:nvPr>
            <p:ph type="title"/>
          </p:nvPr>
        </p:nvSpPr>
        <p:spPr/>
        <p:txBody>
          <a:bodyPr/>
          <a:lstStyle/>
          <a:p>
            <a:pPr eaLnBrk="1" hangingPunct="1">
              <a:defRPr/>
            </a:pPr>
            <a:r>
              <a:rPr lang="en-GB"/>
              <a:t>Periodic Table Introduction</a:t>
            </a:r>
          </a:p>
        </p:txBody>
      </p:sp>
      <p:pic>
        <p:nvPicPr>
          <p:cNvPr id="77829" name="Picture 5" descr="gold ba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1628775"/>
            <a:ext cx="2828925" cy="214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1" name="Picture 7" descr="Silver Coi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363" y="1700213"/>
            <a:ext cx="2665412" cy="232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3" name="Picture 9" descr="Sulphu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4111625"/>
            <a:ext cx="3095625" cy="231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7" name="Picture 13" descr="gasdt_oxygen-o2">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08625" y="4410075"/>
            <a:ext cx="2447925"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a:spLocks noChangeArrowheads="1"/>
          </p:cNvSpPr>
          <p:nvPr/>
        </p:nvSpPr>
        <p:spPr bwMode="auto">
          <a:xfrm>
            <a:off x="179388" y="836613"/>
            <a:ext cx="8713787" cy="46196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400">
                <a:solidFill>
                  <a:schemeClr val="bg1"/>
                </a:solidFill>
                <a:latin typeface="Comic Sans MS" panose="030F0702030302020204" pitchFamily="66" charset="0"/>
                <a:ea typeface="ＭＳ Ｐゴシック" pitchFamily="34" charset="-128"/>
              </a:defRPr>
            </a:lvl1pPr>
            <a:lvl2pPr marL="742950" indent="-285750" eaLnBrk="0" hangingPunct="0">
              <a:spcBef>
                <a:spcPct val="20000"/>
              </a:spcBef>
              <a:buChar char="–"/>
              <a:defRPr sz="2400">
                <a:solidFill>
                  <a:schemeClr val="bg1"/>
                </a:solidFill>
                <a:latin typeface="Comic Sans MS" panose="030F0702030302020204" pitchFamily="66" charset="0"/>
                <a:ea typeface="ＭＳ Ｐゴシック" pitchFamily="34" charset="-128"/>
              </a:defRPr>
            </a:lvl2pPr>
            <a:lvl3pPr marL="1143000" indent="-228600" eaLnBrk="0" hangingPunct="0">
              <a:spcBef>
                <a:spcPct val="20000"/>
              </a:spcBef>
              <a:buChar char="•"/>
              <a:defRPr sz="2400">
                <a:solidFill>
                  <a:schemeClr val="bg1"/>
                </a:solidFill>
                <a:latin typeface="Comic Sans MS" panose="030F0702030302020204" pitchFamily="66" charset="0"/>
                <a:ea typeface="ＭＳ Ｐゴシック" pitchFamily="34" charset="-128"/>
              </a:defRPr>
            </a:lvl3pPr>
            <a:lvl4pPr marL="1600200" indent="-228600" eaLnBrk="0" hangingPunct="0">
              <a:spcBef>
                <a:spcPct val="20000"/>
              </a:spcBef>
              <a:buChar char="–"/>
              <a:defRPr sz="2400">
                <a:solidFill>
                  <a:schemeClr val="bg1"/>
                </a:solidFill>
                <a:latin typeface="Comic Sans MS" panose="030F0702030302020204" pitchFamily="66" charset="0"/>
                <a:ea typeface="ＭＳ Ｐゴシック" pitchFamily="34" charset="-128"/>
              </a:defRPr>
            </a:lvl4pPr>
            <a:lvl5pPr marL="2057400" indent="-228600" eaLnBrk="0" hangingPunct="0">
              <a:spcBef>
                <a:spcPct val="20000"/>
              </a:spcBef>
              <a:buChar char="»"/>
              <a:defRPr sz="2400">
                <a:solidFill>
                  <a:schemeClr val="bg1"/>
                </a:solidFill>
                <a:latin typeface="Comic Sans MS" panose="030F0702030302020204" pitchFamily="66" charset="0"/>
                <a:ea typeface="ＭＳ Ｐゴシック" pitchFamily="34" charset="-128"/>
              </a:defRPr>
            </a:lvl5pPr>
            <a:lvl6pPr marL="2514600" indent="-228600" eaLnBrk="0" fontAlgn="base" hangingPunct="0">
              <a:spcBef>
                <a:spcPct val="20000"/>
              </a:spcBef>
              <a:spcAft>
                <a:spcPct val="0"/>
              </a:spcAft>
              <a:buChar char="»"/>
              <a:defRPr sz="2400">
                <a:solidFill>
                  <a:schemeClr val="bg1"/>
                </a:solidFill>
                <a:latin typeface="Comic Sans MS" panose="030F0702030302020204" pitchFamily="66" charset="0"/>
                <a:ea typeface="ＭＳ Ｐゴシック" pitchFamily="34" charset="-128"/>
              </a:defRPr>
            </a:lvl6pPr>
            <a:lvl7pPr marL="2971800" indent="-228600" eaLnBrk="0" fontAlgn="base" hangingPunct="0">
              <a:spcBef>
                <a:spcPct val="20000"/>
              </a:spcBef>
              <a:spcAft>
                <a:spcPct val="0"/>
              </a:spcAft>
              <a:buChar char="»"/>
              <a:defRPr sz="2400">
                <a:solidFill>
                  <a:schemeClr val="bg1"/>
                </a:solidFill>
                <a:latin typeface="Comic Sans MS" panose="030F0702030302020204" pitchFamily="66" charset="0"/>
                <a:ea typeface="ＭＳ Ｐゴシック" pitchFamily="34" charset="-128"/>
              </a:defRPr>
            </a:lvl7pPr>
            <a:lvl8pPr marL="3429000" indent="-228600" eaLnBrk="0" fontAlgn="base" hangingPunct="0">
              <a:spcBef>
                <a:spcPct val="20000"/>
              </a:spcBef>
              <a:spcAft>
                <a:spcPct val="0"/>
              </a:spcAft>
              <a:buChar char="»"/>
              <a:defRPr sz="2400">
                <a:solidFill>
                  <a:schemeClr val="bg1"/>
                </a:solidFill>
                <a:latin typeface="Comic Sans MS" panose="030F0702030302020204" pitchFamily="66" charset="0"/>
                <a:ea typeface="ＭＳ Ｐゴシック" pitchFamily="34" charset="-128"/>
              </a:defRPr>
            </a:lvl8pPr>
            <a:lvl9pPr marL="3886200" indent="-228600" eaLnBrk="0" fontAlgn="base" hangingPunct="0">
              <a:spcBef>
                <a:spcPct val="20000"/>
              </a:spcBef>
              <a:spcAft>
                <a:spcPct val="0"/>
              </a:spcAft>
              <a:buChar char="»"/>
              <a:defRPr sz="2400">
                <a:solidFill>
                  <a:schemeClr val="bg1"/>
                </a:solidFill>
                <a:latin typeface="Comic Sans MS" panose="030F0702030302020204" pitchFamily="66" charset="0"/>
                <a:ea typeface="ＭＳ Ｐゴシック" pitchFamily="34" charset="-128"/>
              </a:defRPr>
            </a:lvl9pPr>
          </a:lstStyle>
          <a:p>
            <a:pPr algn="ctr" eaLnBrk="1" hangingPunct="1">
              <a:spcBef>
                <a:spcPct val="0"/>
              </a:spcBef>
              <a:buFontTx/>
              <a:buNone/>
            </a:pPr>
            <a:r>
              <a:rPr lang="en-US" altLang="en-US"/>
              <a:t>How would you arrange these elements into groups?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7829"/>
                                        </p:tgtEl>
                                        <p:attrNameLst>
                                          <p:attrName>style.visibility</p:attrName>
                                        </p:attrNameLst>
                                      </p:cBhvr>
                                      <p:to>
                                        <p:strVal val="visible"/>
                                      </p:to>
                                    </p:set>
                                    <p:animEffect transition="in" filter="wipe(up)">
                                      <p:cBhvr>
                                        <p:cTn id="12" dur="500"/>
                                        <p:tgtEl>
                                          <p:spTgt spid="778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7831"/>
                                        </p:tgtEl>
                                        <p:attrNameLst>
                                          <p:attrName>style.visibility</p:attrName>
                                        </p:attrNameLst>
                                      </p:cBhvr>
                                      <p:to>
                                        <p:strVal val="visible"/>
                                      </p:to>
                                    </p:set>
                                    <p:animEffect transition="in" filter="wipe(up)">
                                      <p:cBhvr>
                                        <p:cTn id="17" dur="500"/>
                                        <p:tgtEl>
                                          <p:spTgt spid="7783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77833"/>
                                        </p:tgtEl>
                                        <p:attrNameLst>
                                          <p:attrName>style.visibility</p:attrName>
                                        </p:attrNameLst>
                                      </p:cBhvr>
                                      <p:to>
                                        <p:strVal val="visible"/>
                                      </p:to>
                                    </p:set>
                                    <p:animEffect transition="in" filter="wipe(up)">
                                      <p:cBhvr>
                                        <p:cTn id="22" dur="500"/>
                                        <p:tgtEl>
                                          <p:spTgt spid="7783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77837"/>
                                        </p:tgtEl>
                                        <p:attrNameLst>
                                          <p:attrName>style.visibility</p:attrName>
                                        </p:attrNameLst>
                                      </p:cBhvr>
                                      <p:to>
                                        <p:strVal val="visible"/>
                                      </p:to>
                                    </p:set>
                                    <p:animEffect transition="in" filter="wipe(up)">
                                      <p:cBhvr>
                                        <p:cTn id="27" dur="500"/>
                                        <p:tgtEl>
                                          <p:spTgt spid="7783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0" presetClass="path" presetSubtype="0" accel="50000" decel="50000" fill="hold" nodeType="clickEffect">
                                  <p:stCondLst>
                                    <p:cond delay="0"/>
                                  </p:stCondLst>
                                  <p:childTnLst>
                                    <p:animMotion origin="layout" path="M 3.61111E-6 7.40741E-7 L -0.13386 -0.10486 " pathEditMode="relative" ptsTypes="AA">
                                      <p:cBhvr>
                                        <p:cTn id="31" dur="2000" fill="hold"/>
                                        <p:tgtEl>
                                          <p:spTgt spid="77829"/>
                                        </p:tgtEl>
                                        <p:attrNameLst>
                                          <p:attrName>ppt_x</p:attrName>
                                          <p:attrName>ppt_y</p:attrName>
                                        </p:attrNameLst>
                                      </p:cBhvr>
                                    </p:animMotion>
                                  </p:childTnLst>
                                </p:cTn>
                              </p:par>
                            </p:childTnLst>
                          </p:cTn>
                        </p:par>
                      </p:childTnLst>
                    </p:cTn>
                  </p:par>
                  <p:par>
                    <p:cTn id="32" fill="hold" nodeType="clickPar">
                      <p:stCondLst>
                        <p:cond delay="indefinite"/>
                      </p:stCondLst>
                      <p:childTnLst>
                        <p:par>
                          <p:cTn id="33" fill="hold" nodeType="withGroup">
                            <p:stCondLst>
                              <p:cond delay="0"/>
                            </p:stCondLst>
                            <p:childTnLst>
                              <p:par>
                                <p:cTn id="34" presetID="0" presetClass="path" presetSubtype="0" accel="50000" decel="50000" fill="hold" nodeType="clickEffect">
                                  <p:stCondLst>
                                    <p:cond delay="0"/>
                                  </p:stCondLst>
                                  <p:childTnLst>
                                    <p:animMotion origin="layout" path="M -3.05556E-6 7.40741E-7 L -0.47257 7.40741E-7 " pathEditMode="relative" ptsTypes="AA">
                                      <p:cBhvr>
                                        <p:cTn id="35" dur="2000" fill="hold"/>
                                        <p:tgtEl>
                                          <p:spTgt spid="77831"/>
                                        </p:tgtEl>
                                        <p:attrNameLst>
                                          <p:attrName>ppt_x</p:attrName>
                                          <p:attrName>ppt_y</p:attrName>
                                        </p:attrNameLst>
                                      </p:cBhvr>
                                    </p:animMotion>
                                  </p:childTnLst>
                                </p:cTn>
                              </p:par>
                            </p:childTnLst>
                          </p:cTn>
                        </p:par>
                      </p:childTnLst>
                    </p:cTn>
                  </p:par>
                  <p:par>
                    <p:cTn id="36" fill="hold" nodeType="clickPar">
                      <p:stCondLst>
                        <p:cond delay="indefinite"/>
                      </p:stCondLst>
                      <p:childTnLst>
                        <p:par>
                          <p:cTn id="37" fill="hold" nodeType="withGroup">
                            <p:stCondLst>
                              <p:cond delay="0"/>
                            </p:stCondLst>
                            <p:childTnLst>
                              <p:par>
                                <p:cTn id="38" presetID="0" presetClass="path" presetSubtype="0" accel="50000" decel="50000" fill="hold" nodeType="clickEffect">
                                  <p:stCondLst>
                                    <p:cond delay="0"/>
                                  </p:stCondLst>
                                  <p:childTnLst>
                                    <p:animMotion origin="layout" path="M 4.44444E-6 -1.48148E-6 L 0.43316 -0.45139 " pathEditMode="relative" ptsTypes="AA">
                                      <p:cBhvr>
                                        <p:cTn id="39" dur="2000" fill="hold"/>
                                        <p:tgtEl>
                                          <p:spTgt spid="77833"/>
                                        </p:tgtEl>
                                        <p:attrNameLst>
                                          <p:attrName>ppt_x</p:attrName>
                                          <p:attrName>ppt_y</p:attrName>
                                        </p:attrNameLst>
                                      </p:cBhvr>
                                    </p:animMotion>
                                  </p:childTnLst>
                                </p:cTn>
                              </p:par>
                            </p:childTnLst>
                          </p:cTn>
                        </p:par>
                      </p:childTnLst>
                    </p:cTn>
                  </p:par>
                  <p:par>
                    <p:cTn id="40" fill="hold" nodeType="clickPar">
                      <p:stCondLst>
                        <p:cond delay="indefinite"/>
                      </p:stCondLst>
                      <p:childTnLst>
                        <p:par>
                          <p:cTn id="41" fill="hold" nodeType="withGroup">
                            <p:stCondLst>
                              <p:cond delay="0"/>
                            </p:stCondLst>
                            <p:childTnLst>
                              <p:par>
                                <p:cTn id="42" presetID="0" presetClass="path" presetSubtype="0" accel="50000" decel="50000" fill="hold" nodeType="clickEffect">
                                  <p:stCondLst>
                                    <p:cond delay="0"/>
                                  </p:stCondLst>
                                  <p:childTnLst>
                                    <p:animMotion origin="layout" path="M 6.11111E-6 -3.7037E-7 L 0.12605 0.02106 " pathEditMode="relative" ptsTypes="AA">
                                      <p:cBhvr>
                                        <p:cTn id="43" dur="2000" fill="hold"/>
                                        <p:tgtEl>
                                          <p:spTgt spid="7783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ate Placeholder 1"/>
          <p:cNvSpPr>
            <a:spLocks noGrp="1"/>
          </p:cNvSpPr>
          <p:nvPr>
            <p:ph type="dt" sz="half" idx="10"/>
          </p:nvPr>
        </p:nvSpPr>
        <p:spPr/>
        <p:txBody>
          <a:bodyPr/>
          <a:lstStyle/>
          <a:p>
            <a:fld id="{60430A2F-CAC3-40D8-95A9-BFD8D9771002}" type="datetime1">
              <a:rPr lang="en-GB" altLang="en-US"/>
              <a:pPr/>
              <a:t>02/06/2020</a:t>
            </a:fld>
            <a:endParaRPr lang="en-GB" altLang="en-US"/>
          </a:p>
        </p:txBody>
      </p:sp>
      <p:sp>
        <p:nvSpPr>
          <p:cNvPr id="219" name="Date Placeholder 2"/>
          <p:cNvSpPr txBox="1">
            <a:spLocks noGrp="1"/>
          </p:cNvSpPr>
          <p:nvPr/>
        </p:nvSpPr>
        <p:spPr bwMode="auto">
          <a:xfrm>
            <a:off x="7239000" y="0"/>
            <a:ext cx="1905000" cy="457200"/>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lgn="r"/>
            <a:fld id="{79EEDD0A-86A7-4EAC-B7C6-437F4695E955}" type="datetime1">
              <a:rPr lang="en-GB" altLang="en-US" sz="1800">
                <a:solidFill>
                  <a:schemeClr val="folHlink"/>
                </a:solidFill>
                <a:latin typeface="Comic Sans MS" panose="030F0702030302020204" pitchFamily="66" charset="0"/>
                <a:ea typeface="MS PGothic" panose="020B0600070205080204" pitchFamily="34" charset="-128"/>
              </a:rPr>
              <a:pPr algn="r"/>
              <a:t>02/06/2020</a:t>
            </a:fld>
            <a:endParaRPr lang="en-GB" altLang="en-US" sz="1800">
              <a:solidFill>
                <a:schemeClr val="folHlink"/>
              </a:solidFill>
              <a:latin typeface="Comic Sans MS" panose="030F0702030302020204" pitchFamily="66" charset="0"/>
              <a:ea typeface="MS PGothic" panose="020B0600070205080204" pitchFamily="34" charset="-128"/>
            </a:endParaRPr>
          </a:p>
        </p:txBody>
      </p:sp>
      <p:grpSp>
        <p:nvGrpSpPr>
          <p:cNvPr id="12290" name="Group 2"/>
          <p:cNvGrpSpPr>
            <a:grpSpLocks/>
          </p:cNvGrpSpPr>
          <p:nvPr/>
        </p:nvGrpSpPr>
        <p:grpSpPr bwMode="auto">
          <a:xfrm>
            <a:off x="7315200" y="228600"/>
            <a:ext cx="1828800" cy="3048000"/>
            <a:chOff x="4608" y="144"/>
            <a:chExt cx="1152" cy="1920"/>
          </a:xfrm>
        </p:grpSpPr>
        <p:pic>
          <p:nvPicPr>
            <p:cNvPr id="210948" name="Picture 3" descr="Mendeleev"/>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4" y="144"/>
              <a:ext cx="1146" cy="1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Text Box 4"/>
            <p:cNvSpPr txBox="1">
              <a:spLocks noChangeArrowheads="1"/>
            </p:cNvSpPr>
            <p:nvPr/>
          </p:nvSpPr>
          <p:spPr bwMode="auto">
            <a:xfrm>
              <a:off x="4608" y="1776"/>
              <a:ext cx="1152" cy="288"/>
            </a:xfrm>
            <a:prstGeom prst="rect">
              <a:avLst/>
            </a:prstGeom>
            <a:solidFill>
              <a:schemeClr val="tx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GB">
                  <a:latin typeface="Comic Sans MS" charset="0"/>
                  <a:ea typeface="ＭＳ Ｐゴシック" charset="0"/>
                </a:rPr>
                <a:t>Mendeleev</a:t>
              </a:r>
            </a:p>
          </p:txBody>
        </p:sp>
      </p:grpSp>
      <p:sp>
        <p:nvSpPr>
          <p:cNvPr id="12293" name="Rectangle 5"/>
          <p:cNvSpPr>
            <a:spLocks noGrp="1" noChangeArrowheads="1"/>
          </p:cNvSpPr>
          <p:nvPr>
            <p:ph type="title" idx="4294967295"/>
          </p:nvPr>
        </p:nvSpPr>
        <p:spPr>
          <a:xfrm>
            <a:off x="0" y="0"/>
            <a:ext cx="6723063" cy="609600"/>
          </a:xfrm>
        </p:spPr>
        <p:txBody>
          <a:bodyPr/>
          <a:lstStyle/>
          <a:p>
            <a:r>
              <a:rPr lang="en-GB" altLang="en-US"/>
              <a:t>Periodic table</a:t>
            </a:r>
          </a:p>
        </p:txBody>
      </p:sp>
      <p:graphicFrame>
        <p:nvGraphicFramePr>
          <p:cNvPr id="12294" name="Group 6"/>
          <p:cNvGraphicFramePr>
            <a:graphicFrameLocks noGrp="1"/>
          </p:cNvGraphicFramePr>
          <p:nvPr/>
        </p:nvGraphicFramePr>
        <p:xfrm>
          <a:off x="381000" y="3429000"/>
          <a:ext cx="8458200" cy="3124203"/>
        </p:xfrm>
        <a:graphic>
          <a:graphicData uri="http://schemas.openxmlformats.org/drawingml/2006/table">
            <a:tbl>
              <a:tblPr/>
              <a:tblGrid>
                <a:gridCol w="469900">
                  <a:extLst>
                    <a:ext uri="{9D8B030D-6E8A-4147-A177-3AD203B41FA5}">
                      <a16:colId xmlns:a16="http://schemas.microsoft.com/office/drawing/2014/main" val="20000"/>
                    </a:ext>
                  </a:extLst>
                </a:gridCol>
                <a:gridCol w="469900">
                  <a:extLst>
                    <a:ext uri="{9D8B030D-6E8A-4147-A177-3AD203B41FA5}">
                      <a16:colId xmlns:a16="http://schemas.microsoft.com/office/drawing/2014/main" val="20001"/>
                    </a:ext>
                  </a:extLst>
                </a:gridCol>
                <a:gridCol w="469900">
                  <a:extLst>
                    <a:ext uri="{9D8B030D-6E8A-4147-A177-3AD203B41FA5}">
                      <a16:colId xmlns:a16="http://schemas.microsoft.com/office/drawing/2014/main" val="20002"/>
                    </a:ext>
                  </a:extLst>
                </a:gridCol>
                <a:gridCol w="469900">
                  <a:extLst>
                    <a:ext uri="{9D8B030D-6E8A-4147-A177-3AD203B41FA5}">
                      <a16:colId xmlns:a16="http://schemas.microsoft.com/office/drawing/2014/main" val="20003"/>
                    </a:ext>
                  </a:extLst>
                </a:gridCol>
                <a:gridCol w="469900">
                  <a:extLst>
                    <a:ext uri="{9D8B030D-6E8A-4147-A177-3AD203B41FA5}">
                      <a16:colId xmlns:a16="http://schemas.microsoft.com/office/drawing/2014/main" val="20004"/>
                    </a:ext>
                  </a:extLst>
                </a:gridCol>
                <a:gridCol w="469900">
                  <a:extLst>
                    <a:ext uri="{9D8B030D-6E8A-4147-A177-3AD203B41FA5}">
                      <a16:colId xmlns:a16="http://schemas.microsoft.com/office/drawing/2014/main" val="20005"/>
                    </a:ext>
                  </a:extLst>
                </a:gridCol>
                <a:gridCol w="469900">
                  <a:extLst>
                    <a:ext uri="{9D8B030D-6E8A-4147-A177-3AD203B41FA5}">
                      <a16:colId xmlns:a16="http://schemas.microsoft.com/office/drawing/2014/main" val="20006"/>
                    </a:ext>
                  </a:extLst>
                </a:gridCol>
                <a:gridCol w="469900">
                  <a:extLst>
                    <a:ext uri="{9D8B030D-6E8A-4147-A177-3AD203B41FA5}">
                      <a16:colId xmlns:a16="http://schemas.microsoft.com/office/drawing/2014/main" val="20007"/>
                    </a:ext>
                  </a:extLst>
                </a:gridCol>
                <a:gridCol w="469900">
                  <a:extLst>
                    <a:ext uri="{9D8B030D-6E8A-4147-A177-3AD203B41FA5}">
                      <a16:colId xmlns:a16="http://schemas.microsoft.com/office/drawing/2014/main" val="20008"/>
                    </a:ext>
                  </a:extLst>
                </a:gridCol>
                <a:gridCol w="469900">
                  <a:extLst>
                    <a:ext uri="{9D8B030D-6E8A-4147-A177-3AD203B41FA5}">
                      <a16:colId xmlns:a16="http://schemas.microsoft.com/office/drawing/2014/main" val="20009"/>
                    </a:ext>
                  </a:extLst>
                </a:gridCol>
                <a:gridCol w="469900">
                  <a:extLst>
                    <a:ext uri="{9D8B030D-6E8A-4147-A177-3AD203B41FA5}">
                      <a16:colId xmlns:a16="http://schemas.microsoft.com/office/drawing/2014/main" val="20010"/>
                    </a:ext>
                  </a:extLst>
                </a:gridCol>
                <a:gridCol w="469900">
                  <a:extLst>
                    <a:ext uri="{9D8B030D-6E8A-4147-A177-3AD203B41FA5}">
                      <a16:colId xmlns:a16="http://schemas.microsoft.com/office/drawing/2014/main" val="20011"/>
                    </a:ext>
                  </a:extLst>
                </a:gridCol>
                <a:gridCol w="469900">
                  <a:extLst>
                    <a:ext uri="{9D8B030D-6E8A-4147-A177-3AD203B41FA5}">
                      <a16:colId xmlns:a16="http://schemas.microsoft.com/office/drawing/2014/main" val="20012"/>
                    </a:ext>
                  </a:extLst>
                </a:gridCol>
                <a:gridCol w="469900">
                  <a:extLst>
                    <a:ext uri="{9D8B030D-6E8A-4147-A177-3AD203B41FA5}">
                      <a16:colId xmlns:a16="http://schemas.microsoft.com/office/drawing/2014/main" val="20013"/>
                    </a:ext>
                  </a:extLst>
                </a:gridCol>
                <a:gridCol w="469900">
                  <a:extLst>
                    <a:ext uri="{9D8B030D-6E8A-4147-A177-3AD203B41FA5}">
                      <a16:colId xmlns:a16="http://schemas.microsoft.com/office/drawing/2014/main" val="20014"/>
                    </a:ext>
                  </a:extLst>
                </a:gridCol>
                <a:gridCol w="469900">
                  <a:extLst>
                    <a:ext uri="{9D8B030D-6E8A-4147-A177-3AD203B41FA5}">
                      <a16:colId xmlns:a16="http://schemas.microsoft.com/office/drawing/2014/main" val="20015"/>
                    </a:ext>
                  </a:extLst>
                </a:gridCol>
                <a:gridCol w="469900">
                  <a:extLst>
                    <a:ext uri="{9D8B030D-6E8A-4147-A177-3AD203B41FA5}">
                      <a16:colId xmlns:a16="http://schemas.microsoft.com/office/drawing/2014/main" val="20016"/>
                    </a:ext>
                  </a:extLst>
                </a:gridCol>
                <a:gridCol w="469900">
                  <a:extLst>
                    <a:ext uri="{9D8B030D-6E8A-4147-A177-3AD203B41FA5}">
                      <a16:colId xmlns:a16="http://schemas.microsoft.com/office/drawing/2014/main" val="20017"/>
                    </a:ext>
                  </a:extLst>
                </a:gridCol>
              </a:tblGrid>
              <a:tr h="4460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cap="flat">
                      <a:noFill/>
                    </a:lnL>
                    <a:lnR>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a:noFill/>
                    </a:lnL>
                    <a:lnR>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a:noFill/>
                    </a:lnL>
                    <a:lnR w="12700" cap="flat" cmpd="sng" algn="ctr">
                      <a:solidFill>
                        <a:schemeClr val="bg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0"/>
                  </a:ext>
                </a:extLst>
              </a:tr>
              <a:tr h="4460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1"/>
                  </a:ext>
                </a:extLst>
              </a:tr>
              <a:tr h="4460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2"/>
                  </a:ext>
                </a:extLst>
              </a:tr>
              <a:tr h="447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3"/>
                  </a:ext>
                </a:extLst>
              </a:tr>
              <a:tr h="4460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4"/>
                  </a:ext>
                </a:extLst>
              </a:tr>
              <a:tr h="4460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5"/>
                  </a:ext>
                </a:extLst>
              </a:tr>
              <a:tr h="4460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bg1"/>
                        </a:solidFill>
                        <a:effectLst/>
                        <a:latin typeface="Comic Sans MS"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6"/>
                  </a:ext>
                </a:extLst>
              </a:tr>
            </a:tbl>
          </a:graphicData>
        </a:graphic>
      </p:graphicFrame>
      <p:grpSp>
        <p:nvGrpSpPr>
          <p:cNvPr id="12498" name="Group 210"/>
          <p:cNvGrpSpPr>
            <a:grpSpLocks/>
          </p:cNvGrpSpPr>
          <p:nvPr/>
        </p:nvGrpSpPr>
        <p:grpSpPr bwMode="auto">
          <a:xfrm>
            <a:off x="381000" y="990600"/>
            <a:ext cx="6629400" cy="1066800"/>
            <a:chOff x="240" y="624"/>
            <a:chExt cx="4176" cy="672"/>
          </a:xfrm>
        </p:grpSpPr>
        <p:sp>
          <p:nvSpPr>
            <p:cNvPr id="12499" name="AutoShape 211"/>
            <p:cNvSpPr>
              <a:spLocks noChangeArrowheads="1"/>
            </p:cNvSpPr>
            <p:nvPr/>
          </p:nvSpPr>
          <p:spPr bwMode="auto">
            <a:xfrm>
              <a:off x="240" y="624"/>
              <a:ext cx="4128" cy="672"/>
            </a:xfrm>
            <a:prstGeom prst="wedgeRectCallout">
              <a:avLst>
                <a:gd name="adj1" fmla="val 62644"/>
                <a:gd name="adj2" fmla="val -31847"/>
              </a:avLst>
            </a:prstGeom>
            <a:solidFill>
              <a:schemeClr val="bg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defRPr/>
              </a:pPr>
              <a:endParaRPr lang="en-US">
                <a:latin typeface="Comic Sans MS" charset="0"/>
                <a:ea typeface="ＭＳ Ｐゴシック" charset="0"/>
              </a:endParaRPr>
            </a:p>
          </p:txBody>
        </p:sp>
        <p:sp>
          <p:nvSpPr>
            <p:cNvPr id="12500" name="Text Box 212"/>
            <p:cNvSpPr txBox="1">
              <a:spLocks noChangeArrowheads="1"/>
            </p:cNvSpPr>
            <p:nvPr/>
          </p:nvSpPr>
          <p:spPr bwMode="auto">
            <a:xfrm>
              <a:off x="240" y="672"/>
              <a:ext cx="4176" cy="5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a:solidFill>
                    <a:schemeClr val="tx1"/>
                  </a:solidFill>
                  <a:latin typeface="Comic Sans MS" charset="0"/>
                  <a:ea typeface="ＭＳ Ｐゴシック" charset="0"/>
                </a:rPr>
                <a:t>The periodic table arranges all the elements in groups according to their properties.</a:t>
              </a:r>
            </a:p>
          </p:txBody>
        </p:sp>
      </p:grpSp>
      <p:sp>
        <p:nvSpPr>
          <p:cNvPr id="12501" name="AutoShape 213"/>
          <p:cNvSpPr>
            <a:spLocks noChangeArrowheads="1"/>
          </p:cNvSpPr>
          <p:nvPr/>
        </p:nvSpPr>
        <p:spPr bwMode="auto">
          <a:xfrm>
            <a:off x="2133600" y="5029200"/>
            <a:ext cx="6107113" cy="762000"/>
          </a:xfrm>
          <a:prstGeom prst="rightArrow">
            <a:avLst>
              <a:gd name="adj1" fmla="val 50000"/>
              <a:gd name="adj2" fmla="val 108716"/>
            </a:avLst>
          </a:prstGeom>
          <a:solidFill>
            <a:srgbClr val="FF00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2502" name="Text Box 214"/>
          <p:cNvSpPr txBox="1">
            <a:spLocks noChangeArrowheads="1"/>
          </p:cNvSpPr>
          <p:nvPr/>
        </p:nvSpPr>
        <p:spPr bwMode="auto">
          <a:xfrm>
            <a:off x="2133600" y="5181600"/>
            <a:ext cx="61722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GB">
                <a:latin typeface="Comic Sans MS" charset="0"/>
                <a:ea typeface="ＭＳ Ｐゴシック" charset="0"/>
              </a:rPr>
              <a:t>Horizontal rows are called PERIODS</a:t>
            </a:r>
          </a:p>
        </p:txBody>
      </p:sp>
      <p:sp>
        <p:nvSpPr>
          <p:cNvPr id="12503" name="AutoShape 215"/>
          <p:cNvSpPr>
            <a:spLocks noChangeArrowheads="1"/>
          </p:cNvSpPr>
          <p:nvPr/>
        </p:nvSpPr>
        <p:spPr bwMode="auto">
          <a:xfrm>
            <a:off x="381000" y="3733800"/>
            <a:ext cx="457200" cy="2667000"/>
          </a:xfrm>
          <a:prstGeom prst="downArrow">
            <a:avLst>
              <a:gd name="adj1" fmla="val 50000"/>
              <a:gd name="adj2" fmla="val 145833"/>
            </a:avLst>
          </a:prstGeom>
          <a:solidFill>
            <a:srgbClr val="FF00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nvGrpSpPr>
          <p:cNvPr id="12504" name="Group 216"/>
          <p:cNvGrpSpPr>
            <a:grpSpLocks/>
          </p:cNvGrpSpPr>
          <p:nvPr/>
        </p:nvGrpSpPr>
        <p:grpSpPr bwMode="auto">
          <a:xfrm>
            <a:off x="228600" y="2438400"/>
            <a:ext cx="2438400" cy="1295400"/>
            <a:chOff x="144" y="1536"/>
            <a:chExt cx="1536" cy="816"/>
          </a:xfrm>
        </p:grpSpPr>
        <p:sp>
          <p:nvSpPr>
            <p:cNvPr id="12505" name="Rectangle 217"/>
            <p:cNvSpPr>
              <a:spLocks noChangeArrowheads="1"/>
            </p:cNvSpPr>
            <p:nvPr/>
          </p:nvSpPr>
          <p:spPr bwMode="auto">
            <a:xfrm>
              <a:off x="144" y="1536"/>
              <a:ext cx="1488" cy="816"/>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2506" name="Text Box 218"/>
            <p:cNvSpPr txBox="1">
              <a:spLocks noChangeArrowheads="1"/>
            </p:cNvSpPr>
            <p:nvPr/>
          </p:nvSpPr>
          <p:spPr bwMode="auto">
            <a:xfrm>
              <a:off x="144" y="1536"/>
              <a:ext cx="1536" cy="7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a:latin typeface="Comic Sans MS" charset="0"/>
                  <a:ea typeface="ＭＳ Ｐゴシック" charset="0"/>
                </a:rPr>
                <a:t>Vertical columns are called GROUPS</a:t>
              </a:r>
            </a:p>
          </p:txBody>
        </p:sp>
      </p:grpSp>
    </p:spTree>
    <p:extLst>
      <p:ext uri="{BB962C8B-B14F-4D97-AF65-F5344CB8AC3E}">
        <p14:creationId xmlns:p14="http://schemas.microsoft.com/office/powerpoint/2010/main" val="8865832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anim calcmode="lin" valueType="num">
                                      <p:cBhvr additive="base">
                                        <p:cTn id="7" dur="500" fill="hold"/>
                                        <p:tgtEl>
                                          <p:spTgt spid="12290"/>
                                        </p:tgtEl>
                                        <p:attrNameLst>
                                          <p:attrName>ppt_x</p:attrName>
                                        </p:attrNameLst>
                                      </p:cBhvr>
                                      <p:tavLst>
                                        <p:tav tm="0">
                                          <p:val>
                                            <p:strVal val="1+#ppt_w/2"/>
                                          </p:val>
                                        </p:tav>
                                        <p:tav tm="100000">
                                          <p:val>
                                            <p:strVal val="#ppt_x"/>
                                          </p:val>
                                        </p:tav>
                                      </p:tavLst>
                                    </p:anim>
                                    <p:anim calcmode="lin" valueType="num">
                                      <p:cBhvr additive="base">
                                        <p:cTn id="8" dur="500" fill="hold"/>
                                        <p:tgtEl>
                                          <p:spTgt spid="1229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2" fill="hold" nodeType="clickEffect">
                                  <p:stCondLst>
                                    <p:cond delay="0"/>
                                  </p:stCondLst>
                                  <p:childTnLst>
                                    <p:set>
                                      <p:cBhvr>
                                        <p:cTn id="12" dur="1" fill="hold">
                                          <p:stCondLst>
                                            <p:cond delay="0"/>
                                          </p:stCondLst>
                                        </p:cTn>
                                        <p:tgtEl>
                                          <p:spTgt spid="12498"/>
                                        </p:tgtEl>
                                        <p:attrNameLst>
                                          <p:attrName>style.visibility</p:attrName>
                                        </p:attrNameLst>
                                      </p:cBhvr>
                                      <p:to>
                                        <p:strVal val="visible"/>
                                      </p:to>
                                    </p:set>
                                    <p:animEffect transition="in" filter="wipe(right)">
                                      <p:cBhvr>
                                        <p:cTn id="13" dur="500"/>
                                        <p:tgtEl>
                                          <p:spTgt spid="1249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12294"/>
                                        </p:tgtEl>
                                        <p:attrNameLst>
                                          <p:attrName>style.visibility</p:attrName>
                                        </p:attrNameLst>
                                      </p:cBhvr>
                                      <p:to>
                                        <p:strVal val="visible"/>
                                      </p:to>
                                    </p:set>
                                    <p:animEffect transition="in" filter="wipe(up)">
                                      <p:cBhvr>
                                        <p:cTn id="18" dur="500"/>
                                        <p:tgtEl>
                                          <p:spTgt spid="1229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2503"/>
                                        </p:tgtEl>
                                        <p:attrNameLst>
                                          <p:attrName>style.visibility</p:attrName>
                                        </p:attrNameLst>
                                      </p:cBhvr>
                                      <p:to>
                                        <p:strVal val="visible"/>
                                      </p:to>
                                    </p:set>
                                    <p:animEffect transition="in" filter="wipe(up)">
                                      <p:cBhvr>
                                        <p:cTn id="23" dur="500"/>
                                        <p:tgtEl>
                                          <p:spTgt spid="1250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nodeType="clickEffect">
                                  <p:stCondLst>
                                    <p:cond delay="0"/>
                                  </p:stCondLst>
                                  <p:childTnLst>
                                    <p:set>
                                      <p:cBhvr>
                                        <p:cTn id="27" dur="1" fill="hold">
                                          <p:stCondLst>
                                            <p:cond delay="0"/>
                                          </p:stCondLst>
                                        </p:cTn>
                                        <p:tgtEl>
                                          <p:spTgt spid="12504"/>
                                        </p:tgtEl>
                                        <p:attrNameLst>
                                          <p:attrName>style.visibility</p:attrName>
                                        </p:attrNameLst>
                                      </p:cBhvr>
                                      <p:to>
                                        <p:strVal val="visible"/>
                                      </p:to>
                                    </p:set>
                                    <p:animEffect transition="in" filter="wipe(up)">
                                      <p:cBhvr>
                                        <p:cTn id="28" dur="500"/>
                                        <p:tgtEl>
                                          <p:spTgt spid="1250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2501"/>
                                        </p:tgtEl>
                                        <p:attrNameLst>
                                          <p:attrName>style.visibility</p:attrName>
                                        </p:attrNameLst>
                                      </p:cBhvr>
                                      <p:to>
                                        <p:strVal val="visible"/>
                                      </p:to>
                                    </p:set>
                                    <p:animEffect transition="in" filter="wipe(left)">
                                      <p:cBhvr>
                                        <p:cTn id="33" dur="500"/>
                                        <p:tgtEl>
                                          <p:spTgt spid="1250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2502"/>
                                        </p:tgtEl>
                                        <p:attrNameLst>
                                          <p:attrName>style.visibility</p:attrName>
                                        </p:attrNameLst>
                                      </p:cBhvr>
                                      <p:to>
                                        <p:strVal val="visible"/>
                                      </p:to>
                                    </p:set>
                                    <p:animEffect transition="in" filter="wipe(left)">
                                      <p:cBhvr>
                                        <p:cTn id="38" dur="500"/>
                                        <p:tgtEl>
                                          <p:spTgt spid="125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01" grpId="0" animBg="1"/>
      <p:bldP spid="12502" grpId="0" autoUpdateAnimBg="0"/>
      <p:bldP spid="1250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Date Placeholder 2"/>
          <p:cNvSpPr>
            <a:spLocks noGrp="1"/>
          </p:cNvSpPr>
          <p:nvPr>
            <p:ph type="dt" sz="half" idx="10"/>
          </p:nvPr>
        </p:nvSpPr>
        <p:spPr/>
        <p:txBody>
          <a:bodyPr/>
          <a:lstStyle/>
          <a:p>
            <a:fld id="{4EEEB716-0C25-4399-ADCE-754BCFDB79B8}" type="datetime1">
              <a:rPr lang="en-GB" altLang="en-US"/>
              <a:pPr/>
              <a:t>02/06/2020</a:t>
            </a:fld>
            <a:endParaRPr lang="en-GB" altLang="en-US"/>
          </a:p>
        </p:txBody>
      </p:sp>
      <p:sp>
        <p:nvSpPr>
          <p:cNvPr id="246786" name="Rectangle 2"/>
          <p:cNvSpPr>
            <a:spLocks noGrp="1" noChangeArrowheads="1"/>
          </p:cNvSpPr>
          <p:nvPr>
            <p:ph type="title"/>
          </p:nvPr>
        </p:nvSpPr>
        <p:spPr/>
        <p:txBody>
          <a:bodyPr/>
          <a:lstStyle/>
          <a:p>
            <a:r>
              <a:rPr lang="en-GB" altLang="en-US" sz="4000"/>
              <a:t>Development of the Periodic Table</a:t>
            </a:r>
          </a:p>
        </p:txBody>
      </p:sp>
      <p:graphicFrame>
        <p:nvGraphicFramePr>
          <p:cNvPr id="246787" name="Group 3"/>
          <p:cNvGraphicFramePr>
            <a:graphicFrameLocks noGrp="1"/>
          </p:cNvGraphicFramePr>
          <p:nvPr>
            <p:extLst>
              <p:ext uri="{D42A27DB-BD31-4B8C-83A1-F6EECF244321}">
                <p14:modId xmlns:p14="http://schemas.microsoft.com/office/powerpoint/2010/main" val="1561744799"/>
              </p:ext>
            </p:extLst>
          </p:nvPr>
        </p:nvGraphicFramePr>
        <p:xfrm>
          <a:off x="1258888" y="2161381"/>
          <a:ext cx="6457950" cy="457200"/>
        </p:xfrm>
        <a:graphic>
          <a:graphicData uri="http://schemas.openxmlformats.org/drawingml/2006/table">
            <a:tbl>
              <a:tblPr/>
              <a:tblGrid>
                <a:gridCol w="646112">
                  <a:extLst>
                    <a:ext uri="{9D8B030D-6E8A-4147-A177-3AD203B41FA5}">
                      <a16:colId xmlns:a16="http://schemas.microsoft.com/office/drawing/2014/main" val="20000"/>
                    </a:ext>
                  </a:extLst>
                </a:gridCol>
                <a:gridCol w="646113">
                  <a:extLst>
                    <a:ext uri="{9D8B030D-6E8A-4147-A177-3AD203B41FA5}">
                      <a16:colId xmlns:a16="http://schemas.microsoft.com/office/drawing/2014/main" val="20001"/>
                    </a:ext>
                  </a:extLst>
                </a:gridCol>
                <a:gridCol w="644525">
                  <a:extLst>
                    <a:ext uri="{9D8B030D-6E8A-4147-A177-3AD203B41FA5}">
                      <a16:colId xmlns:a16="http://schemas.microsoft.com/office/drawing/2014/main" val="20002"/>
                    </a:ext>
                  </a:extLst>
                </a:gridCol>
                <a:gridCol w="646112">
                  <a:extLst>
                    <a:ext uri="{9D8B030D-6E8A-4147-A177-3AD203B41FA5}">
                      <a16:colId xmlns:a16="http://schemas.microsoft.com/office/drawing/2014/main" val="20003"/>
                    </a:ext>
                  </a:extLst>
                </a:gridCol>
                <a:gridCol w="646113">
                  <a:extLst>
                    <a:ext uri="{9D8B030D-6E8A-4147-A177-3AD203B41FA5}">
                      <a16:colId xmlns:a16="http://schemas.microsoft.com/office/drawing/2014/main" val="20004"/>
                    </a:ext>
                  </a:extLst>
                </a:gridCol>
                <a:gridCol w="646112">
                  <a:extLst>
                    <a:ext uri="{9D8B030D-6E8A-4147-A177-3AD203B41FA5}">
                      <a16:colId xmlns:a16="http://schemas.microsoft.com/office/drawing/2014/main" val="20005"/>
                    </a:ext>
                  </a:extLst>
                </a:gridCol>
                <a:gridCol w="646113">
                  <a:extLst>
                    <a:ext uri="{9D8B030D-6E8A-4147-A177-3AD203B41FA5}">
                      <a16:colId xmlns:a16="http://schemas.microsoft.com/office/drawing/2014/main" val="20006"/>
                    </a:ext>
                  </a:extLst>
                </a:gridCol>
                <a:gridCol w="644525">
                  <a:extLst>
                    <a:ext uri="{9D8B030D-6E8A-4147-A177-3AD203B41FA5}">
                      <a16:colId xmlns:a16="http://schemas.microsoft.com/office/drawing/2014/main" val="20007"/>
                    </a:ext>
                  </a:extLst>
                </a:gridCol>
                <a:gridCol w="646112">
                  <a:extLst>
                    <a:ext uri="{9D8B030D-6E8A-4147-A177-3AD203B41FA5}">
                      <a16:colId xmlns:a16="http://schemas.microsoft.com/office/drawing/2014/main" val="20008"/>
                    </a:ext>
                  </a:extLst>
                </a:gridCol>
                <a:gridCol w="646113">
                  <a:extLst>
                    <a:ext uri="{9D8B030D-6E8A-4147-A177-3AD203B41FA5}">
                      <a16:colId xmlns:a16="http://schemas.microsoft.com/office/drawing/2014/main" val="20009"/>
                    </a:ext>
                  </a:extLst>
                </a:gridCol>
              </a:tblGrid>
              <a:tr h="450850">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Li</a:t>
                      </a:r>
                    </a:p>
                  </a:txBody>
                  <a:tcPr anchor="ctr" anchorCtr="1"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00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Be</a:t>
                      </a:r>
                    </a:p>
                  </a:txBody>
                  <a:tcPr anchor="ctr" anchorCtr="1"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00FF"/>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B</a:t>
                      </a:r>
                    </a:p>
                  </a:txBody>
                  <a:tcPr anchor="ctr" anchorCtr="1"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CC"/>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C</a:t>
                      </a:r>
                    </a:p>
                  </a:txBody>
                  <a:tcPr anchor="ctr" anchorCtr="1"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6699"/>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N</a:t>
                      </a:r>
                    </a:p>
                  </a:txBody>
                  <a:tcPr anchor="ctr" anchorCtr="1"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08000"/>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O</a:t>
                      </a:r>
                    </a:p>
                  </a:txBody>
                  <a:tcPr anchor="ctr" anchorCtr="1"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3300"/>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F</a:t>
                      </a:r>
                    </a:p>
                  </a:txBody>
                  <a:tcPr anchor="ctr" anchorCtr="1"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Na</a:t>
                      </a:r>
                    </a:p>
                  </a:txBody>
                  <a:tcPr anchor="ctr" anchorCtr="1"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00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Mg</a:t>
                      </a:r>
                    </a:p>
                  </a:txBody>
                  <a:tcPr anchor="ctr" anchorCtr="1"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00FF"/>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Al</a:t>
                      </a:r>
                    </a:p>
                  </a:txBody>
                  <a:tcPr anchor="ctr" anchorCtr="1"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CC"/>
                    </a:solidFill>
                  </a:tcPr>
                </a:tc>
                <a:extLst>
                  <a:ext uri="{0D108BD9-81ED-4DB2-BD59-A6C34878D82A}">
                    <a16:rowId xmlns:a16="http://schemas.microsoft.com/office/drawing/2014/main" val="10000"/>
                  </a:ext>
                </a:extLst>
              </a:tr>
            </a:tbl>
          </a:graphicData>
        </a:graphic>
      </p:graphicFrame>
      <p:graphicFrame>
        <p:nvGraphicFramePr>
          <p:cNvPr id="246811" name="Group 27"/>
          <p:cNvGraphicFramePr>
            <a:graphicFrameLocks noGrp="1"/>
          </p:cNvGraphicFramePr>
          <p:nvPr>
            <p:extLst>
              <p:ext uri="{D42A27DB-BD31-4B8C-83A1-F6EECF244321}">
                <p14:modId xmlns:p14="http://schemas.microsoft.com/office/powerpoint/2010/main" val="173162425"/>
              </p:ext>
            </p:extLst>
          </p:nvPr>
        </p:nvGraphicFramePr>
        <p:xfrm>
          <a:off x="539750" y="4116387"/>
          <a:ext cx="7102475" cy="457200"/>
        </p:xfrm>
        <a:graphic>
          <a:graphicData uri="http://schemas.openxmlformats.org/drawingml/2006/table">
            <a:tbl>
              <a:tblPr/>
              <a:tblGrid>
                <a:gridCol w="646113">
                  <a:extLst>
                    <a:ext uri="{9D8B030D-6E8A-4147-A177-3AD203B41FA5}">
                      <a16:colId xmlns:a16="http://schemas.microsoft.com/office/drawing/2014/main" val="20000"/>
                    </a:ext>
                  </a:extLst>
                </a:gridCol>
                <a:gridCol w="646112">
                  <a:extLst>
                    <a:ext uri="{9D8B030D-6E8A-4147-A177-3AD203B41FA5}">
                      <a16:colId xmlns:a16="http://schemas.microsoft.com/office/drawing/2014/main" val="20001"/>
                    </a:ext>
                  </a:extLst>
                </a:gridCol>
                <a:gridCol w="644525">
                  <a:extLst>
                    <a:ext uri="{9D8B030D-6E8A-4147-A177-3AD203B41FA5}">
                      <a16:colId xmlns:a16="http://schemas.microsoft.com/office/drawing/2014/main" val="20002"/>
                    </a:ext>
                  </a:extLst>
                </a:gridCol>
                <a:gridCol w="646113">
                  <a:extLst>
                    <a:ext uri="{9D8B030D-6E8A-4147-A177-3AD203B41FA5}">
                      <a16:colId xmlns:a16="http://schemas.microsoft.com/office/drawing/2014/main" val="20003"/>
                    </a:ext>
                  </a:extLst>
                </a:gridCol>
                <a:gridCol w="646112">
                  <a:extLst>
                    <a:ext uri="{9D8B030D-6E8A-4147-A177-3AD203B41FA5}">
                      <a16:colId xmlns:a16="http://schemas.microsoft.com/office/drawing/2014/main" val="20004"/>
                    </a:ext>
                  </a:extLst>
                </a:gridCol>
                <a:gridCol w="646113">
                  <a:extLst>
                    <a:ext uri="{9D8B030D-6E8A-4147-A177-3AD203B41FA5}">
                      <a16:colId xmlns:a16="http://schemas.microsoft.com/office/drawing/2014/main" val="20005"/>
                    </a:ext>
                  </a:extLst>
                </a:gridCol>
                <a:gridCol w="646112">
                  <a:extLst>
                    <a:ext uri="{9D8B030D-6E8A-4147-A177-3AD203B41FA5}">
                      <a16:colId xmlns:a16="http://schemas.microsoft.com/office/drawing/2014/main" val="20006"/>
                    </a:ext>
                  </a:extLst>
                </a:gridCol>
                <a:gridCol w="644525">
                  <a:extLst>
                    <a:ext uri="{9D8B030D-6E8A-4147-A177-3AD203B41FA5}">
                      <a16:colId xmlns:a16="http://schemas.microsoft.com/office/drawing/2014/main" val="20007"/>
                    </a:ext>
                  </a:extLst>
                </a:gridCol>
                <a:gridCol w="644525">
                  <a:extLst>
                    <a:ext uri="{9D8B030D-6E8A-4147-A177-3AD203B41FA5}">
                      <a16:colId xmlns:a16="http://schemas.microsoft.com/office/drawing/2014/main" val="20008"/>
                    </a:ext>
                  </a:extLst>
                </a:gridCol>
                <a:gridCol w="646113">
                  <a:extLst>
                    <a:ext uri="{9D8B030D-6E8A-4147-A177-3AD203B41FA5}">
                      <a16:colId xmlns:a16="http://schemas.microsoft.com/office/drawing/2014/main" val="20009"/>
                    </a:ext>
                  </a:extLst>
                </a:gridCol>
                <a:gridCol w="646112">
                  <a:extLst>
                    <a:ext uri="{9D8B030D-6E8A-4147-A177-3AD203B41FA5}">
                      <a16:colId xmlns:a16="http://schemas.microsoft.com/office/drawing/2014/main" val="20010"/>
                    </a:ext>
                  </a:extLst>
                </a:gridCol>
              </a:tblGrid>
              <a:tr h="450850">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Li</a:t>
                      </a:r>
                    </a:p>
                  </a:txBody>
                  <a:tcPr anchor="ctr" anchorCtr="1"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00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Be</a:t>
                      </a:r>
                    </a:p>
                  </a:txBody>
                  <a:tcPr anchor="ctr" anchorCtr="1"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00FF"/>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B</a:t>
                      </a:r>
                    </a:p>
                  </a:txBody>
                  <a:tcPr anchor="ctr" anchorCtr="1"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CC"/>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C</a:t>
                      </a:r>
                    </a:p>
                  </a:txBody>
                  <a:tcPr anchor="ctr" anchorCtr="1"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6699"/>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N</a:t>
                      </a:r>
                    </a:p>
                  </a:txBody>
                  <a:tcPr anchor="ctr" anchorCtr="1"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08000"/>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O</a:t>
                      </a:r>
                    </a:p>
                  </a:txBody>
                  <a:tcPr anchor="ctr" anchorCtr="1"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3300"/>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F</a:t>
                      </a:r>
                    </a:p>
                  </a:txBody>
                  <a:tcPr anchor="ctr" anchorCtr="1"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0000"/>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400" b="0" i="0" u="none" strike="noStrike" cap="none" normalizeH="0" baseline="0">
                        <a:ln>
                          <a:noFill/>
                        </a:ln>
                        <a:solidFill>
                          <a:schemeClr val="bg1"/>
                        </a:solidFill>
                        <a:effectLst/>
                        <a:latin typeface="Comic Sans MS" panose="030F0702030302020204" pitchFamily="66" charset="0"/>
                      </a:endParaRPr>
                    </a:p>
                  </a:txBody>
                  <a:tcPr anchor="ctr" anchorCtr="1"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Na</a:t>
                      </a:r>
                    </a:p>
                  </a:txBody>
                  <a:tcPr anchor="ctr" anchorCtr="1"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00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Mg</a:t>
                      </a:r>
                    </a:p>
                  </a:txBody>
                  <a:tcPr anchor="ctr" anchorCtr="1"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00FF"/>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1"/>
                          </a:solidFill>
                          <a:effectLst/>
                          <a:latin typeface="Comic Sans MS" panose="030F0702030302020204" pitchFamily="66" charset="0"/>
                        </a:rPr>
                        <a:t>Al</a:t>
                      </a:r>
                    </a:p>
                  </a:txBody>
                  <a:tcPr anchor="ctr" anchorCtr="1"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CC"/>
                    </a:solidFill>
                  </a:tcPr>
                </a:tc>
                <a:extLst>
                  <a:ext uri="{0D108BD9-81ED-4DB2-BD59-A6C34878D82A}">
                    <a16:rowId xmlns:a16="http://schemas.microsoft.com/office/drawing/2014/main" val="10000"/>
                  </a:ext>
                </a:extLst>
              </a:tr>
            </a:tbl>
          </a:graphicData>
        </a:graphic>
      </p:graphicFrame>
      <p:grpSp>
        <p:nvGrpSpPr>
          <p:cNvPr id="246837" name="Group 53"/>
          <p:cNvGrpSpPr>
            <a:grpSpLocks/>
          </p:cNvGrpSpPr>
          <p:nvPr/>
        </p:nvGrpSpPr>
        <p:grpSpPr bwMode="auto">
          <a:xfrm>
            <a:off x="0" y="2819400"/>
            <a:ext cx="9144000" cy="2074862"/>
            <a:chOff x="0" y="2205"/>
            <a:chExt cx="5760" cy="1307"/>
          </a:xfrm>
        </p:grpSpPr>
        <p:sp>
          <p:nvSpPr>
            <p:cNvPr id="246838" name="Text Box 54"/>
            <p:cNvSpPr txBox="1">
              <a:spLocks noChangeArrowheads="1"/>
            </p:cNvSpPr>
            <p:nvPr/>
          </p:nvSpPr>
          <p:spPr bwMode="auto">
            <a:xfrm>
              <a:off x="0" y="2296"/>
              <a:ext cx="4876"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solidFill>
                    <a:srgbClr val="FFCCCC"/>
                  </a:solidFill>
                </a:rPr>
                <a:t>1869:  Dimitri Mendeleev arranged the known elements in order of mass but he also left in gaps and was able to predict the properties of unknown elements:</a:t>
              </a:r>
            </a:p>
          </p:txBody>
        </p:sp>
        <p:pic>
          <p:nvPicPr>
            <p:cNvPr id="246839" name="Picture 55" descr="Mendeleev"/>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0" y="2205"/>
              <a:ext cx="800" cy="130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46840" name="Group 56"/>
          <p:cNvGrpSpPr>
            <a:grpSpLocks/>
          </p:cNvGrpSpPr>
          <p:nvPr/>
        </p:nvGrpSpPr>
        <p:grpSpPr bwMode="auto">
          <a:xfrm>
            <a:off x="0" y="1080294"/>
            <a:ext cx="7235825" cy="1636712"/>
            <a:chOff x="0" y="1207"/>
            <a:chExt cx="4558" cy="1031"/>
          </a:xfrm>
        </p:grpSpPr>
        <p:sp>
          <p:nvSpPr>
            <p:cNvPr id="246841" name="Text Box 57"/>
            <p:cNvSpPr txBox="1">
              <a:spLocks noChangeArrowheads="1"/>
            </p:cNvSpPr>
            <p:nvPr/>
          </p:nvSpPr>
          <p:spPr bwMode="auto">
            <a:xfrm>
              <a:off x="793" y="1208"/>
              <a:ext cx="3765"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solidFill>
                    <a:srgbClr val="CCFFCC"/>
                  </a:solidFill>
                </a:rPr>
                <a:t>1864:  John Newlands arranged the known elements in order of atomic mass and found out that every 8th element had similar properties:</a:t>
              </a:r>
            </a:p>
          </p:txBody>
        </p:sp>
        <p:pic>
          <p:nvPicPr>
            <p:cNvPr id="246842" name="Picture 58" descr="John_newland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07"/>
              <a:ext cx="709" cy="1031"/>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Rounded Rectangular Callout 1"/>
          <p:cNvSpPr/>
          <p:nvPr/>
        </p:nvSpPr>
        <p:spPr bwMode="auto">
          <a:xfrm>
            <a:off x="1158097" y="5040312"/>
            <a:ext cx="7560840" cy="1485032"/>
          </a:xfrm>
          <a:prstGeom prst="wedgeRoundRectCallout">
            <a:avLst>
              <a:gd name="adj1" fmla="val 45037"/>
              <a:gd name="adj2" fmla="val -134760"/>
              <a:gd name="adj3" fmla="val 16667"/>
            </a:avLst>
          </a:prstGeom>
          <a:solidFill>
            <a:schemeClr val="bg1"/>
          </a:solidFill>
          <a:ln w="25400"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a:ln>
                  <a:noFill/>
                </a:ln>
                <a:solidFill>
                  <a:schemeClr val="tx1"/>
                </a:solidFill>
                <a:effectLst/>
                <a:latin typeface="Comic Sans MS" charset="0"/>
                <a:ea typeface="ＭＳ Ｐゴシック" charset="0"/>
              </a:rPr>
              <a:t>When I came up with my Periodic Table I thought that I had arranged elements in order of atomic mass.  However,</a:t>
            </a:r>
            <a:r>
              <a:rPr kumimoji="0" lang="en-GB" sz="2000" b="0" i="0" u="none" strike="noStrike" cap="none" normalizeH="0" dirty="0">
                <a:ln>
                  <a:noFill/>
                </a:ln>
                <a:solidFill>
                  <a:schemeClr val="tx1"/>
                </a:solidFill>
                <a:effectLst/>
                <a:latin typeface="Comic Sans MS" charset="0"/>
                <a:ea typeface="ＭＳ Ｐゴシック" charset="0"/>
              </a:rPr>
              <a:t> I was wrong because I did not take into account the masses of different isotopes.</a:t>
            </a:r>
            <a:endParaRPr kumimoji="0" lang="en-GB" sz="2000" b="0" i="0" u="none" strike="noStrike" cap="none" normalizeH="0" baseline="0" dirty="0">
              <a:ln>
                <a:noFill/>
              </a:ln>
              <a:solidFill>
                <a:schemeClr val="tx1"/>
              </a:solidFill>
              <a:effectLst/>
              <a:latin typeface="Comic Sans MS" charset="0"/>
              <a:ea typeface="ＭＳ Ｐゴシック" charset="0"/>
            </a:endParaRPr>
          </a:p>
        </p:txBody>
      </p:sp>
    </p:spTree>
    <p:extLst>
      <p:ext uri="{BB962C8B-B14F-4D97-AF65-F5344CB8AC3E}">
        <p14:creationId xmlns:p14="http://schemas.microsoft.com/office/powerpoint/2010/main" val="41187975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46840"/>
                                        </p:tgtEl>
                                        <p:attrNameLst>
                                          <p:attrName>style.visibility</p:attrName>
                                        </p:attrNameLst>
                                      </p:cBhvr>
                                      <p:to>
                                        <p:strVal val="visible"/>
                                      </p:to>
                                    </p:set>
                                    <p:animEffect transition="in" filter="wipe(left)">
                                      <p:cBhvr>
                                        <p:cTn id="7" dur="500"/>
                                        <p:tgtEl>
                                          <p:spTgt spid="2468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46787"/>
                                        </p:tgtEl>
                                        <p:attrNameLst>
                                          <p:attrName>style.visibility</p:attrName>
                                        </p:attrNameLst>
                                      </p:cBhvr>
                                      <p:to>
                                        <p:strVal val="visible"/>
                                      </p:to>
                                    </p:set>
                                    <p:animEffect transition="in" filter="wipe(left)">
                                      <p:cBhvr>
                                        <p:cTn id="12" dur="500"/>
                                        <p:tgtEl>
                                          <p:spTgt spid="2467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46837"/>
                                        </p:tgtEl>
                                        <p:attrNameLst>
                                          <p:attrName>style.visibility</p:attrName>
                                        </p:attrNameLst>
                                      </p:cBhvr>
                                      <p:to>
                                        <p:strVal val="visible"/>
                                      </p:to>
                                    </p:set>
                                    <p:animEffect transition="in" filter="wipe(left)">
                                      <p:cBhvr>
                                        <p:cTn id="17" dur="500"/>
                                        <p:tgtEl>
                                          <p:spTgt spid="24683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46811"/>
                                        </p:tgtEl>
                                        <p:attrNameLst>
                                          <p:attrName>style.visibility</p:attrName>
                                        </p:attrNameLst>
                                      </p:cBhvr>
                                      <p:to>
                                        <p:strVal val="visible"/>
                                      </p:to>
                                    </p:set>
                                    <p:animEffect transition="in" filter="wipe(left)">
                                      <p:cBhvr>
                                        <p:cTn id="22" dur="500"/>
                                        <p:tgtEl>
                                          <p:spTgt spid="2468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Date Placeholder 2"/>
          <p:cNvSpPr>
            <a:spLocks noGrp="1"/>
          </p:cNvSpPr>
          <p:nvPr>
            <p:ph type="dt" sz="quarter" idx="10"/>
          </p:nvPr>
        </p:nvSpPr>
        <p:spPr/>
        <p:txBody>
          <a:bodyPr/>
          <a:lstStyle>
            <a:lvl1pPr eaLnBrk="0" hangingPunct="0">
              <a:defRPr sz="2400">
                <a:solidFill>
                  <a:schemeClr val="bg1"/>
                </a:solidFill>
                <a:latin typeface="Comic Sans MS" pitchFamily="66" charset="0"/>
                <a:ea typeface="ＭＳ Ｐゴシック" pitchFamily="34" charset="-128"/>
              </a:defRPr>
            </a:lvl1pPr>
            <a:lvl2pPr marL="742950" indent="-285750" eaLnBrk="0" hangingPunct="0">
              <a:defRPr sz="2400">
                <a:solidFill>
                  <a:schemeClr val="bg1"/>
                </a:solidFill>
                <a:latin typeface="Comic Sans MS" pitchFamily="66" charset="0"/>
                <a:ea typeface="ＭＳ Ｐゴシック" pitchFamily="34" charset="-128"/>
              </a:defRPr>
            </a:lvl2pPr>
            <a:lvl3pPr marL="1143000" indent="-228600" eaLnBrk="0" hangingPunct="0">
              <a:defRPr sz="2400">
                <a:solidFill>
                  <a:schemeClr val="bg1"/>
                </a:solidFill>
                <a:latin typeface="Comic Sans MS" pitchFamily="66" charset="0"/>
                <a:ea typeface="ＭＳ Ｐゴシック" pitchFamily="34" charset="-128"/>
              </a:defRPr>
            </a:lvl3pPr>
            <a:lvl4pPr marL="1600200" indent="-228600" eaLnBrk="0" hangingPunct="0">
              <a:defRPr sz="2400">
                <a:solidFill>
                  <a:schemeClr val="bg1"/>
                </a:solidFill>
                <a:latin typeface="Comic Sans MS" pitchFamily="66" charset="0"/>
                <a:ea typeface="ＭＳ Ｐゴシック" pitchFamily="34" charset="-128"/>
              </a:defRPr>
            </a:lvl4pPr>
            <a:lvl5pPr marL="2057400" indent="-228600" eaLnBrk="0" hangingPunct="0">
              <a:defRPr sz="2400">
                <a:solidFill>
                  <a:schemeClr val="bg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9pPr>
          </a:lstStyle>
          <a:p>
            <a:pPr eaLnBrk="1" hangingPunct="1">
              <a:defRPr/>
            </a:pPr>
            <a:fld id="{6797420F-8B03-4969-B751-0D26DFFEABA8}" type="datetime1">
              <a:rPr lang="en-GB" sz="1800" smtClean="0">
                <a:solidFill>
                  <a:schemeClr val="folHlink"/>
                </a:solidFill>
              </a:rPr>
              <a:pPr eaLnBrk="1" hangingPunct="1">
                <a:defRPr/>
              </a:pPr>
              <a:t>02/06/2020</a:t>
            </a:fld>
            <a:endParaRPr lang="en-GB" sz="1800">
              <a:solidFill>
                <a:schemeClr val="folHlink"/>
              </a:solidFill>
            </a:endParaRPr>
          </a:p>
        </p:txBody>
      </p:sp>
      <p:graphicFrame>
        <p:nvGraphicFramePr>
          <p:cNvPr id="13539" name="Group 227"/>
          <p:cNvGraphicFramePr>
            <a:graphicFrameLocks noGrp="1"/>
          </p:cNvGraphicFramePr>
          <p:nvPr/>
        </p:nvGraphicFramePr>
        <p:xfrm>
          <a:off x="381000" y="2495550"/>
          <a:ext cx="8458200" cy="3119440"/>
        </p:xfrm>
        <a:graphic>
          <a:graphicData uri="http://schemas.openxmlformats.org/drawingml/2006/table">
            <a:tbl>
              <a:tblPr/>
              <a:tblGrid>
                <a:gridCol w="469900">
                  <a:extLst>
                    <a:ext uri="{9D8B030D-6E8A-4147-A177-3AD203B41FA5}">
                      <a16:colId xmlns:a16="http://schemas.microsoft.com/office/drawing/2014/main" val="20000"/>
                    </a:ext>
                  </a:extLst>
                </a:gridCol>
                <a:gridCol w="469900">
                  <a:extLst>
                    <a:ext uri="{9D8B030D-6E8A-4147-A177-3AD203B41FA5}">
                      <a16:colId xmlns:a16="http://schemas.microsoft.com/office/drawing/2014/main" val="20001"/>
                    </a:ext>
                  </a:extLst>
                </a:gridCol>
                <a:gridCol w="469900">
                  <a:extLst>
                    <a:ext uri="{9D8B030D-6E8A-4147-A177-3AD203B41FA5}">
                      <a16:colId xmlns:a16="http://schemas.microsoft.com/office/drawing/2014/main" val="20002"/>
                    </a:ext>
                  </a:extLst>
                </a:gridCol>
                <a:gridCol w="469900">
                  <a:extLst>
                    <a:ext uri="{9D8B030D-6E8A-4147-A177-3AD203B41FA5}">
                      <a16:colId xmlns:a16="http://schemas.microsoft.com/office/drawing/2014/main" val="20003"/>
                    </a:ext>
                  </a:extLst>
                </a:gridCol>
                <a:gridCol w="469900">
                  <a:extLst>
                    <a:ext uri="{9D8B030D-6E8A-4147-A177-3AD203B41FA5}">
                      <a16:colId xmlns:a16="http://schemas.microsoft.com/office/drawing/2014/main" val="20004"/>
                    </a:ext>
                  </a:extLst>
                </a:gridCol>
                <a:gridCol w="469900">
                  <a:extLst>
                    <a:ext uri="{9D8B030D-6E8A-4147-A177-3AD203B41FA5}">
                      <a16:colId xmlns:a16="http://schemas.microsoft.com/office/drawing/2014/main" val="20005"/>
                    </a:ext>
                  </a:extLst>
                </a:gridCol>
                <a:gridCol w="469900">
                  <a:extLst>
                    <a:ext uri="{9D8B030D-6E8A-4147-A177-3AD203B41FA5}">
                      <a16:colId xmlns:a16="http://schemas.microsoft.com/office/drawing/2014/main" val="20006"/>
                    </a:ext>
                  </a:extLst>
                </a:gridCol>
                <a:gridCol w="469900">
                  <a:extLst>
                    <a:ext uri="{9D8B030D-6E8A-4147-A177-3AD203B41FA5}">
                      <a16:colId xmlns:a16="http://schemas.microsoft.com/office/drawing/2014/main" val="20007"/>
                    </a:ext>
                  </a:extLst>
                </a:gridCol>
                <a:gridCol w="469900">
                  <a:extLst>
                    <a:ext uri="{9D8B030D-6E8A-4147-A177-3AD203B41FA5}">
                      <a16:colId xmlns:a16="http://schemas.microsoft.com/office/drawing/2014/main" val="20008"/>
                    </a:ext>
                  </a:extLst>
                </a:gridCol>
                <a:gridCol w="469900">
                  <a:extLst>
                    <a:ext uri="{9D8B030D-6E8A-4147-A177-3AD203B41FA5}">
                      <a16:colId xmlns:a16="http://schemas.microsoft.com/office/drawing/2014/main" val="20009"/>
                    </a:ext>
                  </a:extLst>
                </a:gridCol>
                <a:gridCol w="469900">
                  <a:extLst>
                    <a:ext uri="{9D8B030D-6E8A-4147-A177-3AD203B41FA5}">
                      <a16:colId xmlns:a16="http://schemas.microsoft.com/office/drawing/2014/main" val="20010"/>
                    </a:ext>
                  </a:extLst>
                </a:gridCol>
                <a:gridCol w="469900">
                  <a:extLst>
                    <a:ext uri="{9D8B030D-6E8A-4147-A177-3AD203B41FA5}">
                      <a16:colId xmlns:a16="http://schemas.microsoft.com/office/drawing/2014/main" val="20011"/>
                    </a:ext>
                  </a:extLst>
                </a:gridCol>
                <a:gridCol w="469900">
                  <a:extLst>
                    <a:ext uri="{9D8B030D-6E8A-4147-A177-3AD203B41FA5}">
                      <a16:colId xmlns:a16="http://schemas.microsoft.com/office/drawing/2014/main" val="20012"/>
                    </a:ext>
                  </a:extLst>
                </a:gridCol>
                <a:gridCol w="469900">
                  <a:extLst>
                    <a:ext uri="{9D8B030D-6E8A-4147-A177-3AD203B41FA5}">
                      <a16:colId xmlns:a16="http://schemas.microsoft.com/office/drawing/2014/main" val="20013"/>
                    </a:ext>
                  </a:extLst>
                </a:gridCol>
                <a:gridCol w="469900">
                  <a:extLst>
                    <a:ext uri="{9D8B030D-6E8A-4147-A177-3AD203B41FA5}">
                      <a16:colId xmlns:a16="http://schemas.microsoft.com/office/drawing/2014/main" val="20014"/>
                    </a:ext>
                  </a:extLst>
                </a:gridCol>
                <a:gridCol w="469900">
                  <a:extLst>
                    <a:ext uri="{9D8B030D-6E8A-4147-A177-3AD203B41FA5}">
                      <a16:colId xmlns:a16="http://schemas.microsoft.com/office/drawing/2014/main" val="20015"/>
                    </a:ext>
                  </a:extLst>
                </a:gridCol>
                <a:gridCol w="469900">
                  <a:extLst>
                    <a:ext uri="{9D8B030D-6E8A-4147-A177-3AD203B41FA5}">
                      <a16:colId xmlns:a16="http://schemas.microsoft.com/office/drawing/2014/main" val="20016"/>
                    </a:ext>
                  </a:extLst>
                </a:gridCol>
                <a:gridCol w="469900">
                  <a:extLst>
                    <a:ext uri="{9D8B030D-6E8A-4147-A177-3AD203B41FA5}">
                      <a16:colId xmlns:a16="http://schemas.microsoft.com/office/drawing/2014/main" val="20017"/>
                    </a:ext>
                  </a:extLst>
                </a:gridCol>
              </a:tblGrid>
              <a:tr h="446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cap="flat">
                      <a:noFill/>
                    </a:lnL>
                    <a:lnR>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a:noFill/>
                    </a:lnL>
                    <a:lnR>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a:noFill/>
                    </a:lnL>
                    <a:lnR w="12700" cap="flat" cmpd="sng" algn="ctr">
                      <a:solidFill>
                        <a:schemeClr val="bg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H</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He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0"/>
                  </a:ext>
                </a:extLst>
              </a:tr>
              <a:tr h="446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Li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Be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B</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C</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N</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O</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F</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Ne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1"/>
                  </a:ext>
                </a:extLst>
              </a:tr>
              <a:tr h="4413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Na</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Mg</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Al</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Si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P</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S</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Cl</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Ar</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2"/>
                  </a:ext>
                </a:extLst>
              </a:tr>
              <a:tr h="4476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K</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Ca</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Fe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Ni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Cu</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Zn</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Br</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Kr</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3"/>
                  </a:ext>
                </a:extLst>
              </a:tr>
              <a:tr h="446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Ag</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Xe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4"/>
                  </a:ext>
                </a:extLst>
              </a:tr>
              <a:tr h="446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Pt</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Au</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Hg</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5"/>
                  </a:ext>
                </a:extLst>
              </a:tr>
              <a:tr h="446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6"/>
                  </a:ext>
                </a:extLst>
              </a:tr>
            </a:tbl>
          </a:graphicData>
        </a:graphic>
      </p:graphicFrame>
      <p:pic>
        <p:nvPicPr>
          <p:cNvPr id="13531" name="Picture 219" descr="Mendeleev"/>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1150" y="342900"/>
            <a:ext cx="121285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4" name="Rectangle 2"/>
          <p:cNvSpPr>
            <a:spLocks noGrp="1" noChangeArrowheads="1"/>
          </p:cNvSpPr>
          <p:nvPr>
            <p:ph type="title"/>
          </p:nvPr>
        </p:nvSpPr>
        <p:spPr/>
        <p:txBody>
          <a:bodyPr/>
          <a:lstStyle/>
          <a:p>
            <a:pPr eaLnBrk="1" hangingPunct="1">
              <a:defRPr/>
            </a:pPr>
            <a:r>
              <a:rPr lang="en-GB"/>
              <a:t>The Periodic Table</a:t>
            </a:r>
          </a:p>
        </p:txBody>
      </p:sp>
      <p:sp>
        <p:nvSpPr>
          <p:cNvPr id="13529" name="AutoShape 217"/>
          <p:cNvSpPr>
            <a:spLocks noChangeArrowheads="1"/>
          </p:cNvSpPr>
          <p:nvPr/>
        </p:nvSpPr>
        <p:spPr bwMode="auto">
          <a:xfrm>
            <a:off x="0" y="857250"/>
            <a:ext cx="7429500" cy="1314450"/>
          </a:xfrm>
          <a:prstGeom prst="wedgeRoundRectCallout">
            <a:avLst>
              <a:gd name="adj1" fmla="val 61347"/>
              <a:gd name="adj2" fmla="val -43597"/>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lgn="ctr">
              <a:defRPr/>
            </a:pPr>
            <a:r>
              <a:rPr lang="en-GB" b="1" dirty="0">
                <a:solidFill>
                  <a:schemeClr val="tx1"/>
                </a:solidFill>
                <a:latin typeface="Comic Sans MS" charset="0"/>
                <a:ea typeface="ＭＳ Ｐゴシック" charset="0"/>
              </a:rPr>
              <a:t>Fact 1:</a:t>
            </a:r>
            <a:r>
              <a:rPr lang="en-GB" dirty="0">
                <a:solidFill>
                  <a:schemeClr val="tx1"/>
                </a:solidFill>
                <a:latin typeface="Comic Sans MS" charset="0"/>
                <a:ea typeface="ＭＳ Ｐゴシック" charset="0"/>
              </a:rPr>
              <a:t> Elements in the periodic table are arranged in order of proton number:</a:t>
            </a:r>
          </a:p>
        </p:txBody>
      </p:sp>
      <p:grpSp>
        <p:nvGrpSpPr>
          <p:cNvPr id="13542" name="Group 230"/>
          <p:cNvGrpSpPr>
            <a:grpSpLocks/>
          </p:cNvGrpSpPr>
          <p:nvPr/>
        </p:nvGrpSpPr>
        <p:grpSpPr bwMode="auto">
          <a:xfrm>
            <a:off x="0" y="3371850"/>
            <a:ext cx="2819400" cy="1495425"/>
            <a:chOff x="0" y="3384"/>
            <a:chExt cx="1776" cy="942"/>
          </a:xfrm>
        </p:grpSpPr>
        <p:sp>
          <p:nvSpPr>
            <p:cNvPr id="13533" name="Text Box 221"/>
            <p:cNvSpPr txBox="1">
              <a:spLocks noChangeArrowheads="1"/>
            </p:cNvSpPr>
            <p:nvPr/>
          </p:nvSpPr>
          <p:spPr bwMode="auto">
            <a:xfrm>
              <a:off x="0" y="3686"/>
              <a:ext cx="1776" cy="640"/>
            </a:xfrm>
            <a:prstGeom prst="rect">
              <a:avLst/>
            </a:prstGeom>
            <a:solidFill>
              <a:srgbClr val="CC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sz="2000" dirty="0">
                  <a:latin typeface="Comic Sans MS" charset="0"/>
                  <a:ea typeface="ＭＳ Ｐゴシック" charset="0"/>
                </a:rPr>
                <a:t>E.g. Lithium has 3 protons while Beryllium has 4</a:t>
              </a:r>
            </a:p>
          </p:txBody>
        </p:sp>
        <p:sp>
          <p:nvSpPr>
            <p:cNvPr id="13536" name="AutoShape 224"/>
            <p:cNvSpPr>
              <a:spLocks noChangeArrowheads="1"/>
            </p:cNvSpPr>
            <p:nvPr/>
          </p:nvSpPr>
          <p:spPr bwMode="auto">
            <a:xfrm>
              <a:off x="252" y="3384"/>
              <a:ext cx="276" cy="360"/>
            </a:xfrm>
            <a:prstGeom prst="upArrow">
              <a:avLst>
                <a:gd name="adj1" fmla="val 50000"/>
                <a:gd name="adj2" fmla="val 32609"/>
              </a:avLst>
            </a:prstGeom>
            <a:solidFill>
              <a:srgbClr val="CC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Tree>
    <p:extLst>
      <p:ext uri="{BB962C8B-B14F-4D97-AF65-F5344CB8AC3E}">
        <p14:creationId xmlns:p14="http://schemas.microsoft.com/office/powerpoint/2010/main" val="12119191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3531"/>
                                        </p:tgtEl>
                                        <p:attrNameLst>
                                          <p:attrName>style.visibility</p:attrName>
                                        </p:attrNameLst>
                                      </p:cBhvr>
                                      <p:to>
                                        <p:strVal val="visible"/>
                                      </p:to>
                                    </p:set>
                                    <p:anim calcmode="lin" valueType="num">
                                      <p:cBhvr additive="base">
                                        <p:cTn id="7" dur="500" fill="hold"/>
                                        <p:tgtEl>
                                          <p:spTgt spid="13531"/>
                                        </p:tgtEl>
                                        <p:attrNameLst>
                                          <p:attrName>ppt_x</p:attrName>
                                        </p:attrNameLst>
                                      </p:cBhvr>
                                      <p:tavLst>
                                        <p:tav tm="0">
                                          <p:val>
                                            <p:strVal val="1+#ppt_w/2"/>
                                          </p:val>
                                        </p:tav>
                                        <p:tav tm="100000">
                                          <p:val>
                                            <p:strVal val="#ppt_x"/>
                                          </p:val>
                                        </p:tav>
                                      </p:tavLst>
                                    </p:anim>
                                    <p:anim calcmode="lin" valueType="num">
                                      <p:cBhvr additive="base">
                                        <p:cTn id="8" dur="500" fill="hold"/>
                                        <p:tgtEl>
                                          <p:spTgt spid="1353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2" fill="hold" grpId="0" nodeType="clickEffect">
                                  <p:stCondLst>
                                    <p:cond delay="0"/>
                                  </p:stCondLst>
                                  <p:childTnLst>
                                    <p:set>
                                      <p:cBhvr>
                                        <p:cTn id="12" dur="1" fill="hold">
                                          <p:stCondLst>
                                            <p:cond delay="0"/>
                                          </p:stCondLst>
                                        </p:cTn>
                                        <p:tgtEl>
                                          <p:spTgt spid="13529"/>
                                        </p:tgtEl>
                                        <p:attrNameLst>
                                          <p:attrName>style.visibility</p:attrName>
                                        </p:attrNameLst>
                                      </p:cBhvr>
                                      <p:to>
                                        <p:strVal val="visible"/>
                                      </p:to>
                                    </p:set>
                                    <p:animEffect transition="in" filter="wipe(right)">
                                      <p:cBhvr>
                                        <p:cTn id="13" dur="500"/>
                                        <p:tgtEl>
                                          <p:spTgt spid="1352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13539"/>
                                        </p:tgtEl>
                                        <p:attrNameLst>
                                          <p:attrName>style.visibility</p:attrName>
                                        </p:attrNameLst>
                                      </p:cBhvr>
                                      <p:to>
                                        <p:strVal val="visible"/>
                                      </p:to>
                                    </p:set>
                                    <p:animEffect transition="in" filter="wipe(up)">
                                      <p:cBhvr>
                                        <p:cTn id="18" dur="500"/>
                                        <p:tgtEl>
                                          <p:spTgt spid="1353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13542"/>
                                        </p:tgtEl>
                                        <p:attrNameLst>
                                          <p:attrName>style.visibility</p:attrName>
                                        </p:attrNameLst>
                                      </p:cBhvr>
                                      <p:to>
                                        <p:strVal val="visible"/>
                                      </p:to>
                                    </p:set>
                                    <p:anim calcmode="lin" valueType="num">
                                      <p:cBhvr additive="base">
                                        <p:cTn id="23" dur="500" fill="hold"/>
                                        <p:tgtEl>
                                          <p:spTgt spid="13542"/>
                                        </p:tgtEl>
                                        <p:attrNameLst>
                                          <p:attrName>ppt_x</p:attrName>
                                        </p:attrNameLst>
                                      </p:cBhvr>
                                      <p:tavLst>
                                        <p:tav tm="0">
                                          <p:val>
                                            <p:strVal val="#ppt_x"/>
                                          </p:val>
                                        </p:tav>
                                        <p:tav tm="100000">
                                          <p:val>
                                            <p:strVal val="#ppt_x"/>
                                          </p:val>
                                        </p:tav>
                                      </p:tavLst>
                                    </p:anim>
                                    <p:anim calcmode="lin" valueType="num">
                                      <p:cBhvr additive="base">
                                        <p:cTn id="24" dur="500" fill="hold"/>
                                        <p:tgtEl>
                                          <p:spTgt spid="135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29"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Date Placeholder 2"/>
          <p:cNvSpPr>
            <a:spLocks noGrp="1"/>
          </p:cNvSpPr>
          <p:nvPr>
            <p:ph type="dt" sz="half" idx="10"/>
          </p:nvPr>
        </p:nvSpPr>
        <p:spPr/>
        <p:txBody>
          <a:bodyPr/>
          <a:lstStyle/>
          <a:p>
            <a:fld id="{B379A960-8C64-458B-8E82-EAFFCF804BC4}" type="datetime1">
              <a:rPr lang="en-GB" altLang="en-US"/>
              <a:pPr/>
              <a:t>02/06/2020</a:t>
            </a:fld>
            <a:endParaRPr lang="en-GB" altLang="en-US"/>
          </a:p>
        </p:txBody>
      </p:sp>
      <p:graphicFrame>
        <p:nvGraphicFramePr>
          <p:cNvPr id="244738" name="Group 2"/>
          <p:cNvGraphicFramePr>
            <a:graphicFrameLocks noGrp="1"/>
          </p:cNvGraphicFramePr>
          <p:nvPr/>
        </p:nvGraphicFramePr>
        <p:xfrm>
          <a:off x="381000" y="2495550"/>
          <a:ext cx="8458200" cy="3160715"/>
        </p:xfrm>
        <a:graphic>
          <a:graphicData uri="http://schemas.openxmlformats.org/drawingml/2006/table">
            <a:tbl>
              <a:tblPr/>
              <a:tblGrid>
                <a:gridCol w="469900">
                  <a:extLst>
                    <a:ext uri="{9D8B030D-6E8A-4147-A177-3AD203B41FA5}">
                      <a16:colId xmlns:a16="http://schemas.microsoft.com/office/drawing/2014/main" val="20000"/>
                    </a:ext>
                  </a:extLst>
                </a:gridCol>
                <a:gridCol w="469900">
                  <a:extLst>
                    <a:ext uri="{9D8B030D-6E8A-4147-A177-3AD203B41FA5}">
                      <a16:colId xmlns:a16="http://schemas.microsoft.com/office/drawing/2014/main" val="20001"/>
                    </a:ext>
                  </a:extLst>
                </a:gridCol>
                <a:gridCol w="469900">
                  <a:extLst>
                    <a:ext uri="{9D8B030D-6E8A-4147-A177-3AD203B41FA5}">
                      <a16:colId xmlns:a16="http://schemas.microsoft.com/office/drawing/2014/main" val="20002"/>
                    </a:ext>
                  </a:extLst>
                </a:gridCol>
                <a:gridCol w="469900">
                  <a:extLst>
                    <a:ext uri="{9D8B030D-6E8A-4147-A177-3AD203B41FA5}">
                      <a16:colId xmlns:a16="http://schemas.microsoft.com/office/drawing/2014/main" val="20003"/>
                    </a:ext>
                  </a:extLst>
                </a:gridCol>
                <a:gridCol w="469900">
                  <a:extLst>
                    <a:ext uri="{9D8B030D-6E8A-4147-A177-3AD203B41FA5}">
                      <a16:colId xmlns:a16="http://schemas.microsoft.com/office/drawing/2014/main" val="20004"/>
                    </a:ext>
                  </a:extLst>
                </a:gridCol>
                <a:gridCol w="469900">
                  <a:extLst>
                    <a:ext uri="{9D8B030D-6E8A-4147-A177-3AD203B41FA5}">
                      <a16:colId xmlns:a16="http://schemas.microsoft.com/office/drawing/2014/main" val="20005"/>
                    </a:ext>
                  </a:extLst>
                </a:gridCol>
                <a:gridCol w="469900">
                  <a:extLst>
                    <a:ext uri="{9D8B030D-6E8A-4147-A177-3AD203B41FA5}">
                      <a16:colId xmlns:a16="http://schemas.microsoft.com/office/drawing/2014/main" val="20006"/>
                    </a:ext>
                  </a:extLst>
                </a:gridCol>
                <a:gridCol w="469900">
                  <a:extLst>
                    <a:ext uri="{9D8B030D-6E8A-4147-A177-3AD203B41FA5}">
                      <a16:colId xmlns:a16="http://schemas.microsoft.com/office/drawing/2014/main" val="20007"/>
                    </a:ext>
                  </a:extLst>
                </a:gridCol>
                <a:gridCol w="469900">
                  <a:extLst>
                    <a:ext uri="{9D8B030D-6E8A-4147-A177-3AD203B41FA5}">
                      <a16:colId xmlns:a16="http://schemas.microsoft.com/office/drawing/2014/main" val="20008"/>
                    </a:ext>
                  </a:extLst>
                </a:gridCol>
                <a:gridCol w="469900">
                  <a:extLst>
                    <a:ext uri="{9D8B030D-6E8A-4147-A177-3AD203B41FA5}">
                      <a16:colId xmlns:a16="http://schemas.microsoft.com/office/drawing/2014/main" val="20009"/>
                    </a:ext>
                  </a:extLst>
                </a:gridCol>
                <a:gridCol w="469900">
                  <a:extLst>
                    <a:ext uri="{9D8B030D-6E8A-4147-A177-3AD203B41FA5}">
                      <a16:colId xmlns:a16="http://schemas.microsoft.com/office/drawing/2014/main" val="20010"/>
                    </a:ext>
                  </a:extLst>
                </a:gridCol>
                <a:gridCol w="469900">
                  <a:extLst>
                    <a:ext uri="{9D8B030D-6E8A-4147-A177-3AD203B41FA5}">
                      <a16:colId xmlns:a16="http://schemas.microsoft.com/office/drawing/2014/main" val="20011"/>
                    </a:ext>
                  </a:extLst>
                </a:gridCol>
                <a:gridCol w="469900">
                  <a:extLst>
                    <a:ext uri="{9D8B030D-6E8A-4147-A177-3AD203B41FA5}">
                      <a16:colId xmlns:a16="http://schemas.microsoft.com/office/drawing/2014/main" val="20012"/>
                    </a:ext>
                  </a:extLst>
                </a:gridCol>
                <a:gridCol w="469900">
                  <a:extLst>
                    <a:ext uri="{9D8B030D-6E8A-4147-A177-3AD203B41FA5}">
                      <a16:colId xmlns:a16="http://schemas.microsoft.com/office/drawing/2014/main" val="20013"/>
                    </a:ext>
                  </a:extLst>
                </a:gridCol>
                <a:gridCol w="469900">
                  <a:extLst>
                    <a:ext uri="{9D8B030D-6E8A-4147-A177-3AD203B41FA5}">
                      <a16:colId xmlns:a16="http://schemas.microsoft.com/office/drawing/2014/main" val="20014"/>
                    </a:ext>
                  </a:extLst>
                </a:gridCol>
                <a:gridCol w="469900">
                  <a:extLst>
                    <a:ext uri="{9D8B030D-6E8A-4147-A177-3AD203B41FA5}">
                      <a16:colId xmlns:a16="http://schemas.microsoft.com/office/drawing/2014/main" val="20015"/>
                    </a:ext>
                  </a:extLst>
                </a:gridCol>
                <a:gridCol w="469900">
                  <a:extLst>
                    <a:ext uri="{9D8B030D-6E8A-4147-A177-3AD203B41FA5}">
                      <a16:colId xmlns:a16="http://schemas.microsoft.com/office/drawing/2014/main" val="20016"/>
                    </a:ext>
                  </a:extLst>
                </a:gridCol>
                <a:gridCol w="469900">
                  <a:extLst>
                    <a:ext uri="{9D8B030D-6E8A-4147-A177-3AD203B41FA5}">
                      <a16:colId xmlns:a16="http://schemas.microsoft.com/office/drawing/2014/main" val="20017"/>
                    </a:ext>
                  </a:extLst>
                </a:gridCol>
              </a:tblGrid>
              <a:tr h="446088">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cap="flat">
                      <a:noFill/>
                    </a:lnL>
                    <a:lnR>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a:noFill/>
                    </a:lnL>
                    <a:lnR>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a:noFill/>
                    </a:lnL>
                    <a:lnR>
                      <a:noFill/>
                    </a:lnR>
                    <a:lnT cap="flat">
                      <a:noFill/>
                    </a:lnT>
                    <a:lnB>
                      <a:noFill/>
                    </a:lnB>
                    <a:lnTlToBr>
                      <a:noFill/>
                    </a:lnTlToBr>
                    <a:lnBlToTr>
                      <a:noFill/>
                    </a:lnBlToTr>
                    <a:no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a:noFill/>
                    </a:lnL>
                    <a:lnR w="12700" cap="flat" cmpd="sng" algn="ctr">
                      <a:solidFill>
                        <a:schemeClr val="bg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H</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He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0"/>
                  </a:ext>
                </a:extLst>
              </a:tr>
              <a:tr h="487363">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Li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Be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B</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C</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N</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O</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F</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Ne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1"/>
                  </a:ext>
                </a:extLst>
              </a:tr>
              <a:tr h="441325">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Na</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Mg</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Al</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Si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P</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S</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Cl</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Ar</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2"/>
                  </a:ext>
                </a:extLst>
              </a:tr>
              <a:tr h="447675">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K</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Ca</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Fe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Ni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Cu</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Zn</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Br</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Kr</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3"/>
                  </a:ext>
                </a:extLst>
              </a:tr>
              <a:tr h="446088">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Ag</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Xe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4"/>
                  </a:ext>
                </a:extLst>
              </a:tr>
              <a:tr h="446088">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Pt</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Au</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Hg</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5"/>
                  </a:ext>
                </a:extLst>
              </a:tr>
              <a:tr h="446088">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6"/>
                  </a:ext>
                </a:extLst>
              </a:tr>
            </a:tbl>
          </a:graphicData>
        </a:graphic>
      </p:graphicFrame>
      <p:pic>
        <p:nvPicPr>
          <p:cNvPr id="244942" name="Picture 206" descr="Mendeleev"/>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1150" y="342900"/>
            <a:ext cx="1212850" cy="1981200"/>
          </a:xfrm>
          <a:prstGeom prst="rect">
            <a:avLst/>
          </a:prstGeom>
          <a:noFill/>
          <a:extLst>
            <a:ext uri="{909E8E84-426E-40DD-AFC4-6F175D3DCCD1}">
              <a14:hiddenFill xmlns:a14="http://schemas.microsoft.com/office/drawing/2010/main">
                <a:solidFill>
                  <a:srgbClr val="FFFFFF"/>
                </a:solidFill>
              </a14:hiddenFill>
            </a:ext>
          </a:extLst>
        </p:spPr>
      </p:pic>
      <p:sp>
        <p:nvSpPr>
          <p:cNvPr id="244943" name="Rectangle 207"/>
          <p:cNvSpPr>
            <a:spLocks noGrp="1" noChangeArrowheads="1"/>
          </p:cNvSpPr>
          <p:nvPr>
            <p:ph type="title"/>
          </p:nvPr>
        </p:nvSpPr>
        <p:spPr/>
        <p:txBody>
          <a:bodyPr/>
          <a:lstStyle/>
          <a:p>
            <a:r>
              <a:rPr lang="en-GB" altLang="en-US"/>
              <a:t>The Periodic Table</a:t>
            </a:r>
          </a:p>
        </p:txBody>
      </p:sp>
      <p:sp>
        <p:nvSpPr>
          <p:cNvPr id="244944" name="AutoShape 208"/>
          <p:cNvSpPr>
            <a:spLocks noChangeArrowheads="1"/>
          </p:cNvSpPr>
          <p:nvPr/>
        </p:nvSpPr>
        <p:spPr bwMode="auto">
          <a:xfrm>
            <a:off x="0" y="857250"/>
            <a:ext cx="7429500" cy="876300"/>
          </a:xfrm>
          <a:prstGeom prst="wedgeRoundRectCallout">
            <a:avLst>
              <a:gd name="adj1" fmla="val 61347"/>
              <a:gd name="adj2" fmla="val -40398"/>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GB" altLang="en-US" b="1" dirty="0">
                <a:solidFill>
                  <a:schemeClr val="tx1"/>
                </a:solidFill>
              </a:rPr>
              <a:t>Fact 2: </a:t>
            </a:r>
            <a:r>
              <a:rPr lang="en-GB" altLang="en-US" dirty="0">
                <a:solidFill>
                  <a:schemeClr val="tx1"/>
                </a:solidFill>
              </a:rPr>
              <a:t>Most of the elements are metals:</a:t>
            </a:r>
          </a:p>
        </p:txBody>
      </p:sp>
      <p:grpSp>
        <p:nvGrpSpPr>
          <p:cNvPr id="244945" name="Group 209"/>
          <p:cNvGrpSpPr>
            <a:grpSpLocks/>
          </p:cNvGrpSpPr>
          <p:nvPr/>
        </p:nvGrpSpPr>
        <p:grpSpPr bwMode="auto">
          <a:xfrm>
            <a:off x="2592388" y="1912939"/>
            <a:ext cx="3897313" cy="1570038"/>
            <a:chOff x="1633" y="1205"/>
            <a:chExt cx="2455" cy="989"/>
          </a:xfrm>
        </p:grpSpPr>
        <p:sp>
          <p:nvSpPr>
            <p:cNvPr id="244946" name="AutoShape 210"/>
            <p:cNvSpPr>
              <a:spLocks noChangeArrowheads="1"/>
            </p:cNvSpPr>
            <p:nvPr/>
          </p:nvSpPr>
          <p:spPr bwMode="auto">
            <a:xfrm rot="14289036">
              <a:off x="1912" y="1620"/>
              <a:ext cx="276" cy="834"/>
            </a:xfrm>
            <a:prstGeom prst="upArrow">
              <a:avLst>
                <a:gd name="adj1" fmla="val 50000"/>
                <a:gd name="adj2" fmla="val 75543"/>
              </a:avLst>
            </a:prstGeom>
            <a:solidFill>
              <a:srgbClr val="CC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4947" name="Text Box 211"/>
            <p:cNvSpPr txBox="1">
              <a:spLocks noChangeArrowheads="1"/>
            </p:cNvSpPr>
            <p:nvPr/>
          </p:nvSpPr>
          <p:spPr bwMode="auto">
            <a:xfrm>
              <a:off x="2312" y="1205"/>
              <a:ext cx="1776" cy="989"/>
            </a:xfrm>
            <a:prstGeom prst="rect">
              <a:avLst/>
            </a:prstGeom>
            <a:solidFill>
              <a:srgbClr val="CC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dirty="0"/>
                <a:t>These elements are metals – they form “positive ions”</a:t>
              </a:r>
            </a:p>
          </p:txBody>
        </p:sp>
      </p:grpSp>
      <p:grpSp>
        <p:nvGrpSpPr>
          <p:cNvPr id="244948" name="Group 212"/>
          <p:cNvGrpSpPr>
            <a:grpSpLocks/>
          </p:cNvGrpSpPr>
          <p:nvPr/>
        </p:nvGrpSpPr>
        <p:grpSpPr bwMode="auto">
          <a:xfrm>
            <a:off x="2730500" y="4895850"/>
            <a:ext cx="4462463" cy="1962150"/>
            <a:chOff x="1720" y="3084"/>
            <a:chExt cx="2811" cy="1236"/>
          </a:xfrm>
        </p:grpSpPr>
        <p:sp>
          <p:nvSpPr>
            <p:cNvPr id="244949" name="AutoShape 213"/>
            <p:cNvSpPr>
              <a:spLocks noChangeArrowheads="1"/>
            </p:cNvSpPr>
            <p:nvPr/>
          </p:nvSpPr>
          <p:spPr bwMode="auto">
            <a:xfrm rot="3076328">
              <a:off x="3728" y="2556"/>
              <a:ext cx="276" cy="1331"/>
            </a:xfrm>
            <a:prstGeom prst="upArrow">
              <a:avLst>
                <a:gd name="adj1" fmla="val 50000"/>
                <a:gd name="adj2" fmla="val 120562"/>
              </a:avLst>
            </a:prstGeom>
            <a:solidFill>
              <a:srgbClr val="33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4950" name="Text Box 214"/>
            <p:cNvSpPr txBox="1">
              <a:spLocks noChangeArrowheads="1"/>
            </p:cNvSpPr>
            <p:nvPr/>
          </p:nvSpPr>
          <p:spPr bwMode="auto">
            <a:xfrm>
              <a:off x="1720" y="3572"/>
              <a:ext cx="1696" cy="748"/>
            </a:xfrm>
            <a:prstGeom prst="rect">
              <a:avLst/>
            </a:prstGeom>
            <a:solidFill>
              <a:srgbClr val="33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t>This line divides metals from non-metals</a:t>
              </a:r>
            </a:p>
          </p:txBody>
        </p:sp>
      </p:grpSp>
      <p:grpSp>
        <p:nvGrpSpPr>
          <p:cNvPr id="244951" name="Group 215"/>
          <p:cNvGrpSpPr>
            <a:grpSpLocks/>
          </p:cNvGrpSpPr>
          <p:nvPr/>
        </p:nvGrpSpPr>
        <p:grpSpPr bwMode="auto">
          <a:xfrm>
            <a:off x="6138863" y="4230686"/>
            <a:ext cx="2971800" cy="2644773"/>
            <a:chOff x="3867" y="2665"/>
            <a:chExt cx="1872" cy="1666"/>
          </a:xfrm>
        </p:grpSpPr>
        <p:sp>
          <p:nvSpPr>
            <p:cNvPr id="244952" name="AutoShape 216"/>
            <p:cNvSpPr>
              <a:spLocks noChangeArrowheads="1"/>
            </p:cNvSpPr>
            <p:nvPr/>
          </p:nvSpPr>
          <p:spPr bwMode="auto">
            <a:xfrm>
              <a:off x="5131" y="2665"/>
              <a:ext cx="276" cy="1224"/>
            </a:xfrm>
            <a:prstGeom prst="upArrow">
              <a:avLst>
                <a:gd name="adj1" fmla="val 50000"/>
                <a:gd name="adj2" fmla="val 110870"/>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4953" name="Text Box 217"/>
            <p:cNvSpPr txBox="1">
              <a:spLocks noChangeArrowheads="1"/>
            </p:cNvSpPr>
            <p:nvPr/>
          </p:nvSpPr>
          <p:spPr bwMode="auto">
            <a:xfrm>
              <a:off x="3867" y="3342"/>
              <a:ext cx="1872" cy="9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dirty="0"/>
                <a:t>These elements are non-metals – they form “negative ions”</a:t>
              </a:r>
            </a:p>
          </p:txBody>
        </p:sp>
      </p:grpSp>
      <p:grpSp>
        <p:nvGrpSpPr>
          <p:cNvPr id="244954" name="Group 218"/>
          <p:cNvGrpSpPr>
            <a:grpSpLocks/>
          </p:cNvGrpSpPr>
          <p:nvPr/>
        </p:nvGrpSpPr>
        <p:grpSpPr bwMode="auto">
          <a:xfrm>
            <a:off x="6019800" y="3429000"/>
            <a:ext cx="1879600" cy="1782763"/>
            <a:chOff x="3792" y="2160"/>
            <a:chExt cx="1184" cy="1123"/>
          </a:xfrm>
        </p:grpSpPr>
        <p:sp>
          <p:nvSpPr>
            <p:cNvPr id="244955" name="Line 219"/>
            <p:cNvSpPr>
              <a:spLocks noChangeShapeType="1"/>
            </p:cNvSpPr>
            <p:nvPr/>
          </p:nvSpPr>
          <p:spPr bwMode="auto">
            <a:xfrm>
              <a:off x="3792" y="2160"/>
              <a:ext cx="2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4956" name="Line 220"/>
            <p:cNvSpPr>
              <a:spLocks noChangeShapeType="1"/>
            </p:cNvSpPr>
            <p:nvPr/>
          </p:nvSpPr>
          <p:spPr bwMode="auto">
            <a:xfrm>
              <a:off x="4088" y="2438"/>
              <a:ext cx="2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4957" name="Line 221"/>
            <p:cNvSpPr>
              <a:spLocks noChangeShapeType="1"/>
            </p:cNvSpPr>
            <p:nvPr/>
          </p:nvSpPr>
          <p:spPr bwMode="auto">
            <a:xfrm>
              <a:off x="4384" y="2720"/>
              <a:ext cx="2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4958" name="Line 222"/>
            <p:cNvSpPr>
              <a:spLocks noChangeShapeType="1"/>
            </p:cNvSpPr>
            <p:nvPr/>
          </p:nvSpPr>
          <p:spPr bwMode="auto">
            <a:xfrm>
              <a:off x="4680" y="3001"/>
              <a:ext cx="2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4959" name="Line 223"/>
            <p:cNvSpPr>
              <a:spLocks noChangeShapeType="1"/>
            </p:cNvSpPr>
            <p:nvPr/>
          </p:nvSpPr>
          <p:spPr bwMode="auto">
            <a:xfrm>
              <a:off x="4088" y="2160"/>
              <a:ext cx="0" cy="278"/>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4960" name="Line 224"/>
            <p:cNvSpPr>
              <a:spLocks noChangeShapeType="1"/>
            </p:cNvSpPr>
            <p:nvPr/>
          </p:nvSpPr>
          <p:spPr bwMode="auto">
            <a:xfrm>
              <a:off x="4384" y="2447"/>
              <a:ext cx="0" cy="278"/>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4961" name="Line 225"/>
            <p:cNvSpPr>
              <a:spLocks noChangeShapeType="1"/>
            </p:cNvSpPr>
            <p:nvPr/>
          </p:nvSpPr>
          <p:spPr bwMode="auto">
            <a:xfrm>
              <a:off x="4680" y="2723"/>
              <a:ext cx="0" cy="278"/>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4962" name="Line 226"/>
            <p:cNvSpPr>
              <a:spLocks noChangeShapeType="1"/>
            </p:cNvSpPr>
            <p:nvPr/>
          </p:nvSpPr>
          <p:spPr bwMode="auto">
            <a:xfrm>
              <a:off x="4976" y="3005"/>
              <a:ext cx="0" cy="278"/>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Tree>
    <p:extLst>
      <p:ext uri="{BB962C8B-B14F-4D97-AF65-F5344CB8AC3E}">
        <p14:creationId xmlns:p14="http://schemas.microsoft.com/office/powerpoint/2010/main" val="41408294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244944"/>
                                        </p:tgtEl>
                                        <p:attrNameLst>
                                          <p:attrName>style.visibility</p:attrName>
                                        </p:attrNameLst>
                                      </p:cBhvr>
                                      <p:to>
                                        <p:strVal val="visible"/>
                                      </p:to>
                                    </p:set>
                                    <p:animEffect transition="in" filter="wipe(right)">
                                      <p:cBhvr>
                                        <p:cTn id="7" dur="500"/>
                                        <p:tgtEl>
                                          <p:spTgt spid="2449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244954"/>
                                        </p:tgtEl>
                                        <p:attrNameLst>
                                          <p:attrName>style.visibility</p:attrName>
                                        </p:attrNameLst>
                                      </p:cBhvr>
                                      <p:to>
                                        <p:strVal val="visible"/>
                                      </p:to>
                                    </p:set>
                                    <p:animEffect transition="in" filter="strips(downRight)">
                                      <p:cBhvr>
                                        <p:cTn id="12" dur="500"/>
                                        <p:tgtEl>
                                          <p:spTgt spid="2449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44948"/>
                                        </p:tgtEl>
                                        <p:attrNameLst>
                                          <p:attrName>style.visibility</p:attrName>
                                        </p:attrNameLst>
                                      </p:cBhvr>
                                      <p:to>
                                        <p:strVal val="visible"/>
                                      </p:to>
                                    </p:set>
                                    <p:animEffect transition="in" filter="wipe(down)">
                                      <p:cBhvr>
                                        <p:cTn id="17" dur="500"/>
                                        <p:tgtEl>
                                          <p:spTgt spid="2449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nodeType="clickEffect">
                                  <p:stCondLst>
                                    <p:cond delay="0"/>
                                  </p:stCondLst>
                                  <p:childTnLst>
                                    <p:set>
                                      <p:cBhvr>
                                        <p:cTn id="21" dur="1" fill="hold">
                                          <p:stCondLst>
                                            <p:cond delay="0"/>
                                          </p:stCondLst>
                                        </p:cTn>
                                        <p:tgtEl>
                                          <p:spTgt spid="244945"/>
                                        </p:tgtEl>
                                        <p:attrNameLst>
                                          <p:attrName>style.visibility</p:attrName>
                                        </p:attrNameLst>
                                      </p:cBhvr>
                                      <p:to>
                                        <p:strVal val="visible"/>
                                      </p:to>
                                    </p:set>
                                    <p:anim calcmode="lin" valueType="num">
                                      <p:cBhvr additive="base">
                                        <p:cTn id="22" dur="500" fill="hold"/>
                                        <p:tgtEl>
                                          <p:spTgt spid="244945"/>
                                        </p:tgtEl>
                                        <p:attrNameLst>
                                          <p:attrName>ppt_x</p:attrName>
                                        </p:attrNameLst>
                                      </p:cBhvr>
                                      <p:tavLst>
                                        <p:tav tm="0">
                                          <p:val>
                                            <p:strVal val="0-#ppt_w/2"/>
                                          </p:val>
                                        </p:tav>
                                        <p:tav tm="100000">
                                          <p:val>
                                            <p:strVal val="#ppt_x"/>
                                          </p:val>
                                        </p:tav>
                                      </p:tavLst>
                                    </p:anim>
                                    <p:anim calcmode="lin" valueType="num">
                                      <p:cBhvr additive="base">
                                        <p:cTn id="23" dur="500" fill="hold"/>
                                        <p:tgtEl>
                                          <p:spTgt spid="244945"/>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nodeType="clickEffect">
                                  <p:stCondLst>
                                    <p:cond delay="0"/>
                                  </p:stCondLst>
                                  <p:childTnLst>
                                    <p:set>
                                      <p:cBhvr>
                                        <p:cTn id="27" dur="1" fill="hold">
                                          <p:stCondLst>
                                            <p:cond delay="0"/>
                                          </p:stCondLst>
                                        </p:cTn>
                                        <p:tgtEl>
                                          <p:spTgt spid="244951"/>
                                        </p:tgtEl>
                                        <p:attrNameLst>
                                          <p:attrName>style.visibility</p:attrName>
                                        </p:attrNameLst>
                                      </p:cBhvr>
                                      <p:to>
                                        <p:strVal val="visible"/>
                                      </p:to>
                                    </p:set>
                                    <p:animEffect transition="in" filter="wipe(down)">
                                      <p:cBhvr>
                                        <p:cTn id="28" dur="500"/>
                                        <p:tgtEl>
                                          <p:spTgt spid="2449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944"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Date Placeholder 2"/>
          <p:cNvSpPr>
            <a:spLocks noGrp="1"/>
          </p:cNvSpPr>
          <p:nvPr>
            <p:ph type="dt" sz="quarter" idx="10"/>
          </p:nvPr>
        </p:nvSpPr>
        <p:spPr/>
        <p:txBody>
          <a:bodyPr/>
          <a:lstStyle>
            <a:lvl1pPr eaLnBrk="0" hangingPunct="0">
              <a:defRPr sz="2400">
                <a:solidFill>
                  <a:schemeClr val="bg1"/>
                </a:solidFill>
                <a:latin typeface="Comic Sans MS" pitchFamily="66" charset="0"/>
                <a:ea typeface="ＭＳ Ｐゴシック" pitchFamily="34" charset="-128"/>
              </a:defRPr>
            </a:lvl1pPr>
            <a:lvl2pPr marL="742950" indent="-285750" eaLnBrk="0" hangingPunct="0">
              <a:defRPr sz="2400">
                <a:solidFill>
                  <a:schemeClr val="bg1"/>
                </a:solidFill>
                <a:latin typeface="Comic Sans MS" pitchFamily="66" charset="0"/>
                <a:ea typeface="ＭＳ Ｐゴシック" pitchFamily="34" charset="-128"/>
              </a:defRPr>
            </a:lvl2pPr>
            <a:lvl3pPr marL="1143000" indent="-228600" eaLnBrk="0" hangingPunct="0">
              <a:defRPr sz="2400">
                <a:solidFill>
                  <a:schemeClr val="bg1"/>
                </a:solidFill>
                <a:latin typeface="Comic Sans MS" pitchFamily="66" charset="0"/>
                <a:ea typeface="ＭＳ Ｐゴシック" pitchFamily="34" charset="-128"/>
              </a:defRPr>
            </a:lvl3pPr>
            <a:lvl4pPr marL="1600200" indent="-228600" eaLnBrk="0" hangingPunct="0">
              <a:defRPr sz="2400">
                <a:solidFill>
                  <a:schemeClr val="bg1"/>
                </a:solidFill>
                <a:latin typeface="Comic Sans MS" pitchFamily="66" charset="0"/>
                <a:ea typeface="ＭＳ Ｐゴシック" pitchFamily="34" charset="-128"/>
              </a:defRPr>
            </a:lvl4pPr>
            <a:lvl5pPr marL="2057400" indent="-228600" eaLnBrk="0" hangingPunct="0">
              <a:defRPr sz="2400">
                <a:solidFill>
                  <a:schemeClr val="bg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9pPr>
          </a:lstStyle>
          <a:p>
            <a:pPr eaLnBrk="1" hangingPunct="1">
              <a:defRPr/>
            </a:pPr>
            <a:fld id="{74AB3856-84BA-4C00-A813-AA1E4949D757}" type="datetime1">
              <a:rPr lang="en-GB" sz="1800" smtClean="0">
                <a:solidFill>
                  <a:schemeClr val="folHlink"/>
                </a:solidFill>
              </a:rPr>
              <a:pPr eaLnBrk="1" hangingPunct="1">
                <a:defRPr/>
              </a:pPr>
              <a:t>02/06/2020</a:t>
            </a:fld>
            <a:endParaRPr lang="en-GB" sz="1800">
              <a:solidFill>
                <a:schemeClr val="folHlink"/>
              </a:solidFill>
            </a:endParaRPr>
          </a:p>
        </p:txBody>
      </p:sp>
      <p:sp>
        <p:nvSpPr>
          <p:cNvPr id="11266" name="Rectangle 2"/>
          <p:cNvSpPr>
            <a:spLocks noGrp="1" noChangeArrowheads="1"/>
          </p:cNvSpPr>
          <p:nvPr>
            <p:ph type="title"/>
          </p:nvPr>
        </p:nvSpPr>
        <p:spPr/>
        <p:txBody>
          <a:bodyPr/>
          <a:lstStyle/>
          <a:p>
            <a:pPr eaLnBrk="1" hangingPunct="1">
              <a:defRPr/>
            </a:pPr>
            <a:r>
              <a:rPr lang="en-GB"/>
              <a:t>Electron structure</a:t>
            </a:r>
          </a:p>
        </p:txBody>
      </p:sp>
      <p:sp>
        <p:nvSpPr>
          <p:cNvPr id="11267" name="Text Box 3"/>
          <p:cNvSpPr txBox="1">
            <a:spLocks noChangeArrowheads="1"/>
          </p:cNvSpPr>
          <p:nvPr/>
        </p:nvSpPr>
        <p:spPr bwMode="auto">
          <a:xfrm>
            <a:off x="0" y="762000"/>
            <a:ext cx="472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a:solidFill>
                  <a:srgbClr val="99FFCC"/>
                </a:solidFill>
                <a:latin typeface="Comic Sans MS" charset="0"/>
                <a:ea typeface="ＭＳ Ｐゴシック" charset="0"/>
              </a:rPr>
              <a:t>Consider an atom of Potassium:</a:t>
            </a:r>
          </a:p>
        </p:txBody>
      </p:sp>
      <p:grpSp>
        <p:nvGrpSpPr>
          <p:cNvPr id="11278" name="Group 14"/>
          <p:cNvGrpSpPr>
            <a:grpSpLocks/>
          </p:cNvGrpSpPr>
          <p:nvPr/>
        </p:nvGrpSpPr>
        <p:grpSpPr bwMode="auto">
          <a:xfrm>
            <a:off x="819150" y="1276350"/>
            <a:ext cx="1905000" cy="2362200"/>
            <a:chOff x="4176" y="672"/>
            <a:chExt cx="1200" cy="1488"/>
          </a:xfrm>
        </p:grpSpPr>
        <p:sp>
          <p:nvSpPr>
            <p:cNvPr id="11273" name="Rectangle 9"/>
            <p:cNvSpPr>
              <a:spLocks noChangeArrowheads="1"/>
            </p:cNvSpPr>
            <p:nvPr/>
          </p:nvSpPr>
          <p:spPr bwMode="auto">
            <a:xfrm>
              <a:off x="4176" y="672"/>
              <a:ext cx="1200" cy="14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6181" name="WordArt 10"/>
            <p:cNvSpPr>
              <a:spLocks noChangeArrowheads="1" noChangeShapeType="1" noTextEdit="1"/>
            </p:cNvSpPr>
            <p:nvPr/>
          </p:nvSpPr>
          <p:spPr bwMode="auto">
            <a:xfrm>
              <a:off x="4512" y="1104"/>
              <a:ext cx="528" cy="600"/>
            </a:xfrm>
            <a:prstGeom prst="rect">
              <a:avLst/>
            </a:prstGeom>
          </p:spPr>
          <p:txBody>
            <a:bodyPr wrap="none" fromWordArt="1">
              <a:prstTxWarp prst="textPlain">
                <a:avLst>
                  <a:gd name="adj" fmla="val 50000"/>
                </a:avLst>
              </a:prstTxWarp>
            </a:bodyPr>
            <a:lstStyle/>
            <a:p>
              <a:pPr algn="ctr"/>
              <a:r>
                <a:rPr lang="en-GB" sz="3600" kern="10">
                  <a:ln w="9525">
                    <a:solidFill>
                      <a:srgbClr val="000000"/>
                    </a:solidFill>
                    <a:round/>
                    <a:headEnd/>
                    <a:tailEnd/>
                  </a:ln>
                  <a:solidFill>
                    <a:srgbClr val="003366"/>
                  </a:solidFill>
                  <a:latin typeface="Arial Black" panose="020B0A04020102020204" pitchFamily="34" charset="0"/>
                </a:rPr>
                <a:t>K</a:t>
              </a:r>
            </a:p>
          </p:txBody>
        </p:sp>
        <p:sp>
          <p:nvSpPr>
            <p:cNvPr id="6182" name="WordArt 11"/>
            <p:cNvSpPr>
              <a:spLocks noChangeArrowheads="1" noChangeShapeType="1" noTextEdit="1"/>
            </p:cNvSpPr>
            <p:nvPr/>
          </p:nvSpPr>
          <p:spPr bwMode="auto">
            <a:xfrm>
              <a:off x="4992" y="1824"/>
              <a:ext cx="288" cy="192"/>
            </a:xfrm>
            <a:prstGeom prst="rect">
              <a:avLst/>
            </a:prstGeom>
          </p:spPr>
          <p:txBody>
            <a:bodyPr wrap="none" fromWordArt="1">
              <a:prstTxWarp prst="textPlain">
                <a:avLst>
                  <a:gd name="adj" fmla="val 50000"/>
                </a:avLst>
              </a:prstTxWarp>
            </a:bodyPr>
            <a:lstStyle/>
            <a:p>
              <a:pPr algn="ctr"/>
              <a:r>
                <a:rPr lang="en-GB" sz="3600" kern="10">
                  <a:ln w="9525">
                    <a:solidFill>
                      <a:srgbClr val="000000"/>
                    </a:solidFill>
                    <a:round/>
                    <a:headEnd/>
                    <a:tailEnd/>
                  </a:ln>
                  <a:solidFill>
                    <a:srgbClr val="008000"/>
                  </a:solidFill>
                  <a:latin typeface="Arial Black" panose="020B0A04020102020204" pitchFamily="34" charset="0"/>
                </a:rPr>
                <a:t>19</a:t>
              </a:r>
            </a:p>
          </p:txBody>
        </p:sp>
        <p:sp>
          <p:nvSpPr>
            <p:cNvPr id="6183" name="WordArt 12"/>
            <p:cNvSpPr>
              <a:spLocks noChangeArrowheads="1" noChangeShapeType="1" noTextEdit="1"/>
            </p:cNvSpPr>
            <p:nvPr/>
          </p:nvSpPr>
          <p:spPr bwMode="auto">
            <a:xfrm>
              <a:off x="4992" y="768"/>
              <a:ext cx="288" cy="240"/>
            </a:xfrm>
            <a:prstGeom prst="rect">
              <a:avLst/>
            </a:prstGeom>
          </p:spPr>
          <p:txBody>
            <a:bodyPr wrap="none" fromWordArt="1">
              <a:prstTxWarp prst="textPlain">
                <a:avLst>
                  <a:gd name="adj" fmla="val 50000"/>
                </a:avLst>
              </a:prstTxWarp>
            </a:bodyPr>
            <a:lstStyle/>
            <a:p>
              <a:pPr algn="ctr"/>
              <a:r>
                <a:rPr lang="en-GB" sz="3600" kern="10">
                  <a:ln w="9525">
                    <a:solidFill>
                      <a:srgbClr val="000000"/>
                    </a:solidFill>
                    <a:round/>
                    <a:headEnd/>
                    <a:tailEnd/>
                  </a:ln>
                  <a:solidFill>
                    <a:srgbClr val="800000"/>
                  </a:solidFill>
                  <a:latin typeface="Arial Black" panose="020B0A04020102020204" pitchFamily="34" charset="0"/>
                </a:rPr>
                <a:t>39</a:t>
              </a:r>
            </a:p>
          </p:txBody>
        </p:sp>
      </p:grpSp>
      <p:sp>
        <p:nvSpPr>
          <p:cNvPr id="11277" name="Text Box 13"/>
          <p:cNvSpPr txBox="1">
            <a:spLocks noChangeArrowheads="1"/>
          </p:cNvSpPr>
          <p:nvPr/>
        </p:nvSpPr>
        <p:spPr bwMode="auto">
          <a:xfrm>
            <a:off x="228600" y="3752850"/>
            <a:ext cx="39052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400">
                <a:solidFill>
                  <a:schemeClr val="bg1"/>
                </a:solidFill>
                <a:latin typeface="Comic Sans MS" pitchFamily="66" charset="0"/>
                <a:ea typeface="ＭＳ Ｐゴシック" pitchFamily="34" charset="-128"/>
              </a:defRPr>
            </a:lvl1pPr>
            <a:lvl2pPr marL="742950" indent="-285750" eaLnBrk="0" hangingPunct="0">
              <a:defRPr sz="2400">
                <a:solidFill>
                  <a:schemeClr val="bg1"/>
                </a:solidFill>
                <a:latin typeface="Comic Sans MS" pitchFamily="66" charset="0"/>
                <a:ea typeface="ＭＳ Ｐゴシック" pitchFamily="34" charset="-128"/>
              </a:defRPr>
            </a:lvl2pPr>
            <a:lvl3pPr marL="1143000" indent="-228600" eaLnBrk="0" hangingPunct="0">
              <a:defRPr sz="2400">
                <a:solidFill>
                  <a:schemeClr val="bg1"/>
                </a:solidFill>
                <a:latin typeface="Comic Sans MS" pitchFamily="66" charset="0"/>
                <a:ea typeface="ＭＳ Ｐゴシック" pitchFamily="34" charset="-128"/>
              </a:defRPr>
            </a:lvl3pPr>
            <a:lvl4pPr marL="1600200" indent="-228600" eaLnBrk="0" hangingPunct="0">
              <a:defRPr sz="2400">
                <a:solidFill>
                  <a:schemeClr val="bg1"/>
                </a:solidFill>
                <a:latin typeface="Comic Sans MS" pitchFamily="66" charset="0"/>
                <a:ea typeface="ＭＳ Ｐゴシック" pitchFamily="34" charset="-128"/>
              </a:defRPr>
            </a:lvl4pPr>
            <a:lvl5pPr marL="2057400" indent="-228600" eaLnBrk="0" hangingPunct="0">
              <a:defRPr sz="2400">
                <a:solidFill>
                  <a:schemeClr val="bg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9pPr>
          </a:lstStyle>
          <a:p>
            <a:pPr eaLnBrk="1" hangingPunct="1">
              <a:spcBef>
                <a:spcPct val="50000"/>
              </a:spcBef>
              <a:defRPr/>
            </a:pPr>
            <a:r>
              <a:rPr lang="en-GB" sz="2000" dirty="0">
                <a:solidFill>
                  <a:srgbClr val="FFCCFF"/>
                </a:solidFill>
              </a:rPr>
              <a:t>Potassium has 19 electrons.  These electrons occupy specific energy levels </a:t>
            </a:r>
            <a:r>
              <a:rPr lang="ja-JP" altLang="en-GB" sz="2000" dirty="0">
                <a:solidFill>
                  <a:srgbClr val="FFCCFF"/>
                </a:solidFill>
                <a:latin typeface="Arial" pitchFamily="34" charset="0"/>
              </a:rPr>
              <a:t>“</a:t>
            </a:r>
            <a:r>
              <a:rPr lang="en-GB" altLang="ja-JP" sz="2000" dirty="0">
                <a:solidFill>
                  <a:srgbClr val="FFCCFF"/>
                </a:solidFill>
              </a:rPr>
              <a:t>shells</a:t>
            </a:r>
            <a:r>
              <a:rPr lang="ja-JP" altLang="en-GB" sz="2000" dirty="0">
                <a:solidFill>
                  <a:srgbClr val="FFCCFF"/>
                </a:solidFill>
                <a:latin typeface="Arial" pitchFamily="34" charset="0"/>
              </a:rPr>
              <a:t>”</a:t>
            </a:r>
            <a:r>
              <a:rPr lang="en-GB" altLang="ja-JP" sz="2000" dirty="0">
                <a:solidFill>
                  <a:srgbClr val="FFCCFF"/>
                </a:solidFill>
              </a:rPr>
              <a:t>…</a:t>
            </a:r>
            <a:endParaRPr lang="en-GB" sz="2000" dirty="0">
              <a:solidFill>
                <a:srgbClr val="FFCCFF"/>
              </a:solidFill>
            </a:endParaRPr>
          </a:p>
        </p:txBody>
      </p:sp>
      <p:grpSp>
        <p:nvGrpSpPr>
          <p:cNvPr id="11304" name="Group 40"/>
          <p:cNvGrpSpPr>
            <a:grpSpLocks/>
          </p:cNvGrpSpPr>
          <p:nvPr/>
        </p:nvGrpSpPr>
        <p:grpSpPr bwMode="auto">
          <a:xfrm>
            <a:off x="4191000" y="895350"/>
            <a:ext cx="4724400" cy="4724400"/>
            <a:chOff x="2640" y="564"/>
            <a:chExt cx="2976" cy="2976"/>
          </a:xfrm>
        </p:grpSpPr>
        <p:grpSp>
          <p:nvGrpSpPr>
            <p:cNvPr id="6154" name="Group 27"/>
            <p:cNvGrpSpPr>
              <a:grpSpLocks/>
            </p:cNvGrpSpPr>
            <p:nvPr/>
          </p:nvGrpSpPr>
          <p:grpSpPr bwMode="auto">
            <a:xfrm>
              <a:off x="2640" y="564"/>
              <a:ext cx="2976" cy="2976"/>
              <a:chOff x="2640" y="624"/>
              <a:chExt cx="2976" cy="2976"/>
            </a:xfrm>
          </p:grpSpPr>
          <p:sp>
            <p:nvSpPr>
              <p:cNvPr id="11268" name="Oval 4"/>
              <p:cNvSpPr>
                <a:spLocks noChangeArrowheads="1"/>
              </p:cNvSpPr>
              <p:nvPr/>
            </p:nvSpPr>
            <p:spPr bwMode="auto">
              <a:xfrm>
                <a:off x="3984" y="1968"/>
                <a:ext cx="288" cy="288"/>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69" name="Oval 5"/>
              <p:cNvSpPr>
                <a:spLocks noChangeArrowheads="1"/>
              </p:cNvSpPr>
              <p:nvPr/>
            </p:nvSpPr>
            <p:spPr bwMode="auto">
              <a:xfrm>
                <a:off x="3504" y="1488"/>
                <a:ext cx="1248" cy="1248"/>
              </a:xfrm>
              <a:prstGeom prst="ellipse">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70" name="Oval 6"/>
              <p:cNvSpPr>
                <a:spLocks noChangeArrowheads="1"/>
              </p:cNvSpPr>
              <p:nvPr/>
            </p:nvSpPr>
            <p:spPr bwMode="auto">
              <a:xfrm>
                <a:off x="3216" y="1200"/>
                <a:ext cx="1824" cy="1824"/>
              </a:xfrm>
              <a:prstGeom prst="ellipse">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71" name="Oval 7"/>
              <p:cNvSpPr>
                <a:spLocks noChangeArrowheads="1"/>
              </p:cNvSpPr>
              <p:nvPr/>
            </p:nvSpPr>
            <p:spPr bwMode="auto">
              <a:xfrm>
                <a:off x="2928" y="912"/>
                <a:ext cx="2400" cy="2400"/>
              </a:xfrm>
              <a:prstGeom prst="ellipse">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72" name="Oval 8"/>
              <p:cNvSpPr>
                <a:spLocks noChangeArrowheads="1"/>
              </p:cNvSpPr>
              <p:nvPr/>
            </p:nvSpPr>
            <p:spPr bwMode="auto">
              <a:xfrm>
                <a:off x="2640" y="624"/>
                <a:ext cx="2976" cy="2976"/>
              </a:xfrm>
              <a:prstGeom prst="ellipse">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90" name="Text Box 26"/>
              <p:cNvSpPr txBox="1">
                <a:spLocks noChangeArrowheads="1"/>
              </p:cNvSpPr>
              <p:nvPr/>
            </p:nvSpPr>
            <p:spPr bwMode="auto">
              <a:xfrm>
                <a:off x="3816" y="2256"/>
                <a:ext cx="7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sz="1800">
                    <a:latin typeface="Comic Sans MS" charset="0"/>
                    <a:ea typeface="ＭＳ Ｐゴシック" charset="0"/>
                  </a:rPr>
                  <a:t>Nucleus</a:t>
                </a:r>
              </a:p>
            </p:txBody>
          </p:sp>
        </p:grpSp>
        <p:sp>
          <p:nvSpPr>
            <p:cNvPr id="11280" name="Oval 16"/>
            <p:cNvSpPr>
              <a:spLocks noChangeArrowheads="1"/>
            </p:cNvSpPr>
            <p:nvPr/>
          </p:nvSpPr>
          <p:spPr bwMode="auto">
            <a:xfrm>
              <a:off x="4044" y="2592"/>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81" name="Oval 17"/>
            <p:cNvSpPr>
              <a:spLocks noChangeArrowheads="1"/>
            </p:cNvSpPr>
            <p:nvPr/>
          </p:nvSpPr>
          <p:spPr bwMode="auto">
            <a:xfrm>
              <a:off x="4068" y="1356"/>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82" name="Oval 18"/>
            <p:cNvSpPr>
              <a:spLocks noChangeArrowheads="1"/>
            </p:cNvSpPr>
            <p:nvPr/>
          </p:nvSpPr>
          <p:spPr bwMode="auto">
            <a:xfrm>
              <a:off x="4056" y="1080"/>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83" name="Oval 19"/>
            <p:cNvSpPr>
              <a:spLocks noChangeArrowheads="1"/>
            </p:cNvSpPr>
            <p:nvPr/>
          </p:nvSpPr>
          <p:spPr bwMode="auto">
            <a:xfrm>
              <a:off x="4056" y="2904"/>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84" name="Oval 20"/>
            <p:cNvSpPr>
              <a:spLocks noChangeArrowheads="1"/>
            </p:cNvSpPr>
            <p:nvPr/>
          </p:nvSpPr>
          <p:spPr bwMode="auto">
            <a:xfrm>
              <a:off x="3144" y="1968"/>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85" name="Oval 21"/>
            <p:cNvSpPr>
              <a:spLocks noChangeArrowheads="1"/>
            </p:cNvSpPr>
            <p:nvPr/>
          </p:nvSpPr>
          <p:spPr bwMode="auto">
            <a:xfrm>
              <a:off x="3396" y="2628"/>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86" name="Oval 22"/>
            <p:cNvSpPr>
              <a:spLocks noChangeArrowheads="1"/>
            </p:cNvSpPr>
            <p:nvPr/>
          </p:nvSpPr>
          <p:spPr bwMode="auto">
            <a:xfrm>
              <a:off x="4968" y="1968"/>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87" name="Oval 23"/>
            <p:cNvSpPr>
              <a:spLocks noChangeArrowheads="1"/>
            </p:cNvSpPr>
            <p:nvPr/>
          </p:nvSpPr>
          <p:spPr bwMode="auto">
            <a:xfrm>
              <a:off x="4704" y="2616"/>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88" name="Oval 24"/>
            <p:cNvSpPr>
              <a:spLocks noChangeArrowheads="1"/>
            </p:cNvSpPr>
            <p:nvPr/>
          </p:nvSpPr>
          <p:spPr bwMode="auto">
            <a:xfrm>
              <a:off x="3408" y="1344"/>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89" name="Oval 25"/>
            <p:cNvSpPr>
              <a:spLocks noChangeArrowheads="1"/>
            </p:cNvSpPr>
            <p:nvPr/>
          </p:nvSpPr>
          <p:spPr bwMode="auto">
            <a:xfrm>
              <a:off x="4716" y="1332"/>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92" name="Oval 28"/>
            <p:cNvSpPr>
              <a:spLocks noChangeArrowheads="1"/>
            </p:cNvSpPr>
            <p:nvPr/>
          </p:nvSpPr>
          <p:spPr bwMode="auto">
            <a:xfrm>
              <a:off x="4056" y="780"/>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93" name="Oval 29"/>
            <p:cNvSpPr>
              <a:spLocks noChangeArrowheads="1"/>
            </p:cNvSpPr>
            <p:nvPr/>
          </p:nvSpPr>
          <p:spPr bwMode="auto">
            <a:xfrm>
              <a:off x="3228" y="1116"/>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94" name="Oval 30"/>
            <p:cNvSpPr>
              <a:spLocks noChangeArrowheads="1"/>
            </p:cNvSpPr>
            <p:nvPr/>
          </p:nvSpPr>
          <p:spPr bwMode="auto">
            <a:xfrm>
              <a:off x="2856" y="1968"/>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95" name="Oval 31"/>
            <p:cNvSpPr>
              <a:spLocks noChangeArrowheads="1"/>
            </p:cNvSpPr>
            <p:nvPr/>
          </p:nvSpPr>
          <p:spPr bwMode="auto">
            <a:xfrm>
              <a:off x="3216" y="2832"/>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96" name="Oval 32"/>
            <p:cNvSpPr>
              <a:spLocks noChangeArrowheads="1"/>
            </p:cNvSpPr>
            <p:nvPr/>
          </p:nvSpPr>
          <p:spPr bwMode="auto">
            <a:xfrm>
              <a:off x="4896" y="2820"/>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97" name="Oval 33"/>
            <p:cNvSpPr>
              <a:spLocks noChangeArrowheads="1"/>
            </p:cNvSpPr>
            <p:nvPr/>
          </p:nvSpPr>
          <p:spPr bwMode="auto">
            <a:xfrm>
              <a:off x="4056" y="3180"/>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98" name="Oval 34"/>
            <p:cNvSpPr>
              <a:spLocks noChangeArrowheads="1"/>
            </p:cNvSpPr>
            <p:nvPr/>
          </p:nvSpPr>
          <p:spPr bwMode="auto">
            <a:xfrm>
              <a:off x="4872" y="1116"/>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99" name="Oval 35"/>
            <p:cNvSpPr>
              <a:spLocks noChangeArrowheads="1"/>
            </p:cNvSpPr>
            <p:nvPr/>
          </p:nvSpPr>
          <p:spPr bwMode="auto">
            <a:xfrm>
              <a:off x="5256" y="1968"/>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301" name="Oval 37"/>
            <p:cNvSpPr>
              <a:spLocks noChangeArrowheads="1"/>
            </p:cNvSpPr>
            <p:nvPr/>
          </p:nvSpPr>
          <p:spPr bwMode="auto">
            <a:xfrm>
              <a:off x="3456" y="624"/>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
        <p:nvSpPr>
          <p:cNvPr id="11302" name="Text Box 38"/>
          <p:cNvSpPr txBox="1">
            <a:spLocks noChangeArrowheads="1"/>
          </p:cNvSpPr>
          <p:nvPr/>
        </p:nvSpPr>
        <p:spPr bwMode="auto">
          <a:xfrm>
            <a:off x="0" y="5067300"/>
            <a:ext cx="6057900"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sz="2000">
                <a:solidFill>
                  <a:srgbClr val="FFFF99"/>
                </a:solidFill>
                <a:latin typeface="Comic Sans MS" charset="0"/>
                <a:ea typeface="ＭＳ Ｐゴシック" charset="0"/>
              </a:rPr>
              <a:t>The inner shell has __ electrons</a:t>
            </a:r>
          </a:p>
          <a:p>
            <a:pPr>
              <a:spcBef>
                <a:spcPct val="50000"/>
              </a:spcBef>
              <a:defRPr/>
            </a:pPr>
            <a:r>
              <a:rPr lang="en-GB" sz="2000">
                <a:solidFill>
                  <a:srgbClr val="FFCCCC"/>
                </a:solidFill>
                <a:latin typeface="Comic Sans MS" charset="0"/>
                <a:ea typeface="ＭＳ Ｐゴシック" charset="0"/>
              </a:rPr>
              <a:t>The next shell has __ electrons</a:t>
            </a:r>
          </a:p>
          <a:p>
            <a:pPr>
              <a:spcBef>
                <a:spcPct val="50000"/>
              </a:spcBef>
              <a:defRPr/>
            </a:pPr>
            <a:r>
              <a:rPr lang="en-GB" sz="2000">
                <a:solidFill>
                  <a:srgbClr val="CCFFCC"/>
                </a:solidFill>
                <a:latin typeface="Comic Sans MS" charset="0"/>
                <a:ea typeface="ＭＳ Ｐゴシック" charset="0"/>
              </a:rPr>
              <a:t>The next shell has __ electrons</a:t>
            </a:r>
          </a:p>
          <a:p>
            <a:pPr>
              <a:spcBef>
                <a:spcPct val="50000"/>
              </a:spcBef>
              <a:defRPr/>
            </a:pPr>
            <a:r>
              <a:rPr lang="en-GB" sz="2000">
                <a:solidFill>
                  <a:srgbClr val="99CCFF"/>
                </a:solidFill>
                <a:latin typeface="Comic Sans MS" charset="0"/>
                <a:ea typeface="ＭＳ Ｐゴシック" charset="0"/>
              </a:rPr>
              <a:t>The next shell has the remaining __ electron</a:t>
            </a:r>
          </a:p>
        </p:txBody>
      </p:sp>
      <p:sp>
        <p:nvSpPr>
          <p:cNvPr id="11303" name="Text Box 39"/>
          <p:cNvSpPr txBox="1">
            <a:spLocks noChangeArrowheads="1"/>
          </p:cNvSpPr>
          <p:nvPr/>
        </p:nvSpPr>
        <p:spPr bwMode="auto">
          <a:xfrm>
            <a:off x="5638800" y="5853113"/>
            <a:ext cx="3505200" cy="1004887"/>
          </a:xfrm>
          <a:prstGeom prst="rect">
            <a:avLst/>
          </a:prstGeom>
          <a:solidFill>
            <a:srgbClr val="FF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GB" b="1">
                <a:latin typeface="Comic Sans MS" charset="0"/>
                <a:ea typeface="ＭＳ Ｐゴシック" charset="0"/>
              </a:rPr>
              <a:t>Electron structure </a:t>
            </a:r>
          </a:p>
          <a:p>
            <a:pPr algn="ctr">
              <a:spcBef>
                <a:spcPct val="50000"/>
              </a:spcBef>
              <a:defRPr/>
            </a:pPr>
            <a:r>
              <a:rPr lang="en-GB" b="1">
                <a:latin typeface="Comic Sans MS" charset="0"/>
                <a:ea typeface="ＭＳ Ｐゴシック" charset="0"/>
              </a:rPr>
              <a:t>= 2,8,8,1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7"/>
                                        </p:tgtEl>
                                        <p:attrNameLst>
                                          <p:attrName>style.visibility</p:attrName>
                                        </p:attrNameLst>
                                      </p:cBhvr>
                                      <p:to>
                                        <p:strVal val="visible"/>
                                      </p:to>
                                    </p:set>
                                    <p:animEffect transition="in" filter="wipe(left)">
                                      <p:cBhvr>
                                        <p:cTn id="7" dur="500"/>
                                        <p:tgtEl>
                                          <p:spTgt spid="112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1278"/>
                                        </p:tgtEl>
                                        <p:attrNameLst>
                                          <p:attrName>style.visibility</p:attrName>
                                        </p:attrNameLst>
                                      </p:cBhvr>
                                      <p:to>
                                        <p:strVal val="visible"/>
                                      </p:to>
                                    </p:set>
                                    <p:animEffect transition="in" filter="wipe(up)">
                                      <p:cBhvr>
                                        <p:cTn id="12" dur="500"/>
                                        <p:tgtEl>
                                          <p:spTgt spid="112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277"/>
                                        </p:tgtEl>
                                        <p:attrNameLst>
                                          <p:attrName>style.visibility</p:attrName>
                                        </p:attrNameLst>
                                      </p:cBhvr>
                                      <p:to>
                                        <p:strVal val="visible"/>
                                      </p:to>
                                    </p:set>
                                    <p:animEffect transition="in" filter="wipe(left)">
                                      <p:cBhvr>
                                        <p:cTn id="17" dur="500"/>
                                        <p:tgtEl>
                                          <p:spTgt spid="1127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1304"/>
                                        </p:tgtEl>
                                        <p:attrNameLst>
                                          <p:attrName>style.visibility</p:attrName>
                                        </p:attrNameLst>
                                      </p:cBhvr>
                                      <p:to>
                                        <p:strVal val="visible"/>
                                      </p:to>
                                    </p:set>
                                    <p:animEffect transition="in" filter="wipe(up)">
                                      <p:cBhvr>
                                        <p:cTn id="22" dur="500"/>
                                        <p:tgtEl>
                                          <p:spTgt spid="1130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302">
                                            <p:txEl>
                                              <p:pRg st="0" end="0"/>
                                            </p:txEl>
                                          </p:spTgt>
                                        </p:tgtEl>
                                        <p:attrNameLst>
                                          <p:attrName>style.visibility</p:attrName>
                                        </p:attrNameLst>
                                      </p:cBhvr>
                                      <p:to>
                                        <p:strVal val="visible"/>
                                      </p:to>
                                    </p:set>
                                    <p:animEffect transition="in" filter="wipe(left)">
                                      <p:cBhvr>
                                        <p:cTn id="27" dur="500"/>
                                        <p:tgtEl>
                                          <p:spTgt spid="11302">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302">
                                            <p:txEl>
                                              <p:pRg st="1" end="1"/>
                                            </p:txEl>
                                          </p:spTgt>
                                        </p:tgtEl>
                                        <p:attrNameLst>
                                          <p:attrName>style.visibility</p:attrName>
                                        </p:attrNameLst>
                                      </p:cBhvr>
                                      <p:to>
                                        <p:strVal val="visible"/>
                                      </p:to>
                                    </p:set>
                                    <p:animEffect transition="in" filter="wipe(left)">
                                      <p:cBhvr>
                                        <p:cTn id="32" dur="500"/>
                                        <p:tgtEl>
                                          <p:spTgt spid="11302">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302">
                                            <p:txEl>
                                              <p:pRg st="2" end="2"/>
                                            </p:txEl>
                                          </p:spTgt>
                                        </p:tgtEl>
                                        <p:attrNameLst>
                                          <p:attrName>style.visibility</p:attrName>
                                        </p:attrNameLst>
                                      </p:cBhvr>
                                      <p:to>
                                        <p:strVal val="visible"/>
                                      </p:to>
                                    </p:set>
                                    <p:animEffect transition="in" filter="wipe(left)">
                                      <p:cBhvr>
                                        <p:cTn id="37" dur="500"/>
                                        <p:tgtEl>
                                          <p:spTgt spid="11302">
                                            <p:txEl>
                                              <p:pRg st="2" end="2"/>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302">
                                            <p:txEl>
                                              <p:pRg st="3" end="3"/>
                                            </p:txEl>
                                          </p:spTgt>
                                        </p:tgtEl>
                                        <p:attrNameLst>
                                          <p:attrName>style.visibility</p:attrName>
                                        </p:attrNameLst>
                                      </p:cBhvr>
                                      <p:to>
                                        <p:strVal val="visible"/>
                                      </p:to>
                                    </p:set>
                                    <p:animEffect transition="in" filter="wipe(left)">
                                      <p:cBhvr>
                                        <p:cTn id="42" dur="500"/>
                                        <p:tgtEl>
                                          <p:spTgt spid="11302">
                                            <p:txEl>
                                              <p:pRg st="3" end="3"/>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1303"/>
                                        </p:tgtEl>
                                        <p:attrNameLst>
                                          <p:attrName>style.visibility</p:attrName>
                                        </p:attrNameLst>
                                      </p:cBhvr>
                                      <p:to>
                                        <p:strVal val="visible"/>
                                      </p:to>
                                    </p:set>
                                    <p:anim calcmode="lin" valueType="num">
                                      <p:cBhvr additive="base">
                                        <p:cTn id="47" dur="500" fill="hold"/>
                                        <p:tgtEl>
                                          <p:spTgt spid="11303"/>
                                        </p:tgtEl>
                                        <p:attrNameLst>
                                          <p:attrName>ppt_x</p:attrName>
                                        </p:attrNameLst>
                                      </p:cBhvr>
                                      <p:tavLst>
                                        <p:tav tm="0">
                                          <p:val>
                                            <p:strVal val="#ppt_x"/>
                                          </p:val>
                                        </p:tav>
                                        <p:tav tm="100000">
                                          <p:val>
                                            <p:strVal val="#ppt_x"/>
                                          </p:val>
                                        </p:tav>
                                      </p:tavLst>
                                    </p:anim>
                                    <p:anim calcmode="lin" valueType="num">
                                      <p:cBhvr additive="base">
                                        <p:cTn id="48" dur="500" fill="hold"/>
                                        <p:tgtEl>
                                          <p:spTgt spid="113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autoUpdateAnimBg="0"/>
      <p:bldP spid="11277" grpId="0" autoUpdateAnimBg="0"/>
      <p:bldP spid="11302" grpId="0" build="p" autoUpdateAnimBg="0"/>
      <p:bldP spid="11303"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Date Placeholder 2"/>
          <p:cNvSpPr>
            <a:spLocks noGrp="1"/>
          </p:cNvSpPr>
          <p:nvPr>
            <p:ph type="dt" sz="quarter" idx="10"/>
          </p:nvPr>
        </p:nvSpPr>
        <p:spPr/>
        <p:txBody>
          <a:bodyPr/>
          <a:lstStyle>
            <a:lvl1pPr eaLnBrk="0" hangingPunct="0">
              <a:defRPr sz="2400">
                <a:solidFill>
                  <a:schemeClr val="bg1"/>
                </a:solidFill>
                <a:latin typeface="Comic Sans MS" pitchFamily="66" charset="0"/>
                <a:ea typeface="ＭＳ Ｐゴシック" pitchFamily="34" charset="-128"/>
              </a:defRPr>
            </a:lvl1pPr>
            <a:lvl2pPr marL="742950" indent="-285750" eaLnBrk="0" hangingPunct="0">
              <a:defRPr sz="2400">
                <a:solidFill>
                  <a:schemeClr val="bg1"/>
                </a:solidFill>
                <a:latin typeface="Comic Sans MS" pitchFamily="66" charset="0"/>
                <a:ea typeface="ＭＳ Ｐゴシック" pitchFamily="34" charset="-128"/>
              </a:defRPr>
            </a:lvl2pPr>
            <a:lvl3pPr marL="1143000" indent="-228600" eaLnBrk="0" hangingPunct="0">
              <a:defRPr sz="2400">
                <a:solidFill>
                  <a:schemeClr val="bg1"/>
                </a:solidFill>
                <a:latin typeface="Comic Sans MS" pitchFamily="66" charset="0"/>
                <a:ea typeface="ＭＳ Ｐゴシック" pitchFamily="34" charset="-128"/>
              </a:defRPr>
            </a:lvl3pPr>
            <a:lvl4pPr marL="1600200" indent="-228600" eaLnBrk="0" hangingPunct="0">
              <a:defRPr sz="2400">
                <a:solidFill>
                  <a:schemeClr val="bg1"/>
                </a:solidFill>
                <a:latin typeface="Comic Sans MS" pitchFamily="66" charset="0"/>
                <a:ea typeface="ＭＳ Ｐゴシック" pitchFamily="34" charset="-128"/>
              </a:defRPr>
            </a:lvl4pPr>
            <a:lvl5pPr marL="2057400" indent="-228600" eaLnBrk="0" hangingPunct="0">
              <a:defRPr sz="2400">
                <a:solidFill>
                  <a:schemeClr val="bg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9pPr>
          </a:lstStyle>
          <a:p>
            <a:pPr eaLnBrk="1" hangingPunct="1">
              <a:defRPr/>
            </a:pPr>
            <a:fld id="{A077FCE0-7D0E-45C5-8345-8954F2E2BC79}" type="datetime1">
              <a:rPr lang="en-GB" sz="1800" smtClean="0">
                <a:solidFill>
                  <a:schemeClr val="folHlink"/>
                </a:solidFill>
              </a:rPr>
              <a:pPr eaLnBrk="1" hangingPunct="1">
                <a:defRPr/>
              </a:pPr>
              <a:t>02/06/2020</a:t>
            </a:fld>
            <a:endParaRPr lang="en-GB" sz="1800">
              <a:solidFill>
                <a:schemeClr val="folHlink"/>
              </a:solidFill>
            </a:endParaRPr>
          </a:p>
        </p:txBody>
      </p:sp>
      <p:sp>
        <p:nvSpPr>
          <p:cNvPr id="11266" name="Rectangle 2"/>
          <p:cNvSpPr>
            <a:spLocks noGrp="1" noChangeArrowheads="1"/>
          </p:cNvSpPr>
          <p:nvPr>
            <p:ph type="title"/>
          </p:nvPr>
        </p:nvSpPr>
        <p:spPr/>
        <p:txBody>
          <a:bodyPr/>
          <a:lstStyle/>
          <a:p>
            <a:pPr eaLnBrk="1" hangingPunct="1">
              <a:defRPr/>
            </a:pPr>
            <a:r>
              <a:rPr lang="en-GB"/>
              <a:t>Electron structure</a:t>
            </a:r>
          </a:p>
        </p:txBody>
      </p:sp>
      <p:sp>
        <p:nvSpPr>
          <p:cNvPr id="11267" name="Text Box 3"/>
          <p:cNvSpPr txBox="1">
            <a:spLocks noChangeArrowheads="1"/>
          </p:cNvSpPr>
          <p:nvPr/>
        </p:nvSpPr>
        <p:spPr bwMode="auto">
          <a:xfrm>
            <a:off x="0" y="692150"/>
            <a:ext cx="91440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dirty="0">
                <a:solidFill>
                  <a:srgbClr val="99FFCC"/>
                </a:solidFill>
                <a:latin typeface="Comic Sans MS" charset="0"/>
                <a:ea typeface="ＭＳ Ｐゴシック" charset="0"/>
              </a:rPr>
              <a:t>Draw the electronic structure of the following atoms:</a:t>
            </a:r>
          </a:p>
        </p:txBody>
      </p:sp>
      <p:sp>
        <p:nvSpPr>
          <p:cNvPr id="11273" name="Rectangle 9"/>
          <p:cNvSpPr>
            <a:spLocks noChangeArrowheads="1"/>
          </p:cNvSpPr>
          <p:nvPr/>
        </p:nvSpPr>
        <p:spPr bwMode="auto">
          <a:xfrm>
            <a:off x="6732588" y="1196975"/>
            <a:ext cx="1498600" cy="18573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7174" name="WordArt 10"/>
          <p:cNvSpPr>
            <a:spLocks noChangeArrowheads="1" noChangeShapeType="1" noTextEdit="1"/>
          </p:cNvSpPr>
          <p:nvPr/>
        </p:nvSpPr>
        <p:spPr bwMode="auto">
          <a:xfrm>
            <a:off x="7019925" y="1700213"/>
            <a:ext cx="865188" cy="749300"/>
          </a:xfrm>
          <a:prstGeom prst="rect">
            <a:avLst/>
          </a:prstGeom>
        </p:spPr>
        <p:txBody>
          <a:bodyPr wrap="none" fromWordArt="1">
            <a:prstTxWarp prst="textPlain">
              <a:avLst>
                <a:gd name="adj" fmla="val 50000"/>
              </a:avLst>
            </a:prstTxWarp>
          </a:bodyPr>
          <a:lstStyle/>
          <a:p>
            <a:pPr algn="ctr"/>
            <a:r>
              <a:rPr lang="en-GB" sz="3600" kern="10">
                <a:ln w="9525">
                  <a:solidFill>
                    <a:srgbClr val="000000"/>
                  </a:solidFill>
                  <a:round/>
                  <a:headEnd/>
                  <a:tailEnd/>
                </a:ln>
                <a:solidFill>
                  <a:srgbClr val="003366"/>
                </a:solidFill>
                <a:latin typeface="Arial Black" panose="020B0A04020102020204" pitchFamily="34" charset="0"/>
              </a:rPr>
              <a:t>Ca</a:t>
            </a:r>
          </a:p>
        </p:txBody>
      </p:sp>
      <p:sp>
        <p:nvSpPr>
          <p:cNvPr id="7175" name="WordArt 11"/>
          <p:cNvSpPr>
            <a:spLocks noChangeArrowheads="1" noChangeShapeType="1" noTextEdit="1"/>
          </p:cNvSpPr>
          <p:nvPr/>
        </p:nvSpPr>
        <p:spPr bwMode="auto">
          <a:xfrm>
            <a:off x="7726363" y="2671763"/>
            <a:ext cx="358775" cy="239712"/>
          </a:xfrm>
          <a:prstGeom prst="rect">
            <a:avLst/>
          </a:prstGeom>
        </p:spPr>
        <p:txBody>
          <a:bodyPr wrap="none" fromWordArt="1">
            <a:prstTxWarp prst="textPlain">
              <a:avLst>
                <a:gd name="adj" fmla="val 50000"/>
              </a:avLst>
            </a:prstTxWarp>
          </a:bodyPr>
          <a:lstStyle/>
          <a:p>
            <a:pPr algn="ctr"/>
            <a:r>
              <a:rPr lang="en-GB" sz="3600" kern="10">
                <a:ln w="9525">
                  <a:solidFill>
                    <a:srgbClr val="000000"/>
                  </a:solidFill>
                  <a:round/>
                  <a:headEnd/>
                  <a:tailEnd/>
                </a:ln>
                <a:solidFill>
                  <a:srgbClr val="008000"/>
                </a:solidFill>
                <a:latin typeface="Arial Black" panose="020B0A04020102020204" pitchFamily="34" charset="0"/>
              </a:rPr>
              <a:t>20</a:t>
            </a:r>
          </a:p>
        </p:txBody>
      </p:sp>
      <p:sp>
        <p:nvSpPr>
          <p:cNvPr id="7176" name="WordArt 12"/>
          <p:cNvSpPr>
            <a:spLocks noChangeArrowheads="1" noChangeShapeType="1" noTextEdit="1"/>
          </p:cNvSpPr>
          <p:nvPr/>
        </p:nvSpPr>
        <p:spPr bwMode="auto">
          <a:xfrm>
            <a:off x="7726363" y="1341438"/>
            <a:ext cx="358775" cy="239712"/>
          </a:xfrm>
          <a:prstGeom prst="rect">
            <a:avLst/>
          </a:prstGeom>
        </p:spPr>
        <p:txBody>
          <a:bodyPr wrap="none" fromWordArt="1">
            <a:prstTxWarp prst="textPlain">
              <a:avLst>
                <a:gd name="adj" fmla="val 50000"/>
              </a:avLst>
            </a:prstTxWarp>
          </a:bodyPr>
          <a:lstStyle/>
          <a:p>
            <a:pPr algn="ctr"/>
            <a:r>
              <a:rPr lang="en-GB" sz="3600" kern="10">
                <a:ln w="9525">
                  <a:solidFill>
                    <a:srgbClr val="000000"/>
                  </a:solidFill>
                  <a:round/>
                  <a:headEnd/>
                  <a:tailEnd/>
                </a:ln>
                <a:solidFill>
                  <a:srgbClr val="800000"/>
                </a:solidFill>
                <a:latin typeface="Arial Black" panose="020B0A04020102020204" pitchFamily="34" charset="0"/>
              </a:rPr>
              <a:t>40</a:t>
            </a:r>
          </a:p>
        </p:txBody>
      </p:sp>
      <p:sp>
        <p:nvSpPr>
          <p:cNvPr id="11303" name="Text Box 39"/>
          <p:cNvSpPr txBox="1">
            <a:spLocks noChangeArrowheads="1"/>
          </p:cNvSpPr>
          <p:nvPr/>
        </p:nvSpPr>
        <p:spPr bwMode="auto">
          <a:xfrm>
            <a:off x="6156325" y="5853113"/>
            <a:ext cx="2987675" cy="862012"/>
          </a:xfrm>
          <a:prstGeom prst="rect">
            <a:avLst/>
          </a:prstGeom>
          <a:solidFill>
            <a:srgbClr val="FF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GB" sz="2000" b="1" dirty="0">
                <a:latin typeface="Comic Sans MS" charset="0"/>
                <a:ea typeface="ＭＳ Ｐゴシック" charset="0"/>
              </a:rPr>
              <a:t>Electron structure </a:t>
            </a:r>
          </a:p>
          <a:p>
            <a:pPr algn="ctr">
              <a:spcBef>
                <a:spcPct val="50000"/>
              </a:spcBef>
              <a:defRPr/>
            </a:pPr>
            <a:r>
              <a:rPr lang="en-GB" sz="2000" b="1" dirty="0">
                <a:latin typeface="Comic Sans MS" charset="0"/>
                <a:ea typeface="ＭＳ Ｐゴシック" charset="0"/>
              </a:rPr>
              <a:t>= 2,8,8,2</a:t>
            </a:r>
          </a:p>
        </p:txBody>
      </p:sp>
      <p:sp>
        <p:nvSpPr>
          <p:cNvPr id="41" name="Rectangle 9"/>
          <p:cNvSpPr>
            <a:spLocks noChangeArrowheads="1"/>
          </p:cNvSpPr>
          <p:nvPr/>
        </p:nvSpPr>
        <p:spPr bwMode="auto">
          <a:xfrm>
            <a:off x="3708400" y="1196975"/>
            <a:ext cx="1498600" cy="18573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7179" name="WordArt 10"/>
          <p:cNvSpPr>
            <a:spLocks noChangeArrowheads="1" noChangeShapeType="1" noTextEdit="1"/>
          </p:cNvSpPr>
          <p:nvPr/>
        </p:nvSpPr>
        <p:spPr bwMode="auto">
          <a:xfrm>
            <a:off x="3995738" y="1700213"/>
            <a:ext cx="863600" cy="749300"/>
          </a:xfrm>
          <a:prstGeom prst="rect">
            <a:avLst/>
          </a:prstGeom>
        </p:spPr>
        <p:txBody>
          <a:bodyPr wrap="none" fromWordArt="1">
            <a:prstTxWarp prst="textPlain">
              <a:avLst>
                <a:gd name="adj" fmla="val 50000"/>
              </a:avLst>
            </a:prstTxWarp>
          </a:bodyPr>
          <a:lstStyle/>
          <a:p>
            <a:pPr algn="ctr"/>
            <a:r>
              <a:rPr lang="en-GB" sz="3600" kern="10">
                <a:ln w="9525">
                  <a:solidFill>
                    <a:srgbClr val="000000"/>
                  </a:solidFill>
                  <a:round/>
                  <a:headEnd/>
                  <a:tailEnd/>
                </a:ln>
                <a:solidFill>
                  <a:srgbClr val="003366"/>
                </a:solidFill>
                <a:latin typeface="Arial Black" panose="020B0A04020102020204" pitchFamily="34" charset="0"/>
              </a:rPr>
              <a:t>Mg</a:t>
            </a:r>
          </a:p>
        </p:txBody>
      </p:sp>
      <p:sp>
        <p:nvSpPr>
          <p:cNvPr id="7180" name="WordArt 11"/>
          <p:cNvSpPr>
            <a:spLocks noChangeArrowheads="1" noChangeShapeType="1" noTextEdit="1"/>
          </p:cNvSpPr>
          <p:nvPr/>
        </p:nvSpPr>
        <p:spPr bwMode="auto">
          <a:xfrm>
            <a:off x="4702175" y="2671763"/>
            <a:ext cx="358775" cy="239712"/>
          </a:xfrm>
          <a:prstGeom prst="rect">
            <a:avLst/>
          </a:prstGeom>
        </p:spPr>
        <p:txBody>
          <a:bodyPr wrap="none" fromWordArt="1">
            <a:prstTxWarp prst="textPlain">
              <a:avLst>
                <a:gd name="adj" fmla="val 50000"/>
              </a:avLst>
            </a:prstTxWarp>
          </a:bodyPr>
          <a:lstStyle/>
          <a:p>
            <a:pPr algn="ctr"/>
            <a:r>
              <a:rPr lang="en-GB" sz="3600" kern="10">
                <a:ln w="9525">
                  <a:solidFill>
                    <a:srgbClr val="000000"/>
                  </a:solidFill>
                  <a:round/>
                  <a:headEnd/>
                  <a:tailEnd/>
                </a:ln>
                <a:solidFill>
                  <a:srgbClr val="008000"/>
                </a:solidFill>
                <a:latin typeface="Arial Black" panose="020B0A04020102020204" pitchFamily="34" charset="0"/>
              </a:rPr>
              <a:t>12</a:t>
            </a:r>
          </a:p>
        </p:txBody>
      </p:sp>
      <p:sp>
        <p:nvSpPr>
          <p:cNvPr id="7181" name="WordArt 12"/>
          <p:cNvSpPr>
            <a:spLocks noChangeArrowheads="1" noChangeShapeType="1" noTextEdit="1"/>
          </p:cNvSpPr>
          <p:nvPr/>
        </p:nvSpPr>
        <p:spPr bwMode="auto">
          <a:xfrm>
            <a:off x="4702175" y="1341438"/>
            <a:ext cx="358775" cy="239712"/>
          </a:xfrm>
          <a:prstGeom prst="rect">
            <a:avLst/>
          </a:prstGeom>
        </p:spPr>
        <p:txBody>
          <a:bodyPr wrap="none" fromWordArt="1">
            <a:prstTxWarp prst="textPlain">
              <a:avLst>
                <a:gd name="adj" fmla="val 50000"/>
              </a:avLst>
            </a:prstTxWarp>
          </a:bodyPr>
          <a:lstStyle/>
          <a:p>
            <a:pPr algn="ctr"/>
            <a:r>
              <a:rPr lang="en-GB" sz="3600" kern="10">
                <a:ln w="9525">
                  <a:solidFill>
                    <a:srgbClr val="000000"/>
                  </a:solidFill>
                  <a:round/>
                  <a:headEnd/>
                  <a:tailEnd/>
                </a:ln>
                <a:solidFill>
                  <a:srgbClr val="800000"/>
                </a:solidFill>
                <a:latin typeface="Arial Black" panose="020B0A04020102020204" pitchFamily="34" charset="0"/>
              </a:rPr>
              <a:t>24</a:t>
            </a:r>
          </a:p>
        </p:txBody>
      </p:sp>
      <p:sp>
        <p:nvSpPr>
          <p:cNvPr id="45" name="Rectangle 9"/>
          <p:cNvSpPr>
            <a:spLocks noChangeArrowheads="1"/>
          </p:cNvSpPr>
          <p:nvPr/>
        </p:nvSpPr>
        <p:spPr bwMode="auto">
          <a:xfrm>
            <a:off x="539750" y="1196975"/>
            <a:ext cx="1498600" cy="18573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7183" name="WordArt 10"/>
          <p:cNvSpPr>
            <a:spLocks noChangeArrowheads="1" noChangeShapeType="1" noTextEdit="1"/>
          </p:cNvSpPr>
          <p:nvPr/>
        </p:nvSpPr>
        <p:spPr bwMode="auto">
          <a:xfrm>
            <a:off x="971550" y="1700213"/>
            <a:ext cx="647700" cy="749300"/>
          </a:xfrm>
          <a:prstGeom prst="rect">
            <a:avLst/>
          </a:prstGeom>
        </p:spPr>
        <p:txBody>
          <a:bodyPr wrap="none" fromWordArt="1">
            <a:prstTxWarp prst="textPlain">
              <a:avLst>
                <a:gd name="adj" fmla="val 50000"/>
              </a:avLst>
            </a:prstTxWarp>
          </a:bodyPr>
          <a:lstStyle/>
          <a:p>
            <a:pPr algn="ctr"/>
            <a:r>
              <a:rPr lang="en-GB" sz="3600" kern="10">
                <a:ln w="9525">
                  <a:solidFill>
                    <a:srgbClr val="000000"/>
                  </a:solidFill>
                  <a:round/>
                  <a:headEnd/>
                  <a:tailEnd/>
                </a:ln>
                <a:solidFill>
                  <a:srgbClr val="003366"/>
                </a:solidFill>
                <a:latin typeface="Arial Black" panose="020B0A04020102020204" pitchFamily="34" charset="0"/>
              </a:rPr>
              <a:t>N</a:t>
            </a:r>
          </a:p>
        </p:txBody>
      </p:sp>
      <p:sp>
        <p:nvSpPr>
          <p:cNvPr id="7184" name="WordArt 11"/>
          <p:cNvSpPr>
            <a:spLocks noChangeArrowheads="1" noChangeShapeType="1" noTextEdit="1"/>
          </p:cNvSpPr>
          <p:nvPr/>
        </p:nvSpPr>
        <p:spPr bwMode="auto">
          <a:xfrm>
            <a:off x="1692275" y="2636838"/>
            <a:ext cx="201613" cy="274637"/>
          </a:xfrm>
          <a:prstGeom prst="rect">
            <a:avLst/>
          </a:prstGeom>
        </p:spPr>
        <p:txBody>
          <a:bodyPr wrap="none" fromWordArt="1">
            <a:prstTxWarp prst="textPlain">
              <a:avLst>
                <a:gd name="adj" fmla="val 50000"/>
              </a:avLst>
            </a:prstTxWarp>
          </a:bodyPr>
          <a:lstStyle/>
          <a:p>
            <a:pPr algn="ctr"/>
            <a:r>
              <a:rPr lang="en-GB" sz="3600" kern="10">
                <a:ln w="9525">
                  <a:solidFill>
                    <a:srgbClr val="000000"/>
                  </a:solidFill>
                  <a:round/>
                  <a:headEnd/>
                  <a:tailEnd/>
                </a:ln>
                <a:solidFill>
                  <a:srgbClr val="008000"/>
                </a:solidFill>
                <a:latin typeface="Arial Black" panose="020B0A04020102020204" pitchFamily="34" charset="0"/>
              </a:rPr>
              <a:t>7</a:t>
            </a:r>
          </a:p>
        </p:txBody>
      </p:sp>
      <p:sp>
        <p:nvSpPr>
          <p:cNvPr id="7185" name="WordArt 12"/>
          <p:cNvSpPr>
            <a:spLocks noChangeArrowheads="1" noChangeShapeType="1" noTextEdit="1"/>
          </p:cNvSpPr>
          <p:nvPr/>
        </p:nvSpPr>
        <p:spPr bwMode="auto">
          <a:xfrm>
            <a:off x="1533525" y="1341438"/>
            <a:ext cx="360363" cy="239712"/>
          </a:xfrm>
          <a:prstGeom prst="rect">
            <a:avLst/>
          </a:prstGeom>
        </p:spPr>
        <p:txBody>
          <a:bodyPr wrap="none" fromWordArt="1">
            <a:prstTxWarp prst="textPlain">
              <a:avLst>
                <a:gd name="adj" fmla="val 50000"/>
              </a:avLst>
            </a:prstTxWarp>
          </a:bodyPr>
          <a:lstStyle/>
          <a:p>
            <a:pPr algn="ctr"/>
            <a:r>
              <a:rPr lang="en-GB" sz="3600" kern="10">
                <a:ln w="9525">
                  <a:solidFill>
                    <a:srgbClr val="000000"/>
                  </a:solidFill>
                  <a:round/>
                  <a:headEnd/>
                  <a:tailEnd/>
                </a:ln>
                <a:solidFill>
                  <a:srgbClr val="800000"/>
                </a:solidFill>
                <a:latin typeface="Arial Black" panose="020B0A04020102020204" pitchFamily="34" charset="0"/>
              </a:rPr>
              <a:t>14</a:t>
            </a:r>
          </a:p>
        </p:txBody>
      </p:sp>
      <p:grpSp>
        <p:nvGrpSpPr>
          <p:cNvPr id="4" name="Group 3"/>
          <p:cNvGrpSpPr>
            <a:grpSpLocks/>
          </p:cNvGrpSpPr>
          <p:nvPr/>
        </p:nvGrpSpPr>
        <p:grpSpPr bwMode="auto">
          <a:xfrm>
            <a:off x="3419475" y="3459163"/>
            <a:ext cx="2081213" cy="2051050"/>
            <a:chOff x="3419872" y="3459092"/>
            <a:chExt cx="2081060" cy="2050968"/>
          </a:xfrm>
        </p:grpSpPr>
        <p:sp>
          <p:nvSpPr>
            <p:cNvPr id="70" name="Oval 4"/>
            <p:cNvSpPr>
              <a:spLocks noChangeArrowheads="1"/>
            </p:cNvSpPr>
            <p:nvPr/>
          </p:nvSpPr>
          <p:spPr bwMode="auto">
            <a:xfrm>
              <a:off x="4351666" y="4360756"/>
              <a:ext cx="247632" cy="24764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71" name="Oval 5"/>
            <p:cNvSpPr>
              <a:spLocks noChangeArrowheads="1"/>
            </p:cNvSpPr>
            <p:nvPr/>
          </p:nvSpPr>
          <p:spPr bwMode="auto">
            <a:xfrm>
              <a:off x="3942122" y="3951197"/>
              <a:ext cx="1066722" cy="1066757"/>
            </a:xfrm>
            <a:prstGeom prst="ellipse">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72" name="Oval 6"/>
            <p:cNvSpPr>
              <a:spLocks noChangeArrowheads="1"/>
            </p:cNvSpPr>
            <p:nvPr/>
          </p:nvSpPr>
          <p:spPr bwMode="auto">
            <a:xfrm>
              <a:off x="3696077" y="3705144"/>
              <a:ext cx="1558810" cy="1558863"/>
            </a:xfrm>
            <a:prstGeom prst="ellipse">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73" name="Oval 7"/>
            <p:cNvSpPr>
              <a:spLocks noChangeArrowheads="1"/>
            </p:cNvSpPr>
            <p:nvPr/>
          </p:nvSpPr>
          <p:spPr bwMode="auto">
            <a:xfrm>
              <a:off x="3450033" y="3459092"/>
              <a:ext cx="2050899" cy="2050968"/>
            </a:xfrm>
            <a:prstGeom prst="ellipse">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75" name="Text Box 26"/>
            <p:cNvSpPr txBox="1">
              <a:spLocks noChangeArrowheads="1"/>
            </p:cNvSpPr>
            <p:nvPr/>
          </p:nvSpPr>
          <p:spPr bwMode="auto">
            <a:xfrm>
              <a:off x="4208802" y="4608396"/>
              <a:ext cx="625429" cy="230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sz="900" dirty="0">
                  <a:latin typeface="Comic Sans MS" charset="0"/>
                  <a:ea typeface="ＭＳ Ｐゴシック" charset="0"/>
                </a:rPr>
                <a:t>Nucleus</a:t>
              </a:r>
            </a:p>
          </p:txBody>
        </p:sp>
        <p:sp>
          <p:nvSpPr>
            <p:cNvPr id="51" name="Oval 16"/>
            <p:cNvSpPr>
              <a:spLocks noChangeArrowheads="1"/>
            </p:cNvSpPr>
            <p:nvPr/>
          </p:nvSpPr>
          <p:spPr bwMode="auto">
            <a:xfrm>
              <a:off x="4404050" y="4946520"/>
              <a:ext cx="122229" cy="122233"/>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52" name="Oval 17"/>
            <p:cNvSpPr>
              <a:spLocks noChangeArrowheads="1"/>
            </p:cNvSpPr>
            <p:nvPr/>
          </p:nvSpPr>
          <p:spPr bwMode="auto">
            <a:xfrm>
              <a:off x="4424686" y="3889287"/>
              <a:ext cx="122228" cy="123820"/>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53" name="Oval 18"/>
            <p:cNvSpPr>
              <a:spLocks noChangeArrowheads="1"/>
            </p:cNvSpPr>
            <p:nvPr/>
          </p:nvSpPr>
          <p:spPr bwMode="auto">
            <a:xfrm>
              <a:off x="4413574" y="3654346"/>
              <a:ext cx="123816" cy="122233"/>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54" name="Oval 19"/>
            <p:cNvSpPr>
              <a:spLocks noChangeArrowheads="1"/>
            </p:cNvSpPr>
            <p:nvPr/>
          </p:nvSpPr>
          <p:spPr bwMode="auto">
            <a:xfrm>
              <a:off x="4413574" y="5213209"/>
              <a:ext cx="123816" cy="122233"/>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55" name="Oval 20"/>
            <p:cNvSpPr>
              <a:spLocks noChangeArrowheads="1"/>
            </p:cNvSpPr>
            <p:nvPr/>
          </p:nvSpPr>
          <p:spPr bwMode="auto">
            <a:xfrm>
              <a:off x="3634169" y="4413141"/>
              <a:ext cx="123816" cy="122233"/>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56" name="Oval 21"/>
            <p:cNvSpPr>
              <a:spLocks noChangeArrowheads="1"/>
            </p:cNvSpPr>
            <p:nvPr/>
          </p:nvSpPr>
          <p:spPr bwMode="auto">
            <a:xfrm>
              <a:off x="3850053" y="4976681"/>
              <a:ext cx="122228" cy="123820"/>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57" name="Oval 22"/>
            <p:cNvSpPr>
              <a:spLocks noChangeArrowheads="1"/>
            </p:cNvSpPr>
            <p:nvPr/>
          </p:nvSpPr>
          <p:spPr bwMode="auto">
            <a:xfrm>
              <a:off x="5192980" y="4413141"/>
              <a:ext cx="123816" cy="122233"/>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58" name="Oval 23"/>
            <p:cNvSpPr>
              <a:spLocks noChangeArrowheads="1"/>
            </p:cNvSpPr>
            <p:nvPr/>
          </p:nvSpPr>
          <p:spPr bwMode="auto">
            <a:xfrm>
              <a:off x="4967571" y="4967157"/>
              <a:ext cx="123816" cy="122232"/>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59" name="Oval 24"/>
            <p:cNvSpPr>
              <a:spLocks noChangeArrowheads="1"/>
            </p:cNvSpPr>
            <p:nvPr/>
          </p:nvSpPr>
          <p:spPr bwMode="auto">
            <a:xfrm>
              <a:off x="3859578" y="3879762"/>
              <a:ext cx="123816" cy="122233"/>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60" name="Oval 25"/>
            <p:cNvSpPr>
              <a:spLocks noChangeArrowheads="1"/>
            </p:cNvSpPr>
            <p:nvPr/>
          </p:nvSpPr>
          <p:spPr bwMode="auto">
            <a:xfrm>
              <a:off x="4978682" y="3868651"/>
              <a:ext cx="122229" cy="123820"/>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63" name="Oval 30"/>
            <p:cNvSpPr>
              <a:spLocks noChangeArrowheads="1"/>
            </p:cNvSpPr>
            <p:nvPr/>
          </p:nvSpPr>
          <p:spPr bwMode="auto">
            <a:xfrm>
              <a:off x="3419872" y="4076604"/>
              <a:ext cx="123816" cy="123820"/>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64" name="Oval 31"/>
            <p:cNvSpPr>
              <a:spLocks noChangeArrowheads="1"/>
            </p:cNvSpPr>
            <p:nvPr/>
          </p:nvSpPr>
          <p:spPr bwMode="auto">
            <a:xfrm>
              <a:off x="4067524" y="5373540"/>
              <a:ext cx="123816" cy="122232"/>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
        <p:nvSpPr>
          <p:cNvPr id="76" name="Text Box 39"/>
          <p:cNvSpPr txBox="1">
            <a:spLocks noChangeArrowheads="1"/>
          </p:cNvSpPr>
          <p:nvPr/>
        </p:nvSpPr>
        <p:spPr bwMode="auto">
          <a:xfrm>
            <a:off x="3132138" y="5853113"/>
            <a:ext cx="2663825" cy="862012"/>
          </a:xfrm>
          <a:prstGeom prst="rect">
            <a:avLst/>
          </a:prstGeom>
          <a:solidFill>
            <a:srgbClr val="FF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GB" sz="2000" b="1" dirty="0">
                <a:latin typeface="Comic Sans MS" charset="0"/>
                <a:ea typeface="ＭＳ Ｐゴシック" charset="0"/>
              </a:rPr>
              <a:t>Electron structure </a:t>
            </a:r>
          </a:p>
          <a:p>
            <a:pPr algn="ctr">
              <a:spcBef>
                <a:spcPct val="50000"/>
              </a:spcBef>
              <a:defRPr/>
            </a:pPr>
            <a:r>
              <a:rPr lang="en-GB" sz="2000" b="1" dirty="0">
                <a:latin typeface="Comic Sans MS" charset="0"/>
                <a:ea typeface="ＭＳ Ｐゴシック" charset="0"/>
              </a:rPr>
              <a:t>= 2,8,2</a:t>
            </a:r>
          </a:p>
        </p:txBody>
      </p:sp>
      <p:grpSp>
        <p:nvGrpSpPr>
          <p:cNvPr id="3" name="Group 2"/>
          <p:cNvGrpSpPr>
            <a:grpSpLocks/>
          </p:cNvGrpSpPr>
          <p:nvPr/>
        </p:nvGrpSpPr>
        <p:grpSpPr bwMode="auto">
          <a:xfrm>
            <a:off x="395288" y="3571875"/>
            <a:ext cx="1873250" cy="1873250"/>
            <a:chOff x="538207" y="3653934"/>
            <a:chExt cx="1681794" cy="1681794"/>
          </a:xfrm>
        </p:grpSpPr>
        <p:sp>
          <p:nvSpPr>
            <p:cNvPr id="98" name="Oval 4"/>
            <p:cNvSpPr>
              <a:spLocks noChangeArrowheads="1"/>
            </p:cNvSpPr>
            <p:nvPr/>
          </p:nvSpPr>
          <p:spPr bwMode="auto">
            <a:xfrm>
              <a:off x="1256533" y="4360858"/>
              <a:ext cx="245143" cy="246569"/>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99" name="Oval 5"/>
            <p:cNvSpPr>
              <a:spLocks noChangeArrowheads="1"/>
            </p:cNvSpPr>
            <p:nvPr/>
          </p:nvSpPr>
          <p:spPr bwMode="auto">
            <a:xfrm>
              <a:off x="846061" y="3951812"/>
              <a:ext cx="1066086" cy="1066086"/>
            </a:xfrm>
            <a:prstGeom prst="ellipse">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00" name="Oval 6"/>
            <p:cNvSpPr>
              <a:spLocks noChangeArrowheads="1"/>
            </p:cNvSpPr>
            <p:nvPr/>
          </p:nvSpPr>
          <p:spPr bwMode="auto">
            <a:xfrm>
              <a:off x="599492" y="3705243"/>
              <a:ext cx="1559223" cy="1559223"/>
            </a:xfrm>
            <a:prstGeom prst="ellipse">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03" name="Text Box 26"/>
            <p:cNvSpPr txBox="1">
              <a:spLocks noChangeArrowheads="1"/>
            </p:cNvSpPr>
            <p:nvPr/>
          </p:nvSpPr>
          <p:spPr bwMode="auto">
            <a:xfrm>
              <a:off x="1112582" y="4607426"/>
              <a:ext cx="625685" cy="230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sz="900" dirty="0">
                  <a:latin typeface="Comic Sans MS" charset="0"/>
                  <a:ea typeface="ＭＳ Ｐゴシック" charset="0"/>
                </a:rPr>
                <a:t>Nucleus</a:t>
              </a:r>
            </a:p>
          </p:txBody>
        </p:sp>
        <p:sp>
          <p:nvSpPr>
            <p:cNvPr id="79" name="Oval 16"/>
            <p:cNvSpPr>
              <a:spLocks noChangeArrowheads="1"/>
            </p:cNvSpPr>
            <p:nvPr/>
          </p:nvSpPr>
          <p:spPr bwMode="auto">
            <a:xfrm>
              <a:off x="1307842" y="4946635"/>
              <a:ext cx="122571" cy="122571"/>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0" name="Oval 17"/>
            <p:cNvSpPr>
              <a:spLocks noChangeArrowheads="1"/>
            </p:cNvSpPr>
            <p:nvPr/>
          </p:nvSpPr>
          <p:spPr bwMode="auto">
            <a:xfrm>
              <a:off x="1327795" y="3889101"/>
              <a:ext cx="122571" cy="12399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1" name="Oval 18"/>
            <p:cNvSpPr>
              <a:spLocks noChangeArrowheads="1"/>
            </p:cNvSpPr>
            <p:nvPr/>
          </p:nvSpPr>
          <p:spPr bwMode="auto">
            <a:xfrm>
              <a:off x="1317818" y="3653934"/>
              <a:ext cx="122571" cy="122571"/>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2" name="Oval 19"/>
            <p:cNvSpPr>
              <a:spLocks noChangeArrowheads="1"/>
            </p:cNvSpPr>
            <p:nvPr/>
          </p:nvSpPr>
          <p:spPr bwMode="auto">
            <a:xfrm>
              <a:off x="1317818" y="5213157"/>
              <a:ext cx="122571" cy="122571"/>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3" name="Oval 20"/>
            <p:cNvSpPr>
              <a:spLocks noChangeArrowheads="1"/>
            </p:cNvSpPr>
            <p:nvPr/>
          </p:nvSpPr>
          <p:spPr bwMode="auto">
            <a:xfrm>
              <a:off x="538207" y="4412167"/>
              <a:ext cx="122571" cy="123997"/>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5" name="Oval 22"/>
            <p:cNvSpPr>
              <a:spLocks noChangeArrowheads="1"/>
            </p:cNvSpPr>
            <p:nvPr/>
          </p:nvSpPr>
          <p:spPr bwMode="auto">
            <a:xfrm>
              <a:off x="2097430" y="4412167"/>
              <a:ext cx="122571" cy="123997"/>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88" name="Oval 25"/>
            <p:cNvSpPr>
              <a:spLocks noChangeArrowheads="1"/>
            </p:cNvSpPr>
            <p:nvPr/>
          </p:nvSpPr>
          <p:spPr bwMode="auto">
            <a:xfrm>
              <a:off x="1882217" y="3869147"/>
              <a:ext cx="122571" cy="122571"/>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
        <p:nvSpPr>
          <p:cNvPr id="104" name="Text Box 39"/>
          <p:cNvSpPr txBox="1">
            <a:spLocks noChangeArrowheads="1"/>
          </p:cNvSpPr>
          <p:nvPr/>
        </p:nvSpPr>
        <p:spPr bwMode="auto">
          <a:xfrm>
            <a:off x="0" y="5876925"/>
            <a:ext cx="2771775" cy="862013"/>
          </a:xfrm>
          <a:prstGeom prst="rect">
            <a:avLst/>
          </a:prstGeom>
          <a:solidFill>
            <a:srgbClr val="FF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GB" sz="2000" b="1" dirty="0">
                <a:latin typeface="Comic Sans MS" charset="0"/>
                <a:ea typeface="ＭＳ Ｐゴシック" charset="0"/>
              </a:rPr>
              <a:t>Electron structure </a:t>
            </a:r>
          </a:p>
          <a:p>
            <a:pPr algn="ctr">
              <a:spcBef>
                <a:spcPct val="50000"/>
              </a:spcBef>
              <a:defRPr/>
            </a:pPr>
            <a:r>
              <a:rPr lang="en-GB" sz="2000" b="1" dirty="0">
                <a:latin typeface="Comic Sans MS" charset="0"/>
                <a:ea typeface="ＭＳ Ｐゴシック" charset="0"/>
              </a:rPr>
              <a:t>= 2,5</a:t>
            </a:r>
          </a:p>
        </p:txBody>
      </p:sp>
      <p:grpSp>
        <p:nvGrpSpPr>
          <p:cNvPr id="2" name="Group 1"/>
          <p:cNvGrpSpPr>
            <a:grpSpLocks/>
          </p:cNvGrpSpPr>
          <p:nvPr/>
        </p:nvGrpSpPr>
        <p:grpSpPr bwMode="auto">
          <a:xfrm>
            <a:off x="6227763" y="3213100"/>
            <a:ext cx="2543175" cy="2543175"/>
            <a:chOff x="6227763" y="3213100"/>
            <a:chExt cx="2543175" cy="2543175"/>
          </a:xfrm>
        </p:grpSpPr>
        <p:grpSp>
          <p:nvGrpSpPr>
            <p:cNvPr id="7191" name="Group 27"/>
            <p:cNvGrpSpPr>
              <a:grpSpLocks/>
            </p:cNvGrpSpPr>
            <p:nvPr/>
          </p:nvGrpSpPr>
          <p:grpSpPr bwMode="auto">
            <a:xfrm>
              <a:off x="6227763" y="3213100"/>
              <a:ext cx="2543175" cy="2543175"/>
              <a:chOff x="2640" y="624"/>
              <a:chExt cx="2976" cy="2976"/>
            </a:xfrm>
          </p:grpSpPr>
          <p:sp>
            <p:nvSpPr>
              <p:cNvPr id="11268" name="Oval 4"/>
              <p:cNvSpPr>
                <a:spLocks noChangeArrowheads="1"/>
              </p:cNvSpPr>
              <p:nvPr/>
            </p:nvSpPr>
            <p:spPr bwMode="auto">
              <a:xfrm>
                <a:off x="3983" y="1967"/>
                <a:ext cx="290" cy="29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69" name="Oval 5"/>
              <p:cNvSpPr>
                <a:spLocks noChangeArrowheads="1"/>
              </p:cNvSpPr>
              <p:nvPr/>
            </p:nvSpPr>
            <p:spPr bwMode="auto">
              <a:xfrm>
                <a:off x="3504" y="1488"/>
                <a:ext cx="1248" cy="1248"/>
              </a:xfrm>
              <a:prstGeom prst="ellipse">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70" name="Oval 6"/>
              <p:cNvSpPr>
                <a:spLocks noChangeArrowheads="1"/>
              </p:cNvSpPr>
              <p:nvPr/>
            </p:nvSpPr>
            <p:spPr bwMode="auto">
              <a:xfrm>
                <a:off x="3216" y="1200"/>
                <a:ext cx="1824" cy="1824"/>
              </a:xfrm>
              <a:prstGeom prst="ellipse">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71" name="Oval 7"/>
              <p:cNvSpPr>
                <a:spLocks noChangeArrowheads="1"/>
              </p:cNvSpPr>
              <p:nvPr/>
            </p:nvSpPr>
            <p:spPr bwMode="auto">
              <a:xfrm>
                <a:off x="2928" y="912"/>
                <a:ext cx="2400" cy="2400"/>
              </a:xfrm>
              <a:prstGeom prst="ellipse">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72" name="Oval 8"/>
              <p:cNvSpPr>
                <a:spLocks noChangeArrowheads="1"/>
              </p:cNvSpPr>
              <p:nvPr/>
            </p:nvSpPr>
            <p:spPr bwMode="auto">
              <a:xfrm>
                <a:off x="2640" y="624"/>
                <a:ext cx="2976" cy="2976"/>
              </a:xfrm>
              <a:prstGeom prst="ellipse">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90" name="Text Box 26"/>
              <p:cNvSpPr txBox="1">
                <a:spLocks noChangeArrowheads="1"/>
              </p:cNvSpPr>
              <p:nvPr/>
            </p:nvSpPr>
            <p:spPr bwMode="auto">
              <a:xfrm>
                <a:off x="3816" y="2257"/>
                <a:ext cx="732"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sz="900" dirty="0">
                    <a:latin typeface="Comic Sans MS" charset="0"/>
                    <a:ea typeface="ＭＳ Ｐゴシック" charset="0"/>
                  </a:rPr>
                  <a:t>Nucleus</a:t>
                </a:r>
              </a:p>
            </p:txBody>
          </p:sp>
        </p:grpSp>
        <p:sp>
          <p:nvSpPr>
            <p:cNvPr id="11280" name="Oval 16"/>
            <p:cNvSpPr>
              <a:spLocks noChangeArrowheads="1"/>
            </p:cNvSpPr>
            <p:nvPr/>
          </p:nvSpPr>
          <p:spPr bwMode="auto">
            <a:xfrm>
              <a:off x="7427913" y="4946650"/>
              <a:ext cx="122237" cy="122238"/>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81" name="Oval 17"/>
            <p:cNvSpPr>
              <a:spLocks noChangeArrowheads="1"/>
            </p:cNvSpPr>
            <p:nvPr/>
          </p:nvSpPr>
          <p:spPr bwMode="auto">
            <a:xfrm>
              <a:off x="7448550" y="3889375"/>
              <a:ext cx="122238" cy="123825"/>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82" name="Oval 18"/>
            <p:cNvSpPr>
              <a:spLocks noChangeArrowheads="1"/>
            </p:cNvSpPr>
            <p:nvPr/>
          </p:nvSpPr>
          <p:spPr bwMode="auto">
            <a:xfrm>
              <a:off x="7437438" y="3654425"/>
              <a:ext cx="123825" cy="122238"/>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83" name="Oval 19"/>
            <p:cNvSpPr>
              <a:spLocks noChangeArrowheads="1"/>
            </p:cNvSpPr>
            <p:nvPr/>
          </p:nvSpPr>
          <p:spPr bwMode="auto">
            <a:xfrm>
              <a:off x="7437438" y="5213350"/>
              <a:ext cx="123825" cy="122238"/>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84" name="Oval 20"/>
            <p:cNvSpPr>
              <a:spLocks noChangeArrowheads="1"/>
            </p:cNvSpPr>
            <p:nvPr/>
          </p:nvSpPr>
          <p:spPr bwMode="auto">
            <a:xfrm>
              <a:off x="6657975" y="4413250"/>
              <a:ext cx="123825" cy="122238"/>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85" name="Oval 21"/>
            <p:cNvSpPr>
              <a:spLocks noChangeArrowheads="1"/>
            </p:cNvSpPr>
            <p:nvPr/>
          </p:nvSpPr>
          <p:spPr bwMode="auto">
            <a:xfrm>
              <a:off x="6873875" y="4976813"/>
              <a:ext cx="122238" cy="123825"/>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86" name="Oval 22"/>
            <p:cNvSpPr>
              <a:spLocks noChangeArrowheads="1"/>
            </p:cNvSpPr>
            <p:nvPr/>
          </p:nvSpPr>
          <p:spPr bwMode="auto">
            <a:xfrm>
              <a:off x="8216900" y="4413250"/>
              <a:ext cx="123825" cy="122238"/>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87" name="Oval 23"/>
            <p:cNvSpPr>
              <a:spLocks noChangeArrowheads="1"/>
            </p:cNvSpPr>
            <p:nvPr/>
          </p:nvSpPr>
          <p:spPr bwMode="auto">
            <a:xfrm>
              <a:off x="7991475" y="4967288"/>
              <a:ext cx="123825" cy="122237"/>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88" name="Oval 24"/>
            <p:cNvSpPr>
              <a:spLocks noChangeArrowheads="1"/>
            </p:cNvSpPr>
            <p:nvPr/>
          </p:nvSpPr>
          <p:spPr bwMode="auto">
            <a:xfrm>
              <a:off x="6883400" y="3879850"/>
              <a:ext cx="123825" cy="122238"/>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89" name="Oval 25"/>
            <p:cNvSpPr>
              <a:spLocks noChangeArrowheads="1"/>
            </p:cNvSpPr>
            <p:nvPr/>
          </p:nvSpPr>
          <p:spPr bwMode="auto">
            <a:xfrm>
              <a:off x="8002588" y="3868738"/>
              <a:ext cx="122237" cy="123825"/>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92" name="Oval 28"/>
            <p:cNvSpPr>
              <a:spLocks noChangeArrowheads="1"/>
            </p:cNvSpPr>
            <p:nvPr/>
          </p:nvSpPr>
          <p:spPr bwMode="auto">
            <a:xfrm>
              <a:off x="7437438" y="3397250"/>
              <a:ext cx="123825" cy="123825"/>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93" name="Oval 29"/>
            <p:cNvSpPr>
              <a:spLocks noChangeArrowheads="1"/>
            </p:cNvSpPr>
            <p:nvPr/>
          </p:nvSpPr>
          <p:spPr bwMode="auto">
            <a:xfrm>
              <a:off x="6731000" y="3684588"/>
              <a:ext cx="122238" cy="123825"/>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94" name="Oval 30"/>
            <p:cNvSpPr>
              <a:spLocks noChangeArrowheads="1"/>
            </p:cNvSpPr>
            <p:nvPr/>
          </p:nvSpPr>
          <p:spPr bwMode="auto">
            <a:xfrm>
              <a:off x="6411913" y="4413250"/>
              <a:ext cx="123825" cy="122238"/>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95" name="Oval 31"/>
            <p:cNvSpPr>
              <a:spLocks noChangeArrowheads="1"/>
            </p:cNvSpPr>
            <p:nvPr/>
          </p:nvSpPr>
          <p:spPr bwMode="auto">
            <a:xfrm>
              <a:off x="6719888" y="5151438"/>
              <a:ext cx="123825" cy="122237"/>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96" name="Oval 32"/>
            <p:cNvSpPr>
              <a:spLocks noChangeArrowheads="1"/>
            </p:cNvSpPr>
            <p:nvPr/>
          </p:nvSpPr>
          <p:spPr bwMode="auto">
            <a:xfrm>
              <a:off x="8154988" y="5140325"/>
              <a:ext cx="123825" cy="123825"/>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97" name="Oval 33"/>
            <p:cNvSpPr>
              <a:spLocks noChangeArrowheads="1"/>
            </p:cNvSpPr>
            <p:nvPr/>
          </p:nvSpPr>
          <p:spPr bwMode="auto">
            <a:xfrm>
              <a:off x="7437438" y="5448300"/>
              <a:ext cx="123825" cy="123825"/>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98" name="Oval 34"/>
            <p:cNvSpPr>
              <a:spLocks noChangeArrowheads="1"/>
            </p:cNvSpPr>
            <p:nvPr/>
          </p:nvSpPr>
          <p:spPr bwMode="auto">
            <a:xfrm>
              <a:off x="8135938" y="3684588"/>
              <a:ext cx="122237" cy="123825"/>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299" name="Oval 35"/>
            <p:cNvSpPr>
              <a:spLocks noChangeArrowheads="1"/>
            </p:cNvSpPr>
            <p:nvPr/>
          </p:nvSpPr>
          <p:spPr bwMode="auto">
            <a:xfrm>
              <a:off x="8462963" y="4413250"/>
              <a:ext cx="123825" cy="122238"/>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1301" name="Oval 37"/>
            <p:cNvSpPr>
              <a:spLocks noChangeArrowheads="1"/>
            </p:cNvSpPr>
            <p:nvPr/>
          </p:nvSpPr>
          <p:spPr bwMode="auto">
            <a:xfrm>
              <a:off x="6924675" y="3263900"/>
              <a:ext cx="123825" cy="123825"/>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77" name="Oval 37"/>
            <p:cNvSpPr>
              <a:spLocks noChangeArrowheads="1"/>
            </p:cNvSpPr>
            <p:nvPr/>
          </p:nvSpPr>
          <p:spPr bwMode="auto">
            <a:xfrm>
              <a:off x="8027988" y="3284538"/>
              <a:ext cx="123825" cy="123825"/>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4"/>
                                        </p:tgtEl>
                                        <p:attrNameLst>
                                          <p:attrName>style.visibility</p:attrName>
                                        </p:attrNameLst>
                                      </p:cBhvr>
                                      <p:to>
                                        <p:strVal val="visible"/>
                                      </p:to>
                                    </p:set>
                                    <p:anim calcmode="lin" valueType="num">
                                      <p:cBhvr additive="base">
                                        <p:cTn id="12" dur="500" fill="hold"/>
                                        <p:tgtEl>
                                          <p:spTgt spid="104"/>
                                        </p:tgtEl>
                                        <p:attrNameLst>
                                          <p:attrName>ppt_x</p:attrName>
                                        </p:attrNameLst>
                                      </p:cBhvr>
                                      <p:tavLst>
                                        <p:tav tm="0">
                                          <p:val>
                                            <p:strVal val="#ppt_x"/>
                                          </p:val>
                                        </p:tav>
                                        <p:tav tm="100000">
                                          <p:val>
                                            <p:strVal val="#ppt_x"/>
                                          </p:val>
                                        </p:tav>
                                      </p:tavLst>
                                    </p:anim>
                                    <p:anim calcmode="lin" valueType="num">
                                      <p:cBhvr additive="base">
                                        <p:cTn id="13" dur="500" fill="hold"/>
                                        <p:tgtEl>
                                          <p:spTgt spid="104"/>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up)">
                                      <p:cBhvr>
                                        <p:cTn id="18" dur="500"/>
                                        <p:tgtEl>
                                          <p:spTgt spid="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6"/>
                                        </p:tgtEl>
                                        <p:attrNameLst>
                                          <p:attrName>style.visibility</p:attrName>
                                        </p:attrNameLst>
                                      </p:cBhvr>
                                      <p:to>
                                        <p:strVal val="visible"/>
                                      </p:to>
                                    </p:set>
                                    <p:anim calcmode="lin" valueType="num">
                                      <p:cBhvr additive="base">
                                        <p:cTn id="23" dur="500" fill="hold"/>
                                        <p:tgtEl>
                                          <p:spTgt spid="76"/>
                                        </p:tgtEl>
                                        <p:attrNameLst>
                                          <p:attrName>ppt_x</p:attrName>
                                        </p:attrNameLst>
                                      </p:cBhvr>
                                      <p:tavLst>
                                        <p:tav tm="0">
                                          <p:val>
                                            <p:strVal val="#ppt_x"/>
                                          </p:val>
                                        </p:tav>
                                        <p:tav tm="100000">
                                          <p:val>
                                            <p:strVal val="#ppt_x"/>
                                          </p:val>
                                        </p:tav>
                                      </p:tavLst>
                                    </p:anim>
                                    <p:anim calcmode="lin" valueType="num">
                                      <p:cBhvr additive="base">
                                        <p:cTn id="24"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up)">
                                      <p:cBhvr>
                                        <p:cTn id="29" dur="500"/>
                                        <p:tgtEl>
                                          <p:spTgt spid="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1303"/>
                                        </p:tgtEl>
                                        <p:attrNameLst>
                                          <p:attrName>style.visibility</p:attrName>
                                        </p:attrNameLst>
                                      </p:cBhvr>
                                      <p:to>
                                        <p:strVal val="visible"/>
                                      </p:to>
                                    </p:set>
                                    <p:anim calcmode="lin" valueType="num">
                                      <p:cBhvr additive="base">
                                        <p:cTn id="34" dur="500" fill="hold"/>
                                        <p:tgtEl>
                                          <p:spTgt spid="11303"/>
                                        </p:tgtEl>
                                        <p:attrNameLst>
                                          <p:attrName>ppt_x</p:attrName>
                                        </p:attrNameLst>
                                      </p:cBhvr>
                                      <p:tavLst>
                                        <p:tav tm="0">
                                          <p:val>
                                            <p:strVal val="#ppt_x"/>
                                          </p:val>
                                        </p:tav>
                                        <p:tav tm="100000">
                                          <p:val>
                                            <p:strVal val="#ppt_x"/>
                                          </p:val>
                                        </p:tav>
                                      </p:tavLst>
                                    </p:anim>
                                    <p:anim calcmode="lin" valueType="num">
                                      <p:cBhvr additive="base">
                                        <p:cTn id="35" dur="500" fill="hold"/>
                                        <p:tgtEl>
                                          <p:spTgt spid="113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03" grpId="0" animBg="1" autoUpdateAnimBg="0"/>
      <p:bldP spid="76" grpId="0" animBg="1" autoUpdateAnimBg="0"/>
      <p:bldP spid="104"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Date Placeholder 2"/>
          <p:cNvSpPr>
            <a:spLocks noGrp="1"/>
          </p:cNvSpPr>
          <p:nvPr>
            <p:ph type="dt" sz="quarter" idx="10"/>
          </p:nvPr>
        </p:nvSpPr>
        <p:spPr/>
        <p:txBody>
          <a:bodyPr/>
          <a:lstStyle>
            <a:lvl1pPr eaLnBrk="0" hangingPunct="0">
              <a:defRPr sz="2400">
                <a:solidFill>
                  <a:schemeClr val="bg1"/>
                </a:solidFill>
                <a:latin typeface="Comic Sans MS" pitchFamily="66" charset="0"/>
                <a:ea typeface="ＭＳ Ｐゴシック" pitchFamily="34" charset="-128"/>
              </a:defRPr>
            </a:lvl1pPr>
            <a:lvl2pPr marL="742950" indent="-285750" eaLnBrk="0" hangingPunct="0">
              <a:defRPr sz="2400">
                <a:solidFill>
                  <a:schemeClr val="bg1"/>
                </a:solidFill>
                <a:latin typeface="Comic Sans MS" pitchFamily="66" charset="0"/>
                <a:ea typeface="ＭＳ Ｐゴシック" pitchFamily="34" charset="-128"/>
              </a:defRPr>
            </a:lvl2pPr>
            <a:lvl3pPr marL="1143000" indent="-228600" eaLnBrk="0" hangingPunct="0">
              <a:defRPr sz="2400">
                <a:solidFill>
                  <a:schemeClr val="bg1"/>
                </a:solidFill>
                <a:latin typeface="Comic Sans MS" pitchFamily="66" charset="0"/>
                <a:ea typeface="ＭＳ Ｐゴシック" pitchFamily="34" charset="-128"/>
              </a:defRPr>
            </a:lvl3pPr>
            <a:lvl4pPr marL="1600200" indent="-228600" eaLnBrk="0" hangingPunct="0">
              <a:defRPr sz="2400">
                <a:solidFill>
                  <a:schemeClr val="bg1"/>
                </a:solidFill>
                <a:latin typeface="Comic Sans MS" pitchFamily="66" charset="0"/>
                <a:ea typeface="ＭＳ Ｐゴシック" pitchFamily="34" charset="-128"/>
              </a:defRPr>
            </a:lvl4pPr>
            <a:lvl5pPr marL="2057400" indent="-228600" eaLnBrk="0" hangingPunct="0">
              <a:defRPr sz="2400">
                <a:solidFill>
                  <a:schemeClr val="bg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9pPr>
          </a:lstStyle>
          <a:p>
            <a:pPr eaLnBrk="1" hangingPunct="1">
              <a:defRPr/>
            </a:pPr>
            <a:fld id="{6797420F-8B03-4969-B751-0D26DFFEABA8}" type="datetime1">
              <a:rPr lang="en-GB" sz="1800" smtClean="0">
                <a:solidFill>
                  <a:schemeClr val="folHlink"/>
                </a:solidFill>
              </a:rPr>
              <a:pPr eaLnBrk="1" hangingPunct="1">
                <a:defRPr/>
              </a:pPr>
              <a:t>02/06/2020</a:t>
            </a:fld>
            <a:endParaRPr lang="en-GB" sz="1800">
              <a:solidFill>
                <a:schemeClr val="folHlink"/>
              </a:solidFill>
            </a:endParaRPr>
          </a:p>
        </p:txBody>
      </p:sp>
      <p:graphicFrame>
        <p:nvGraphicFramePr>
          <p:cNvPr id="13539" name="Group 227"/>
          <p:cNvGraphicFramePr>
            <a:graphicFrameLocks noGrp="1"/>
          </p:cNvGraphicFramePr>
          <p:nvPr/>
        </p:nvGraphicFramePr>
        <p:xfrm>
          <a:off x="381000" y="2495550"/>
          <a:ext cx="8458200" cy="3119440"/>
        </p:xfrm>
        <a:graphic>
          <a:graphicData uri="http://schemas.openxmlformats.org/drawingml/2006/table">
            <a:tbl>
              <a:tblPr/>
              <a:tblGrid>
                <a:gridCol w="469900">
                  <a:extLst>
                    <a:ext uri="{9D8B030D-6E8A-4147-A177-3AD203B41FA5}">
                      <a16:colId xmlns:a16="http://schemas.microsoft.com/office/drawing/2014/main" val="20000"/>
                    </a:ext>
                  </a:extLst>
                </a:gridCol>
                <a:gridCol w="469900">
                  <a:extLst>
                    <a:ext uri="{9D8B030D-6E8A-4147-A177-3AD203B41FA5}">
                      <a16:colId xmlns:a16="http://schemas.microsoft.com/office/drawing/2014/main" val="20001"/>
                    </a:ext>
                  </a:extLst>
                </a:gridCol>
                <a:gridCol w="469900">
                  <a:extLst>
                    <a:ext uri="{9D8B030D-6E8A-4147-A177-3AD203B41FA5}">
                      <a16:colId xmlns:a16="http://schemas.microsoft.com/office/drawing/2014/main" val="20002"/>
                    </a:ext>
                  </a:extLst>
                </a:gridCol>
                <a:gridCol w="469900">
                  <a:extLst>
                    <a:ext uri="{9D8B030D-6E8A-4147-A177-3AD203B41FA5}">
                      <a16:colId xmlns:a16="http://schemas.microsoft.com/office/drawing/2014/main" val="20003"/>
                    </a:ext>
                  </a:extLst>
                </a:gridCol>
                <a:gridCol w="469900">
                  <a:extLst>
                    <a:ext uri="{9D8B030D-6E8A-4147-A177-3AD203B41FA5}">
                      <a16:colId xmlns:a16="http://schemas.microsoft.com/office/drawing/2014/main" val="20004"/>
                    </a:ext>
                  </a:extLst>
                </a:gridCol>
                <a:gridCol w="469900">
                  <a:extLst>
                    <a:ext uri="{9D8B030D-6E8A-4147-A177-3AD203B41FA5}">
                      <a16:colId xmlns:a16="http://schemas.microsoft.com/office/drawing/2014/main" val="20005"/>
                    </a:ext>
                  </a:extLst>
                </a:gridCol>
                <a:gridCol w="469900">
                  <a:extLst>
                    <a:ext uri="{9D8B030D-6E8A-4147-A177-3AD203B41FA5}">
                      <a16:colId xmlns:a16="http://schemas.microsoft.com/office/drawing/2014/main" val="20006"/>
                    </a:ext>
                  </a:extLst>
                </a:gridCol>
                <a:gridCol w="469900">
                  <a:extLst>
                    <a:ext uri="{9D8B030D-6E8A-4147-A177-3AD203B41FA5}">
                      <a16:colId xmlns:a16="http://schemas.microsoft.com/office/drawing/2014/main" val="20007"/>
                    </a:ext>
                  </a:extLst>
                </a:gridCol>
                <a:gridCol w="469900">
                  <a:extLst>
                    <a:ext uri="{9D8B030D-6E8A-4147-A177-3AD203B41FA5}">
                      <a16:colId xmlns:a16="http://schemas.microsoft.com/office/drawing/2014/main" val="20008"/>
                    </a:ext>
                  </a:extLst>
                </a:gridCol>
                <a:gridCol w="469900">
                  <a:extLst>
                    <a:ext uri="{9D8B030D-6E8A-4147-A177-3AD203B41FA5}">
                      <a16:colId xmlns:a16="http://schemas.microsoft.com/office/drawing/2014/main" val="20009"/>
                    </a:ext>
                  </a:extLst>
                </a:gridCol>
                <a:gridCol w="469900">
                  <a:extLst>
                    <a:ext uri="{9D8B030D-6E8A-4147-A177-3AD203B41FA5}">
                      <a16:colId xmlns:a16="http://schemas.microsoft.com/office/drawing/2014/main" val="20010"/>
                    </a:ext>
                  </a:extLst>
                </a:gridCol>
                <a:gridCol w="469900">
                  <a:extLst>
                    <a:ext uri="{9D8B030D-6E8A-4147-A177-3AD203B41FA5}">
                      <a16:colId xmlns:a16="http://schemas.microsoft.com/office/drawing/2014/main" val="20011"/>
                    </a:ext>
                  </a:extLst>
                </a:gridCol>
                <a:gridCol w="469900">
                  <a:extLst>
                    <a:ext uri="{9D8B030D-6E8A-4147-A177-3AD203B41FA5}">
                      <a16:colId xmlns:a16="http://schemas.microsoft.com/office/drawing/2014/main" val="20012"/>
                    </a:ext>
                  </a:extLst>
                </a:gridCol>
                <a:gridCol w="469900">
                  <a:extLst>
                    <a:ext uri="{9D8B030D-6E8A-4147-A177-3AD203B41FA5}">
                      <a16:colId xmlns:a16="http://schemas.microsoft.com/office/drawing/2014/main" val="20013"/>
                    </a:ext>
                  </a:extLst>
                </a:gridCol>
                <a:gridCol w="469900">
                  <a:extLst>
                    <a:ext uri="{9D8B030D-6E8A-4147-A177-3AD203B41FA5}">
                      <a16:colId xmlns:a16="http://schemas.microsoft.com/office/drawing/2014/main" val="20014"/>
                    </a:ext>
                  </a:extLst>
                </a:gridCol>
                <a:gridCol w="469900">
                  <a:extLst>
                    <a:ext uri="{9D8B030D-6E8A-4147-A177-3AD203B41FA5}">
                      <a16:colId xmlns:a16="http://schemas.microsoft.com/office/drawing/2014/main" val="20015"/>
                    </a:ext>
                  </a:extLst>
                </a:gridCol>
                <a:gridCol w="469900">
                  <a:extLst>
                    <a:ext uri="{9D8B030D-6E8A-4147-A177-3AD203B41FA5}">
                      <a16:colId xmlns:a16="http://schemas.microsoft.com/office/drawing/2014/main" val="20016"/>
                    </a:ext>
                  </a:extLst>
                </a:gridCol>
                <a:gridCol w="469900">
                  <a:extLst>
                    <a:ext uri="{9D8B030D-6E8A-4147-A177-3AD203B41FA5}">
                      <a16:colId xmlns:a16="http://schemas.microsoft.com/office/drawing/2014/main" val="20017"/>
                    </a:ext>
                  </a:extLst>
                </a:gridCol>
              </a:tblGrid>
              <a:tr h="446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cap="flat">
                      <a:noFill/>
                    </a:lnL>
                    <a:lnR>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a:noFill/>
                    </a:lnL>
                    <a:lnR>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a:noFill/>
                    </a:lnL>
                    <a:lnR w="12700" cap="flat" cmpd="sng" algn="ctr">
                      <a:solidFill>
                        <a:schemeClr val="bg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H</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He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0"/>
                  </a:ext>
                </a:extLst>
              </a:tr>
              <a:tr h="446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Li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Be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B</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C</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N</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O</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F</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Ne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1"/>
                  </a:ext>
                </a:extLst>
              </a:tr>
              <a:tr h="4413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Na</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Mg</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Al</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Si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P</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S</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Cl</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Ar</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2"/>
                  </a:ext>
                </a:extLst>
              </a:tr>
              <a:tr h="4476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K</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Ca</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Fe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Ni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Cu</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Zn</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Br</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Kr</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3"/>
                  </a:ext>
                </a:extLst>
              </a:tr>
              <a:tr h="446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Ag</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Xe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4"/>
                  </a:ext>
                </a:extLst>
              </a:tr>
              <a:tr h="446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Pt</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Au</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Hg</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5"/>
                  </a:ext>
                </a:extLst>
              </a:tr>
              <a:tr h="446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6"/>
                  </a:ext>
                </a:extLst>
              </a:tr>
            </a:tbl>
          </a:graphicData>
        </a:graphic>
      </p:graphicFrame>
      <p:pic>
        <p:nvPicPr>
          <p:cNvPr id="13531" name="Picture 219" descr="Mendeleev"/>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1150" y="342900"/>
            <a:ext cx="121285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4" name="Rectangle 2"/>
          <p:cNvSpPr>
            <a:spLocks noGrp="1" noChangeArrowheads="1"/>
          </p:cNvSpPr>
          <p:nvPr>
            <p:ph type="title"/>
          </p:nvPr>
        </p:nvSpPr>
        <p:spPr/>
        <p:txBody>
          <a:bodyPr/>
          <a:lstStyle/>
          <a:p>
            <a:pPr eaLnBrk="1" hangingPunct="1">
              <a:defRPr/>
            </a:pPr>
            <a:r>
              <a:rPr lang="en-GB"/>
              <a:t>The Periodic Table</a:t>
            </a:r>
          </a:p>
        </p:txBody>
      </p:sp>
      <p:sp>
        <p:nvSpPr>
          <p:cNvPr id="13529" name="AutoShape 217"/>
          <p:cNvSpPr>
            <a:spLocks noChangeArrowheads="1"/>
          </p:cNvSpPr>
          <p:nvPr/>
        </p:nvSpPr>
        <p:spPr bwMode="auto">
          <a:xfrm>
            <a:off x="0" y="857250"/>
            <a:ext cx="7429500" cy="1314450"/>
          </a:xfrm>
          <a:prstGeom prst="wedgeRoundRectCallout">
            <a:avLst>
              <a:gd name="adj1" fmla="val 61347"/>
              <a:gd name="adj2" fmla="val -43597"/>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lgn="ctr">
              <a:defRPr/>
            </a:pPr>
            <a:r>
              <a:rPr lang="en-GB" b="1" dirty="0">
                <a:solidFill>
                  <a:schemeClr val="tx1"/>
                </a:solidFill>
                <a:latin typeface="Comic Sans MS" charset="0"/>
                <a:ea typeface="ＭＳ Ｐゴシック" charset="0"/>
              </a:rPr>
              <a:t>Fact 3:</a:t>
            </a:r>
            <a:r>
              <a:rPr lang="en-GB" dirty="0">
                <a:solidFill>
                  <a:schemeClr val="tx1"/>
                </a:solidFill>
                <a:latin typeface="Comic Sans MS" charset="0"/>
                <a:ea typeface="ＭＳ Ｐゴシック" charset="0"/>
              </a:rPr>
              <a:t> Elements in the same group have the same number of electrons in the outer shell (this corresponds to their group number)</a:t>
            </a:r>
          </a:p>
        </p:txBody>
      </p:sp>
      <p:grpSp>
        <p:nvGrpSpPr>
          <p:cNvPr id="13542" name="Group 230"/>
          <p:cNvGrpSpPr>
            <a:grpSpLocks/>
          </p:cNvGrpSpPr>
          <p:nvPr/>
        </p:nvGrpSpPr>
        <p:grpSpPr bwMode="auto">
          <a:xfrm>
            <a:off x="0" y="5372100"/>
            <a:ext cx="2819400" cy="1485900"/>
            <a:chOff x="0" y="3384"/>
            <a:chExt cx="1776" cy="936"/>
          </a:xfrm>
        </p:grpSpPr>
        <p:sp>
          <p:nvSpPr>
            <p:cNvPr id="13533" name="Text Box 221"/>
            <p:cNvSpPr txBox="1">
              <a:spLocks noChangeArrowheads="1"/>
            </p:cNvSpPr>
            <p:nvPr/>
          </p:nvSpPr>
          <p:spPr bwMode="auto">
            <a:xfrm>
              <a:off x="0" y="3686"/>
              <a:ext cx="1776" cy="634"/>
            </a:xfrm>
            <a:prstGeom prst="rect">
              <a:avLst/>
            </a:prstGeom>
            <a:solidFill>
              <a:srgbClr val="CC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sz="2000">
                  <a:latin typeface="Comic Sans MS" charset="0"/>
                  <a:ea typeface="ＭＳ Ｐゴシック" charset="0"/>
                </a:rPr>
                <a:t>E.g. all group 1 metals have __ electron in their outer shell</a:t>
              </a:r>
            </a:p>
          </p:txBody>
        </p:sp>
        <p:sp>
          <p:nvSpPr>
            <p:cNvPr id="13536" name="AutoShape 224"/>
            <p:cNvSpPr>
              <a:spLocks noChangeArrowheads="1"/>
            </p:cNvSpPr>
            <p:nvPr/>
          </p:nvSpPr>
          <p:spPr bwMode="auto">
            <a:xfrm>
              <a:off x="252" y="3384"/>
              <a:ext cx="276" cy="360"/>
            </a:xfrm>
            <a:prstGeom prst="upArrow">
              <a:avLst>
                <a:gd name="adj1" fmla="val 50000"/>
                <a:gd name="adj2" fmla="val 32609"/>
              </a:avLst>
            </a:prstGeom>
            <a:solidFill>
              <a:srgbClr val="CC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grpSp>
        <p:nvGrpSpPr>
          <p:cNvPr id="13541" name="Group 229"/>
          <p:cNvGrpSpPr>
            <a:grpSpLocks/>
          </p:cNvGrpSpPr>
          <p:nvPr/>
        </p:nvGrpSpPr>
        <p:grpSpPr bwMode="auto">
          <a:xfrm>
            <a:off x="6705600" y="4857750"/>
            <a:ext cx="2438400" cy="1978025"/>
            <a:chOff x="4224" y="3060"/>
            <a:chExt cx="1536" cy="1246"/>
          </a:xfrm>
        </p:grpSpPr>
        <p:sp>
          <p:nvSpPr>
            <p:cNvPr id="13535" name="Text Box 223"/>
            <p:cNvSpPr txBox="1">
              <a:spLocks noChangeArrowheads="1"/>
            </p:cNvSpPr>
            <p:nvPr/>
          </p:nvSpPr>
          <p:spPr bwMode="auto">
            <a:xfrm>
              <a:off x="4224" y="3672"/>
              <a:ext cx="1536" cy="634"/>
            </a:xfrm>
            <a:prstGeom prst="rect">
              <a:avLst/>
            </a:prstGeom>
            <a:solidFill>
              <a:srgbClr val="33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sz="2000">
                  <a:latin typeface="Comic Sans MS" charset="0"/>
                  <a:ea typeface="ＭＳ Ｐゴシック" charset="0"/>
                </a:rPr>
                <a:t>These elements have __ electrons in their outer shell</a:t>
              </a:r>
            </a:p>
          </p:txBody>
        </p:sp>
        <p:sp>
          <p:nvSpPr>
            <p:cNvPr id="13537" name="AutoShape 225"/>
            <p:cNvSpPr>
              <a:spLocks noChangeArrowheads="1"/>
            </p:cNvSpPr>
            <p:nvPr/>
          </p:nvSpPr>
          <p:spPr bwMode="auto">
            <a:xfrm>
              <a:off x="5292" y="3060"/>
              <a:ext cx="276" cy="696"/>
            </a:xfrm>
            <a:prstGeom prst="upArrow">
              <a:avLst>
                <a:gd name="adj1" fmla="val 50000"/>
                <a:gd name="adj2" fmla="val 63043"/>
              </a:avLst>
            </a:prstGeom>
            <a:solidFill>
              <a:srgbClr val="33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grpSp>
        <p:nvGrpSpPr>
          <p:cNvPr id="13540" name="Group 228"/>
          <p:cNvGrpSpPr>
            <a:grpSpLocks/>
          </p:cNvGrpSpPr>
          <p:nvPr/>
        </p:nvGrpSpPr>
        <p:grpSpPr bwMode="auto">
          <a:xfrm>
            <a:off x="3390900" y="4038600"/>
            <a:ext cx="3086100" cy="2819400"/>
            <a:chOff x="2136" y="2544"/>
            <a:chExt cx="1944" cy="1776"/>
          </a:xfrm>
        </p:grpSpPr>
        <p:sp>
          <p:nvSpPr>
            <p:cNvPr id="13534" name="Text Box 222"/>
            <p:cNvSpPr txBox="1">
              <a:spLocks noChangeArrowheads="1"/>
            </p:cNvSpPr>
            <p:nvPr/>
          </p:nvSpPr>
          <p:spPr bwMode="auto">
            <a:xfrm>
              <a:off x="2136" y="3686"/>
              <a:ext cx="1872" cy="634"/>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sz="2000">
                  <a:latin typeface="Comic Sans MS" charset="0"/>
                  <a:ea typeface="ＭＳ Ｐゴシック" charset="0"/>
                </a:rPr>
                <a:t>These elements have __ electrons in their outer shells</a:t>
              </a:r>
            </a:p>
          </p:txBody>
        </p:sp>
        <p:sp>
          <p:nvSpPr>
            <p:cNvPr id="13538" name="AutoShape 226"/>
            <p:cNvSpPr>
              <a:spLocks noChangeArrowheads="1"/>
            </p:cNvSpPr>
            <p:nvPr/>
          </p:nvSpPr>
          <p:spPr bwMode="auto">
            <a:xfrm>
              <a:off x="3804" y="2544"/>
              <a:ext cx="276" cy="1224"/>
            </a:xfrm>
            <a:prstGeom prst="upArrow">
              <a:avLst>
                <a:gd name="adj1" fmla="val 50000"/>
                <a:gd name="adj2" fmla="val 110870"/>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3531"/>
                                        </p:tgtEl>
                                        <p:attrNameLst>
                                          <p:attrName>style.visibility</p:attrName>
                                        </p:attrNameLst>
                                      </p:cBhvr>
                                      <p:to>
                                        <p:strVal val="visible"/>
                                      </p:to>
                                    </p:set>
                                    <p:anim calcmode="lin" valueType="num">
                                      <p:cBhvr additive="base">
                                        <p:cTn id="7" dur="500" fill="hold"/>
                                        <p:tgtEl>
                                          <p:spTgt spid="13531"/>
                                        </p:tgtEl>
                                        <p:attrNameLst>
                                          <p:attrName>ppt_x</p:attrName>
                                        </p:attrNameLst>
                                      </p:cBhvr>
                                      <p:tavLst>
                                        <p:tav tm="0">
                                          <p:val>
                                            <p:strVal val="1+#ppt_w/2"/>
                                          </p:val>
                                        </p:tav>
                                        <p:tav tm="100000">
                                          <p:val>
                                            <p:strVal val="#ppt_x"/>
                                          </p:val>
                                        </p:tav>
                                      </p:tavLst>
                                    </p:anim>
                                    <p:anim calcmode="lin" valueType="num">
                                      <p:cBhvr additive="base">
                                        <p:cTn id="8" dur="500" fill="hold"/>
                                        <p:tgtEl>
                                          <p:spTgt spid="1353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2" fill="hold" grpId="0" nodeType="clickEffect">
                                  <p:stCondLst>
                                    <p:cond delay="0"/>
                                  </p:stCondLst>
                                  <p:childTnLst>
                                    <p:set>
                                      <p:cBhvr>
                                        <p:cTn id="12" dur="1" fill="hold">
                                          <p:stCondLst>
                                            <p:cond delay="0"/>
                                          </p:stCondLst>
                                        </p:cTn>
                                        <p:tgtEl>
                                          <p:spTgt spid="13529"/>
                                        </p:tgtEl>
                                        <p:attrNameLst>
                                          <p:attrName>style.visibility</p:attrName>
                                        </p:attrNameLst>
                                      </p:cBhvr>
                                      <p:to>
                                        <p:strVal val="visible"/>
                                      </p:to>
                                    </p:set>
                                    <p:animEffect transition="in" filter="wipe(right)">
                                      <p:cBhvr>
                                        <p:cTn id="13" dur="500"/>
                                        <p:tgtEl>
                                          <p:spTgt spid="1352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13539"/>
                                        </p:tgtEl>
                                        <p:attrNameLst>
                                          <p:attrName>style.visibility</p:attrName>
                                        </p:attrNameLst>
                                      </p:cBhvr>
                                      <p:to>
                                        <p:strVal val="visible"/>
                                      </p:to>
                                    </p:set>
                                    <p:animEffect transition="in" filter="wipe(up)">
                                      <p:cBhvr>
                                        <p:cTn id="18" dur="500"/>
                                        <p:tgtEl>
                                          <p:spTgt spid="1353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13542"/>
                                        </p:tgtEl>
                                        <p:attrNameLst>
                                          <p:attrName>style.visibility</p:attrName>
                                        </p:attrNameLst>
                                      </p:cBhvr>
                                      <p:to>
                                        <p:strVal val="visible"/>
                                      </p:to>
                                    </p:set>
                                    <p:anim calcmode="lin" valueType="num">
                                      <p:cBhvr additive="base">
                                        <p:cTn id="23" dur="500" fill="hold"/>
                                        <p:tgtEl>
                                          <p:spTgt spid="13542"/>
                                        </p:tgtEl>
                                        <p:attrNameLst>
                                          <p:attrName>ppt_x</p:attrName>
                                        </p:attrNameLst>
                                      </p:cBhvr>
                                      <p:tavLst>
                                        <p:tav tm="0">
                                          <p:val>
                                            <p:strVal val="#ppt_x"/>
                                          </p:val>
                                        </p:tav>
                                        <p:tav tm="100000">
                                          <p:val>
                                            <p:strVal val="#ppt_x"/>
                                          </p:val>
                                        </p:tav>
                                      </p:tavLst>
                                    </p:anim>
                                    <p:anim calcmode="lin" valueType="num">
                                      <p:cBhvr additive="base">
                                        <p:cTn id="24" dur="500" fill="hold"/>
                                        <p:tgtEl>
                                          <p:spTgt spid="13542"/>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13540"/>
                                        </p:tgtEl>
                                        <p:attrNameLst>
                                          <p:attrName>style.visibility</p:attrName>
                                        </p:attrNameLst>
                                      </p:cBhvr>
                                      <p:to>
                                        <p:strVal val="visible"/>
                                      </p:to>
                                    </p:set>
                                    <p:anim calcmode="lin" valueType="num">
                                      <p:cBhvr additive="base">
                                        <p:cTn id="29" dur="500" fill="hold"/>
                                        <p:tgtEl>
                                          <p:spTgt spid="13540"/>
                                        </p:tgtEl>
                                        <p:attrNameLst>
                                          <p:attrName>ppt_x</p:attrName>
                                        </p:attrNameLst>
                                      </p:cBhvr>
                                      <p:tavLst>
                                        <p:tav tm="0">
                                          <p:val>
                                            <p:strVal val="#ppt_x"/>
                                          </p:val>
                                        </p:tav>
                                        <p:tav tm="100000">
                                          <p:val>
                                            <p:strVal val="#ppt_x"/>
                                          </p:val>
                                        </p:tav>
                                      </p:tavLst>
                                    </p:anim>
                                    <p:anim calcmode="lin" valueType="num">
                                      <p:cBhvr additive="base">
                                        <p:cTn id="30" dur="500" fill="hold"/>
                                        <p:tgtEl>
                                          <p:spTgt spid="13540"/>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13541"/>
                                        </p:tgtEl>
                                        <p:attrNameLst>
                                          <p:attrName>style.visibility</p:attrName>
                                        </p:attrNameLst>
                                      </p:cBhvr>
                                      <p:to>
                                        <p:strVal val="visible"/>
                                      </p:to>
                                    </p:set>
                                    <p:anim calcmode="lin" valueType="num">
                                      <p:cBhvr additive="base">
                                        <p:cTn id="35" dur="500" fill="hold"/>
                                        <p:tgtEl>
                                          <p:spTgt spid="13541"/>
                                        </p:tgtEl>
                                        <p:attrNameLst>
                                          <p:attrName>ppt_x</p:attrName>
                                        </p:attrNameLst>
                                      </p:cBhvr>
                                      <p:tavLst>
                                        <p:tav tm="0">
                                          <p:val>
                                            <p:strVal val="#ppt_x"/>
                                          </p:val>
                                        </p:tav>
                                        <p:tav tm="100000">
                                          <p:val>
                                            <p:strVal val="#ppt_x"/>
                                          </p:val>
                                        </p:tav>
                                      </p:tavLst>
                                    </p:anim>
                                    <p:anim calcmode="lin" valueType="num">
                                      <p:cBhvr additive="base">
                                        <p:cTn id="36" dur="500" fill="hold"/>
                                        <p:tgtEl>
                                          <p:spTgt spid="135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29"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Date Placeholder 2"/>
          <p:cNvSpPr>
            <a:spLocks noGrp="1"/>
          </p:cNvSpPr>
          <p:nvPr>
            <p:ph type="dt" sz="quarter" idx="10"/>
          </p:nvPr>
        </p:nvSpPr>
        <p:spPr/>
        <p:txBody>
          <a:bodyPr/>
          <a:lstStyle>
            <a:lvl1pPr eaLnBrk="0" hangingPunct="0">
              <a:defRPr sz="2400">
                <a:solidFill>
                  <a:schemeClr val="bg1"/>
                </a:solidFill>
                <a:latin typeface="Comic Sans MS" pitchFamily="66" charset="0"/>
                <a:ea typeface="ＭＳ Ｐゴシック" pitchFamily="34" charset="-128"/>
              </a:defRPr>
            </a:lvl1pPr>
            <a:lvl2pPr marL="742950" indent="-285750" eaLnBrk="0" hangingPunct="0">
              <a:defRPr sz="2400">
                <a:solidFill>
                  <a:schemeClr val="bg1"/>
                </a:solidFill>
                <a:latin typeface="Comic Sans MS" pitchFamily="66" charset="0"/>
                <a:ea typeface="ＭＳ Ｐゴシック" pitchFamily="34" charset="-128"/>
              </a:defRPr>
            </a:lvl2pPr>
            <a:lvl3pPr marL="1143000" indent="-228600" eaLnBrk="0" hangingPunct="0">
              <a:defRPr sz="2400">
                <a:solidFill>
                  <a:schemeClr val="bg1"/>
                </a:solidFill>
                <a:latin typeface="Comic Sans MS" pitchFamily="66" charset="0"/>
                <a:ea typeface="ＭＳ Ｐゴシック" pitchFamily="34" charset="-128"/>
              </a:defRPr>
            </a:lvl3pPr>
            <a:lvl4pPr marL="1600200" indent="-228600" eaLnBrk="0" hangingPunct="0">
              <a:defRPr sz="2400">
                <a:solidFill>
                  <a:schemeClr val="bg1"/>
                </a:solidFill>
                <a:latin typeface="Comic Sans MS" pitchFamily="66" charset="0"/>
                <a:ea typeface="ＭＳ Ｐゴシック" pitchFamily="34" charset="-128"/>
              </a:defRPr>
            </a:lvl4pPr>
            <a:lvl5pPr marL="2057400" indent="-228600" eaLnBrk="0" hangingPunct="0">
              <a:defRPr sz="2400">
                <a:solidFill>
                  <a:schemeClr val="bg1"/>
                </a:solidFill>
                <a:latin typeface="Comic Sans MS" pitchFamily="66" charset="0"/>
                <a:ea typeface="ＭＳ Ｐゴシック" pitchFamily="34" charset="-128"/>
              </a:defRPr>
            </a:lvl5pPr>
            <a:lvl6pPr marL="25146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6pPr>
            <a:lvl7pPr marL="29718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7pPr>
            <a:lvl8pPr marL="34290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8pPr>
            <a:lvl9pPr marL="3886200" indent="-228600" eaLnBrk="0" fontAlgn="base" hangingPunct="0">
              <a:spcBef>
                <a:spcPct val="0"/>
              </a:spcBef>
              <a:spcAft>
                <a:spcPct val="0"/>
              </a:spcAft>
              <a:defRPr sz="2400">
                <a:solidFill>
                  <a:schemeClr val="bg1"/>
                </a:solidFill>
                <a:latin typeface="Comic Sans MS" pitchFamily="66" charset="0"/>
                <a:ea typeface="ＭＳ Ｐゴシック" pitchFamily="34" charset="-128"/>
              </a:defRPr>
            </a:lvl9pPr>
          </a:lstStyle>
          <a:p>
            <a:pPr eaLnBrk="1" hangingPunct="1">
              <a:defRPr/>
            </a:pPr>
            <a:fld id="{1028EBC2-9482-4CD1-A411-1DE067890580}" type="datetime1">
              <a:rPr lang="en-GB" sz="1800" smtClean="0">
                <a:solidFill>
                  <a:schemeClr val="folHlink"/>
                </a:solidFill>
              </a:rPr>
              <a:pPr eaLnBrk="1" hangingPunct="1">
                <a:defRPr/>
              </a:pPr>
              <a:t>02/06/2020</a:t>
            </a:fld>
            <a:endParaRPr lang="en-GB" sz="1800">
              <a:solidFill>
                <a:schemeClr val="folHlink"/>
              </a:solidFill>
            </a:endParaRPr>
          </a:p>
        </p:txBody>
      </p:sp>
      <p:graphicFrame>
        <p:nvGraphicFramePr>
          <p:cNvPr id="14554" name="Group 218"/>
          <p:cNvGraphicFramePr>
            <a:graphicFrameLocks noGrp="1"/>
          </p:cNvGraphicFramePr>
          <p:nvPr/>
        </p:nvGraphicFramePr>
        <p:xfrm>
          <a:off x="381000" y="2495550"/>
          <a:ext cx="8458200" cy="3160715"/>
        </p:xfrm>
        <a:graphic>
          <a:graphicData uri="http://schemas.openxmlformats.org/drawingml/2006/table">
            <a:tbl>
              <a:tblPr/>
              <a:tblGrid>
                <a:gridCol w="469900">
                  <a:extLst>
                    <a:ext uri="{9D8B030D-6E8A-4147-A177-3AD203B41FA5}">
                      <a16:colId xmlns:a16="http://schemas.microsoft.com/office/drawing/2014/main" val="20000"/>
                    </a:ext>
                  </a:extLst>
                </a:gridCol>
                <a:gridCol w="469900">
                  <a:extLst>
                    <a:ext uri="{9D8B030D-6E8A-4147-A177-3AD203B41FA5}">
                      <a16:colId xmlns:a16="http://schemas.microsoft.com/office/drawing/2014/main" val="20001"/>
                    </a:ext>
                  </a:extLst>
                </a:gridCol>
                <a:gridCol w="469900">
                  <a:extLst>
                    <a:ext uri="{9D8B030D-6E8A-4147-A177-3AD203B41FA5}">
                      <a16:colId xmlns:a16="http://schemas.microsoft.com/office/drawing/2014/main" val="20002"/>
                    </a:ext>
                  </a:extLst>
                </a:gridCol>
                <a:gridCol w="469900">
                  <a:extLst>
                    <a:ext uri="{9D8B030D-6E8A-4147-A177-3AD203B41FA5}">
                      <a16:colId xmlns:a16="http://schemas.microsoft.com/office/drawing/2014/main" val="20003"/>
                    </a:ext>
                  </a:extLst>
                </a:gridCol>
                <a:gridCol w="469900">
                  <a:extLst>
                    <a:ext uri="{9D8B030D-6E8A-4147-A177-3AD203B41FA5}">
                      <a16:colId xmlns:a16="http://schemas.microsoft.com/office/drawing/2014/main" val="20004"/>
                    </a:ext>
                  </a:extLst>
                </a:gridCol>
                <a:gridCol w="469900">
                  <a:extLst>
                    <a:ext uri="{9D8B030D-6E8A-4147-A177-3AD203B41FA5}">
                      <a16:colId xmlns:a16="http://schemas.microsoft.com/office/drawing/2014/main" val="20005"/>
                    </a:ext>
                  </a:extLst>
                </a:gridCol>
                <a:gridCol w="469900">
                  <a:extLst>
                    <a:ext uri="{9D8B030D-6E8A-4147-A177-3AD203B41FA5}">
                      <a16:colId xmlns:a16="http://schemas.microsoft.com/office/drawing/2014/main" val="20006"/>
                    </a:ext>
                  </a:extLst>
                </a:gridCol>
                <a:gridCol w="469900">
                  <a:extLst>
                    <a:ext uri="{9D8B030D-6E8A-4147-A177-3AD203B41FA5}">
                      <a16:colId xmlns:a16="http://schemas.microsoft.com/office/drawing/2014/main" val="20007"/>
                    </a:ext>
                  </a:extLst>
                </a:gridCol>
                <a:gridCol w="469900">
                  <a:extLst>
                    <a:ext uri="{9D8B030D-6E8A-4147-A177-3AD203B41FA5}">
                      <a16:colId xmlns:a16="http://schemas.microsoft.com/office/drawing/2014/main" val="20008"/>
                    </a:ext>
                  </a:extLst>
                </a:gridCol>
                <a:gridCol w="469900">
                  <a:extLst>
                    <a:ext uri="{9D8B030D-6E8A-4147-A177-3AD203B41FA5}">
                      <a16:colId xmlns:a16="http://schemas.microsoft.com/office/drawing/2014/main" val="20009"/>
                    </a:ext>
                  </a:extLst>
                </a:gridCol>
                <a:gridCol w="469900">
                  <a:extLst>
                    <a:ext uri="{9D8B030D-6E8A-4147-A177-3AD203B41FA5}">
                      <a16:colId xmlns:a16="http://schemas.microsoft.com/office/drawing/2014/main" val="20010"/>
                    </a:ext>
                  </a:extLst>
                </a:gridCol>
                <a:gridCol w="469900">
                  <a:extLst>
                    <a:ext uri="{9D8B030D-6E8A-4147-A177-3AD203B41FA5}">
                      <a16:colId xmlns:a16="http://schemas.microsoft.com/office/drawing/2014/main" val="20011"/>
                    </a:ext>
                  </a:extLst>
                </a:gridCol>
                <a:gridCol w="469900">
                  <a:extLst>
                    <a:ext uri="{9D8B030D-6E8A-4147-A177-3AD203B41FA5}">
                      <a16:colId xmlns:a16="http://schemas.microsoft.com/office/drawing/2014/main" val="20012"/>
                    </a:ext>
                  </a:extLst>
                </a:gridCol>
                <a:gridCol w="469900">
                  <a:extLst>
                    <a:ext uri="{9D8B030D-6E8A-4147-A177-3AD203B41FA5}">
                      <a16:colId xmlns:a16="http://schemas.microsoft.com/office/drawing/2014/main" val="20013"/>
                    </a:ext>
                  </a:extLst>
                </a:gridCol>
                <a:gridCol w="469900">
                  <a:extLst>
                    <a:ext uri="{9D8B030D-6E8A-4147-A177-3AD203B41FA5}">
                      <a16:colId xmlns:a16="http://schemas.microsoft.com/office/drawing/2014/main" val="20014"/>
                    </a:ext>
                  </a:extLst>
                </a:gridCol>
                <a:gridCol w="469900">
                  <a:extLst>
                    <a:ext uri="{9D8B030D-6E8A-4147-A177-3AD203B41FA5}">
                      <a16:colId xmlns:a16="http://schemas.microsoft.com/office/drawing/2014/main" val="20015"/>
                    </a:ext>
                  </a:extLst>
                </a:gridCol>
                <a:gridCol w="469900">
                  <a:extLst>
                    <a:ext uri="{9D8B030D-6E8A-4147-A177-3AD203B41FA5}">
                      <a16:colId xmlns:a16="http://schemas.microsoft.com/office/drawing/2014/main" val="20016"/>
                    </a:ext>
                  </a:extLst>
                </a:gridCol>
                <a:gridCol w="469900">
                  <a:extLst>
                    <a:ext uri="{9D8B030D-6E8A-4147-A177-3AD203B41FA5}">
                      <a16:colId xmlns:a16="http://schemas.microsoft.com/office/drawing/2014/main" val="20017"/>
                    </a:ext>
                  </a:extLst>
                </a:gridCol>
              </a:tblGrid>
              <a:tr h="446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cap="flat">
                      <a:noFill/>
                    </a:lnL>
                    <a:lnR>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a:noFill/>
                    </a:lnL>
                    <a:lnR>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a:noFill/>
                    </a:lnL>
                    <a:lnR w="12700" cap="flat" cmpd="sng" algn="ctr">
                      <a:solidFill>
                        <a:schemeClr val="bg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H</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He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0"/>
                  </a:ext>
                </a:extLst>
              </a:tr>
              <a:tr h="487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Li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Be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B</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C</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N</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O</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F</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Ne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1"/>
                  </a:ext>
                </a:extLst>
              </a:tr>
              <a:tr h="4413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Na</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Mg</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Al</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Si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P</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S</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Cl</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Ar</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2"/>
                  </a:ext>
                </a:extLst>
              </a:tr>
              <a:tr h="4476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K</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Ca</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Fe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Ni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Cu</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Zn</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Br</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Kr</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3"/>
                  </a:ext>
                </a:extLst>
              </a:tr>
              <a:tr h="446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Ag</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Xe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4"/>
                  </a:ext>
                </a:extLst>
              </a:tr>
              <a:tr h="446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Pt</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Au</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Hg</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5"/>
                  </a:ext>
                </a:extLst>
              </a:tr>
              <a:tr h="446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6"/>
                  </a:ext>
                </a:extLst>
              </a:tr>
            </a:tbl>
          </a:graphicData>
        </a:graphic>
      </p:graphicFrame>
      <p:pic>
        <p:nvPicPr>
          <p:cNvPr id="11461" name="Picture 206" descr="Mendeleev"/>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1150" y="342900"/>
            <a:ext cx="121285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3" name="Rectangle 207"/>
          <p:cNvSpPr>
            <a:spLocks noGrp="1" noChangeArrowheads="1"/>
          </p:cNvSpPr>
          <p:nvPr>
            <p:ph type="title"/>
          </p:nvPr>
        </p:nvSpPr>
        <p:spPr/>
        <p:txBody>
          <a:bodyPr/>
          <a:lstStyle/>
          <a:p>
            <a:pPr eaLnBrk="1" hangingPunct="1">
              <a:defRPr/>
            </a:pPr>
            <a:r>
              <a:rPr lang="en-GB"/>
              <a:t>The Periodic Table</a:t>
            </a:r>
          </a:p>
        </p:txBody>
      </p:sp>
      <p:sp>
        <p:nvSpPr>
          <p:cNvPr id="14544" name="AutoShape 208"/>
          <p:cNvSpPr>
            <a:spLocks noChangeArrowheads="1"/>
          </p:cNvSpPr>
          <p:nvPr/>
        </p:nvSpPr>
        <p:spPr bwMode="auto">
          <a:xfrm>
            <a:off x="0" y="857250"/>
            <a:ext cx="7429500" cy="876300"/>
          </a:xfrm>
          <a:prstGeom prst="wedgeRoundRectCallout">
            <a:avLst>
              <a:gd name="adj1" fmla="val 61347"/>
              <a:gd name="adj2" fmla="val -40398"/>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lgn="ctr">
              <a:defRPr/>
            </a:pPr>
            <a:r>
              <a:rPr lang="en-GB" b="1" dirty="0">
                <a:solidFill>
                  <a:schemeClr val="tx1"/>
                </a:solidFill>
                <a:latin typeface="Comic Sans MS" charset="0"/>
                <a:ea typeface="ＭＳ Ｐゴシック" charset="0"/>
              </a:rPr>
              <a:t>Fact 4:</a:t>
            </a:r>
            <a:r>
              <a:rPr lang="en-GB" dirty="0">
                <a:solidFill>
                  <a:schemeClr val="tx1"/>
                </a:solidFill>
                <a:latin typeface="Comic Sans MS" charset="0"/>
                <a:ea typeface="ＭＳ Ｐゴシック" charset="0"/>
              </a:rPr>
              <a:t> As you move down through the periods an extra electron shell is added:</a:t>
            </a:r>
          </a:p>
        </p:txBody>
      </p:sp>
      <p:grpSp>
        <p:nvGrpSpPr>
          <p:cNvPr id="14558" name="Group 222"/>
          <p:cNvGrpSpPr>
            <a:grpSpLocks/>
          </p:cNvGrpSpPr>
          <p:nvPr/>
        </p:nvGrpSpPr>
        <p:grpSpPr bwMode="auto">
          <a:xfrm>
            <a:off x="665163" y="2117725"/>
            <a:ext cx="3944937" cy="1006475"/>
            <a:chOff x="419" y="1334"/>
            <a:chExt cx="2485" cy="634"/>
          </a:xfrm>
        </p:grpSpPr>
        <p:sp>
          <p:nvSpPr>
            <p:cNvPr id="14547" name="AutoShape 211"/>
            <p:cNvSpPr>
              <a:spLocks noChangeArrowheads="1"/>
            </p:cNvSpPr>
            <p:nvPr/>
          </p:nvSpPr>
          <p:spPr bwMode="auto">
            <a:xfrm rot="14289036">
              <a:off x="698" y="1256"/>
              <a:ext cx="276" cy="834"/>
            </a:xfrm>
            <a:prstGeom prst="upArrow">
              <a:avLst>
                <a:gd name="adj1" fmla="val 50000"/>
                <a:gd name="adj2" fmla="val 75543"/>
              </a:avLst>
            </a:prstGeom>
            <a:solidFill>
              <a:srgbClr val="CC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4546" name="Text Box 210"/>
            <p:cNvSpPr txBox="1">
              <a:spLocks noChangeArrowheads="1"/>
            </p:cNvSpPr>
            <p:nvPr/>
          </p:nvSpPr>
          <p:spPr bwMode="auto">
            <a:xfrm>
              <a:off x="1128" y="1334"/>
              <a:ext cx="1776" cy="634"/>
            </a:xfrm>
            <a:prstGeom prst="rect">
              <a:avLst/>
            </a:prstGeom>
            <a:solidFill>
              <a:srgbClr val="CC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sz="2000">
                  <a:latin typeface="Comic Sans MS" charset="0"/>
                  <a:ea typeface="ＭＳ Ｐゴシック" charset="0"/>
                </a:rPr>
                <a:t>E.g. Lithium has 3 electron in the configuration 2,1</a:t>
              </a:r>
            </a:p>
          </p:txBody>
        </p:sp>
      </p:grpSp>
      <p:grpSp>
        <p:nvGrpSpPr>
          <p:cNvPr id="14560" name="Group 224"/>
          <p:cNvGrpSpPr>
            <a:grpSpLocks/>
          </p:cNvGrpSpPr>
          <p:nvPr/>
        </p:nvGrpSpPr>
        <p:grpSpPr bwMode="auto">
          <a:xfrm>
            <a:off x="1104900" y="4046538"/>
            <a:ext cx="4591050" cy="2532062"/>
            <a:chOff x="696" y="2549"/>
            <a:chExt cx="2892" cy="1595"/>
          </a:xfrm>
        </p:grpSpPr>
        <p:sp>
          <p:nvSpPr>
            <p:cNvPr id="14550" name="AutoShape 214"/>
            <p:cNvSpPr>
              <a:spLocks noChangeArrowheads="1"/>
            </p:cNvSpPr>
            <p:nvPr/>
          </p:nvSpPr>
          <p:spPr bwMode="auto">
            <a:xfrm rot="-2139133">
              <a:off x="696" y="2549"/>
              <a:ext cx="284" cy="1331"/>
            </a:xfrm>
            <a:prstGeom prst="upArrow">
              <a:avLst>
                <a:gd name="adj1" fmla="val 50000"/>
                <a:gd name="adj2" fmla="val 117165"/>
              </a:avLst>
            </a:prstGeom>
            <a:solidFill>
              <a:srgbClr val="33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4549" name="Text Box 213"/>
            <p:cNvSpPr txBox="1">
              <a:spLocks noChangeArrowheads="1"/>
            </p:cNvSpPr>
            <p:nvPr/>
          </p:nvSpPr>
          <p:spPr bwMode="auto">
            <a:xfrm>
              <a:off x="1111" y="3702"/>
              <a:ext cx="2477" cy="442"/>
            </a:xfrm>
            <a:prstGeom prst="rect">
              <a:avLst/>
            </a:prstGeom>
            <a:solidFill>
              <a:srgbClr val="33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sz="2000">
                  <a:latin typeface="Comic Sans MS" charset="0"/>
                  <a:ea typeface="ＭＳ Ｐゴシック" charset="0"/>
                </a:rPr>
                <a:t>Potassium has 19 electrons in the configuration __,__,__,__</a:t>
              </a:r>
            </a:p>
          </p:txBody>
        </p:sp>
      </p:grpSp>
      <p:grpSp>
        <p:nvGrpSpPr>
          <p:cNvPr id="14555" name="Group 219"/>
          <p:cNvGrpSpPr>
            <a:grpSpLocks/>
          </p:cNvGrpSpPr>
          <p:nvPr/>
        </p:nvGrpSpPr>
        <p:grpSpPr bwMode="auto">
          <a:xfrm>
            <a:off x="733425" y="3667125"/>
            <a:ext cx="4657725" cy="1323975"/>
            <a:chOff x="462" y="2310"/>
            <a:chExt cx="2934" cy="834"/>
          </a:xfrm>
        </p:grpSpPr>
        <p:sp>
          <p:nvSpPr>
            <p:cNvPr id="14553" name="AutoShape 217"/>
            <p:cNvSpPr>
              <a:spLocks noChangeArrowheads="1"/>
            </p:cNvSpPr>
            <p:nvPr/>
          </p:nvSpPr>
          <p:spPr bwMode="auto">
            <a:xfrm rot="17088702">
              <a:off x="936" y="1836"/>
              <a:ext cx="276" cy="1224"/>
            </a:xfrm>
            <a:prstGeom prst="upArrow">
              <a:avLst>
                <a:gd name="adj1" fmla="val 50000"/>
                <a:gd name="adj2" fmla="val 110870"/>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4552" name="Text Box 216"/>
            <p:cNvSpPr txBox="1">
              <a:spLocks noChangeArrowheads="1"/>
            </p:cNvSpPr>
            <p:nvPr/>
          </p:nvSpPr>
          <p:spPr bwMode="auto">
            <a:xfrm>
              <a:off x="1524" y="2510"/>
              <a:ext cx="1872" cy="634"/>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sz="2000">
                  <a:latin typeface="Comic Sans MS" charset="0"/>
                  <a:ea typeface="ＭＳ Ｐゴシック" charset="0"/>
                </a:rPr>
                <a:t>Sodium has 11 electrons in the configuration 2,8,1</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4544"/>
                                        </p:tgtEl>
                                        <p:attrNameLst>
                                          <p:attrName>style.visibility</p:attrName>
                                        </p:attrNameLst>
                                      </p:cBhvr>
                                      <p:to>
                                        <p:strVal val="visible"/>
                                      </p:to>
                                    </p:set>
                                    <p:animEffect transition="in" filter="wipe(right)">
                                      <p:cBhvr>
                                        <p:cTn id="7" dur="500"/>
                                        <p:tgtEl>
                                          <p:spTgt spid="145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14558"/>
                                        </p:tgtEl>
                                        <p:attrNameLst>
                                          <p:attrName>style.visibility</p:attrName>
                                        </p:attrNameLst>
                                      </p:cBhvr>
                                      <p:to>
                                        <p:strVal val="visible"/>
                                      </p:to>
                                    </p:set>
                                    <p:animEffect transition="in" filter="wipe(right)">
                                      <p:cBhvr>
                                        <p:cTn id="12" dur="500"/>
                                        <p:tgtEl>
                                          <p:spTgt spid="145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14555"/>
                                        </p:tgtEl>
                                        <p:attrNameLst>
                                          <p:attrName>style.visibility</p:attrName>
                                        </p:attrNameLst>
                                      </p:cBhvr>
                                      <p:to>
                                        <p:strVal val="visible"/>
                                      </p:to>
                                    </p:set>
                                    <p:animEffect transition="in" filter="wipe(right)">
                                      <p:cBhvr>
                                        <p:cTn id="17" dur="500"/>
                                        <p:tgtEl>
                                          <p:spTgt spid="1455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14560"/>
                                        </p:tgtEl>
                                        <p:attrNameLst>
                                          <p:attrName>style.visibility</p:attrName>
                                        </p:attrNameLst>
                                      </p:cBhvr>
                                      <p:to>
                                        <p:strVal val="visible"/>
                                      </p:to>
                                    </p:set>
                                    <p:animEffect transition="in" filter="wipe(down)">
                                      <p:cBhvr>
                                        <p:cTn id="22" dur="500"/>
                                        <p:tgtEl>
                                          <p:spTgt spid="145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4"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Ionic Bonding</a:t>
            </a:r>
          </a:p>
        </p:txBody>
      </p:sp>
      <p:sp>
        <p:nvSpPr>
          <p:cNvPr id="3" name="Date Placeholder 2"/>
          <p:cNvSpPr>
            <a:spLocks noGrp="1"/>
          </p:cNvSpPr>
          <p:nvPr>
            <p:ph type="dt" sz="half" idx="10"/>
          </p:nvPr>
        </p:nvSpPr>
        <p:spPr/>
        <p:txBody>
          <a:bodyPr/>
          <a:lstStyle/>
          <a:p>
            <a:pPr>
              <a:defRPr/>
            </a:pPr>
            <a:fld id="{015E6D66-BACF-4A6D-9DB1-3B675C6F844B}" type="datetime1">
              <a:rPr lang="en-GB" smtClean="0"/>
              <a:pPr>
                <a:defRPr/>
              </a:pPr>
              <a:t>02/06/2020</a:t>
            </a:fld>
            <a:endParaRPr lang="en-GB"/>
          </a:p>
        </p:txBody>
      </p:sp>
    </p:spTree>
    <p:extLst>
      <p:ext uri="{BB962C8B-B14F-4D97-AF65-F5344CB8AC3E}">
        <p14:creationId xmlns:p14="http://schemas.microsoft.com/office/powerpoint/2010/main" val="686748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Date Placeholder 2"/>
          <p:cNvSpPr>
            <a:spLocks noGrp="1"/>
          </p:cNvSpPr>
          <p:nvPr>
            <p:ph type="dt" sz="half" idx="10"/>
          </p:nvPr>
        </p:nvSpPr>
        <p:spPr/>
        <p:txBody>
          <a:bodyPr/>
          <a:lstStyle/>
          <a:p>
            <a:fld id="{0DB15B39-8497-4638-B532-4521EE9C5808}" type="datetime1">
              <a:rPr lang="en-GB" altLang="en-US"/>
              <a:pPr/>
              <a:t>02/06/2020</a:t>
            </a:fld>
            <a:endParaRPr lang="en-GB" altLang="en-US"/>
          </a:p>
        </p:txBody>
      </p:sp>
      <p:sp>
        <p:nvSpPr>
          <p:cNvPr id="83970" name="Rectangle 2"/>
          <p:cNvSpPr>
            <a:spLocks noGrp="1" noChangeArrowheads="1"/>
          </p:cNvSpPr>
          <p:nvPr>
            <p:ph type="title"/>
          </p:nvPr>
        </p:nvSpPr>
        <p:spPr>
          <a:xfrm>
            <a:off x="0" y="0"/>
            <a:ext cx="9144000" cy="765175"/>
          </a:xfrm>
        </p:spPr>
        <p:txBody>
          <a:bodyPr/>
          <a:lstStyle/>
          <a:p>
            <a:r>
              <a:rPr lang="en-GB" altLang="en-US"/>
              <a:t>Compounds</a:t>
            </a:r>
          </a:p>
        </p:txBody>
      </p:sp>
      <p:sp>
        <p:nvSpPr>
          <p:cNvPr id="83971" name="Text Box 3"/>
          <p:cNvSpPr txBox="1">
            <a:spLocks noChangeArrowheads="1"/>
          </p:cNvSpPr>
          <p:nvPr/>
        </p:nvSpPr>
        <p:spPr bwMode="auto">
          <a:xfrm>
            <a:off x="0" y="1268413"/>
            <a:ext cx="34925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CCCCFF"/>
                </a:solidFill>
              </a:rPr>
              <a:t>Compounds are formed when two or more elements are chemically combined.  Some examples:</a:t>
            </a:r>
          </a:p>
        </p:txBody>
      </p:sp>
      <p:grpSp>
        <p:nvGrpSpPr>
          <p:cNvPr id="83972" name="Group 4"/>
          <p:cNvGrpSpPr>
            <a:grpSpLocks/>
          </p:cNvGrpSpPr>
          <p:nvPr/>
        </p:nvGrpSpPr>
        <p:grpSpPr bwMode="auto">
          <a:xfrm>
            <a:off x="611188" y="3789363"/>
            <a:ext cx="4343400" cy="2647950"/>
            <a:chOff x="816" y="2496"/>
            <a:chExt cx="2736" cy="1668"/>
          </a:xfrm>
        </p:grpSpPr>
        <p:sp>
          <p:nvSpPr>
            <p:cNvPr id="83973" name="Text Box 5"/>
            <p:cNvSpPr txBox="1">
              <a:spLocks noChangeArrowheads="1"/>
            </p:cNvSpPr>
            <p:nvPr/>
          </p:nvSpPr>
          <p:spPr bwMode="auto">
            <a:xfrm>
              <a:off x="816" y="2496"/>
              <a:ext cx="2736" cy="166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en-GB" altLang="en-US"/>
            </a:p>
            <a:p>
              <a:pPr algn="ctr">
                <a:spcBef>
                  <a:spcPct val="50000"/>
                </a:spcBef>
              </a:pPr>
              <a:endParaRPr lang="en-GB" altLang="en-US"/>
            </a:p>
            <a:p>
              <a:pPr algn="ctr">
                <a:spcBef>
                  <a:spcPct val="50000"/>
                </a:spcBef>
              </a:pPr>
              <a:endParaRPr lang="en-GB" altLang="en-US"/>
            </a:p>
            <a:p>
              <a:pPr algn="ctr">
                <a:spcBef>
                  <a:spcPct val="50000"/>
                </a:spcBef>
              </a:pPr>
              <a:endParaRPr lang="en-GB" altLang="en-US"/>
            </a:p>
            <a:p>
              <a:pPr algn="ctr">
                <a:spcBef>
                  <a:spcPct val="50000"/>
                </a:spcBef>
              </a:pPr>
              <a:r>
                <a:rPr lang="en-GB" altLang="en-US">
                  <a:solidFill>
                    <a:schemeClr val="tx1"/>
                  </a:solidFill>
                </a:rPr>
                <a:t>Glucose</a:t>
              </a:r>
            </a:p>
          </p:txBody>
        </p:sp>
        <p:graphicFrame>
          <p:nvGraphicFramePr>
            <p:cNvPr id="83974" name="Object 6"/>
            <p:cNvGraphicFramePr>
              <a:graphicFrameLocks noChangeAspect="1"/>
            </p:cNvGraphicFramePr>
            <p:nvPr/>
          </p:nvGraphicFramePr>
          <p:xfrm>
            <a:off x="1056" y="2544"/>
            <a:ext cx="2181" cy="1415"/>
          </p:xfrm>
          <a:graphic>
            <a:graphicData uri="http://schemas.openxmlformats.org/presentationml/2006/ole">
              <mc:AlternateContent xmlns:mc="http://schemas.openxmlformats.org/markup-compatibility/2006">
                <mc:Choice xmlns:v="urn:schemas-microsoft-com:vml" Requires="v">
                  <p:oleObj spid="_x0000_s115750" name="CorelDRAW 6.0" r:id="rId3" imgW="3463200" imgH="2475360" progId="CorelDRAW.Graphic.6">
                    <p:embed/>
                  </p:oleObj>
                </mc:Choice>
                <mc:Fallback>
                  <p:oleObj name="CorelDRAW 6.0" r:id="rId3" imgW="3463200" imgH="2475360" progId="CorelDRAW.Graphic.6">
                    <p:embed/>
                    <p:pic>
                      <p:nvPicPr>
                        <p:cNvPr id="8397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6" y="2544"/>
                          <a:ext cx="2181" cy="1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83975" name="Group 7"/>
          <p:cNvGrpSpPr>
            <a:grpSpLocks/>
          </p:cNvGrpSpPr>
          <p:nvPr/>
        </p:nvGrpSpPr>
        <p:grpSpPr bwMode="auto">
          <a:xfrm>
            <a:off x="3581400" y="1143000"/>
            <a:ext cx="2514600" cy="2100263"/>
            <a:chOff x="288" y="1296"/>
            <a:chExt cx="1584" cy="1323"/>
          </a:xfrm>
        </p:grpSpPr>
        <p:sp>
          <p:nvSpPr>
            <p:cNvPr id="83976" name="Text Box 8"/>
            <p:cNvSpPr txBox="1">
              <a:spLocks noChangeArrowheads="1"/>
            </p:cNvSpPr>
            <p:nvPr/>
          </p:nvSpPr>
          <p:spPr bwMode="auto">
            <a:xfrm>
              <a:off x="288" y="1296"/>
              <a:ext cx="1584" cy="132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en-GB" altLang="en-US"/>
            </a:p>
            <a:p>
              <a:pPr algn="ctr">
                <a:spcBef>
                  <a:spcPct val="50000"/>
                </a:spcBef>
              </a:pPr>
              <a:endParaRPr lang="en-GB" altLang="en-US"/>
            </a:p>
            <a:p>
              <a:pPr algn="ctr">
                <a:spcBef>
                  <a:spcPct val="50000"/>
                </a:spcBef>
              </a:pPr>
              <a:endParaRPr lang="en-GB" altLang="en-US"/>
            </a:p>
            <a:p>
              <a:pPr algn="ctr">
                <a:spcBef>
                  <a:spcPct val="50000"/>
                </a:spcBef>
              </a:pPr>
              <a:r>
                <a:rPr lang="en-GB" altLang="en-US">
                  <a:solidFill>
                    <a:schemeClr val="tx1"/>
                  </a:solidFill>
                </a:rPr>
                <a:t>Methane</a:t>
              </a:r>
            </a:p>
          </p:txBody>
        </p:sp>
        <p:graphicFrame>
          <p:nvGraphicFramePr>
            <p:cNvPr id="83977" name="Object 9"/>
            <p:cNvGraphicFramePr>
              <a:graphicFrameLocks noChangeAspect="1"/>
            </p:cNvGraphicFramePr>
            <p:nvPr/>
          </p:nvGraphicFramePr>
          <p:xfrm>
            <a:off x="480" y="1296"/>
            <a:ext cx="1104" cy="1092"/>
          </p:xfrm>
          <a:graphic>
            <a:graphicData uri="http://schemas.openxmlformats.org/presentationml/2006/ole">
              <mc:AlternateContent xmlns:mc="http://schemas.openxmlformats.org/markup-compatibility/2006">
                <mc:Choice xmlns:v="urn:schemas-microsoft-com:vml" Requires="v">
                  <p:oleObj spid="_x0000_s115751" name="CorelDRAW 6.0" r:id="rId5" imgW="2119320" imgH="2094840" progId="CorelDRAW.Graphic.6">
                    <p:embed/>
                  </p:oleObj>
                </mc:Choice>
                <mc:Fallback>
                  <p:oleObj name="CorelDRAW 6.0" r:id="rId5" imgW="2119320" imgH="2094840" progId="CorelDRAW.Graphic.6">
                    <p:embed/>
                    <p:pic>
                      <p:nvPicPr>
                        <p:cNvPr id="83977"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 y="1296"/>
                          <a:ext cx="1104" cy="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83978" name="Group 10"/>
          <p:cNvGrpSpPr>
            <a:grpSpLocks/>
          </p:cNvGrpSpPr>
          <p:nvPr/>
        </p:nvGrpSpPr>
        <p:grpSpPr bwMode="auto">
          <a:xfrm>
            <a:off x="6477000" y="1066800"/>
            <a:ext cx="2362200" cy="3013075"/>
            <a:chOff x="4080" y="672"/>
            <a:chExt cx="1488" cy="1898"/>
          </a:xfrm>
        </p:grpSpPr>
        <p:sp>
          <p:nvSpPr>
            <p:cNvPr id="83979" name="Text Box 11"/>
            <p:cNvSpPr txBox="1">
              <a:spLocks noChangeArrowheads="1"/>
            </p:cNvSpPr>
            <p:nvPr/>
          </p:nvSpPr>
          <p:spPr bwMode="auto">
            <a:xfrm>
              <a:off x="4080" y="672"/>
              <a:ext cx="1488" cy="189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en-GB" altLang="en-US">
                <a:solidFill>
                  <a:schemeClr val="tx1"/>
                </a:solidFill>
              </a:endParaRPr>
            </a:p>
            <a:p>
              <a:pPr algn="ctr">
                <a:spcBef>
                  <a:spcPct val="50000"/>
                </a:spcBef>
              </a:pPr>
              <a:endParaRPr lang="en-GB" altLang="en-US">
                <a:solidFill>
                  <a:schemeClr val="tx1"/>
                </a:solidFill>
              </a:endParaRPr>
            </a:p>
            <a:p>
              <a:pPr algn="ctr">
                <a:spcBef>
                  <a:spcPct val="50000"/>
                </a:spcBef>
              </a:pPr>
              <a:endParaRPr lang="en-GB" altLang="en-US">
                <a:solidFill>
                  <a:schemeClr val="tx1"/>
                </a:solidFill>
              </a:endParaRPr>
            </a:p>
            <a:p>
              <a:pPr algn="ctr">
                <a:spcBef>
                  <a:spcPct val="50000"/>
                </a:spcBef>
              </a:pPr>
              <a:endParaRPr lang="en-GB" altLang="en-US">
                <a:solidFill>
                  <a:schemeClr val="tx1"/>
                </a:solidFill>
              </a:endParaRPr>
            </a:p>
            <a:p>
              <a:pPr algn="ctr">
                <a:spcBef>
                  <a:spcPct val="50000"/>
                </a:spcBef>
              </a:pPr>
              <a:r>
                <a:rPr lang="en-GB" altLang="en-US">
                  <a:solidFill>
                    <a:schemeClr val="tx1"/>
                  </a:solidFill>
                </a:rPr>
                <a:t>Sodium chloride (salt)</a:t>
              </a:r>
            </a:p>
          </p:txBody>
        </p:sp>
        <p:grpSp>
          <p:nvGrpSpPr>
            <p:cNvPr id="83980" name="Group 12"/>
            <p:cNvGrpSpPr>
              <a:grpSpLocks/>
            </p:cNvGrpSpPr>
            <p:nvPr/>
          </p:nvGrpSpPr>
          <p:grpSpPr bwMode="auto">
            <a:xfrm>
              <a:off x="4224" y="768"/>
              <a:ext cx="1248" cy="1248"/>
              <a:chOff x="480" y="2832"/>
              <a:chExt cx="1248" cy="1248"/>
            </a:xfrm>
          </p:grpSpPr>
          <p:sp>
            <p:nvSpPr>
              <p:cNvPr id="83981" name="Oval 13"/>
              <p:cNvSpPr>
                <a:spLocks noChangeArrowheads="1"/>
              </p:cNvSpPr>
              <p:nvPr/>
            </p:nvSpPr>
            <p:spPr bwMode="auto">
              <a:xfrm>
                <a:off x="720" y="3552"/>
                <a:ext cx="288" cy="288"/>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3982" name="Oval 14"/>
              <p:cNvSpPr>
                <a:spLocks noChangeArrowheads="1"/>
              </p:cNvSpPr>
              <p:nvPr/>
            </p:nvSpPr>
            <p:spPr bwMode="auto">
              <a:xfrm>
                <a:off x="960" y="3792"/>
                <a:ext cx="288" cy="288"/>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3983" name="Oval 15"/>
              <p:cNvSpPr>
                <a:spLocks noChangeArrowheads="1"/>
              </p:cNvSpPr>
              <p:nvPr/>
            </p:nvSpPr>
            <p:spPr bwMode="auto">
              <a:xfrm>
                <a:off x="1200" y="3552"/>
                <a:ext cx="288" cy="288"/>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3984" name="Oval 16"/>
              <p:cNvSpPr>
                <a:spLocks noChangeArrowheads="1"/>
              </p:cNvSpPr>
              <p:nvPr/>
            </p:nvSpPr>
            <p:spPr bwMode="auto">
              <a:xfrm>
                <a:off x="960" y="3312"/>
                <a:ext cx="288" cy="288"/>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3985" name="Oval 17"/>
              <p:cNvSpPr>
                <a:spLocks noChangeArrowheads="1"/>
              </p:cNvSpPr>
              <p:nvPr/>
            </p:nvSpPr>
            <p:spPr bwMode="auto">
              <a:xfrm>
                <a:off x="480" y="2832"/>
                <a:ext cx="288" cy="288"/>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3986" name="Oval 18"/>
              <p:cNvSpPr>
                <a:spLocks noChangeArrowheads="1"/>
              </p:cNvSpPr>
              <p:nvPr/>
            </p:nvSpPr>
            <p:spPr bwMode="auto">
              <a:xfrm>
                <a:off x="480" y="3792"/>
                <a:ext cx="288" cy="288"/>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3987" name="Oval 19"/>
              <p:cNvSpPr>
                <a:spLocks noChangeArrowheads="1"/>
              </p:cNvSpPr>
              <p:nvPr/>
            </p:nvSpPr>
            <p:spPr bwMode="auto">
              <a:xfrm>
                <a:off x="960" y="2832"/>
                <a:ext cx="288" cy="288"/>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3988" name="Oval 20"/>
              <p:cNvSpPr>
                <a:spLocks noChangeArrowheads="1"/>
              </p:cNvSpPr>
              <p:nvPr/>
            </p:nvSpPr>
            <p:spPr bwMode="auto">
              <a:xfrm>
                <a:off x="1440" y="3792"/>
                <a:ext cx="288" cy="288"/>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3989" name="Oval 21"/>
              <p:cNvSpPr>
                <a:spLocks noChangeArrowheads="1"/>
              </p:cNvSpPr>
              <p:nvPr/>
            </p:nvSpPr>
            <p:spPr bwMode="auto">
              <a:xfrm>
                <a:off x="720" y="3072"/>
                <a:ext cx="288" cy="288"/>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3990" name="Oval 22"/>
              <p:cNvSpPr>
                <a:spLocks noChangeArrowheads="1"/>
              </p:cNvSpPr>
              <p:nvPr/>
            </p:nvSpPr>
            <p:spPr bwMode="auto">
              <a:xfrm>
                <a:off x="1440" y="3312"/>
                <a:ext cx="288" cy="288"/>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3991" name="Oval 23"/>
              <p:cNvSpPr>
                <a:spLocks noChangeArrowheads="1"/>
              </p:cNvSpPr>
              <p:nvPr/>
            </p:nvSpPr>
            <p:spPr bwMode="auto">
              <a:xfrm>
                <a:off x="1440" y="2832"/>
                <a:ext cx="288" cy="288"/>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3992" name="Oval 24"/>
              <p:cNvSpPr>
                <a:spLocks noChangeArrowheads="1"/>
              </p:cNvSpPr>
              <p:nvPr/>
            </p:nvSpPr>
            <p:spPr bwMode="auto">
              <a:xfrm>
                <a:off x="480" y="3312"/>
                <a:ext cx="288" cy="288"/>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3993" name="Oval 25"/>
              <p:cNvSpPr>
                <a:spLocks noChangeArrowheads="1"/>
              </p:cNvSpPr>
              <p:nvPr/>
            </p:nvSpPr>
            <p:spPr bwMode="auto">
              <a:xfrm>
                <a:off x="1200" y="3072"/>
                <a:ext cx="288" cy="288"/>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3994" name="Oval 26"/>
              <p:cNvSpPr>
                <a:spLocks noChangeArrowheads="1"/>
              </p:cNvSpPr>
              <p:nvPr/>
            </p:nvSpPr>
            <p:spPr bwMode="auto">
              <a:xfrm>
                <a:off x="480" y="3072"/>
                <a:ext cx="288" cy="288"/>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3995" name="Oval 27"/>
              <p:cNvSpPr>
                <a:spLocks noChangeArrowheads="1"/>
              </p:cNvSpPr>
              <p:nvPr/>
            </p:nvSpPr>
            <p:spPr bwMode="auto">
              <a:xfrm>
                <a:off x="720" y="2832"/>
                <a:ext cx="288" cy="288"/>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3996" name="Oval 28"/>
              <p:cNvSpPr>
                <a:spLocks noChangeArrowheads="1"/>
              </p:cNvSpPr>
              <p:nvPr/>
            </p:nvSpPr>
            <p:spPr bwMode="auto">
              <a:xfrm>
                <a:off x="960" y="3072"/>
                <a:ext cx="288" cy="288"/>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3997" name="Oval 29"/>
              <p:cNvSpPr>
                <a:spLocks noChangeArrowheads="1"/>
              </p:cNvSpPr>
              <p:nvPr/>
            </p:nvSpPr>
            <p:spPr bwMode="auto">
              <a:xfrm>
                <a:off x="1440" y="3552"/>
                <a:ext cx="288" cy="288"/>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3998" name="Oval 30"/>
              <p:cNvSpPr>
                <a:spLocks noChangeArrowheads="1"/>
              </p:cNvSpPr>
              <p:nvPr/>
            </p:nvSpPr>
            <p:spPr bwMode="auto">
              <a:xfrm>
                <a:off x="1440" y="3072"/>
                <a:ext cx="288" cy="288"/>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3999" name="Oval 31"/>
              <p:cNvSpPr>
                <a:spLocks noChangeArrowheads="1"/>
              </p:cNvSpPr>
              <p:nvPr/>
            </p:nvSpPr>
            <p:spPr bwMode="auto">
              <a:xfrm>
                <a:off x="1200" y="2832"/>
                <a:ext cx="288" cy="288"/>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4000" name="Oval 32"/>
              <p:cNvSpPr>
                <a:spLocks noChangeArrowheads="1"/>
              </p:cNvSpPr>
              <p:nvPr/>
            </p:nvSpPr>
            <p:spPr bwMode="auto">
              <a:xfrm>
                <a:off x="720" y="3312"/>
                <a:ext cx="288" cy="288"/>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4001" name="Oval 33"/>
              <p:cNvSpPr>
                <a:spLocks noChangeArrowheads="1"/>
              </p:cNvSpPr>
              <p:nvPr/>
            </p:nvSpPr>
            <p:spPr bwMode="auto">
              <a:xfrm>
                <a:off x="720" y="3792"/>
                <a:ext cx="288" cy="288"/>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4002" name="Oval 34"/>
              <p:cNvSpPr>
                <a:spLocks noChangeArrowheads="1"/>
              </p:cNvSpPr>
              <p:nvPr/>
            </p:nvSpPr>
            <p:spPr bwMode="auto">
              <a:xfrm>
                <a:off x="1200" y="3792"/>
                <a:ext cx="288" cy="288"/>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4003" name="Oval 35"/>
              <p:cNvSpPr>
                <a:spLocks noChangeArrowheads="1"/>
              </p:cNvSpPr>
              <p:nvPr/>
            </p:nvSpPr>
            <p:spPr bwMode="auto">
              <a:xfrm>
                <a:off x="1200" y="3312"/>
                <a:ext cx="288" cy="288"/>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4004" name="Oval 36"/>
              <p:cNvSpPr>
                <a:spLocks noChangeArrowheads="1"/>
              </p:cNvSpPr>
              <p:nvPr/>
            </p:nvSpPr>
            <p:spPr bwMode="auto">
              <a:xfrm>
                <a:off x="960" y="3552"/>
                <a:ext cx="288" cy="288"/>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4005" name="Oval 37"/>
              <p:cNvSpPr>
                <a:spLocks noChangeArrowheads="1"/>
              </p:cNvSpPr>
              <p:nvPr/>
            </p:nvSpPr>
            <p:spPr bwMode="auto">
              <a:xfrm>
                <a:off x="480" y="3552"/>
                <a:ext cx="288" cy="288"/>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sp>
        <p:nvSpPr>
          <p:cNvPr id="84006" name="Text Box 38"/>
          <p:cNvSpPr txBox="1">
            <a:spLocks noChangeArrowheads="1"/>
          </p:cNvSpPr>
          <p:nvPr/>
        </p:nvSpPr>
        <p:spPr bwMode="auto">
          <a:xfrm>
            <a:off x="5364163" y="4365625"/>
            <a:ext cx="3240087"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i="1">
                <a:solidFill>
                  <a:srgbClr val="CCCCFF"/>
                </a:solidFill>
              </a:rPr>
              <a:t>How are these compounds formed?  Let’s consider two ways – “ionic” and “covalent” bonding.</a:t>
            </a:r>
          </a:p>
        </p:txBody>
      </p:sp>
    </p:spTree>
    <p:extLst>
      <p:ext uri="{BB962C8B-B14F-4D97-AF65-F5344CB8AC3E}">
        <p14:creationId xmlns:p14="http://schemas.microsoft.com/office/powerpoint/2010/main" val="33101525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83975"/>
                                        </p:tgtEl>
                                        <p:attrNameLst>
                                          <p:attrName>style.visibility</p:attrName>
                                        </p:attrNameLst>
                                      </p:cBhvr>
                                      <p:to>
                                        <p:strVal val="visible"/>
                                      </p:to>
                                    </p:set>
                                    <p:anim calcmode="lin" valueType="num">
                                      <p:cBhvr additive="base">
                                        <p:cTn id="7" dur="500" fill="hold"/>
                                        <p:tgtEl>
                                          <p:spTgt spid="83975"/>
                                        </p:tgtEl>
                                        <p:attrNameLst>
                                          <p:attrName>ppt_x</p:attrName>
                                        </p:attrNameLst>
                                      </p:cBhvr>
                                      <p:tavLst>
                                        <p:tav tm="0">
                                          <p:val>
                                            <p:strVal val="#ppt_x"/>
                                          </p:val>
                                        </p:tav>
                                        <p:tav tm="100000">
                                          <p:val>
                                            <p:strVal val="#ppt_x"/>
                                          </p:val>
                                        </p:tav>
                                      </p:tavLst>
                                    </p:anim>
                                    <p:anim calcmode="lin" valueType="num">
                                      <p:cBhvr additive="base">
                                        <p:cTn id="8" dur="500" fill="hold"/>
                                        <p:tgtEl>
                                          <p:spTgt spid="83975"/>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83978"/>
                                        </p:tgtEl>
                                        <p:attrNameLst>
                                          <p:attrName>style.visibility</p:attrName>
                                        </p:attrNameLst>
                                      </p:cBhvr>
                                      <p:to>
                                        <p:strVal val="visible"/>
                                      </p:to>
                                    </p:set>
                                    <p:anim calcmode="lin" valueType="num">
                                      <p:cBhvr additive="base">
                                        <p:cTn id="13" dur="500" fill="hold"/>
                                        <p:tgtEl>
                                          <p:spTgt spid="83978"/>
                                        </p:tgtEl>
                                        <p:attrNameLst>
                                          <p:attrName>ppt_x</p:attrName>
                                        </p:attrNameLst>
                                      </p:cBhvr>
                                      <p:tavLst>
                                        <p:tav tm="0">
                                          <p:val>
                                            <p:strVal val="1+#ppt_w/2"/>
                                          </p:val>
                                        </p:tav>
                                        <p:tav tm="100000">
                                          <p:val>
                                            <p:strVal val="#ppt_x"/>
                                          </p:val>
                                        </p:tav>
                                      </p:tavLst>
                                    </p:anim>
                                    <p:anim calcmode="lin" valueType="num">
                                      <p:cBhvr additive="base">
                                        <p:cTn id="14" dur="500" fill="hold"/>
                                        <p:tgtEl>
                                          <p:spTgt spid="8397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83972"/>
                                        </p:tgtEl>
                                        <p:attrNameLst>
                                          <p:attrName>style.visibility</p:attrName>
                                        </p:attrNameLst>
                                      </p:cBhvr>
                                      <p:to>
                                        <p:strVal val="visible"/>
                                      </p:to>
                                    </p:set>
                                    <p:anim calcmode="lin" valueType="num">
                                      <p:cBhvr additive="base">
                                        <p:cTn id="19" dur="500" fill="hold"/>
                                        <p:tgtEl>
                                          <p:spTgt spid="83972"/>
                                        </p:tgtEl>
                                        <p:attrNameLst>
                                          <p:attrName>ppt_x</p:attrName>
                                        </p:attrNameLst>
                                      </p:cBhvr>
                                      <p:tavLst>
                                        <p:tav tm="0">
                                          <p:val>
                                            <p:strVal val="#ppt_x"/>
                                          </p:val>
                                        </p:tav>
                                        <p:tav tm="100000">
                                          <p:val>
                                            <p:strVal val="#ppt_x"/>
                                          </p:val>
                                        </p:tav>
                                      </p:tavLst>
                                    </p:anim>
                                    <p:anim calcmode="lin" valueType="num">
                                      <p:cBhvr additive="base">
                                        <p:cTn id="20" dur="500" fill="hold"/>
                                        <p:tgtEl>
                                          <p:spTgt spid="8397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84006"/>
                                        </p:tgtEl>
                                        <p:attrNameLst>
                                          <p:attrName>style.visibility</p:attrName>
                                        </p:attrNameLst>
                                      </p:cBhvr>
                                      <p:to>
                                        <p:strVal val="visible"/>
                                      </p:to>
                                    </p:set>
                                    <p:animEffect transition="in" filter="wipe(left)">
                                      <p:cBhvr>
                                        <p:cTn id="25" dur="500"/>
                                        <p:tgtEl>
                                          <p:spTgt spid="84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00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Date Placeholder 2"/>
          <p:cNvSpPr>
            <a:spLocks noGrp="1"/>
          </p:cNvSpPr>
          <p:nvPr>
            <p:ph type="dt" sz="half" idx="10"/>
          </p:nvPr>
        </p:nvSpPr>
        <p:spPr/>
        <p:txBody>
          <a:bodyPr/>
          <a:lstStyle/>
          <a:p>
            <a:fld id="{C7396140-5B2C-4933-B4EE-5ADF6307B947}" type="datetime1">
              <a:rPr lang="en-GB" altLang="en-US"/>
              <a:pPr/>
              <a:t>02/06/2020</a:t>
            </a:fld>
            <a:endParaRPr lang="en-GB" altLang="en-US"/>
          </a:p>
        </p:txBody>
      </p:sp>
      <p:sp>
        <p:nvSpPr>
          <p:cNvPr id="28674" name="Rectangle 2"/>
          <p:cNvSpPr>
            <a:spLocks noGrp="1" noChangeArrowheads="1"/>
          </p:cNvSpPr>
          <p:nvPr>
            <p:ph type="title"/>
          </p:nvPr>
        </p:nvSpPr>
        <p:spPr/>
        <p:txBody>
          <a:bodyPr/>
          <a:lstStyle/>
          <a:p>
            <a:r>
              <a:rPr lang="en-GB" altLang="en-US"/>
              <a:t>Introduction to Bonding</a:t>
            </a:r>
          </a:p>
        </p:txBody>
      </p:sp>
      <p:graphicFrame>
        <p:nvGraphicFramePr>
          <p:cNvPr id="28917" name="Group 245"/>
          <p:cNvGraphicFramePr>
            <a:graphicFrameLocks noGrp="1"/>
          </p:cNvGraphicFramePr>
          <p:nvPr/>
        </p:nvGraphicFramePr>
        <p:xfrm>
          <a:off x="5857875" y="1485900"/>
          <a:ext cx="3749040" cy="1600200"/>
        </p:xfrm>
        <a:graphic>
          <a:graphicData uri="http://schemas.openxmlformats.org/drawingml/2006/table">
            <a:tbl>
              <a:tblPr/>
              <a:tblGrid>
                <a:gridCol w="208280">
                  <a:extLst>
                    <a:ext uri="{9D8B030D-6E8A-4147-A177-3AD203B41FA5}">
                      <a16:colId xmlns:a16="http://schemas.microsoft.com/office/drawing/2014/main" val="1762976843"/>
                    </a:ext>
                  </a:extLst>
                </a:gridCol>
                <a:gridCol w="208280">
                  <a:extLst>
                    <a:ext uri="{9D8B030D-6E8A-4147-A177-3AD203B41FA5}">
                      <a16:colId xmlns:a16="http://schemas.microsoft.com/office/drawing/2014/main" val="2389568305"/>
                    </a:ext>
                  </a:extLst>
                </a:gridCol>
                <a:gridCol w="208280">
                  <a:extLst>
                    <a:ext uri="{9D8B030D-6E8A-4147-A177-3AD203B41FA5}">
                      <a16:colId xmlns:a16="http://schemas.microsoft.com/office/drawing/2014/main" val="2265778181"/>
                    </a:ext>
                  </a:extLst>
                </a:gridCol>
                <a:gridCol w="208280">
                  <a:extLst>
                    <a:ext uri="{9D8B030D-6E8A-4147-A177-3AD203B41FA5}">
                      <a16:colId xmlns:a16="http://schemas.microsoft.com/office/drawing/2014/main" val="740347357"/>
                    </a:ext>
                  </a:extLst>
                </a:gridCol>
                <a:gridCol w="208280">
                  <a:extLst>
                    <a:ext uri="{9D8B030D-6E8A-4147-A177-3AD203B41FA5}">
                      <a16:colId xmlns:a16="http://schemas.microsoft.com/office/drawing/2014/main" val="1163712756"/>
                    </a:ext>
                  </a:extLst>
                </a:gridCol>
                <a:gridCol w="208280">
                  <a:extLst>
                    <a:ext uri="{9D8B030D-6E8A-4147-A177-3AD203B41FA5}">
                      <a16:colId xmlns:a16="http://schemas.microsoft.com/office/drawing/2014/main" val="1318026617"/>
                    </a:ext>
                  </a:extLst>
                </a:gridCol>
                <a:gridCol w="208280">
                  <a:extLst>
                    <a:ext uri="{9D8B030D-6E8A-4147-A177-3AD203B41FA5}">
                      <a16:colId xmlns:a16="http://schemas.microsoft.com/office/drawing/2014/main" val="3092523785"/>
                    </a:ext>
                  </a:extLst>
                </a:gridCol>
                <a:gridCol w="208280">
                  <a:extLst>
                    <a:ext uri="{9D8B030D-6E8A-4147-A177-3AD203B41FA5}">
                      <a16:colId xmlns:a16="http://schemas.microsoft.com/office/drawing/2014/main" val="1535344172"/>
                    </a:ext>
                  </a:extLst>
                </a:gridCol>
                <a:gridCol w="208280">
                  <a:extLst>
                    <a:ext uri="{9D8B030D-6E8A-4147-A177-3AD203B41FA5}">
                      <a16:colId xmlns:a16="http://schemas.microsoft.com/office/drawing/2014/main" val="2783414285"/>
                    </a:ext>
                  </a:extLst>
                </a:gridCol>
                <a:gridCol w="208280">
                  <a:extLst>
                    <a:ext uri="{9D8B030D-6E8A-4147-A177-3AD203B41FA5}">
                      <a16:colId xmlns:a16="http://schemas.microsoft.com/office/drawing/2014/main" val="4111964408"/>
                    </a:ext>
                  </a:extLst>
                </a:gridCol>
                <a:gridCol w="208280">
                  <a:extLst>
                    <a:ext uri="{9D8B030D-6E8A-4147-A177-3AD203B41FA5}">
                      <a16:colId xmlns:a16="http://schemas.microsoft.com/office/drawing/2014/main" val="1440356262"/>
                    </a:ext>
                  </a:extLst>
                </a:gridCol>
                <a:gridCol w="208280">
                  <a:extLst>
                    <a:ext uri="{9D8B030D-6E8A-4147-A177-3AD203B41FA5}">
                      <a16:colId xmlns:a16="http://schemas.microsoft.com/office/drawing/2014/main" val="2995704010"/>
                    </a:ext>
                  </a:extLst>
                </a:gridCol>
                <a:gridCol w="208280">
                  <a:extLst>
                    <a:ext uri="{9D8B030D-6E8A-4147-A177-3AD203B41FA5}">
                      <a16:colId xmlns:a16="http://schemas.microsoft.com/office/drawing/2014/main" val="1503264256"/>
                    </a:ext>
                  </a:extLst>
                </a:gridCol>
                <a:gridCol w="208280">
                  <a:extLst>
                    <a:ext uri="{9D8B030D-6E8A-4147-A177-3AD203B41FA5}">
                      <a16:colId xmlns:a16="http://schemas.microsoft.com/office/drawing/2014/main" val="1166630887"/>
                    </a:ext>
                  </a:extLst>
                </a:gridCol>
                <a:gridCol w="208280">
                  <a:extLst>
                    <a:ext uri="{9D8B030D-6E8A-4147-A177-3AD203B41FA5}">
                      <a16:colId xmlns:a16="http://schemas.microsoft.com/office/drawing/2014/main" val="2252416905"/>
                    </a:ext>
                  </a:extLst>
                </a:gridCol>
                <a:gridCol w="208280">
                  <a:extLst>
                    <a:ext uri="{9D8B030D-6E8A-4147-A177-3AD203B41FA5}">
                      <a16:colId xmlns:a16="http://schemas.microsoft.com/office/drawing/2014/main" val="3126724981"/>
                    </a:ext>
                  </a:extLst>
                </a:gridCol>
                <a:gridCol w="208280">
                  <a:extLst>
                    <a:ext uri="{9D8B030D-6E8A-4147-A177-3AD203B41FA5}">
                      <a16:colId xmlns:a16="http://schemas.microsoft.com/office/drawing/2014/main" val="213479543"/>
                    </a:ext>
                  </a:extLst>
                </a:gridCol>
                <a:gridCol w="208280">
                  <a:extLst>
                    <a:ext uri="{9D8B030D-6E8A-4147-A177-3AD203B41FA5}">
                      <a16:colId xmlns:a16="http://schemas.microsoft.com/office/drawing/2014/main" val="3769886876"/>
                    </a:ext>
                  </a:extLst>
                </a:gridCol>
              </a:tblGrid>
              <a:tr h="169863">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cap="flat">
                      <a:noFill/>
                    </a:lnL>
                    <a:lnR>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a:noFill/>
                    </a:lnL>
                    <a:lnR>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a:noFill/>
                    </a:lnL>
                    <a:lnR>
                      <a:noFill/>
                    </a:lnR>
                    <a:lnT cap="flat">
                      <a:noFill/>
                    </a:lnT>
                    <a:lnB>
                      <a:noFill/>
                    </a:lnB>
                    <a:lnTlToBr>
                      <a:noFill/>
                    </a:lnTlToBr>
                    <a:lnBlToTr>
                      <a:noFill/>
                    </a:lnBlToTr>
                    <a:no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a:noFill/>
                    </a:lnL>
                    <a:lnR w="12700" cap="flat" cmpd="sng" algn="ctr">
                      <a:solidFill>
                        <a:schemeClr val="bg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3412531429"/>
                  </a:ext>
                </a:extLst>
              </a:tr>
              <a:tr h="185738">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885006098"/>
                  </a:ext>
                </a:extLst>
              </a:tr>
              <a:tr h="169863">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3300"/>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189899841"/>
                  </a:ext>
                </a:extLst>
              </a:tr>
              <a:tr h="169863">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384779394"/>
                  </a:ext>
                </a:extLst>
              </a:tr>
              <a:tr h="169863">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2078226667"/>
                  </a:ext>
                </a:extLst>
              </a:tr>
              <a:tr h="171450">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856511686"/>
                  </a:ext>
                </a:extLst>
              </a:tr>
              <a:tr h="169863">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3138348214"/>
                  </a:ext>
                </a:extLst>
              </a:tr>
            </a:tbl>
          </a:graphicData>
        </a:graphic>
      </p:graphicFrame>
      <p:sp>
        <p:nvSpPr>
          <p:cNvPr id="28918" name="AutoShape 246"/>
          <p:cNvSpPr>
            <a:spLocks noChangeArrowheads="1"/>
          </p:cNvSpPr>
          <p:nvPr/>
        </p:nvSpPr>
        <p:spPr bwMode="auto">
          <a:xfrm>
            <a:off x="1308100" y="1316038"/>
            <a:ext cx="4229100" cy="1171575"/>
          </a:xfrm>
          <a:prstGeom prst="wedgeRoundRectCallout">
            <a:avLst>
              <a:gd name="adj1" fmla="val -62162"/>
              <a:gd name="adj2" fmla="val -14500"/>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GB" altLang="en-US" sz="2000">
                <a:solidFill>
                  <a:schemeClr val="tx1"/>
                </a:solidFill>
              </a:rPr>
              <a:t>Hi.  My name’s Johnny Chlorine.  I’m in Group 7, so I have 7 electrons in my outer shell</a:t>
            </a:r>
          </a:p>
        </p:txBody>
      </p:sp>
      <p:sp>
        <p:nvSpPr>
          <p:cNvPr id="28936" name="AutoShape 264"/>
          <p:cNvSpPr>
            <a:spLocks noChangeArrowheads="1"/>
          </p:cNvSpPr>
          <p:nvPr/>
        </p:nvSpPr>
        <p:spPr bwMode="auto">
          <a:xfrm>
            <a:off x="698500" y="4364038"/>
            <a:ext cx="4476750" cy="1057275"/>
          </a:xfrm>
          <a:prstGeom prst="wedgeRoundRectCallout">
            <a:avLst>
              <a:gd name="adj1" fmla="val 81917"/>
              <a:gd name="adj2" fmla="val -26875"/>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GB" altLang="en-US" sz="2000">
                <a:solidFill>
                  <a:schemeClr val="tx1"/>
                </a:solidFill>
              </a:rPr>
              <a:t>I’d quite like to have a full outer shell.  To do this I need to GAIN an electron.  Who can help me?</a:t>
            </a:r>
          </a:p>
        </p:txBody>
      </p:sp>
      <p:grpSp>
        <p:nvGrpSpPr>
          <p:cNvPr id="28938" name="Group 266"/>
          <p:cNvGrpSpPr>
            <a:grpSpLocks/>
          </p:cNvGrpSpPr>
          <p:nvPr/>
        </p:nvGrpSpPr>
        <p:grpSpPr bwMode="auto">
          <a:xfrm>
            <a:off x="244475" y="1190625"/>
            <a:ext cx="1182688" cy="2041525"/>
            <a:chOff x="214" y="174"/>
            <a:chExt cx="745" cy="1286"/>
          </a:xfrm>
        </p:grpSpPr>
        <p:grpSp>
          <p:nvGrpSpPr>
            <p:cNvPr id="28939" name="Group 267"/>
            <p:cNvGrpSpPr>
              <a:grpSpLocks/>
            </p:cNvGrpSpPr>
            <p:nvPr/>
          </p:nvGrpSpPr>
          <p:grpSpPr bwMode="auto">
            <a:xfrm>
              <a:off x="214" y="174"/>
              <a:ext cx="745" cy="1286"/>
              <a:chOff x="387" y="870"/>
              <a:chExt cx="745" cy="1286"/>
            </a:xfrm>
          </p:grpSpPr>
          <p:sp>
            <p:nvSpPr>
              <p:cNvPr id="28940" name="Freeform 268"/>
              <p:cNvSpPr>
                <a:spLocks/>
              </p:cNvSpPr>
              <p:nvPr/>
            </p:nvSpPr>
            <p:spPr bwMode="auto">
              <a:xfrm>
                <a:off x="387" y="2024"/>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941" name="Freeform 269"/>
              <p:cNvSpPr>
                <a:spLocks/>
              </p:cNvSpPr>
              <p:nvPr/>
            </p:nvSpPr>
            <p:spPr bwMode="auto">
              <a:xfrm flipH="1">
                <a:off x="707" y="2019"/>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942" name="Freeform 270"/>
              <p:cNvSpPr>
                <a:spLocks/>
              </p:cNvSpPr>
              <p:nvPr/>
            </p:nvSpPr>
            <p:spPr bwMode="auto">
              <a:xfrm flipH="1">
                <a:off x="406" y="1647"/>
                <a:ext cx="158" cy="126"/>
              </a:xfrm>
              <a:custGeom>
                <a:avLst/>
                <a:gdLst>
                  <a:gd name="T0" fmla="*/ 213 w 294"/>
                  <a:gd name="T1" fmla="*/ 0 h 279"/>
                  <a:gd name="T2" fmla="*/ 270 w 294"/>
                  <a:gd name="T3" fmla="*/ 76 h 279"/>
                  <a:gd name="T4" fmla="*/ 270 w 294"/>
                  <a:gd name="T5" fmla="*/ 161 h 279"/>
                  <a:gd name="T6" fmla="*/ 232 w 294"/>
                  <a:gd name="T7" fmla="*/ 151 h 279"/>
                  <a:gd name="T8" fmla="*/ 241 w 294"/>
                  <a:gd name="T9" fmla="*/ 199 h 279"/>
                  <a:gd name="T10" fmla="*/ 232 w 294"/>
                  <a:gd name="T11" fmla="*/ 265 h 279"/>
                  <a:gd name="T12" fmla="*/ 203 w 294"/>
                  <a:gd name="T13" fmla="*/ 274 h 279"/>
                  <a:gd name="T14" fmla="*/ 194 w 294"/>
                  <a:gd name="T15" fmla="*/ 246 h 279"/>
                  <a:gd name="T16" fmla="*/ 166 w 294"/>
                  <a:gd name="T17" fmla="*/ 132 h 279"/>
                  <a:gd name="T18" fmla="*/ 118 w 294"/>
                  <a:gd name="T19" fmla="*/ 265 h 279"/>
                  <a:gd name="T20" fmla="*/ 90 w 294"/>
                  <a:gd name="T21" fmla="*/ 255 h 279"/>
                  <a:gd name="T22" fmla="*/ 81 w 294"/>
                  <a:gd name="T23" fmla="*/ 132 h 279"/>
                  <a:gd name="T24" fmla="*/ 90 w 294"/>
                  <a:gd name="T25" fmla="*/ 161 h 279"/>
                  <a:gd name="T26" fmla="*/ 24 w 294"/>
                  <a:gd name="T27" fmla="*/ 217 h 279"/>
                  <a:gd name="T28" fmla="*/ 5 w 294"/>
                  <a:gd name="T29" fmla="*/ 180 h 279"/>
                  <a:gd name="T30" fmla="*/ 81 w 294"/>
                  <a:gd name="T31" fmla="*/ 29 h 279"/>
                  <a:gd name="T32" fmla="*/ 213 w 294"/>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4" h="279">
                    <a:moveTo>
                      <a:pt x="213" y="0"/>
                    </a:moveTo>
                    <a:cubicBezTo>
                      <a:pt x="226" y="42"/>
                      <a:pt x="246" y="39"/>
                      <a:pt x="270" y="76"/>
                    </a:cubicBezTo>
                    <a:cubicBezTo>
                      <a:pt x="278" y="101"/>
                      <a:pt x="294" y="137"/>
                      <a:pt x="270" y="161"/>
                    </a:cubicBezTo>
                    <a:cubicBezTo>
                      <a:pt x="261" y="170"/>
                      <a:pt x="245" y="154"/>
                      <a:pt x="232" y="151"/>
                    </a:cubicBezTo>
                    <a:cubicBezTo>
                      <a:pt x="204" y="73"/>
                      <a:pt x="236" y="184"/>
                      <a:pt x="241" y="199"/>
                    </a:cubicBezTo>
                    <a:cubicBezTo>
                      <a:pt x="238" y="221"/>
                      <a:pt x="242" y="245"/>
                      <a:pt x="232" y="265"/>
                    </a:cubicBezTo>
                    <a:cubicBezTo>
                      <a:pt x="227" y="274"/>
                      <a:pt x="212" y="279"/>
                      <a:pt x="203" y="274"/>
                    </a:cubicBezTo>
                    <a:cubicBezTo>
                      <a:pt x="194" y="270"/>
                      <a:pt x="197" y="255"/>
                      <a:pt x="194" y="246"/>
                    </a:cubicBezTo>
                    <a:cubicBezTo>
                      <a:pt x="184" y="208"/>
                      <a:pt x="178" y="170"/>
                      <a:pt x="166" y="132"/>
                    </a:cubicBezTo>
                    <a:cubicBezTo>
                      <a:pt x="158" y="198"/>
                      <a:pt x="170" y="231"/>
                      <a:pt x="118" y="265"/>
                    </a:cubicBezTo>
                    <a:cubicBezTo>
                      <a:pt x="109" y="262"/>
                      <a:pt x="93" y="265"/>
                      <a:pt x="90" y="255"/>
                    </a:cubicBezTo>
                    <a:cubicBezTo>
                      <a:pt x="79" y="215"/>
                      <a:pt x="81" y="173"/>
                      <a:pt x="81" y="132"/>
                    </a:cubicBezTo>
                    <a:cubicBezTo>
                      <a:pt x="81" y="122"/>
                      <a:pt x="87" y="151"/>
                      <a:pt x="90" y="161"/>
                    </a:cubicBezTo>
                    <a:cubicBezTo>
                      <a:pt x="76" y="204"/>
                      <a:pt x="61" y="193"/>
                      <a:pt x="24" y="217"/>
                    </a:cubicBezTo>
                    <a:cubicBezTo>
                      <a:pt x="18" y="205"/>
                      <a:pt x="7" y="194"/>
                      <a:pt x="5" y="180"/>
                    </a:cubicBezTo>
                    <a:cubicBezTo>
                      <a:pt x="0" y="137"/>
                      <a:pt x="43" y="54"/>
                      <a:pt x="81" y="29"/>
                    </a:cubicBezTo>
                    <a:cubicBezTo>
                      <a:pt x="118" y="4"/>
                      <a:pt x="171" y="15"/>
                      <a:pt x="213"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943" name="Freeform 271"/>
              <p:cNvSpPr>
                <a:spLocks/>
              </p:cNvSpPr>
              <p:nvPr/>
            </p:nvSpPr>
            <p:spPr bwMode="auto">
              <a:xfrm flipH="1">
                <a:off x="982" y="1570"/>
                <a:ext cx="150" cy="136"/>
              </a:xfrm>
              <a:custGeom>
                <a:avLst/>
                <a:gdLst>
                  <a:gd name="T0" fmla="*/ 147 w 279"/>
                  <a:gd name="T1" fmla="*/ 0 h 302"/>
                  <a:gd name="T2" fmla="*/ 33 w 279"/>
                  <a:gd name="T3" fmla="*/ 47 h 302"/>
                  <a:gd name="T4" fmla="*/ 62 w 279"/>
                  <a:gd name="T5" fmla="*/ 113 h 302"/>
                  <a:gd name="T6" fmla="*/ 43 w 279"/>
                  <a:gd name="T7" fmla="*/ 142 h 302"/>
                  <a:gd name="T8" fmla="*/ 15 w 279"/>
                  <a:gd name="T9" fmla="*/ 160 h 302"/>
                  <a:gd name="T10" fmla="*/ 90 w 279"/>
                  <a:gd name="T11" fmla="*/ 208 h 302"/>
                  <a:gd name="T12" fmla="*/ 100 w 279"/>
                  <a:gd name="T13" fmla="*/ 236 h 302"/>
                  <a:gd name="T14" fmla="*/ 166 w 279"/>
                  <a:gd name="T15" fmla="*/ 264 h 302"/>
                  <a:gd name="T16" fmla="*/ 185 w 279"/>
                  <a:gd name="T17" fmla="*/ 283 h 302"/>
                  <a:gd name="T18" fmla="*/ 213 w 279"/>
                  <a:gd name="T19" fmla="*/ 302 h 302"/>
                  <a:gd name="T20" fmla="*/ 269 w 279"/>
                  <a:gd name="T21" fmla="*/ 227 h 302"/>
                  <a:gd name="T22" fmla="*/ 260 w 279"/>
                  <a:gd name="T23" fmla="*/ 28 h 302"/>
                  <a:gd name="T24" fmla="*/ 147 w 279"/>
                  <a:gd name="T25"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9" h="302">
                    <a:moveTo>
                      <a:pt x="147" y="0"/>
                    </a:moveTo>
                    <a:cubicBezTo>
                      <a:pt x="107" y="12"/>
                      <a:pt x="74" y="34"/>
                      <a:pt x="33" y="47"/>
                    </a:cubicBezTo>
                    <a:cubicBezTo>
                      <a:pt x="19" y="91"/>
                      <a:pt x="16" y="99"/>
                      <a:pt x="62" y="113"/>
                    </a:cubicBezTo>
                    <a:cubicBezTo>
                      <a:pt x="56" y="123"/>
                      <a:pt x="51" y="134"/>
                      <a:pt x="43" y="142"/>
                    </a:cubicBezTo>
                    <a:cubicBezTo>
                      <a:pt x="35" y="150"/>
                      <a:pt x="19" y="150"/>
                      <a:pt x="15" y="160"/>
                    </a:cubicBezTo>
                    <a:cubicBezTo>
                      <a:pt x="0" y="198"/>
                      <a:pt x="74" y="204"/>
                      <a:pt x="90" y="208"/>
                    </a:cubicBezTo>
                    <a:cubicBezTo>
                      <a:pt x="116" y="134"/>
                      <a:pt x="105" y="219"/>
                      <a:pt x="100" y="236"/>
                    </a:cubicBezTo>
                    <a:cubicBezTo>
                      <a:pt x="113" y="291"/>
                      <a:pt x="118" y="296"/>
                      <a:pt x="166" y="264"/>
                    </a:cubicBezTo>
                    <a:cubicBezTo>
                      <a:pt x="184" y="189"/>
                      <a:pt x="165" y="244"/>
                      <a:pt x="185" y="283"/>
                    </a:cubicBezTo>
                    <a:cubicBezTo>
                      <a:pt x="190" y="293"/>
                      <a:pt x="204" y="296"/>
                      <a:pt x="213" y="302"/>
                    </a:cubicBezTo>
                    <a:cubicBezTo>
                      <a:pt x="271" y="288"/>
                      <a:pt x="256" y="282"/>
                      <a:pt x="269" y="227"/>
                    </a:cubicBezTo>
                    <a:cubicBezTo>
                      <a:pt x="266" y="161"/>
                      <a:pt x="279" y="92"/>
                      <a:pt x="260" y="28"/>
                    </a:cubicBezTo>
                    <a:cubicBezTo>
                      <a:pt x="254" y="9"/>
                      <a:pt x="171" y="0"/>
                      <a:pt x="147"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944" name="Freeform 272"/>
              <p:cNvSpPr>
                <a:spLocks/>
              </p:cNvSpPr>
              <p:nvPr/>
            </p:nvSpPr>
            <p:spPr bwMode="auto">
              <a:xfrm flipH="1">
                <a:off x="607" y="1270"/>
                <a:ext cx="170" cy="124"/>
              </a:xfrm>
              <a:custGeom>
                <a:avLst/>
                <a:gdLst>
                  <a:gd name="T0" fmla="*/ 9 w 453"/>
                  <a:gd name="T1" fmla="*/ 212 h 392"/>
                  <a:gd name="T2" fmla="*/ 66 w 453"/>
                  <a:gd name="T3" fmla="*/ 174 h 392"/>
                  <a:gd name="T4" fmla="*/ 104 w 453"/>
                  <a:gd name="T5" fmla="*/ 61 h 392"/>
                  <a:gd name="T6" fmla="*/ 132 w 453"/>
                  <a:gd name="T7" fmla="*/ 51 h 392"/>
                  <a:gd name="T8" fmla="*/ 198 w 453"/>
                  <a:gd name="T9" fmla="*/ 42 h 392"/>
                  <a:gd name="T10" fmla="*/ 377 w 453"/>
                  <a:gd name="T11" fmla="*/ 51 h 392"/>
                  <a:gd name="T12" fmla="*/ 425 w 453"/>
                  <a:gd name="T13" fmla="*/ 165 h 392"/>
                  <a:gd name="T14" fmla="*/ 453 w 453"/>
                  <a:gd name="T15" fmla="*/ 259 h 392"/>
                  <a:gd name="T16" fmla="*/ 425 w 453"/>
                  <a:gd name="T17" fmla="*/ 353 h 392"/>
                  <a:gd name="T18" fmla="*/ 330 w 453"/>
                  <a:gd name="T19" fmla="*/ 382 h 392"/>
                  <a:gd name="T20" fmla="*/ 113 w 453"/>
                  <a:gd name="T21" fmla="*/ 344 h 392"/>
                  <a:gd name="T22" fmla="*/ 104 w 453"/>
                  <a:gd name="T23" fmla="*/ 316 h 392"/>
                  <a:gd name="T24" fmla="*/ 47 w 453"/>
                  <a:gd name="T25" fmla="*/ 278 h 392"/>
                  <a:gd name="T26" fmla="*/ 37 w 453"/>
                  <a:gd name="T27" fmla="*/ 250 h 392"/>
                  <a:gd name="T28" fmla="*/ 9 w 453"/>
                  <a:gd name="T29" fmla="*/ 21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3" h="392">
                    <a:moveTo>
                      <a:pt x="9" y="212"/>
                    </a:moveTo>
                    <a:cubicBezTo>
                      <a:pt x="28" y="199"/>
                      <a:pt x="47" y="187"/>
                      <a:pt x="66" y="174"/>
                    </a:cubicBezTo>
                    <a:cubicBezTo>
                      <a:pt x="77" y="167"/>
                      <a:pt x="97" y="81"/>
                      <a:pt x="104" y="61"/>
                    </a:cubicBezTo>
                    <a:cubicBezTo>
                      <a:pt x="107" y="52"/>
                      <a:pt x="122" y="53"/>
                      <a:pt x="132" y="51"/>
                    </a:cubicBezTo>
                    <a:cubicBezTo>
                      <a:pt x="154" y="47"/>
                      <a:pt x="176" y="45"/>
                      <a:pt x="198" y="42"/>
                    </a:cubicBezTo>
                    <a:cubicBezTo>
                      <a:pt x="263" y="19"/>
                      <a:pt x="326" y="0"/>
                      <a:pt x="377" y="51"/>
                    </a:cubicBezTo>
                    <a:cubicBezTo>
                      <a:pt x="392" y="95"/>
                      <a:pt x="400" y="127"/>
                      <a:pt x="425" y="165"/>
                    </a:cubicBezTo>
                    <a:cubicBezTo>
                      <a:pt x="447" y="233"/>
                      <a:pt x="438" y="202"/>
                      <a:pt x="453" y="259"/>
                    </a:cubicBezTo>
                    <a:cubicBezTo>
                      <a:pt x="450" y="271"/>
                      <a:pt x="429" y="352"/>
                      <a:pt x="425" y="353"/>
                    </a:cubicBezTo>
                    <a:cubicBezTo>
                      <a:pt x="356" y="376"/>
                      <a:pt x="387" y="367"/>
                      <a:pt x="330" y="382"/>
                    </a:cubicBezTo>
                    <a:cubicBezTo>
                      <a:pt x="229" y="376"/>
                      <a:pt x="184" y="392"/>
                      <a:pt x="113" y="344"/>
                    </a:cubicBezTo>
                    <a:cubicBezTo>
                      <a:pt x="110" y="335"/>
                      <a:pt x="111" y="323"/>
                      <a:pt x="104" y="316"/>
                    </a:cubicBezTo>
                    <a:cubicBezTo>
                      <a:pt x="88" y="300"/>
                      <a:pt x="47" y="278"/>
                      <a:pt x="47" y="278"/>
                    </a:cubicBezTo>
                    <a:cubicBezTo>
                      <a:pt x="44" y="269"/>
                      <a:pt x="44" y="257"/>
                      <a:pt x="37" y="250"/>
                    </a:cubicBezTo>
                    <a:cubicBezTo>
                      <a:pt x="0" y="213"/>
                      <a:pt x="9" y="272"/>
                      <a:pt x="9" y="212"/>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945" name="Oval 273"/>
              <p:cNvSpPr>
                <a:spLocks noChangeArrowheads="1"/>
              </p:cNvSpPr>
              <p:nvPr/>
            </p:nvSpPr>
            <p:spPr bwMode="auto">
              <a:xfrm flipH="1">
                <a:off x="487" y="899"/>
                <a:ext cx="404" cy="390"/>
              </a:xfrm>
              <a:prstGeom prst="ellipse">
                <a:avLst/>
              </a:prstGeom>
              <a:noFill/>
              <a:ln w="25400">
                <a:solidFill>
                  <a:schemeClr val="bg1"/>
                </a:solidFill>
                <a:round/>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946" name="Freeform 274"/>
              <p:cNvSpPr>
                <a:spLocks/>
              </p:cNvSpPr>
              <p:nvPr/>
            </p:nvSpPr>
            <p:spPr bwMode="auto">
              <a:xfrm flipH="1">
                <a:off x="422" y="1325"/>
                <a:ext cx="643" cy="400"/>
              </a:xfrm>
              <a:custGeom>
                <a:avLst/>
                <a:gdLst>
                  <a:gd name="T0" fmla="*/ 787 w 1716"/>
                  <a:gd name="T1" fmla="*/ 38 h 1261"/>
                  <a:gd name="T2" fmla="*/ 853 w 1716"/>
                  <a:gd name="T3" fmla="*/ 76 h 1261"/>
                  <a:gd name="T4" fmla="*/ 881 w 1716"/>
                  <a:gd name="T5" fmla="*/ 104 h 1261"/>
                  <a:gd name="T6" fmla="*/ 966 w 1716"/>
                  <a:gd name="T7" fmla="*/ 142 h 1261"/>
                  <a:gd name="T8" fmla="*/ 1127 w 1716"/>
                  <a:gd name="T9" fmla="*/ 132 h 1261"/>
                  <a:gd name="T10" fmla="*/ 1174 w 1716"/>
                  <a:gd name="T11" fmla="*/ 85 h 1261"/>
                  <a:gd name="T12" fmla="*/ 1230 w 1716"/>
                  <a:gd name="T13" fmla="*/ 47 h 1261"/>
                  <a:gd name="T14" fmla="*/ 1363 w 1716"/>
                  <a:gd name="T15" fmla="*/ 9 h 1261"/>
                  <a:gd name="T16" fmla="*/ 1495 w 1716"/>
                  <a:gd name="T17" fmla="*/ 19 h 1261"/>
                  <a:gd name="T18" fmla="*/ 1561 w 1716"/>
                  <a:gd name="T19" fmla="*/ 151 h 1261"/>
                  <a:gd name="T20" fmla="*/ 1589 w 1716"/>
                  <a:gd name="T21" fmla="*/ 425 h 1261"/>
                  <a:gd name="T22" fmla="*/ 1618 w 1716"/>
                  <a:gd name="T23" fmla="*/ 585 h 1261"/>
                  <a:gd name="T24" fmla="*/ 1646 w 1716"/>
                  <a:gd name="T25" fmla="*/ 793 h 1261"/>
                  <a:gd name="T26" fmla="*/ 1703 w 1716"/>
                  <a:gd name="T27" fmla="*/ 1020 h 1261"/>
                  <a:gd name="T28" fmla="*/ 1712 w 1716"/>
                  <a:gd name="T29" fmla="*/ 1058 h 1261"/>
                  <a:gd name="T30" fmla="*/ 1684 w 1716"/>
                  <a:gd name="T31" fmla="*/ 1076 h 1261"/>
                  <a:gd name="T32" fmla="*/ 1561 w 1716"/>
                  <a:gd name="T33" fmla="*/ 1086 h 1261"/>
                  <a:gd name="T34" fmla="*/ 1372 w 1716"/>
                  <a:gd name="T35" fmla="*/ 500 h 1261"/>
                  <a:gd name="T36" fmla="*/ 1334 w 1716"/>
                  <a:gd name="T37" fmla="*/ 406 h 1261"/>
                  <a:gd name="T38" fmla="*/ 1334 w 1716"/>
                  <a:gd name="T39" fmla="*/ 1228 h 1261"/>
                  <a:gd name="T40" fmla="*/ 1230 w 1716"/>
                  <a:gd name="T41" fmla="*/ 1218 h 1261"/>
                  <a:gd name="T42" fmla="*/ 985 w 1716"/>
                  <a:gd name="T43" fmla="*/ 1143 h 1261"/>
                  <a:gd name="T44" fmla="*/ 560 w 1716"/>
                  <a:gd name="T45" fmla="*/ 1143 h 1261"/>
                  <a:gd name="T46" fmla="*/ 569 w 1716"/>
                  <a:gd name="T47" fmla="*/ 1114 h 1261"/>
                  <a:gd name="T48" fmla="*/ 607 w 1716"/>
                  <a:gd name="T49" fmla="*/ 519 h 1261"/>
                  <a:gd name="T50" fmla="*/ 598 w 1716"/>
                  <a:gd name="T51" fmla="*/ 425 h 1261"/>
                  <a:gd name="T52" fmla="*/ 560 w 1716"/>
                  <a:gd name="T53" fmla="*/ 491 h 1261"/>
                  <a:gd name="T54" fmla="*/ 447 w 1716"/>
                  <a:gd name="T55" fmla="*/ 614 h 1261"/>
                  <a:gd name="T56" fmla="*/ 418 w 1716"/>
                  <a:gd name="T57" fmla="*/ 642 h 1261"/>
                  <a:gd name="T58" fmla="*/ 305 w 1716"/>
                  <a:gd name="T59" fmla="*/ 822 h 1261"/>
                  <a:gd name="T60" fmla="*/ 229 w 1716"/>
                  <a:gd name="T61" fmla="*/ 954 h 1261"/>
                  <a:gd name="T62" fmla="*/ 154 w 1716"/>
                  <a:gd name="T63" fmla="*/ 925 h 1261"/>
                  <a:gd name="T64" fmla="*/ 144 w 1716"/>
                  <a:gd name="T65" fmla="*/ 897 h 1261"/>
                  <a:gd name="T66" fmla="*/ 116 w 1716"/>
                  <a:gd name="T67" fmla="*/ 878 h 1261"/>
                  <a:gd name="T68" fmla="*/ 88 w 1716"/>
                  <a:gd name="T69" fmla="*/ 850 h 1261"/>
                  <a:gd name="T70" fmla="*/ 22 w 1716"/>
                  <a:gd name="T71" fmla="*/ 812 h 1261"/>
                  <a:gd name="T72" fmla="*/ 3 w 1716"/>
                  <a:gd name="T73" fmla="*/ 774 h 1261"/>
                  <a:gd name="T74" fmla="*/ 41 w 1716"/>
                  <a:gd name="T75" fmla="*/ 718 h 1261"/>
                  <a:gd name="T76" fmla="*/ 211 w 1716"/>
                  <a:gd name="T77" fmla="*/ 557 h 1261"/>
                  <a:gd name="T78" fmla="*/ 296 w 1716"/>
                  <a:gd name="T79" fmla="*/ 415 h 1261"/>
                  <a:gd name="T80" fmla="*/ 390 w 1716"/>
                  <a:gd name="T81" fmla="*/ 330 h 1261"/>
                  <a:gd name="T82" fmla="*/ 541 w 1716"/>
                  <a:gd name="T83" fmla="*/ 151 h 1261"/>
                  <a:gd name="T84" fmla="*/ 617 w 1716"/>
                  <a:gd name="T85" fmla="*/ 47 h 1261"/>
                  <a:gd name="T86" fmla="*/ 711 w 1716"/>
                  <a:gd name="T87" fmla="*/ 0 h 1261"/>
                  <a:gd name="T88" fmla="*/ 758 w 1716"/>
                  <a:gd name="T89" fmla="*/ 9 h 1261"/>
                  <a:gd name="T90" fmla="*/ 787 w 1716"/>
                  <a:gd name="T91" fmla="*/ 38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16" h="1261">
                    <a:moveTo>
                      <a:pt x="787" y="38"/>
                    </a:moveTo>
                    <a:cubicBezTo>
                      <a:pt x="808" y="52"/>
                      <a:pt x="832" y="61"/>
                      <a:pt x="853" y="76"/>
                    </a:cubicBezTo>
                    <a:cubicBezTo>
                      <a:pt x="864" y="84"/>
                      <a:pt x="871" y="96"/>
                      <a:pt x="881" y="104"/>
                    </a:cubicBezTo>
                    <a:cubicBezTo>
                      <a:pt x="907" y="125"/>
                      <a:pt x="935" y="131"/>
                      <a:pt x="966" y="142"/>
                    </a:cubicBezTo>
                    <a:cubicBezTo>
                      <a:pt x="1020" y="139"/>
                      <a:pt x="1074" y="140"/>
                      <a:pt x="1127" y="132"/>
                    </a:cubicBezTo>
                    <a:cubicBezTo>
                      <a:pt x="1158" y="127"/>
                      <a:pt x="1155" y="102"/>
                      <a:pt x="1174" y="85"/>
                    </a:cubicBezTo>
                    <a:cubicBezTo>
                      <a:pt x="1191" y="70"/>
                      <a:pt x="1211" y="60"/>
                      <a:pt x="1230" y="47"/>
                    </a:cubicBezTo>
                    <a:cubicBezTo>
                      <a:pt x="1268" y="21"/>
                      <a:pt x="1363" y="9"/>
                      <a:pt x="1363" y="9"/>
                    </a:cubicBezTo>
                    <a:cubicBezTo>
                      <a:pt x="1407" y="12"/>
                      <a:pt x="1453" y="6"/>
                      <a:pt x="1495" y="19"/>
                    </a:cubicBezTo>
                    <a:cubicBezTo>
                      <a:pt x="1515" y="25"/>
                      <a:pt x="1554" y="130"/>
                      <a:pt x="1561" y="151"/>
                    </a:cubicBezTo>
                    <a:cubicBezTo>
                      <a:pt x="1573" y="242"/>
                      <a:pt x="1577" y="334"/>
                      <a:pt x="1589" y="425"/>
                    </a:cubicBezTo>
                    <a:cubicBezTo>
                      <a:pt x="1596" y="479"/>
                      <a:pt x="1612" y="531"/>
                      <a:pt x="1618" y="585"/>
                    </a:cubicBezTo>
                    <a:cubicBezTo>
                      <a:pt x="1626" y="654"/>
                      <a:pt x="1623" y="728"/>
                      <a:pt x="1646" y="793"/>
                    </a:cubicBezTo>
                    <a:cubicBezTo>
                      <a:pt x="1656" y="874"/>
                      <a:pt x="1666" y="947"/>
                      <a:pt x="1703" y="1020"/>
                    </a:cubicBezTo>
                    <a:cubicBezTo>
                      <a:pt x="1706" y="1033"/>
                      <a:pt x="1716" y="1046"/>
                      <a:pt x="1712" y="1058"/>
                    </a:cubicBezTo>
                    <a:cubicBezTo>
                      <a:pt x="1708" y="1069"/>
                      <a:pt x="1695" y="1074"/>
                      <a:pt x="1684" y="1076"/>
                    </a:cubicBezTo>
                    <a:cubicBezTo>
                      <a:pt x="1644" y="1083"/>
                      <a:pt x="1602" y="1083"/>
                      <a:pt x="1561" y="1086"/>
                    </a:cubicBezTo>
                    <a:cubicBezTo>
                      <a:pt x="1188" y="1206"/>
                      <a:pt x="1574" y="637"/>
                      <a:pt x="1372" y="500"/>
                    </a:cubicBezTo>
                    <a:cubicBezTo>
                      <a:pt x="1362" y="467"/>
                      <a:pt x="1345" y="438"/>
                      <a:pt x="1334" y="406"/>
                    </a:cubicBezTo>
                    <a:cubicBezTo>
                      <a:pt x="1335" y="463"/>
                      <a:pt x="1358" y="1148"/>
                      <a:pt x="1334" y="1228"/>
                    </a:cubicBezTo>
                    <a:cubicBezTo>
                      <a:pt x="1324" y="1261"/>
                      <a:pt x="1265" y="1222"/>
                      <a:pt x="1230" y="1218"/>
                    </a:cubicBezTo>
                    <a:cubicBezTo>
                      <a:pt x="1144" y="1207"/>
                      <a:pt x="1066" y="1169"/>
                      <a:pt x="985" y="1143"/>
                    </a:cubicBezTo>
                    <a:cubicBezTo>
                      <a:pt x="918" y="1145"/>
                      <a:pt x="647" y="1162"/>
                      <a:pt x="560" y="1143"/>
                    </a:cubicBezTo>
                    <a:cubicBezTo>
                      <a:pt x="550" y="1141"/>
                      <a:pt x="566" y="1124"/>
                      <a:pt x="569" y="1114"/>
                    </a:cubicBezTo>
                    <a:cubicBezTo>
                      <a:pt x="576" y="920"/>
                      <a:pt x="562" y="710"/>
                      <a:pt x="607" y="519"/>
                    </a:cubicBezTo>
                    <a:cubicBezTo>
                      <a:pt x="604" y="488"/>
                      <a:pt x="616" y="451"/>
                      <a:pt x="598" y="425"/>
                    </a:cubicBezTo>
                    <a:cubicBezTo>
                      <a:pt x="584" y="404"/>
                      <a:pt x="561" y="489"/>
                      <a:pt x="560" y="491"/>
                    </a:cubicBezTo>
                    <a:cubicBezTo>
                      <a:pt x="534" y="543"/>
                      <a:pt x="488" y="573"/>
                      <a:pt x="447" y="614"/>
                    </a:cubicBezTo>
                    <a:cubicBezTo>
                      <a:pt x="437" y="624"/>
                      <a:pt x="418" y="642"/>
                      <a:pt x="418" y="642"/>
                    </a:cubicBezTo>
                    <a:cubicBezTo>
                      <a:pt x="386" y="707"/>
                      <a:pt x="341" y="760"/>
                      <a:pt x="305" y="822"/>
                    </a:cubicBezTo>
                    <a:cubicBezTo>
                      <a:pt x="278" y="869"/>
                      <a:pt x="275" y="924"/>
                      <a:pt x="229" y="954"/>
                    </a:cubicBezTo>
                    <a:cubicBezTo>
                      <a:pt x="215" y="949"/>
                      <a:pt x="160" y="930"/>
                      <a:pt x="154" y="925"/>
                    </a:cubicBezTo>
                    <a:cubicBezTo>
                      <a:pt x="146" y="919"/>
                      <a:pt x="150" y="905"/>
                      <a:pt x="144" y="897"/>
                    </a:cubicBezTo>
                    <a:cubicBezTo>
                      <a:pt x="137" y="888"/>
                      <a:pt x="125" y="885"/>
                      <a:pt x="116" y="878"/>
                    </a:cubicBezTo>
                    <a:cubicBezTo>
                      <a:pt x="106" y="870"/>
                      <a:pt x="99" y="858"/>
                      <a:pt x="88" y="850"/>
                    </a:cubicBezTo>
                    <a:cubicBezTo>
                      <a:pt x="67" y="835"/>
                      <a:pt x="43" y="826"/>
                      <a:pt x="22" y="812"/>
                    </a:cubicBezTo>
                    <a:cubicBezTo>
                      <a:pt x="16" y="799"/>
                      <a:pt x="0" y="788"/>
                      <a:pt x="3" y="774"/>
                    </a:cubicBezTo>
                    <a:cubicBezTo>
                      <a:pt x="7" y="752"/>
                      <a:pt x="28" y="737"/>
                      <a:pt x="41" y="718"/>
                    </a:cubicBezTo>
                    <a:cubicBezTo>
                      <a:pt x="80" y="661"/>
                      <a:pt x="156" y="598"/>
                      <a:pt x="211" y="557"/>
                    </a:cubicBezTo>
                    <a:cubicBezTo>
                      <a:pt x="235" y="521"/>
                      <a:pt x="267" y="444"/>
                      <a:pt x="296" y="415"/>
                    </a:cubicBezTo>
                    <a:cubicBezTo>
                      <a:pt x="325" y="386"/>
                      <a:pt x="363" y="357"/>
                      <a:pt x="390" y="330"/>
                    </a:cubicBezTo>
                    <a:cubicBezTo>
                      <a:pt x="445" y="275"/>
                      <a:pt x="475" y="196"/>
                      <a:pt x="541" y="151"/>
                    </a:cubicBezTo>
                    <a:cubicBezTo>
                      <a:pt x="558" y="105"/>
                      <a:pt x="577" y="73"/>
                      <a:pt x="617" y="47"/>
                    </a:cubicBezTo>
                    <a:cubicBezTo>
                      <a:pt x="643" y="6"/>
                      <a:pt x="663" y="9"/>
                      <a:pt x="711" y="0"/>
                    </a:cubicBezTo>
                    <a:cubicBezTo>
                      <a:pt x="727" y="3"/>
                      <a:pt x="745" y="0"/>
                      <a:pt x="758" y="9"/>
                    </a:cubicBezTo>
                    <a:cubicBezTo>
                      <a:pt x="810" y="44"/>
                      <a:pt x="733" y="38"/>
                      <a:pt x="787" y="38"/>
                    </a:cubicBezTo>
                    <a:close/>
                  </a:path>
                </a:pathLst>
              </a:custGeom>
              <a:solidFill>
                <a:srgbClr val="9933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947" name="Freeform 275"/>
              <p:cNvSpPr>
                <a:spLocks/>
              </p:cNvSpPr>
              <p:nvPr/>
            </p:nvSpPr>
            <p:spPr bwMode="auto">
              <a:xfrm flipH="1">
                <a:off x="515" y="1652"/>
                <a:ext cx="366" cy="423"/>
              </a:xfrm>
              <a:custGeom>
                <a:avLst/>
                <a:gdLst>
                  <a:gd name="T0" fmla="*/ 75 w 680"/>
                  <a:gd name="T1" fmla="*/ 83 h 940"/>
                  <a:gd name="T2" fmla="*/ 66 w 680"/>
                  <a:gd name="T3" fmla="*/ 206 h 940"/>
                  <a:gd name="T4" fmla="*/ 56 w 680"/>
                  <a:gd name="T5" fmla="*/ 593 h 940"/>
                  <a:gd name="T6" fmla="*/ 0 w 680"/>
                  <a:gd name="T7" fmla="*/ 848 h 940"/>
                  <a:gd name="T8" fmla="*/ 28 w 680"/>
                  <a:gd name="T9" fmla="*/ 858 h 940"/>
                  <a:gd name="T10" fmla="*/ 293 w 680"/>
                  <a:gd name="T11" fmla="*/ 839 h 940"/>
                  <a:gd name="T12" fmla="*/ 302 w 680"/>
                  <a:gd name="T13" fmla="*/ 773 h 940"/>
                  <a:gd name="T14" fmla="*/ 321 w 680"/>
                  <a:gd name="T15" fmla="*/ 688 h 940"/>
                  <a:gd name="T16" fmla="*/ 330 w 680"/>
                  <a:gd name="T17" fmla="*/ 348 h 940"/>
                  <a:gd name="T18" fmla="*/ 340 w 680"/>
                  <a:gd name="T19" fmla="*/ 376 h 940"/>
                  <a:gd name="T20" fmla="*/ 349 w 680"/>
                  <a:gd name="T21" fmla="*/ 471 h 940"/>
                  <a:gd name="T22" fmla="*/ 368 w 680"/>
                  <a:gd name="T23" fmla="*/ 612 h 940"/>
                  <a:gd name="T24" fmla="*/ 377 w 680"/>
                  <a:gd name="T25" fmla="*/ 924 h 940"/>
                  <a:gd name="T26" fmla="*/ 491 w 680"/>
                  <a:gd name="T27" fmla="*/ 905 h 940"/>
                  <a:gd name="T28" fmla="*/ 547 w 680"/>
                  <a:gd name="T29" fmla="*/ 886 h 940"/>
                  <a:gd name="T30" fmla="*/ 680 w 680"/>
                  <a:gd name="T31" fmla="*/ 886 h 940"/>
                  <a:gd name="T32" fmla="*/ 623 w 680"/>
                  <a:gd name="T33" fmla="*/ 659 h 940"/>
                  <a:gd name="T34" fmla="*/ 557 w 680"/>
                  <a:gd name="T35" fmla="*/ 168 h 940"/>
                  <a:gd name="T36" fmla="*/ 481 w 680"/>
                  <a:gd name="T37" fmla="*/ 46 h 940"/>
                  <a:gd name="T38" fmla="*/ 170 w 680"/>
                  <a:gd name="T39" fmla="*/ 27 h 940"/>
                  <a:gd name="T40" fmla="*/ 94 w 680"/>
                  <a:gd name="T41" fmla="*/ 55 h 940"/>
                  <a:gd name="T42" fmla="*/ 75 w 680"/>
                  <a:gd name="T43" fmla="*/ 83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80" h="940">
                    <a:moveTo>
                      <a:pt x="75" y="83"/>
                    </a:moveTo>
                    <a:cubicBezTo>
                      <a:pt x="72" y="124"/>
                      <a:pt x="68" y="165"/>
                      <a:pt x="66" y="206"/>
                    </a:cubicBezTo>
                    <a:cubicBezTo>
                      <a:pt x="61" y="335"/>
                      <a:pt x="62" y="464"/>
                      <a:pt x="56" y="593"/>
                    </a:cubicBezTo>
                    <a:cubicBezTo>
                      <a:pt x="52" y="675"/>
                      <a:pt x="19" y="767"/>
                      <a:pt x="0" y="848"/>
                    </a:cubicBezTo>
                    <a:cubicBezTo>
                      <a:pt x="9" y="851"/>
                      <a:pt x="18" y="858"/>
                      <a:pt x="28" y="858"/>
                    </a:cubicBezTo>
                    <a:cubicBezTo>
                      <a:pt x="117" y="855"/>
                      <a:pt x="208" y="865"/>
                      <a:pt x="293" y="839"/>
                    </a:cubicBezTo>
                    <a:cubicBezTo>
                      <a:pt x="314" y="832"/>
                      <a:pt x="298" y="795"/>
                      <a:pt x="302" y="773"/>
                    </a:cubicBezTo>
                    <a:cubicBezTo>
                      <a:pt x="307" y="744"/>
                      <a:pt x="315" y="716"/>
                      <a:pt x="321" y="688"/>
                    </a:cubicBezTo>
                    <a:cubicBezTo>
                      <a:pt x="324" y="575"/>
                      <a:pt x="323" y="461"/>
                      <a:pt x="330" y="348"/>
                    </a:cubicBezTo>
                    <a:cubicBezTo>
                      <a:pt x="331" y="338"/>
                      <a:pt x="338" y="366"/>
                      <a:pt x="340" y="376"/>
                    </a:cubicBezTo>
                    <a:cubicBezTo>
                      <a:pt x="345" y="407"/>
                      <a:pt x="346" y="439"/>
                      <a:pt x="349" y="471"/>
                    </a:cubicBezTo>
                    <a:cubicBezTo>
                      <a:pt x="359" y="574"/>
                      <a:pt x="354" y="538"/>
                      <a:pt x="368" y="612"/>
                    </a:cubicBezTo>
                    <a:cubicBezTo>
                      <a:pt x="371" y="716"/>
                      <a:pt x="346" y="825"/>
                      <a:pt x="377" y="924"/>
                    </a:cubicBezTo>
                    <a:cubicBezTo>
                      <a:pt x="382" y="940"/>
                      <a:pt x="467" y="913"/>
                      <a:pt x="491" y="905"/>
                    </a:cubicBezTo>
                    <a:cubicBezTo>
                      <a:pt x="510" y="899"/>
                      <a:pt x="547" y="886"/>
                      <a:pt x="547" y="886"/>
                    </a:cubicBezTo>
                    <a:cubicBezTo>
                      <a:pt x="620" y="900"/>
                      <a:pt x="605" y="911"/>
                      <a:pt x="680" y="886"/>
                    </a:cubicBezTo>
                    <a:cubicBezTo>
                      <a:pt x="664" y="809"/>
                      <a:pt x="646" y="735"/>
                      <a:pt x="623" y="659"/>
                    </a:cubicBezTo>
                    <a:cubicBezTo>
                      <a:pt x="616" y="486"/>
                      <a:pt x="604" y="333"/>
                      <a:pt x="557" y="168"/>
                    </a:cubicBezTo>
                    <a:cubicBezTo>
                      <a:pt x="543" y="119"/>
                      <a:pt x="529" y="69"/>
                      <a:pt x="481" y="46"/>
                    </a:cubicBezTo>
                    <a:cubicBezTo>
                      <a:pt x="388" y="0"/>
                      <a:pt x="274" y="30"/>
                      <a:pt x="170" y="27"/>
                    </a:cubicBezTo>
                    <a:cubicBezTo>
                      <a:pt x="144" y="32"/>
                      <a:pt x="113" y="32"/>
                      <a:pt x="94" y="55"/>
                    </a:cubicBezTo>
                    <a:cubicBezTo>
                      <a:pt x="69" y="86"/>
                      <a:pt x="100" y="83"/>
                      <a:pt x="75" y="83"/>
                    </a:cubicBezTo>
                    <a:close/>
                  </a:path>
                </a:pathLst>
              </a:custGeom>
              <a:solidFill>
                <a:srgbClr val="0033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948" name="Oval 276"/>
              <p:cNvSpPr>
                <a:spLocks noChangeArrowheads="1"/>
              </p:cNvSpPr>
              <p:nvPr/>
            </p:nvSpPr>
            <p:spPr bwMode="auto">
              <a:xfrm flipH="1">
                <a:off x="641" y="1090"/>
                <a:ext cx="48" cy="51"/>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949" name="Oval 277"/>
              <p:cNvSpPr>
                <a:spLocks noChangeArrowheads="1"/>
              </p:cNvSpPr>
              <p:nvPr/>
            </p:nvSpPr>
            <p:spPr bwMode="auto">
              <a:xfrm>
                <a:off x="510" y="930"/>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950" name="Oval 278"/>
              <p:cNvSpPr>
                <a:spLocks noChangeArrowheads="1"/>
              </p:cNvSpPr>
              <p:nvPr/>
            </p:nvSpPr>
            <p:spPr bwMode="auto">
              <a:xfrm>
                <a:off x="666" y="870"/>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951" name="Oval 279"/>
              <p:cNvSpPr>
                <a:spLocks noChangeArrowheads="1"/>
              </p:cNvSpPr>
              <p:nvPr/>
            </p:nvSpPr>
            <p:spPr bwMode="auto">
              <a:xfrm>
                <a:off x="816" y="954"/>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952" name="Oval 280"/>
              <p:cNvSpPr>
                <a:spLocks noChangeArrowheads="1"/>
              </p:cNvSpPr>
              <p:nvPr/>
            </p:nvSpPr>
            <p:spPr bwMode="auto">
              <a:xfrm>
                <a:off x="858" y="1122"/>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953" name="Oval 281"/>
              <p:cNvSpPr>
                <a:spLocks noChangeArrowheads="1"/>
              </p:cNvSpPr>
              <p:nvPr/>
            </p:nvSpPr>
            <p:spPr bwMode="auto">
              <a:xfrm>
                <a:off x="450" y="1086"/>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954" name="Oval 282"/>
              <p:cNvSpPr>
                <a:spLocks noChangeArrowheads="1"/>
              </p:cNvSpPr>
              <p:nvPr/>
            </p:nvSpPr>
            <p:spPr bwMode="auto">
              <a:xfrm>
                <a:off x="522" y="1212"/>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955" name="Oval 283"/>
              <p:cNvSpPr>
                <a:spLocks noChangeArrowheads="1"/>
              </p:cNvSpPr>
              <p:nvPr/>
            </p:nvSpPr>
            <p:spPr bwMode="auto">
              <a:xfrm>
                <a:off x="774" y="1230"/>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8956" name="Text Box 284"/>
            <p:cNvSpPr txBox="1">
              <a:spLocks noChangeArrowheads="1"/>
            </p:cNvSpPr>
            <p:nvPr/>
          </p:nvSpPr>
          <p:spPr bwMode="auto">
            <a:xfrm>
              <a:off x="372" y="276"/>
              <a:ext cx="2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t>Cl</a:t>
              </a:r>
            </a:p>
          </p:txBody>
        </p:sp>
      </p:grpSp>
      <p:grpSp>
        <p:nvGrpSpPr>
          <p:cNvPr id="28957" name="Group 285"/>
          <p:cNvGrpSpPr>
            <a:grpSpLocks/>
          </p:cNvGrpSpPr>
          <p:nvPr/>
        </p:nvGrpSpPr>
        <p:grpSpPr bwMode="auto">
          <a:xfrm flipH="1">
            <a:off x="5978525" y="4086225"/>
            <a:ext cx="1182688" cy="2041525"/>
            <a:chOff x="214" y="174"/>
            <a:chExt cx="745" cy="1286"/>
          </a:xfrm>
        </p:grpSpPr>
        <p:grpSp>
          <p:nvGrpSpPr>
            <p:cNvPr id="28958" name="Group 286"/>
            <p:cNvGrpSpPr>
              <a:grpSpLocks/>
            </p:cNvGrpSpPr>
            <p:nvPr/>
          </p:nvGrpSpPr>
          <p:grpSpPr bwMode="auto">
            <a:xfrm>
              <a:off x="214" y="174"/>
              <a:ext cx="745" cy="1286"/>
              <a:chOff x="387" y="870"/>
              <a:chExt cx="745" cy="1286"/>
            </a:xfrm>
          </p:grpSpPr>
          <p:sp>
            <p:nvSpPr>
              <p:cNvPr id="28959" name="Freeform 287"/>
              <p:cNvSpPr>
                <a:spLocks/>
              </p:cNvSpPr>
              <p:nvPr/>
            </p:nvSpPr>
            <p:spPr bwMode="auto">
              <a:xfrm>
                <a:off x="387" y="2024"/>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960" name="Freeform 288"/>
              <p:cNvSpPr>
                <a:spLocks/>
              </p:cNvSpPr>
              <p:nvPr/>
            </p:nvSpPr>
            <p:spPr bwMode="auto">
              <a:xfrm flipH="1">
                <a:off x="707" y="2019"/>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961" name="Freeform 289"/>
              <p:cNvSpPr>
                <a:spLocks/>
              </p:cNvSpPr>
              <p:nvPr/>
            </p:nvSpPr>
            <p:spPr bwMode="auto">
              <a:xfrm flipH="1">
                <a:off x="406" y="1647"/>
                <a:ext cx="158" cy="126"/>
              </a:xfrm>
              <a:custGeom>
                <a:avLst/>
                <a:gdLst>
                  <a:gd name="T0" fmla="*/ 213 w 294"/>
                  <a:gd name="T1" fmla="*/ 0 h 279"/>
                  <a:gd name="T2" fmla="*/ 270 w 294"/>
                  <a:gd name="T3" fmla="*/ 76 h 279"/>
                  <a:gd name="T4" fmla="*/ 270 w 294"/>
                  <a:gd name="T5" fmla="*/ 161 h 279"/>
                  <a:gd name="T6" fmla="*/ 232 w 294"/>
                  <a:gd name="T7" fmla="*/ 151 h 279"/>
                  <a:gd name="T8" fmla="*/ 241 w 294"/>
                  <a:gd name="T9" fmla="*/ 199 h 279"/>
                  <a:gd name="T10" fmla="*/ 232 w 294"/>
                  <a:gd name="T11" fmla="*/ 265 h 279"/>
                  <a:gd name="T12" fmla="*/ 203 w 294"/>
                  <a:gd name="T13" fmla="*/ 274 h 279"/>
                  <a:gd name="T14" fmla="*/ 194 w 294"/>
                  <a:gd name="T15" fmla="*/ 246 h 279"/>
                  <a:gd name="T16" fmla="*/ 166 w 294"/>
                  <a:gd name="T17" fmla="*/ 132 h 279"/>
                  <a:gd name="T18" fmla="*/ 118 w 294"/>
                  <a:gd name="T19" fmla="*/ 265 h 279"/>
                  <a:gd name="T20" fmla="*/ 90 w 294"/>
                  <a:gd name="T21" fmla="*/ 255 h 279"/>
                  <a:gd name="T22" fmla="*/ 81 w 294"/>
                  <a:gd name="T23" fmla="*/ 132 h 279"/>
                  <a:gd name="T24" fmla="*/ 90 w 294"/>
                  <a:gd name="T25" fmla="*/ 161 h 279"/>
                  <a:gd name="T26" fmla="*/ 24 w 294"/>
                  <a:gd name="T27" fmla="*/ 217 h 279"/>
                  <a:gd name="T28" fmla="*/ 5 w 294"/>
                  <a:gd name="T29" fmla="*/ 180 h 279"/>
                  <a:gd name="T30" fmla="*/ 81 w 294"/>
                  <a:gd name="T31" fmla="*/ 29 h 279"/>
                  <a:gd name="T32" fmla="*/ 213 w 294"/>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4" h="279">
                    <a:moveTo>
                      <a:pt x="213" y="0"/>
                    </a:moveTo>
                    <a:cubicBezTo>
                      <a:pt x="226" y="42"/>
                      <a:pt x="246" y="39"/>
                      <a:pt x="270" y="76"/>
                    </a:cubicBezTo>
                    <a:cubicBezTo>
                      <a:pt x="278" y="101"/>
                      <a:pt x="294" y="137"/>
                      <a:pt x="270" y="161"/>
                    </a:cubicBezTo>
                    <a:cubicBezTo>
                      <a:pt x="261" y="170"/>
                      <a:pt x="245" y="154"/>
                      <a:pt x="232" y="151"/>
                    </a:cubicBezTo>
                    <a:cubicBezTo>
                      <a:pt x="204" y="73"/>
                      <a:pt x="236" y="184"/>
                      <a:pt x="241" y="199"/>
                    </a:cubicBezTo>
                    <a:cubicBezTo>
                      <a:pt x="238" y="221"/>
                      <a:pt x="242" y="245"/>
                      <a:pt x="232" y="265"/>
                    </a:cubicBezTo>
                    <a:cubicBezTo>
                      <a:pt x="227" y="274"/>
                      <a:pt x="212" y="279"/>
                      <a:pt x="203" y="274"/>
                    </a:cubicBezTo>
                    <a:cubicBezTo>
                      <a:pt x="194" y="270"/>
                      <a:pt x="197" y="255"/>
                      <a:pt x="194" y="246"/>
                    </a:cubicBezTo>
                    <a:cubicBezTo>
                      <a:pt x="184" y="208"/>
                      <a:pt x="178" y="170"/>
                      <a:pt x="166" y="132"/>
                    </a:cubicBezTo>
                    <a:cubicBezTo>
                      <a:pt x="158" y="198"/>
                      <a:pt x="170" y="231"/>
                      <a:pt x="118" y="265"/>
                    </a:cubicBezTo>
                    <a:cubicBezTo>
                      <a:pt x="109" y="262"/>
                      <a:pt x="93" y="265"/>
                      <a:pt x="90" y="255"/>
                    </a:cubicBezTo>
                    <a:cubicBezTo>
                      <a:pt x="79" y="215"/>
                      <a:pt x="81" y="173"/>
                      <a:pt x="81" y="132"/>
                    </a:cubicBezTo>
                    <a:cubicBezTo>
                      <a:pt x="81" y="122"/>
                      <a:pt x="87" y="151"/>
                      <a:pt x="90" y="161"/>
                    </a:cubicBezTo>
                    <a:cubicBezTo>
                      <a:pt x="76" y="204"/>
                      <a:pt x="61" y="193"/>
                      <a:pt x="24" y="217"/>
                    </a:cubicBezTo>
                    <a:cubicBezTo>
                      <a:pt x="18" y="205"/>
                      <a:pt x="7" y="194"/>
                      <a:pt x="5" y="180"/>
                    </a:cubicBezTo>
                    <a:cubicBezTo>
                      <a:pt x="0" y="137"/>
                      <a:pt x="43" y="54"/>
                      <a:pt x="81" y="29"/>
                    </a:cubicBezTo>
                    <a:cubicBezTo>
                      <a:pt x="118" y="4"/>
                      <a:pt x="171" y="15"/>
                      <a:pt x="213"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962" name="Freeform 290"/>
              <p:cNvSpPr>
                <a:spLocks/>
              </p:cNvSpPr>
              <p:nvPr/>
            </p:nvSpPr>
            <p:spPr bwMode="auto">
              <a:xfrm flipH="1">
                <a:off x="982" y="1570"/>
                <a:ext cx="150" cy="136"/>
              </a:xfrm>
              <a:custGeom>
                <a:avLst/>
                <a:gdLst>
                  <a:gd name="T0" fmla="*/ 147 w 279"/>
                  <a:gd name="T1" fmla="*/ 0 h 302"/>
                  <a:gd name="T2" fmla="*/ 33 w 279"/>
                  <a:gd name="T3" fmla="*/ 47 h 302"/>
                  <a:gd name="T4" fmla="*/ 62 w 279"/>
                  <a:gd name="T5" fmla="*/ 113 h 302"/>
                  <a:gd name="T6" fmla="*/ 43 w 279"/>
                  <a:gd name="T7" fmla="*/ 142 h 302"/>
                  <a:gd name="T8" fmla="*/ 15 w 279"/>
                  <a:gd name="T9" fmla="*/ 160 h 302"/>
                  <a:gd name="T10" fmla="*/ 90 w 279"/>
                  <a:gd name="T11" fmla="*/ 208 h 302"/>
                  <a:gd name="T12" fmla="*/ 100 w 279"/>
                  <a:gd name="T13" fmla="*/ 236 h 302"/>
                  <a:gd name="T14" fmla="*/ 166 w 279"/>
                  <a:gd name="T15" fmla="*/ 264 h 302"/>
                  <a:gd name="T16" fmla="*/ 185 w 279"/>
                  <a:gd name="T17" fmla="*/ 283 h 302"/>
                  <a:gd name="T18" fmla="*/ 213 w 279"/>
                  <a:gd name="T19" fmla="*/ 302 h 302"/>
                  <a:gd name="T20" fmla="*/ 269 w 279"/>
                  <a:gd name="T21" fmla="*/ 227 h 302"/>
                  <a:gd name="T22" fmla="*/ 260 w 279"/>
                  <a:gd name="T23" fmla="*/ 28 h 302"/>
                  <a:gd name="T24" fmla="*/ 147 w 279"/>
                  <a:gd name="T25"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9" h="302">
                    <a:moveTo>
                      <a:pt x="147" y="0"/>
                    </a:moveTo>
                    <a:cubicBezTo>
                      <a:pt x="107" y="12"/>
                      <a:pt x="74" y="34"/>
                      <a:pt x="33" y="47"/>
                    </a:cubicBezTo>
                    <a:cubicBezTo>
                      <a:pt x="19" y="91"/>
                      <a:pt x="16" y="99"/>
                      <a:pt x="62" y="113"/>
                    </a:cubicBezTo>
                    <a:cubicBezTo>
                      <a:pt x="56" y="123"/>
                      <a:pt x="51" y="134"/>
                      <a:pt x="43" y="142"/>
                    </a:cubicBezTo>
                    <a:cubicBezTo>
                      <a:pt x="35" y="150"/>
                      <a:pt x="19" y="150"/>
                      <a:pt x="15" y="160"/>
                    </a:cubicBezTo>
                    <a:cubicBezTo>
                      <a:pt x="0" y="198"/>
                      <a:pt x="74" y="204"/>
                      <a:pt x="90" y="208"/>
                    </a:cubicBezTo>
                    <a:cubicBezTo>
                      <a:pt x="116" y="134"/>
                      <a:pt x="105" y="219"/>
                      <a:pt x="100" y="236"/>
                    </a:cubicBezTo>
                    <a:cubicBezTo>
                      <a:pt x="113" y="291"/>
                      <a:pt x="118" y="296"/>
                      <a:pt x="166" y="264"/>
                    </a:cubicBezTo>
                    <a:cubicBezTo>
                      <a:pt x="184" y="189"/>
                      <a:pt x="165" y="244"/>
                      <a:pt x="185" y="283"/>
                    </a:cubicBezTo>
                    <a:cubicBezTo>
                      <a:pt x="190" y="293"/>
                      <a:pt x="204" y="296"/>
                      <a:pt x="213" y="302"/>
                    </a:cubicBezTo>
                    <a:cubicBezTo>
                      <a:pt x="271" y="288"/>
                      <a:pt x="256" y="282"/>
                      <a:pt x="269" y="227"/>
                    </a:cubicBezTo>
                    <a:cubicBezTo>
                      <a:pt x="266" y="161"/>
                      <a:pt x="279" y="92"/>
                      <a:pt x="260" y="28"/>
                    </a:cubicBezTo>
                    <a:cubicBezTo>
                      <a:pt x="254" y="9"/>
                      <a:pt x="171" y="0"/>
                      <a:pt x="147"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963" name="Freeform 291"/>
              <p:cNvSpPr>
                <a:spLocks/>
              </p:cNvSpPr>
              <p:nvPr/>
            </p:nvSpPr>
            <p:spPr bwMode="auto">
              <a:xfrm flipH="1">
                <a:off x="607" y="1270"/>
                <a:ext cx="170" cy="124"/>
              </a:xfrm>
              <a:custGeom>
                <a:avLst/>
                <a:gdLst>
                  <a:gd name="T0" fmla="*/ 9 w 453"/>
                  <a:gd name="T1" fmla="*/ 212 h 392"/>
                  <a:gd name="T2" fmla="*/ 66 w 453"/>
                  <a:gd name="T3" fmla="*/ 174 h 392"/>
                  <a:gd name="T4" fmla="*/ 104 w 453"/>
                  <a:gd name="T5" fmla="*/ 61 h 392"/>
                  <a:gd name="T6" fmla="*/ 132 w 453"/>
                  <a:gd name="T7" fmla="*/ 51 h 392"/>
                  <a:gd name="T8" fmla="*/ 198 w 453"/>
                  <a:gd name="T9" fmla="*/ 42 h 392"/>
                  <a:gd name="T10" fmla="*/ 377 w 453"/>
                  <a:gd name="T11" fmla="*/ 51 h 392"/>
                  <a:gd name="T12" fmla="*/ 425 w 453"/>
                  <a:gd name="T13" fmla="*/ 165 h 392"/>
                  <a:gd name="T14" fmla="*/ 453 w 453"/>
                  <a:gd name="T15" fmla="*/ 259 h 392"/>
                  <a:gd name="T16" fmla="*/ 425 w 453"/>
                  <a:gd name="T17" fmla="*/ 353 h 392"/>
                  <a:gd name="T18" fmla="*/ 330 w 453"/>
                  <a:gd name="T19" fmla="*/ 382 h 392"/>
                  <a:gd name="T20" fmla="*/ 113 w 453"/>
                  <a:gd name="T21" fmla="*/ 344 h 392"/>
                  <a:gd name="T22" fmla="*/ 104 w 453"/>
                  <a:gd name="T23" fmla="*/ 316 h 392"/>
                  <a:gd name="T24" fmla="*/ 47 w 453"/>
                  <a:gd name="T25" fmla="*/ 278 h 392"/>
                  <a:gd name="T26" fmla="*/ 37 w 453"/>
                  <a:gd name="T27" fmla="*/ 250 h 392"/>
                  <a:gd name="T28" fmla="*/ 9 w 453"/>
                  <a:gd name="T29" fmla="*/ 21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3" h="392">
                    <a:moveTo>
                      <a:pt x="9" y="212"/>
                    </a:moveTo>
                    <a:cubicBezTo>
                      <a:pt x="28" y="199"/>
                      <a:pt x="47" y="187"/>
                      <a:pt x="66" y="174"/>
                    </a:cubicBezTo>
                    <a:cubicBezTo>
                      <a:pt x="77" y="167"/>
                      <a:pt x="97" y="81"/>
                      <a:pt x="104" y="61"/>
                    </a:cubicBezTo>
                    <a:cubicBezTo>
                      <a:pt x="107" y="52"/>
                      <a:pt x="122" y="53"/>
                      <a:pt x="132" y="51"/>
                    </a:cubicBezTo>
                    <a:cubicBezTo>
                      <a:pt x="154" y="47"/>
                      <a:pt x="176" y="45"/>
                      <a:pt x="198" y="42"/>
                    </a:cubicBezTo>
                    <a:cubicBezTo>
                      <a:pt x="263" y="19"/>
                      <a:pt x="326" y="0"/>
                      <a:pt x="377" y="51"/>
                    </a:cubicBezTo>
                    <a:cubicBezTo>
                      <a:pt x="392" y="95"/>
                      <a:pt x="400" y="127"/>
                      <a:pt x="425" y="165"/>
                    </a:cubicBezTo>
                    <a:cubicBezTo>
                      <a:pt x="447" y="233"/>
                      <a:pt x="438" y="202"/>
                      <a:pt x="453" y="259"/>
                    </a:cubicBezTo>
                    <a:cubicBezTo>
                      <a:pt x="450" y="271"/>
                      <a:pt x="429" y="352"/>
                      <a:pt x="425" y="353"/>
                    </a:cubicBezTo>
                    <a:cubicBezTo>
                      <a:pt x="356" y="376"/>
                      <a:pt x="387" y="367"/>
                      <a:pt x="330" y="382"/>
                    </a:cubicBezTo>
                    <a:cubicBezTo>
                      <a:pt x="229" y="376"/>
                      <a:pt x="184" y="392"/>
                      <a:pt x="113" y="344"/>
                    </a:cubicBezTo>
                    <a:cubicBezTo>
                      <a:pt x="110" y="335"/>
                      <a:pt x="111" y="323"/>
                      <a:pt x="104" y="316"/>
                    </a:cubicBezTo>
                    <a:cubicBezTo>
                      <a:pt x="88" y="300"/>
                      <a:pt x="47" y="278"/>
                      <a:pt x="47" y="278"/>
                    </a:cubicBezTo>
                    <a:cubicBezTo>
                      <a:pt x="44" y="269"/>
                      <a:pt x="44" y="257"/>
                      <a:pt x="37" y="250"/>
                    </a:cubicBezTo>
                    <a:cubicBezTo>
                      <a:pt x="0" y="213"/>
                      <a:pt x="9" y="272"/>
                      <a:pt x="9" y="212"/>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964" name="Oval 292"/>
              <p:cNvSpPr>
                <a:spLocks noChangeArrowheads="1"/>
              </p:cNvSpPr>
              <p:nvPr/>
            </p:nvSpPr>
            <p:spPr bwMode="auto">
              <a:xfrm flipH="1">
                <a:off x="487" y="899"/>
                <a:ext cx="404" cy="390"/>
              </a:xfrm>
              <a:prstGeom prst="ellipse">
                <a:avLst/>
              </a:prstGeom>
              <a:noFill/>
              <a:ln w="25400">
                <a:solidFill>
                  <a:schemeClr val="bg1"/>
                </a:solidFill>
                <a:round/>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965" name="Freeform 293"/>
              <p:cNvSpPr>
                <a:spLocks/>
              </p:cNvSpPr>
              <p:nvPr/>
            </p:nvSpPr>
            <p:spPr bwMode="auto">
              <a:xfrm flipH="1">
                <a:off x="422" y="1325"/>
                <a:ext cx="643" cy="400"/>
              </a:xfrm>
              <a:custGeom>
                <a:avLst/>
                <a:gdLst>
                  <a:gd name="T0" fmla="*/ 787 w 1716"/>
                  <a:gd name="T1" fmla="*/ 38 h 1261"/>
                  <a:gd name="T2" fmla="*/ 853 w 1716"/>
                  <a:gd name="T3" fmla="*/ 76 h 1261"/>
                  <a:gd name="T4" fmla="*/ 881 w 1716"/>
                  <a:gd name="T5" fmla="*/ 104 h 1261"/>
                  <a:gd name="T6" fmla="*/ 966 w 1716"/>
                  <a:gd name="T7" fmla="*/ 142 h 1261"/>
                  <a:gd name="T8" fmla="*/ 1127 w 1716"/>
                  <a:gd name="T9" fmla="*/ 132 h 1261"/>
                  <a:gd name="T10" fmla="*/ 1174 w 1716"/>
                  <a:gd name="T11" fmla="*/ 85 h 1261"/>
                  <a:gd name="T12" fmla="*/ 1230 w 1716"/>
                  <a:gd name="T13" fmla="*/ 47 h 1261"/>
                  <a:gd name="T14" fmla="*/ 1363 w 1716"/>
                  <a:gd name="T15" fmla="*/ 9 h 1261"/>
                  <a:gd name="T16" fmla="*/ 1495 w 1716"/>
                  <a:gd name="T17" fmla="*/ 19 h 1261"/>
                  <a:gd name="T18" fmla="*/ 1561 w 1716"/>
                  <a:gd name="T19" fmla="*/ 151 h 1261"/>
                  <a:gd name="T20" fmla="*/ 1589 w 1716"/>
                  <a:gd name="T21" fmla="*/ 425 h 1261"/>
                  <a:gd name="T22" fmla="*/ 1618 w 1716"/>
                  <a:gd name="T23" fmla="*/ 585 h 1261"/>
                  <a:gd name="T24" fmla="*/ 1646 w 1716"/>
                  <a:gd name="T25" fmla="*/ 793 h 1261"/>
                  <a:gd name="T26" fmla="*/ 1703 w 1716"/>
                  <a:gd name="T27" fmla="*/ 1020 h 1261"/>
                  <a:gd name="T28" fmla="*/ 1712 w 1716"/>
                  <a:gd name="T29" fmla="*/ 1058 h 1261"/>
                  <a:gd name="T30" fmla="*/ 1684 w 1716"/>
                  <a:gd name="T31" fmla="*/ 1076 h 1261"/>
                  <a:gd name="T32" fmla="*/ 1561 w 1716"/>
                  <a:gd name="T33" fmla="*/ 1086 h 1261"/>
                  <a:gd name="T34" fmla="*/ 1372 w 1716"/>
                  <a:gd name="T35" fmla="*/ 500 h 1261"/>
                  <a:gd name="T36" fmla="*/ 1334 w 1716"/>
                  <a:gd name="T37" fmla="*/ 406 h 1261"/>
                  <a:gd name="T38" fmla="*/ 1334 w 1716"/>
                  <a:gd name="T39" fmla="*/ 1228 h 1261"/>
                  <a:gd name="T40" fmla="*/ 1230 w 1716"/>
                  <a:gd name="T41" fmla="*/ 1218 h 1261"/>
                  <a:gd name="T42" fmla="*/ 985 w 1716"/>
                  <a:gd name="T43" fmla="*/ 1143 h 1261"/>
                  <a:gd name="T44" fmla="*/ 560 w 1716"/>
                  <a:gd name="T45" fmla="*/ 1143 h 1261"/>
                  <a:gd name="T46" fmla="*/ 569 w 1716"/>
                  <a:gd name="T47" fmla="*/ 1114 h 1261"/>
                  <a:gd name="T48" fmla="*/ 607 w 1716"/>
                  <a:gd name="T49" fmla="*/ 519 h 1261"/>
                  <a:gd name="T50" fmla="*/ 598 w 1716"/>
                  <a:gd name="T51" fmla="*/ 425 h 1261"/>
                  <a:gd name="T52" fmla="*/ 560 w 1716"/>
                  <a:gd name="T53" fmla="*/ 491 h 1261"/>
                  <a:gd name="T54" fmla="*/ 447 w 1716"/>
                  <a:gd name="T55" fmla="*/ 614 h 1261"/>
                  <a:gd name="T56" fmla="*/ 418 w 1716"/>
                  <a:gd name="T57" fmla="*/ 642 h 1261"/>
                  <a:gd name="T58" fmla="*/ 305 w 1716"/>
                  <a:gd name="T59" fmla="*/ 822 h 1261"/>
                  <a:gd name="T60" fmla="*/ 229 w 1716"/>
                  <a:gd name="T61" fmla="*/ 954 h 1261"/>
                  <a:gd name="T62" fmla="*/ 154 w 1716"/>
                  <a:gd name="T63" fmla="*/ 925 h 1261"/>
                  <a:gd name="T64" fmla="*/ 144 w 1716"/>
                  <a:gd name="T65" fmla="*/ 897 h 1261"/>
                  <a:gd name="T66" fmla="*/ 116 w 1716"/>
                  <a:gd name="T67" fmla="*/ 878 h 1261"/>
                  <a:gd name="T68" fmla="*/ 88 w 1716"/>
                  <a:gd name="T69" fmla="*/ 850 h 1261"/>
                  <a:gd name="T70" fmla="*/ 22 w 1716"/>
                  <a:gd name="T71" fmla="*/ 812 h 1261"/>
                  <a:gd name="T72" fmla="*/ 3 w 1716"/>
                  <a:gd name="T73" fmla="*/ 774 h 1261"/>
                  <a:gd name="T74" fmla="*/ 41 w 1716"/>
                  <a:gd name="T75" fmla="*/ 718 h 1261"/>
                  <a:gd name="T76" fmla="*/ 211 w 1716"/>
                  <a:gd name="T77" fmla="*/ 557 h 1261"/>
                  <a:gd name="T78" fmla="*/ 296 w 1716"/>
                  <a:gd name="T79" fmla="*/ 415 h 1261"/>
                  <a:gd name="T80" fmla="*/ 390 w 1716"/>
                  <a:gd name="T81" fmla="*/ 330 h 1261"/>
                  <a:gd name="T82" fmla="*/ 541 w 1716"/>
                  <a:gd name="T83" fmla="*/ 151 h 1261"/>
                  <a:gd name="T84" fmla="*/ 617 w 1716"/>
                  <a:gd name="T85" fmla="*/ 47 h 1261"/>
                  <a:gd name="T86" fmla="*/ 711 w 1716"/>
                  <a:gd name="T87" fmla="*/ 0 h 1261"/>
                  <a:gd name="T88" fmla="*/ 758 w 1716"/>
                  <a:gd name="T89" fmla="*/ 9 h 1261"/>
                  <a:gd name="T90" fmla="*/ 787 w 1716"/>
                  <a:gd name="T91" fmla="*/ 38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16" h="1261">
                    <a:moveTo>
                      <a:pt x="787" y="38"/>
                    </a:moveTo>
                    <a:cubicBezTo>
                      <a:pt x="808" y="52"/>
                      <a:pt x="832" y="61"/>
                      <a:pt x="853" y="76"/>
                    </a:cubicBezTo>
                    <a:cubicBezTo>
                      <a:pt x="864" y="84"/>
                      <a:pt x="871" y="96"/>
                      <a:pt x="881" y="104"/>
                    </a:cubicBezTo>
                    <a:cubicBezTo>
                      <a:pt x="907" y="125"/>
                      <a:pt x="935" y="131"/>
                      <a:pt x="966" y="142"/>
                    </a:cubicBezTo>
                    <a:cubicBezTo>
                      <a:pt x="1020" y="139"/>
                      <a:pt x="1074" y="140"/>
                      <a:pt x="1127" y="132"/>
                    </a:cubicBezTo>
                    <a:cubicBezTo>
                      <a:pt x="1158" y="127"/>
                      <a:pt x="1155" y="102"/>
                      <a:pt x="1174" y="85"/>
                    </a:cubicBezTo>
                    <a:cubicBezTo>
                      <a:pt x="1191" y="70"/>
                      <a:pt x="1211" y="60"/>
                      <a:pt x="1230" y="47"/>
                    </a:cubicBezTo>
                    <a:cubicBezTo>
                      <a:pt x="1268" y="21"/>
                      <a:pt x="1363" y="9"/>
                      <a:pt x="1363" y="9"/>
                    </a:cubicBezTo>
                    <a:cubicBezTo>
                      <a:pt x="1407" y="12"/>
                      <a:pt x="1453" y="6"/>
                      <a:pt x="1495" y="19"/>
                    </a:cubicBezTo>
                    <a:cubicBezTo>
                      <a:pt x="1515" y="25"/>
                      <a:pt x="1554" y="130"/>
                      <a:pt x="1561" y="151"/>
                    </a:cubicBezTo>
                    <a:cubicBezTo>
                      <a:pt x="1573" y="242"/>
                      <a:pt x="1577" y="334"/>
                      <a:pt x="1589" y="425"/>
                    </a:cubicBezTo>
                    <a:cubicBezTo>
                      <a:pt x="1596" y="479"/>
                      <a:pt x="1612" y="531"/>
                      <a:pt x="1618" y="585"/>
                    </a:cubicBezTo>
                    <a:cubicBezTo>
                      <a:pt x="1626" y="654"/>
                      <a:pt x="1623" y="728"/>
                      <a:pt x="1646" y="793"/>
                    </a:cubicBezTo>
                    <a:cubicBezTo>
                      <a:pt x="1656" y="874"/>
                      <a:pt x="1666" y="947"/>
                      <a:pt x="1703" y="1020"/>
                    </a:cubicBezTo>
                    <a:cubicBezTo>
                      <a:pt x="1706" y="1033"/>
                      <a:pt x="1716" y="1046"/>
                      <a:pt x="1712" y="1058"/>
                    </a:cubicBezTo>
                    <a:cubicBezTo>
                      <a:pt x="1708" y="1069"/>
                      <a:pt x="1695" y="1074"/>
                      <a:pt x="1684" y="1076"/>
                    </a:cubicBezTo>
                    <a:cubicBezTo>
                      <a:pt x="1644" y="1083"/>
                      <a:pt x="1602" y="1083"/>
                      <a:pt x="1561" y="1086"/>
                    </a:cubicBezTo>
                    <a:cubicBezTo>
                      <a:pt x="1188" y="1206"/>
                      <a:pt x="1574" y="637"/>
                      <a:pt x="1372" y="500"/>
                    </a:cubicBezTo>
                    <a:cubicBezTo>
                      <a:pt x="1362" y="467"/>
                      <a:pt x="1345" y="438"/>
                      <a:pt x="1334" y="406"/>
                    </a:cubicBezTo>
                    <a:cubicBezTo>
                      <a:pt x="1335" y="463"/>
                      <a:pt x="1358" y="1148"/>
                      <a:pt x="1334" y="1228"/>
                    </a:cubicBezTo>
                    <a:cubicBezTo>
                      <a:pt x="1324" y="1261"/>
                      <a:pt x="1265" y="1222"/>
                      <a:pt x="1230" y="1218"/>
                    </a:cubicBezTo>
                    <a:cubicBezTo>
                      <a:pt x="1144" y="1207"/>
                      <a:pt x="1066" y="1169"/>
                      <a:pt x="985" y="1143"/>
                    </a:cubicBezTo>
                    <a:cubicBezTo>
                      <a:pt x="918" y="1145"/>
                      <a:pt x="647" y="1162"/>
                      <a:pt x="560" y="1143"/>
                    </a:cubicBezTo>
                    <a:cubicBezTo>
                      <a:pt x="550" y="1141"/>
                      <a:pt x="566" y="1124"/>
                      <a:pt x="569" y="1114"/>
                    </a:cubicBezTo>
                    <a:cubicBezTo>
                      <a:pt x="576" y="920"/>
                      <a:pt x="562" y="710"/>
                      <a:pt x="607" y="519"/>
                    </a:cubicBezTo>
                    <a:cubicBezTo>
                      <a:pt x="604" y="488"/>
                      <a:pt x="616" y="451"/>
                      <a:pt x="598" y="425"/>
                    </a:cubicBezTo>
                    <a:cubicBezTo>
                      <a:pt x="584" y="404"/>
                      <a:pt x="561" y="489"/>
                      <a:pt x="560" y="491"/>
                    </a:cubicBezTo>
                    <a:cubicBezTo>
                      <a:pt x="534" y="543"/>
                      <a:pt x="488" y="573"/>
                      <a:pt x="447" y="614"/>
                    </a:cubicBezTo>
                    <a:cubicBezTo>
                      <a:pt x="437" y="624"/>
                      <a:pt x="418" y="642"/>
                      <a:pt x="418" y="642"/>
                    </a:cubicBezTo>
                    <a:cubicBezTo>
                      <a:pt x="386" y="707"/>
                      <a:pt x="341" y="760"/>
                      <a:pt x="305" y="822"/>
                    </a:cubicBezTo>
                    <a:cubicBezTo>
                      <a:pt x="278" y="869"/>
                      <a:pt x="275" y="924"/>
                      <a:pt x="229" y="954"/>
                    </a:cubicBezTo>
                    <a:cubicBezTo>
                      <a:pt x="215" y="949"/>
                      <a:pt x="160" y="930"/>
                      <a:pt x="154" y="925"/>
                    </a:cubicBezTo>
                    <a:cubicBezTo>
                      <a:pt x="146" y="919"/>
                      <a:pt x="150" y="905"/>
                      <a:pt x="144" y="897"/>
                    </a:cubicBezTo>
                    <a:cubicBezTo>
                      <a:pt x="137" y="888"/>
                      <a:pt x="125" y="885"/>
                      <a:pt x="116" y="878"/>
                    </a:cubicBezTo>
                    <a:cubicBezTo>
                      <a:pt x="106" y="870"/>
                      <a:pt x="99" y="858"/>
                      <a:pt x="88" y="850"/>
                    </a:cubicBezTo>
                    <a:cubicBezTo>
                      <a:pt x="67" y="835"/>
                      <a:pt x="43" y="826"/>
                      <a:pt x="22" y="812"/>
                    </a:cubicBezTo>
                    <a:cubicBezTo>
                      <a:pt x="16" y="799"/>
                      <a:pt x="0" y="788"/>
                      <a:pt x="3" y="774"/>
                    </a:cubicBezTo>
                    <a:cubicBezTo>
                      <a:pt x="7" y="752"/>
                      <a:pt x="28" y="737"/>
                      <a:pt x="41" y="718"/>
                    </a:cubicBezTo>
                    <a:cubicBezTo>
                      <a:pt x="80" y="661"/>
                      <a:pt x="156" y="598"/>
                      <a:pt x="211" y="557"/>
                    </a:cubicBezTo>
                    <a:cubicBezTo>
                      <a:pt x="235" y="521"/>
                      <a:pt x="267" y="444"/>
                      <a:pt x="296" y="415"/>
                    </a:cubicBezTo>
                    <a:cubicBezTo>
                      <a:pt x="325" y="386"/>
                      <a:pt x="363" y="357"/>
                      <a:pt x="390" y="330"/>
                    </a:cubicBezTo>
                    <a:cubicBezTo>
                      <a:pt x="445" y="275"/>
                      <a:pt x="475" y="196"/>
                      <a:pt x="541" y="151"/>
                    </a:cubicBezTo>
                    <a:cubicBezTo>
                      <a:pt x="558" y="105"/>
                      <a:pt x="577" y="73"/>
                      <a:pt x="617" y="47"/>
                    </a:cubicBezTo>
                    <a:cubicBezTo>
                      <a:pt x="643" y="6"/>
                      <a:pt x="663" y="9"/>
                      <a:pt x="711" y="0"/>
                    </a:cubicBezTo>
                    <a:cubicBezTo>
                      <a:pt x="727" y="3"/>
                      <a:pt x="745" y="0"/>
                      <a:pt x="758" y="9"/>
                    </a:cubicBezTo>
                    <a:cubicBezTo>
                      <a:pt x="810" y="44"/>
                      <a:pt x="733" y="38"/>
                      <a:pt x="787" y="38"/>
                    </a:cubicBezTo>
                    <a:close/>
                  </a:path>
                </a:pathLst>
              </a:custGeom>
              <a:solidFill>
                <a:srgbClr val="9933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966" name="Freeform 294"/>
              <p:cNvSpPr>
                <a:spLocks/>
              </p:cNvSpPr>
              <p:nvPr/>
            </p:nvSpPr>
            <p:spPr bwMode="auto">
              <a:xfrm flipH="1">
                <a:off x="515" y="1652"/>
                <a:ext cx="366" cy="423"/>
              </a:xfrm>
              <a:custGeom>
                <a:avLst/>
                <a:gdLst>
                  <a:gd name="T0" fmla="*/ 75 w 680"/>
                  <a:gd name="T1" fmla="*/ 83 h 940"/>
                  <a:gd name="T2" fmla="*/ 66 w 680"/>
                  <a:gd name="T3" fmla="*/ 206 h 940"/>
                  <a:gd name="T4" fmla="*/ 56 w 680"/>
                  <a:gd name="T5" fmla="*/ 593 h 940"/>
                  <a:gd name="T6" fmla="*/ 0 w 680"/>
                  <a:gd name="T7" fmla="*/ 848 h 940"/>
                  <a:gd name="T8" fmla="*/ 28 w 680"/>
                  <a:gd name="T9" fmla="*/ 858 h 940"/>
                  <a:gd name="T10" fmla="*/ 293 w 680"/>
                  <a:gd name="T11" fmla="*/ 839 h 940"/>
                  <a:gd name="T12" fmla="*/ 302 w 680"/>
                  <a:gd name="T13" fmla="*/ 773 h 940"/>
                  <a:gd name="T14" fmla="*/ 321 w 680"/>
                  <a:gd name="T15" fmla="*/ 688 h 940"/>
                  <a:gd name="T16" fmla="*/ 330 w 680"/>
                  <a:gd name="T17" fmla="*/ 348 h 940"/>
                  <a:gd name="T18" fmla="*/ 340 w 680"/>
                  <a:gd name="T19" fmla="*/ 376 h 940"/>
                  <a:gd name="T20" fmla="*/ 349 w 680"/>
                  <a:gd name="T21" fmla="*/ 471 h 940"/>
                  <a:gd name="T22" fmla="*/ 368 w 680"/>
                  <a:gd name="T23" fmla="*/ 612 h 940"/>
                  <a:gd name="T24" fmla="*/ 377 w 680"/>
                  <a:gd name="T25" fmla="*/ 924 h 940"/>
                  <a:gd name="T26" fmla="*/ 491 w 680"/>
                  <a:gd name="T27" fmla="*/ 905 h 940"/>
                  <a:gd name="T28" fmla="*/ 547 w 680"/>
                  <a:gd name="T29" fmla="*/ 886 h 940"/>
                  <a:gd name="T30" fmla="*/ 680 w 680"/>
                  <a:gd name="T31" fmla="*/ 886 h 940"/>
                  <a:gd name="T32" fmla="*/ 623 w 680"/>
                  <a:gd name="T33" fmla="*/ 659 h 940"/>
                  <a:gd name="T34" fmla="*/ 557 w 680"/>
                  <a:gd name="T35" fmla="*/ 168 h 940"/>
                  <a:gd name="T36" fmla="*/ 481 w 680"/>
                  <a:gd name="T37" fmla="*/ 46 h 940"/>
                  <a:gd name="T38" fmla="*/ 170 w 680"/>
                  <a:gd name="T39" fmla="*/ 27 h 940"/>
                  <a:gd name="T40" fmla="*/ 94 w 680"/>
                  <a:gd name="T41" fmla="*/ 55 h 940"/>
                  <a:gd name="T42" fmla="*/ 75 w 680"/>
                  <a:gd name="T43" fmla="*/ 83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80" h="940">
                    <a:moveTo>
                      <a:pt x="75" y="83"/>
                    </a:moveTo>
                    <a:cubicBezTo>
                      <a:pt x="72" y="124"/>
                      <a:pt x="68" y="165"/>
                      <a:pt x="66" y="206"/>
                    </a:cubicBezTo>
                    <a:cubicBezTo>
                      <a:pt x="61" y="335"/>
                      <a:pt x="62" y="464"/>
                      <a:pt x="56" y="593"/>
                    </a:cubicBezTo>
                    <a:cubicBezTo>
                      <a:pt x="52" y="675"/>
                      <a:pt x="19" y="767"/>
                      <a:pt x="0" y="848"/>
                    </a:cubicBezTo>
                    <a:cubicBezTo>
                      <a:pt x="9" y="851"/>
                      <a:pt x="18" y="858"/>
                      <a:pt x="28" y="858"/>
                    </a:cubicBezTo>
                    <a:cubicBezTo>
                      <a:pt x="117" y="855"/>
                      <a:pt x="208" y="865"/>
                      <a:pt x="293" y="839"/>
                    </a:cubicBezTo>
                    <a:cubicBezTo>
                      <a:pt x="314" y="832"/>
                      <a:pt x="298" y="795"/>
                      <a:pt x="302" y="773"/>
                    </a:cubicBezTo>
                    <a:cubicBezTo>
                      <a:pt x="307" y="744"/>
                      <a:pt x="315" y="716"/>
                      <a:pt x="321" y="688"/>
                    </a:cubicBezTo>
                    <a:cubicBezTo>
                      <a:pt x="324" y="575"/>
                      <a:pt x="323" y="461"/>
                      <a:pt x="330" y="348"/>
                    </a:cubicBezTo>
                    <a:cubicBezTo>
                      <a:pt x="331" y="338"/>
                      <a:pt x="338" y="366"/>
                      <a:pt x="340" y="376"/>
                    </a:cubicBezTo>
                    <a:cubicBezTo>
                      <a:pt x="345" y="407"/>
                      <a:pt x="346" y="439"/>
                      <a:pt x="349" y="471"/>
                    </a:cubicBezTo>
                    <a:cubicBezTo>
                      <a:pt x="359" y="574"/>
                      <a:pt x="354" y="538"/>
                      <a:pt x="368" y="612"/>
                    </a:cubicBezTo>
                    <a:cubicBezTo>
                      <a:pt x="371" y="716"/>
                      <a:pt x="346" y="825"/>
                      <a:pt x="377" y="924"/>
                    </a:cubicBezTo>
                    <a:cubicBezTo>
                      <a:pt x="382" y="940"/>
                      <a:pt x="467" y="913"/>
                      <a:pt x="491" y="905"/>
                    </a:cubicBezTo>
                    <a:cubicBezTo>
                      <a:pt x="510" y="899"/>
                      <a:pt x="547" y="886"/>
                      <a:pt x="547" y="886"/>
                    </a:cubicBezTo>
                    <a:cubicBezTo>
                      <a:pt x="620" y="900"/>
                      <a:pt x="605" y="911"/>
                      <a:pt x="680" y="886"/>
                    </a:cubicBezTo>
                    <a:cubicBezTo>
                      <a:pt x="664" y="809"/>
                      <a:pt x="646" y="735"/>
                      <a:pt x="623" y="659"/>
                    </a:cubicBezTo>
                    <a:cubicBezTo>
                      <a:pt x="616" y="486"/>
                      <a:pt x="604" y="333"/>
                      <a:pt x="557" y="168"/>
                    </a:cubicBezTo>
                    <a:cubicBezTo>
                      <a:pt x="543" y="119"/>
                      <a:pt x="529" y="69"/>
                      <a:pt x="481" y="46"/>
                    </a:cubicBezTo>
                    <a:cubicBezTo>
                      <a:pt x="388" y="0"/>
                      <a:pt x="274" y="30"/>
                      <a:pt x="170" y="27"/>
                    </a:cubicBezTo>
                    <a:cubicBezTo>
                      <a:pt x="144" y="32"/>
                      <a:pt x="113" y="32"/>
                      <a:pt x="94" y="55"/>
                    </a:cubicBezTo>
                    <a:cubicBezTo>
                      <a:pt x="69" y="86"/>
                      <a:pt x="100" y="83"/>
                      <a:pt x="75" y="83"/>
                    </a:cubicBezTo>
                    <a:close/>
                  </a:path>
                </a:pathLst>
              </a:custGeom>
              <a:solidFill>
                <a:srgbClr val="0033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8967" name="Oval 295"/>
              <p:cNvSpPr>
                <a:spLocks noChangeArrowheads="1"/>
              </p:cNvSpPr>
              <p:nvPr/>
            </p:nvSpPr>
            <p:spPr bwMode="auto">
              <a:xfrm flipH="1">
                <a:off x="641" y="1090"/>
                <a:ext cx="48" cy="51"/>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968" name="Oval 296"/>
              <p:cNvSpPr>
                <a:spLocks noChangeArrowheads="1"/>
              </p:cNvSpPr>
              <p:nvPr/>
            </p:nvSpPr>
            <p:spPr bwMode="auto">
              <a:xfrm>
                <a:off x="510" y="930"/>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969" name="Oval 297"/>
              <p:cNvSpPr>
                <a:spLocks noChangeArrowheads="1"/>
              </p:cNvSpPr>
              <p:nvPr/>
            </p:nvSpPr>
            <p:spPr bwMode="auto">
              <a:xfrm>
                <a:off x="666" y="870"/>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970" name="Oval 298"/>
              <p:cNvSpPr>
                <a:spLocks noChangeArrowheads="1"/>
              </p:cNvSpPr>
              <p:nvPr/>
            </p:nvSpPr>
            <p:spPr bwMode="auto">
              <a:xfrm>
                <a:off x="816" y="954"/>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971" name="Oval 299"/>
              <p:cNvSpPr>
                <a:spLocks noChangeArrowheads="1"/>
              </p:cNvSpPr>
              <p:nvPr/>
            </p:nvSpPr>
            <p:spPr bwMode="auto">
              <a:xfrm>
                <a:off x="858" y="1122"/>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972" name="Oval 300"/>
              <p:cNvSpPr>
                <a:spLocks noChangeArrowheads="1"/>
              </p:cNvSpPr>
              <p:nvPr/>
            </p:nvSpPr>
            <p:spPr bwMode="auto">
              <a:xfrm>
                <a:off x="450" y="1086"/>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973" name="Oval 301"/>
              <p:cNvSpPr>
                <a:spLocks noChangeArrowheads="1"/>
              </p:cNvSpPr>
              <p:nvPr/>
            </p:nvSpPr>
            <p:spPr bwMode="auto">
              <a:xfrm>
                <a:off x="522" y="1212"/>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8974" name="Oval 302"/>
              <p:cNvSpPr>
                <a:spLocks noChangeArrowheads="1"/>
              </p:cNvSpPr>
              <p:nvPr/>
            </p:nvSpPr>
            <p:spPr bwMode="auto">
              <a:xfrm>
                <a:off x="774" y="1230"/>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8975" name="Text Box 303"/>
            <p:cNvSpPr txBox="1">
              <a:spLocks noChangeArrowheads="1"/>
            </p:cNvSpPr>
            <p:nvPr/>
          </p:nvSpPr>
          <p:spPr bwMode="auto">
            <a:xfrm>
              <a:off x="372" y="276"/>
              <a:ext cx="2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t>Cl</a:t>
              </a:r>
            </a:p>
          </p:txBody>
        </p:sp>
      </p:grpSp>
    </p:spTree>
    <p:extLst>
      <p:ext uri="{BB962C8B-B14F-4D97-AF65-F5344CB8AC3E}">
        <p14:creationId xmlns:p14="http://schemas.microsoft.com/office/powerpoint/2010/main" val="22785885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8917"/>
                                        </p:tgtEl>
                                        <p:attrNameLst>
                                          <p:attrName>style.visibility</p:attrName>
                                        </p:attrNameLst>
                                      </p:cBhvr>
                                      <p:to>
                                        <p:strVal val="visible"/>
                                      </p:to>
                                    </p:set>
                                    <p:animEffect transition="in" filter="wipe(up)">
                                      <p:cBhvr>
                                        <p:cTn id="7" dur="500"/>
                                        <p:tgtEl>
                                          <p:spTgt spid="289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28938"/>
                                        </p:tgtEl>
                                        <p:attrNameLst>
                                          <p:attrName>style.visibility</p:attrName>
                                        </p:attrNameLst>
                                      </p:cBhvr>
                                      <p:to>
                                        <p:strVal val="visible"/>
                                      </p:to>
                                    </p:set>
                                    <p:anim calcmode="lin" valueType="num">
                                      <p:cBhvr additive="base">
                                        <p:cTn id="12" dur="500" fill="hold"/>
                                        <p:tgtEl>
                                          <p:spTgt spid="28938"/>
                                        </p:tgtEl>
                                        <p:attrNameLst>
                                          <p:attrName>ppt_x</p:attrName>
                                        </p:attrNameLst>
                                      </p:cBhvr>
                                      <p:tavLst>
                                        <p:tav tm="0">
                                          <p:val>
                                            <p:strVal val="0-#ppt_w/2"/>
                                          </p:val>
                                        </p:tav>
                                        <p:tav tm="100000">
                                          <p:val>
                                            <p:strVal val="#ppt_x"/>
                                          </p:val>
                                        </p:tav>
                                      </p:tavLst>
                                    </p:anim>
                                    <p:anim calcmode="lin" valueType="num">
                                      <p:cBhvr additive="base">
                                        <p:cTn id="13" dur="500" fill="hold"/>
                                        <p:tgtEl>
                                          <p:spTgt spid="28938"/>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8918"/>
                                        </p:tgtEl>
                                        <p:attrNameLst>
                                          <p:attrName>style.visibility</p:attrName>
                                        </p:attrNameLst>
                                      </p:cBhvr>
                                      <p:to>
                                        <p:strVal val="visible"/>
                                      </p:to>
                                    </p:set>
                                    <p:animEffect transition="in" filter="wipe(left)">
                                      <p:cBhvr>
                                        <p:cTn id="18" dur="500"/>
                                        <p:tgtEl>
                                          <p:spTgt spid="2891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nodeType="clickEffect">
                                  <p:stCondLst>
                                    <p:cond delay="0"/>
                                  </p:stCondLst>
                                  <p:childTnLst>
                                    <p:set>
                                      <p:cBhvr>
                                        <p:cTn id="22" dur="1" fill="hold">
                                          <p:stCondLst>
                                            <p:cond delay="0"/>
                                          </p:stCondLst>
                                        </p:cTn>
                                        <p:tgtEl>
                                          <p:spTgt spid="28957"/>
                                        </p:tgtEl>
                                        <p:attrNameLst>
                                          <p:attrName>style.visibility</p:attrName>
                                        </p:attrNameLst>
                                      </p:cBhvr>
                                      <p:to>
                                        <p:strVal val="visible"/>
                                      </p:to>
                                    </p:set>
                                    <p:anim calcmode="lin" valueType="num">
                                      <p:cBhvr additive="base">
                                        <p:cTn id="23" dur="500" fill="hold"/>
                                        <p:tgtEl>
                                          <p:spTgt spid="28957"/>
                                        </p:tgtEl>
                                        <p:attrNameLst>
                                          <p:attrName>ppt_x</p:attrName>
                                        </p:attrNameLst>
                                      </p:cBhvr>
                                      <p:tavLst>
                                        <p:tav tm="0">
                                          <p:val>
                                            <p:strVal val="1+#ppt_w/2"/>
                                          </p:val>
                                        </p:tav>
                                        <p:tav tm="100000">
                                          <p:val>
                                            <p:strVal val="#ppt_x"/>
                                          </p:val>
                                        </p:tav>
                                      </p:tavLst>
                                    </p:anim>
                                    <p:anim calcmode="lin" valueType="num">
                                      <p:cBhvr additive="base">
                                        <p:cTn id="24" dur="500" fill="hold"/>
                                        <p:tgtEl>
                                          <p:spTgt spid="28957"/>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2" fill="hold" grpId="0" nodeType="clickEffect">
                                  <p:stCondLst>
                                    <p:cond delay="0"/>
                                  </p:stCondLst>
                                  <p:childTnLst>
                                    <p:set>
                                      <p:cBhvr>
                                        <p:cTn id="28" dur="1" fill="hold">
                                          <p:stCondLst>
                                            <p:cond delay="0"/>
                                          </p:stCondLst>
                                        </p:cTn>
                                        <p:tgtEl>
                                          <p:spTgt spid="28936"/>
                                        </p:tgtEl>
                                        <p:attrNameLst>
                                          <p:attrName>style.visibility</p:attrName>
                                        </p:attrNameLst>
                                      </p:cBhvr>
                                      <p:to>
                                        <p:strVal val="visible"/>
                                      </p:to>
                                    </p:set>
                                    <p:animEffect transition="in" filter="wipe(right)">
                                      <p:cBhvr>
                                        <p:cTn id="29" dur="500"/>
                                        <p:tgtEl>
                                          <p:spTgt spid="289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18" grpId="0" animBg="1" autoUpdateAnimBg="0"/>
      <p:bldP spid="28936"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Date Placeholder 2"/>
          <p:cNvSpPr>
            <a:spLocks noGrp="1"/>
          </p:cNvSpPr>
          <p:nvPr>
            <p:ph type="dt" sz="half" idx="10"/>
          </p:nvPr>
        </p:nvSpPr>
        <p:spPr/>
        <p:txBody>
          <a:bodyPr/>
          <a:lstStyle/>
          <a:p>
            <a:fld id="{830324BF-211B-47AF-9AE5-5173F3F3509E}" type="datetime1">
              <a:rPr lang="en-GB" altLang="en-US"/>
              <a:pPr/>
              <a:t>02/06/2020</a:t>
            </a:fld>
            <a:endParaRPr lang="en-GB" altLang="en-US"/>
          </a:p>
        </p:txBody>
      </p:sp>
      <p:sp>
        <p:nvSpPr>
          <p:cNvPr id="30722" name="Rectangle 2"/>
          <p:cNvSpPr>
            <a:spLocks noGrp="1" noChangeArrowheads="1"/>
          </p:cNvSpPr>
          <p:nvPr>
            <p:ph type="title"/>
          </p:nvPr>
        </p:nvSpPr>
        <p:spPr/>
        <p:txBody>
          <a:bodyPr/>
          <a:lstStyle/>
          <a:p>
            <a:r>
              <a:rPr lang="en-GB" altLang="en-US"/>
              <a:t>Ionic Bonding</a:t>
            </a:r>
          </a:p>
        </p:txBody>
      </p:sp>
      <p:sp>
        <p:nvSpPr>
          <p:cNvPr id="30723" name="AutoShape 3"/>
          <p:cNvSpPr>
            <a:spLocks noChangeArrowheads="1"/>
          </p:cNvSpPr>
          <p:nvPr/>
        </p:nvSpPr>
        <p:spPr bwMode="auto">
          <a:xfrm>
            <a:off x="2413000" y="1030288"/>
            <a:ext cx="4572000" cy="790575"/>
          </a:xfrm>
          <a:prstGeom prst="wedgeRoundRectCallout">
            <a:avLst>
              <a:gd name="adj1" fmla="val -79167"/>
              <a:gd name="adj2" fmla="val -14259"/>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GB" altLang="en-US" sz="2000">
                <a:solidFill>
                  <a:schemeClr val="tx1"/>
                </a:solidFill>
              </a:rPr>
              <a:t>Here comes a friend, Sophie Sodium</a:t>
            </a:r>
          </a:p>
        </p:txBody>
      </p:sp>
      <p:sp>
        <p:nvSpPr>
          <p:cNvPr id="30724" name="AutoShape 4"/>
          <p:cNvSpPr>
            <a:spLocks noChangeArrowheads="1"/>
          </p:cNvSpPr>
          <p:nvPr/>
        </p:nvSpPr>
        <p:spPr bwMode="auto">
          <a:xfrm>
            <a:off x="2279650" y="2097088"/>
            <a:ext cx="5105400" cy="1685925"/>
          </a:xfrm>
          <a:prstGeom prst="wedgeRoundRectCallout">
            <a:avLst>
              <a:gd name="adj1" fmla="val 69403"/>
              <a:gd name="adj2" fmla="val -70528"/>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GB" altLang="en-US" sz="2000">
                <a:solidFill>
                  <a:schemeClr val="tx1"/>
                </a:solidFill>
              </a:rPr>
              <a:t>Hey Johnny.  I’m in Group 1 so I have one electron in my outer shell.  I don’t like only having one electron there so I’m quite happy to get rid of it.  Do you want it?</a:t>
            </a:r>
          </a:p>
        </p:txBody>
      </p:sp>
      <p:grpSp>
        <p:nvGrpSpPr>
          <p:cNvPr id="30725" name="Group 5"/>
          <p:cNvGrpSpPr>
            <a:grpSpLocks/>
          </p:cNvGrpSpPr>
          <p:nvPr/>
        </p:nvGrpSpPr>
        <p:grpSpPr bwMode="auto">
          <a:xfrm>
            <a:off x="396875" y="942975"/>
            <a:ext cx="1182688" cy="2041525"/>
            <a:chOff x="214" y="174"/>
            <a:chExt cx="745" cy="1286"/>
          </a:xfrm>
        </p:grpSpPr>
        <p:grpSp>
          <p:nvGrpSpPr>
            <p:cNvPr id="30726" name="Group 6"/>
            <p:cNvGrpSpPr>
              <a:grpSpLocks/>
            </p:cNvGrpSpPr>
            <p:nvPr/>
          </p:nvGrpSpPr>
          <p:grpSpPr bwMode="auto">
            <a:xfrm>
              <a:off x="214" y="174"/>
              <a:ext cx="745" cy="1286"/>
              <a:chOff x="387" y="870"/>
              <a:chExt cx="745" cy="1286"/>
            </a:xfrm>
          </p:grpSpPr>
          <p:sp>
            <p:nvSpPr>
              <p:cNvPr id="30727" name="Freeform 7"/>
              <p:cNvSpPr>
                <a:spLocks/>
              </p:cNvSpPr>
              <p:nvPr/>
            </p:nvSpPr>
            <p:spPr bwMode="auto">
              <a:xfrm>
                <a:off x="387" y="2024"/>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28" name="Freeform 8"/>
              <p:cNvSpPr>
                <a:spLocks/>
              </p:cNvSpPr>
              <p:nvPr/>
            </p:nvSpPr>
            <p:spPr bwMode="auto">
              <a:xfrm flipH="1">
                <a:off x="707" y="2019"/>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29" name="Freeform 9"/>
              <p:cNvSpPr>
                <a:spLocks/>
              </p:cNvSpPr>
              <p:nvPr/>
            </p:nvSpPr>
            <p:spPr bwMode="auto">
              <a:xfrm flipH="1">
                <a:off x="406" y="1647"/>
                <a:ext cx="158" cy="126"/>
              </a:xfrm>
              <a:custGeom>
                <a:avLst/>
                <a:gdLst>
                  <a:gd name="T0" fmla="*/ 213 w 294"/>
                  <a:gd name="T1" fmla="*/ 0 h 279"/>
                  <a:gd name="T2" fmla="*/ 270 w 294"/>
                  <a:gd name="T3" fmla="*/ 76 h 279"/>
                  <a:gd name="T4" fmla="*/ 270 w 294"/>
                  <a:gd name="T5" fmla="*/ 161 h 279"/>
                  <a:gd name="T6" fmla="*/ 232 w 294"/>
                  <a:gd name="T7" fmla="*/ 151 h 279"/>
                  <a:gd name="T8" fmla="*/ 241 w 294"/>
                  <a:gd name="T9" fmla="*/ 199 h 279"/>
                  <a:gd name="T10" fmla="*/ 232 w 294"/>
                  <a:gd name="T11" fmla="*/ 265 h 279"/>
                  <a:gd name="T12" fmla="*/ 203 w 294"/>
                  <a:gd name="T13" fmla="*/ 274 h 279"/>
                  <a:gd name="T14" fmla="*/ 194 w 294"/>
                  <a:gd name="T15" fmla="*/ 246 h 279"/>
                  <a:gd name="T16" fmla="*/ 166 w 294"/>
                  <a:gd name="T17" fmla="*/ 132 h 279"/>
                  <a:gd name="T18" fmla="*/ 118 w 294"/>
                  <a:gd name="T19" fmla="*/ 265 h 279"/>
                  <a:gd name="T20" fmla="*/ 90 w 294"/>
                  <a:gd name="T21" fmla="*/ 255 h 279"/>
                  <a:gd name="T22" fmla="*/ 81 w 294"/>
                  <a:gd name="T23" fmla="*/ 132 h 279"/>
                  <a:gd name="T24" fmla="*/ 90 w 294"/>
                  <a:gd name="T25" fmla="*/ 161 h 279"/>
                  <a:gd name="T26" fmla="*/ 24 w 294"/>
                  <a:gd name="T27" fmla="*/ 217 h 279"/>
                  <a:gd name="T28" fmla="*/ 5 w 294"/>
                  <a:gd name="T29" fmla="*/ 180 h 279"/>
                  <a:gd name="T30" fmla="*/ 81 w 294"/>
                  <a:gd name="T31" fmla="*/ 29 h 279"/>
                  <a:gd name="T32" fmla="*/ 213 w 294"/>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4" h="279">
                    <a:moveTo>
                      <a:pt x="213" y="0"/>
                    </a:moveTo>
                    <a:cubicBezTo>
                      <a:pt x="226" y="42"/>
                      <a:pt x="246" y="39"/>
                      <a:pt x="270" y="76"/>
                    </a:cubicBezTo>
                    <a:cubicBezTo>
                      <a:pt x="278" y="101"/>
                      <a:pt x="294" y="137"/>
                      <a:pt x="270" y="161"/>
                    </a:cubicBezTo>
                    <a:cubicBezTo>
                      <a:pt x="261" y="170"/>
                      <a:pt x="245" y="154"/>
                      <a:pt x="232" y="151"/>
                    </a:cubicBezTo>
                    <a:cubicBezTo>
                      <a:pt x="204" y="73"/>
                      <a:pt x="236" y="184"/>
                      <a:pt x="241" y="199"/>
                    </a:cubicBezTo>
                    <a:cubicBezTo>
                      <a:pt x="238" y="221"/>
                      <a:pt x="242" y="245"/>
                      <a:pt x="232" y="265"/>
                    </a:cubicBezTo>
                    <a:cubicBezTo>
                      <a:pt x="227" y="274"/>
                      <a:pt x="212" y="279"/>
                      <a:pt x="203" y="274"/>
                    </a:cubicBezTo>
                    <a:cubicBezTo>
                      <a:pt x="194" y="270"/>
                      <a:pt x="197" y="255"/>
                      <a:pt x="194" y="246"/>
                    </a:cubicBezTo>
                    <a:cubicBezTo>
                      <a:pt x="184" y="208"/>
                      <a:pt x="178" y="170"/>
                      <a:pt x="166" y="132"/>
                    </a:cubicBezTo>
                    <a:cubicBezTo>
                      <a:pt x="158" y="198"/>
                      <a:pt x="170" y="231"/>
                      <a:pt x="118" y="265"/>
                    </a:cubicBezTo>
                    <a:cubicBezTo>
                      <a:pt x="109" y="262"/>
                      <a:pt x="93" y="265"/>
                      <a:pt x="90" y="255"/>
                    </a:cubicBezTo>
                    <a:cubicBezTo>
                      <a:pt x="79" y="215"/>
                      <a:pt x="81" y="173"/>
                      <a:pt x="81" y="132"/>
                    </a:cubicBezTo>
                    <a:cubicBezTo>
                      <a:pt x="81" y="122"/>
                      <a:pt x="87" y="151"/>
                      <a:pt x="90" y="161"/>
                    </a:cubicBezTo>
                    <a:cubicBezTo>
                      <a:pt x="76" y="204"/>
                      <a:pt x="61" y="193"/>
                      <a:pt x="24" y="217"/>
                    </a:cubicBezTo>
                    <a:cubicBezTo>
                      <a:pt x="18" y="205"/>
                      <a:pt x="7" y="194"/>
                      <a:pt x="5" y="180"/>
                    </a:cubicBezTo>
                    <a:cubicBezTo>
                      <a:pt x="0" y="137"/>
                      <a:pt x="43" y="54"/>
                      <a:pt x="81" y="29"/>
                    </a:cubicBezTo>
                    <a:cubicBezTo>
                      <a:pt x="118" y="4"/>
                      <a:pt x="171" y="15"/>
                      <a:pt x="213"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30" name="Freeform 10"/>
              <p:cNvSpPr>
                <a:spLocks/>
              </p:cNvSpPr>
              <p:nvPr/>
            </p:nvSpPr>
            <p:spPr bwMode="auto">
              <a:xfrm flipH="1">
                <a:off x="982" y="1570"/>
                <a:ext cx="150" cy="136"/>
              </a:xfrm>
              <a:custGeom>
                <a:avLst/>
                <a:gdLst>
                  <a:gd name="T0" fmla="*/ 147 w 279"/>
                  <a:gd name="T1" fmla="*/ 0 h 302"/>
                  <a:gd name="T2" fmla="*/ 33 w 279"/>
                  <a:gd name="T3" fmla="*/ 47 h 302"/>
                  <a:gd name="T4" fmla="*/ 62 w 279"/>
                  <a:gd name="T5" fmla="*/ 113 h 302"/>
                  <a:gd name="T6" fmla="*/ 43 w 279"/>
                  <a:gd name="T7" fmla="*/ 142 h 302"/>
                  <a:gd name="T8" fmla="*/ 15 w 279"/>
                  <a:gd name="T9" fmla="*/ 160 h 302"/>
                  <a:gd name="T10" fmla="*/ 90 w 279"/>
                  <a:gd name="T11" fmla="*/ 208 h 302"/>
                  <a:gd name="T12" fmla="*/ 100 w 279"/>
                  <a:gd name="T13" fmla="*/ 236 h 302"/>
                  <a:gd name="T14" fmla="*/ 166 w 279"/>
                  <a:gd name="T15" fmla="*/ 264 h 302"/>
                  <a:gd name="T16" fmla="*/ 185 w 279"/>
                  <a:gd name="T17" fmla="*/ 283 h 302"/>
                  <a:gd name="T18" fmla="*/ 213 w 279"/>
                  <a:gd name="T19" fmla="*/ 302 h 302"/>
                  <a:gd name="T20" fmla="*/ 269 w 279"/>
                  <a:gd name="T21" fmla="*/ 227 h 302"/>
                  <a:gd name="T22" fmla="*/ 260 w 279"/>
                  <a:gd name="T23" fmla="*/ 28 h 302"/>
                  <a:gd name="T24" fmla="*/ 147 w 279"/>
                  <a:gd name="T25"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9" h="302">
                    <a:moveTo>
                      <a:pt x="147" y="0"/>
                    </a:moveTo>
                    <a:cubicBezTo>
                      <a:pt x="107" y="12"/>
                      <a:pt x="74" y="34"/>
                      <a:pt x="33" y="47"/>
                    </a:cubicBezTo>
                    <a:cubicBezTo>
                      <a:pt x="19" y="91"/>
                      <a:pt x="16" y="99"/>
                      <a:pt x="62" y="113"/>
                    </a:cubicBezTo>
                    <a:cubicBezTo>
                      <a:pt x="56" y="123"/>
                      <a:pt x="51" y="134"/>
                      <a:pt x="43" y="142"/>
                    </a:cubicBezTo>
                    <a:cubicBezTo>
                      <a:pt x="35" y="150"/>
                      <a:pt x="19" y="150"/>
                      <a:pt x="15" y="160"/>
                    </a:cubicBezTo>
                    <a:cubicBezTo>
                      <a:pt x="0" y="198"/>
                      <a:pt x="74" y="204"/>
                      <a:pt x="90" y="208"/>
                    </a:cubicBezTo>
                    <a:cubicBezTo>
                      <a:pt x="116" y="134"/>
                      <a:pt x="105" y="219"/>
                      <a:pt x="100" y="236"/>
                    </a:cubicBezTo>
                    <a:cubicBezTo>
                      <a:pt x="113" y="291"/>
                      <a:pt x="118" y="296"/>
                      <a:pt x="166" y="264"/>
                    </a:cubicBezTo>
                    <a:cubicBezTo>
                      <a:pt x="184" y="189"/>
                      <a:pt x="165" y="244"/>
                      <a:pt x="185" y="283"/>
                    </a:cubicBezTo>
                    <a:cubicBezTo>
                      <a:pt x="190" y="293"/>
                      <a:pt x="204" y="296"/>
                      <a:pt x="213" y="302"/>
                    </a:cubicBezTo>
                    <a:cubicBezTo>
                      <a:pt x="271" y="288"/>
                      <a:pt x="256" y="282"/>
                      <a:pt x="269" y="227"/>
                    </a:cubicBezTo>
                    <a:cubicBezTo>
                      <a:pt x="266" y="161"/>
                      <a:pt x="279" y="92"/>
                      <a:pt x="260" y="28"/>
                    </a:cubicBezTo>
                    <a:cubicBezTo>
                      <a:pt x="254" y="9"/>
                      <a:pt x="171" y="0"/>
                      <a:pt x="147"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31" name="Freeform 11"/>
              <p:cNvSpPr>
                <a:spLocks/>
              </p:cNvSpPr>
              <p:nvPr/>
            </p:nvSpPr>
            <p:spPr bwMode="auto">
              <a:xfrm flipH="1">
                <a:off x="607" y="1270"/>
                <a:ext cx="170" cy="124"/>
              </a:xfrm>
              <a:custGeom>
                <a:avLst/>
                <a:gdLst>
                  <a:gd name="T0" fmla="*/ 9 w 453"/>
                  <a:gd name="T1" fmla="*/ 212 h 392"/>
                  <a:gd name="T2" fmla="*/ 66 w 453"/>
                  <a:gd name="T3" fmla="*/ 174 h 392"/>
                  <a:gd name="T4" fmla="*/ 104 w 453"/>
                  <a:gd name="T5" fmla="*/ 61 h 392"/>
                  <a:gd name="T6" fmla="*/ 132 w 453"/>
                  <a:gd name="T7" fmla="*/ 51 h 392"/>
                  <a:gd name="T8" fmla="*/ 198 w 453"/>
                  <a:gd name="T9" fmla="*/ 42 h 392"/>
                  <a:gd name="T10" fmla="*/ 377 w 453"/>
                  <a:gd name="T11" fmla="*/ 51 h 392"/>
                  <a:gd name="T12" fmla="*/ 425 w 453"/>
                  <a:gd name="T13" fmla="*/ 165 h 392"/>
                  <a:gd name="T14" fmla="*/ 453 w 453"/>
                  <a:gd name="T15" fmla="*/ 259 h 392"/>
                  <a:gd name="T16" fmla="*/ 425 w 453"/>
                  <a:gd name="T17" fmla="*/ 353 h 392"/>
                  <a:gd name="T18" fmla="*/ 330 w 453"/>
                  <a:gd name="T19" fmla="*/ 382 h 392"/>
                  <a:gd name="T20" fmla="*/ 113 w 453"/>
                  <a:gd name="T21" fmla="*/ 344 h 392"/>
                  <a:gd name="T22" fmla="*/ 104 w 453"/>
                  <a:gd name="T23" fmla="*/ 316 h 392"/>
                  <a:gd name="T24" fmla="*/ 47 w 453"/>
                  <a:gd name="T25" fmla="*/ 278 h 392"/>
                  <a:gd name="T26" fmla="*/ 37 w 453"/>
                  <a:gd name="T27" fmla="*/ 250 h 392"/>
                  <a:gd name="T28" fmla="*/ 9 w 453"/>
                  <a:gd name="T29" fmla="*/ 21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3" h="392">
                    <a:moveTo>
                      <a:pt x="9" y="212"/>
                    </a:moveTo>
                    <a:cubicBezTo>
                      <a:pt x="28" y="199"/>
                      <a:pt x="47" y="187"/>
                      <a:pt x="66" y="174"/>
                    </a:cubicBezTo>
                    <a:cubicBezTo>
                      <a:pt x="77" y="167"/>
                      <a:pt x="97" y="81"/>
                      <a:pt x="104" y="61"/>
                    </a:cubicBezTo>
                    <a:cubicBezTo>
                      <a:pt x="107" y="52"/>
                      <a:pt x="122" y="53"/>
                      <a:pt x="132" y="51"/>
                    </a:cubicBezTo>
                    <a:cubicBezTo>
                      <a:pt x="154" y="47"/>
                      <a:pt x="176" y="45"/>
                      <a:pt x="198" y="42"/>
                    </a:cubicBezTo>
                    <a:cubicBezTo>
                      <a:pt x="263" y="19"/>
                      <a:pt x="326" y="0"/>
                      <a:pt x="377" y="51"/>
                    </a:cubicBezTo>
                    <a:cubicBezTo>
                      <a:pt x="392" y="95"/>
                      <a:pt x="400" y="127"/>
                      <a:pt x="425" y="165"/>
                    </a:cubicBezTo>
                    <a:cubicBezTo>
                      <a:pt x="447" y="233"/>
                      <a:pt x="438" y="202"/>
                      <a:pt x="453" y="259"/>
                    </a:cubicBezTo>
                    <a:cubicBezTo>
                      <a:pt x="450" y="271"/>
                      <a:pt x="429" y="352"/>
                      <a:pt x="425" y="353"/>
                    </a:cubicBezTo>
                    <a:cubicBezTo>
                      <a:pt x="356" y="376"/>
                      <a:pt x="387" y="367"/>
                      <a:pt x="330" y="382"/>
                    </a:cubicBezTo>
                    <a:cubicBezTo>
                      <a:pt x="229" y="376"/>
                      <a:pt x="184" y="392"/>
                      <a:pt x="113" y="344"/>
                    </a:cubicBezTo>
                    <a:cubicBezTo>
                      <a:pt x="110" y="335"/>
                      <a:pt x="111" y="323"/>
                      <a:pt x="104" y="316"/>
                    </a:cubicBezTo>
                    <a:cubicBezTo>
                      <a:pt x="88" y="300"/>
                      <a:pt x="47" y="278"/>
                      <a:pt x="47" y="278"/>
                    </a:cubicBezTo>
                    <a:cubicBezTo>
                      <a:pt x="44" y="269"/>
                      <a:pt x="44" y="257"/>
                      <a:pt x="37" y="250"/>
                    </a:cubicBezTo>
                    <a:cubicBezTo>
                      <a:pt x="0" y="213"/>
                      <a:pt x="9" y="272"/>
                      <a:pt x="9" y="212"/>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32" name="Oval 12"/>
              <p:cNvSpPr>
                <a:spLocks noChangeArrowheads="1"/>
              </p:cNvSpPr>
              <p:nvPr/>
            </p:nvSpPr>
            <p:spPr bwMode="auto">
              <a:xfrm flipH="1">
                <a:off x="487" y="899"/>
                <a:ext cx="404" cy="390"/>
              </a:xfrm>
              <a:prstGeom prst="ellipse">
                <a:avLst/>
              </a:prstGeom>
              <a:noFill/>
              <a:ln w="25400">
                <a:solidFill>
                  <a:schemeClr val="bg1"/>
                </a:solidFill>
                <a:round/>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733" name="Freeform 13"/>
              <p:cNvSpPr>
                <a:spLocks/>
              </p:cNvSpPr>
              <p:nvPr/>
            </p:nvSpPr>
            <p:spPr bwMode="auto">
              <a:xfrm flipH="1">
                <a:off x="422" y="1325"/>
                <a:ext cx="643" cy="400"/>
              </a:xfrm>
              <a:custGeom>
                <a:avLst/>
                <a:gdLst>
                  <a:gd name="T0" fmla="*/ 787 w 1716"/>
                  <a:gd name="T1" fmla="*/ 38 h 1261"/>
                  <a:gd name="T2" fmla="*/ 853 w 1716"/>
                  <a:gd name="T3" fmla="*/ 76 h 1261"/>
                  <a:gd name="T4" fmla="*/ 881 w 1716"/>
                  <a:gd name="T5" fmla="*/ 104 h 1261"/>
                  <a:gd name="T6" fmla="*/ 966 w 1716"/>
                  <a:gd name="T7" fmla="*/ 142 h 1261"/>
                  <a:gd name="T8" fmla="*/ 1127 w 1716"/>
                  <a:gd name="T9" fmla="*/ 132 h 1261"/>
                  <a:gd name="T10" fmla="*/ 1174 w 1716"/>
                  <a:gd name="T11" fmla="*/ 85 h 1261"/>
                  <a:gd name="T12" fmla="*/ 1230 w 1716"/>
                  <a:gd name="T13" fmla="*/ 47 h 1261"/>
                  <a:gd name="T14" fmla="*/ 1363 w 1716"/>
                  <a:gd name="T15" fmla="*/ 9 h 1261"/>
                  <a:gd name="T16" fmla="*/ 1495 w 1716"/>
                  <a:gd name="T17" fmla="*/ 19 h 1261"/>
                  <a:gd name="T18" fmla="*/ 1561 w 1716"/>
                  <a:gd name="T19" fmla="*/ 151 h 1261"/>
                  <a:gd name="T20" fmla="*/ 1589 w 1716"/>
                  <a:gd name="T21" fmla="*/ 425 h 1261"/>
                  <a:gd name="T22" fmla="*/ 1618 w 1716"/>
                  <a:gd name="T23" fmla="*/ 585 h 1261"/>
                  <a:gd name="T24" fmla="*/ 1646 w 1716"/>
                  <a:gd name="T25" fmla="*/ 793 h 1261"/>
                  <a:gd name="T26" fmla="*/ 1703 w 1716"/>
                  <a:gd name="T27" fmla="*/ 1020 h 1261"/>
                  <a:gd name="T28" fmla="*/ 1712 w 1716"/>
                  <a:gd name="T29" fmla="*/ 1058 h 1261"/>
                  <a:gd name="T30" fmla="*/ 1684 w 1716"/>
                  <a:gd name="T31" fmla="*/ 1076 h 1261"/>
                  <a:gd name="T32" fmla="*/ 1561 w 1716"/>
                  <a:gd name="T33" fmla="*/ 1086 h 1261"/>
                  <a:gd name="T34" fmla="*/ 1372 w 1716"/>
                  <a:gd name="T35" fmla="*/ 500 h 1261"/>
                  <a:gd name="T36" fmla="*/ 1334 w 1716"/>
                  <a:gd name="T37" fmla="*/ 406 h 1261"/>
                  <a:gd name="T38" fmla="*/ 1334 w 1716"/>
                  <a:gd name="T39" fmla="*/ 1228 h 1261"/>
                  <a:gd name="T40" fmla="*/ 1230 w 1716"/>
                  <a:gd name="T41" fmla="*/ 1218 h 1261"/>
                  <a:gd name="T42" fmla="*/ 985 w 1716"/>
                  <a:gd name="T43" fmla="*/ 1143 h 1261"/>
                  <a:gd name="T44" fmla="*/ 560 w 1716"/>
                  <a:gd name="T45" fmla="*/ 1143 h 1261"/>
                  <a:gd name="T46" fmla="*/ 569 w 1716"/>
                  <a:gd name="T47" fmla="*/ 1114 h 1261"/>
                  <a:gd name="T48" fmla="*/ 607 w 1716"/>
                  <a:gd name="T49" fmla="*/ 519 h 1261"/>
                  <a:gd name="T50" fmla="*/ 598 w 1716"/>
                  <a:gd name="T51" fmla="*/ 425 h 1261"/>
                  <a:gd name="T52" fmla="*/ 560 w 1716"/>
                  <a:gd name="T53" fmla="*/ 491 h 1261"/>
                  <a:gd name="T54" fmla="*/ 447 w 1716"/>
                  <a:gd name="T55" fmla="*/ 614 h 1261"/>
                  <a:gd name="T56" fmla="*/ 418 w 1716"/>
                  <a:gd name="T57" fmla="*/ 642 h 1261"/>
                  <a:gd name="T58" fmla="*/ 305 w 1716"/>
                  <a:gd name="T59" fmla="*/ 822 h 1261"/>
                  <a:gd name="T60" fmla="*/ 229 w 1716"/>
                  <a:gd name="T61" fmla="*/ 954 h 1261"/>
                  <a:gd name="T62" fmla="*/ 154 w 1716"/>
                  <a:gd name="T63" fmla="*/ 925 h 1261"/>
                  <a:gd name="T64" fmla="*/ 144 w 1716"/>
                  <a:gd name="T65" fmla="*/ 897 h 1261"/>
                  <a:gd name="T66" fmla="*/ 116 w 1716"/>
                  <a:gd name="T67" fmla="*/ 878 h 1261"/>
                  <a:gd name="T68" fmla="*/ 88 w 1716"/>
                  <a:gd name="T69" fmla="*/ 850 h 1261"/>
                  <a:gd name="T70" fmla="*/ 22 w 1716"/>
                  <a:gd name="T71" fmla="*/ 812 h 1261"/>
                  <a:gd name="T72" fmla="*/ 3 w 1716"/>
                  <a:gd name="T73" fmla="*/ 774 h 1261"/>
                  <a:gd name="T74" fmla="*/ 41 w 1716"/>
                  <a:gd name="T75" fmla="*/ 718 h 1261"/>
                  <a:gd name="T76" fmla="*/ 211 w 1716"/>
                  <a:gd name="T77" fmla="*/ 557 h 1261"/>
                  <a:gd name="T78" fmla="*/ 296 w 1716"/>
                  <a:gd name="T79" fmla="*/ 415 h 1261"/>
                  <a:gd name="T80" fmla="*/ 390 w 1716"/>
                  <a:gd name="T81" fmla="*/ 330 h 1261"/>
                  <a:gd name="T82" fmla="*/ 541 w 1716"/>
                  <a:gd name="T83" fmla="*/ 151 h 1261"/>
                  <a:gd name="T84" fmla="*/ 617 w 1716"/>
                  <a:gd name="T85" fmla="*/ 47 h 1261"/>
                  <a:gd name="T86" fmla="*/ 711 w 1716"/>
                  <a:gd name="T87" fmla="*/ 0 h 1261"/>
                  <a:gd name="T88" fmla="*/ 758 w 1716"/>
                  <a:gd name="T89" fmla="*/ 9 h 1261"/>
                  <a:gd name="T90" fmla="*/ 787 w 1716"/>
                  <a:gd name="T91" fmla="*/ 38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16" h="1261">
                    <a:moveTo>
                      <a:pt x="787" y="38"/>
                    </a:moveTo>
                    <a:cubicBezTo>
                      <a:pt x="808" y="52"/>
                      <a:pt x="832" y="61"/>
                      <a:pt x="853" y="76"/>
                    </a:cubicBezTo>
                    <a:cubicBezTo>
                      <a:pt x="864" y="84"/>
                      <a:pt x="871" y="96"/>
                      <a:pt x="881" y="104"/>
                    </a:cubicBezTo>
                    <a:cubicBezTo>
                      <a:pt x="907" y="125"/>
                      <a:pt x="935" y="131"/>
                      <a:pt x="966" y="142"/>
                    </a:cubicBezTo>
                    <a:cubicBezTo>
                      <a:pt x="1020" y="139"/>
                      <a:pt x="1074" y="140"/>
                      <a:pt x="1127" y="132"/>
                    </a:cubicBezTo>
                    <a:cubicBezTo>
                      <a:pt x="1158" y="127"/>
                      <a:pt x="1155" y="102"/>
                      <a:pt x="1174" y="85"/>
                    </a:cubicBezTo>
                    <a:cubicBezTo>
                      <a:pt x="1191" y="70"/>
                      <a:pt x="1211" y="60"/>
                      <a:pt x="1230" y="47"/>
                    </a:cubicBezTo>
                    <a:cubicBezTo>
                      <a:pt x="1268" y="21"/>
                      <a:pt x="1363" y="9"/>
                      <a:pt x="1363" y="9"/>
                    </a:cubicBezTo>
                    <a:cubicBezTo>
                      <a:pt x="1407" y="12"/>
                      <a:pt x="1453" y="6"/>
                      <a:pt x="1495" y="19"/>
                    </a:cubicBezTo>
                    <a:cubicBezTo>
                      <a:pt x="1515" y="25"/>
                      <a:pt x="1554" y="130"/>
                      <a:pt x="1561" y="151"/>
                    </a:cubicBezTo>
                    <a:cubicBezTo>
                      <a:pt x="1573" y="242"/>
                      <a:pt x="1577" y="334"/>
                      <a:pt x="1589" y="425"/>
                    </a:cubicBezTo>
                    <a:cubicBezTo>
                      <a:pt x="1596" y="479"/>
                      <a:pt x="1612" y="531"/>
                      <a:pt x="1618" y="585"/>
                    </a:cubicBezTo>
                    <a:cubicBezTo>
                      <a:pt x="1626" y="654"/>
                      <a:pt x="1623" y="728"/>
                      <a:pt x="1646" y="793"/>
                    </a:cubicBezTo>
                    <a:cubicBezTo>
                      <a:pt x="1656" y="874"/>
                      <a:pt x="1666" y="947"/>
                      <a:pt x="1703" y="1020"/>
                    </a:cubicBezTo>
                    <a:cubicBezTo>
                      <a:pt x="1706" y="1033"/>
                      <a:pt x="1716" y="1046"/>
                      <a:pt x="1712" y="1058"/>
                    </a:cubicBezTo>
                    <a:cubicBezTo>
                      <a:pt x="1708" y="1069"/>
                      <a:pt x="1695" y="1074"/>
                      <a:pt x="1684" y="1076"/>
                    </a:cubicBezTo>
                    <a:cubicBezTo>
                      <a:pt x="1644" y="1083"/>
                      <a:pt x="1602" y="1083"/>
                      <a:pt x="1561" y="1086"/>
                    </a:cubicBezTo>
                    <a:cubicBezTo>
                      <a:pt x="1188" y="1206"/>
                      <a:pt x="1574" y="637"/>
                      <a:pt x="1372" y="500"/>
                    </a:cubicBezTo>
                    <a:cubicBezTo>
                      <a:pt x="1362" y="467"/>
                      <a:pt x="1345" y="438"/>
                      <a:pt x="1334" y="406"/>
                    </a:cubicBezTo>
                    <a:cubicBezTo>
                      <a:pt x="1335" y="463"/>
                      <a:pt x="1358" y="1148"/>
                      <a:pt x="1334" y="1228"/>
                    </a:cubicBezTo>
                    <a:cubicBezTo>
                      <a:pt x="1324" y="1261"/>
                      <a:pt x="1265" y="1222"/>
                      <a:pt x="1230" y="1218"/>
                    </a:cubicBezTo>
                    <a:cubicBezTo>
                      <a:pt x="1144" y="1207"/>
                      <a:pt x="1066" y="1169"/>
                      <a:pt x="985" y="1143"/>
                    </a:cubicBezTo>
                    <a:cubicBezTo>
                      <a:pt x="918" y="1145"/>
                      <a:pt x="647" y="1162"/>
                      <a:pt x="560" y="1143"/>
                    </a:cubicBezTo>
                    <a:cubicBezTo>
                      <a:pt x="550" y="1141"/>
                      <a:pt x="566" y="1124"/>
                      <a:pt x="569" y="1114"/>
                    </a:cubicBezTo>
                    <a:cubicBezTo>
                      <a:pt x="576" y="920"/>
                      <a:pt x="562" y="710"/>
                      <a:pt x="607" y="519"/>
                    </a:cubicBezTo>
                    <a:cubicBezTo>
                      <a:pt x="604" y="488"/>
                      <a:pt x="616" y="451"/>
                      <a:pt x="598" y="425"/>
                    </a:cubicBezTo>
                    <a:cubicBezTo>
                      <a:pt x="584" y="404"/>
                      <a:pt x="561" y="489"/>
                      <a:pt x="560" y="491"/>
                    </a:cubicBezTo>
                    <a:cubicBezTo>
                      <a:pt x="534" y="543"/>
                      <a:pt x="488" y="573"/>
                      <a:pt x="447" y="614"/>
                    </a:cubicBezTo>
                    <a:cubicBezTo>
                      <a:pt x="437" y="624"/>
                      <a:pt x="418" y="642"/>
                      <a:pt x="418" y="642"/>
                    </a:cubicBezTo>
                    <a:cubicBezTo>
                      <a:pt x="386" y="707"/>
                      <a:pt x="341" y="760"/>
                      <a:pt x="305" y="822"/>
                    </a:cubicBezTo>
                    <a:cubicBezTo>
                      <a:pt x="278" y="869"/>
                      <a:pt x="275" y="924"/>
                      <a:pt x="229" y="954"/>
                    </a:cubicBezTo>
                    <a:cubicBezTo>
                      <a:pt x="215" y="949"/>
                      <a:pt x="160" y="930"/>
                      <a:pt x="154" y="925"/>
                    </a:cubicBezTo>
                    <a:cubicBezTo>
                      <a:pt x="146" y="919"/>
                      <a:pt x="150" y="905"/>
                      <a:pt x="144" y="897"/>
                    </a:cubicBezTo>
                    <a:cubicBezTo>
                      <a:pt x="137" y="888"/>
                      <a:pt x="125" y="885"/>
                      <a:pt x="116" y="878"/>
                    </a:cubicBezTo>
                    <a:cubicBezTo>
                      <a:pt x="106" y="870"/>
                      <a:pt x="99" y="858"/>
                      <a:pt x="88" y="850"/>
                    </a:cubicBezTo>
                    <a:cubicBezTo>
                      <a:pt x="67" y="835"/>
                      <a:pt x="43" y="826"/>
                      <a:pt x="22" y="812"/>
                    </a:cubicBezTo>
                    <a:cubicBezTo>
                      <a:pt x="16" y="799"/>
                      <a:pt x="0" y="788"/>
                      <a:pt x="3" y="774"/>
                    </a:cubicBezTo>
                    <a:cubicBezTo>
                      <a:pt x="7" y="752"/>
                      <a:pt x="28" y="737"/>
                      <a:pt x="41" y="718"/>
                    </a:cubicBezTo>
                    <a:cubicBezTo>
                      <a:pt x="80" y="661"/>
                      <a:pt x="156" y="598"/>
                      <a:pt x="211" y="557"/>
                    </a:cubicBezTo>
                    <a:cubicBezTo>
                      <a:pt x="235" y="521"/>
                      <a:pt x="267" y="444"/>
                      <a:pt x="296" y="415"/>
                    </a:cubicBezTo>
                    <a:cubicBezTo>
                      <a:pt x="325" y="386"/>
                      <a:pt x="363" y="357"/>
                      <a:pt x="390" y="330"/>
                    </a:cubicBezTo>
                    <a:cubicBezTo>
                      <a:pt x="445" y="275"/>
                      <a:pt x="475" y="196"/>
                      <a:pt x="541" y="151"/>
                    </a:cubicBezTo>
                    <a:cubicBezTo>
                      <a:pt x="558" y="105"/>
                      <a:pt x="577" y="73"/>
                      <a:pt x="617" y="47"/>
                    </a:cubicBezTo>
                    <a:cubicBezTo>
                      <a:pt x="643" y="6"/>
                      <a:pt x="663" y="9"/>
                      <a:pt x="711" y="0"/>
                    </a:cubicBezTo>
                    <a:cubicBezTo>
                      <a:pt x="727" y="3"/>
                      <a:pt x="745" y="0"/>
                      <a:pt x="758" y="9"/>
                    </a:cubicBezTo>
                    <a:cubicBezTo>
                      <a:pt x="810" y="44"/>
                      <a:pt x="733" y="38"/>
                      <a:pt x="787" y="38"/>
                    </a:cubicBezTo>
                    <a:close/>
                  </a:path>
                </a:pathLst>
              </a:custGeom>
              <a:solidFill>
                <a:srgbClr val="9933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34" name="Freeform 14"/>
              <p:cNvSpPr>
                <a:spLocks/>
              </p:cNvSpPr>
              <p:nvPr/>
            </p:nvSpPr>
            <p:spPr bwMode="auto">
              <a:xfrm flipH="1">
                <a:off x="515" y="1652"/>
                <a:ext cx="366" cy="423"/>
              </a:xfrm>
              <a:custGeom>
                <a:avLst/>
                <a:gdLst>
                  <a:gd name="T0" fmla="*/ 75 w 680"/>
                  <a:gd name="T1" fmla="*/ 83 h 940"/>
                  <a:gd name="T2" fmla="*/ 66 w 680"/>
                  <a:gd name="T3" fmla="*/ 206 h 940"/>
                  <a:gd name="T4" fmla="*/ 56 w 680"/>
                  <a:gd name="T5" fmla="*/ 593 h 940"/>
                  <a:gd name="T6" fmla="*/ 0 w 680"/>
                  <a:gd name="T7" fmla="*/ 848 h 940"/>
                  <a:gd name="T8" fmla="*/ 28 w 680"/>
                  <a:gd name="T9" fmla="*/ 858 h 940"/>
                  <a:gd name="T10" fmla="*/ 293 w 680"/>
                  <a:gd name="T11" fmla="*/ 839 h 940"/>
                  <a:gd name="T12" fmla="*/ 302 w 680"/>
                  <a:gd name="T13" fmla="*/ 773 h 940"/>
                  <a:gd name="T14" fmla="*/ 321 w 680"/>
                  <a:gd name="T15" fmla="*/ 688 h 940"/>
                  <a:gd name="T16" fmla="*/ 330 w 680"/>
                  <a:gd name="T17" fmla="*/ 348 h 940"/>
                  <a:gd name="T18" fmla="*/ 340 w 680"/>
                  <a:gd name="T19" fmla="*/ 376 h 940"/>
                  <a:gd name="T20" fmla="*/ 349 w 680"/>
                  <a:gd name="T21" fmla="*/ 471 h 940"/>
                  <a:gd name="T22" fmla="*/ 368 w 680"/>
                  <a:gd name="T23" fmla="*/ 612 h 940"/>
                  <a:gd name="T24" fmla="*/ 377 w 680"/>
                  <a:gd name="T25" fmla="*/ 924 h 940"/>
                  <a:gd name="T26" fmla="*/ 491 w 680"/>
                  <a:gd name="T27" fmla="*/ 905 h 940"/>
                  <a:gd name="T28" fmla="*/ 547 w 680"/>
                  <a:gd name="T29" fmla="*/ 886 h 940"/>
                  <a:gd name="T30" fmla="*/ 680 w 680"/>
                  <a:gd name="T31" fmla="*/ 886 h 940"/>
                  <a:gd name="T32" fmla="*/ 623 w 680"/>
                  <a:gd name="T33" fmla="*/ 659 h 940"/>
                  <a:gd name="T34" fmla="*/ 557 w 680"/>
                  <a:gd name="T35" fmla="*/ 168 h 940"/>
                  <a:gd name="T36" fmla="*/ 481 w 680"/>
                  <a:gd name="T37" fmla="*/ 46 h 940"/>
                  <a:gd name="T38" fmla="*/ 170 w 680"/>
                  <a:gd name="T39" fmla="*/ 27 h 940"/>
                  <a:gd name="T40" fmla="*/ 94 w 680"/>
                  <a:gd name="T41" fmla="*/ 55 h 940"/>
                  <a:gd name="T42" fmla="*/ 75 w 680"/>
                  <a:gd name="T43" fmla="*/ 83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80" h="940">
                    <a:moveTo>
                      <a:pt x="75" y="83"/>
                    </a:moveTo>
                    <a:cubicBezTo>
                      <a:pt x="72" y="124"/>
                      <a:pt x="68" y="165"/>
                      <a:pt x="66" y="206"/>
                    </a:cubicBezTo>
                    <a:cubicBezTo>
                      <a:pt x="61" y="335"/>
                      <a:pt x="62" y="464"/>
                      <a:pt x="56" y="593"/>
                    </a:cubicBezTo>
                    <a:cubicBezTo>
                      <a:pt x="52" y="675"/>
                      <a:pt x="19" y="767"/>
                      <a:pt x="0" y="848"/>
                    </a:cubicBezTo>
                    <a:cubicBezTo>
                      <a:pt x="9" y="851"/>
                      <a:pt x="18" y="858"/>
                      <a:pt x="28" y="858"/>
                    </a:cubicBezTo>
                    <a:cubicBezTo>
                      <a:pt x="117" y="855"/>
                      <a:pt x="208" y="865"/>
                      <a:pt x="293" y="839"/>
                    </a:cubicBezTo>
                    <a:cubicBezTo>
                      <a:pt x="314" y="832"/>
                      <a:pt x="298" y="795"/>
                      <a:pt x="302" y="773"/>
                    </a:cubicBezTo>
                    <a:cubicBezTo>
                      <a:pt x="307" y="744"/>
                      <a:pt x="315" y="716"/>
                      <a:pt x="321" y="688"/>
                    </a:cubicBezTo>
                    <a:cubicBezTo>
                      <a:pt x="324" y="575"/>
                      <a:pt x="323" y="461"/>
                      <a:pt x="330" y="348"/>
                    </a:cubicBezTo>
                    <a:cubicBezTo>
                      <a:pt x="331" y="338"/>
                      <a:pt x="338" y="366"/>
                      <a:pt x="340" y="376"/>
                    </a:cubicBezTo>
                    <a:cubicBezTo>
                      <a:pt x="345" y="407"/>
                      <a:pt x="346" y="439"/>
                      <a:pt x="349" y="471"/>
                    </a:cubicBezTo>
                    <a:cubicBezTo>
                      <a:pt x="359" y="574"/>
                      <a:pt x="354" y="538"/>
                      <a:pt x="368" y="612"/>
                    </a:cubicBezTo>
                    <a:cubicBezTo>
                      <a:pt x="371" y="716"/>
                      <a:pt x="346" y="825"/>
                      <a:pt x="377" y="924"/>
                    </a:cubicBezTo>
                    <a:cubicBezTo>
                      <a:pt x="382" y="940"/>
                      <a:pt x="467" y="913"/>
                      <a:pt x="491" y="905"/>
                    </a:cubicBezTo>
                    <a:cubicBezTo>
                      <a:pt x="510" y="899"/>
                      <a:pt x="547" y="886"/>
                      <a:pt x="547" y="886"/>
                    </a:cubicBezTo>
                    <a:cubicBezTo>
                      <a:pt x="620" y="900"/>
                      <a:pt x="605" y="911"/>
                      <a:pt x="680" y="886"/>
                    </a:cubicBezTo>
                    <a:cubicBezTo>
                      <a:pt x="664" y="809"/>
                      <a:pt x="646" y="735"/>
                      <a:pt x="623" y="659"/>
                    </a:cubicBezTo>
                    <a:cubicBezTo>
                      <a:pt x="616" y="486"/>
                      <a:pt x="604" y="333"/>
                      <a:pt x="557" y="168"/>
                    </a:cubicBezTo>
                    <a:cubicBezTo>
                      <a:pt x="543" y="119"/>
                      <a:pt x="529" y="69"/>
                      <a:pt x="481" y="46"/>
                    </a:cubicBezTo>
                    <a:cubicBezTo>
                      <a:pt x="388" y="0"/>
                      <a:pt x="274" y="30"/>
                      <a:pt x="170" y="27"/>
                    </a:cubicBezTo>
                    <a:cubicBezTo>
                      <a:pt x="144" y="32"/>
                      <a:pt x="113" y="32"/>
                      <a:pt x="94" y="55"/>
                    </a:cubicBezTo>
                    <a:cubicBezTo>
                      <a:pt x="69" y="86"/>
                      <a:pt x="100" y="83"/>
                      <a:pt x="75" y="83"/>
                    </a:cubicBezTo>
                    <a:close/>
                  </a:path>
                </a:pathLst>
              </a:custGeom>
              <a:solidFill>
                <a:srgbClr val="0033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35" name="Oval 15"/>
              <p:cNvSpPr>
                <a:spLocks noChangeArrowheads="1"/>
              </p:cNvSpPr>
              <p:nvPr/>
            </p:nvSpPr>
            <p:spPr bwMode="auto">
              <a:xfrm flipH="1">
                <a:off x="641" y="1090"/>
                <a:ext cx="48" cy="51"/>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736" name="Oval 16"/>
              <p:cNvSpPr>
                <a:spLocks noChangeArrowheads="1"/>
              </p:cNvSpPr>
              <p:nvPr/>
            </p:nvSpPr>
            <p:spPr bwMode="auto">
              <a:xfrm>
                <a:off x="510" y="930"/>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737" name="Oval 17"/>
              <p:cNvSpPr>
                <a:spLocks noChangeArrowheads="1"/>
              </p:cNvSpPr>
              <p:nvPr/>
            </p:nvSpPr>
            <p:spPr bwMode="auto">
              <a:xfrm>
                <a:off x="666" y="870"/>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738" name="Oval 18"/>
              <p:cNvSpPr>
                <a:spLocks noChangeArrowheads="1"/>
              </p:cNvSpPr>
              <p:nvPr/>
            </p:nvSpPr>
            <p:spPr bwMode="auto">
              <a:xfrm>
                <a:off x="816" y="954"/>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739" name="Oval 19"/>
              <p:cNvSpPr>
                <a:spLocks noChangeArrowheads="1"/>
              </p:cNvSpPr>
              <p:nvPr/>
            </p:nvSpPr>
            <p:spPr bwMode="auto">
              <a:xfrm>
                <a:off x="858" y="1122"/>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740" name="Oval 20"/>
              <p:cNvSpPr>
                <a:spLocks noChangeArrowheads="1"/>
              </p:cNvSpPr>
              <p:nvPr/>
            </p:nvSpPr>
            <p:spPr bwMode="auto">
              <a:xfrm>
                <a:off x="450" y="1086"/>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741" name="Oval 21"/>
              <p:cNvSpPr>
                <a:spLocks noChangeArrowheads="1"/>
              </p:cNvSpPr>
              <p:nvPr/>
            </p:nvSpPr>
            <p:spPr bwMode="auto">
              <a:xfrm>
                <a:off x="522" y="1212"/>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742" name="Oval 22"/>
              <p:cNvSpPr>
                <a:spLocks noChangeArrowheads="1"/>
              </p:cNvSpPr>
              <p:nvPr/>
            </p:nvSpPr>
            <p:spPr bwMode="auto">
              <a:xfrm>
                <a:off x="774" y="1230"/>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30743" name="Text Box 23"/>
            <p:cNvSpPr txBox="1">
              <a:spLocks noChangeArrowheads="1"/>
            </p:cNvSpPr>
            <p:nvPr/>
          </p:nvSpPr>
          <p:spPr bwMode="auto">
            <a:xfrm>
              <a:off x="372" y="276"/>
              <a:ext cx="2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t>Cl</a:t>
              </a:r>
            </a:p>
          </p:txBody>
        </p:sp>
      </p:grpSp>
      <p:sp>
        <p:nvSpPr>
          <p:cNvPr id="30785" name="AutoShape 65"/>
          <p:cNvSpPr>
            <a:spLocks noChangeArrowheads="1"/>
          </p:cNvSpPr>
          <p:nvPr/>
        </p:nvSpPr>
        <p:spPr bwMode="auto">
          <a:xfrm>
            <a:off x="4165600" y="5157788"/>
            <a:ext cx="4819650" cy="1366837"/>
          </a:xfrm>
          <a:prstGeom prst="wedgeRoundRectCallout">
            <a:avLst>
              <a:gd name="adj1" fmla="val -66995"/>
              <a:gd name="adj2" fmla="val -69278"/>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GB" altLang="en-US" sz="2000">
                <a:solidFill>
                  <a:schemeClr val="tx1"/>
                </a:solidFill>
              </a:rPr>
              <a:t>Now we’ve both got full outer shells and we’ve both gained a charge which attracts us together.  We’ve formed an IONIC bond.</a:t>
            </a:r>
          </a:p>
        </p:txBody>
      </p:sp>
      <p:grpSp>
        <p:nvGrpSpPr>
          <p:cNvPr id="30786" name="Group 66"/>
          <p:cNvGrpSpPr>
            <a:grpSpLocks/>
          </p:cNvGrpSpPr>
          <p:nvPr/>
        </p:nvGrpSpPr>
        <p:grpSpPr bwMode="auto">
          <a:xfrm>
            <a:off x="7731125" y="1228725"/>
            <a:ext cx="1182688" cy="2022475"/>
            <a:chOff x="3658" y="2874"/>
            <a:chExt cx="745" cy="1274"/>
          </a:xfrm>
        </p:grpSpPr>
        <p:sp>
          <p:nvSpPr>
            <p:cNvPr id="30787" name="Freeform 67"/>
            <p:cNvSpPr>
              <a:spLocks/>
            </p:cNvSpPr>
            <p:nvPr/>
          </p:nvSpPr>
          <p:spPr bwMode="auto">
            <a:xfrm flipH="1">
              <a:off x="4097" y="4016"/>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88" name="Freeform 68"/>
            <p:cNvSpPr>
              <a:spLocks/>
            </p:cNvSpPr>
            <p:nvPr/>
          </p:nvSpPr>
          <p:spPr bwMode="auto">
            <a:xfrm>
              <a:off x="3777" y="4011"/>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89" name="Freeform 69"/>
            <p:cNvSpPr>
              <a:spLocks/>
            </p:cNvSpPr>
            <p:nvPr/>
          </p:nvSpPr>
          <p:spPr bwMode="auto">
            <a:xfrm>
              <a:off x="4226" y="3639"/>
              <a:ext cx="158" cy="126"/>
            </a:xfrm>
            <a:custGeom>
              <a:avLst/>
              <a:gdLst>
                <a:gd name="T0" fmla="*/ 213 w 294"/>
                <a:gd name="T1" fmla="*/ 0 h 279"/>
                <a:gd name="T2" fmla="*/ 270 w 294"/>
                <a:gd name="T3" fmla="*/ 76 h 279"/>
                <a:gd name="T4" fmla="*/ 270 w 294"/>
                <a:gd name="T5" fmla="*/ 161 h 279"/>
                <a:gd name="T6" fmla="*/ 232 w 294"/>
                <a:gd name="T7" fmla="*/ 151 h 279"/>
                <a:gd name="T8" fmla="*/ 241 w 294"/>
                <a:gd name="T9" fmla="*/ 199 h 279"/>
                <a:gd name="T10" fmla="*/ 232 w 294"/>
                <a:gd name="T11" fmla="*/ 265 h 279"/>
                <a:gd name="T12" fmla="*/ 203 w 294"/>
                <a:gd name="T13" fmla="*/ 274 h 279"/>
                <a:gd name="T14" fmla="*/ 194 w 294"/>
                <a:gd name="T15" fmla="*/ 246 h 279"/>
                <a:gd name="T16" fmla="*/ 166 w 294"/>
                <a:gd name="T17" fmla="*/ 132 h 279"/>
                <a:gd name="T18" fmla="*/ 118 w 294"/>
                <a:gd name="T19" fmla="*/ 265 h 279"/>
                <a:gd name="T20" fmla="*/ 90 w 294"/>
                <a:gd name="T21" fmla="*/ 255 h 279"/>
                <a:gd name="T22" fmla="*/ 81 w 294"/>
                <a:gd name="T23" fmla="*/ 132 h 279"/>
                <a:gd name="T24" fmla="*/ 90 w 294"/>
                <a:gd name="T25" fmla="*/ 161 h 279"/>
                <a:gd name="T26" fmla="*/ 24 w 294"/>
                <a:gd name="T27" fmla="*/ 217 h 279"/>
                <a:gd name="T28" fmla="*/ 5 w 294"/>
                <a:gd name="T29" fmla="*/ 180 h 279"/>
                <a:gd name="T30" fmla="*/ 81 w 294"/>
                <a:gd name="T31" fmla="*/ 29 h 279"/>
                <a:gd name="T32" fmla="*/ 213 w 294"/>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4" h="279">
                  <a:moveTo>
                    <a:pt x="213" y="0"/>
                  </a:moveTo>
                  <a:cubicBezTo>
                    <a:pt x="226" y="42"/>
                    <a:pt x="246" y="39"/>
                    <a:pt x="270" y="76"/>
                  </a:cubicBezTo>
                  <a:cubicBezTo>
                    <a:pt x="278" y="101"/>
                    <a:pt x="294" y="137"/>
                    <a:pt x="270" y="161"/>
                  </a:cubicBezTo>
                  <a:cubicBezTo>
                    <a:pt x="261" y="170"/>
                    <a:pt x="245" y="154"/>
                    <a:pt x="232" y="151"/>
                  </a:cubicBezTo>
                  <a:cubicBezTo>
                    <a:pt x="204" y="73"/>
                    <a:pt x="236" y="184"/>
                    <a:pt x="241" y="199"/>
                  </a:cubicBezTo>
                  <a:cubicBezTo>
                    <a:pt x="238" y="221"/>
                    <a:pt x="242" y="245"/>
                    <a:pt x="232" y="265"/>
                  </a:cubicBezTo>
                  <a:cubicBezTo>
                    <a:pt x="227" y="274"/>
                    <a:pt x="212" y="279"/>
                    <a:pt x="203" y="274"/>
                  </a:cubicBezTo>
                  <a:cubicBezTo>
                    <a:pt x="194" y="270"/>
                    <a:pt x="197" y="255"/>
                    <a:pt x="194" y="246"/>
                  </a:cubicBezTo>
                  <a:cubicBezTo>
                    <a:pt x="184" y="208"/>
                    <a:pt x="178" y="170"/>
                    <a:pt x="166" y="132"/>
                  </a:cubicBezTo>
                  <a:cubicBezTo>
                    <a:pt x="158" y="198"/>
                    <a:pt x="170" y="231"/>
                    <a:pt x="118" y="265"/>
                  </a:cubicBezTo>
                  <a:cubicBezTo>
                    <a:pt x="109" y="262"/>
                    <a:pt x="93" y="265"/>
                    <a:pt x="90" y="255"/>
                  </a:cubicBezTo>
                  <a:cubicBezTo>
                    <a:pt x="79" y="215"/>
                    <a:pt x="81" y="173"/>
                    <a:pt x="81" y="132"/>
                  </a:cubicBezTo>
                  <a:cubicBezTo>
                    <a:pt x="81" y="122"/>
                    <a:pt x="87" y="151"/>
                    <a:pt x="90" y="161"/>
                  </a:cubicBezTo>
                  <a:cubicBezTo>
                    <a:pt x="76" y="204"/>
                    <a:pt x="61" y="193"/>
                    <a:pt x="24" y="217"/>
                  </a:cubicBezTo>
                  <a:cubicBezTo>
                    <a:pt x="18" y="205"/>
                    <a:pt x="7" y="194"/>
                    <a:pt x="5" y="180"/>
                  </a:cubicBezTo>
                  <a:cubicBezTo>
                    <a:pt x="0" y="137"/>
                    <a:pt x="43" y="54"/>
                    <a:pt x="81" y="29"/>
                  </a:cubicBezTo>
                  <a:cubicBezTo>
                    <a:pt x="118" y="4"/>
                    <a:pt x="171" y="15"/>
                    <a:pt x="213"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90" name="Freeform 70"/>
            <p:cNvSpPr>
              <a:spLocks/>
            </p:cNvSpPr>
            <p:nvPr/>
          </p:nvSpPr>
          <p:spPr bwMode="auto">
            <a:xfrm>
              <a:off x="3658" y="3562"/>
              <a:ext cx="150" cy="136"/>
            </a:xfrm>
            <a:custGeom>
              <a:avLst/>
              <a:gdLst>
                <a:gd name="T0" fmla="*/ 147 w 279"/>
                <a:gd name="T1" fmla="*/ 0 h 302"/>
                <a:gd name="T2" fmla="*/ 33 w 279"/>
                <a:gd name="T3" fmla="*/ 47 h 302"/>
                <a:gd name="T4" fmla="*/ 62 w 279"/>
                <a:gd name="T5" fmla="*/ 113 h 302"/>
                <a:gd name="T6" fmla="*/ 43 w 279"/>
                <a:gd name="T7" fmla="*/ 142 h 302"/>
                <a:gd name="T8" fmla="*/ 15 w 279"/>
                <a:gd name="T9" fmla="*/ 160 h 302"/>
                <a:gd name="T10" fmla="*/ 90 w 279"/>
                <a:gd name="T11" fmla="*/ 208 h 302"/>
                <a:gd name="T12" fmla="*/ 100 w 279"/>
                <a:gd name="T13" fmla="*/ 236 h 302"/>
                <a:gd name="T14" fmla="*/ 166 w 279"/>
                <a:gd name="T15" fmla="*/ 264 h 302"/>
                <a:gd name="T16" fmla="*/ 185 w 279"/>
                <a:gd name="T17" fmla="*/ 283 h 302"/>
                <a:gd name="T18" fmla="*/ 213 w 279"/>
                <a:gd name="T19" fmla="*/ 302 h 302"/>
                <a:gd name="T20" fmla="*/ 269 w 279"/>
                <a:gd name="T21" fmla="*/ 227 h 302"/>
                <a:gd name="T22" fmla="*/ 260 w 279"/>
                <a:gd name="T23" fmla="*/ 28 h 302"/>
                <a:gd name="T24" fmla="*/ 147 w 279"/>
                <a:gd name="T25"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9" h="302">
                  <a:moveTo>
                    <a:pt x="147" y="0"/>
                  </a:moveTo>
                  <a:cubicBezTo>
                    <a:pt x="107" y="12"/>
                    <a:pt x="74" y="34"/>
                    <a:pt x="33" y="47"/>
                  </a:cubicBezTo>
                  <a:cubicBezTo>
                    <a:pt x="19" y="91"/>
                    <a:pt x="16" y="99"/>
                    <a:pt x="62" y="113"/>
                  </a:cubicBezTo>
                  <a:cubicBezTo>
                    <a:pt x="56" y="123"/>
                    <a:pt x="51" y="134"/>
                    <a:pt x="43" y="142"/>
                  </a:cubicBezTo>
                  <a:cubicBezTo>
                    <a:pt x="35" y="150"/>
                    <a:pt x="19" y="150"/>
                    <a:pt x="15" y="160"/>
                  </a:cubicBezTo>
                  <a:cubicBezTo>
                    <a:pt x="0" y="198"/>
                    <a:pt x="74" y="204"/>
                    <a:pt x="90" y="208"/>
                  </a:cubicBezTo>
                  <a:cubicBezTo>
                    <a:pt x="116" y="134"/>
                    <a:pt x="105" y="219"/>
                    <a:pt x="100" y="236"/>
                  </a:cubicBezTo>
                  <a:cubicBezTo>
                    <a:pt x="113" y="291"/>
                    <a:pt x="118" y="296"/>
                    <a:pt x="166" y="264"/>
                  </a:cubicBezTo>
                  <a:cubicBezTo>
                    <a:pt x="184" y="189"/>
                    <a:pt x="165" y="244"/>
                    <a:pt x="185" y="283"/>
                  </a:cubicBezTo>
                  <a:cubicBezTo>
                    <a:pt x="190" y="293"/>
                    <a:pt x="204" y="296"/>
                    <a:pt x="213" y="302"/>
                  </a:cubicBezTo>
                  <a:cubicBezTo>
                    <a:pt x="271" y="288"/>
                    <a:pt x="256" y="282"/>
                    <a:pt x="269" y="227"/>
                  </a:cubicBezTo>
                  <a:cubicBezTo>
                    <a:pt x="266" y="161"/>
                    <a:pt x="279" y="92"/>
                    <a:pt x="260" y="28"/>
                  </a:cubicBezTo>
                  <a:cubicBezTo>
                    <a:pt x="254" y="9"/>
                    <a:pt x="171" y="0"/>
                    <a:pt x="147"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91" name="Freeform 71"/>
            <p:cNvSpPr>
              <a:spLocks/>
            </p:cNvSpPr>
            <p:nvPr/>
          </p:nvSpPr>
          <p:spPr bwMode="auto">
            <a:xfrm>
              <a:off x="4013" y="3262"/>
              <a:ext cx="170" cy="124"/>
            </a:xfrm>
            <a:custGeom>
              <a:avLst/>
              <a:gdLst>
                <a:gd name="T0" fmla="*/ 9 w 453"/>
                <a:gd name="T1" fmla="*/ 212 h 392"/>
                <a:gd name="T2" fmla="*/ 66 w 453"/>
                <a:gd name="T3" fmla="*/ 174 h 392"/>
                <a:gd name="T4" fmla="*/ 104 w 453"/>
                <a:gd name="T5" fmla="*/ 61 h 392"/>
                <a:gd name="T6" fmla="*/ 132 w 453"/>
                <a:gd name="T7" fmla="*/ 51 h 392"/>
                <a:gd name="T8" fmla="*/ 198 w 453"/>
                <a:gd name="T9" fmla="*/ 42 h 392"/>
                <a:gd name="T10" fmla="*/ 377 w 453"/>
                <a:gd name="T11" fmla="*/ 51 h 392"/>
                <a:gd name="T12" fmla="*/ 425 w 453"/>
                <a:gd name="T13" fmla="*/ 165 h 392"/>
                <a:gd name="T14" fmla="*/ 453 w 453"/>
                <a:gd name="T15" fmla="*/ 259 h 392"/>
                <a:gd name="T16" fmla="*/ 425 w 453"/>
                <a:gd name="T17" fmla="*/ 353 h 392"/>
                <a:gd name="T18" fmla="*/ 330 w 453"/>
                <a:gd name="T19" fmla="*/ 382 h 392"/>
                <a:gd name="T20" fmla="*/ 113 w 453"/>
                <a:gd name="T21" fmla="*/ 344 h 392"/>
                <a:gd name="T22" fmla="*/ 104 w 453"/>
                <a:gd name="T23" fmla="*/ 316 h 392"/>
                <a:gd name="T24" fmla="*/ 47 w 453"/>
                <a:gd name="T25" fmla="*/ 278 h 392"/>
                <a:gd name="T26" fmla="*/ 37 w 453"/>
                <a:gd name="T27" fmla="*/ 250 h 392"/>
                <a:gd name="T28" fmla="*/ 9 w 453"/>
                <a:gd name="T29" fmla="*/ 21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3" h="392">
                  <a:moveTo>
                    <a:pt x="9" y="212"/>
                  </a:moveTo>
                  <a:cubicBezTo>
                    <a:pt x="28" y="199"/>
                    <a:pt x="47" y="187"/>
                    <a:pt x="66" y="174"/>
                  </a:cubicBezTo>
                  <a:cubicBezTo>
                    <a:pt x="77" y="167"/>
                    <a:pt x="97" y="81"/>
                    <a:pt x="104" y="61"/>
                  </a:cubicBezTo>
                  <a:cubicBezTo>
                    <a:pt x="107" y="52"/>
                    <a:pt x="122" y="53"/>
                    <a:pt x="132" y="51"/>
                  </a:cubicBezTo>
                  <a:cubicBezTo>
                    <a:pt x="154" y="47"/>
                    <a:pt x="176" y="45"/>
                    <a:pt x="198" y="42"/>
                  </a:cubicBezTo>
                  <a:cubicBezTo>
                    <a:pt x="263" y="19"/>
                    <a:pt x="326" y="0"/>
                    <a:pt x="377" y="51"/>
                  </a:cubicBezTo>
                  <a:cubicBezTo>
                    <a:pt x="392" y="95"/>
                    <a:pt x="400" y="127"/>
                    <a:pt x="425" y="165"/>
                  </a:cubicBezTo>
                  <a:cubicBezTo>
                    <a:pt x="447" y="233"/>
                    <a:pt x="438" y="202"/>
                    <a:pt x="453" y="259"/>
                  </a:cubicBezTo>
                  <a:cubicBezTo>
                    <a:pt x="450" y="271"/>
                    <a:pt x="429" y="352"/>
                    <a:pt x="425" y="353"/>
                  </a:cubicBezTo>
                  <a:cubicBezTo>
                    <a:pt x="356" y="376"/>
                    <a:pt x="387" y="367"/>
                    <a:pt x="330" y="382"/>
                  </a:cubicBezTo>
                  <a:cubicBezTo>
                    <a:pt x="229" y="376"/>
                    <a:pt x="184" y="392"/>
                    <a:pt x="113" y="344"/>
                  </a:cubicBezTo>
                  <a:cubicBezTo>
                    <a:pt x="110" y="335"/>
                    <a:pt x="111" y="323"/>
                    <a:pt x="104" y="316"/>
                  </a:cubicBezTo>
                  <a:cubicBezTo>
                    <a:pt x="88" y="300"/>
                    <a:pt x="47" y="278"/>
                    <a:pt x="47" y="278"/>
                  </a:cubicBezTo>
                  <a:cubicBezTo>
                    <a:pt x="44" y="269"/>
                    <a:pt x="44" y="257"/>
                    <a:pt x="37" y="250"/>
                  </a:cubicBezTo>
                  <a:cubicBezTo>
                    <a:pt x="0" y="213"/>
                    <a:pt x="9" y="272"/>
                    <a:pt x="9" y="212"/>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92" name="Oval 72"/>
            <p:cNvSpPr>
              <a:spLocks noChangeArrowheads="1"/>
            </p:cNvSpPr>
            <p:nvPr/>
          </p:nvSpPr>
          <p:spPr bwMode="auto">
            <a:xfrm>
              <a:off x="3899" y="2891"/>
              <a:ext cx="404" cy="390"/>
            </a:xfrm>
            <a:prstGeom prst="ellipse">
              <a:avLst/>
            </a:prstGeom>
            <a:noFill/>
            <a:ln w="25400">
              <a:solidFill>
                <a:schemeClr val="bg1"/>
              </a:solidFill>
              <a:round/>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793" name="Freeform 73"/>
            <p:cNvSpPr>
              <a:spLocks/>
            </p:cNvSpPr>
            <p:nvPr/>
          </p:nvSpPr>
          <p:spPr bwMode="auto">
            <a:xfrm>
              <a:off x="3725" y="3317"/>
              <a:ext cx="643" cy="400"/>
            </a:xfrm>
            <a:custGeom>
              <a:avLst/>
              <a:gdLst>
                <a:gd name="T0" fmla="*/ 787 w 1716"/>
                <a:gd name="T1" fmla="*/ 38 h 1261"/>
                <a:gd name="T2" fmla="*/ 853 w 1716"/>
                <a:gd name="T3" fmla="*/ 76 h 1261"/>
                <a:gd name="T4" fmla="*/ 881 w 1716"/>
                <a:gd name="T5" fmla="*/ 104 h 1261"/>
                <a:gd name="T6" fmla="*/ 966 w 1716"/>
                <a:gd name="T7" fmla="*/ 142 h 1261"/>
                <a:gd name="T8" fmla="*/ 1127 w 1716"/>
                <a:gd name="T9" fmla="*/ 132 h 1261"/>
                <a:gd name="T10" fmla="*/ 1174 w 1716"/>
                <a:gd name="T11" fmla="*/ 85 h 1261"/>
                <a:gd name="T12" fmla="*/ 1230 w 1716"/>
                <a:gd name="T13" fmla="*/ 47 h 1261"/>
                <a:gd name="T14" fmla="*/ 1363 w 1716"/>
                <a:gd name="T15" fmla="*/ 9 h 1261"/>
                <a:gd name="T16" fmla="*/ 1495 w 1716"/>
                <a:gd name="T17" fmla="*/ 19 h 1261"/>
                <a:gd name="T18" fmla="*/ 1561 w 1716"/>
                <a:gd name="T19" fmla="*/ 151 h 1261"/>
                <a:gd name="T20" fmla="*/ 1589 w 1716"/>
                <a:gd name="T21" fmla="*/ 425 h 1261"/>
                <a:gd name="T22" fmla="*/ 1618 w 1716"/>
                <a:gd name="T23" fmla="*/ 585 h 1261"/>
                <a:gd name="T24" fmla="*/ 1646 w 1716"/>
                <a:gd name="T25" fmla="*/ 793 h 1261"/>
                <a:gd name="T26" fmla="*/ 1703 w 1716"/>
                <a:gd name="T27" fmla="*/ 1020 h 1261"/>
                <a:gd name="T28" fmla="*/ 1712 w 1716"/>
                <a:gd name="T29" fmla="*/ 1058 h 1261"/>
                <a:gd name="T30" fmla="*/ 1684 w 1716"/>
                <a:gd name="T31" fmla="*/ 1076 h 1261"/>
                <a:gd name="T32" fmla="*/ 1561 w 1716"/>
                <a:gd name="T33" fmla="*/ 1086 h 1261"/>
                <a:gd name="T34" fmla="*/ 1372 w 1716"/>
                <a:gd name="T35" fmla="*/ 500 h 1261"/>
                <a:gd name="T36" fmla="*/ 1334 w 1716"/>
                <a:gd name="T37" fmla="*/ 406 h 1261"/>
                <a:gd name="T38" fmla="*/ 1334 w 1716"/>
                <a:gd name="T39" fmla="*/ 1228 h 1261"/>
                <a:gd name="T40" fmla="*/ 1230 w 1716"/>
                <a:gd name="T41" fmla="*/ 1218 h 1261"/>
                <a:gd name="T42" fmla="*/ 985 w 1716"/>
                <a:gd name="T43" fmla="*/ 1143 h 1261"/>
                <a:gd name="T44" fmla="*/ 560 w 1716"/>
                <a:gd name="T45" fmla="*/ 1143 h 1261"/>
                <a:gd name="T46" fmla="*/ 569 w 1716"/>
                <a:gd name="T47" fmla="*/ 1114 h 1261"/>
                <a:gd name="T48" fmla="*/ 607 w 1716"/>
                <a:gd name="T49" fmla="*/ 519 h 1261"/>
                <a:gd name="T50" fmla="*/ 598 w 1716"/>
                <a:gd name="T51" fmla="*/ 425 h 1261"/>
                <a:gd name="T52" fmla="*/ 560 w 1716"/>
                <a:gd name="T53" fmla="*/ 491 h 1261"/>
                <a:gd name="T54" fmla="*/ 447 w 1716"/>
                <a:gd name="T55" fmla="*/ 614 h 1261"/>
                <a:gd name="T56" fmla="*/ 418 w 1716"/>
                <a:gd name="T57" fmla="*/ 642 h 1261"/>
                <a:gd name="T58" fmla="*/ 305 w 1716"/>
                <a:gd name="T59" fmla="*/ 822 h 1261"/>
                <a:gd name="T60" fmla="*/ 229 w 1716"/>
                <a:gd name="T61" fmla="*/ 954 h 1261"/>
                <a:gd name="T62" fmla="*/ 154 w 1716"/>
                <a:gd name="T63" fmla="*/ 925 h 1261"/>
                <a:gd name="T64" fmla="*/ 144 w 1716"/>
                <a:gd name="T65" fmla="*/ 897 h 1261"/>
                <a:gd name="T66" fmla="*/ 116 w 1716"/>
                <a:gd name="T67" fmla="*/ 878 h 1261"/>
                <a:gd name="T68" fmla="*/ 88 w 1716"/>
                <a:gd name="T69" fmla="*/ 850 h 1261"/>
                <a:gd name="T70" fmla="*/ 22 w 1716"/>
                <a:gd name="T71" fmla="*/ 812 h 1261"/>
                <a:gd name="T72" fmla="*/ 3 w 1716"/>
                <a:gd name="T73" fmla="*/ 774 h 1261"/>
                <a:gd name="T74" fmla="*/ 41 w 1716"/>
                <a:gd name="T75" fmla="*/ 718 h 1261"/>
                <a:gd name="T76" fmla="*/ 211 w 1716"/>
                <a:gd name="T77" fmla="*/ 557 h 1261"/>
                <a:gd name="T78" fmla="*/ 296 w 1716"/>
                <a:gd name="T79" fmla="*/ 415 h 1261"/>
                <a:gd name="T80" fmla="*/ 390 w 1716"/>
                <a:gd name="T81" fmla="*/ 330 h 1261"/>
                <a:gd name="T82" fmla="*/ 541 w 1716"/>
                <a:gd name="T83" fmla="*/ 151 h 1261"/>
                <a:gd name="T84" fmla="*/ 617 w 1716"/>
                <a:gd name="T85" fmla="*/ 47 h 1261"/>
                <a:gd name="T86" fmla="*/ 711 w 1716"/>
                <a:gd name="T87" fmla="*/ 0 h 1261"/>
                <a:gd name="T88" fmla="*/ 758 w 1716"/>
                <a:gd name="T89" fmla="*/ 9 h 1261"/>
                <a:gd name="T90" fmla="*/ 787 w 1716"/>
                <a:gd name="T91" fmla="*/ 38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16" h="1261">
                  <a:moveTo>
                    <a:pt x="787" y="38"/>
                  </a:moveTo>
                  <a:cubicBezTo>
                    <a:pt x="808" y="52"/>
                    <a:pt x="832" y="61"/>
                    <a:pt x="853" y="76"/>
                  </a:cubicBezTo>
                  <a:cubicBezTo>
                    <a:pt x="864" y="84"/>
                    <a:pt x="871" y="96"/>
                    <a:pt x="881" y="104"/>
                  </a:cubicBezTo>
                  <a:cubicBezTo>
                    <a:pt x="907" y="125"/>
                    <a:pt x="935" y="131"/>
                    <a:pt x="966" y="142"/>
                  </a:cubicBezTo>
                  <a:cubicBezTo>
                    <a:pt x="1020" y="139"/>
                    <a:pt x="1074" y="140"/>
                    <a:pt x="1127" y="132"/>
                  </a:cubicBezTo>
                  <a:cubicBezTo>
                    <a:pt x="1158" y="127"/>
                    <a:pt x="1155" y="102"/>
                    <a:pt x="1174" y="85"/>
                  </a:cubicBezTo>
                  <a:cubicBezTo>
                    <a:pt x="1191" y="70"/>
                    <a:pt x="1211" y="60"/>
                    <a:pt x="1230" y="47"/>
                  </a:cubicBezTo>
                  <a:cubicBezTo>
                    <a:pt x="1268" y="21"/>
                    <a:pt x="1363" y="9"/>
                    <a:pt x="1363" y="9"/>
                  </a:cubicBezTo>
                  <a:cubicBezTo>
                    <a:pt x="1407" y="12"/>
                    <a:pt x="1453" y="6"/>
                    <a:pt x="1495" y="19"/>
                  </a:cubicBezTo>
                  <a:cubicBezTo>
                    <a:pt x="1515" y="25"/>
                    <a:pt x="1554" y="130"/>
                    <a:pt x="1561" y="151"/>
                  </a:cubicBezTo>
                  <a:cubicBezTo>
                    <a:pt x="1573" y="242"/>
                    <a:pt x="1577" y="334"/>
                    <a:pt x="1589" y="425"/>
                  </a:cubicBezTo>
                  <a:cubicBezTo>
                    <a:pt x="1596" y="479"/>
                    <a:pt x="1612" y="531"/>
                    <a:pt x="1618" y="585"/>
                  </a:cubicBezTo>
                  <a:cubicBezTo>
                    <a:pt x="1626" y="654"/>
                    <a:pt x="1623" y="728"/>
                    <a:pt x="1646" y="793"/>
                  </a:cubicBezTo>
                  <a:cubicBezTo>
                    <a:pt x="1656" y="874"/>
                    <a:pt x="1666" y="947"/>
                    <a:pt x="1703" y="1020"/>
                  </a:cubicBezTo>
                  <a:cubicBezTo>
                    <a:pt x="1706" y="1033"/>
                    <a:pt x="1716" y="1046"/>
                    <a:pt x="1712" y="1058"/>
                  </a:cubicBezTo>
                  <a:cubicBezTo>
                    <a:pt x="1708" y="1069"/>
                    <a:pt x="1695" y="1074"/>
                    <a:pt x="1684" y="1076"/>
                  </a:cubicBezTo>
                  <a:cubicBezTo>
                    <a:pt x="1644" y="1083"/>
                    <a:pt x="1602" y="1083"/>
                    <a:pt x="1561" y="1086"/>
                  </a:cubicBezTo>
                  <a:cubicBezTo>
                    <a:pt x="1188" y="1206"/>
                    <a:pt x="1574" y="637"/>
                    <a:pt x="1372" y="500"/>
                  </a:cubicBezTo>
                  <a:cubicBezTo>
                    <a:pt x="1362" y="467"/>
                    <a:pt x="1345" y="438"/>
                    <a:pt x="1334" y="406"/>
                  </a:cubicBezTo>
                  <a:cubicBezTo>
                    <a:pt x="1335" y="463"/>
                    <a:pt x="1358" y="1148"/>
                    <a:pt x="1334" y="1228"/>
                  </a:cubicBezTo>
                  <a:cubicBezTo>
                    <a:pt x="1324" y="1261"/>
                    <a:pt x="1265" y="1222"/>
                    <a:pt x="1230" y="1218"/>
                  </a:cubicBezTo>
                  <a:cubicBezTo>
                    <a:pt x="1144" y="1207"/>
                    <a:pt x="1066" y="1169"/>
                    <a:pt x="985" y="1143"/>
                  </a:cubicBezTo>
                  <a:cubicBezTo>
                    <a:pt x="918" y="1145"/>
                    <a:pt x="647" y="1162"/>
                    <a:pt x="560" y="1143"/>
                  </a:cubicBezTo>
                  <a:cubicBezTo>
                    <a:pt x="550" y="1141"/>
                    <a:pt x="566" y="1124"/>
                    <a:pt x="569" y="1114"/>
                  </a:cubicBezTo>
                  <a:cubicBezTo>
                    <a:pt x="576" y="920"/>
                    <a:pt x="562" y="710"/>
                    <a:pt x="607" y="519"/>
                  </a:cubicBezTo>
                  <a:cubicBezTo>
                    <a:pt x="604" y="488"/>
                    <a:pt x="616" y="451"/>
                    <a:pt x="598" y="425"/>
                  </a:cubicBezTo>
                  <a:cubicBezTo>
                    <a:pt x="584" y="404"/>
                    <a:pt x="561" y="489"/>
                    <a:pt x="560" y="491"/>
                  </a:cubicBezTo>
                  <a:cubicBezTo>
                    <a:pt x="534" y="543"/>
                    <a:pt x="488" y="573"/>
                    <a:pt x="447" y="614"/>
                  </a:cubicBezTo>
                  <a:cubicBezTo>
                    <a:pt x="437" y="624"/>
                    <a:pt x="418" y="642"/>
                    <a:pt x="418" y="642"/>
                  </a:cubicBezTo>
                  <a:cubicBezTo>
                    <a:pt x="386" y="707"/>
                    <a:pt x="341" y="760"/>
                    <a:pt x="305" y="822"/>
                  </a:cubicBezTo>
                  <a:cubicBezTo>
                    <a:pt x="278" y="869"/>
                    <a:pt x="275" y="924"/>
                    <a:pt x="229" y="954"/>
                  </a:cubicBezTo>
                  <a:cubicBezTo>
                    <a:pt x="215" y="949"/>
                    <a:pt x="160" y="930"/>
                    <a:pt x="154" y="925"/>
                  </a:cubicBezTo>
                  <a:cubicBezTo>
                    <a:pt x="146" y="919"/>
                    <a:pt x="150" y="905"/>
                    <a:pt x="144" y="897"/>
                  </a:cubicBezTo>
                  <a:cubicBezTo>
                    <a:pt x="137" y="888"/>
                    <a:pt x="125" y="885"/>
                    <a:pt x="116" y="878"/>
                  </a:cubicBezTo>
                  <a:cubicBezTo>
                    <a:pt x="106" y="870"/>
                    <a:pt x="99" y="858"/>
                    <a:pt x="88" y="850"/>
                  </a:cubicBezTo>
                  <a:cubicBezTo>
                    <a:pt x="67" y="835"/>
                    <a:pt x="43" y="826"/>
                    <a:pt x="22" y="812"/>
                  </a:cubicBezTo>
                  <a:cubicBezTo>
                    <a:pt x="16" y="799"/>
                    <a:pt x="0" y="788"/>
                    <a:pt x="3" y="774"/>
                  </a:cubicBezTo>
                  <a:cubicBezTo>
                    <a:pt x="7" y="752"/>
                    <a:pt x="28" y="737"/>
                    <a:pt x="41" y="718"/>
                  </a:cubicBezTo>
                  <a:cubicBezTo>
                    <a:pt x="80" y="661"/>
                    <a:pt x="156" y="598"/>
                    <a:pt x="211" y="557"/>
                  </a:cubicBezTo>
                  <a:cubicBezTo>
                    <a:pt x="235" y="521"/>
                    <a:pt x="267" y="444"/>
                    <a:pt x="296" y="415"/>
                  </a:cubicBezTo>
                  <a:cubicBezTo>
                    <a:pt x="325" y="386"/>
                    <a:pt x="363" y="357"/>
                    <a:pt x="390" y="330"/>
                  </a:cubicBezTo>
                  <a:cubicBezTo>
                    <a:pt x="445" y="275"/>
                    <a:pt x="475" y="196"/>
                    <a:pt x="541" y="151"/>
                  </a:cubicBezTo>
                  <a:cubicBezTo>
                    <a:pt x="558" y="105"/>
                    <a:pt x="577" y="73"/>
                    <a:pt x="617" y="47"/>
                  </a:cubicBezTo>
                  <a:cubicBezTo>
                    <a:pt x="643" y="6"/>
                    <a:pt x="663" y="9"/>
                    <a:pt x="711" y="0"/>
                  </a:cubicBezTo>
                  <a:cubicBezTo>
                    <a:pt x="727" y="3"/>
                    <a:pt x="745" y="0"/>
                    <a:pt x="758" y="9"/>
                  </a:cubicBezTo>
                  <a:cubicBezTo>
                    <a:pt x="810" y="44"/>
                    <a:pt x="733" y="38"/>
                    <a:pt x="787" y="38"/>
                  </a:cubicBezTo>
                  <a:close/>
                </a:path>
              </a:pathLst>
            </a:custGeom>
            <a:solidFill>
              <a:srgbClr val="33CC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794" name="Oval 74"/>
            <p:cNvSpPr>
              <a:spLocks noChangeArrowheads="1"/>
            </p:cNvSpPr>
            <p:nvPr/>
          </p:nvSpPr>
          <p:spPr bwMode="auto">
            <a:xfrm>
              <a:off x="4101" y="3082"/>
              <a:ext cx="48" cy="51"/>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795" name="Oval 75"/>
            <p:cNvSpPr>
              <a:spLocks noChangeArrowheads="1"/>
            </p:cNvSpPr>
            <p:nvPr/>
          </p:nvSpPr>
          <p:spPr bwMode="auto">
            <a:xfrm flipH="1">
              <a:off x="4088" y="2874"/>
              <a:ext cx="60" cy="6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796" name="Text Box 76"/>
            <p:cNvSpPr txBox="1">
              <a:spLocks noChangeArrowheads="1"/>
            </p:cNvSpPr>
            <p:nvPr/>
          </p:nvSpPr>
          <p:spPr bwMode="auto">
            <a:xfrm>
              <a:off x="3948" y="2964"/>
              <a:ext cx="4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t>Na</a:t>
              </a:r>
            </a:p>
          </p:txBody>
        </p:sp>
        <p:sp>
          <p:nvSpPr>
            <p:cNvPr id="30797" name="Freeform 77"/>
            <p:cNvSpPr>
              <a:spLocks/>
            </p:cNvSpPr>
            <p:nvPr/>
          </p:nvSpPr>
          <p:spPr bwMode="auto">
            <a:xfrm>
              <a:off x="3875" y="3661"/>
              <a:ext cx="427" cy="404"/>
            </a:xfrm>
            <a:custGeom>
              <a:avLst/>
              <a:gdLst>
                <a:gd name="T0" fmla="*/ 217 w 427"/>
                <a:gd name="T1" fmla="*/ 383 h 404"/>
                <a:gd name="T2" fmla="*/ 151 w 427"/>
                <a:gd name="T3" fmla="*/ 359 h 404"/>
                <a:gd name="T4" fmla="*/ 7 w 427"/>
                <a:gd name="T5" fmla="*/ 359 h 404"/>
                <a:gd name="T6" fmla="*/ 1 w 427"/>
                <a:gd name="T7" fmla="*/ 341 h 404"/>
                <a:gd name="T8" fmla="*/ 31 w 427"/>
                <a:gd name="T9" fmla="*/ 251 h 404"/>
                <a:gd name="T10" fmla="*/ 55 w 427"/>
                <a:gd name="T11" fmla="*/ 215 h 404"/>
                <a:gd name="T12" fmla="*/ 67 w 427"/>
                <a:gd name="T13" fmla="*/ 179 h 404"/>
                <a:gd name="T14" fmla="*/ 73 w 427"/>
                <a:gd name="T15" fmla="*/ 23 h 404"/>
                <a:gd name="T16" fmla="*/ 151 w 427"/>
                <a:gd name="T17" fmla="*/ 17 h 404"/>
                <a:gd name="T18" fmla="*/ 337 w 427"/>
                <a:gd name="T19" fmla="*/ 29 h 404"/>
                <a:gd name="T20" fmla="*/ 343 w 427"/>
                <a:gd name="T21" fmla="*/ 71 h 404"/>
                <a:gd name="T22" fmla="*/ 361 w 427"/>
                <a:gd name="T23" fmla="*/ 215 h 404"/>
                <a:gd name="T24" fmla="*/ 397 w 427"/>
                <a:gd name="T25" fmla="*/ 311 h 404"/>
                <a:gd name="T26" fmla="*/ 217 w 427"/>
                <a:gd name="T27" fmla="*/ 383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7" h="404">
                  <a:moveTo>
                    <a:pt x="217" y="383"/>
                  </a:moveTo>
                  <a:cubicBezTo>
                    <a:pt x="190" y="378"/>
                    <a:pt x="174" y="374"/>
                    <a:pt x="151" y="359"/>
                  </a:cubicBezTo>
                  <a:cubicBezTo>
                    <a:pt x="81" y="371"/>
                    <a:pt x="88" y="366"/>
                    <a:pt x="7" y="359"/>
                  </a:cubicBezTo>
                  <a:cubicBezTo>
                    <a:pt x="5" y="353"/>
                    <a:pt x="0" y="347"/>
                    <a:pt x="1" y="341"/>
                  </a:cubicBezTo>
                  <a:cubicBezTo>
                    <a:pt x="3" y="323"/>
                    <a:pt x="20" y="268"/>
                    <a:pt x="31" y="251"/>
                  </a:cubicBezTo>
                  <a:cubicBezTo>
                    <a:pt x="39" y="239"/>
                    <a:pt x="50" y="229"/>
                    <a:pt x="55" y="215"/>
                  </a:cubicBezTo>
                  <a:cubicBezTo>
                    <a:pt x="59" y="203"/>
                    <a:pt x="67" y="179"/>
                    <a:pt x="67" y="179"/>
                  </a:cubicBezTo>
                  <a:cubicBezTo>
                    <a:pt x="69" y="127"/>
                    <a:pt x="49" y="69"/>
                    <a:pt x="73" y="23"/>
                  </a:cubicBezTo>
                  <a:cubicBezTo>
                    <a:pt x="85" y="0"/>
                    <a:pt x="125" y="17"/>
                    <a:pt x="151" y="17"/>
                  </a:cubicBezTo>
                  <a:cubicBezTo>
                    <a:pt x="213" y="17"/>
                    <a:pt x="275" y="26"/>
                    <a:pt x="337" y="29"/>
                  </a:cubicBezTo>
                  <a:cubicBezTo>
                    <a:pt x="360" y="64"/>
                    <a:pt x="343" y="28"/>
                    <a:pt x="343" y="71"/>
                  </a:cubicBezTo>
                  <a:cubicBezTo>
                    <a:pt x="343" y="136"/>
                    <a:pt x="353" y="160"/>
                    <a:pt x="361" y="215"/>
                  </a:cubicBezTo>
                  <a:cubicBezTo>
                    <a:pt x="367" y="255"/>
                    <a:pt x="363" y="288"/>
                    <a:pt x="397" y="311"/>
                  </a:cubicBezTo>
                  <a:cubicBezTo>
                    <a:pt x="427" y="402"/>
                    <a:pt x="259" y="404"/>
                    <a:pt x="217" y="383"/>
                  </a:cubicBezTo>
                  <a:close/>
                </a:path>
              </a:pathLst>
            </a:custGeom>
            <a:solidFill>
              <a:srgbClr val="CC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30798" name="AutoShape 78"/>
          <p:cNvSpPr>
            <a:spLocks noChangeArrowheads="1"/>
          </p:cNvSpPr>
          <p:nvPr/>
        </p:nvSpPr>
        <p:spPr bwMode="auto">
          <a:xfrm>
            <a:off x="698500" y="3259138"/>
            <a:ext cx="1428750" cy="390525"/>
          </a:xfrm>
          <a:prstGeom prst="wedgeRoundRectCallout">
            <a:avLst>
              <a:gd name="adj1" fmla="val -35333"/>
              <a:gd name="adj2" fmla="val -499593"/>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GB" altLang="en-US" sz="2000">
                <a:solidFill>
                  <a:schemeClr val="tx1"/>
                </a:solidFill>
              </a:rPr>
              <a:t>Okay</a:t>
            </a:r>
          </a:p>
        </p:txBody>
      </p:sp>
      <p:grpSp>
        <p:nvGrpSpPr>
          <p:cNvPr id="30831" name="Group 111"/>
          <p:cNvGrpSpPr>
            <a:grpSpLocks/>
          </p:cNvGrpSpPr>
          <p:nvPr/>
        </p:nvGrpSpPr>
        <p:grpSpPr bwMode="auto">
          <a:xfrm>
            <a:off x="606425" y="4371975"/>
            <a:ext cx="1182688" cy="2041525"/>
            <a:chOff x="382" y="2862"/>
            <a:chExt cx="745" cy="1286"/>
          </a:xfrm>
        </p:grpSpPr>
        <p:grpSp>
          <p:nvGrpSpPr>
            <p:cNvPr id="30800" name="Group 80"/>
            <p:cNvGrpSpPr>
              <a:grpSpLocks/>
            </p:cNvGrpSpPr>
            <p:nvPr/>
          </p:nvGrpSpPr>
          <p:grpSpPr bwMode="auto">
            <a:xfrm>
              <a:off x="382" y="2862"/>
              <a:ext cx="745" cy="1286"/>
              <a:chOff x="387" y="870"/>
              <a:chExt cx="745" cy="1286"/>
            </a:xfrm>
          </p:grpSpPr>
          <p:sp>
            <p:nvSpPr>
              <p:cNvPr id="30801" name="Freeform 81"/>
              <p:cNvSpPr>
                <a:spLocks/>
              </p:cNvSpPr>
              <p:nvPr/>
            </p:nvSpPr>
            <p:spPr bwMode="auto">
              <a:xfrm>
                <a:off x="387" y="2024"/>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802" name="Freeform 82"/>
              <p:cNvSpPr>
                <a:spLocks/>
              </p:cNvSpPr>
              <p:nvPr/>
            </p:nvSpPr>
            <p:spPr bwMode="auto">
              <a:xfrm flipH="1">
                <a:off x="707" y="2019"/>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803" name="Freeform 83"/>
              <p:cNvSpPr>
                <a:spLocks/>
              </p:cNvSpPr>
              <p:nvPr/>
            </p:nvSpPr>
            <p:spPr bwMode="auto">
              <a:xfrm flipH="1">
                <a:off x="406" y="1647"/>
                <a:ext cx="158" cy="126"/>
              </a:xfrm>
              <a:custGeom>
                <a:avLst/>
                <a:gdLst>
                  <a:gd name="T0" fmla="*/ 213 w 294"/>
                  <a:gd name="T1" fmla="*/ 0 h 279"/>
                  <a:gd name="T2" fmla="*/ 270 w 294"/>
                  <a:gd name="T3" fmla="*/ 76 h 279"/>
                  <a:gd name="T4" fmla="*/ 270 w 294"/>
                  <a:gd name="T5" fmla="*/ 161 h 279"/>
                  <a:gd name="T6" fmla="*/ 232 w 294"/>
                  <a:gd name="T7" fmla="*/ 151 h 279"/>
                  <a:gd name="T8" fmla="*/ 241 w 294"/>
                  <a:gd name="T9" fmla="*/ 199 h 279"/>
                  <a:gd name="T10" fmla="*/ 232 w 294"/>
                  <a:gd name="T11" fmla="*/ 265 h 279"/>
                  <a:gd name="T12" fmla="*/ 203 w 294"/>
                  <a:gd name="T13" fmla="*/ 274 h 279"/>
                  <a:gd name="T14" fmla="*/ 194 w 294"/>
                  <a:gd name="T15" fmla="*/ 246 h 279"/>
                  <a:gd name="T16" fmla="*/ 166 w 294"/>
                  <a:gd name="T17" fmla="*/ 132 h 279"/>
                  <a:gd name="T18" fmla="*/ 118 w 294"/>
                  <a:gd name="T19" fmla="*/ 265 h 279"/>
                  <a:gd name="T20" fmla="*/ 90 w 294"/>
                  <a:gd name="T21" fmla="*/ 255 h 279"/>
                  <a:gd name="T22" fmla="*/ 81 w 294"/>
                  <a:gd name="T23" fmla="*/ 132 h 279"/>
                  <a:gd name="T24" fmla="*/ 90 w 294"/>
                  <a:gd name="T25" fmla="*/ 161 h 279"/>
                  <a:gd name="T26" fmla="*/ 24 w 294"/>
                  <a:gd name="T27" fmla="*/ 217 h 279"/>
                  <a:gd name="T28" fmla="*/ 5 w 294"/>
                  <a:gd name="T29" fmla="*/ 180 h 279"/>
                  <a:gd name="T30" fmla="*/ 81 w 294"/>
                  <a:gd name="T31" fmla="*/ 29 h 279"/>
                  <a:gd name="T32" fmla="*/ 213 w 294"/>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4" h="279">
                    <a:moveTo>
                      <a:pt x="213" y="0"/>
                    </a:moveTo>
                    <a:cubicBezTo>
                      <a:pt x="226" y="42"/>
                      <a:pt x="246" y="39"/>
                      <a:pt x="270" y="76"/>
                    </a:cubicBezTo>
                    <a:cubicBezTo>
                      <a:pt x="278" y="101"/>
                      <a:pt x="294" y="137"/>
                      <a:pt x="270" y="161"/>
                    </a:cubicBezTo>
                    <a:cubicBezTo>
                      <a:pt x="261" y="170"/>
                      <a:pt x="245" y="154"/>
                      <a:pt x="232" y="151"/>
                    </a:cubicBezTo>
                    <a:cubicBezTo>
                      <a:pt x="204" y="73"/>
                      <a:pt x="236" y="184"/>
                      <a:pt x="241" y="199"/>
                    </a:cubicBezTo>
                    <a:cubicBezTo>
                      <a:pt x="238" y="221"/>
                      <a:pt x="242" y="245"/>
                      <a:pt x="232" y="265"/>
                    </a:cubicBezTo>
                    <a:cubicBezTo>
                      <a:pt x="227" y="274"/>
                      <a:pt x="212" y="279"/>
                      <a:pt x="203" y="274"/>
                    </a:cubicBezTo>
                    <a:cubicBezTo>
                      <a:pt x="194" y="270"/>
                      <a:pt x="197" y="255"/>
                      <a:pt x="194" y="246"/>
                    </a:cubicBezTo>
                    <a:cubicBezTo>
                      <a:pt x="184" y="208"/>
                      <a:pt x="178" y="170"/>
                      <a:pt x="166" y="132"/>
                    </a:cubicBezTo>
                    <a:cubicBezTo>
                      <a:pt x="158" y="198"/>
                      <a:pt x="170" y="231"/>
                      <a:pt x="118" y="265"/>
                    </a:cubicBezTo>
                    <a:cubicBezTo>
                      <a:pt x="109" y="262"/>
                      <a:pt x="93" y="265"/>
                      <a:pt x="90" y="255"/>
                    </a:cubicBezTo>
                    <a:cubicBezTo>
                      <a:pt x="79" y="215"/>
                      <a:pt x="81" y="173"/>
                      <a:pt x="81" y="132"/>
                    </a:cubicBezTo>
                    <a:cubicBezTo>
                      <a:pt x="81" y="122"/>
                      <a:pt x="87" y="151"/>
                      <a:pt x="90" y="161"/>
                    </a:cubicBezTo>
                    <a:cubicBezTo>
                      <a:pt x="76" y="204"/>
                      <a:pt x="61" y="193"/>
                      <a:pt x="24" y="217"/>
                    </a:cubicBezTo>
                    <a:cubicBezTo>
                      <a:pt x="18" y="205"/>
                      <a:pt x="7" y="194"/>
                      <a:pt x="5" y="180"/>
                    </a:cubicBezTo>
                    <a:cubicBezTo>
                      <a:pt x="0" y="137"/>
                      <a:pt x="43" y="54"/>
                      <a:pt x="81" y="29"/>
                    </a:cubicBezTo>
                    <a:cubicBezTo>
                      <a:pt x="118" y="4"/>
                      <a:pt x="171" y="15"/>
                      <a:pt x="213"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804" name="Freeform 84"/>
              <p:cNvSpPr>
                <a:spLocks/>
              </p:cNvSpPr>
              <p:nvPr/>
            </p:nvSpPr>
            <p:spPr bwMode="auto">
              <a:xfrm flipH="1">
                <a:off x="982" y="1570"/>
                <a:ext cx="150" cy="136"/>
              </a:xfrm>
              <a:custGeom>
                <a:avLst/>
                <a:gdLst>
                  <a:gd name="T0" fmla="*/ 147 w 279"/>
                  <a:gd name="T1" fmla="*/ 0 h 302"/>
                  <a:gd name="T2" fmla="*/ 33 w 279"/>
                  <a:gd name="T3" fmla="*/ 47 h 302"/>
                  <a:gd name="T4" fmla="*/ 62 w 279"/>
                  <a:gd name="T5" fmla="*/ 113 h 302"/>
                  <a:gd name="T6" fmla="*/ 43 w 279"/>
                  <a:gd name="T7" fmla="*/ 142 h 302"/>
                  <a:gd name="T8" fmla="*/ 15 w 279"/>
                  <a:gd name="T9" fmla="*/ 160 h 302"/>
                  <a:gd name="T10" fmla="*/ 90 w 279"/>
                  <a:gd name="T11" fmla="*/ 208 h 302"/>
                  <a:gd name="T12" fmla="*/ 100 w 279"/>
                  <a:gd name="T13" fmla="*/ 236 h 302"/>
                  <a:gd name="T14" fmla="*/ 166 w 279"/>
                  <a:gd name="T15" fmla="*/ 264 h 302"/>
                  <a:gd name="T16" fmla="*/ 185 w 279"/>
                  <a:gd name="T17" fmla="*/ 283 h 302"/>
                  <a:gd name="T18" fmla="*/ 213 w 279"/>
                  <a:gd name="T19" fmla="*/ 302 h 302"/>
                  <a:gd name="T20" fmla="*/ 269 w 279"/>
                  <a:gd name="T21" fmla="*/ 227 h 302"/>
                  <a:gd name="T22" fmla="*/ 260 w 279"/>
                  <a:gd name="T23" fmla="*/ 28 h 302"/>
                  <a:gd name="T24" fmla="*/ 147 w 279"/>
                  <a:gd name="T25"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9" h="302">
                    <a:moveTo>
                      <a:pt x="147" y="0"/>
                    </a:moveTo>
                    <a:cubicBezTo>
                      <a:pt x="107" y="12"/>
                      <a:pt x="74" y="34"/>
                      <a:pt x="33" y="47"/>
                    </a:cubicBezTo>
                    <a:cubicBezTo>
                      <a:pt x="19" y="91"/>
                      <a:pt x="16" y="99"/>
                      <a:pt x="62" y="113"/>
                    </a:cubicBezTo>
                    <a:cubicBezTo>
                      <a:pt x="56" y="123"/>
                      <a:pt x="51" y="134"/>
                      <a:pt x="43" y="142"/>
                    </a:cubicBezTo>
                    <a:cubicBezTo>
                      <a:pt x="35" y="150"/>
                      <a:pt x="19" y="150"/>
                      <a:pt x="15" y="160"/>
                    </a:cubicBezTo>
                    <a:cubicBezTo>
                      <a:pt x="0" y="198"/>
                      <a:pt x="74" y="204"/>
                      <a:pt x="90" y="208"/>
                    </a:cubicBezTo>
                    <a:cubicBezTo>
                      <a:pt x="116" y="134"/>
                      <a:pt x="105" y="219"/>
                      <a:pt x="100" y="236"/>
                    </a:cubicBezTo>
                    <a:cubicBezTo>
                      <a:pt x="113" y="291"/>
                      <a:pt x="118" y="296"/>
                      <a:pt x="166" y="264"/>
                    </a:cubicBezTo>
                    <a:cubicBezTo>
                      <a:pt x="184" y="189"/>
                      <a:pt x="165" y="244"/>
                      <a:pt x="185" y="283"/>
                    </a:cubicBezTo>
                    <a:cubicBezTo>
                      <a:pt x="190" y="293"/>
                      <a:pt x="204" y="296"/>
                      <a:pt x="213" y="302"/>
                    </a:cubicBezTo>
                    <a:cubicBezTo>
                      <a:pt x="271" y="288"/>
                      <a:pt x="256" y="282"/>
                      <a:pt x="269" y="227"/>
                    </a:cubicBezTo>
                    <a:cubicBezTo>
                      <a:pt x="266" y="161"/>
                      <a:pt x="279" y="92"/>
                      <a:pt x="260" y="28"/>
                    </a:cubicBezTo>
                    <a:cubicBezTo>
                      <a:pt x="254" y="9"/>
                      <a:pt x="171" y="0"/>
                      <a:pt x="147"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805" name="Freeform 85"/>
              <p:cNvSpPr>
                <a:spLocks/>
              </p:cNvSpPr>
              <p:nvPr/>
            </p:nvSpPr>
            <p:spPr bwMode="auto">
              <a:xfrm flipH="1">
                <a:off x="607" y="1270"/>
                <a:ext cx="170" cy="124"/>
              </a:xfrm>
              <a:custGeom>
                <a:avLst/>
                <a:gdLst>
                  <a:gd name="T0" fmla="*/ 9 w 453"/>
                  <a:gd name="T1" fmla="*/ 212 h 392"/>
                  <a:gd name="T2" fmla="*/ 66 w 453"/>
                  <a:gd name="T3" fmla="*/ 174 h 392"/>
                  <a:gd name="T4" fmla="*/ 104 w 453"/>
                  <a:gd name="T5" fmla="*/ 61 h 392"/>
                  <a:gd name="T6" fmla="*/ 132 w 453"/>
                  <a:gd name="T7" fmla="*/ 51 h 392"/>
                  <a:gd name="T8" fmla="*/ 198 w 453"/>
                  <a:gd name="T9" fmla="*/ 42 h 392"/>
                  <a:gd name="T10" fmla="*/ 377 w 453"/>
                  <a:gd name="T11" fmla="*/ 51 h 392"/>
                  <a:gd name="T12" fmla="*/ 425 w 453"/>
                  <a:gd name="T13" fmla="*/ 165 h 392"/>
                  <a:gd name="T14" fmla="*/ 453 w 453"/>
                  <a:gd name="T15" fmla="*/ 259 h 392"/>
                  <a:gd name="T16" fmla="*/ 425 w 453"/>
                  <a:gd name="T17" fmla="*/ 353 h 392"/>
                  <a:gd name="T18" fmla="*/ 330 w 453"/>
                  <a:gd name="T19" fmla="*/ 382 h 392"/>
                  <a:gd name="T20" fmla="*/ 113 w 453"/>
                  <a:gd name="T21" fmla="*/ 344 h 392"/>
                  <a:gd name="T22" fmla="*/ 104 w 453"/>
                  <a:gd name="T23" fmla="*/ 316 h 392"/>
                  <a:gd name="T24" fmla="*/ 47 w 453"/>
                  <a:gd name="T25" fmla="*/ 278 h 392"/>
                  <a:gd name="T26" fmla="*/ 37 w 453"/>
                  <a:gd name="T27" fmla="*/ 250 h 392"/>
                  <a:gd name="T28" fmla="*/ 9 w 453"/>
                  <a:gd name="T29" fmla="*/ 21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3" h="392">
                    <a:moveTo>
                      <a:pt x="9" y="212"/>
                    </a:moveTo>
                    <a:cubicBezTo>
                      <a:pt x="28" y="199"/>
                      <a:pt x="47" y="187"/>
                      <a:pt x="66" y="174"/>
                    </a:cubicBezTo>
                    <a:cubicBezTo>
                      <a:pt x="77" y="167"/>
                      <a:pt x="97" y="81"/>
                      <a:pt x="104" y="61"/>
                    </a:cubicBezTo>
                    <a:cubicBezTo>
                      <a:pt x="107" y="52"/>
                      <a:pt x="122" y="53"/>
                      <a:pt x="132" y="51"/>
                    </a:cubicBezTo>
                    <a:cubicBezTo>
                      <a:pt x="154" y="47"/>
                      <a:pt x="176" y="45"/>
                      <a:pt x="198" y="42"/>
                    </a:cubicBezTo>
                    <a:cubicBezTo>
                      <a:pt x="263" y="19"/>
                      <a:pt x="326" y="0"/>
                      <a:pt x="377" y="51"/>
                    </a:cubicBezTo>
                    <a:cubicBezTo>
                      <a:pt x="392" y="95"/>
                      <a:pt x="400" y="127"/>
                      <a:pt x="425" y="165"/>
                    </a:cubicBezTo>
                    <a:cubicBezTo>
                      <a:pt x="447" y="233"/>
                      <a:pt x="438" y="202"/>
                      <a:pt x="453" y="259"/>
                    </a:cubicBezTo>
                    <a:cubicBezTo>
                      <a:pt x="450" y="271"/>
                      <a:pt x="429" y="352"/>
                      <a:pt x="425" y="353"/>
                    </a:cubicBezTo>
                    <a:cubicBezTo>
                      <a:pt x="356" y="376"/>
                      <a:pt x="387" y="367"/>
                      <a:pt x="330" y="382"/>
                    </a:cubicBezTo>
                    <a:cubicBezTo>
                      <a:pt x="229" y="376"/>
                      <a:pt x="184" y="392"/>
                      <a:pt x="113" y="344"/>
                    </a:cubicBezTo>
                    <a:cubicBezTo>
                      <a:pt x="110" y="335"/>
                      <a:pt x="111" y="323"/>
                      <a:pt x="104" y="316"/>
                    </a:cubicBezTo>
                    <a:cubicBezTo>
                      <a:pt x="88" y="300"/>
                      <a:pt x="47" y="278"/>
                      <a:pt x="47" y="278"/>
                    </a:cubicBezTo>
                    <a:cubicBezTo>
                      <a:pt x="44" y="269"/>
                      <a:pt x="44" y="257"/>
                      <a:pt x="37" y="250"/>
                    </a:cubicBezTo>
                    <a:cubicBezTo>
                      <a:pt x="0" y="213"/>
                      <a:pt x="9" y="272"/>
                      <a:pt x="9" y="212"/>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806" name="Oval 86"/>
              <p:cNvSpPr>
                <a:spLocks noChangeArrowheads="1"/>
              </p:cNvSpPr>
              <p:nvPr/>
            </p:nvSpPr>
            <p:spPr bwMode="auto">
              <a:xfrm flipH="1">
                <a:off x="487" y="899"/>
                <a:ext cx="404" cy="390"/>
              </a:xfrm>
              <a:prstGeom prst="ellipse">
                <a:avLst/>
              </a:prstGeom>
              <a:noFill/>
              <a:ln w="25400">
                <a:solidFill>
                  <a:schemeClr val="bg1"/>
                </a:solidFill>
                <a:round/>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807" name="Freeform 87"/>
              <p:cNvSpPr>
                <a:spLocks/>
              </p:cNvSpPr>
              <p:nvPr/>
            </p:nvSpPr>
            <p:spPr bwMode="auto">
              <a:xfrm flipH="1">
                <a:off x="422" y="1325"/>
                <a:ext cx="643" cy="400"/>
              </a:xfrm>
              <a:custGeom>
                <a:avLst/>
                <a:gdLst>
                  <a:gd name="T0" fmla="*/ 787 w 1716"/>
                  <a:gd name="T1" fmla="*/ 38 h 1261"/>
                  <a:gd name="T2" fmla="*/ 853 w 1716"/>
                  <a:gd name="T3" fmla="*/ 76 h 1261"/>
                  <a:gd name="T4" fmla="*/ 881 w 1716"/>
                  <a:gd name="T5" fmla="*/ 104 h 1261"/>
                  <a:gd name="T6" fmla="*/ 966 w 1716"/>
                  <a:gd name="T7" fmla="*/ 142 h 1261"/>
                  <a:gd name="T8" fmla="*/ 1127 w 1716"/>
                  <a:gd name="T9" fmla="*/ 132 h 1261"/>
                  <a:gd name="T10" fmla="*/ 1174 w 1716"/>
                  <a:gd name="T11" fmla="*/ 85 h 1261"/>
                  <a:gd name="T12" fmla="*/ 1230 w 1716"/>
                  <a:gd name="T13" fmla="*/ 47 h 1261"/>
                  <a:gd name="T14" fmla="*/ 1363 w 1716"/>
                  <a:gd name="T15" fmla="*/ 9 h 1261"/>
                  <a:gd name="T16" fmla="*/ 1495 w 1716"/>
                  <a:gd name="T17" fmla="*/ 19 h 1261"/>
                  <a:gd name="T18" fmla="*/ 1561 w 1716"/>
                  <a:gd name="T19" fmla="*/ 151 h 1261"/>
                  <a:gd name="T20" fmla="*/ 1589 w 1716"/>
                  <a:gd name="T21" fmla="*/ 425 h 1261"/>
                  <a:gd name="T22" fmla="*/ 1618 w 1716"/>
                  <a:gd name="T23" fmla="*/ 585 h 1261"/>
                  <a:gd name="T24" fmla="*/ 1646 w 1716"/>
                  <a:gd name="T25" fmla="*/ 793 h 1261"/>
                  <a:gd name="T26" fmla="*/ 1703 w 1716"/>
                  <a:gd name="T27" fmla="*/ 1020 h 1261"/>
                  <a:gd name="T28" fmla="*/ 1712 w 1716"/>
                  <a:gd name="T29" fmla="*/ 1058 h 1261"/>
                  <a:gd name="T30" fmla="*/ 1684 w 1716"/>
                  <a:gd name="T31" fmla="*/ 1076 h 1261"/>
                  <a:gd name="T32" fmla="*/ 1561 w 1716"/>
                  <a:gd name="T33" fmla="*/ 1086 h 1261"/>
                  <a:gd name="T34" fmla="*/ 1372 w 1716"/>
                  <a:gd name="T35" fmla="*/ 500 h 1261"/>
                  <a:gd name="T36" fmla="*/ 1334 w 1716"/>
                  <a:gd name="T37" fmla="*/ 406 h 1261"/>
                  <a:gd name="T38" fmla="*/ 1334 w 1716"/>
                  <a:gd name="T39" fmla="*/ 1228 h 1261"/>
                  <a:gd name="T40" fmla="*/ 1230 w 1716"/>
                  <a:gd name="T41" fmla="*/ 1218 h 1261"/>
                  <a:gd name="T42" fmla="*/ 985 w 1716"/>
                  <a:gd name="T43" fmla="*/ 1143 h 1261"/>
                  <a:gd name="T44" fmla="*/ 560 w 1716"/>
                  <a:gd name="T45" fmla="*/ 1143 h 1261"/>
                  <a:gd name="T46" fmla="*/ 569 w 1716"/>
                  <a:gd name="T47" fmla="*/ 1114 h 1261"/>
                  <a:gd name="T48" fmla="*/ 607 w 1716"/>
                  <a:gd name="T49" fmla="*/ 519 h 1261"/>
                  <a:gd name="T50" fmla="*/ 598 w 1716"/>
                  <a:gd name="T51" fmla="*/ 425 h 1261"/>
                  <a:gd name="T52" fmla="*/ 560 w 1716"/>
                  <a:gd name="T53" fmla="*/ 491 h 1261"/>
                  <a:gd name="T54" fmla="*/ 447 w 1716"/>
                  <a:gd name="T55" fmla="*/ 614 h 1261"/>
                  <a:gd name="T56" fmla="*/ 418 w 1716"/>
                  <a:gd name="T57" fmla="*/ 642 h 1261"/>
                  <a:gd name="T58" fmla="*/ 305 w 1716"/>
                  <a:gd name="T59" fmla="*/ 822 h 1261"/>
                  <a:gd name="T60" fmla="*/ 229 w 1716"/>
                  <a:gd name="T61" fmla="*/ 954 h 1261"/>
                  <a:gd name="T62" fmla="*/ 154 w 1716"/>
                  <a:gd name="T63" fmla="*/ 925 h 1261"/>
                  <a:gd name="T64" fmla="*/ 144 w 1716"/>
                  <a:gd name="T65" fmla="*/ 897 h 1261"/>
                  <a:gd name="T66" fmla="*/ 116 w 1716"/>
                  <a:gd name="T67" fmla="*/ 878 h 1261"/>
                  <a:gd name="T68" fmla="*/ 88 w 1716"/>
                  <a:gd name="T69" fmla="*/ 850 h 1261"/>
                  <a:gd name="T70" fmla="*/ 22 w 1716"/>
                  <a:gd name="T71" fmla="*/ 812 h 1261"/>
                  <a:gd name="T72" fmla="*/ 3 w 1716"/>
                  <a:gd name="T73" fmla="*/ 774 h 1261"/>
                  <a:gd name="T74" fmla="*/ 41 w 1716"/>
                  <a:gd name="T75" fmla="*/ 718 h 1261"/>
                  <a:gd name="T76" fmla="*/ 211 w 1716"/>
                  <a:gd name="T77" fmla="*/ 557 h 1261"/>
                  <a:gd name="T78" fmla="*/ 296 w 1716"/>
                  <a:gd name="T79" fmla="*/ 415 h 1261"/>
                  <a:gd name="T80" fmla="*/ 390 w 1716"/>
                  <a:gd name="T81" fmla="*/ 330 h 1261"/>
                  <a:gd name="T82" fmla="*/ 541 w 1716"/>
                  <a:gd name="T83" fmla="*/ 151 h 1261"/>
                  <a:gd name="T84" fmla="*/ 617 w 1716"/>
                  <a:gd name="T85" fmla="*/ 47 h 1261"/>
                  <a:gd name="T86" fmla="*/ 711 w 1716"/>
                  <a:gd name="T87" fmla="*/ 0 h 1261"/>
                  <a:gd name="T88" fmla="*/ 758 w 1716"/>
                  <a:gd name="T89" fmla="*/ 9 h 1261"/>
                  <a:gd name="T90" fmla="*/ 787 w 1716"/>
                  <a:gd name="T91" fmla="*/ 38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16" h="1261">
                    <a:moveTo>
                      <a:pt x="787" y="38"/>
                    </a:moveTo>
                    <a:cubicBezTo>
                      <a:pt x="808" y="52"/>
                      <a:pt x="832" y="61"/>
                      <a:pt x="853" y="76"/>
                    </a:cubicBezTo>
                    <a:cubicBezTo>
                      <a:pt x="864" y="84"/>
                      <a:pt x="871" y="96"/>
                      <a:pt x="881" y="104"/>
                    </a:cubicBezTo>
                    <a:cubicBezTo>
                      <a:pt x="907" y="125"/>
                      <a:pt x="935" y="131"/>
                      <a:pt x="966" y="142"/>
                    </a:cubicBezTo>
                    <a:cubicBezTo>
                      <a:pt x="1020" y="139"/>
                      <a:pt x="1074" y="140"/>
                      <a:pt x="1127" y="132"/>
                    </a:cubicBezTo>
                    <a:cubicBezTo>
                      <a:pt x="1158" y="127"/>
                      <a:pt x="1155" y="102"/>
                      <a:pt x="1174" y="85"/>
                    </a:cubicBezTo>
                    <a:cubicBezTo>
                      <a:pt x="1191" y="70"/>
                      <a:pt x="1211" y="60"/>
                      <a:pt x="1230" y="47"/>
                    </a:cubicBezTo>
                    <a:cubicBezTo>
                      <a:pt x="1268" y="21"/>
                      <a:pt x="1363" y="9"/>
                      <a:pt x="1363" y="9"/>
                    </a:cubicBezTo>
                    <a:cubicBezTo>
                      <a:pt x="1407" y="12"/>
                      <a:pt x="1453" y="6"/>
                      <a:pt x="1495" y="19"/>
                    </a:cubicBezTo>
                    <a:cubicBezTo>
                      <a:pt x="1515" y="25"/>
                      <a:pt x="1554" y="130"/>
                      <a:pt x="1561" y="151"/>
                    </a:cubicBezTo>
                    <a:cubicBezTo>
                      <a:pt x="1573" y="242"/>
                      <a:pt x="1577" y="334"/>
                      <a:pt x="1589" y="425"/>
                    </a:cubicBezTo>
                    <a:cubicBezTo>
                      <a:pt x="1596" y="479"/>
                      <a:pt x="1612" y="531"/>
                      <a:pt x="1618" y="585"/>
                    </a:cubicBezTo>
                    <a:cubicBezTo>
                      <a:pt x="1626" y="654"/>
                      <a:pt x="1623" y="728"/>
                      <a:pt x="1646" y="793"/>
                    </a:cubicBezTo>
                    <a:cubicBezTo>
                      <a:pt x="1656" y="874"/>
                      <a:pt x="1666" y="947"/>
                      <a:pt x="1703" y="1020"/>
                    </a:cubicBezTo>
                    <a:cubicBezTo>
                      <a:pt x="1706" y="1033"/>
                      <a:pt x="1716" y="1046"/>
                      <a:pt x="1712" y="1058"/>
                    </a:cubicBezTo>
                    <a:cubicBezTo>
                      <a:pt x="1708" y="1069"/>
                      <a:pt x="1695" y="1074"/>
                      <a:pt x="1684" y="1076"/>
                    </a:cubicBezTo>
                    <a:cubicBezTo>
                      <a:pt x="1644" y="1083"/>
                      <a:pt x="1602" y="1083"/>
                      <a:pt x="1561" y="1086"/>
                    </a:cubicBezTo>
                    <a:cubicBezTo>
                      <a:pt x="1188" y="1206"/>
                      <a:pt x="1574" y="637"/>
                      <a:pt x="1372" y="500"/>
                    </a:cubicBezTo>
                    <a:cubicBezTo>
                      <a:pt x="1362" y="467"/>
                      <a:pt x="1345" y="438"/>
                      <a:pt x="1334" y="406"/>
                    </a:cubicBezTo>
                    <a:cubicBezTo>
                      <a:pt x="1335" y="463"/>
                      <a:pt x="1358" y="1148"/>
                      <a:pt x="1334" y="1228"/>
                    </a:cubicBezTo>
                    <a:cubicBezTo>
                      <a:pt x="1324" y="1261"/>
                      <a:pt x="1265" y="1222"/>
                      <a:pt x="1230" y="1218"/>
                    </a:cubicBezTo>
                    <a:cubicBezTo>
                      <a:pt x="1144" y="1207"/>
                      <a:pt x="1066" y="1169"/>
                      <a:pt x="985" y="1143"/>
                    </a:cubicBezTo>
                    <a:cubicBezTo>
                      <a:pt x="918" y="1145"/>
                      <a:pt x="647" y="1162"/>
                      <a:pt x="560" y="1143"/>
                    </a:cubicBezTo>
                    <a:cubicBezTo>
                      <a:pt x="550" y="1141"/>
                      <a:pt x="566" y="1124"/>
                      <a:pt x="569" y="1114"/>
                    </a:cubicBezTo>
                    <a:cubicBezTo>
                      <a:pt x="576" y="920"/>
                      <a:pt x="562" y="710"/>
                      <a:pt x="607" y="519"/>
                    </a:cubicBezTo>
                    <a:cubicBezTo>
                      <a:pt x="604" y="488"/>
                      <a:pt x="616" y="451"/>
                      <a:pt x="598" y="425"/>
                    </a:cubicBezTo>
                    <a:cubicBezTo>
                      <a:pt x="584" y="404"/>
                      <a:pt x="561" y="489"/>
                      <a:pt x="560" y="491"/>
                    </a:cubicBezTo>
                    <a:cubicBezTo>
                      <a:pt x="534" y="543"/>
                      <a:pt x="488" y="573"/>
                      <a:pt x="447" y="614"/>
                    </a:cubicBezTo>
                    <a:cubicBezTo>
                      <a:pt x="437" y="624"/>
                      <a:pt x="418" y="642"/>
                      <a:pt x="418" y="642"/>
                    </a:cubicBezTo>
                    <a:cubicBezTo>
                      <a:pt x="386" y="707"/>
                      <a:pt x="341" y="760"/>
                      <a:pt x="305" y="822"/>
                    </a:cubicBezTo>
                    <a:cubicBezTo>
                      <a:pt x="278" y="869"/>
                      <a:pt x="275" y="924"/>
                      <a:pt x="229" y="954"/>
                    </a:cubicBezTo>
                    <a:cubicBezTo>
                      <a:pt x="215" y="949"/>
                      <a:pt x="160" y="930"/>
                      <a:pt x="154" y="925"/>
                    </a:cubicBezTo>
                    <a:cubicBezTo>
                      <a:pt x="146" y="919"/>
                      <a:pt x="150" y="905"/>
                      <a:pt x="144" y="897"/>
                    </a:cubicBezTo>
                    <a:cubicBezTo>
                      <a:pt x="137" y="888"/>
                      <a:pt x="125" y="885"/>
                      <a:pt x="116" y="878"/>
                    </a:cubicBezTo>
                    <a:cubicBezTo>
                      <a:pt x="106" y="870"/>
                      <a:pt x="99" y="858"/>
                      <a:pt x="88" y="850"/>
                    </a:cubicBezTo>
                    <a:cubicBezTo>
                      <a:pt x="67" y="835"/>
                      <a:pt x="43" y="826"/>
                      <a:pt x="22" y="812"/>
                    </a:cubicBezTo>
                    <a:cubicBezTo>
                      <a:pt x="16" y="799"/>
                      <a:pt x="0" y="788"/>
                      <a:pt x="3" y="774"/>
                    </a:cubicBezTo>
                    <a:cubicBezTo>
                      <a:pt x="7" y="752"/>
                      <a:pt x="28" y="737"/>
                      <a:pt x="41" y="718"/>
                    </a:cubicBezTo>
                    <a:cubicBezTo>
                      <a:pt x="80" y="661"/>
                      <a:pt x="156" y="598"/>
                      <a:pt x="211" y="557"/>
                    </a:cubicBezTo>
                    <a:cubicBezTo>
                      <a:pt x="235" y="521"/>
                      <a:pt x="267" y="444"/>
                      <a:pt x="296" y="415"/>
                    </a:cubicBezTo>
                    <a:cubicBezTo>
                      <a:pt x="325" y="386"/>
                      <a:pt x="363" y="357"/>
                      <a:pt x="390" y="330"/>
                    </a:cubicBezTo>
                    <a:cubicBezTo>
                      <a:pt x="445" y="275"/>
                      <a:pt x="475" y="196"/>
                      <a:pt x="541" y="151"/>
                    </a:cubicBezTo>
                    <a:cubicBezTo>
                      <a:pt x="558" y="105"/>
                      <a:pt x="577" y="73"/>
                      <a:pt x="617" y="47"/>
                    </a:cubicBezTo>
                    <a:cubicBezTo>
                      <a:pt x="643" y="6"/>
                      <a:pt x="663" y="9"/>
                      <a:pt x="711" y="0"/>
                    </a:cubicBezTo>
                    <a:cubicBezTo>
                      <a:pt x="727" y="3"/>
                      <a:pt x="745" y="0"/>
                      <a:pt x="758" y="9"/>
                    </a:cubicBezTo>
                    <a:cubicBezTo>
                      <a:pt x="810" y="44"/>
                      <a:pt x="733" y="38"/>
                      <a:pt x="787" y="38"/>
                    </a:cubicBezTo>
                    <a:close/>
                  </a:path>
                </a:pathLst>
              </a:custGeom>
              <a:solidFill>
                <a:srgbClr val="9933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808" name="Freeform 88"/>
              <p:cNvSpPr>
                <a:spLocks/>
              </p:cNvSpPr>
              <p:nvPr/>
            </p:nvSpPr>
            <p:spPr bwMode="auto">
              <a:xfrm flipH="1">
                <a:off x="515" y="1652"/>
                <a:ext cx="366" cy="423"/>
              </a:xfrm>
              <a:custGeom>
                <a:avLst/>
                <a:gdLst>
                  <a:gd name="T0" fmla="*/ 75 w 680"/>
                  <a:gd name="T1" fmla="*/ 83 h 940"/>
                  <a:gd name="T2" fmla="*/ 66 w 680"/>
                  <a:gd name="T3" fmla="*/ 206 h 940"/>
                  <a:gd name="T4" fmla="*/ 56 w 680"/>
                  <a:gd name="T5" fmla="*/ 593 h 940"/>
                  <a:gd name="T6" fmla="*/ 0 w 680"/>
                  <a:gd name="T7" fmla="*/ 848 h 940"/>
                  <a:gd name="T8" fmla="*/ 28 w 680"/>
                  <a:gd name="T9" fmla="*/ 858 h 940"/>
                  <a:gd name="T10" fmla="*/ 293 w 680"/>
                  <a:gd name="T11" fmla="*/ 839 h 940"/>
                  <a:gd name="T12" fmla="*/ 302 w 680"/>
                  <a:gd name="T13" fmla="*/ 773 h 940"/>
                  <a:gd name="T14" fmla="*/ 321 w 680"/>
                  <a:gd name="T15" fmla="*/ 688 h 940"/>
                  <a:gd name="T16" fmla="*/ 330 w 680"/>
                  <a:gd name="T17" fmla="*/ 348 h 940"/>
                  <a:gd name="T18" fmla="*/ 340 w 680"/>
                  <a:gd name="T19" fmla="*/ 376 h 940"/>
                  <a:gd name="T20" fmla="*/ 349 w 680"/>
                  <a:gd name="T21" fmla="*/ 471 h 940"/>
                  <a:gd name="T22" fmla="*/ 368 w 680"/>
                  <a:gd name="T23" fmla="*/ 612 h 940"/>
                  <a:gd name="T24" fmla="*/ 377 w 680"/>
                  <a:gd name="T25" fmla="*/ 924 h 940"/>
                  <a:gd name="T26" fmla="*/ 491 w 680"/>
                  <a:gd name="T27" fmla="*/ 905 h 940"/>
                  <a:gd name="T28" fmla="*/ 547 w 680"/>
                  <a:gd name="T29" fmla="*/ 886 h 940"/>
                  <a:gd name="T30" fmla="*/ 680 w 680"/>
                  <a:gd name="T31" fmla="*/ 886 h 940"/>
                  <a:gd name="T32" fmla="*/ 623 w 680"/>
                  <a:gd name="T33" fmla="*/ 659 h 940"/>
                  <a:gd name="T34" fmla="*/ 557 w 680"/>
                  <a:gd name="T35" fmla="*/ 168 h 940"/>
                  <a:gd name="T36" fmla="*/ 481 w 680"/>
                  <a:gd name="T37" fmla="*/ 46 h 940"/>
                  <a:gd name="T38" fmla="*/ 170 w 680"/>
                  <a:gd name="T39" fmla="*/ 27 h 940"/>
                  <a:gd name="T40" fmla="*/ 94 w 680"/>
                  <a:gd name="T41" fmla="*/ 55 h 940"/>
                  <a:gd name="T42" fmla="*/ 75 w 680"/>
                  <a:gd name="T43" fmla="*/ 83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80" h="940">
                    <a:moveTo>
                      <a:pt x="75" y="83"/>
                    </a:moveTo>
                    <a:cubicBezTo>
                      <a:pt x="72" y="124"/>
                      <a:pt x="68" y="165"/>
                      <a:pt x="66" y="206"/>
                    </a:cubicBezTo>
                    <a:cubicBezTo>
                      <a:pt x="61" y="335"/>
                      <a:pt x="62" y="464"/>
                      <a:pt x="56" y="593"/>
                    </a:cubicBezTo>
                    <a:cubicBezTo>
                      <a:pt x="52" y="675"/>
                      <a:pt x="19" y="767"/>
                      <a:pt x="0" y="848"/>
                    </a:cubicBezTo>
                    <a:cubicBezTo>
                      <a:pt x="9" y="851"/>
                      <a:pt x="18" y="858"/>
                      <a:pt x="28" y="858"/>
                    </a:cubicBezTo>
                    <a:cubicBezTo>
                      <a:pt x="117" y="855"/>
                      <a:pt x="208" y="865"/>
                      <a:pt x="293" y="839"/>
                    </a:cubicBezTo>
                    <a:cubicBezTo>
                      <a:pt x="314" y="832"/>
                      <a:pt x="298" y="795"/>
                      <a:pt x="302" y="773"/>
                    </a:cubicBezTo>
                    <a:cubicBezTo>
                      <a:pt x="307" y="744"/>
                      <a:pt x="315" y="716"/>
                      <a:pt x="321" y="688"/>
                    </a:cubicBezTo>
                    <a:cubicBezTo>
                      <a:pt x="324" y="575"/>
                      <a:pt x="323" y="461"/>
                      <a:pt x="330" y="348"/>
                    </a:cubicBezTo>
                    <a:cubicBezTo>
                      <a:pt x="331" y="338"/>
                      <a:pt x="338" y="366"/>
                      <a:pt x="340" y="376"/>
                    </a:cubicBezTo>
                    <a:cubicBezTo>
                      <a:pt x="345" y="407"/>
                      <a:pt x="346" y="439"/>
                      <a:pt x="349" y="471"/>
                    </a:cubicBezTo>
                    <a:cubicBezTo>
                      <a:pt x="359" y="574"/>
                      <a:pt x="354" y="538"/>
                      <a:pt x="368" y="612"/>
                    </a:cubicBezTo>
                    <a:cubicBezTo>
                      <a:pt x="371" y="716"/>
                      <a:pt x="346" y="825"/>
                      <a:pt x="377" y="924"/>
                    </a:cubicBezTo>
                    <a:cubicBezTo>
                      <a:pt x="382" y="940"/>
                      <a:pt x="467" y="913"/>
                      <a:pt x="491" y="905"/>
                    </a:cubicBezTo>
                    <a:cubicBezTo>
                      <a:pt x="510" y="899"/>
                      <a:pt x="547" y="886"/>
                      <a:pt x="547" y="886"/>
                    </a:cubicBezTo>
                    <a:cubicBezTo>
                      <a:pt x="620" y="900"/>
                      <a:pt x="605" y="911"/>
                      <a:pt x="680" y="886"/>
                    </a:cubicBezTo>
                    <a:cubicBezTo>
                      <a:pt x="664" y="809"/>
                      <a:pt x="646" y="735"/>
                      <a:pt x="623" y="659"/>
                    </a:cubicBezTo>
                    <a:cubicBezTo>
                      <a:pt x="616" y="486"/>
                      <a:pt x="604" y="333"/>
                      <a:pt x="557" y="168"/>
                    </a:cubicBezTo>
                    <a:cubicBezTo>
                      <a:pt x="543" y="119"/>
                      <a:pt x="529" y="69"/>
                      <a:pt x="481" y="46"/>
                    </a:cubicBezTo>
                    <a:cubicBezTo>
                      <a:pt x="388" y="0"/>
                      <a:pt x="274" y="30"/>
                      <a:pt x="170" y="27"/>
                    </a:cubicBezTo>
                    <a:cubicBezTo>
                      <a:pt x="144" y="32"/>
                      <a:pt x="113" y="32"/>
                      <a:pt x="94" y="55"/>
                    </a:cubicBezTo>
                    <a:cubicBezTo>
                      <a:pt x="69" y="86"/>
                      <a:pt x="100" y="83"/>
                      <a:pt x="75" y="83"/>
                    </a:cubicBezTo>
                    <a:close/>
                  </a:path>
                </a:pathLst>
              </a:custGeom>
              <a:solidFill>
                <a:srgbClr val="0033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809" name="Oval 89"/>
              <p:cNvSpPr>
                <a:spLocks noChangeArrowheads="1"/>
              </p:cNvSpPr>
              <p:nvPr/>
            </p:nvSpPr>
            <p:spPr bwMode="auto">
              <a:xfrm flipH="1">
                <a:off x="641" y="1090"/>
                <a:ext cx="48" cy="51"/>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810" name="Oval 90"/>
              <p:cNvSpPr>
                <a:spLocks noChangeArrowheads="1"/>
              </p:cNvSpPr>
              <p:nvPr/>
            </p:nvSpPr>
            <p:spPr bwMode="auto">
              <a:xfrm>
                <a:off x="510" y="930"/>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811" name="Oval 91"/>
              <p:cNvSpPr>
                <a:spLocks noChangeArrowheads="1"/>
              </p:cNvSpPr>
              <p:nvPr/>
            </p:nvSpPr>
            <p:spPr bwMode="auto">
              <a:xfrm>
                <a:off x="666" y="870"/>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812" name="Oval 92"/>
              <p:cNvSpPr>
                <a:spLocks noChangeArrowheads="1"/>
              </p:cNvSpPr>
              <p:nvPr/>
            </p:nvSpPr>
            <p:spPr bwMode="auto">
              <a:xfrm>
                <a:off x="816" y="954"/>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813" name="Oval 93"/>
              <p:cNvSpPr>
                <a:spLocks noChangeArrowheads="1"/>
              </p:cNvSpPr>
              <p:nvPr/>
            </p:nvSpPr>
            <p:spPr bwMode="auto">
              <a:xfrm>
                <a:off x="858" y="1122"/>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814" name="Oval 94"/>
              <p:cNvSpPr>
                <a:spLocks noChangeArrowheads="1"/>
              </p:cNvSpPr>
              <p:nvPr/>
            </p:nvSpPr>
            <p:spPr bwMode="auto">
              <a:xfrm>
                <a:off x="450" y="1086"/>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815" name="Oval 95"/>
              <p:cNvSpPr>
                <a:spLocks noChangeArrowheads="1"/>
              </p:cNvSpPr>
              <p:nvPr/>
            </p:nvSpPr>
            <p:spPr bwMode="auto">
              <a:xfrm>
                <a:off x="522" y="1212"/>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816" name="Oval 96"/>
              <p:cNvSpPr>
                <a:spLocks noChangeArrowheads="1"/>
              </p:cNvSpPr>
              <p:nvPr/>
            </p:nvSpPr>
            <p:spPr bwMode="auto">
              <a:xfrm>
                <a:off x="774" y="1230"/>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30817" name="Text Box 97"/>
            <p:cNvSpPr txBox="1">
              <a:spLocks noChangeArrowheads="1"/>
            </p:cNvSpPr>
            <p:nvPr/>
          </p:nvSpPr>
          <p:spPr bwMode="auto">
            <a:xfrm>
              <a:off x="540" y="2964"/>
              <a:ext cx="2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t>Cl</a:t>
              </a:r>
            </a:p>
          </p:txBody>
        </p:sp>
        <p:sp>
          <p:nvSpPr>
            <p:cNvPr id="30827" name="Oval 107"/>
            <p:cNvSpPr>
              <a:spLocks noChangeArrowheads="1"/>
            </p:cNvSpPr>
            <p:nvPr/>
          </p:nvSpPr>
          <p:spPr bwMode="auto">
            <a:xfrm flipH="1">
              <a:off x="848" y="3030"/>
              <a:ext cx="60" cy="6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30830" name="Group 110"/>
          <p:cNvGrpSpPr>
            <a:grpSpLocks/>
          </p:cNvGrpSpPr>
          <p:nvPr/>
        </p:nvGrpSpPr>
        <p:grpSpPr bwMode="auto">
          <a:xfrm>
            <a:off x="2644775" y="4437063"/>
            <a:ext cx="1182688" cy="1995487"/>
            <a:chOff x="1666" y="2903"/>
            <a:chExt cx="745" cy="1257"/>
          </a:xfrm>
        </p:grpSpPr>
        <p:sp>
          <p:nvSpPr>
            <p:cNvPr id="30819" name="Freeform 99"/>
            <p:cNvSpPr>
              <a:spLocks/>
            </p:cNvSpPr>
            <p:nvPr/>
          </p:nvSpPr>
          <p:spPr bwMode="auto">
            <a:xfrm flipH="1">
              <a:off x="2105" y="4028"/>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820" name="Freeform 100"/>
            <p:cNvSpPr>
              <a:spLocks/>
            </p:cNvSpPr>
            <p:nvPr/>
          </p:nvSpPr>
          <p:spPr bwMode="auto">
            <a:xfrm>
              <a:off x="1785" y="4023"/>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821" name="Freeform 101"/>
            <p:cNvSpPr>
              <a:spLocks/>
            </p:cNvSpPr>
            <p:nvPr/>
          </p:nvSpPr>
          <p:spPr bwMode="auto">
            <a:xfrm>
              <a:off x="2234" y="3651"/>
              <a:ext cx="158" cy="126"/>
            </a:xfrm>
            <a:custGeom>
              <a:avLst/>
              <a:gdLst>
                <a:gd name="T0" fmla="*/ 213 w 294"/>
                <a:gd name="T1" fmla="*/ 0 h 279"/>
                <a:gd name="T2" fmla="*/ 270 w 294"/>
                <a:gd name="T3" fmla="*/ 76 h 279"/>
                <a:gd name="T4" fmla="*/ 270 w 294"/>
                <a:gd name="T5" fmla="*/ 161 h 279"/>
                <a:gd name="T6" fmla="*/ 232 w 294"/>
                <a:gd name="T7" fmla="*/ 151 h 279"/>
                <a:gd name="T8" fmla="*/ 241 w 294"/>
                <a:gd name="T9" fmla="*/ 199 h 279"/>
                <a:gd name="T10" fmla="*/ 232 w 294"/>
                <a:gd name="T11" fmla="*/ 265 h 279"/>
                <a:gd name="T12" fmla="*/ 203 w 294"/>
                <a:gd name="T13" fmla="*/ 274 h 279"/>
                <a:gd name="T14" fmla="*/ 194 w 294"/>
                <a:gd name="T15" fmla="*/ 246 h 279"/>
                <a:gd name="T16" fmla="*/ 166 w 294"/>
                <a:gd name="T17" fmla="*/ 132 h 279"/>
                <a:gd name="T18" fmla="*/ 118 w 294"/>
                <a:gd name="T19" fmla="*/ 265 h 279"/>
                <a:gd name="T20" fmla="*/ 90 w 294"/>
                <a:gd name="T21" fmla="*/ 255 h 279"/>
                <a:gd name="T22" fmla="*/ 81 w 294"/>
                <a:gd name="T23" fmla="*/ 132 h 279"/>
                <a:gd name="T24" fmla="*/ 90 w 294"/>
                <a:gd name="T25" fmla="*/ 161 h 279"/>
                <a:gd name="T26" fmla="*/ 24 w 294"/>
                <a:gd name="T27" fmla="*/ 217 h 279"/>
                <a:gd name="T28" fmla="*/ 5 w 294"/>
                <a:gd name="T29" fmla="*/ 180 h 279"/>
                <a:gd name="T30" fmla="*/ 81 w 294"/>
                <a:gd name="T31" fmla="*/ 29 h 279"/>
                <a:gd name="T32" fmla="*/ 213 w 294"/>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4" h="279">
                  <a:moveTo>
                    <a:pt x="213" y="0"/>
                  </a:moveTo>
                  <a:cubicBezTo>
                    <a:pt x="226" y="42"/>
                    <a:pt x="246" y="39"/>
                    <a:pt x="270" y="76"/>
                  </a:cubicBezTo>
                  <a:cubicBezTo>
                    <a:pt x="278" y="101"/>
                    <a:pt x="294" y="137"/>
                    <a:pt x="270" y="161"/>
                  </a:cubicBezTo>
                  <a:cubicBezTo>
                    <a:pt x="261" y="170"/>
                    <a:pt x="245" y="154"/>
                    <a:pt x="232" y="151"/>
                  </a:cubicBezTo>
                  <a:cubicBezTo>
                    <a:pt x="204" y="73"/>
                    <a:pt x="236" y="184"/>
                    <a:pt x="241" y="199"/>
                  </a:cubicBezTo>
                  <a:cubicBezTo>
                    <a:pt x="238" y="221"/>
                    <a:pt x="242" y="245"/>
                    <a:pt x="232" y="265"/>
                  </a:cubicBezTo>
                  <a:cubicBezTo>
                    <a:pt x="227" y="274"/>
                    <a:pt x="212" y="279"/>
                    <a:pt x="203" y="274"/>
                  </a:cubicBezTo>
                  <a:cubicBezTo>
                    <a:pt x="194" y="270"/>
                    <a:pt x="197" y="255"/>
                    <a:pt x="194" y="246"/>
                  </a:cubicBezTo>
                  <a:cubicBezTo>
                    <a:pt x="184" y="208"/>
                    <a:pt x="178" y="170"/>
                    <a:pt x="166" y="132"/>
                  </a:cubicBezTo>
                  <a:cubicBezTo>
                    <a:pt x="158" y="198"/>
                    <a:pt x="170" y="231"/>
                    <a:pt x="118" y="265"/>
                  </a:cubicBezTo>
                  <a:cubicBezTo>
                    <a:pt x="109" y="262"/>
                    <a:pt x="93" y="265"/>
                    <a:pt x="90" y="255"/>
                  </a:cubicBezTo>
                  <a:cubicBezTo>
                    <a:pt x="79" y="215"/>
                    <a:pt x="81" y="173"/>
                    <a:pt x="81" y="132"/>
                  </a:cubicBezTo>
                  <a:cubicBezTo>
                    <a:pt x="81" y="122"/>
                    <a:pt x="87" y="151"/>
                    <a:pt x="90" y="161"/>
                  </a:cubicBezTo>
                  <a:cubicBezTo>
                    <a:pt x="76" y="204"/>
                    <a:pt x="61" y="193"/>
                    <a:pt x="24" y="217"/>
                  </a:cubicBezTo>
                  <a:cubicBezTo>
                    <a:pt x="18" y="205"/>
                    <a:pt x="7" y="194"/>
                    <a:pt x="5" y="180"/>
                  </a:cubicBezTo>
                  <a:cubicBezTo>
                    <a:pt x="0" y="137"/>
                    <a:pt x="43" y="54"/>
                    <a:pt x="81" y="29"/>
                  </a:cubicBezTo>
                  <a:cubicBezTo>
                    <a:pt x="118" y="4"/>
                    <a:pt x="171" y="15"/>
                    <a:pt x="213"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822" name="Freeform 102"/>
            <p:cNvSpPr>
              <a:spLocks/>
            </p:cNvSpPr>
            <p:nvPr/>
          </p:nvSpPr>
          <p:spPr bwMode="auto">
            <a:xfrm>
              <a:off x="1666" y="3574"/>
              <a:ext cx="150" cy="136"/>
            </a:xfrm>
            <a:custGeom>
              <a:avLst/>
              <a:gdLst>
                <a:gd name="T0" fmla="*/ 147 w 279"/>
                <a:gd name="T1" fmla="*/ 0 h 302"/>
                <a:gd name="T2" fmla="*/ 33 w 279"/>
                <a:gd name="T3" fmla="*/ 47 h 302"/>
                <a:gd name="T4" fmla="*/ 62 w 279"/>
                <a:gd name="T5" fmla="*/ 113 h 302"/>
                <a:gd name="T6" fmla="*/ 43 w 279"/>
                <a:gd name="T7" fmla="*/ 142 h 302"/>
                <a:gd name="T8" fmla="*/ 15 w 279"/>
                <a:gd name="T9" fmla="*/ 160 h 302"/>
                <a:gd name="T10" fmla="*/ 90 w 279"/>
                <a:gd name="T11" fmla="*/ 208 h 302"/>
                <a:gd name="T12" fmla="*/ 100 w 279"/>
                <a:gd name="T13" fmla="*/ 236 h 302"/>
                <a:gd name="T14" fmla="*/ 166 w 279"/>
                <a:gd name="T15" fmla="*/ 264 h 302"/>
                <a:gd name="T16" fmla="*/ 185 w 279"/>
                <a:gd name="T17" fmla="*/ 283 h 302"/>
                <a:gd name="T18" fmla="*/ 213 w 279"/>
                <a:gd name="T19" fmla="*/ 302 h 302"/>
                <a:gd name="T20" fmla="*/ 269 w 279"/>
                <a:gd name="T21" fmla="*/ 227 h 302"/>
                <a:gd name="T22" fmla="*/ 260 w 279"/>
                <a:gd name="T23" fmla="*/ 28 h 302"/>
                <a:gd name="T24" fmla="*/ 147 w 279"/>
                <a:gd name="T25"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9" h="302">
                  <a:moveTo>
                    <a:pt x="147" y="0"/>
                  </a:moveTo>
                  <a:cubicBezTo>
                    <a:pt x="107" y="12"/>
                    <a:pt x="74" y="34"/>
                    <a:pt x="33" y="47"/>
                  </a:cubicBezTo>
                  <a:cubicBezTo>
                    <a:pt x="19" y="91"/>
                    <a:pt x="16" y="99"/>
                    <a:pt x="62" y="113"/>
                  </a:cubicBezTo>
                  <a:cubicBezTo>
                    <a:pt x="56" y="123"/>
                    <a:pt x="51" y="134"/>
                    <a:pt x="43" y="142"/>
                  </a:cubicBezTo>
                  <a:cubicBezTo>
                    <a:pt x="35" y="150"/>
                    <a:pt x="19" y="150"/>
                    <a:pt x="15" y="160"/>
                  </a:cubicBezTo>
                  <a:cubicBezTo>
                    <a:pt x="0" y="198"/>
                    <a:pt x="74" y="204"/>
                    <a:pt x="90" y="208"/>
                  </a:cubicBezTo>
                  <a:cubicBezTo>
                    <a:pt x="116" y="134"/>
                    <a:pt x="105" y="219"/>
                    <a:pt x="100" y="236"/>
                  </a:cubicBezTo>
                  <a:cubicBezTo>
                    <a:pt x="113" y="291"/>
                    <a:pt x="118" y="296"/>
                    <a:pt x="166" y="264"/>
                  </a:cubicBezTo>
                  <a:cubicBezTo>
                    <a:pt x="184" y="189"/>
                    <a:pt x="165" y="244"/>
                    <a:pt x="185" y="283"/>
                  </a:cubicBezTo>
                  <a:cubicBezTo>
                    <a:pt x="190" y="293"/>
                    <a:pt x="204" y="296"/>
                    <a:pt x="213" y="302"/>
                  </a:cubicBezTo>
                  <a:cubicBezTo>
                    <a:pt x="271" y="288"/>
                    <a:pt x="256" y="282"/>
                    <a:pt x="269" y="227"/>
                  </a:cubicBezTo>
                  <a:cubicBezTo>
                    <a:pt x="266" y="161"/>
                    <a:pt x="279" y="92"/>
                    <a:pt x="260" y="28"/>
                  </a:cubicBezTo>
                  <a:cubicBezTo>
                    <a:pt x="254" y="9"/>
                    <a:pt x="171" y="0"/>
                    <a:pt x="147"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823" name="Freeform 103"/>
            <p:cNvSpPr>
              <a:spLocks/>
            </p:cNvSpPr>
            <p:nvPr/>
          </p:nvSpPr>
          <p:spPr bwMode="auto">
            <a:xfrm>
              <a:off x="2021" y="3274"/>
              <a:ext cx="170" cy="124"/>
            </a:xfrm>
            <a:custGeom>
              <a:avLst/>
              <a:gdLst>
                <a:gd name="T0" fmla="*/ 9 w 453"/>
                <a:gd name="T1" fmla="*/ 212 h 392"/>
                <a:gd name="T2" fmla="*/ 66 w 453"/>
                <a:gd name="T3" fmla="*/ 174 h 392"/>
                <a:gd name="T4" fmla="*/ 104 w 453"/>
                <a:gd name="T5" fmla="*/ 61 h 392"/>
                <a:gd name="T6" fmla="*/ 132 w 453"/>
                <a:gd name="T7" fmla="*/ 51 h 392"/>
                <a:gd name="T8" fmla="*/ 198 w 453"/>
                <a:gd name="T9" fmla="*/ 42 h 392"/>
                <a:gd name="T10" fmla="*/ 377 w 453"/>
                <a:gd name="T11" fmla="*/ 51 h 392"/>
                <a:gd name="T12" fmla="*/ 425 w 453"/>
                <a:gd name="T13" fmla="*/ 165 h 392"/>
                <a:gd name="T14" fmla="*/ 453 w 453"/>
                <a:gd name="T15" fmla="*/ 259 h 392"/>
                <a:gd name="T16" fmla="*/ 425 w 453"/>
                <a:gd name="T17" fmla="*/ 353 h 392"/>
                <a:gd name="T18" fmla="*/ 330 w 453"/>
                <a:gd name="T19" fmla="*/ 382 h 392"/>
                <a:gd name="T20" fmla="*/ 113 w 453"/>
                <a:gd name="T21" fmla="*/ 344 h 392"/>
                <a:gd name="T22" fmla="*/ 104 w 453"/>
                <a:gd name="T23" fmla="*/ 316 h 392"/>
                <a:gd name="T24" fmla="*/ 47 w 453"/>
                <a:gd name="T25" fmla="*/ 278 h 392"/>
                <a:gd name="T26" fmla="*/ 37 w 453"/>
                <a:gd name="T27" fmla="*/ 250 h 392"/>
                <a:gd name="T28" fmla="*/ 9 w 453"/>
                <a:gd name="T29" fmla="*/ 21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3" h="392">
                  <a:moveTo>
                    <a:pt x="9" y="212"/>
                  </a:moveTo>
                  <a:cubicBezTo>
                    <a:pt x="28" y="199"/>
                    <a:pt x="47" y="187"/>
                    <a:pt x="66" y="174"/>
                  </a:cubicBezTo>
                  <a:cubicBezTo>
                    <a:pt x="77" y="167"/>
                    <a:pt x="97" y="81"/>
                    <a:pt x="104" y="61"/>
                  </a:cubicBezTo>
                  <a:cubicBezTo>
                    <a:pt x="107" y="52"/>
                    <a:pt x="122" y="53"/>
                    <a:pt x="132" y="51"/>
                  </a:cubicBezTo>
                  <a:cubicBezTo>
                    <a:pt x="154" y="47"/>
                    <a:pt x="176" y="45"/>
                    <a:pt x="198" y="42"/>
                  </a:cubicBezTo>
                  <a:cubicBezTo>
                    <a:pt x="263" y="19"/>
                    <a:pt x="326" y="0"/>
                    <a:pt x="377" y="51"/>
                  </a:cubicBezTo>
                  <a:cubicBezTo>
                    <a:pt x="392" y="95"/>
                    <a:pt x="400" y="127"/>
                    <a:pt x="425" y="165"/>
                  </a:cubicBezTo>
                  <a:cubicBezTo>
                    <a:pt x="447" y="233"/>
                    <a:pt x="438" y="202"/>
                    <a:pt x="453" y="259"/>
                  </a:cubicBezTo>
                  <a:cubicBezTo>
                    <a:pt x="450" y="271"/>
                    <a:pt x="429" y="352"/>
                    <a:pt x="425" y="353"/>
                  </a:cubicBezTo>
                  <a:cubicBezTo>
                    <a:pt x="356" y="376"/>
                    <a:pt x="387" y="367"/>
                    <a:pt x="330" y="382"/>
                  </a:cubicBezTo>
                  <a:cubicBezTo>
                    <a:pt x="229" y="376"/>
                    <a:pt x="184" y="392"/>
                    <a:pt x="113" y="344"/>
                  </a:cubicBezTo>
                  <a:cubicBezTo>
                    <a:pt x="110" y="335"/>
                    <a:pt x="111" y="323"/>
                    <a:pt x="104" y="316"/>
                  </a:cubicBezTo>
                  <a:cubicBezTo>
                    <a:pt x="88" y="300"/>
                    <a:pt x="47" y="278"/>
                    <a:pt x="47" y="278"/>
                  </a:cubicBezTo>
                  <a:cubicBezTo>
                    <a:pt x="44" y="269"/>
                    <a:pt x="44" y="257"/>
                    <a:pt x="37" y="250"/>
                  </a:cubicBezTo>
                  <a:cubicBezTo>
                    <a:pt x="0" y="213"/>
                    <a:pt x="9" y="272"/>
                    <a:pt x="9" y="212"/>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824" name="Oval 104"/>
            <p:cNvSpPr>
              <a:spLocks noChangeArrowheads="1"/>
            </p:cNvSpPr>
            <p:nvPr/>
          </p:nvSpPr>
          <p:spPr bwMode="auto">
            <a:xfrm>
              <a:off x="1907" y="2903"/>
              <a:ext cx="404" cy="390"/>
            </a:xfrm>
            <a:prstGeom prst="ellipse">
              <a:avLst/>
            </a:prstGeom>
            <a:noFill/>
            <a:ln w="25400">
              <a:solidFill>
                <a:schemeClr val="bg1"/>
              </a:solidFill>
              <a:round/>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825" name="Freeform 105"/>
            <p:cNvSpPr>
              <a:spLocks/>
            </p:cNvSpPr>
            <p:nvPr/>
          </p:nvSpPr>
          <p:spPr bwMode="auto">
            <a:xfrm>
              <a:off x="1733" y="3329"/>
              <a:ext cx="643" cy="400"/>
            </a:xfrm>
            <a:custGeom>
              <a:avLst/>
              <a:gdLst>
                <a:gd name="T0" fmla="*/ 787 w 1716"/>
                <a:gd name="T1" fmla="*/ 38 h 1261"/>
                <a:gd name="T2" fmla="*/ 853 w 1716"/>
                <a:gd name="T3" fmla="*/ 76 h 1261"/>
                <a:gd name="T4" fmla="*/ 881 w 1716"/>
                <a:gd name="T5" fmla="*/ 104 h 1261"/>
                <a:gd name="T6" fmla="*/ 966 w 1716"/>
                <a:gd name="T7" fmla="*/ 142 h 1261"/>
                <a:gd name="T8" fmla="*/ 1127 w 1716"/>
                <a:gd name="T9" fmla="*/ 132 h 1261"/>
                <a:gd name="T10" fmla="*/ 1174 w 1716"/>
                <a:gd name="T11" fmla="*/ 85 h 1261"/>
                <a:gd name="T12" fmla="*/ 1230 w 1716"/>
                <a:gd name="T13" fmla="*/ 47 h 1261"/>
                <a:gd name="T14" fmla="*/ 1363 w 1716"/>
                <a:gd name="T15" fmla="*/ 9 h 1261"/>
                <a:gd name="T16" fmla="*/ 1495 w 1716"/>
                <a:gd name="T17" fmla="*/ 19 h 1261"/>
                <a:gd name="T18" fmla="*/ 1561 w 1716"/>
                <a:gd name="T19" fmla="*/ 151 h 1261"/>
                <a:gd name="T20" fmla="*/ 1589 w 1716"/>
                <a:gd name="T21" fmla="*/ 425 h 1261"/>
                <a:gd name="T22" fmla="*/ 1618 w 1716"/>
                <a:gd name="T23" fmla="*/ 585 h 1261"/>
                <a:gd name="T24" fmla="*/ 1646 w 1716"/>
                <a:gd name="T25" fmla="*/ 793 h 1261"/>
                <a:gd name="T26" fmla="*/ 1703 w 1716"/>
                <a:gd name="T27" fmla="*/ 1020 h 1261"/>
                <a:gd name="T28" fmla="*/ 1712 w 1716"/>
                <a:gd name="T29" fmla="*/ 1058 h 1261"/>
                <a:gd name="T30" fmla="*/ 1684 w 1716"/>
                <a:gd name="T31" fmla="*/ 1076 h 1261"/>
                <a:gd name="T32" fmla="*/ 1561 w 1716"/>
                <a:gd name="T33" fmla="*/ 1086 h 1261"/>
                <a:gd name="T34" fmla="*/ 1372 w 1716"/>
                <a:gd name="T35" fmla="*/ 500 h 1261"/>
                <a:gd name="T36" fmla="*/ 1334 w 1716"/>
                <a:gd name="T37" fmla="*/ 406 h 1261"/>
                <a:gd name="T38" fmla="*/ 1334 w 1716"/>
                <a:gd name="T39" fmla="*/ 1228 h 1261"/>
                <a:gd name="T40" fmla="*/ 1230 w 1716"/>
                <a:gd name="T41" fmla="*/ 1218 h 1261"/>
                <a:gd name="T42" fmla="*/ 985 w 1716"/>
                <a:gd name="T43" fmla="*/ 1143 h 1261"/>
                <a:gd name="T44" fmla="*/ 560 w 1716"/>
                <a:gd name="T45" fmla="*/ 1143 h 1261"/>
                <a:gd name="T46" fmla="*/ 569 w 1716"/>
                <a:gd name="T47" fmla="*/ 1114 h 1261"/>
                <a:gd name="T48" fmla="*/ 607 w 1716"/>
                <a:gd name="T49" fmla="*/ 519 h 1261"/>
                <a:gd name="T50" fmla="*/ 598 w 1716"/>
                <a:gd name="T51" fmla="*/ 425 h 1261"/>
                <a:gd name="T52" fmla="*/ 560 w 1716"/>
                <a:gd name="T53" fmla="*/ 491 h 1261"/>
                <a:gd name="T54" fmla="*/ 447 w 1716"/>
                <a:gd name="T55" fmla="*/ 614 h 1261"/>
                <a:gd name="T56" fmla="*/ 418 w 1716"/>
                <a:gd name="T57" fmla="*/ 642 h 1261"/>
                <a:gd name="T58" fmla="*/ 305 w 1716"/>
                <a:gd name="T59" fmla="*/ 822 h 1261"/>
                <a:gd name="T60" fmla="*/ 229 w 1716"/>
                <a:gd name="T61" fmla="*/ 954 h 1261"/>
                <a:gd name="T62" fmla="*/ 154 w 1716"/>
                <a:gd name="T63" fmla="*/ 925 h 1261"/>
                <a:gd name="T64" fmla="*/ 144 w 1716"/>
                <a:gd name="T65" fmla="*/ 897 h 1261"/>
                <a:gd name="T66" fmla="*/ 116 w 1716"/>
                <a:gd name="T67" fmla="*/ 878 h 1261"/>
                <a:gd name="T68" fmla="*/ 88 w 1716"/>
                <a:gd name="T69" fmla="*/ 850 h 1261"/>
                <a:gd name="T70" fmla="*/ 22 w 1716"/>
                <a:gd name="T71" fmla="*/ 812 h 1261"/>
                <a:gd name="T72" fmla="*/ 3 w 1716"/>
                <a:gd name="T73" fmla="*/ 774 h 1261"/>
                <a:gd name="T74" fmla="*/ 41 w 1716"/>
                <a:gd name="T75" fmla="*/ 718 h 1261"/>
                <a:gd name="T76" fmla="*/ 211 w 1716"/>
                <a:gd name="T77" fmla="*/ 557 h 1261"/>
                <a:gd name="T78" fmla="*/ 296 w 1716"/>
                <a:gd name="T79" fmla="*/ 415 h 1261"/>
                <a:gd name="T80" fmla="*/ 390 w 1716"/>
                <a:gd name="T81" fmla="*/ 330 h 1261"/>
                <a:gd name="T82" fmla="*/ 541 w 1716"/>
                <a:gd name="T83" fmla="*/ 151 h 1261"/>
                <a:gd name="T84" fmla="*/ 617 w 1716"/>
                <a:gd name="T85" fmla="*/ 47 h 1261"/>
                <a:gd name="T86" fmla="*/ 711 w 1716"/>
                <a:gd name="T87" fmla="*/ 0 h 1261"/>
                <a:gd name="T88" fmla="*/ 758 w 1716"/>
                <a:gd name="T89" fmla="*/ 9 h 1261"/>
                <a:gd name="T90" fmla="*/ 787 w 1716"/>
                <a:gd name="T91" fmla="*/ 38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16" h="1261">
                  <a:moveTo>
                    <a:pt x="787" y="38"/>
                  </a:moveTo>
                  <a:cubicBezTo>
                    <a:pt x="808" y="52"/>
                    <a:pt x="832" y="61"/>
                    <a:pt x="853" y="76"/>
                  </a:cubicBezTo>
                  <a:cubicBezTo>
                    <a:pt x="864" y="84"/>
                    <a:pt x="871" y="96"/>
                    <a:pt x="881" y="104"/>
                  </a:cubicBezTo>
                  <a:cubicBezTo>
                    <a:pt x="907" y="125"/>
                    <a:pt x="935" y="131"/>
                    <a:pt x="966" y="142"/>
                  </a:cubicBezTo>
                  <a:cubicBezTo>
                    <a:pt x="1020" y="139"/>
                    <a:pt x="1074" y="140"/>
                    <a:pt x="1127" y="132"/>
                  </a:cubicBezTo>
                  <a:cubicBezTo>
                    <a:pt x="1158" y="127"/>
                    <a:pt x="1155" y="102"/>
                    <a:pt x="1174" y="85"/>
                  </a:cubicBezTo>
                  <a:cubicBezTo>
                    <a:pt x="1191" y="70"/>
                    <a:pt x="1211" y="60"/>
                    <a:pt x="1230" y="47"/>
                  </a:cubicBezTo>
                  <a:cubicBezTo>
                    <a:pt x="1268" y="21"/>
                    <a:pt x="1363" y="9"/>
                    <a:pt x="1363" y="9"/>
                  </a:cubicBezTo>
                  <a:cubicBezTo>
                    <a:pt x="1407" y="12"/>
                    <a:pt x="1453" y="6"/>
                    <a:pt x="1495" y="19"/>
                  </a:cubicBezTo>
                  <a:cubicBezTo>
                    <a:pt x="1515" y="25"/>
                    <a:pt x="1554" y="130"/>
                    <a:pt x="1561" y="151"/>
                  </a:cubicBezTo>
                  <a:cubicBezTo>
                    <a:pt x="1573" y="242"/>
                    <a:pt x="1577" y="334"/>
                    <a:pt x="1589" y="425"/>
                  </a:cubicBezTo>
                  <a:cubicBezTo>
                    <a:pt x="1596" y="479"/>
                    <a:pt x="1612" y="531"/>
                    <a:pt x="1618" y="585"/>
                  </a:cubicBezTo>
                  <a:cubicBezTo>
                    <a:pt x="1626" y="654"/>
                    <a:pt x="1623" y="728"/>
                    <a:pt x="1646" y="793"/>
                  </a:cubicBezTo>
                  <a:cubicBezTo>
                    <a:pt x="1656" y="874"/>
                    <a:pt x="1666" y="947"/>
                    <a:pt x="1703" y="1020"/>
                  </a:cubicBezTo>
                  <a:cubicBezTo>
                    <a:pt x="1706" y="1033"/>
                    <a:pt x="1716" y="1046"/>
                    <a:pt x="1712" y="1058"/>
                  </a:cubicBezTo>
                  <a:cubicBezTo>
                    <a:pt x="1708" y="1069"/>
                    <a:pt x="1695" y="1074"/>
                    <a:pt x="1684" y="1076"/>
                  </a:cubicBezTo>
                  <a:cubicBezTo>
                    <a:pt x="1644" y="1083"/>
                    <a:pt x="1602" y="1083"/>
                    <a:pt x="1561" y="1086"/>
                  </a:cubicBezTo>
                  <a:cubicBezTo>
                    <a:pt x="1188" y="1206"/>
                    <a:pt x="1574" y="637"/>
                    <a:pt x="1372" y="500"/>
                  </a:cubicBezTo>
                  <a:cubicBezTo>
                    <a:pt x="1362" y="467"/>
                    <a:pt x="1345" y="438"/>
                    <a:pt x="1334" y="406"/>
                  </a:cubicBezTo>
                  <a:cubicBezTo>
                    <a:pt x="1335" y="463"/>
                    <a:pt x="1358" y="1148"/>
                    <a:pt x="1334" y="1228"/>
                  </a:cubicBezTo>
                  <a:cubicBezTo>
                    <a:pt x="1324" y="1261"/>
                    <a:pt x="1265" y="1222"/>
                    <a:pt x="1230" y="1218"/>
                  </a:cubicBezTo>
                  <a:cubicBezTo>
                    <a:pt x="1144" y="1207"/>
                    <a:pt x="1066" y="1169"/>
                    <a:pt x="985" y="1143"/>
                  </a:cubicBezTo>
                  <a:cubicBezTo>
                    <a:pt x="918" y="1145"/>
                    <a:pt x="647" y="1162"/>
                    <a:pt x="560" y="1143"/>
                  </a:cubicBezTo>
                  <a:cubicBezTo>
                    <a:pt x="550" y="1141"/>
                    <a:pt x="566" y="1124"/>
                    <a:pt x="569" y="1114"/>
                  </a:cubicBezTo>
                  <a:cubicBezTo>
                    <a:pt x="576" y="920"/>
                    <a:pt x="562" y="710"/>
                    <a:pt x="607" y="519"/>
                  </a:cubicBezTo>
                  <a:cubicBezTo>
                    <a:pt x="604" y="488"/>
                    <a:pt x="616" y="451"/>
                    <a:pt x="598" y="425"/>
                  </a:cubicBezTo>
                  <a:cubicBezTo>
                    <a:pt x="584" y="404"/>
                    <a:pt x="561" y="489"/>
                    <a:pt x="560" y="491"/>
                  </a:cubicBezTo>
                  <a:cubicBezTo>
                    <a:pt x="534" y="543"/>
                    <a:pt x="488" y="573"/>
                    <a:pt x="447" y="614"/>
                  </a:cubicBezTo>
                  <a:cubicBezTo>
                    <a:pt x="437" y="624"/>
                    <a:pt x="418" y="642"/>
                    <a:pt x="418" y="642"/>
                  </a:cubicBezTo>
                  <a:cubicBezTo>
                    <a:pt x="386" y="707"/>
                    <a:pt x="341" y="760"/>
                    <a:pt x="305" y="822"/>
                  </a:cubicBezTo>
                  <a:cubicBezTo>
                    <a:pt x="278" y="869"/>
                    <a:pt x="275" y="924"/>
                    <a:pt x="229" y="954"/>
                  </a:cubicBezTo>
                  <a:cubicBezTo>
                    <a:pt x="215" y="949"/>
                    <a:pt x="160" y="930"/>
                    <a:pt x="154" y="925"/>
                  </a:cubicBezTo>
                  <a:cubicBezTo>
                    <a:pt x="146" y="919"/>
                    <a:pt x="150" y="905"/>
                    <a:pt x="144" y="897"/>
                  </a:cubicBezTo>
                  <a:cubicBezTo>
                    <a:pt x="137" y="888"/>
                    <a:pt x="125" y="885"/>
                    <a:pt x="116" y="878"/>
                  </a:cubicBezTo>
                  <a:cubicBezTo>
                    <a:pt x="106" y="870"/>
                    <a:pt x="99" y="858"/>
                    <a:pt x="88" y="850"/>
                  </a:cubicBezTo>
                  <a:cubicBezTo>
                    <a:pt x="67" y="835"/>
                    <a:pt x="43" y="826"/>
                    <a:pt x="22" y="812"/>
                  </a:cubicBezTo>
                  <a:cubicBezTo>
                    <a:pt x="16" y="799"/>
                    <a:pt x="0" y="788"/>
                    <a:pt x="3" y="774"/>
                  </a:cubicBezTo>
                  <a:cubicBezTo>
                    <a:pt x="7" y="752"/>
                    <a:pt x="28" y="737"/>
                    <a:pt x="41" y="718"/>
                  </a:cubicBezTo>
                  <a:cubicBezTo>
                    <a:pt x="80" y="661"/>
                    <a:pt x="156" y="598"/>
                    <a:pt x="211" y="557"/>
                  </a:cubicBezTo>
                  <a:cubicBezTo>
                    <a:pt x="235" y="521"/>
                    <a:pt x="267" y="444"/>
                    <a:pt x="296" y="415"/>
                  </a:cubicBezTo>
                  <a:cubicBezTo>
                    <a:pt x="325" y="386"/>
                    <a:pt x="363" y="357"/>
                    <a:pt x="390" y="330"/>
                  </a:cubicBezTo>
                  <a:cubicBezTo>
                    <a:pt x="445" y="275"/>
                    <a:pt x="475" y="196"/>
                    <a:pt x="541" y="151"/>
                  </a:cubicBezTo>
                  <a:cubicBezTo>
                    <a:pt x="558" y="105"/>
                    <a:pt x="577" y="73"/>
                    <a:pt x="617" y="47"/>
                  </a:cubicBezTo>
                  <a:cubicBezTo>
                    <a:pt x="643" y="6"/>
                    <a:pt x="663" y="9"/>
                    <a:pt x="711" y="0"/>
                  </a:cubicBezTo>
                  <a:cubicBezTo>
                    <a:pt x="727" y="3"/>
                    <a:pt x="745" y="0"/>
                    <a:pt x="758" y="9"/>
                  </a:cubicBezTo>
                  <a:cubicBezTo>
                    <a:pt x="810" y="44"/>
                    <a:pt x="733" y="38"/>
                    <a:pt x="787" y="38"/>
                  </a:cubicBezTo>
                  <a:close/>
                </a:path>
              </a:pathLst>
            </a:custGeom>
            <a:solidFill>
              <a:srgbClr val="33CC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0826" name="Oval 106"/>
            <p:cNvSpPr>
              <a:spLocks noChangeArrowheads="1"/>
            </p:cNvSpPr>
            <p:nvPr/>
          </p:nvSpPr>
          <p:spPr bwMode="auto">
            <a:xfrm>
              <a:off x="2109" y="3094"/>
              <a:ext cx="48" cy="51"/>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828" name="Text Box 108"/>
            <p:cNvSpPr txBox="1">
              <a:spLocks noChangeArrowheads="1"/>
            </p:cNvSpPr>
            <p:nvPr/>
          </p:nvSpPr>
          <p:spPr bwMode="auto">
            <a:xfrm>
              <a:off x="1956" y="2976"/>
              <a:ext cx="4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t>Na</a:t>
              </a:r>
            </a:p>
          </p:txBody>
        </p:sp>
        <p:sp>
          <p:nvSpPr>
            <p:cNvPr id="30829" name="Freeform 109"/>
            <p:cNvSpPr>
              <a:spLocks/>
            </p:cNvSpPr>
            <p:nvPr/>
          </p:nvSpPr>
          <p:spPr bwMode="auto">
            <a:xfrm>
              <a:off x="1883" y="3673"/>
              <a:ext cx="427" cy="404"/>
            </a:xfrm>
            <a:custGeom>
              <a:avLst/>
              <a:gdLst>
                <a:gd name="T0" fmla="*/ 217 w 427"/>
                <a:gd name="T1" fmla="*/ 383 h 404"/>
                <a:gd name="T2" fmla="*/ 151 w 427"/>
                <a:gd name="T3" fmla="*/ 359 h 404"/>
                <a:gd name="T4" fmla="*/ 7 w 427"/>
                <a:gd name="T5" fmla="*/ 359 h 404"/>
                <a:gd name="T6" fmla="*/ 1 w 427"/>
                <a:gd name="T7" fmla="*/ 341 h 404"/>
                <a:gd name="T8" fmla="*/ 31 w 427"/>
                <a:gd name="T9" fmla="*/ 251 h 404"/>
                <a:gd name="T10" fmla="*/ 55 w 427"/>
                <a:gd name="T11" fmla="*/ 215 h 404"/>
                <a:gd name="T12" fmla="*/ 67 w 427"/>
                <a:gd name="T13" fmla="*/ 179 h 404"/>
                <a:gd name="T14" fmla="*/ 73 w 427"/>
                <a:gd name="T15" fmla="*/ 23 h 404"/>
                <a:gd name="T16" fmla="*/ 151 w 427"/>
                <a:gd name="T17" fmla="*/ 17 h 404"/>
                <a:gd name="T18" fmla="*/ 337 w 427"/>
                <a:gd name="T19" fmla="*/ 29 h 404"/>
                <a:gd name="T20" fmla="*/ 343 w 427"/>
                <a:gd name="T21" fmla="*/ 71 h 404"/>
                <a:gd name="T22" fmla="*/ 361 w 427"/>
                <a:gd name="T23" fmla="*/ 215 h 404"/>
                <a:gd name="T24" fmla="*/ 397 w 427"/>
                <a:gd name="T25" fmla="*/ 311 h 404"/>
                <a:gd name="T26" fmla="*/ 217 w 427"/>
                <a:gd name="T27" fmla="*/ 383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7" h="404">
                  <a:moveTo>
                    <a:pt x="217" y="383"/>
                  </a:moveTo>
                  <a:cubicBezTo>
                    <a:pt x="190" y="378"/>
                    <a:pt x="174" y="374"/>
                    <a:pt x="151" y="359"/>
                  </a:cubicBezTo>
                  <a:cubicBezTo>
                    <a:pt x="81" y="371"/>
                    <a:pt x="88" y="366"/>
                    <a:pt x="7" y="359"/>
                  </a:cubicBezTo>
                  <a:cubicBezTo>
                    <a:pt x="5" y="353"/>
                    <a:pt x="0" y="347"/>
                    <a:pt x="1" y="341"/>
                  </a:cubicBezTo>
                  <a:cubicBezTo>
                    <a:pt x="3" y="323"/>
                    <a:pt x="20" y="268"/>
                    <a:pt x="31" y="251"/>
                  </a:cubicBezTo>
                  <a:cubicBezTo>
                    <a:pt x="39" y="239"/>
                    <a:pt x="50" y="229"/>
                    <a:pt x="55" y="215"/>
                  </a:cubicBezTo>
                  <a:cubicBezTo>
                    <a:pt x="59" y="203"/>
                    <a:pt x="67" y="179"/>
                    <a:pt x="67" y="179"/>
                  </a:cubicBezTo>
                  <a:cubicBezTo>
                    <a:pt x="69" y="127"/>
                    <a:pt x="49" y="69"/>
                    <a:pt x="73" y="23"/>
                  </a:cubicBezTo>
                  <a:cubicBezTo>
                    <a:pt x="85" y="0"/>
                    <a:pt x="125" y="17"/>
                    <a:pt x="151" y="17"/>
                  </a:cubicBezTo>
                  <a:cubicBezTo>
                    <a:pt x="213" y="17"/>
                    <a:pt x="275" y="26"/>
                    <a:pt x="337" y="29"/>
                  </a:cubicBezTo>
                  <a:cubicBezTo>
                    <a:pt x="360" y="64"/>
                    <a:pt x="343" y="28"/>
                    <a:pt x="343" y="71"/>
                  </a:cubicBezTo>
                  <a:cubicBezTo>
                    <a:pt x="343" y="136"/>
                    <a:pt x="353" y="160"/>
                    <a:pt x="361" y="215"/>
                  </a:cubicBezTo>
                  <a:cubicBezTo>
                    <a:pt x="367" y="255"/>
                    <a:pt x="363" y="288"/>
                    <a:pt x="397" y="311"/>
                  </a:cubicBezTo>
                  <a:cubicBezTo>
                    <a:pt x="427" y="402"/>
                    <a:pt x="259" y="404"/>
                    <a:pt x="217" y="383"/>
                  </a:cubicBezTo>
                  <a:close/>
                </a:path>
              </a:pathLst>
            </a:custGeom>
            <a:solidFill>
              <a:srgbClr val="CC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30839" name="Group 119"/>
          <p:cNvGrpSpPr>
            <a:grpSpLocks/>
          </p:cNvGrpSpPr>
          <p:nvPr/>
        </p:nvGrpSpPr>
        <p:grpSpPr bwMode="auto">
          <a:xfrm>
            <a:off x="2590800" y="4038600"/>
            <a:ext cx="2095500" cy="2590800"/>
            <a:chOff x="1632" y="2688"/>
            <a:chExt cx="1320" cy="1632"/>
          </a:xfrm>
        </p:grpSpPr>
        <p:sp>
          <p:nvSpPr>
            <p:cNvPr id="30833" name="AutoShape 113"/>
            <p:cNvSpPr>
              <a:spLocks/>
            </p:cNvSpPr>
            <p:nvPr/>
          </p:nvSpPr>
          <p:spPr bwMode="auto">
            <a:xfrm>
              <a:off x="1632" y="2784"/>
              <a:ext cx="132" cy="1536"/>
            </a:xfrm>
            <a:prstGeom prst="leftBracket">
              <a:avLst>
                <a:gd name="adj" fmla="val 0"/>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835" name="AutoShape 115"/>
            <p:cNvSpPr>
              <a:spLocks/>
            </p:cNvSpPr>
            <p:nvPr/>
          </p:nvSpPr>
          <p:spPr bwMode="auto">
            <a:xfrm flipH="1">
              <a:off x="2352" y="2784"/>
              <a:ext cx="132" cy="1536"/>
            </a:xfrm>
            <a:prstGeom prst="leftBracket">
              <a:avLst>
                <a:gd name="adj" fmla="val 0"/>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836" name="Text Box 116"/>
            <p:cNvSpPr txBox="1">
              <a:spLocks noChangeArrowheads="1"/>
            </p:cNvSpPr>
            <p:nvPr/>
          </p:nvSpPr>
          <p:spPr bwMode="auto">
            <a:xfrm>
              <a:off x="2532" y="2688"/>
              <a:ext cx="4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t>+</a:t>
              </a:r>
            </a:p>
          </p:txBody>
        </p:sp>
      </p:grpSp>
      <p:grpSp>
        <p:nvGrpSpPr>
          <p:cNvPr id="30838" name="Group 118"/>
          <p:cNvGrpSpPr>
            <a:grpSpLocks/>
          </p:cNvGrpSpPr>
          <p:nvPr/>
        </p:nvGrpSpPr>
        <p:grpSpPr bwMode="auto">
          <a:xfrm>
            <a:off x="419100" y="4095750"/>
            <a:ext cx="1962150" cy="2533650"/>
            <a:chOff x="264" y="2724"/>
            <a:chExt cx="1236" cy="1596"/>
          </a:xfrm>
        </p:grpSpPr>
        <p:sp>
          <p:nvSpPr>
            <p:cNvPr id="30832" name="AutoShape 112"/>
            <p:cNvSpPr>
              <a:spLocks/>
            </p:cNvSpPr>
            <p:nvPr/>
          </p:nvSpPr>
          <p:spPr bwMode="auto">
            <a:xfrm>
              <a:off x="264" y="2784"/>
              <a:ext cx="132" cy="1536"/>
            </a:xfrm>
            <a:prstGeom prst="leftBracket">
              <a:avLst>
                <a:gd name="adj" fmla="val 0"/>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834" name="AutoShape 114"/>
            <p:cNvSpPr>
              <a:spLocks/>
            </p:cNvSpPr>
            <p:nvPr/>
          </p:nvSpPr>
          <p:spPr bwMode="auto">
            <a:xfrm flipH="1">
              <a:off x="1044" y="2784"/>
              <a:ext cx="132" cy="1536"/>
            </a:xfrm>
            <a:prstGeom prst="leftBracket">
              <a:avLst>
                <a:gd name="adj" fmla="val 0"/>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0837" name="Text Box 117"/>
            <p:cNvSpPr txBox="1">
              <a:spLocks noChangeArrowheads="1"/>
            </p:cNvSpPr>
            <p:nvPr/>
          </p:nvSpPr>
          <p:spPr bwMode="auto">
            <a:xfrm>
              <a:off x="1176" y="2724"/>
              <a:ext cx="3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t>-</a:t>
              </a:r>
            </a:p>
          </p:txBody>
        </p:sp>
      </p:grpSp>
    </p:spTree>
    <p:extLst>
      <p:ext uri="{BB962C8B-B14F-4D97-AF65-F5344CB8AC3E}">
        <p14:creationId xmlns:p14="http://schemas.microsoft.com/office/powerpoint/2010/main" val="1821314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3"/>
                                        </p:tgtEl>
                                        <p:attrNameLst>
                                          <p:attrName>style.visibility</p:attrName>
                                        </p:attrNameLst>
                                      </p:cBhvr>
                                      <p:to>
                                        <p:strVal val="visible"/>
                                      </p:to>
                                    </p:set>
                                    <p:animEffect transition="in" filter="wipe(left)">
                                      <p:cBhvr>
                                        <p:cTn id="7" dur="500"/>
                                        <p:tgtEl>
                                          <p:spTgt spid="307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30786"/>
                                        </p:tgtEl>
                                        <p:attrNameLst>
                                          <p:attrName>style.visibility</p:attrName>
                                        </p:attrNameLst>
                                      </p:cBhvr>
                                      <p:to>
                                        <p:strVal val="visible"/>
                                      </p:to>
                                    </p:set>
                                    <p:anim calcmode="lin" valueType="num">
                                      <p:cBhvr additive="base">
                                        <p:cTn id="12" dur="500" fill="hold"/>
                                        <p:tgtEl>
                                          <p:spTgt spid="30786"/>
                                        </p:tgtEl>
                                        <p:attrNameLst>
                                          <p:attrName>ppt_x</p:attrName>
                                        </p:attrNameLst>
                                      </p:cBhvr>
                                      <p:tavLst>
                                        <p:tav tm="0">
                                          <p:val>
                                            <p:strVal val="1+#ppt_w/2"/>
                                          </p:val>
                                        </p:tav>
                                        <p:tav tm="100000">
                                          <p:val>
                                            <p:strVal val="#ppt_x"/>
                                          </p:val>
                                        </p:tav>
                                      </p:tavLst>
                                    </p:anim>
                                    <p:anim calcmode="lin" valueType="num">
                                      <p:cBhvr additive="base">
                                        <p:cTn id="13" dur="500" fill="hold"/>
                                        <p:tgtEl>
                                          <p:spTgt spid="30786"/>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2" fill="hold" grpId="0" nodeType="clickEffect">
                                  <p:stCondLst>
                                    <p:cond delay="0"/>
                                  </p:stCondLst>
                                  <p:childTnLst>
                                    <p:set>
                                      <p:cBhvr>
                                        <p:cTn id="17" dur="1" fill="hold">
                                          <p:stCondLst>
                                            <p:cond delay="0"/>
                                          </p:stCondLst>
                                        </p:cTn>
                                        <p:tgtEl>
                                          <p:spTgt spid="30724"/>
                                        </p:tgtEl>
                                        <p:attrNameLst>
                                          <p:attrName>style.visibility</p:attrName>
                                        </p:attrNameLst>
                                      </p:cBhvr>
                                      <p:to>
                                        <p:strVal val="visible"/>
                                      </p:to>
                                    </p:set>
                                    <p:animEffect transition="in" filter="wipe(right)">
                                      <p:cBhvr>
                                        <p:cTn id="18" dur="500"/>
                                        <p:tgtEl>
                                          <p:spTgt spid="3072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30798"/>
                                        </p:tgtEl>
                                        <p:attrNameLst>
                                          <p:attrName>style.visibility</p:attrName>
                                        </p:attrNameLst>
                                      </p:cBhvr>
                                      <p:to>
                                        <p:strVal val="visible"/>
                                      </p:to>
                                    </p:set>
                                    <p:animEffect transition="in" filter="wipe(up)">
                                      <p:cBhvr>
                                        <p:cTn id="23" dur="500"/>
                                        <p:tgtEl>
                                          <p:spTgt spid="3079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nodeType="clickEffect">
                                  <p:stCondLst>
                                    <p:cond delay="0"/>
                                  </p:stCondLst>
                                  <p:childTnLst>
                                    <p:set>
                                      <p:cBhvr>
                                        <p:cTn id="27" dur="1" fill="hold">
                                          <p:stCondLst>
                                            <p:cond delay="0"/>
                                          </p:stCondLst>
                                        </p:cTn>
                                        <p:tgtEl>
                                          <p:spTgt spid="30831"/>
                                        </p:tgtEl>
                                        <p:attrNameLst>
                                          <p:attrName>style.visibility</p:attrName>
                                        </p:attrNameLst>
                                      </p:cBhvr>
                                      <p:to>
                                        <p:strVal val="visible"/>
                                      </p:to>
                                    </p:set>
                                    <p:anim calcmode="lin" valueType="num">
                                      <p:cBhvr additive="base">
                                        <p:cTn id="28" dur="500" fill="hold"/>
                                        <p:tgtEl>
                                          <p:spTgt spid="30831"/>
                                        </p:tgtEl>
                                        <p:attrNameLst>
                                          <p:attrName>ppt_x</p:attrName>
                                        </p:attrNameLst>
                                      </p:cBhvr>
                                      <p:tavLst>
                                        <p:tav tm="0">
                                          <p:val>
                                            <p:strVal val="0-#ppt_w/2"/>
                                          </p:val>
                                        </p:tav>
                                        <p:tav tm="100000">
                                          <p:val>
                                            <p:strVal val="#ppt_x"/>
                                          </p:val>
                                        </p:tav>
                                      </p:tavLst>
                                    </p:anim>
                                    <p:anim calcmode="lin" valueType="num">
                                      <p:cBhvr additive="base">
                                        <p:cTn id="29" dur="500" fill="hold"/>
                                        <p:tgtEl>
                                          <p:spTgt spid="30831"/>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2" fill="hold" nodeType="clickEffect">
                                  <p:stCondLst>
                                    <p:cond delay="0"/>
                                  </p:stCondLst>
                                  <p:childTnLst>
                                    <p:set>
                                      <p:cBhvr>
                                        <p:cTn id="33" dur="1" fill="hold">
                                          <p:stCondLst>
                                            <p:cond delay="0"/>
                                          </p:stCondLst>
                                        </p:cTn>
                                        <p:tgtEl>
                                          <p:spTgt spid="30830"/>
                                        </p:tgtEl>
                                        <p:attrNameLst>
                                          <p:attrName>style.visibility</p:attrName>
                                        </p:attrNameLst>
                                      </p:cBhvr>
                                      <p:to>
                                        <p:strVal val="visible"/>
                                      </p:to>
                                    </p:set>
                                    <p:anim calcmode="lin" valueType="num">
                                      <p:cBhvr additive="base">
                                        <p:cTn id="34" dur="500" fill="hold"/>
                                        <p:tgtEl>
                                          <p:spTgt spid="30830"/>
                                        </p:tgtEl>
                                        <p:attrNameLst>
                                          <p:attrName>ppt_x</p:attrName>
                                        </p:attrNameLst>
                                      </p:cBhvr>
                                      <p:tavLst>
                                        <p:tav tm="0">
                                          <p:val>
                                            <p:strVal val="1+#ppt_w/2"/>
                                          </p:val>
                                        </p:tav>
                                        <p:tav tm="100000">
                                          <p:val>
                                            <p:strVal val="#ppt_x"/>
                                          </p:val>
                                        </p:tav>
                                      </p:tavLst>
                                    </p:anim>
                                    <p:anim calcmode="lin" valueType="num">
                                      <p:cBhvr additive="base">
                                        <p:cTn id="35" dur="500" fill="hold"/>
                                        <p:tgtEl>
                                          <p:spTgt spid="30830"/>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30838"/>
                                        </p:tgtEl>
                                        <p:attrNameLst>
                                          <p:attrName>style.visibility</p:attrName>
                                        </p:attrNameLst>
                                      </p:cBhvr>
                                      <p:to>
                                        <p:strVal val="visible"/>
                                      </p:to>
                                    </p:set>
                                    <p:animEffect transition="in" filter="wipe(up)">
                                      <p:cBhvr>
                                        <p:cTn id="40" dur="500"/>
                                        <p:tgtEl>
                                          <p:spTgt spid="30838"/>
                                        </p:tgtEl>
                                      </p:cBhvr>
                                    </p:animEffect>
                                  </p:childTnLst>
                                </p:cTn>
                              </p:par>
                            </p:childTnLst>
                          </p:cTn>
                        </p:par>
                        <p:par>
                          <p:cTn id="41" fill="hold" nodeType="afterGroup">
                            <p:stCondLst>
                              <p:cond delay="500"/>
                            </p:stCondLst>
                            <p:childTnLst>
                              <p:par>
                                <p:cTn id="42" presetID="22" presetClass="entr" presetSubtype="1" fill="hold" nodeType="afterEffect">
                                  <p:stCondLst>
                                    <p:cond delay="0"/>
                                  </p:stCondLst>
                                  <p:childTnLst>
                                    <p:set>
                                      <p:cBhvr>
                                        <p:cTn id="43" dur="1" fill="hold">
                                          <p:stCondLst>
                                            <p:cond delay="0"/>
                                          </p:stCondLst>
                                        </p:cTn>
                                        <p:tgtEl>
                                          <p:spTgt spid="30839"/>
                                        </p:tgtEl>
                                        <p:attrNameLst>
                                          <p:attrName>style.visibility</p:attrName>
                                        </p:attrNameLst>
                                      </p:cBhvr>
                                      <p:to>
                                        <p:strVal val="visible"/>
                                      </p:to>
                                    </p:set>
                                    <p:animEffect transition="in" filter="wipe(up)">
                                      <p:cBhvr>
                                        <p:cTn id="44" dur="500"/>
                                        <p:tgtEl>
                                          <p:spTgt spid="3083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30785"/>
                                        </p:tgtEl>
                                        <p:attrNameLst>
                                          <p:attrName>style.visibility</p:attrName>
                                        </p:attrNameLst>
                                      </p:cBhvr>
                                      <p:to>
                                        <p:strVal val="visible"/>
                                      </p:to>
                                    </p:set>
                                    <p:animEffect transition="in" filter="wipe(left)">
                                      <p:cBhvr>
                                        <p:cTn id="49" dur="500"/>
                                        <p:tgtEl>
                                          <p:spTgt spid="307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animBg="1" autoUpdateAnimBg="0"/>
      <p:bldP spid="30724" grpId="0" animBg="1" autoUpdateAnimBg="0"/>
      <p:bldP spid="30785" grpId="0" animBg="1" autoUpdateAnimBg="0"/>
      <p:bldP spid="30798"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Date Placeholder 2"/>
          <p:cNvSpPr>
            <a:spLocks noGrp="1"/>
          </p:cNvSpPr>
          <p:nvPr>
            <p:ph type="dt" sz="half" idx="10"/>
          </p:nvPr>
        </p:nvSpPr>
        <p:spPr/>
        <p:txBody>
          <a:bodyPr/>
          <a:lstStyle/>
          <a:p>
            <a:fld id="{DFA3090C-6194-4D7C-A49E-96E055727EA6}" type="datetime1">
              <a:rPr lang="en-GB" altLang="en-US"/>
              <a:pPr/>
              <a:t>02/06/2020</a:t>
            </a:fld>
            <a:endParaRPr lang="en-GB" altLang="en-US"/>
          </a:p>
        </p:txBody>
      </p:sp>
      <p:sp>
        <p:nvSpPr>
          <p:cNvPr id="21506" name="Rectangle 2"/>
          <p:cNvSpPr>
            <a:spLocks noGrp="1" noChangeArrowheads="1"/>
          </p:cNvSpPr>
          <p:nvPr>
            <p:ph type="title"/>
          </p:nvPr>
        </p:nvSpPr>
        <p:spPr/>
        <p:txBody>
          <a:bodyPr/>
          <a:lstStyle/>
          <a:p>
            <a:r>
              <a:rPr lang="en-GB" altLang="en-US"/>
              <a:t>Ions</a:t>
            </a:r>
          </a:p>
        </p:txBody>
      </p:sp>
      <p:sp>
        <p:nvSpPr>
          <p:cNvPr id="21507" name="Text Box 3"/>
          <p:cNvSpPr txBox="1">
            <a:spLocks noChangeArrowheads="1"/>
          </p:cNvSpPr>
          <p:nvPr/>
        </p:nvSpPr>
        <p:spPr bwMode="auto">
          <a:xfrm>
            <a:off x="0" y="838200"/>
            <a:ext cx="9144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chemeClr val="hlink"/>
                </a:solidFill>
              </a:rPr>
              <a:t>An ion is formed when an atom gains or loses electrons and becomes charged:</a:t>
            </a:r>
          </a:p>
        </p:txBody>
      </p:sp>
      <p:sp>
        <p:nvSpPr>
          <p:cNvPr id="21514" name="Text Box 10"/>
          <p:cNvSpPr txBox="1">
            <a:spLocks noChangeArrowheads="1"/>
          </p:cNvSpPr>
          <p:nvPr/>
        </p:nvSpPr>
        <p:spPr bwMode="auto">
          <a:xfrm>
            <a:off x="381000" y="4381500"/>
            <a:ext cx="501015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t>If we “take away” the electron we’re left with just a positive charge:</a:t>
            </a:r>
          </a:p>
        </p:txBody>
      </p:sp>
      <p:sp>
        <p:nvSpPr>
          <p:cNvPr id="21515" name="Text Box 11"/>
          <p:cNvSpPr txBox="1">
            <a:spLocks noChangeArrowheads="1"/>
          </p:cNvSpPr>
          <p:nvPr/>
        </p:nvSpPr>
        <p:spPr bwMode="auto">
          <a:xfrm>
            <a:off x="0" y="6035675"/>
            <a:ext cx="9144000" cy="822325"/>
          </a:xfrm>
          <a:prstGeom prst="rect">
            <a:avLst/>
          </a:prstGeom>
          <a:solidFill>
            <a:srgbClr val="CC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GB" altLang="en-US" b="1" i="1"/>
              <a:t>This is called an ion (in this case, a positive hydrogen ion, also called a cation).</a:t>
            </a:r>
          </a:p>
        </p:txBody>
      </p:sp>
      <p:grpSp>
        <p:nvGrpSpPr>
          <p:cNvPr id="21523" name="Group 19"/>
          <p:cNvGrpSpPr>
            <a:grpSpLocks/>
          </p:cNvGrpSpPr>
          <p:nvPr/>
        </p:nvGrpSpPr>
        <p:grpSpPr bwMode="auto">
          <a:xfrm>
            <a:off x="400050" y="1981200"/>
            <a:ext cx="1714500" cy="1571625"/>
            <a:chOff x="252" y="1248"/>
            <a:chExt cx="1080" cy="990"/>
          </a:xfrm>
        </p:grpSpPr>
        <p:grpSp>
          <p:nvGrpSpPr>
            <p:cNvPr id="21508" name="Group 4"/>
            <p:cNvGrpSpPr>
              <a:grpSpLocks/>
            </p:cNvGrpSpPr>
            <p:nvPr/>
          </p:nvGrpSpPr>
          <p:grpSpPr bwMode="auto">
            <a:xfrm>
              <a:off x="252" y="1248"/>
              <a:ext cx="1068" cy="990"/>
              <a:chOff x="552" y="1188"/>
              <a:chExt cx="852" cy="804"/>
            </a:xfrm>
          </p:grpSpPr>
          <p:sp>
            <p:nvSpPr>
              <p:cNvPr id="21509" name="Oval 5"/>
              <p:cNvSpPr>
                <a:spLocks noChangeArrowheads="1"/>
              </p:cNvSpPr>
              <p:nvPr/>
            </p:nvSpPr>
            <p:spPr bwMode="auto">
              <a:xfrm>
                <a:off x="552" y="1188"/>
                <a:ext cx="804" cy="804"/>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10" name="Oval 6"/>
              <p:cNvSpPr>
                <a:spLocks noChangeArrowheads="1"/>
              </p:cNvSpPr>
              <p:nvPr/>
            </p:nvSpPr>
            <p:spPr bwMode="auto">
              <a:xfrm>
                <a:off x="840" y="1464"/>
                <a:ext cx="240" cy="24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11" name="Oval 7"/>
              <p:cNvSpPr>
                <a:spLocks noChangeArrowheads="1"/>
              </p:cNvSpPr>
              <p:nvPr/>
            </p:nvSpPr>
            <p:spPr bwMode="auto">
              <a:xfrm>
                <a:off x="1260" y="1356"/>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1521" name="Text Box 17"/>
            <p:cNvSpPr txBox="1">
              <a:spLocks noChangeArrowheads="1"/>
            </p:cNvSpPr>
            <p:nvPr/>
          </p:nvSpPr>
          <p:spPr bwMode="auto">
            <a:xfrm>
              <a:off x="660" y="158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t>+</a:t>
              </a:r>
            </a:p>
          </p:txBody>
        </p:sp>
        <p:sp>
          <p:nvSpPr>
            <p:cNvPr id="21522" name="Text Box 18"/>
            <p:cNvSpPr txBox="1">
              <a:spLocks noChangeArrowheads="1"/>
            </p:cNvSpPr>
            <p:nvPr/>
          </p:nvSpPr>
          <p:spPr bwMode="auto">
            <a:xfrm>
              <a:off x="1140" y="1404"/>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t>-</a:t>
              </a:r>
            </a:p>
          </p:txBody>
        </p:sp>
      </p:grpSp>
      <p:grpSp>
        <p:nvGrpSpPr>
          <p:cNvPr id="21525" name="Group 21"/>
          <p:cNvGrpSpPr>
            <a:grpSpLocks/>
          </p:cNvGrpSpPr>
          <p:nvPr/>
        </p:nvGrpSpPr>
        <p:grpSpPr bwMode="auto">
          <a:xfrm>
            <a:off x="6076950" y="4171950"/>
            <a:ext cx="1600200" cy="1571625"/>
            <a:chOff x="3828" y="2628"/>
            <a:chExt cx="1008" cy="990"/>
          </a:xfrm>
        </p:grpSpPr>
        <p:sp>
          <p:nvSpPr>
            <p:cNvPr id="21517" name="Oval 13"/>
            <p:cNvSpPr>
              <a:spLocks noChangeArrowheads="1"/>
            </p:cNvSpPr>
            <p:nvPr/>
          </p:nvSpPr>
          <p:spPr bwMode="auto">
            <a:xfrm>
              <a:off x="3828" y="2628"/>
              <a:ext cx="1008" cy="99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18" name="Oval 14"/>
            <p:cNvSpPr>
              <a:spLocks noChangeArrowheads="1"/>
            </p:cNvSpPr>
            <p:nvPr/>
          </p:nvSpPr>
          <p:spPr bwMode="auto">
            <a:xfrm>
              <a:off x="4189" y="2968"/>
              <a:ext cx="301" cy="295"/>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24" name="Text Box 20"/>
            <p:cNvSpPr txBox="1">
              <a:spLocks noChangeArrowheads="1"/>
            </p:cNvSpPr>
            <p:nvPr/>
          </p:nvSpPr>
          <p:spPr bwMode="auto">
            <a:xfrm>
              <a:off x="4236" y="2964"/>
              <a:ext cx="3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t>+</a:t>
              </a:r>
            </a:p>
          </p:txBody>
        </p:sp>
      </p:grpSp>
      <p:grpSp>
        <p:nvGrpSpPr>
          <p:cNvPr id="21528" name="Group 24"/>
          <p:cNvGrpSpPr>
            <a:grpSpLocks/>
          </p:cNvGrpSpPr>
          <p:nvPr/>
        </p:nvGrpSpPr>
        <p:grpSpPr bwMode="auto">
          <a:xfrm>
            <a:off x="2209800" y="2209800"/>
            <a:ext cx="5867400" cy="457200"/>
            <a:chOff x="1392" y="1392"/>
            <a:chExt cx="3696" cy="288"/>
          </a:xfrm>
        </p:grpSpPr>
        <p:sp>
          <p:nvSpPr>
            <p:cNvPr id="21512" name="Text Box 8"/>
            <p:cNvSpPr txBox="1">
              <a:spLocks noChangeArrowheads="1"/>
            </p:cNvSpPr>
            <p:nvPr/>
          </p:nvSpPr>
          <p:spPr bwMode="auto">
            <a:xfrm>
              <a:off x="1776" y="1392"/>
              <a:ext cx="3312" cy="288"/>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t>The electron is negatively charged</a:t>
              </a:r>
            </a:p>
          </p:txBody>
        </p:sp>
        <p:sp>
          <p:nvSpPr>
            <p:cNvPr id="21526" name="Line 22"/>
            <p:cNvSpPr>
              <a:spLocks noChangeShapeType="1"/>
            </p:cNvSpPr>
            <p:nvPr/>
          </p:nvSpPr>
          <p:spPr bwMode="auto">
            <a:xfrm flipH="1">
              <a:off x="1392" y="1536"/>
              <a:ext cx="432" cy="0"/>
            </a:xfrm>
            <a:prstGeom prst="line">
              <a:avLst/>
            </a:prstGeom>
            <a:noFill/>
            <a:ln w="508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21530" name="Group 26"/>
          <p:cNvGrpSpPr>
            <a:grpSpLocks/>
          </p:cNvGrpSpPr>
          <p:nvPr/>
        </p:nvGrpSpPr>
        <p:grpSpPr bwMode="auto">
          <a:xfrm>
            <a:off x="1447800" y="2895600"/>
            <a:ext cx="6629400" cy="533400"/>
            <a:chOff x="912" y="1824"/>
            <a:chExt cx="4176" cy="336"/>
          </a:xfrm>
        </p:grpSpPr>
        <p:sp>
          <p:nvSpPr>
            <p:cNvPr id="21513" name="Text Box 9"/>
            <p:cNvSpPr txBox="1">
              <a:spLocks noChangeArrowheads="1"/>
            </p:cNvSpPr>
            <p:nvPr/>
          </p:nvSpPr>
          <p:spPr bwMode="auto">
            <a:xfrm>
              <a:off x="1776" y="1872"/>
              <a:ext cx="3312" cy="28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t>The proton is positively charged</a:t>
              </a:r>
            </a:p>
          </p:txBody>
        </p:sp>
        <p:sp>
          <p:nvSpPr>
            <p:cNvPr id="21529" name="Line 25"/>
            <p:cNvSpPr>
              <a:spLocks noChangeShapeType="1"/>
            </p:cNvSpPr>
            <p:nvPr/>
          </p:nvSpPr>
          <p:spPr bwMode="auto">
            <a:xfrm flipH="1" flipV="1">
              <a:off x="912" y="1824"/>
              <a:ext cx="912" cy="144"/>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21534" name="Group 30"/>
          <p:cNvGrpSpPr>
            <a:grpSpLocks/>
          </p:cNvGrpSpPr>
          <p:nvPr/>
        </p:nvGrpSpPr>
        <p:grpSpPr bwMode="auto">
          <a:xfrm>
            <a:off x="5867400" y="3962400"/>
            <a:ext cx="2819400" cy="1905000"/>
            <a:chOff x="3696" y="2496"/>
            <a:chExt cx="1776" cy="1200"/>
          </a:xfrm>
        </p:grpSpPr>
        <p:sp>
          <p:nvSpPr>
            <p:cNvPr id="21531" name="AutoShape 27"/>
            <p:cNvSpPr>
              <a:spLocks/>
            </p:cNvSpPr>
            <p:nvPr/>
          </p:nvSpPr>
          <p:spPr bwMode="auto">
            <a:xfrm>
              <a:off x="3696" y="2544"/>
              <a:ext cx="144" cy="1152"/>
            </a:xfrm>
            <a:prstGeom prst="leftBracket">
              <a:avLst>
                <a:gd name="adj" fmla="val 0"/>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32" name="AutoShape 28"/>
            <p:cNvSpPr>
              <a:spLocks/>
            </p:cNvSpPr>
            <p:nvPr/>
          </p:nvSpPr>
          <p:spPr bwMode="auto">
            <a:xfrm flipH="1">
              <a:off x="4848" y="2544"/>
              <a:ext cx="144" cy="1152"/>
            </a:xfrm>
            <a:prstGeom prst="leftBracket">
              <a:avLst>
                <a:gd name="adj" fmla="val 0"/>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33" name="Text Box 29"/>
            <p:cNvSpPr txBox="1">
              <a:spLocks noChangeArrowheads="1"/>
            </p:cNvSpPr>
            <p:nvPr/>
          </p:nvSpPr>
          <p:spPr bwMode="auto">
            <a:xfrm>
              <a:off x="5088" y="249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t>+</a:t>
              </a:r>
            </a:p>
          </p:txBody>
        </p:sp>
      </p:grpSp>
    </p:spTree>
    <p:extLst>
      <p:ext uri="{BB962C8B-B14F-4D97-AF65-F5344CB8AC3E}">
        <p14:creationId xmlns:p14="http://schemas.microsoft.com/office/powerpoint/2010/main" val="7426657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07"/>
                                        </p:tgtEl>
                                        <p:attrNameLst>
                                          <p:attrName>style.visibility</p:attrName>
                                        </p:attrNameLst>
                                      </p:cBhvr>
                                      <p:to>
                                        <p:strVal val="visible"/>
                                      </p:to>
                                    </p:set>
                                    <p:animEffect transition="in" filter="wipe(left)">
                                      <p:cBhvr>
                                        <p:cTn id="7" dur="500"/>
                                        <p:tgtEl>
                                          <p:spTgt spid="215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1523"/>
                                        </p:tgtEl>
                                        <p:attrNameLst>
                                          <p:attrName>style.visibility</p:attrName>
                                        </p:attrNameLst>
                                      </p:cBhvr>
                                      <p:to>
                                        <p:strVal val="visible"/>
                                      </p:to>
                                    </p:set>
                                    <p:animEffect transition="in" filter="wipe(up)">
                                      <p:cBhvr>
                                        <p:cTn id="12" dur="500"/>
                                        <p:tgtEl>
                                          <p:spTgt spid="215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nodeType="clickEffect">
                                  <p:stCondLst>
                                    <p:cond delay="0"/>
                                  </p:stCondLst>
                                  <p:childTnLst>
                                    <p:set>
                                      <p:cBhvr>
                                        <p:cTn id="16" dur="1" fill="hold">
                                          <p:stCondLst>
                                            <p:cond delay="0"/>
                                          </p:stCondLst>
                                        </p:cTn>
                                        <p:tgtEl>
                                          <p:spTgt spid="21528"/>
                                        </p:tgtEl>
                                        <p:attrNameLst>
                                          <p:attrName>style.visibility</p:attrName>
                                        </p:attrNameLst>
                                      </p:cBhvr>
                                      <p:to>
                                        <p:strVal val="visible"/>
                                      </p:to>
                                    </p:set>
                                    <p:anim calcmode="lin" valueType="num">
                                      <p:cBhvr additive="base">
                                        <p:cTn id="17" dur="500" fill="hold"/>
                                        <p:tgtEl>
                                          <p:spTgt spid="21528"/>
                                        </p:tgtEl>
                                        <p:attrNameLst>
                                          <p:attrName>ppt_x</p:attrName>
                                        </p:attrNameLst>
                                      </p:cBhvr>
                                      <p:tavLst>
                                        <p:tav tm="0">
                                          <p:val>
                                            <p:strVal val="1+#ppt_w/2"/>
                                          </p:val>
                                        </p:tav>
                                        <p:tav tm="100000">
                                          <p:val>
                                            <p:strVal val="#ppt_x"/>
                                          </p:val>
                                        </p:tav>
                                      </p:tavLst>
                                    </p:anim>
                                    <p:anim calcmode="lin" valueType="num">
                                      <p:cBhvr additive="base">
                                        <p:cTn id="18" dur="500" fill="hold"/>
                                        <p:tgtEl>
                                          <p:spTgt spid="21528"/>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nodeType="clickEffect">
                                  <p:stCondLst>
                                    <p:cond delay="0"/>
                                  </p:stCondLst>
                                  <p:childTnLst>
                                    <p:set>
                                      <p:cBhvr>
                                        <p:cTn id="22" dur="1" fill="hold">
                                          <p:stCondLst>
                                            <p:cond delay="0"/>
                                          </p:stCondLst>
                                        </p:cTn>
                                        <p:tgtEl>
                                          <p:spTgt spid="21530"/>
                                        </p:tgtEl>
                                        <p:attrNameLst>
                                          <p:attrName>style.visibility</p:attrName>
                                        </p:attrNameLst>
                                      </p:cBhvr>
                                      <p:to>
                                        <p:strVal val="visible"/>
                                      </p:to>
                                    </p:set>
                                    <p:anim calcmode="lin" valueType="num">
                                      <p:cBhvr additive="base">
                                        <p:cTn id="23" dur="500" fill="hold"/>
                                        <p:tgtEl>
                                          <p:spTgt spid="21530"/>
                                        </p:tgtEl>
                                        <p:attrNameLst>
                                          <p:attrName>ppt_x</p:attrName>
                                        </p:attrNameLst>
                                      </p:cBhvr>
                                      <p:tavLst>
                                        <p:tav tm="0">
                                          <p:val>
                                            <p:strVal val="1+#ppt_w/2"/>
                                          </p:val>
                                        </p:tav>
                                        <p:tav tm="100000">
                                          <p:val>
                                            <p:strVal val="#ppt_x"/>
                                          </p:val>
                                        </p:tav>
                                      </p:tavLst>
                                    </p:anim>
                                    <p:anim calcmode="lin" valueType="num">
                                      <p:cBhvr additive="base">
                                        <p:cTn id="24" dur="500" fill="hold"/>
                                        <p:tgtEl>
                                          <p:spTgt spid="21530"/>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21514"/>
                                        </p:tgtEl>
                                        <p:attrNameLst>
                                          <p:attrName>style.visibility</p:attrName>
                                        </p:attrNameLst>
                                      </p:cBhvr>
                                      <p:to>
                                        <p:strVal val="visible"/>
                                      </p:to>
                                    </p:set>
                                    <p:animEffect transition="in" filter="wipe(up)">
                                      <p:cBhvr>
                                        <p:cTn id="29" dur="500"/>
                                        <p:tgtEl>
                                          <p:spTgt spid="2151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21525"/>
                                        </p:tgtEl>
                                        <p:attrNameLst>
                                          <p:attrName>style.visibility</p:attrName>
                                        </p:attrNameLst>
                                      </p:cBhvr>
                                      <p:to>
                                        <p:strVal val="visible"/>
                                      </p:to>
                                    </p:set>
                                    <p:animEffect transition="in" filter="wipe(up)">
                                      <p:cBhvr>
                                        <p:cTn id="34" dur="500"/>
                                        <p:tgtEl>
                                          <p:spTgt spid="2152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21534"/>
                                        </p:tgtEl>
                                        <p:attrNameLst>
                                          <p:attrName>style.visibility</p:attrName>
                                        </p:attrNameLst>
                                      </p:cBhvr>
                                      <p:to>
                                        <p:strVal val="visible"/>
                                      </p:to>
                                    </p:set>
                                    <p:animEffect transition="in" filter="wipe(up)">
                                      <p:cBhvr>
                                        <p:cTn id="39" dur="500"/>
                                        <p:tgtEl>
                                          <p:spTgt spid="21534"/>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1515"/>
                                        </p:tgtEl>
                                        <p:attrNameLst>
                                          <p:attrName>style.visibility</p:attrName>
                                        </p:attrNameLst>
                                      </p:cBhvr>
                                      <p:to>
                                        <p:strVal val="visible"/>
                                      </p:to>
                                    </p:set>
                                    <p:animEffect transition="in" filter="wipe(left)">
                                      <p:cBhvr>
                                        <p:cTn id="44" dur="500"/>
                                        <p:tgtEl>
                                          <p:spTgt spid="215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autoUpdateAnimBg="0"/>
      <p:bldP spid="21514" grpId="0" autoUpdateAnimBg="0"/>
      <p:bldP spid="21515"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Date Placeholder 2"/>
          <p:cNvSpPr>
            <a:spLocks noGrp="1"/>
          </p:cNvSpPr>
          <p:nvPr>
            <p:ph type="dt" sz="half" idx="10"/>
          </p:nvPr>
        </p:nvSpPr>
        <p:spPr/>
        <p:txBody>
          <a:bodyPr/>
          <a:lstStyle/>
          <a:p>
            <a:fld id="{43520989-099C-475C-9047-F4CD488788F3}" type="datetime1">
              <a:rPr lang="en-GB" altLang="en-US"/>
              <a:pPr/>
              <a:t>02/06/2020</a:t>
            </a:fld>
            <a:endParaRPr lang="en-GB" altLang="en-US"/>
          </a:p>
        </p:txBody>
      </p:sp>
      <p:sp>
        <p:nvSpPr>
          <p:cNvPr id="20482" name="Rectangle 2"/>
          <p:cNvSpPr>
            <a:spLocks noGrp="1" noChangeArrowheads="1"/>
          </p:cNvSpPr>
          <p:nvPr>
            <p:ph type="title"/>
          </p:nvPr>
        </p:nvSpPr>
        <p:spPr/>
        <p:txBody>
          <a:bodyPr/>
          <a:lstStyle/>
          <a:p>
            <a:r>
              <a:rPr lang="en-GB" altLang="en-US"/>
              <a:t>Ionic bonding</a:t>
            </a:r>
          </a:p>
        </p:txBody>
      </p:sp>
      <p:grpSp>
        <p:nvGrpSpPr>
          <p:cNvPr id="20495" name="Group 15"/>
          <p:cNvGrpSpPr>
            <a:grpSpLocks/>
          </p:cNvGrpSpPr>
          <p:nvPr/>
        </p:nvGrpSpPr>
        <p:grpSpPr bwMode="auto">
          <a:xfrm>
            <a:off x="247650" y="1700213"/>
            <a:ext cx="1676400" cy="1676400"/>
            <a:chOff x="480" y="1920"/>
            <a:chExt cx="1056" cy="1056"/>
          </a:xfrm>
        </p:grpSpPr>
        <p:sp>
          <p:nvSpPr>
            <p:cNvPr id="20484" name="Oval 4"/>
            <p:cNvSpPr>
              <a:spLocks noChangeArrowheads="1"/>
            </p:cNvSpPr>
            <p:nvPr/>
          </p:nvSpPr>
          <p:spPr bwMode="auto">
            <a:xfrm>
              <a:off x="480" y="1920"/>
              <a:ext cx="1056" cy="1056"/>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485" name="Text Box 5"/>
            <p:cNvSpPr txBox="1">
              <a:spLocks noChangeArrowheads="1"/>
            </p:cNvSpPr>
            <p:nvPr/>
          </p:nvSpPr>
          <p:spPr bwMode="auto">
            <a:xfrm>
              <a:off x="816" y="230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chemeClr val="accent1"/>
                  </a:solidFill>
                </a:rPr>
                <a:t>Na</a:t>
              </a:r>
            </a:p>
          </p:txBody>
        </p:sp>
        <p:sp>
          <p:nvSpPr>
            <p:cNvPr id="20488" name="Oval 8"/>
            <p:cNvSpPr>
              <a:spLocks noChangeArrowheads="1"/>
            </p:cNvSpPr>
            <p:nvPr/>
          </p:nvSpPr>
          <p:spPr bwMode="auto">
            <a:xfrm>
              <a:off x="1200" y="192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0483" name="Text Box 3"/>
          <p:cNvSpPr txBox="1">
            <a:spLocks noChangeArrowheads="1"/>
          </p:cNvSpPr>
          <p:nvPr/>
        </p:nvSpPr>
        <p:spPr bwMode="auto">
          <a:xfrm>
            <a:off x="0" y="685800"/>
            <a:ext cx="91440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solidFill>
                  <a:schemeClr val="hlink"/>
                </a:solidFill>
              </a:rPr>
              <a:t>This is where a metal bonds with a non-metal (usually).  Instead of sharing the electrons one of the atoms “_____” one or more electrons to the other.  For example, consider sodium and chlorine:</a:t>
            </a:r>
          </a:p>
        </p:txBody>
      </p:sp>
      <p:sp>
        <p:nvSpPr>
          <p:cNvPr id="20497" name="Text Box 17"/>
          <p:cNvSpPr txBox="1">
            <a:spLocks noChangeArrowheads="1"/>
          </p:cNvSpPr>
          <p:nvPr/>
        </p:nvSpPr>
        <p:spPr bwMode="auto">
          <a:xfrm>
            <a:off x="2133600" y="1852613"/>
            <a:ext cx="48768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solidFill>
                  <a:srgbClr val="FFFF99"/>
                </a:solidFill>
              </a:rPr>
              <a:t>Sodium has 1 electron on its outer shell and chlorine has 7, so if sodium gives its electron to chlorine they both have a ___ outer shell and are ______.</a:t>
            </a:r>
          </a:p>
        </p:txBody>
      </p:sp>
      <p:grpSp>
        <p:nvGrpSpPr>
          <p:cNvPr id="20560" name="Group 80"/>
          <p:cNvGrpSpPr>
            <a:grpSpLocks/>
          </p:cNvGrpSpPr>
          <p:nvPr/>
        </p:nvGrpSpPr>
        <p:grpSpPr bwMode="auto">
          <a:xfrm>
            <a:off x="280988" y="3284538"/>
            <a:ext cx="4056062" cy="1768475"/>
            <a:chOff x="177" y="2069"/>
            <a:chExt cx="2555" cy="1114"/>
          </a:xfrm>
        </p:grpSpPr>
        <p:grpSp>
          <p:nvGrpSpPr>
            <p:cNvPr id="20521" name="Group 41"/>
            <p:cNvGrpSpPr>
              <a:grpSpLocks/>
            </p:cNvGrpSpPr>
            <p:nvPr/>
          </p:nvGrpSpPr>
          <p:grpSpPr bwMode="auto">
            <a:xfrm>
              <a:off x="1292" y="2069"/>
              <a:ext cx="1440" cy="1101"/>
              <a:chOff x="1200" y="2304"/>
              <a:chExt cx="1632" cy="1248"/>
            </a:xfrm>
          </p:grpSpPr>
          <p:grpSp>
            <p:nvGrpSpPr>
              <p:cNvPr id="20511" name="Group 31"/>
              <p:cNvGrpSpPr>
                <a:grpSpLocks/>
              </p:cNvGrpSpPr>
              <p:nvPr/>
            </p:nvGrpSpPr>
            <p:grpSpPr bwMode="auto">
              <a:xfrm>
                <a:off x="1344" y="2448"/>
                <a:ext cx="1056" cy="1056"/>
                <a:chOff x="1440" y="2448"/>
                <a:chExt cx="1056" cy="1056"/>
              </a:xfrm>
            </p:grpSpPr>
            <p:sp>
              <p:nvSpPr>
                <p:cNvPr id="20499" name="Oval 19"/>
                <p:cNvSpPr>
                  <a:spLocks noChangeArrowheads="1"/>
                </p:cNvSpPr>
                <p:nvPr/>
              </p:nvSpPr>
              <p:spPr bwMode="auto">
                <a:xfrm>
                  <a:off x="1440" y="2448"/>
                  <a:ext cx="1056" cy="1056"/>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500" name="Text Box 20"/>
                <p:cNvSpPr txBox="1">
                  <a:spLocks noChangeArrowheads="1"/>
                </p:cNvSpPr>
                <p:nvPr/>
              </p:nvSpPr>
              <p:spPr bwMode="auto">
                <a:xfrm>
                  <a:off x="1777" y="2832"/>
                  <a:ext cx="43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chemeClr val="accent1"/>
                      </a:solidFill>
                    </a:rPr>
                    <a:t>Na</a:t>
                  </a:r>
                </a:p>
              </p:txBody>
            </p:sp>
          </p:grpSp>
          <p:sp>
            <p:nvSpPr>
              <p:cNvPr id="20515" name="AutoShape 35"/>
              <p:cNvSpPr>
                <a:spLocks/>
              </p:cNvSpPr>
              <p:nvPr/>
            </p:nvSpPr>
            <p:spPr bwMode="auto">
              <a:xfrm>
                <a:off x="1200" y="2400"/>
                <a:ext cx="288" cy="1152"/>
              </a:xfrm>
              <a:prstGeom prst="leftBracket">
                <a:avLst>
                  <a:gd name="adj" fmla="val 0"/>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517" name="AutoShape 37"/>
              <p:cNvSpPr>
                <a:spLocks/>
              </p:cNvSpPr>
              <p:nvPr/>
            </p:nvSpPr>
            <p:spPr bwMode="auto">
              <a:xfrm flipH="1">
                <a:off x="2256" y="2400"/>
                <a:ext cx="288" cy="1152"/>
              </a:xfrm>
              <a:prstGeom prst="leftBracket">
                <a:avLst>
                  <a:gd name="adj" fmla="val 0"/>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519" name="Text Box 39"/>
              <p:cNvSpPr txBox="1">
                <a:spLocks noChangeArrowheads="1"/>
              </p:cNvSpPr>
              <p:nvPr/>
            </p:nvSpPr>
            <p:spPr bwMode="auto">
              <a:xfrm>
                <a:off x="2544" y="2304"/>
                <a:ext cx="288"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t>+</a:t>
                </a:r>
              </a:p>
            </p:txBody>
          </p:sp>
        </p:grpSp>
        <p:sp>
          <p:nvSpPr>
            <p:cNvPr id="20513" name="Text Box 33"/>
            <p:cNvSpPr txBox="1">
              <a:spLocks noChangeArrowheads="1"/>
            </p:cNvSpPr>
            <p:nvPr/>
          </p:nvSpPr>
          <p:spPr bwMode="auto">
            <a:xfrm>
              <a:off x="177" y="2357"/>
              <a:ext cx="1008" cy="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solidFill>
                    <a:srgbClr val="CCFFCC"/>
                  </a:solidFill>
                </a:rPr>
                <a:t>A _______ charged sodium ion (cation)</a:t>
              </a:r>
            </a:p>
          </p:txBody>
        </p:sp>
      </p:grpSp>
      <p:grpSp>
        <p:nvGrpSpPr>
          <p:cNvPr id="20555" name="Group 75"/>
          <p:cNvGrpSpPr>
            <a:grpSpLocks/>
          </p:cNvGrpSpPr>
          <p:nvPr/>
        </p:nvGrpSpPr>
        <p:grpSpPr bwMode="auto">
          <a:xfrm>
            <a:off x="7235825" y="1773238"/>
            <a:ext cx="1676400" cy="1600200"/>
            <a:chOff x="4560" y="1200"/>
            <a:chExt cx="1056" cy="1008"/>
          </a:xfrm>
        </p:grpSpPr>
        <p:sp>
          <p:nvSpPr>
            <p:cNvPr id="20486" name="Oval 6"/>
            <p:cNvSpPr>
              <a:spLocks noChangeArrowheads="1"/>
            </p:cNvSpPr>
            <p:nvPr/>
          </p:nvSpPr>
          <p:spPr bwMode="auto">
            <a:xfrm>
              <a:off x="4608" y="1200"/>
              <a:ext cx="960" cy="96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487" name="Text Box 7"/>
            <p:cNvSpPr txBox="1">
              <a:spLocks noChangeArrowheads="1"/>
            </p:cNvSpPr>
            <p:nvPr/>
          </p:nvSpPr>
          <p:spPr bwMode="auto">
            <a:xfrm>
              <a:off x="4944" y="153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9999"/>
                  </a:solidFill>
                </a:rPr>
                <a:t>Cl</a:t>
              </a:r>
            </a:p>
          </p:txBody>
        </p:sp>
        <p:sp>
          <p:nvSpPr>
            <p:cNvPr id="20489" name="Oval 9"/>
            <p:cNvSpPr>
              <a:spLocks noChangeArrowheads="1"/>
            </p:cNvSpPr>
            <p:nvPr/>
          </p:nvSpPr>
          <p:spPr bwMode="auto">
            <a:xfrm>
              <a:off x="4800" y="1200"/>
              <a:ext cx="96" cy="9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490" name="Oval 10"/>
            <p:cNvSpPr>
              <a:spLocks noChangeArrowheads="1"/>
            </p:cNvSpPr>
            <p:nvPr/>
          </p:nvSpPr>
          <p:spPr bwMode="auto">
            <a:xfrm>
              <a:off x="5232" y="1200"/>
              <a:ext cx="96" cy="9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491" name="Oval 11"/>
            <p:cNvSpPr>
              <a:spLocks noChangeArrowheads="1"/>
            </p:cNvSpPr>
            <p:nvPr/>
          </p:nvSpPr>
          <p:spPr bwMode="auto">
            <a:xfrm>
              <a:off x="4560" y="1536"/>
              <a:ext cx="96" cy="9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492" name="Oval 12"/>
            <p:cNvSpPr>
              <a:spLocks noChangeArrowheads="1"/>
            </p:cNvSpPr>
            <p:nvPr/>
          </p:nvSpPr>
          <p:spPr bwMode="auto">
            <a:xfrm>
              <a:off x="4704" y="1968"/>
              <a:ext cx="96" cy="9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493" name="Oval 13"/>
            <p:cNvSpPr>
              <a:spLocks noChangeArrowheads="1"/>
            </p:cNvSpPr>
            <p:nvPr/>
          </p:nvSpPr>
          <p:spPr bwMode="auto">
            <a:xfrm>
              <a:off x="5376" y="1968"/>
              <a:ext cx="96" cy="9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494" name="Oval 14"/>
            <p:cNvSpPr>
              <a:spLocks noChangeArrowheads="1"/>
            </p:cNvSpPr>
            <p:nvPr/>
          </p:nvSpPr>
          <p:spPr bwMode="auto">
            <a:xfrm>
              <a:off x="5520" y="1632"/>
              <a:ext cx="96" cy="9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553" name="Oval 73"/>
            <p:cNvSpPr>
              <a:spLocks noChangeArrowheads="1"/>
            </p:cNvSpPr>
            <p:nvPr/>
          </p:nvSpPr>
          <p:spPr bwMode="auto">
            <a:xfrm>
              <a:off x="4992" y="2112"/>
              <a:ext cx="96" cy="9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0561" name="Group 81"/>
          <p:cNvGrpSpPr>
            <a:grpSpLocks/>
          </p:cNvGrpSpPr>
          <p:nvPr/>
        </p:nvGrpSpPr>
        <p:grpSpPr bwMode="auto">
          <a:xfrm>
            <a:off x="5076825" y="3265488"/>
            <a:ext cx="4067175" cy="1768475"/>
            <a:chOff x="3198" y="2053"/>
            <a:chExt cx="2562" cy="1114"/>
          </a:xfrm>
        </p:grpSpPr>
        <p:sp>
          <p:nvSpPr>
            <p:cNvPr id="20514" name="Text Box 34"/>
            <p:cNvSpPr txBox="1">
              <a:spLocks noChangeArrowheads="1"/>
            </p:cNvSpPr>
            <p:nvPr/>
          </p:nvSpPr>
          <p:spPr bwMode="auto">
            <a:xfrm>
              <a:off x="4416" y="2341"/>
              <a:ext cx="1344" cy="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solidFill>
                    <a:srgbClr val="FF9999"/>
                  </a:solidFill>
                </a:rPr>
                <a:t>A _________ charged chloride ion (______)</a:t>
              </a:r>
            </a:p>
          </p:txBody>
        </p:sp>
        <p:grpSp>
          <p:nvGrpSpPr>
            <p:cNvPr id="20556" name="Group 76"/>
            <p:cNvGrpSpPr>
              <a:grpSpLocks/>
            </p:cNvGrpSpPr>
            <p:nvPr/>
          </p:nvGrpSpPr>
          <p:grpSpPr bwMode="auto">
            <a:xfrm>
              <a:off x="3198" y="2053"/>
              <a:ext cx="1355" cy="1101"/>
              <a:chOff x="3216" y="2208"/>
              <a:chExt cx="1355" cy="1101"/>
            </a:xfrm>
          </p:grpSpPr>
          <p:grpSp>
            <p:nvGrpSpPr>
              <p:cNvPr id="20522" name="Group 42"/>
              <p:cNvGrpSpPr>
                <a:grpSpLocks/>
              </p:cNvGrpSpPr>
              <p:nvPr/>
            </p:nvGrpSpPr>
            <p:grpSpPr bwMode="auto">
              <a:xfrm>
                <a:off x="3216" y="2208"/>
                <a:ext cx="1355" cy="1101"/>
                <a:chOff x="3120" y="2304"/>
                <a:chExt cx="1536" cy="1248"/>
              </a:xfrm>
            </p:grpSpPr>
            <p:grpSp>
              <p:nvGrpSpPr>
                <p:cNvPr id="20512" name="Group 32"/>
                <p:cNvGrpSpPr>
                  <a:grpSpLocks/>
                </p:cNvGrpSpPr>
                <p:nvPr/>
              </p:nvGrpSpPr>
              <p:grpSpPr bwMode="auto">
                <a:xfrm>
                  <a:off x="3216" y="2496"/>
                  <a:ext cx="1056" cy="960"/>
                  <a:chOff x="3216" y="2496"/>
                  <a:chExt cx="1056" cy="960"/>
                </a:xfrm>
              </p:grpSpPr>
              <p:sp>
                <p:nvSpPr>
                  <p:cNvPr id="20503" name="Oval 23"/>
                  <p:cNvSpPr>
                    <a:spLocks noChangeArrowheads="1"/>
                  </p:cNvSpPr>
                  <p:nvPr/>
                </p:nvSpPr>
                <p:spPr bwMode="auto">
                  <a:xfrm>
                    <a:off x="3264" y="2496"/>
                    <a:ext cx="960" cy="96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501" name="Oval 21"/>
                  <p:cNvSpPr>
                    <a:spLocks noChangeArrowheads="1"/>
                  </p:cNvSpPr>
                  <p:nvPr/>
                </p:nvSpPr>
                <p:spPr bwMode="auto">
                  <a:xfrm>
                    <a:off x="3312" y="264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504" name="Text Box 24"/>
                  <p:cNvSpPr txBox="1">
                    <a:spLocks noChangeArrowheads="1"/>
                  </p:cNvSpPr>
                  <p:nvPr/>
                </p:nvSpPr>
                <p:spPr bwMode="auto">
                  <a:xfrm>
                    <a:off x="3601" y="2831"/>
                    <a:ext cx="38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9999"/>
                        </a:solidFill>
                      </a:rPr>
                      <a:t>Cl</a:t>
                    </a:r>
                  </a:p>
                </p:txBody>
              </p:sp>
              <p:sp>
                <p:nvSpPr>
                  <p:cNvPr id="20505" name="Oval 25"/>
                  <p:cNvSpPr>
                    <a:spLocks noChangeArrowheads="1"/>
                  </p:cNvSpPr>
                  <p:nvPr/>
                </p:nvSpPr>
                <p:spPr bwMode="auto">
                  <a:xfrm>
                    <a:off x="3456" y="2496"/>
                    <a:ext cx="96" cy="9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506" name="Oval 26"/>
                  <p:cNvSpPr>
                    <a:spLocks noChangeArrowheads="1"/>
                  </p:cNvSpPr>
                  <p:nvPr/>
                </p:nvSpPr>
                <p:spPr bwMode="auto">
                  <a:xfrm>
                    <a:off x="3888" y="2496"/>
                    <a:ext cx="96" cy="9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507" name="Oval 27"/>
                  <p:cNvSpPr>
                    <a:spLocks noChangeArrowheads="1"/>
                  </p:cNvSpPr>
                  <p:nvPr/>
                </p:nvSpPr>
                <p:spPr bwMode="auto">
                  <a:xfrm>
                    <a:off x="3216" y="2832"/>
                    <a:ext cx="96" cy="9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508" name="Oval 28"/>
                  <p:cNvSpPr>
                    <a:spLocks noChangeArrowheads="1"/>
                  </p:cNvSpPr>
                  <p:nvPr/>
                </p:nvSpPr>
                <p:spPr bwMode="auto">
                  <a:xfrm>
                    <a:off x="3360" y="3264"/>
                    <a:ext cx="96" cy="9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509" name="Oval 29"/>
                  <p:cNvSpPr>
                    <a:spLocks noChangeArrowheads="1"/>
                  </p:cNvSpPr>
                  <p:nvPr/>
                </p:nvSpPr>
                <p:spPr bwMode="auto">
                  <a:xfrm>
                    <a:off x="3936" y="3360"/>
                    <a:ext cx="96" cy="9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510" name="Oval 30"/>
                  <p:cNvSpPr>
                    <a:spLocks noChangeArrowheads="1"/>
                  </p:cNvSpPr>
                  <p:nvPr/>
                </p:nvSpPr>
                <p:spPr bwMode="auto">
                  <a:xfrm>
                    <a:off x="4176" y="2928"/>
                    <a:ext cx="96" cy="9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0516" name="AutoShape 36"/>
                <p:cNvSpPr>
                  <a:spLocks/>
                </p:cNvSpPr>
                <p:nvPr/>
              </p:nvSpPr>
              <p:spPr bwMode="auto">
                <a:xfrm>
                  <a:off x="3120" y="2400"/>
                  <a:ext cx="288" cy="1152"/>
                </a:xfrm>
                <a:prstGeom prst="leftBracket">
                  <a:avLst>
                    <a:gd name="adj" fmla="val 0"/>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518" name="AutoShape 38"/>
                <p:cNvSpPr>
                  <a:spLocks/>
                </p:cNvSpPr>
                <p:nvPr/>
              </p:nvSpPr>
              <p:spPr bwMode="auto">
                <a:xfrm flipH="1">
                  <a:off x="4080" y="2400"/>
                  <a:ext cx="288" cy="1152"/>
                </a:xfrm>
                <a:prstGeom prst="leftBracket">
                  <a:avLst>
                    <a:gd name="adj" fmla="val 0"/>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520" name="Text Box 40"/>
                <p:cNvSpPr txBox="1">
                  <a:spLocks noChangeArrowheads="1"/>
                </p:cNvSpPr>
                <p:nvPr/>
              </p:nvSpPr>
              <p:spPr bwMode="auto">
                <a:xfrm>
                  <a:off x="4368" y="2304"/>
                  <a:ext cx="288"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t>-</a:t>
                  </a:r>
                </a:p>
              </p:txBody>
            </p:sp>
          </p:grpSp>
          <p:sp>
            <p:nvSpPr>
              <p:cNvPr id="20554" name="Oval 74"/>
              <p:cNvSpPr>
                <a:spLocks noChangeArrowheads="1"/>
              </p:cNvSpPr>
              <p:nvPr/>
            </p:nvSpPr>
            <p:spPr bwMode="auto">
              <a:xfrm>
                <a:off x="4080" y="2544"/>
                <a:ext cx="96" cy="9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sp>
        <p:nvSpPr>
          <p:cNvPr id="20557" name="Text Box 77"/>
          <p:cNvSpPr txBox="1">
            <a:spLocks noChangeArrowheads="1"/>
          </p:cNvSpPr>
          <p:nvPr/>
        </p:nvSpPr>
        <p:spPr bwMode="auto">
          <a:xfrm>
            <a:off x="0" y="5157788"/>
            <a:ext cx="91440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solidFill>
                  <a:srgbClr val="FFFF99"/>
                </a:solidFill>
              </a:rPr>
              <a:t>Group 1 _______ will always form ions with a charge of +1 when they react with group 7 elements.  The group 7 element will always form a negative ion with charge -1.</a:t>
            </a:r>
          </a:p>
        </p:txBody>
      </p:sp>
      <p:sp>
        <p:nvSpPr>
          <p:cNvPr id="20559" name="Text Box 79"/>
          <p:cNvSpPr txBox="1">
            <a:spLocks noChangeArrowheads="1"/>
          </p:cNvSpPr>
          <p:nvPr/>
        </p:nvSpPr>
        <p:spPr bwMode="auto">
          <a:xfrm>
            <a:off x="179388" y="6237288"/>
            <a:ext cx="8856662" cy="422275"/>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2000" b="1"/>
              <a:t>Words</a:t>
            </a:r>
            <a:r>
              <a:rPr lang="en-GB" altLang="en-US" sz="2000"/>
              <a:t> – full, transfers, positively, negatively, metals, anion, stable</a:t>
            </a:r>
          </a:p>
        </p:txBody>
      </p:sp>
    </p:spTree>
    <p:extLst>
      <p:ext uri="{BB962C8B-B14F-4D97-AF65-F5344CB8AC3E}">
        <p14:creationId xmlns:p14="http://schemas.microsoft.com/office/powerpoint/2010/main" val="34880422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559"/>
                                        </p:tgtEl>
                                        <p:attrNameLst>
                                          <p:attrName>style.visibility</p:attrName>
                                        </p:attrNameLst>
                                      </p:cBhvr>
                                      <p:to>
                                        <p:strVal val="visible"/>
                                      </p:to>
                                    </p:set>
                                    <p:anim calcmode="lin" valueType="num">
                                      <p:cBhvr additive="base">
                                        <p:cTn id="7" dur="500" fill="hold"/>
                                        <p:tgtEl>
                                          <p:spTgt spid="20559"/>
                                        </p:tgtEl>
                                        <p:attrNameLst>
                                          <p:attrName>ppt_x</p:attrName>
                                        </p:attrNameLst>
                                      </p:cBhvr>
                                      <p:tavLst>
                                        <p:tav tm="0">
                                          <p:val>
                                            <p:strVal val="#ppt_x"/>
                                          </p:val>
                                        </p:tav>
                                        <p:tav tm="100000">
                                          <p:val>
                                            <p:strVal val="#ppt_x"/>
                                          </p:val>
                                        </p:tav>
                                      </p:tavLst>
                                    </p:anim>
                                    <p:anim calcmode="lin" valueType="num">
                                      <p:cBhvr additive="base">
                                        <p:cTn id="8" dur="500" fill="hold"/>
                                        <p:tgtEl>
                                          <p:spTgt spid="2055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0483"/>
                                        </p:tgtEl>
                                        <p:attrNameLst>
                                          <p:attrName>style.visibility</p:attrName>
                                        </p:attrNameLst>
                                      </p:cBhvr>
                                      <p:to>
                                        <p:strVal val="visible"/>
                                      </p:to>
                                    </p:set>
                                    <p:animEffect transition="in" filter="wipe(left)">
                                      <p:cBhvr>
                                        <p:cTn id="13" dur="500"/>
                                        <p:tgtEl>
                                          <p:spTgt spid="2048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0495"/>
                                        </p:tgtEl>
                                        <p:attrNameLst>
                                          <p:attrName>style.visibility</p:attrName>
                                        </p:attrNameLst>
                                      </p:cBhvr>
                                      <p:to>
                                        <p:strVal val="visible"/>
                                      </p:to>
                                    </p:set>
                                    <p:animEffect transition="in" filter="wipe(left)">
                                      <p:cBhvr>
                                        <p:cTn id="18" dur="500"/>
                                        <p:tgtEl>
                                          <p:spTgt spid="20495"/>
                                        </p:tgtEl>
                                      </p:cBhvr>
                                    </p:animEffect>
                                  </p:childTnLst>
                                </p:cTn>
                              </p:par>
                              <p:par>
                                <p:cTn id="19" presetID="22" presetClass="entr" presetSubtype="8" fill="hold" nodeType="withEffect">
                                  <p:stCondLst>
                                    <p:cond delay="0"/>
                                  </p:stCondLst>
                                  <p:childTnLst>
                                    <p:set>
                                      <p:cBhvr>
                                        <p:cTn id="20" dur="1" fill="hold">
                                          <p:stCondLst>
                                            <p:cond delay="0"/>
                                          </p:stCondLst>
                                        </p:cTn>
                                        <p:tgtEl>
                                          <p:spTgt spid="20555"/>
                                        </p:tgtEl>
                                        <p:attrNameLst>
                                          <p:attrName>style.visibility</p:attrName>
                                        </p:attrNameLst>
                                      </p:cBhvr>
                                      <p:to>
                                        <p:strVal val="visible"/>
                                      </p:to>
                                    </p:set>
                                    <p:animEffect transition="in" filter="wipe(left)">
                                      <p:cBhvr>
                                        <p:cTn id="21" dur="500"/>
                                        <p:tgtEl>
                                          <p:spTgt spid="2055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0497"/>
                                        </p:tgtEl>
                                        <p:attrNameLst>
                                          <p:attrName>style.visibility</p:attrName>
                                        </p:attrNameLst>
                                      </p:cBhvr>
                                      <p:to>
                                        <p:strVal val="visible"/>
                                      </p:to>
                                    </p:set>
                                    <p:animEffect transition="in" filter="wipe(left)">
                                      <p:cBhvr>
                                        <p:cTn id="26" dur="500"/>
                                        <p:tgtEl>
                                          <p:spTgt spid="2049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20560"/>
                                        </p:tgtEl>
                                        <p:attrNameLst>
                                          <p:attrName>style.visibility</p:attrName>
                                        </p:attrNameLst>
                                      </p:cBhvr>
                                      <p:to>
                                        <p:strVal val="visible"/>
                                      </p:to>
                                    </p:set>
                                    <p:animEffect transition="in" filter="wipe(left)">
                                      <p:cBhvr>
                                        <p:cTn id="31" dur="500"/>
                                        <p:tgtEl>
                                          <p:spTgt spid="2056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0561"/>
                                        </p:tgtEl>
                                        <p:attrNameLst>
                                          <p:attrName>style.visibility</p:attrName>
                                        </p:attrNameLst>
                                      </p:cBhvr>
                                      <p:to>
                                        <p:strVal val="visible"/>
                                      </p:to>
                                    </p:set>
                                    <p:animEffect transition="in" filter="wipe(left)">
                                      <p:cBhvr>
                                        <p:cTn id="36" dur="500"/>
                                        <p:tgtEl>
                                          <p:spTgt spid="2056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0557"/>
                                        </p:tgtEl>
                                        <p:attrNameLst>
                                          <p:attrName>style.visibility</p:attrName>
                                        </p:attrNameLst>
                                      </p:cBhvr>
                                      <p:to>
                                        <p:strVal val="visible"/>
                                      </p:to>
                                    </p:set>
                                    <p:animEffect transition="in" filter="wipe(left)">
                                      <p:cBhvr>
                                        <p:cTn id="41" dur="500"/>
                                        <p:tgtEl>
                                          <p:spTgt spid="20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p:bldP spid="20497" grpId="0"/>
      <p:bldP spid="20557" grpId="0"/>
      <p:bldP spid="2055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4"/>
          <p:cNvSpPr>
            <a:spLocks noGrp="1" noChangeArrowheads="1"/>
          </p:cNvSpPr>
          <p:nvPr>
            <p:ph type="dt" sz="half" idx="10"/>
          </p:nvPr>
        </p:nvSpPr>
        <p:spPr>
          <a:ln/>
        </p:spPr>
        <p:txBody>
          <a:bodyPr/>
          <a:lstStyle/>
          <a:p>
            <a:pPr>
              <a:defRPr/>
            </a:pPr>
            <a:fld id="{14C0AAE6-01BB-4BE0-BA34-36B06C468018}" type="datetime1">
              <a:rPr lang="en-GB"/>
              <a:pPr>
                <a:defRPr/>
              </a:pPr>
              <a:t>02/06/2020</a:t>
            </a:fld>
            <a:endParaRPr lang="en-GB"/>
          </a:p>
        </p:txBody>
      </p:sp>
      <p:sp>
        <p:nvSpPr>
          <p:cNvPr id="143362" name="Rectangle 2"/>
          <p:cNvSpPr>
            <a:spLocks noGrp="1" noChangeArrowheads="1"/>
          </p:cNvSpPr>
          <p:nvPr>
            <p:ph type="title"/>
          </p:nvPr>
        </p:nvSpPr>
        <p:spPr/>
        <p:txBody>
          <a:bodyPr/>
          <a:lstStyle/>
          <a:p>
            <a:pPr eaLnBrk="1" hangingPunct="1">
              <a:defRPr/>
            </a:pPr>
            <a:r>
              <a:rPr lang="en-GB" dirty="0"/>
              <a:t>Mass and atomic number</a:t>
            </a:r>
          </a:p>
        </p:txBody>
      </p:sp>
      <p:sp>
        <p:nvSpPr>
          <p:cNvPr id="107548" name="Text Box 27"/>
          <p:cNvSpPr txBox="1">
            <a:spLocks noChangeArrowheads="1"/>
          </p:cNvSpPr>
          <p:nvPr/>
        </p:nvSpPr>
        <p:spPr bwMode="auto">
          <a:xfrm>
            <a:off x="0" y="645551"/>
            <a:ext cx="9144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spcBef>
                <a:spcPct val="50000"/>
              </a:spcBef>
            </a:pPr>
            <a:r>
              <a:rPr lang="en-GB" altLang="en-US" i="1" dirty="0">
                <a:solidFill>
                  <a:srgbClr val="FFCCFF"/>
                </a:solidFill>
              </a:rPr>
              <a:t>How many protons, neutrons and electrons would you find in these ions?</a:t>
            </a:r>
          </a:p>
        </p:txBody>
      </p:sp>
      <p:grpSp>
        <p:nvGrpSpPr>
          <p:cNvPr id="6" name="Group 5"/>
          <p:cNvGrpSpPr/>
          <p:nvPr/>
        </p:nvGrpSpPr>
        <p:grpSpPr>
          <a:xfrm>
            <a:off x="533400" y="1600200"/>
            <a:ext cx="5334744" cy="1606296"/>
            <a:chOff x="533400" y="1600200"/>
            <a:chExt cx="5334744" cy="1606296"/>
          </a:xfrm>
        </p:grpSpPr>
        <p:grpSp>
          <p:nvGrpSpPr>
            <p:cNvPr id="2" name="Group 1"/>
            <p:cNvGrpSpPr/>
            <p:nvPr/>
          </p:nvGrpSpPr>
          <p:grpSpPr>
            <a:xfrm>
              <a:off x="533400" y="1600200"/>
              <a:ext cx="1295400" cy="1606296"/>
              <a:chOff x="533400" y="1600200"/>
              <a:chExt cx="1905000" cy="2362200"/>
            </a:xfrm>
          </p:grpSpPr>
          <p:sp>
            <p:nvSpPr>
              <p:cNvPr id="107524" name="Rectangle 3"/>
              <p:cNvSpPr>
                <a:spLocks noChangeArrowheads="1"/>
              </p:cNvSpPr>
              <p:nvPr/>
            </p:nvSpPr>
            <p:spPr bwMode="auto">
              <a:xfrm>
                <a:off x="533400" y="1600200"/>
                <a:ext cx="1905000" cy="2362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107525" name="WordArt 4"/>
              <p:cNvSpPr>
                <a:spLocks noChangeArrowheads="1" noChangeShapeType="1" noTextEdit="1"/>
              </p:cNvSpPr>
              <p:nvPr/>
            </p:nvSpPr>
            <p:spPr bwMode="auto">
              <a:xfrm>
                <a:off x="1066800" y="2286000"/>
                <a:ext cx="838200" cy="9525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3366"/>
                    </a:solidFill>
                    <a:latin typeface="Arial Black" panose="020B0A04020102020204" pitchFamily="34" charset="0"/>
                  </a:rPr>
                  <a:t>H</a:t>
                </a:r>
              </a:p>
            </p:txBody>
          </p:sp>
          <p:sp>
            <p:nvSpPr>
              <p:cNvPr id="107526" name="WordArt 5"/>
              <p:cNvSpPr>
                <a:spLocks noChangeArrowheads="1" noChangeShapeType="1" noTextEdit="1"/>
              </p:cNvSpPr>
              <p:nvPr/>
            </p:nvSpPr>
            <p:spPr bwMode="auto">
              <a:xfrm>
                <a:off x="1981200" y="3429000"/>
                <a:ext cx="304800" cy="3429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8000"/>
                    </a:solidFill>
                    <a:latin typeface="Arial Black" panose="020B0A04020102020204" pitchFamily="34" charset="0"/>
                  </a:rPr>
                  <a:t>1</a:t>
                </a:r>
              </a:p>
            </p:txBody>
          </p:sp>
          <p:sp>
            <p:nvSpPr>
              <p:cNvPr id="107527" name="WordArt 6"/>
              <p:cNvSpPr>
                <a:spLocks noChangeArrowheads="1" noChangeShapeType="1" noTextEdit="1"/>
              </p:cNvSpPr>
              <p:nvPr/>
            </p:nvSpPr>
            <p:spPr bwMode="auto">
              <a:xfrm>
                <a:off x="1981200" y="1752600"/>
                <a:ext cx="304800" cy="3810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800000"/>
                    </a:solidFill>
                    <a:latin typeface="Arial Black" panose="020B0A04020102020204" pitchFamily="34" charset="0"/>
                  </a:rPr>
                  <a:t>1</a:t>
                </a:r>
              </a:p>
            </p:txBody>
          </p:sp>
        </p:grpSp>
        <p:sp>
          <p:nvSpPr>
            <p:cNvPr id="5" name="TextBox 4"/>
            <p:cNvSpPr txBox="1"/>
            <p:nvPr/>
          </p:nvSpPr>
          <p:spPr>
            <a:xfrm>
              <a:off x="2161915" y="2079101"/>
              <a:ext cx="3706229" cy="584775"/>
            </a:xfrm>
            <a:prstGeom prst="rect">
              <a:avLst/>
            </a:prstGeom>
            <a:noFill/>
          </p:spPr>
          <p:txBody>
            <a:bodyPr wrap="square" rtlCol="0">
              <a:spAutoFit/>
            </a:bodyPr>
            <a:lstStyle/>
            <a:p>
              <a:r>
                <a:rPr lang="en-GB" sz="3200" dirty="0">
                  <a:solidFill>
                    <a:srgbClr val="FFFF99"/>
                  </a:solidFill>
                </a:rPr>
                <a:t>Hydrogen ion, H</a:t>
              </a:r>
              <a:r>
                <a:rPr lang="en-GB" sz="3200" baseline="30000" dirty="0">
                  <a:solidFill>
                    <a:srgbClr val="FFFF99"/>
                  </a:solidFill>
                </a:rPr>
                <a:t>+</a:t>
              </a:r>
            </a:p>
          </p:txBody>
        </p:sp>
      </p:grpSp>
      <p:grpSp>
        <p:nvGrpSpPr>
          <p:cNvPr id="7" name="Group 6"/>
          <p:cNvGrpSpPr/>
          <p:nvPr/>
        </p:nvGrpSpPr>
        <p:grpSpPr>
          <a:xfrm>
            <a:off x="533400" y="3356992"/>
            <a:ext cx="5334744" cy="1606296"/>
            <a:chOff x="533400" y="3356992"/>
            <a:chExt cx="5334744" cy="1606296"/>
          </a:xfrm>
        </p:grpSpPr>
        <p:grpSp>
          <p:nvGrpSpPr>
            <p:cNvPr id="3" name="Group 2"/>
            <p:cNvGrpSpPr/>
            <p:nvPr/>
          </p:nvGrpSpPr>
          <p:grpSpPr>
            <a:xfrm>
              <a:off x="533400" y="3356992"/>
              <a:ext cx="1295400" cy="1606296"/>
              <a:chOff x="533400" y="4495800"/>
              <a:chExt cx="1905000" cy="2362200"/>
            </a:xfrm>
          </p:grpSpPr>
          <p:sp>
            <p:nvSpPr>
              <p:cNvPr id="107536" name="Rectangle 15"/>
              <p:cNvSpPr>
                <a:spLocks noChangeArrowheads="1"/>
              </p:cNvSpPr>
              <p:nvPr/>
            </p:nvSpPr>
            <p:spPr bwMode="auto">
              <a:xfrm>
                <a:off x="533400" y="4495800"/>
                <a:ext cx="1905000" cy="2362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107537" name="WordArt 16"/>
              <p:cNvSpPr>
                <a:spLocks noChangeArrowheads="1" noChangeShapeType="1" noTextEdit="1"/>
              </p:cNvSpPr>
              <p:nvPr/>
            </p:nvSpPr>
            <p:spPr bwMode="auto">
              <a:xfrm>
                <a:off x="838200" y="5181600"/>
                <a:ext cx="1371600" cy="952500"/>
              </a:xfrm>
              <a:prstGeom prst="rect">
                <a:avLst/>
              </a:prstGeom>
            </p:spPr>
            <p:txBody>
              <a:bodyPr wrap="none" fromWordArt="1">
                <a:prstTxWarp prst="textPlain">
                  <a:avLst>
                    <a:gd name="adj" fmla="val 50000"/>
                  </a:avLst>
                </a:prstTxWarp>
              </a:bodyPr>
              <a:lstStyle/>
              <a:p>
                <a:r>
                  <a:rPr lang="en-GB" sz="3600" kern="10" dirty="0">
                    <a:ln w="9525">
                      <a:solidFill>
                        <a:srgbClr val="000000"/>
                      </a:solidFill>
                      <a:round/>
                      <a:headEnd/>
                      <a:tailEnd/>
                    </a:ln>
                    <a:solidFill>
                      <a:srgbClr val="003366"/>
                    </a:solidFill>
                    <a:latin typeface="Arial Black" panose="020B0A04020102020204" pitchFamily="34" charset="0"/>
                  </a:rPr>
                  <a:t>Na</a:t>
                </a:r>
              </a:p>
            </p:txBody>
          </p:sp>
          <p:sp>
            <p:nvSpPr>
              <p:cNvPr id="107538" name="WordArt 17"/>
              <p:cNvSpPr>
                <a:spLocks noChangeArrowheads="1" noChangeShapeType="1" noTextEdit="1"/>
              </p:cNvSpPr>
              <p:nvPr/>
            </p:nvSpPr>
            <p:spPr bwMode="auto">
              <a:xfrm>
                <a:off x="1905000" y="6324600"/>
                <a:ext cx="381000" cy="3429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8000"/>
                    </a:solidFill>
                    <a:latin typeface="Arial Black" panose="020B0A04020102020204" pitchFamily="34" charset="0"/>
                  </a:rPr>
                  <a:t>11</a:t>
                </a:r>
              </a:p>
            </p:txBody>
          </p:sp>
          <p:sp>
            <p:nvSpPr>
              <p:cNvPr id="107539" name="WordArt 18"/>
              <p:cNvSpPr>
                <a:spLocks noChangeArrowheads="1" noChangeShapeType="1" noTextEdit="1"/>
              </p:cNvSpPr>
              <p:nvPr/>
            </p:nvSpPr>
            <p:spPr bwMode="auto">
              <a:xfrm>
                <a:off x="1828800" y="4648200"/>
                <a:ext cx="457200" cy="3810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800000"/>
                    </a:solidFill>
                    <a:latin typeface="Arial Black" panose="020B0A04020102020204" pitchFamily="34" charset="0"/>
                  </a:rPr>
                  <a:t>23</a:t>
                </a:r>
              </a:p>
            </p:txBody>
          </p:sp>
        </p:grpSp>
        <p:sp>
          <p:nvSpPr>
            <p:cNvPr id="33" name="TextBox 32"/>
            <p:cNvSpPr txBox="1"/>
            <p:nvPr/>
          </p:nvSpPr>
          <p:spPr>
            <a:xfrm>
              <a:off x="2161915" y="3867752"/>
              <a:ext cx="3706229" cy="584775"/>
            </a:xfrm>
            <a:prstGeom prst="rect">
              <a:avLst/>
            </a:prstGeom>
            <a:noFill/>
          </p:spPr>
          <p:txBody>
            <a:bodyPr wrap="square" rtlCol="0">
              <a:spAutoFit/>
            </a:bodyPr>
            <a:lstStyle/>
            <a:p>
              <a:r>
                <a:rPr lang="en-GB" sz="3200" dirty="0">
                  <a:solidFill>
                    <a:srgbClr val="C7FFAA"/>
                  </a:solidFill>
                </a:rPr>
                <a:t>Sodium ion, Na</a:t>
              </a:r>
              <a:r>
                <a:rPr lang="en-GB" sz="3200" baseline="30000" dirty="0">
                  <a:solidFill>
                    <a:srgbClr val="C7FFAA"/>
                  </a:solidFill>
                </a:rPr>
                <a:t>+</a:t>
              </a:r>
            </a:p>
          </p:txBody>
        </p:sp>
      </p:grpSp>
      <p:grpSp>
        <p:nvGrpSpPr>
          <p:cNvPr id="8" name="Group 7"/>
          <p:cNvGrpSpPr/>
          <p:nvPr/>
        </p:nvGrpSpPr>
        <p:grpSpPr>
          <a:xfrm>
            <a:off x="533400" y="5157192"/>
            <a:ext cx="5334744" cy="1614702"/>
            <a:chOff x="533400" y="5157192"/>
            <a:chExt cx="5334744" cy="1614702"/>
          </a:xfrm>
        </p:grpSpPr>
        <p:grpSp>
          <p:nvGrpSpPr>
            <p:cNvPr id="4" name="Group 3"/>
            <p:cNvGrpSpPr/>
            <p:nvPr/>
          </p:nvGrpSpPr>
          <p:grpSpPr>
            <a:xfrm>
              <a:off x="533400" y="5157192"/>
              <a:ext cx="1302179" cy="1614702"/>
              <a:chOff x="3581400" y="4495800"/>
              <a:chExt cx="1905000" cy="2362200"/>
            </a:xfrm>
          </p:grpSpPr>
          <p:sp>
            <p:nvSpPr>
              <p:cNvPr id="107540" name="Rectangle 19"/>
              <p:cNvSpPr>
                <a:spLocks noChangeArrowheads="1"/>
              </p:cNvSpPr>
              <p:nvPr/>
            </p:nvSpPr>
            <p:spPr bwMode="auto">
              <a:xfrm>
                <a:off x="3581400" y="4495800"/>
                <a:ext cx="1905000" cy="2362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endParaRPr lang="en-US" altLang="en-US"/>
              </a:p>
            </p:txBody>
          </p:sp>
          <p:sp>
            <p:nvSpPr>
              <p:cNvPr id="107541" name="WordArt 20"/>
              <p:cNvSpPr>
                <a:spLocks noChangeArrowheads="1" noChangeShapeType="1" noTextEdit="1"/>
              </p:cNvSpPr>
              <p:nvPr/>
            </p:nvSpPr>
            <p:spPr bwMode="auto">
              <a:xfrm>
                <a:off x="3962400" y="5181600"/>
                <a:ext cx="1143000" cy="9525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3366"/>
                    </a:solidFill>
                    <a:latin typeface="Arial Black" panose="020B0A04020102020204" pitchFamily="34" charset="0"/>
                  </a:rPr>
                  <a:t>Cl</a:t>
                </a:r>
              </a:p>
            </p:txBody>
          </p:sp>
          <p:sp>
            <p:nvSpPr>
              <p:cNvPr id="107542" name="WordArt 21"/>
              <p:cNvSpPr>
                <a:spLocks noChangeArrowheads="1" noChangeShapeType="1" noTextEdit="1"/>
              </p:cNvSpPr>
              <p:nvPr/>
            </p:nvSpPr>
            <p:spPr bwMode="auto">
              <a:xfrm>
                <a:off x="4876800" y="6324600"/>
                <a:ext cx="457200" cy="3429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008000"/>
                    </a:solidFill>
                    <a:latin typeface="Arial Black" panose="020B0A04020102020204" pitchFamily="34" charset="0"/>
                  </a:rPr>
                  <a:t>17</a:t>
                </a:r>
              </a:p>
            </p:txBody>
          </p:sp>
          <p:sp>
            <p:nvSpPr>
              <p:cNvPr id="107543" name="WordArt 22"/>
              <p:cNvSpPr>
                <a:spLocks noChangeArrowheads="1" noChangeShapeType="1" noTextEdit="1"/>
              </p:cNvSpPr>
              <p:nvPr/>
            </p:nvSpPr>
            <p:spPr bwMode="auto">
              <a:xfrm>
                <a:off x="4876800" y="4648200"/>
                <a:ext cx="457200" cy="381000"/>
              </a:xfrm>
              <a:prstGeom prst="rect">
                <a:avLst/>
              </a:prstGeom>
            </p:spPr>
            <p:txBody>
              <a:bodyPr wrap="none" fromWordArt="1">
                <a:prstTxWarp prst="textPlain">
                  <a:avLst>
                    <a:gd name="adj" fmla="val 50000"/>
                  </a:avLst>
                </a:prstTxWarp>
              </a:bodyPr>
              <a:lstStyle/>
              <a:p>
                <a:r>
                  <a:rPr lang="en-GB" sz="3600" kern="10">
                    <a:ln w="9525">
                      <a:solidFill>
                        <a:srgbClr val="000000"/>
                      </a:solidFill>
                      <a:round/>
                      <a:headEnd/>
                      <a:tailEnd/>
                    </a:ln>
                    <a:solidFill>
                      <a:srgbClr val="800000"/>
                    </a:solidFill>
                    <a:latin typeface="Arial Black" panose="020B0A04020102020204" pitchFamily="34" charset="0"/>
                  </a:rPr>
                  <a:t>35</a:t>
                </a:r>
              </a:p>
            </p:txBody>
          </p:sp>
        </p:grpSp>
        <p:sp>
          <p:nvSpPr>
            <p:cNvPr id="34" name="TextBox 33"/>
            <p:cNvSpPr txBox="1"/>
            <p:nvPr/>
          </p:nvSpPr>
          <p:spPr>
            <a:xfrm>
              <a:off x="2161915" y="5652340"/>
              <a:ext cx="3706229" cy="584775"/>
            </a:xfrm>
            <a:prstGeom prst="rect">
              <a:avLst/>
            </a:prstGeom>
            <a:noFill/>
          </p:spPr>
          <p:txBody>
            <a:bodyPr wrap="square" rtlCol="0">
              <a:spAutoFit/>
            </a:bodyPr>
            <a:lstStyle/>
            <a:p>
              <a:r>
                <a:rPr lang="en-GB" sz="3200" dirty="0">
                  <a:solidFill>
                    <a:srgbClr val="CCECFF"/>
                  </a:solidFill>
                </a:rPr>
                <a:t>Chloride ion, Cl</a:t>
              </a:r>
              <a:r>
                <a:rPr lang="en-GB" sz="3200" baseline="30000" dirty="0">
                  <a:solidFill>
                    <a:srgbClr val="CCECFF"/>
                  </a:solidFill>
                </a:rPr>
                <a:t>-</a:t>
              </a:r>
            </a:p>
          </p:txBody>
        </p:sp>
      </p:grpSp>
    </p:spTree>
    <p:extLst>
      <p:ext uri="{BB962C8B-B14F-4D97-AF65-F5344CB8AC3E}">
        <p14:creationId xmlns:p14="http://schemas.microsoft.com/office/powerpoint/2010/main" val="1622196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ate Placeholder 1"/>
          <p:cNvSpPr>
            <a:spLocks noGrp="1"/>
          </p:cNvSpPr>
          <p:nvPr>
            <p:ph type="dt" sz="half" idx="10"/>
          </p:nvPr>
        </p:nvSpPr>
        <p:spPr/>
        <p:txBody>
          <a:bodyPr/>
          <a:lstStyle/>
          <a:p>
            <a:fld id="{01DE26E4-261E-42F4-951C-909463169132}" type="datetime1">
              <a:rPr lang="en-GB" altLang="en-US"/>
              <a:pPr/>
              <a:t>02/06/2020</a:t>
            </a:fld>
            <a:endParaRPr lang="en-GB" altLang="en-US"/>
          </a:p>
        </p:txBody>
      </p:sp>
      <p:sp>
        <p:nvSpPr>
          <p:cNvPr id="212" name="Date Placeholder 2"/>
          <p:cNvSpPr txBox="1">
            <a:spLocks noGrp="1"/>
          </p:cNvSpPr>
          <p:nvPr/>
        </p:nvSpPr>
        <p:spPr bwMode="auto">
          <a:xfrm>
            <a:off x="7239000" y="0"/>
            <a:ext cx="1905000" cy="457200"/>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lgn="r"/>
            <a:fld id="{62341046-904C-4C43-B939-5C6E1428BD75}" type="datetime1">
              <a:rPr lang="en-GB" altLang="en-US" sz="1800">
                <a:solidFill>
                  <a:schemeClr val="folHlink"/>
                </a:solidFill>
                <a:latin typeface="Comic Sans MS" panose="030F0702030302020204" pitchFamily="66" charset="0"/>
                <a:ea typeface="MS PGothic" panose="020B0600070205080204" pitchFamily="34" charset="-128"/>
              </a:rPr>
              <a:pPr algn="r"/>
              <a:t>02/06/2020</a:t>
            </a:fld>
            <a:endParaRPr lang="en-GB" altLang="en-US" sz="1800">
              <a:solidFill>
                <a:schemeClr val="folHlink"/>
              </a:solidFill>
              <a:latin typeface="Comic Sans MS" panose="030F0702030302020204" pitchFamily="66" charset="0"/>
              <a:ea typeface="MS PGothic" panose="020B0600070205080204" pitchFamily="34" charset="-128"/>
            </a:endParaRPr>
          </a:p>
        </p:txBody>
      </p:sp>
      <p:graphicFrame>
        <p:nvGraphicFramePr>
          <p:cNvPr id="17410" name="Group 2"/>
          <p:cNvGraphicFramePr>
            <a:graphicFrameLocks noGrp="1"/>
          </p:cNvGraphicFramePr>
          <p:nvPr/>
        </p:nvGraphicFramePr>
        <p:xfrm>
          <a:off x="381000" y="3284538"/>
          <a:ext cx="8458200" cy="3160715"/>
        </p:xfrm>
        <a:graphic>
          <a:graphicData uri="http://schemas.openxmlformats.org/drawingml/2006/table">
            <a:tbl>
              <a:tblPr/>
              <a:tblGrid>
                <a:gridCol w="469900">
                  <a:extLst>
                    <a:ext uri="{9D8B030D-6E8A-4147-A177-3AD203B41FA5}">
                      <a16:colId xmlns:a16="http://schemas.microsoft.com/office/drawing/2014/main" val="20000"/>
                    </a:ext>
                  </a:extLst>
                </a:gridCol>
                <a:gridCol w="469900">
                  <a:extLst>
                    <a:ext uri="{9D8B030D-6E8A-4147-A177-3AD203B41FA5}">
                      <a16:colId xmlns:a16="http://schemas.microsoft.com/office/drawing/2014/main" val="20001"/>
                    </a:ext>
                  </a:extLst>
                </a:gridCol>
                <a:gridCol w="469900">
                  <a:extLst>
                    <a:ext uri="{9D8B030D-6E8A-4147-A177-3AD203B41FA5}">
                      <a16:colId xmlns:a16="http://schemas.microsoft.com/office/drawing/2014/main" val="20002"/>
                    </a:ext>
                  </a:extLst>
                </a:gridCol>
                <a:gridCol w="469900">
                  <a:extLst>
                    <a:ext uri="{9D8B030D-6E8A-4147-A177-3AD203B41FA5}">
                      <a16:colId xmlns:a16="http://schemas.microsoft.com/office/drawing/2014/main" val="20003"/>
                    </a:ext>
                  </a:extLst>
                </a:gridCol>
                <a:gridCol w="469900">
                  <a:extLst>
                    <a:ext uri="{9D8B030D-6E8A-4147-A177-3AD203B41FA5}">
                      <a16:colId xmlns:a16="http://schemas.microsoft.com/office/drawing/2014/main" val="20004"/>
                    </a:ext>
                  </a:extLst>
                </a:gridCol>
                <a:gridCol w="469900">
                  <a:extLst>
                    <a:ext uri="{9D8B030D-6E8A-4147-A177-3AD203B41FA5}">
                      <a16:colId xmlns:a16="http://schemas.microsoft.com/office/drawing/2014/main" val="20005"/>
                    </a:ext>
                  </a:extLst>
                </a:gridCol>
                <a:gridCol w="469900">
                  <a:extLst>
                    <a:ext uri="{9D8B030D-6E8A-4147-A177-3AD203B41FA5}">
                      <a16:colId xmlns:a16="http://schemas.microsoft.com/office/drawing/2014/main" val="20006"/>
                    </a:ext>
                  </a:extLst>
                </a:gridCol>
                <a:gridCol w="469900">
                  <a:extLst>
                    <a:ext uri="{9D8B030D-6E8A-4147-A177-3AD203B41FA5}">
                      <a16:colId xmlns:a16="http://schemas.microsoft.com/office/drawing/2014/main" val="20007"/>
                    </a:ext>
                  </a:extLst>
                </a:gridCol>
                <a:gridCol w="469900">
                  <a:extLst>
                    <a:ext uri="{9D8B030D-6E8A-4147-A177-3AD203B41FA5}">
                      <a16:colId xmlns:a16="http://schemas.microsoft.com/office/drawing/2014/main" val="20008"/>
                    </a:ext>
                  </a:extLst>
                </a:gridCol>
                <a:gridCol w="469900">
                  <a:extLst>
                    <a:ext uri="{9D8B030D-6E8A-4147-A177-3AD203B41FA5}">
                      <a16:colId xmlns:a16="http://schemas.microsoft.com/office/drawing/2014/main" val="20009"/>
                    </a:ext>
                  </a:extLst>
                </a:gridCol>
                <a:gridCol w="469900">
                  <a:extLst>
                    <a:ext uri="{9D8B030D-6E8A-4147-A177-3AD203B41FA5}">
                      <a16:colId xmlns:a16="http://schemas.microsoft.com/office/drawing/2014/main" val="20010"/>
                    </a:ext>
                  </a:extLst>
                </a:gridCol>
                <a:gridCol w="469900">
                  <a:extLst>
                    <a:ext uri="{9D8B030D-6E8A-4147-A177-3AD203B41FA5}">
                      <a16:colId xmlns:a16="http://schemas.microsoft.com/office/drawing/2014/main" val="20011"/>
                    </a:ext>
                  </a:extLst>
                </a:gridCol>
                <a:gridCol w="469900">
                  <a:extLst>
                    <a:ext uri="{9D8B030D-6E8A-4147-A177-3AD203B41FA5}">
                      <a16:colId xmlns:a16="http://schemas.microsoft.com/office/drawing/2014/main" val="20012"/>
                    </a:ext>
                  </a:extLst>
                </a:gridCol>
                <a:gridCol w="469900">
                  <a:extLst>
                    <a:ext uri="{9D8B030D-6E8A-4147-A177-3AD203B41FA5}">
                      <a16:colId xmlns:a16="http://schemas.microsoft.com/office/drawing/2014/main" val="20013"/>
                    </a:ext>
                  </a:extLst>
                </a:gridCol>
                <a:gridCol w="469900">
                  <a:extLst>
                    <a:ext uri="{9D8B030D-6E8A-4147-A177-3AD203B41FA5}">
                      <a16:colId xmlns:a16="http://schemas.microsoft.com/office/drawing/2014/main" val="20014"/>
                    </a:ext>
                  </a:extLst>
                </a:gridCol>
                <a:gridCol w="469900">
                  <a:extLst>
                    <a:ext uri="{9D8B030D-6E8A-4147-A177-3AD203B41FA5}">
                      <a16:colId xmlns:a16="http://schemas.microsoft.com/office/drawing/2014/main" val="20015"/>
                    </a:ext>
                  </a:extLst>
                </a:gridCol>
                <a:gridCol w="469900">
                  <a:extLst>
                    <a:ext uri="{9D8B030D-6E8A-4147-A177-3AD203B41FA5}">
                      <a16:colId xmlns:a16="http://schemas.microsoft.com/office/drawing/2014/main" val="20016"/>
                    </a:ext>
                  </a:extLst>
                </a:gridCol>
                <a:gridCol w="469900">
                  <a:extLst>
                    <a:ext uri="{9D8B030D-6E8A-4147-A177-3AD203B41FA5}">
                      <a16:colId xmlns:a16="http://schemas.microsoft.com/office/drawing/2014/main" val="20017"/>
                    </a:ext>
                  </a:extLst>
                </a:gridCol>
              </a:tblGrid>
              <a:tr h="446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cap="flat">
                      <a:noFill/>
                    </a:lnL>
                    <a:lnR>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a:noFill/>
                    </a:lnL>
                    <a:lnR>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a:noFill/>
                    </a:lnL>
                    <a:lnR w="12700" cap="flat" cmpd="sng" algn="ctr">
                      <a:solidFill>
                        <a:schemeClr val="bg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H</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He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0"/>
                  </a:ext>
                </a:extLst>
              </a:tr>
              <a:tr h="487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Li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Be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B</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C</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N</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O</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F</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Ne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1"/>
                  </a:ext>
                </a:extLst>
              </a:tr>
              <a:tr h="4413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Na</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Mg</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Al</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Si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P</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S</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Cl</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Ar</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2"/>
                  </a:ext>
                </a:extLst>
              </a:tr>
              <a:tr h="4476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K</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Ca</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Fe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Ni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Cu</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Zn</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Br</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Kr</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3"/>
                  </a:ext>
                </a:extLst>
              </a:tr>
              <a:tr h="446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Ag</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Xe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4"/>
                  </a:ext>
                </a:extLst>
              </a:tr>
              <a:tr h="446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Pt</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Au</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Comic Sans MS" charset="0"/>
                          <a:ea typeface="ＭＳ Ｐゴシック" charset="0"/>
                        </a:rPr>
                        <a:t>Hg</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5"/>
                  </a:ext>
                </a:extLst>
              </a:tr>
              <a:tr h="446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dirty="0">
                        <a:ln>
                          <a:noFill/>
                        </a:ln>
                        <a:solidFill>
                          <a:schemeClr val="tx1"/>
                        </a:solidFill>
                        <a:effectLst/>
                        <a:latin typeface="Comic Sans MS" charset="0"/>
                        <a:ea typeface="ＭＳ Ｐゴシック"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6"/>
                  </a:ext>
                </a:extLst>
              </a:tr>
            </a:tbl>
          </a:graphicData>
        </a:graphic>
      </p:graphicFrame>
      <p:sp>
        <p:nvSpPr>
          <p:cNvPr id="17615" name="Rectangle 207"/>
          <p:cNvSpPr>
            <a:spLocks noGrp="1" noChangeArrowheads="1"/>
          </p:cNvSpPr>
          <p:nvPr>
            <p:ph type="title" idx="4294967295"/>
          </p:nvPr>
        </p:nvSpPr>
        <p:spPr/>
        <p:txBody>
          <a:bodyPr/>
          <a:lstStyle/>
          <a:p>
            <a:r>
              <a:rPr lang="en-GB" altLang="en-US"/>
              <a:t>The Periodic Table</a:t>
            </a:r>
          </a:p>
        </p:txBody>
      </p:sp>
      <p:sp>
        <p:nvSpPr>
          <p:cNvPr id="221387" name="Text Box 203"/>
          <p:cNvSpPr txBox="1">
            <a:spLocks noChangeArrowheads="1"/>
          </p:cNvSpPr>
          <p:nvPr/>
        </p:nvSpPr>
        <p:spPr bwMode="auto">
          <a:xfrm>
            <a:off x="0" y="765175"/>
            <a:ext cx="9144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solidFill>
                  <a:srgbClr val="CCCCFF"/>
                </a:solidFill>
              </a:rPr>
              <a:t>Looking at their position in the Periodic Table and understanding their electron structure, we can predict the charge of different ions.</a:t>
            </a:r>
          </a:p>
        </p:txBody>
      </p:sp>
      <p:grpSp>
        <p:nvGrpSpPr>
          <p:cNvPr id="221390" name="Group 206"/>
          <p:cNvGrpSpPr>
            <a:grpSpLocks/>
          </p:cNvGrpSpPr>
          <p:nvPr/>
        </p:nvGrpSpPr>
        <p:grpSpPr bwMode="auto">
          <a:xfrm>
            <a:off x="107950" y="1700213"/>
            <a:ext cx="3924300" cy="1944687"/>
            <a:chOff x="68" y="1071"/>
            <a:chExt cx="2472" cy="1225"/>
          </a:xfrm>
        </p:grpSpPr>
        <p:sp>
          <p:nvSpPr>
            <p:cNvPr id="221388" name="Text Box 204"/>
            <p:cNvSpPr txBox="1">
              <a:spLocks noChangeArrowheads="1"/>
            </p:cNvSpPr>
            <p:nvPr/>
          </p:nvSpPr>
          <p:spPr bwMode="auto">
            <a:xfrm>
              <a:off x="68" y="1071"/>
              <a:ext cx="2472" cy="826"/>
            </a:xfrm>
            <a:prstGeom prst="rect">
              <a:avLst/>
            </a:prstGeom>
            <a:solidFill>
              <a:srgbClr val="800000"/>
            </a:solidFill>
            <a:ln>
              <a:noFill/>
            </a:ln>
            <a:effectLst/>
            <a:extLs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t>For example, group 1 elements all want to lose one electron so they will all form cations with a charge of +1</a:t>
              </a:r>
            </a:p>
          </p:txBody>
        </p:sp>
        <p:sp>
          <p:nvSpPr>
            <p:cNvPr id="221389" name="AutoShape 205"/>
            <p:cNvSpPr>
              <a:spLocks noChangeArrowheads="1"/>
            </p:cNvSpPr>
            <p:nvPr/>
          </p:nvSpPr>
          <p:spPr bwMode="auto">
            <a:xfrm>
              <a:off x="295" y="1888"/>
              <a:ext cx="181" cy="408"/>
            </a:xfrm>
            <a:prstGeom prst="downArrow">
              <a:avLst>
                <a:gd name="adj1" fmla="val 50000"/>
                <a:gd name="adj2" fmla="val 56354"/>
              </a:avLst>
            </a:prstGeom>
            <a:solidFill>
              <a:srgbClr val="800000"/>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GB"/>
            </a:p>
          </p:txBody>
        </p:sp>
      </p:grpSp>
      <p:grpSp>
        <p:nvGrpSpPr>
          <p:cNvPr id="2" name="Group 1"/>
          <p:cNvGrpSpPr/>
          <p:nvPr/>
        </p:nvGrpSpPr>
        <p:grpSpPr>
          <a:xfrm>
            <a:off x="5508625" y="1700213"/>
            <a:ext cx="3311525" cy="1738359"/>
            <a:chOff x="5508625" y="1700213"/>
            <a:chExt cx="3311525" cy="1738359"/>
          </a:xfrm>
        </p:grpSpPr>
        <p:sp>
          <p:nvSpPr>
            <p:cNvPr id="221391" name="Text Box 207"/>
            <p:cNvSpPr txBox="1">
              <a:spLocks noChangeArrowheads="1"/>
            </p:cNvSpPr>
            <p:nvPr/>
          </p:nvSpPr>
          <p:spPr bwMode="auto">
            <a:xfrm>
              <a:off x="5508625" y="1700213"/>
              <a:ext cx="3311525" cy="1311275"/>
            </a:xfrm>
            <a:prstGeom prst="rect">
              <a:avLst/>
            </a:prstGeom>
            <a:solidFill>
              <a:srgbClr val="008000"/>
            </a:solidFill>
            <a:ln>
              <a:noFill/>
            </a:ln>
            <a:effectLst/>
            <a:extLs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dirty="0"/>
                <a:t>What type of ion (and its charge) will elements from groups 2, 6 and 7 form?</a:t>
              </a:r>
            </a:p>
          </p:txBody>
        </p:sp>
        <p:sp>
          <p:nvSpPr>
            <p:cNvPr id="11" name="AutoShape 205"/>
            <p:cNvSpPr>
              <a:spLocks noChangeArrowheads="1"/>
            </p:cNvSpPr>
            <p:nvPr/>
          </p:nvSpPr>
          <p:spPr bwMode="auto">
            <a:xfrm>
              <a:off x="7949599" y="2790872"/>
              <a:ext cx="287338" cy="647700"/>
            </a:xfrm>
            <a:prstGeom prst="downArrow">
              <a:avLst>
                <a:gd name="adj1" fmla="val 50000"/>
                <a:gd name="adj2" fmla="val 56354"/>
              </a:avLst>
            </a:prstGeom>
            <a:solidFill>
              <a:srgbClr val="008000"/>
            </a:solidFill>
            <a:ln>
              <a:noFill/>
            </a:ln>
            <a:effectLst/>
          </p:spPr>
          <p:txBody>
            <a:bodyPr>
              <a:spAutoFit/>
            </a:bodyPr>
            <a:lstStyle/>
            <a:p>
              <a:endParaRPr lang="en-GB"/>
            </a:p>
          </p:txBody>
        </p:sp>
      </p:grpSp>
    </p:spTree>
    <p:extLst>
      <p:ext uri="{BB962C8B-B14F-4D97-AF65-F5344CB8AC3E}">
        <p14:creationId xmlns:p14="http://schemas.microsoft.com/office/powerpoint/2010/main" val="26883835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21390"/>
                                        </p:tgtEl>
                                        <p:attrNameLst>
                                          <p:attrName>style.visibility</p:attrName>
                                        </p:attrNameLst>
                                      </p:cBhvr>
                                      <p:to>
                                        <p:strVal val="visible"/>
                                      </p:to>
                                    </p:set>
                                    <p:animEffect transition="in" filter="wipe(up)">
                                      <p:cBhvr>
                                        <p:cTn id="7" dur="500"/>
                                        <p:tgtEl>
                                          <p:spTgt spid="2213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ate Placeholder 2"/>
          <p:cNvSpPr>
            <a:spLocks noGrp="1"/>
          </p:cNvSpPr>
          <p:nvPr>
            <p:ph type="dt" sz="half" idx="10"/>
          </p:nvPr>
        </p:nvSpPr>
        <p:spPr/>
        <p:txBody>
          <a:bodyPr/>
          <a:lstStyle/>
          <a:p>
            <a:fld id="{DDB0A7F3-88CA-42AE-A29D-F724838496AC}" type="datetime1">
              <a:rPr lang="en-GB" altLang="en-US"/>
              <a:pPr/>
              <a:t>02/06/2020</a:t>
            </a:fld>
            <a:endParaRPr lang="en-GB" altLang="en-US"/>
          </a:p>
        </p:txBody>
      </p:sp>
      <p:sp>
        <p:nvSpPr>
          <p:cNvPr id="225282" name="Rectangle 2"/>
          <p:cNvSpPr>
            <a:spLocks noGrp="1" noChangeArrowheads="1"/>
          </p:cNvSpPr>
          <p:nvPr>
            <p:ph type="title"/>
          </p:nvPr>
        </p:nvSpPr>
        <p:spPr>
          <a:xfrm>
            <a:off x="685800" y="0"/>
            <a:ext cx="7772400" cy="914400"/>
          </a:xfrm>
        </p:spPr>
        <p:txBody>
          <a:bodyPr/>
          <a:lstStyle/>
          <a:p>
            <a:r>
              <a:rPr lang="en-GB" altLang="en-US"/>
              <a:t>Naming compounds</a:t>
            </a:r>
          </a:p>
        </p:txBody>
      </p:sp>
      <p:grpSp>
        <p:nvGrpSpPr>
          <p:cNvPr id="225283" name="Group 3"/>
          <p:cNvGrpSpPr>
            <a:grpSpLocks/>
          </p:cNvGrpSpPr>
          <p:nvPr/>
        </p:nvGrpSpPr>
        <p:grpSpPr bwMode="auto">
          <a:xfrm>
            <a:off x="533400" y="1066800"/>
            <a:ext cx="8153400" cy="1955800"/>
            <a:chOff x="336" y="672"/>
            <a:chExt cx="5136" cy="1232"/>
          </a:xfrm>
        </p:grpSpPr>
        <p:sp>
          <p:nvSpPr>
            <p:cNvPr id="225284" name="Text Box 4"/>
            <p:cNvSpPr txBox="1">
              <a:spLocks noChangeArrowheads="1"/>
            </p:cNvSpPr>
            <p:nvPr/>
          </p:nvSpPr>
          <p:spPr bwMode="auto">
            <a:xfrm>
              <a:off x="336" y="672"/>
              <a:ext cx="5136" cy="1232"/>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b="1"/>
                <a:t>Rule 1 – </a:t>
              </a:r>
              <a:r>
                <a:rPr lang="en-GB" altLang="en-US"/>
                <a:t>When two elements join and one is a halogen, oxygen or sulphur the name ends with ____ide</a:t>
              </a:r>
            </a:p>
            <a:p>
              <a:pPr>
                <a:spcBef>
                  <a:spcPct val="50000"/>
                </a:spcBef>
              </a:pPr>
              <a:endParaRPr lang="en-GB" altLang="en-US"/>
            </a:p>
            <a:p>
              <a:pPr>
                <a:spcBef>
                  <a:spcPct val="50000"/>
                </a:spcBef>
              </a:pPr>
              <a:r>
                <a:rPr lang="en-GB" altLang="en-US" b="1"/>
                <a:t>e.g. Magnesium + oxygen 		magnesium oxide</a:t>
              </a:r>
            </a:p>
          </p:txBody>
        </p:sp>
        <p:sp>
          <p:nvSpPr>
            <p:cNvPr id="225285" name="AutoShape 5"/>
            <p:cNvSpPr>
              <a:spLocks noChangeArrowheads="1"/>
            </p:cNvSpPr>
            <p:nvPr/>
          </p:nvSpPr>
          <p:spPr bwMode="auto">
            <a:xfrm>
              <a:off x="3168" y="1680"/>
              <a:ext cx="336" cy="96"/>
            </a:xfrm>
            <a:prstGeom prst="rightArrow">
              <a:avLst>
                <a:gd name="adj1" fmla="val 50000"/>
                <a:gd name="adj2" fmla="val 87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25286" name="Group 6"/>
          <p:cNvGrpSpPr>
            <a:grpSpLocks/>
          </p:cNvGrpSpPr>
          <p:nvPr/>
        </p:nvGrpSpPr>
        <p:grpSpPr bwMode="auto">
          <a:xfrm>
            <a:off x="381000" y="3962400"/>
            <a:ext cx="8229600" cy="2647950"/>
            <a:chOff x="240" y="2496"/>
            <a:chExt cx="5184" cy="1668"/>
          </a:xfrm>
        </p:grpSpPr>
        <p:sp>
          <p:nvSpPr>
            <p:cNvPr id="225287" name="Text Box 7"/>
            <p:cNvSpPr txBox="1">
              <a:spLocks noChangeArrowheads="1"/>
            </p:cNvSpPr>
            <p:nvPr/>
          </p:nvSpPr>
          <p:spPr bwMode="auto">
            <a:xfrm>
              <a:off x="240" y="2496"/>
              <a:ext cx="2640" cy="1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a:spcBef>
                  <a:spcPct val="50000"/>
                </a:spcBef>
                <a:buFontTx/>
                <a:buAutoNum type="arabicParenR"/>
              </a:pPr>
              <a:r>
                <a:rPr lang="en-GB" altLang="en-US">
                  <a:solidFill>
                    <a:srgbClr val="CCCCFF"/>
                  </a:solidFill>
                  <a:latin typeface="Comic Sans MS" panose="030F0702030302020204" pitchFamily="66" charset="0"/>
                </a:rPr>
                <a:t>Sodium + chlorine</a:t>
              </a:r>
            </a:p>
            <a:p>
              <a:pPr>
                <a:spcBef>
                  <a:spcPct val="50000"/>
                </a:spcBef>
                <a:buFontTx/>
                <a:buAutoNum type="arabicParenR"/>
              </a:pPr>
              <a:r>
                <a:rPr lang="en-GB" altLang="en-US">
                  <a:solidFill>
                    <a:schemeClr val="bg1"/>
                  </a:solidFill>
                  <a:latin typeface="Comic Sans MS" panose="030F0702030302020204" pitchFamily="66" charset="0"/>
                </a:rPr>
                <a:t>Magnesium + fluorine</a:t>
              </a:r>
            </a:p>
            <a:p>
              <a:pPr>
                <a:spcBef>
                  <a:spcPct val="50000"/>
                </a:spcBef>
                <a:buFontTx/>
                <a:buAutoNum type="arabicParenR"/>
              </a:pPr>
              <a:r>
                <a:rPr lang="en-GB" altLang="en-US">
                  <a:solidFill>
                    <a:srgbClr val="CCCCFF"/>
                  </a:solidFill>
                  <a:latin typeface="Comic Sans MS" panose="030F0702030302020204" pitchFamily="66" charset="0"/>
                </a:rPr>
                <a:t>Lithium + iodine</a:t>
              </a:r>
            </a:p>
            <a:p>
              <a:pPr>
                <a:spcBef>
                  <a:spcPct val="50000"/>
                </a:spcBef>
                <a:buFontTx/>
                <a:buAutoNum type="arabicParenR"/>
              </a:pPr>
              <a:r>
                <a:rPr lang="en-GB" altLang="en-US">
                  <a:solidFill>
                    <a:schemeClr val="bg1"/>
                  </a:solidFill>
                  <a:latin typeface="Comic Sans MS" panose="030F0702030302020204" pitchFamily="66" charset="0"/>
                </a:rPr>
                <a:t>Chlorine + copper</a:t>
              </a:r>
            </a:p>
            <a:p>
              <a:pPr>
                <a:spcBef>
                  <a:spcPct val="50000"/>
                </a:spcBef>
                <a:buFontTx/>
                <a:buAutoNum type="arabicParenR"/>
              </a:pPr>
              <a:r>
                <a:rPr lang="en-GB" altLang="en-US">
                  <a:solidFill>
                    <a:srgbClr val="CCCCFF"/>
                  </a:solidFill>
                  <a:latin typeface="Comic Sans MS" panose="030F0702030302020204" pitchFamily="66" charset="0"/>
                </a:rPr>
                <a:t>Oxygen + iron</a:t>
              </a:r>
            </a:p>
          </p:txBody>
        </p:sp>
        <p:sp>
          <p:nvSpPr>
            <p:cNvPr id="225288" name="Text Box 8"/>
            <p:cNvSpPr txBox="1">
              <a:spLocks noChangeArrowheads="1"/>
            </p:cNvSpPr>
            <p:nvPr/>
          </p:nvSpPr>
          <p:spPr bwMode="auto">
            <a:xfrm>
              <a:off x="3840" y="2496"/>
              <a:ext cx="1584" cy="1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a:spcBef>
                  <a:spcPct val="50000"/>
                </a:spcBef>
                <a:buFontTx/>
                <a:buAutoNum type="arabicParenR" startAt="6"/>
              </a:pPr>
              <a:r>
                <a:rPr lang="en-GB" altLang="en-US">
                  <a:solidFill>
                    <a:srgbClr val="CCCCFF"/>
                  </a:solidFill>
                  <a:latin typeface="Comic Sans MS" panose="030F0702030302020204" pitchFamily="66" charset="0"/>
                </a:rPr>
                <a:t>KBr</a:t>
              </a:r>
            </a:p>
            <a:p>
              <a:pPr>
                <a:spcBef>
                  <a:spcPct val="50000"/>
                </a:spcBef>
                <a:buFontTx/>
                <a:buAutoNum type="arabicParenR" startAt="6"/>
              </a:pPr>
              <a:r>
                <a:rPr lang="en-GB" altLang="en-US">
                  <a:solidFill>
                    <a:schemeClr val="bg1"/>
                  </a:solidFill>
                  <a:latin typeface="Comic Sans MS" panose="030F0702030302020204" pitchFamily="66" charset="0"/>
                </a:rPr>
                <a:t>LiCl</a:t>
              </a:r>
            </a:p>
            <a:p>
              <a:pPr>
                <a:spcBef>
                  <a:spcPct val="50000"/>
                </a:spcBef>
                <a:buFontTx/>
                <a:buAutoNum type="arabicParenR" startAt="6"/>
              </a:pPr>
              <a:r>
                <a:rPr lang="en-GB" altLang="en-US">
                  <a:solidFill>
                    <a:srgbClr val="CCCCFF"/>
                  </a:solidFill>
                  <a:latin typeface="Comic Sans MS" panose="030F0702030302020204" pitchFamily="66" charset="0"/>
                </a:rPr>
                <a:t>CaO</a:t>
              </a:r>
            </a:p>
            <a:p>
              <a:pPr>
                <a:spcBef>
                  <a:spcPct val="50000"/>
                </a:spcBef>
                <a:buFontTx/>
                <a:buAutoNum type="arabicParenR" startAt="6"/>
              </a:pPr>
              <a:r>
                <a:rPr lang="en-GB" altLang="en-US">
                  <a:solidFill>
                    <a:schemeClr val="bg1"/>
                  </a:solidFill>
                  <a:latin typeface="Comic Sans MS" panose="030F0702030302020204" pitchFamily="66" charset="0"/>
                </a:rPr>
                <a:t>MgS</a:t>
              </a:r>
              <a:endParaRPr lang="en-GB" altLang="en-US" baseline="-25000">
                <a:solidFill>
                  <a:schemeClr val="bg1"/>
                </a:solidFill>
                <a:latin typeface="Comic Sans MS" panose="030F0702030302020204" pitchFamily="66" charset="0"/>
              </a:endParaRPr>
            </a:p>
            <a:p>
              <a:pPr>
                <a:spcBef>
                  <a:spcPct val="50000"/>
                </a:spcBef>
                <a:buFontTx/>
                <a:buAutoNum type="arabicParenR" startAt="6"/>
              </a:pPr>
              <a:r>
                <a:rPr lang="en-GB" altLang="en-US">
                  <a:solidFill>
                    <a:srgbClr val="CCCCFF"/>
                  </a:solidFill>
                  <a:latin typeface="Comic Sans MS" panose="030F0702030302020204" pitchFamily="66" charset="0"/>
                </a:rPr>
                <a:t>KF</a:t>
              </a:r>
            </a:p>
          </p:txBody>
        </p:sp>
      </p:grpSp>
    </p:spTree>
    <p:extLst>
      <p:ext uri="{BB962C8B-B14F-4D97-AF65-F5344CB8AC3E}">
        <p14:creationId xmlns:p14="http://schemas.microsoft.com/office/powerpoint/2010/main" val="4643382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25283"/>
                                        </p:tgtEl>
                                        <p:attrNameLst>
                                          <p:attrName>style.visibility</p:attrName>
                                        </p:attrNameLst>
                                      </p:cBhvr>
                                      <p:to>
                                        <p:strVal val="visible"/>
                                      </p:to>
                                    </p:set>
                                    <p:animEffect transition="in" filter="wipe(up)">
                                      <p:cBhvr>
                                        <p:cTn id="7" dur="500"/>
                                        <p:tgtEl>
                                          <p:spTgt spid="2252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25286"/>
                                        </p:tgtEl>
                                        <p:attrNameLst>
                                          <p:attrName>style.visibility</p:attrName>
                                        </p:attrNameLst>
                                      </p:cBhvr>
                                      <p:to>
                                        <p:strVal val="visible"/>
                                      </p:to>
                                    </p:set>
                                    <p:animEffect transition="in" filter="wipe(up)">
                                      <p:cBhvr>
                                        <p:cTn id="12" dur="500"/>
                                        <p:tgtEl>
                                          <p:spTgt spid="2252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ate Placeholder 2"/>
          <p:cNvSpPr>
            <a:spLocks noGrp="1"/>
          </p:cNvSpPr>
          <p:nvPr>
            <p:ph type="dt" sz="half" idx="10"/>
          </p:nvPr>
        </p:nvSpPr>
        <p:spPr/>
        <p:txBody>
          <a:bodyPr/>
          <a:lstStyle/>
          <a:p>
            <a:fld id="{09164D85-BF63-46FB-9354-5E4E4AA06633}" type="datetime1">
              <a:rPr lang="en-GB" altLang="en-US"/>
              <a:pPr/>
              <a:t>02/06/2020</a:t>
            </a:fld>
            <a:endParaRPr lang="en-GB" altLang="en-US"/>
          </a:p>
        </p:txBody>
      </p:sp>
      <p:sp>
        <p:nvSpPr>
          <p:cNvPr id="226306" name="Rectangle 2"/>
          <p:cNvSpPr>
            <a:spLocks noGrp="1" noChangeArrowheads="1"/>
          </p:cNvSpPr>
          <p:nvPr>
            <p:ph type="title"/>
          </p:nvPr>
        </p:nvSpPr>
        <p:spPr>
          <a:xfrm>
            <a:off x="685800" y="0"/>
            <a:ext cx="7772400" cy="914400"/>
          </a:xfrm>
        </p:spPr>
        <p:txBody>
          <a:bodyPr/>
          <a:lstStyle/>
          <a:p>
            <a:r>
              <a:rPr lang="en-GB" altLang="en-US"/>
              <a:t>Naming compounds</a:t>
            </a:r>
          </a:p>
        </p:txBody>
      </p:sp>
      <p:grpSp>
        <p:nvGrpSpPr>
          <p:cNvPr id="226307" name="Group 3"/>
          <p:cNvGrpSpPr>
            <a:grpSpLocks/>
          </p:cNvGrpSpPr>
          <p:nvPr/>
        </p:nvGrpSpPr>
        <p:grpSpPr bwMode="auto">
          <a:xfrm>
            <a:off x="533400" y="1066800"/>
            <a:ext cx="8153400" cy="1955800"/>
            <a:chOff x="336" y="672"/>
            <a:chExt cx="5136" cy="1232"/>
          </a:xfrm>
        </p:grpSpPr>
        <p:sp>
          <p:nvSpPr>
            <p:cNvPr id="226308" name="Text Box 4"/>
            <p:cNvSpPr txBox="1">
              <a:spLocks noChangeArrowheads="1"/>
            </p:cNvSpPr>
            <p:nvPr/>
          </p:nvSpPr>
          <p:spPr bwMode="auto">
            <a:xfrm>
              <a:off x="336" y="672"/>
              <a:ext cx="5136" cy="1232"/>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b="1"/>
                <a:t>Rule 2 – </a:t>
              </a:r>
              <a:r>
                <a:rPr lang="en-GB" altLang="en-US"/>
                <a:t>When three or more elements combine and one of them is oxygen the ending is _____ate</a:t>
              </a:r>
            </a:p>
            <a:p>
              <a:pPr algn="ctr">
                <a:spcBef>
                  <a:spcPct val="50000"/>
                </a:spcBef>
              </a:pPr>
              <a:endParaRPr lang="en-GB" altLang="en-US" b="1"/>
            </a:p>
            <a:p>
              <a:pPr algn="ctr">
                <a:spcBef>
                  <a:spcPct val="50000"/>
                </a:spcBef>
              </a:pPr>
              <a:r>
                <a:rPr lang="en-GB" altLang="en-US" b="1"/>
                <a:t>e.g. Copper + sulphur + oxygen	Copper sulphate</a:t>
              </a:r>
            </a:p>
          </p:txBody>
        </p:sp>
        <p:sp>
          <p:nvSpPr>
            <p:cNvPr id="226309" name="AutoShape 5"/>
            <p:cNvSpPr>
              <a:spLocks noChangeArrowheads="1"/>
            </p:cNvSpPr>
            <p:nvPr/>
          </p:nvSpPr>
          <p:spPr bwMode="auto">
            <a:xfrm>
              <a:off x="3408" y="1680"/>
              <a:ext cx="336" cy="96"/>
            </a:xfrm>
            <a:prstGeom prst="rightArrow">
              <a:avLst>
                <a:gd name="adj1" fmla="val 50000"/>
                <a:gd name="adj2" fmla="val 87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26310" name="Group 6"/>
          <p:cNvGrpSpPr>
            <a:grpSpLocks/>
          </p:cNvGrpSpPr>
          <p:nvPr/>
        </p:nvGrpSpPr>
        <p:grpSpPr bwMode="auto">
          <a:xfrm>
            <a:off x="381000" y="3962400"/>
            <a:ext cx="8229600" cy="2647950"/>
            <a:chOff x="240" y="2496"/>
            <a:chExt cx="5184" cy="1668"/>
          </a:xfrm>
        </p:grpSpPr>
        <p:sp>
          <p:nvSpPr>
            <p:cNvPr id="226311" name="Text Box 7"/>
            <p:cNvSpPr txBox="1">
              <a:spLocks noChangeArrowheads="1"/>
            </p:cNvSpPr>
            <p:nvPr/>
          </p:nvSpPr>
          <p:spPr bwMode="auto">
            <a:xfrm>
              <a:off x="240" y="2496"/>
              <a:ext cx="3360" cy="1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a:spcBef>
                  <a:spcPct val="50000"/>
                </a:spcBef>
                <a:buFontTx/>
                <a:buAutoNum type="arabicParenR"/>
              </a:pPr>
              <a:r>
                <a:rPr lang="en-GB" altLang="en-US">
                  <a:solidFill>
                    <a:srgbClr val="CCCCFF"/>
                  </a:solidFill>
                  <a:latin typeface="Comic Sans MS" panose="030F0702030302020204" pitchFamily="66" charset="0"/>
                </a:rPr>
                <a:t>Calcium + carbon + oxygen</a:t>
              </a:r>
            </a:p>
            <a:p>
              <a:pPr>
                <a:spcBef>
                  <a:spcPct val="50000"/>
                </a:spcBef>
                <a:buFontTx/>
                <a:buAutoNum type="arabicParenR"/>
              </a:pPr>
              <a:r>
                <a:rPr lang="en-GB" altLang="en-US">
                  <a:solidFill>
                    <a:schemeClr val="bg1"/>
                  </a:solidFill>
                  <a:latin typeface="Comic Sans MS" panose="030F0702030302020204" pitchFamily="66" charset="0"/>
                </a:rPr>
                <a:t>Potassium + carbon + oxygen</a:t>
              </a:r>
            </a:p>
            <a:p>
              <a:pPr>
                <a:spcBef>
                  <a:spcPct val="50000"/>
                </a:spcBef>
                <a:buFontTx/>
                <a:buAutoNum type="arabicParenR"/>
              </a:pPr>
              <a:r>
                <a:rPr lang="en-GB" altLang="en-US">
                  <a:solidFill>
                    <a:srgbClr val="CCCCFF"/>
                  </a:solidFill>
                  <a:latin typeface="Comic Sans MS" panose="030F0702030302020204" pitchFamily="66" charset="0"/>
                </a:rPr>
                <a:t>Calcium + sulphur + oxygen</a:t>
              </a:r>
            </a:p>
            <a:p>
              <a:pPr>
                <a:spcBef>
                  <a:spcPct val="50000"/>
                </a:spcBef>
                <a:buFontTx/>
                <a:buAutoNum type="arabicParenR"/>
              </a:pPr>
              <a:r>
                <a:rPr lang="en-GB" altLang="en-US">
                  <a:solidFill>
                    <a:schemeClr val="bg1"/>
                  </a:solidFill>
                  <a:latin typeface="Comic Sans MS" panose="030F0702030302020204" pitchFamily="66" charset="0"/>
                </a:rPr>
                <a:t>Magnesium + chlorine + oxygen</a:t>
              </a:r>
            </a:p>
            <a:p>
              <a:pPr>
                <a:spcBef>
                  <a:spcPct val="50000"/>
                </a:spcBef>
                <a:buFontTx/>
                <a:buAutoNum type="arabicParenR"/>
              </a:pPr>
              <a:r>
                <a:rPr lang="en-GB" altLang="en-US">
                  <a:solidFill>
                    <a:srgbClr val="CCCCFF"/>
                  </a:solidFill>
                  <a:latin typeface="Comic Sans MS" panose="030F0702030302020204" pitchFamily="66" charset="0"/>
                </a:rPr>
                <a:t>Calcium + oxygen + nitrogen</a:t>
              </a:r>
            </a:p>
          </p:txBody>
        </p:sp>
        <p:sp>
          <p:nvSpPr>
            <p:cNvPr id="226312" name="Text Box 8"/>
            <p:cNvSpPr txBox="1">
              <a:spLocks noChangeArrowheads="1"/>
            </p:cNvSpPr>
            <p:nvPr/>
          </p:nvSpPr>
          <p:spPr bwMode="auto">
            <a:xfrm>
              <a:off x="3840" y="2496"/>
              <a:ext cx="1584" cy="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a:spcBef>
                  <a:spcPct val="50000"/>
                </a:spcBef>
                <a:buFontTx/>
                <a:buAutoNum type="arabicParenR" startAt="6"/>
              </a:pPr>
              <a:r>
                <a:rPr lang="en-GB" altLang="en-US">
                  <a:solidFill>
                    <a:srgbClr val="CCCCFF"/>
                  </a:solidFill>
                  <a:latin typeface="Comic Sans MS" panose="030F0702030302020204" pitchFamily="66" charset="0"/>
                </a:rPr>
                <a:t>AgNO</a:t>
              </a:r>
              <a:r>
                <a:rPr lang="en-GB" altLang="en-US" baseline="-25000">
                  <a:solidFill>
                    <a:srgbClr val="CCCCFF"/>
                  </a:solidFill>
                  <a:latin typeface="Comic Sans MS" panose="030F0702030302020204" pitchFamily="66" charset="0"/>
                </a:rPr>
                <a:t>3</a:t>
              </a:r>
            </a:p>
            <a:p>
              <a:pPr>
                <a:spcBef>
                  <a:spcPct val="50000"/>
                </a:spcBef>
                <a:buFontTx/>
                <a:buAutoNum type="arabicParenR" startAt="6"/>
              </a:pPr>
              <a:r>
                <a:rPr lang="en-GB" altLang="en-US">
                  <a:solidFill>
                    <a:schemeClr val="bg1"/>
                  </a:solidFill>
                  <a:latin typeface="Comic Sans MS" panose="030F0702030302020204" pitchFamily="66" charset="0"/>
                </a:rPr>
                <a:t>H</a:t>
              </a:r>
              <a:r>
                <a:rPr lang="en-GB" altLang="en-US" baseline="-25000">
                  <a:solidFill>
                    <a:schemeClr val="bg1"/>
                  </a:solidFill>
                  <a:latin typeface="Comic Sans MS" panose="030F0702030302020204" pitchFamily="66" charset="0"/>
                </a:rPr>
                <a:t>2</a:t>
              </a:r>
              <a:r>
                <a:rPr lang="en-GB" altLang="en-US">
                  <a:solidFill>
                    <a:schemeClr val="bg1"/>
                  </a:solidFill>
                  <a:latin typeface="Comic Sans MS" panose="030F0702030302020204" pitchFamily="66" charset="0"/>
                </a:rPr>
                <a:t>SO</a:t>
              </a:r>
              <a:r>
                <a:rPr lang="en-GB" altLang="en-US" baseline="-25000">
                  <a:solidFill>
                    <a:schemeClr val="bg1"/>
                  </a:solidFill>
                  <a:latin typeface="Comic Sans MS" panose="030F0702030302020204" pitchFamily="66" charset="0"/>
                </a:rPr>
                <a:t>4</a:t>
              </a:r>
            </a:p>
            <a:p>
              <a:pPr>
                <a:spcBef>
                  <a:spcPct val="50000"/>
                </a:spcBef>
                <a:buFontTx/>
                <a:buAutoNum type="arabicParenR" startAt="6"/>
              </a:pPr>
              <a:r>
                <a:rPr lang="en-GB" altLang="en-US">
                  <a:solidFill>
                    <a:srgbClr val="CCCCFF"/>
                  </a:solidFill>
                  <a:latin typeface="Comic Sans MS" panose="030F0702030302020204" pitchFamily="66" charset="0"/>
                </a:rPr>
                <a:t>K</a:t>
              </a:r>
              <a:r>
                <a:rPr lang="en-GB" altLang="en-US" baseline="-25000">
                  <a:solidFill>
                    <a:srgbClr val="CCCCFF"/>
                  </a:solidFill>
                  <a:latin typeface="Comic Sans MS" panose="030F0702030302020204" pitchFamily="66" charset="0"/>
                </a:rPr>
                <a:t>2</a:t>
              </a:r>
              <a:r>
                <a:rPr lang="en-GB" altLang="en-US">
                  <a:solidFill>
                    <a:srgbClr val="CCCCFF"/>
                  </a:solidFill>
                  <a:latin typeface="Comic Sans MS" panose="030F0702030302020204" pitchFamily="66" charset="0"/>
                </a:rPr>
                <a:t>CO</a:t>
              </a:r>
              <a:r>
                <a:rPr lang="en-GB" altLang="en-US" baseline="-25000">
                  <a:solidFill>
                    <a:srgbClr val="CCCCFF"/>
                  </a:solidFill>
                  <a:latin typeface="Comic Sans MS" panose="030F0702030302020204" pitchFamily="66" charset="0"/>
                </a:rPr>
                <a:t>3</a:t>
              </a:r>
            </a:p>
          </p:txBody>
        </p:sp>
      </p:grpSp>
    </p:spTree>
    <p:extLst>
      <p:ext uri="{BB962C8B-B14F-4D97-AF65-F5344CB8AC3E}">
        <p14:creationId xmlns:p14="http://schemas.microsoft.com/office/powerpoint/2010/main" val="15075243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26307"/>
                                        </p:tgtEl>
                                        <p:attrNameLst>
                                          <p:attrName>style.visibility</p:attrName>
                                        </p:attrNameLst>
                                      </p:cBhvr>
                                      <p:to>
                                        <p:strVal val="visible"/>
                                      </p:to>
                                    </p:set>
                                    <p:animEffect transition="in" filter="wipe(up)">
                                      <p:cBhvr>
                                        <p:cTn id="7" dur="500"/>
                                        <p:tgtEl>
                                          <p:spTgt spid="2263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26310"/>
                                        </p:tgtEl>
                                        <p:attrNameLst>
                                          <p:attrName>style.visibility</p:attrName>
                                        </p:attrNameLst>
                                      </p:cBhvr>
                                      <p:to>
                                        <p:strVal val="visible"/>
                                      </p:to>
                                    </p:set>
                                    <p:animEffect transition="in" filter="wipe(up)">
                                      <p:cBhvr>
                                        <p:cTn id="12" dur="500"/>
                                        <p:tgtEl>
                                          <p:spTgt spid="226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Date Placeholder 2"/>
          <p:cNvSpPr>
            <a:spLocks noGrp="1"/>
          </p:cNvSpPr>
          <p:nvPr>
            <p:ph type="dt" sz="half" idx="10"/>
          </p:nvPr>
        </p:nvSpPr>
        <p:spPr/>
        <p:txBody>
          <a:bodyPr/>
          <a:lstStyle/>
          <a:p>
            <a:fld id="{8D402FD8-6753-40DD-932A-45E7CFD128AE}" type="datetime1">
              <a:rPr lang="en-GB" altLang="en-US"/>
              <a:pPr/>
              <a:t>02/06/2020</a:t>
            </a:fld>
            <a:endParaRPr lang="en-GB" altLang="en-US"/>
          </a:p>
        </p:txBody>
      </p:sp>
      <p:sp>
        <p:nvSpPr>
          <p:cNvPr id="22530" name="Rectangle 2"/>
          <p:cNvSpPr>
            <a:spLocks noGrp="1" noChangeArrowheads="1"/>
          </p:cNvSpPr>
          <p:nvPr>
            <p:ph type="title"/>
          </p:nvPr>
        </p:nvSpPr>
        <p:spPr/>
        <p:txBody>
          <a:bodyPr/>
          <a:lstStyle/>
          <a:p>
            <a:r>
              <a:rPr lang="en-GB" altLang="en-US"/>
              <a:t>Some examples of ionic bonds</a:t>
            </a:r>
          </a:p>
        </p:txBody>
      </p:sp>
      <p:grpSp>
        <p:nvGrpSpPr>
          <p:cNvPr id="22558" name="Group 30"/>
          <p:cNvGrpSpPr>
            <a:grpSpLocks/>
          </p:cNvGrpSpPr>
          <p:nvPr/>
        </p:nvGrpSpPr>
        <p:grpSpPr bwMode="auto">
          <a:xfrm>
            <a:off x="228600" y="1524000"/>
            <a:ext cx="1447800" cy="1447800"/>
            <a:chOff x="480" y="912"/>
            <a:chExt cx="912" cy="912"/>
          </a:xfrm>
        </p:grpSpPr>
        <p:sp>
          <p:nvSpPr>
            <p:cNvPr id="22541" name="Oval 13"/>
            <p:cNvSpPr>
              <a:spLocks noChangeArrowheads="1"/>
            </p:cNvSpPr>
            <p:nvPr/>
          </p:nvSpPr>
          <p:spPr bwMode="auto">
            <a:xfrm>
              <a:off x="480" y="912"/>
              <a:ext cx="912" cy="912"/>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42" name="Text Box 14"/>
            <p:cNvSpPr txBox="1">
              <a:spLocks noChangeArrowheads="1"/>
            </p:cNvSpPr>
            <p:nvPr/>
          </p:nvSpPr>
          <p:spPr bwMode="auto">
            <a:xfrm>
              <a:off x="768" y="1200"/>
              <a:ext cx="4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chemeClr val="accent1"/>
                  </a:solidFill>
                </a:rPr>
                <a:t>Mg</a:t>
              </a:r>
            </a:p>
          </p:txBody>
        </p:sp>
        <p:sp>
          <p:nvSpPr>
            <p:cNvPr id="22543" name="Oval 15"/>
            <p:cNvSpPr>
              <a:spLocks noChangeArrowheads="1"/>
            </p:cNvSpPr>
            <p:nvPr/>
          </p:nvSpPr>
          <p:spPr bwMode="auto">
            <a:xfrm>
              <a:off x="1102" y="912"/>
              <a:ext cx="83" cy="8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44" name="Oval 16"/>
            <p:cNvSpPr>
              <a:spLocks noChangeArrowheads="1"/>
            </p:cNvSpPr>
            <p:nvPr/>
          </p:nvSpPr>
          <p:spPr bwMode="auto">
            <a:xfrm>
              <a:off x="1268" y="1575"/>
              <a:ext cx="83" cy="8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2546" name="Text Box 18"/>
          <p:cNvSpPr txBox="1">
            <a:spLocks noChangeArrowheads="1"/>
          </p:cNvSpPr>
          <p:nvPr/>
        </p:nvSpPr>
        <p:spPr bwMode="auto">
          <a:xfrm>
            <a:off x="0" y="609600"/>
            <a:ext cx="1981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t>Magnesium chloride:</a:t>
            </a:r>
          </a:p>
        </p:txBody>
      </p:sp>
      <p:sp>
        <p:nvSpPr>
          <p:cNvPr id="22547" name="Text Box 19"/>
          <p:cNvSpPr txBox="1">
            <a:spLocks noChangeArrowheads="1"/>
          </p:cNvSpPr>
          <p:nvPr/>
        </p:nvSpPr>
        <p:spPr bwMode="auto">
          <a:xfrm>
            <a:off x="5257800" y="3124200"/>
            <a:ext cx="1143000" cy="457200"/>
          </a:xfrm>
          <a:prstGeom prst="rect">
            <a:avLst/>
          </a:prstGeom>
          <a:solidFill>
            <a:srgbClr val="CC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t>MgCl</a:t>
            </a:r>
            <a:r>
              <a:rPr lang="en-GB" altLang="en-US" baseline="-25000"/>
              <a:t>2</a:t>
            </a:r>
          </a:p>
        </p:txBody>
      </p:sp>
      <p:grpSp>
        <p:nvGrpSpPr>
          <p:cNvPr id="22559" name="Group 31"/>
          <p:cNvGrpSpPr>
            <a:grpSpLocks/>
          </p:cNvGrpSpPr>
          <p:nvPr/>
        </p:nvGrpSpPr>
        <p:grpSpPr bwMode="auto">
          <a:xfrm>
            <a:off x="2438400" y="914400"/>
            <a:ext cx="1295400" cy="1236663"/>
            <a:chOff x="2400" y="576"/>
            <a:chExt cx="816" cy="779"/>
          </a:xfrm>
        </p:grpSpPr>
        <p:sp>
          <p:nvSpPr>
            <p:cNvPr id="22549" name="Oval 21"/>
            <p:cNvSpPr>
              <a:spLocks noChangeArrowheads="1"/>
            </p:cNvSpPr>
            <p:nvPr/>
          </p:nvSpPr>
          <p:spPr bwMode="auto">
            <a:xfrm>
              <a:off x="2437" y="576"/>
              <a:ext cx="742" cy="742"/>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50" name="Text Box 22"/>
            <p:cNvSpPr txBox="1">
              <a:spLocks noChangeArrowheads="1"/>
            </p:cNvSpPr>
            <p:nvPr/>
          </p:nvSpPr>
          <p:spPr bwMode="auto">
            <a:xfrm>
              <a:off x="2688" y="816"/>
              <a:ext cx="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9999"/>
                  </a:solidFill>
                </a:rPr>
                <a:t>Cl</a:t>
              </a:r>
            </a:p>
          </p:txBody>
        </p:sp>
        <p:sp>
          <p:nvSpPr>
            <p:cNvPr id="22551" name="Oval 23"/>
            <p:cNvSpPr>
              <a:spLocks noChangeArrowheads="1"/>
            </p:cNvSpPr>
            <p:nvPr/>
          </p:nvSpPr>
          <p:spPr bwMode="auto">
            <a:xfrm>
              <a:off x="2585" y="576"/>
              <a:ext cx="75"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52" name="Oval 24"/>
            <p:cNvSpPr>
              <a:spLocks noChangeArrowheads="1"/>
            </p:cNvSpPr>
            <p:nvPr/>
          </p:nvSpPr>
          <p:spPr bwMode="auto">
            <a:xfrm>
              <a:off x="2919" y="576"/>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53" name="Oval 25"/>
            <p:cNvSpPr>
              <a:spLocks noChangeArrowheads="1"/>
            </p:cNvSpPr>
            <p:nvPr/>
          </p:nvSpPr>
          <p:spPr bwMode="auto">
            <a:xfrm>
              <a:off x="2400" y="836"/>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54" name="Oval 26"/>
            <p:cNvSpPr>
              <a:spLocks noChangeArrowheads="1"/>
            </p:cNvSpPr>
            <p:nvPr/>
          </p:nvSpPr>
          <p:spPr bwMode="auto">
            <a:xfrm>
              <a:off x="2511" y="1170"/>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55" name="Oval 27"/>
            <p:cNvSpPr>
              <a:spLocks noChangeArrowheads="1"/>
            </p:cNvSpPr>
            <p:nvPr/>
          </p:nvSpPr>
          <p:spPr bwMode="auto">
            <a:xfrm>
              <a:off x="3031" y="1170"/>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56" name="Oval 28"/>
            <p:cNvSpPr>
              <a:spLocks noChangeArrowheads="1"/>
            </p:cNvSpPr>
            <p:nvPr/>
          </p:nvSpPr>
          <p:spPr bwMode="auto">
            <a:xfrm>
              <a:off x="3142" y="910"/>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57" name="Oval 29"/>
            <p:cNvSpPr>
              <a:spLocks noChangeArrowheads="1"/>
            </p:cNvSpPr>
            <p:nvPr/>
          </p:nvSpPr>
          <p:spPr bwMode="auto">
            <a:xfrm>
              <a:off x="2734" y="1281"/>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2560" name="Group 32"/>
          <p:cNvGrpSpPr>
            <a:grpSpLocks/>
          </p:cNvGrpSpPr>
          <p:nvPr/>
        </p:nvGrpSpPr>
        <p:grpSpPr bwMode="auto">
          <a:xfrm>
            <a:off x="2438400" y="2286000"/>
            <a:ext cx="1295400" cy="1236663"/>
            <a:chOff x="2400" y="576"/>
            <a:chExt cx="816" cy="779"/>
          </a:xfrm>
        </p:grpSpPr>
        <p:sp>
          <p:nvSpPr>
            <p:cNvPr id="22561" name="Oval 33"/>
            <p:cNvSpPr>
              <a:spLocks noChangeArrowheads="1"/>
            </p:cNvSpPr>
            <p:nvPr/>
          </p:nvSpPr>
          <p:spPr bwMode="auto">
            <a:xfrm>
              <a:off x="2437" y="576"/>
              <a:ext cx="742" cy="742"/>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62" name="Text Box 34"/>
            <p:cNvSpPr txBox="1">
              <a:spLocks noChangeArrowheads="1"/>
            </p:cNvSpPr>
            <p:nvPr/>
          </p:nvSpPr>
          <p:spPr bwMode="auto">
            <a:xfrm>
              <a:off x="2688" y="816"/>
              <a:ext cx="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9999"/>
                  </a:solidFill>
                </a:rPr>
                <a:t>Cl</a:t>
              </a:r>
            </a:p>
          </p:txBody>
        </p:sp>
        <p:sp>
          <p:nvSpPr>
            <p:cNvPr id="22563" name="Oval 35"/>
            <p:cNvSpPr>
              <a:spLocks noChangeArrowheads="1"/>
            </p:cNvSpPr>
            <p:nvPr/>
          </p:nvSpPr>
          <p:spPr bwMode="auto">
            <a:xfrm>
              <a:off x="2585" y="576"/>
              <a:ext cx="75"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64" name="Oval 36"/>
            <p:cNvSpPr>
              <a:spLocks noChangeArrowheads="1"/>
            </p:cNvSpPr>
            <p:nvPr/>
          </p:nvSpPr>
          <p:spPr bwMode="auto">
            <a:xfrm>
              <a:off x="2919" y="576"/>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65" name="Oval 37"/>
            <p:cNvSpPr>
              <a:spLocks noChangeArrowheads="1"/>
            </p:cNvSpPr>
            <p:nvPr/>
          </p:nvSpPr>
          <p:spPr bwMode="auto">
            <a:xfrm>
              <a:off x="2400" y="836"/>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66" name="Oval 38"/>
            <p:cNvSpPr>
              <a:spLocks noChangeArrowheads="1"/>
            </p:cNvSpPr>
            <p:nvPr/>
          </p:nvSpPr>
          <p:spPr bwMode="auto">
            <a:xfrm>
              <a:off x="2511" y="1170"/>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67" name="Oval 39"/>
            <p:cNvSpPr>
              <a:spLocks noChangeArrowheads="1"/>
            </p:cNvSpPr>
            <p:nvPr/>
          </p:nvSpPr>
          <p:spPr bwMode="auto">
            <a:xfrm>
              <a:off x="3031" y="1170"/>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68" name="Oval 40"/>
            <p:cNvSpPr>
              <a:spLocks noChangeArrowheads="1"/>
            </p:cNvSpPr>
            <p:nvPr/>
          </p:nvSpPr>
          <p:spPr bwMode="auto">
            <a:xfrm>
              <a:off x="3142" y="910"/>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69" name="Oval 41"/>
            <p:cNvSpPr>
              <a:spLocks noChangeArrowheads="1"/>
            </p:cNvSpPr>
            <p:nvPr/>
          </p:nvSpPr>
          <p:spPr bwMode="auto">
            <a:xfrm>
              <a:off x="2734" y="1281"/>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2570" name="Text Box 42"/>
          <p:cNvSpPr txBox="1">
            <a:spLocks noChangeArrowheads="1"/>
          </p:cNvSpPr>
          <p:nvPr/>
        </p:nvSpPr>
        <p:spPr bwMode="auto">
          <a:xfrm>
            <a:off x="1905000" y="1905000"/>
            <a:ext cx="533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4000"/>
              <a:t>+</a:t>
            </a:r>
          </a:p>
        </p:txBody>
      </p:sp>
      <p:sp>
        <p:nvSpPr>
          <p:cNvPr id="22571" name="AutoShape 43"/>
          <p:cNvSpPr>
            <a:spLocks noChangeArrowheads="1"/>
          </p:cNvSpPr>
          <p:nvPr/>
        </p:nvSpPr>
        <p:spPr bwMode="auto">
          <a:xfrm>
            <a:off x="4038600" y="1828800"/>
            <a:ext cx="609600" cy="914400"/>
          </a:xfrm>
          <a:prstGeom prst="rightArrow">
            <a:avLst>
              <a:gd name="adj1" fmla="val 50000"/>
              <a:gd name="adj2" fmla="val 25000"/>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22607" name="Group 79"/>
          <p:cNvGrpSpPr>
            <a:grpSpLocks/>
          </p:cNvGrpSpPr>
          <p:nvPr/>
        </p:nvGrpSpPr>
        <p:grpSpPr bwMode="auto">
          <a:xfrm>
            <a:off x="4876800" y="1143000"/>
            <a:ext cx="2286000" cy="1752600"/>
            <a:chOff x="3072" y="720"/>
            <a:chExt cx="1440" cy="1104"/>
          </a:xfrm>
        </p:grpSpPr>
        <p:sp>
          <p:nvSpPr>
            <p:cNvPr id="22573" name="Oval 45"/>
            <p:cNvSpPr>
              <a:spLocks noChangeArrowheads="1"/>
            </p:cNvSpPr>
            <p:nvPr/>
          </p:nvSpPr>
          <p:spPr bwMode="auto">
            <a:xfrm>
              <a:off x="3168" y="864"/>
              <a:ext cx="912" cy="912"/>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74" name="Text Box 46"/>
            <p:cNvSpPr txBox="1">
              <a:spLocks noChangeArrowheads="1"/>
            </p:cNvSpPr>
            <p:nvPr/>
          </p:nvSpPr>
          <p:spPr bwMode="auto">
            <a:xfrm>
              <a:off x="3456" y="1152"/>
              <a:ext cx="4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chemeClr val="accent1"/>
                  </a:solidFill>
                </a:rPr>
                <a:t>Mg</a:t>
              </a:r>
            </a:p>
          </p:txBody>
        </p:sp>
        <p:sp>
          <p:nvSpPr>
            <p:cNvPr id="22598" name="AutoShape 70"/>
            <p:cNvSpPr>
              <a:spLocks/>
            </p:cNvSpPr>
            <p:nvPr/>
          </p:nvSpPr>
          <p:spPr bwMode="auto">
            <a:xfrm>
              <a:off x="3072" y="816"/>
              <a:ext cx="144" cy="1008"/>
            </a:xfrm>
            <a:prstGeom prst="leftBracket">
              <a:avLst>
                <a:gd name="adj" fmla="val 0"/>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99" name="AutoShape 71"/>
            <p:cNvSpPr>
              <a:spLocks/>
            </p:cNvSpPr>
            <p:nvPr/>
          </p:nvSpPr>
          <p:spPr bwMode="auto">
            <a:xfrm flipH="1">
              <a:off x="4032" y="816"/>
              <a:ext cx="144" cy="1008"/>
            </a:xfrm>
            <a:prstGeom prst="leftBracket">
              <a:avLst>
                <a:gd name="adj" fmla="val 0"/>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04" name="Text Box 76"/>
            <p:cNvSpPr txBox="1">
              <a:spLocks noChangeArrowheads="1"/>
            </p:cNvSpPr>
            <p:nvPr/>
          </p:nvSpPr>
          <p:spPr bwMode="auto">
            <a:xfrm>
              <a:off x="4176" y="720"/>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t>2+</a:t>
              </a:r>
            </a:p>
          </p:txBody>
        </p:sp>
      </p:grpSp>
      <p:grpSp>
        <p:nvGrpSpPr>
          <p:cNvPr id="22609" name="Group 81"/>
          <p:cNvGrpSpPr>
            <a:grpSpLocks/>
          </p:cNvGrpSpPr>
          <p:nvPr/>
        </p:nvGrpSpPr>
        <p:grpSpPr bwMode="auto">
          <a:xfrm>
            <a:off x="7239000" y="533400"/>
            <a:ext cx="1905000" cy="1465263"/>
            <a:chOff x="4560" y="336"/>
            <a:chExt cx="1200" cy="923"/>
          </a:xfrm>
        </p:grpSpPr>
        <p:grpSp>
          <p:nvGrpSpPr>
            <p:cNvPr id="22577" name="Group 49"/>
            <p:cNvGrpSpPr>
              <a:grpSpLocks/>
            </p:cNvGrpSpPr>
            <p:nvPr/>
          </p:nvGrpSpPr>
          <p:grpSpPr bwMode="auto">
            <a:xfrm>
              <a:off x="4608" y="480"/>
              <a:ext cx="816" cy="779"/>
              <a:chOff x="2400" y="576"/>
              <a:chExt cx="816" cy="779"/>
            </a:xfrm>
          </p:grpSpPr>
          <p:sp>
            <p:nvSpPr>
              <p:cNvPr id="22578" name="Oval 50"/>
              <p:cNvSpPr>
                <a:spLocks noChangeArrowheads="1"/>
              </p:cNvSpPr>
              <p:nvPr/>
            </p:nvSpPr>
            <p:spPr bwMode="auto">
              <a:xfrm>
                <a:off x="2437" y="576"/>
                <a:ext cx="742" cy="742"/>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79" name="Text Box 51"/>
              <p:cNvSpPr txBox="1">
                <a:spLocks noChangeArrowheads="1"/>
              </p:cNvSpPr>
              <p:nvPr/>
            </p:nvSpPr>
            <p:spPr bwMode="auto">
              <a:xfrm>
                <a:off x="2688" y="816"/>
                <a:ext cx="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9999"/>
                    </a:solidFill>
                  </a:rPr>
                  <a:t>Cl</a:t>
                </a:r>
              </a:p>
            </p:txBody>
          </p:sp>
          <p:sp>
            <p:nvSpPr>
              <p:cNvPr id="22580" name="Oval 52"/>
              <p:cNvSpPr>
                <a:spLocks noChangeArrowheads="1"/>
              </p:cNvSpPr>
              <p:nvPr/>
            </p:nvSpPr>
            <p:spPr bwMode="auto">
              <a:xfrm>
                <a:off x="2585" y="576"/>
                <a:ext cx="75"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81" name="Oval 53"/>
              <p:cNvSpPr>
                <a:spLocks noChangeArrowheads="1"/>
              </p:cNvSpPr>
              <p:nvPr/>
            </p:nvSpPr>
            <p:spPr bwMode="auto">
              <a:xfrm>
                <a:off x="2919" y="576"/>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82" name="Oval 54"/>
              <p:cNvSpPr>
                <a:spLocks noChangeArrowheads="1"/>
              </p:cNvSpPr>
              <p:nvPr/>
            </p:nvSpPr>
            <p:spPr bwMode="auto">
              <a:xfrm>
                <a:off x="2400" y="836"/>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83" name="Oval 55"/>
              <p:cNvSpPr>
                <a:spLocks noChangeArrowheads="1"/>
              </p:cNvSpPr>
              <p:nvPr/>
            </p:nvSpPr>
            <p:spPr bwMode="auto">
              <a:xfrm>
                <a:off x="2511" y="1170"/>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84" name="Oval 56"/>
              <p:cNvSpPr>
                <a:spLocks noChangeArrowheads="1"/>
              </p:cNvSpPr>
              <p:nvPr/>
            </p:nvSpPr>
            <p:spPr bwMode="auto">
              <a:xfrm>
                <a:off x="3031" y="1170"/>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85" name="Oval 57"/>
              <p:cNvSpPr>
                <a:spLocks noChangeArrowheads="1"/>
              </p:cNvSpPr>
              <p:nvPr/>
            </p:nvSpPr>
            <p:spPr bwMode="auto">
              <a:xfrm>
                <a:off x="3142" y="910"/>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86" name="Oval 58"/>
              <p:cNvSpPr>
                <a:spLocks noChangeArrowheads="1"/>
              </p:cNvSpPr>
              <p:nvPr/>
            </p:nvSpPr>
            <p:spPr bwMode="auto">
              <a:xfrm>
                <a:off x="2734" y="1281"/>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2575" name="Oval 47"/>
            <p:cNvSpPr>
              <a:spLocks noChangeArrowheads="1"/>
            </p:cNvSpPr>
            <p:nvPr/>
          </p:nvSpPr>
          <p:spPr bwMode="auto">
            <a:xfrm>
              <a:off x="4608" y="912"/>
              <a:ext cx="83" cy="8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01" name="AutoShape 73"/>
            <p:cNvSpPr>
              <a:spLocks/>
            </p:cNvSpPr>
            <p:nvPr/>
          </p:nvSpPr>
          <p:spPr bwMode="auto">
            <a:xfrm>
              <a:off x="4560" y="432"/>
              <a:ext cx="96" cy="816"/>
            </a:xfrm>
            <a:prstGeom prst="leftBracket">
              <a:avLst>
                <a:gd name="adj" fmla="val 0"/>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02" name="AutoShape 74"/>
            <p:cNvSpPr>
              <a:spLocks/>
            </p:cNvSpPr>
            <p:nvPr/>
          </p:nvSpPr>
          <p:spPr bwMode="auto">
            <a:xfrm flipH="1">
              <a:off x="5376" y="432"/>
              <a:ext cx="96" cy="816"/>
            </a:xfrm>
            <a:prstGeom prst="leftBracket">
              <a:avLst>
                <a:gd name="adj" fmla="val 0"/>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05" name="Text Box 77"/>
            <p:cNvSpPr txBox="1">
              <a:spLocks noChangeArrowheads="1"/>
            </p:cNvSpPr>
            <p:nvPr/>
          </p:nvSpPr>
          <p:spPr bwMode="auto">
            <a:xfrm>
              <a:off x="5472" y="336"/>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t>-</a:t>
              </a:r>
            </a:p>
          </p:txBody>
        </p:sp>
      </p:grpSp>
      <p:grpSp>
        <p:nvGrpSpPr>
          <p:cNvPr id="22608" name="Group 80"/>
          <p:cNvGrpSpPr>
            <a:grpSpLocks/>
          </p:cNvGrpSpPr>
          <p:nvPr/>
        </p:nvGrpSpPr>
        <p:grpSpPr bwMode="auto">
          <a:xfrm>
            <a:off x="7239000" y="1981200"/>
            <a:ext cx="1905000" cy="1465263"/>
            <a:chOff x="4560" y="1248"/>
            <a:chExt cx="1200" cy="923"/>
          </a:xfrm>
        </p:grpSpPr>
        <p:sp>
          <p:nvSpPr>
            <p:cNvPr id="22588" name="Oval 60"/>
            <p:cNvSpPr>
              <a:spLocks noChangeArrowheads="1"/>
            </p:cNvSpPr>
            <p:nvPr/>
          </p:nvSpPr>
          <p:spPr bwMode="auto">
            <a:xfrm>
              <a:off x="4693" y="1392"/>
              <a:ext cx="742" cy="742"/>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76" name="Oval 48"/>
            <p:cNvSpPr>
              <a:spLocks noChangeArrowheads="1"/>
            </p:cNvSpPr>
            <p:nvPr/>
          </p:nvSpPr>
          <p:spPr bwMode="auto">
            <a:xfrm>
              <a:off x="4656" y="1824"/>
              <a:ext cx="83" cy="8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89" name="Text Box 61"/>
            <p:cNvSpPr txBox="1">
              <a:spLocks noChangeArrowheads="1"/>
            </p:cNvSpPr>
            <p:nvPr/>
          </p:nvSpPr>
          <p:spPr bwMode="auto">
            <a:xfrm>
              <a:off x="4944" y="1632"/>
              <a:ext cx="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9999"/>
                  </a:solidFill>
                </a:rPr>
                <a:t>Cl</a:t>
              </a:r>
            </a:p>
          </p:txBody>
        </p:sp>
        <p:sp>
          <p:nvSpPr>
            <p:cNvPr id="22590" name="Oval 62"/>
            <p:cNvSpPr>
              <a:spLocks noChangeArrowheads="1"/>
            </p:cNvSpPr>
            <p:nvPr/>
          </p:nvSpPr>
          <p:spPr bwMode="auto">
            <a:xfrm>
              <a:off x="4841" y="1392"/>
              <a:ext cx="75"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91" name="Oval 63"/>
            <p:cNvSpPr>
              <a:spLocks noChangeArrowheads="1"/>
            </p:cNvSpPr>
            <p:nvPr/>
          </p:nvSpPr>
          <p:spPr bwMode="auto">
            <a:xfrm>
              <a:off x="5175" y="1392"/>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92" name="Oval 64"/>
            <p:cNvSpPr>
              <a:spLocks noChangeArrowheads="1"/>
            </p:cNvSpPr>
            <p:nvPr/>
          </p:nvSpPr>
          <p:spPr bwMode="auto">
            <a:xfrm>
              <a:off x="4656" y="1652"/>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93" name="Oval 65"/>
            <p:cNvSpPr>
              <a:spLocks noChangeArrowheads="1"/>
            </p:cNvSpPr>
            <p:nvPr/>
          </p:nvSpPr>
          <p:spPr bwMode="auto">
            <a:xfrm>
              <a:off x="4767" y="1986"/>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94" name="Oval 66"/>
            <p:cNvSpPr>
              <a:spLocks noChangeArrowheads="1"/>
            </p:cNvSpPr>
            <p:nvPr/>
          </p:nvSpPr>
          <p:spPr bwMode="auto">
            <a:xfrm>
              <a:off x="5287" y="1986"/>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95" name="Oval 67"/>
            <p:cNvSpPr>
              <a:spLocks noChangeArrowheads="1"/>
            </p:cNvSpPr>
            <p:nvPr/>
          </p:nvSpPr>
          <p:spPr bwMode="auto">
            <a:xfrm>
              <a:off x="5398" y="1726"/>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596" name="Oval 68"/>
            <p:cNvSpPr>
              <a:spLocks noChangeArrowheads="1"/>
            </p:cNvSpPr>
            <p:nvPr/>
          </p:nvSpPr>
          <p:spPr bwMode="auto">
            <a:xfrm>
              <a:off x="4990" y="2097"/>
              <a:ext cx="74" cy="7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00" name="AutoShape 72"/>
            <p:cNvSpPr>
              <a:spLocks/>
            </p:cNvSpPr>
            <p:nvPr/>
          </p:nvSpPr>
          <p:spPr bwMode="auto">
            <a:xfrm>
              <a:off x="4560" y="1344"/>
              <a:ext cx="96" cy="816"/>
            </a:xfrm>
            <a:prstGeom prst="leftBracket">
              <a:avLst>
                <a:gd name="adj" fmla="val 0"/>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03" name="AutoShape 75"/>
            <p:cNvSpPr>
              <a:spLocks/>
            </p:cNvSpPr>
            <p:nvPr/>
          </p:nvSpPr>
          <p:spPr bwMode="auto">
            <a:xfrm flipH="1">
              <a:off x="5376" y="1344"/>
              <a:ext cx="96" cy="816"/>
            </a:xfrm>
            <a:prstGeom prst="leftBracket">
              <a:avLst>
                <a:gd name="adj" fmla="val 0"/>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06" name="Text Box 78"/>
            <p:cNvSpPr txBox="1">
              <a:spLocks noChangeArrowheads="1"/>
            </p:cNvSpPr>
            <p:nvPr/>
          </p:nvSpPr>
          <p:spPr bwMode="auto">
            <a:xfrm>
              <a:off x="5472" y="1248"/>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t>-</a:t>
              </a:r>
            </a:p>
          </p:txBody>
        </p:sp>
      </p:grpSp>
      <p:sp>
        <p:nvSpPr>
          <p:cNvPr id="22610" name="Text Box 82"/>
          <p:cNvSpPr txBox="1">
            <a:spLocks noChangeArrowheads="1"/>
          </p:cNvSpPr>
          <p:nvPr/>
        </p:nvSpPr>
        <p:spPr bwMode="auto">
          <a:xfrm>
            <a:off x="0" y="4114800"/>
            <a:ext cx="243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t>Calcium oxide:</a:t>
            </a:r>
          </a:p>
        </p:txBody>
      </p:sp>
      <p:sp>
        <p:nvSpPr>
          <p:cNvPr id="22660" name="Text Box 132"/>
          <p:cNvSpPr txBox="1">
            <a:spLocks noChangeArrowheads="1"/>
          </p:cNvSpPr>
          <p:nvPr/>
        </p:nvSpPr>
        <p:spPr bwMode="auto">
          <a:xfrm>
            <a:off x="6553200" y="6400800"/>
            <a:ext cx="990600" cy="457200"/>
          </a:xfrm>
          <a:prstGeom prst="rect">
            <a:avLst/>
          </a:prstGeom>
          <a:solidFill>
            <a:srgbClr val="CC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t>CaO</a:t>
            </a:r>
          </a:p>
        </p:txBody>
      </p:sp>
      <p:grpSp>
        <p:nvGrpSpPr>
          <p:cNvPr id="22664" name="Group 136"/>
          <p:cNvGrpSpPr>
            <a:grpSpLocks/>
          </p:cNvGrpSpPr>
          <p:nvPr/>
        </p:nvGrpSpPr>
        <p:grpSpPr bwMode="auto">
          <a:xfrm>
            <a:off x="228600" y="4495800"/>
            <a:ext cx="8915400" cy="1752600"/>
            <a:chOff x="144" y="2832"/>
            <a:chExt cx="5616" cy="1104"/>
          </a:xfrm>
        </p:grpSpPr>
        <p:grpSp>
          <p:nvGrpSpPr>
            <p:cNvPr id="22628" name="Group 100"/>
            <p:cNvGrpSpPr>
              <a:grpSpLocks/>
            </p:cNvGrpSpPr>
            <p:nvPr/>
          </p:nvGrpSpPr>
          <p:grpSpPr bwMode="auto">
            <a:xfrm>
              <a:off x="1680" y="3072"/>
              <a:ext cx="816" cy="742"/>
              <a:chOff x="1776" y="3264"/>
              <a:chExt cx="816" cy="742"/>
            </a:xfrm>
          </p:grpSpPr>
          <p:sp>
            <p:nvSpPr>
              <p:cNvPr id="22612" name="Oval 84"/>
              <p:cNvSpPr>
                <a:spLocks noChangeArrowheads="1"/>
              </p:cNvSpPr>
              <p:nvPr/>
            </p:nvSpPr>
            <p:spPr bwMode="auto">
              <a:xfrm>
                <a:off x="1813" y="3264"/>
                <a:ext cx="742" cy="742"/>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13" name="Text Box 85"/>
              <p:cNvSpPr txBox="1">
                <a:spLocks noChangeArrowheads="1"/>
              </p:cNvSpPr>
              <p:nvPr/>
            </p:nvSpPr>
            <p:spPr bwMode="auto">
              <a:xfrm>
                <a:off x="2064" y="3504"/>
                <a:ext cx="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CCCCFF"/>
                    </a:solidFill>
                  </a:rPr>
                  <a:t>O</a:t>
                </a:r>
              </a:p>
            </p:txBody>
          </p:sp>
          <p:sp>
            <p:nvSpPr>
              <p:cNvPr id="22614" name="Oval 86"/>
              <p:cNvSpPr>
                <a:spLocks noChangeArrowheads="1"/>
              </p:cNvSpPr>
              <p:nvPr/>
            </p:nvSpPr>
            <p:spPr bwMode="auto">
              <a:xfrm>
                <a:off x="1961" y="3264"/>
                <a:ext cx="75" cy="74"/>
              </a:xfrm>
              <a:prstGeom prst="ellipse">
                <a:avLst/>
              </a:prstGeom>
              <a:solidFill>
                <a:srgbClr val="CC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15" name="Oval 87"/>
              <p:cNvSpPr>
                <a:spLocks noChangeArrowheads="1"/>
              </p:cNvSpPr>
              <p:nvPr/>
            </p:nvSpPr>
            <p:spPr bwMode="auto">
              <a:xfrm>
                <a:off x="2295" y="3264"/>
                <a:ext cx="74" cy="74"/>
              </a:xfrm>
              <a:prstGeom prst="ellipse">
                <a:avLst/>
              </a:prstGeom>
              <a:solidFill>
                <a:srgbClr val="CC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16" name="Oval 88"/>
              <p:cNvSpPr>
                <a:spLocks noChangeArrowheads="1"/>
              </p:cNvSpPr>
              <p:nvPr/>
            </p:nvSpPr>
            <p:spPr bwMode="auto">
              <a:xfrm>
                <a:off x="1776" y="3524"/>
                <a:ext cx="74" cy="74"/>
              </a:xfrm>
              <a:prstGeom prst="ellipse">
                <a:avLst/>
              </a:prstGeom>
              <a:solidFill>
                <a:srgbClr val="CC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17" name="Oval 89"/>
              <p:cNvSpPr>
                <a:spLocks noChangeArrowheads="1"/>
              </p:cNvSpPr>
              <p:nvPr/>
            </p:nvSpPr>
            <p:spPr bwMode="auto">
              <a:xfrm>
                <a:off x="1920" y="3888"/>
                <a:ext cx="74" cy="74"/>
              </a:xfrm>
              <a:prstGeom prst="ellipse">
                <a:avLst/>
              </a:prstGeom>
              <a:solidFill>
                <a:srgbClr val="CC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18" name="Oval 90"/>
              <p:cNvSpPr>
                <a:spLocks noChangeArrowheads="1"/>
              </p:cNvSpPr>
              <p:nvPr/>
            </p:nvSpPr>
            <p:spPr bwMode="auto">
              <a:xfrm>
                <a:off x="2400" y="3888"/>
                <a:ext cx="74" cy="74"/>
              </a:xfrm>
              <a:prstGeom prst="ellipse">
                <a:avLst/>
              </a:prstGeom>
              <a:solidFill>
                <a:srgbClr val="CC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19" name="Oval 91"/>
              <p:cNvSpPr>
                <a:spLocks noChangeArrowheads="1"/>
              </p:cNvSpPr>
              <p:nvPr/>
            </p:nvSpPr>
            <p:spPr bwMode="auto">
              <a:xfrm>
                <a:off x="2518" y="3598"/>
                <a:ext cx="74" cy="74"/>
              </a:xfrm>
              <a:prstGeom prst="ellipse">
                <a:avLst/>
              </a:prstGeom>
              <a:solidFill>
                <a:srgbClr val="CC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2622" name="Oval 94"/>
            <p:cNvSpPr>
              <a:spLocks noChangeArrowheads="1"/>
            </p:cNvSpPr>
            <p:nvPr/>
          </p:nvSpPr>
          <p:spPr bwMode="auto">
            <a:xfrm>
              <a:off x="144" y="2976"/>
              <a:ext cx="912" cy="912"/>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23" name="Text Box 95"/>
            <p:cNvSpPr txBox="1">
              <a:spLocks noChangeArrowheads="1"/>
            </p:cNvSpPr>
            <p:nvPr/>
          </p:nvSpPr>
          <p:spPr bwMode="auto">
            <a:xfrm>
              <a:off x="432" y="3264"/>
              <a:ext cx="4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CCFF99"/>
                  </a:solidFill>
                </a:rPr>
                <a:t>Ca</a:t>
              </a:r>
            </a:p>
          </p:txBody>
        </p:sp>
        <p:sp>
          <p:nvSpPr>
            <p:cNvPr id="22624" name="Oval 96"/>
            <p:cNvSpPr>
              <a:spLocks noChangeArrowheads="1"/>
            </p:cNvSpPr>
            <p:nvPr/>
          </p:nvSpPr>
          <p:spPr bwMode="auto">
            <a:xfrm>
              <a:off x="766" y="2976"/>
              <a:ext cx="83" cy="83"/>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25" name="Oval 97"/>
            <p:cNvSpPr>
              <a:spLocks noChangeArrowheads="1"/>
            </p:cNvSpPr>
            <p:nvPr/>
          </p:nvSpPr>
          <p:spPr bwMode="auto">
            <a:xfrm>
              <a:off x="932" y="3639"/>
              <a:ext cx="83" cy="83"/>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26" name="Text Box 98"/>
            <p:cNvSpPr txBox="1">
              <a:spLocks noChangeArrowheads="1"/>
            </p:cNvSpPr>
            <p:nvPr/>
          </p:nvSpPr>
          <p:spPr bwMode="auto">
            <a:xfrm>
              <a:off x="1248" y="3216"/>
              <a:ext cx="33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4000"/>
                <a:t>+</a:t>
              </a:r>
            </a:p>
          </p:txBody>
        </p:sp>
        <p:sp>
          <p:nvSpPr>
            <p:cNvPr id="22629" name="AutoShape 101"/>
            <p:cNvSpPr>
              <a:spLocks noChangeArrowheads="1"/>
            </p:cNvSpPr>
            <p:nvPr/>
          </p:nvSpPr>
          <p:spPr bwMode="auto">
            <a:xfrm>
              <a:off x="2640" y="3168"/>
              <a:ext cx="384" cy="576"/>
            </a:xfrm>
            <a:prstGeom prst="rightArrow">
              <a:avLst>
                <a:gd name="adj1" fmla="val 50000"/>
                <a:gd name="adj2" fmla="val 25000"/>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22630" name="Group 102"/>
            <p:cNvGrpSpPr>
              <a:grpSpLocks/>
            </p:cNvGrpSpPr>
            <p:nvPr/>
          </p:nvGrpSpPr>
          <p:grpSpPr bwMode="auto">
            <a:xfrm>
              <a:off x="3072" y="2832"/>
              <a:ext cx="1440" cy="1104"/>
              <a:chOff x="3072" y="720"/>
              <a:chExt cx="1440" cy="1104"/>
            </a:xfrm>
          </p:grpSpPr>
          <p:sp>
            <p:nvSpPr>
              <p:cNvPr id="22631" name="Oval 103"/>
              <p:cNvSpPr>
                <a:spLocks noChangeArrowheads="1"/>
              </p:cNvSpPr>
              <p:nvPr/>
            </p:nvSpPr>
            <p:spPr bwMode="auto">
              <a:xfrm>
                <a:off x="3168" y="864"/>
                <a:ext cx="912" cy="912"/>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32" name="Text Box 104"/>
              <p:cNvSpPr txBox="1">
                <a:spLocks noChangeArrowheads="1"/>
              </p:cNvSpPr>
              <p:nvPr/>
            </p:nvSpPr>
            <p:spPr bwMode="auto">
              <a:xfrm>
                <a:off x="3456" y="1152"/>
                <a:ext cx="4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CCFF99"/>
                    </a:solidFill>
                  </a:rPr>
                  <a:t>Ca</a:t>
                </a:r>
              </a:p>
            </p:txBody>
          </p:sp>
          <p:sp>
            <p:nvSpPr>
              <p:cNvPr id="22633" name="AutoShape 105"/>
              <p:cNvSpPr>
                <a:spLocks/>
              </p:cNvSpPr>
              <p:nvPr/>
            </p:nvSpPr>
            <p:spPr bwMode="auto">
              <a:xfrm>
                <a:off x="3072" y="816"/>
                <a:ext cx="144" cy="1008"/>
              </a:xfrm>
              <a:prstGeom prst="leftBracket">
                <a:avLst>
                  <a:gd name="adj" fmla="val 0"/>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34" name="AutoShape 106"/>
              <p:cNvSpPr>
                <a:spLocks/>
              </p:cNvSpPr>
              <p:nvPr/>
            </p:nvSpPr>
            <p:spPr bwMode="auto">
              <a:xfrm flipH="1">
                <a:off x="4032" y="816"/>
                <a:ext cx="144" cy="1008"/>
              </a:xfrm>
              <a:prstGeom prst="leftBracket">
                <a:avLst>
                  <a:gd name="adj" fmla="val 0"/>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35" name="Text Box 107"/>
              <p:cNvSpPr txBox="1">
                <a:spLocks noChangeArrowheads="1"/>
              </p:cNvSpPr>
              <p:nvPr/>
            </p:nvSpPr>
            <p:spPr bwMode="auto">
              <a:xfrm>
                <a:off x="4176" y="720"/>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t>2+</a:t>
                </a:r>
              </a:p>
            </p:txBody>
          </p:sp>
        </p:grpSp>
        <p:grpSp>
          <p:nvGrpSpPr>
            <p:cNvPr id="22663" name="Group 135"/>
            <p:cNvGrpSpPr>
              <a:grpSpLocks/>
            </p:cNvGrpSpPr>
            <p:nvPr/>
          </p:nvGrpSpPr>
          <p:grpSpPr bwMode="auto">
            <a:xfrm>
              <a:off x="4560" y="2928"/>
              <a:ext cx="1200" cy="912"/>
              <a:chOff x="4560" y="2928"/>
              <a:chExt cx="1200" cy="912"/>
            </a:xfrm>
          </p:grpSpPr>
          <p:grpSp>
            <p:nvGrpSpPr>
              <p:cNvPr id="22659" name="Group 131"/>
              <p:cNvGrpSpPr>
                <a:grpSpLocks/>
              </p:cNvGrpSpPr>
              <p:nvPr/>
            </p:nvGrpSpPr>
            <p:grpSpPr bwMode="auto">
              <a:xfrm>
                <a:off x="4560" y="2928"/>
                <a:ext cx="1200" cy="912"/>
                <a:chOff x="4560" y="3120"/>
                <a:chExt cx="1200" cy="912"/>
              </a:xfrm>
            </p:grpSpPr>
            <p:grpSp>
              <p:nvGrpSpPr>
                <p:cNvPr id="22636" name="Group 108"/>
                <p:cNvGrpSpPr>
                  <a:grpSpLocks/>
                </p:cNvGrpSpPr>
                <p:nvPr/>
              </p:nvGrpSpPr>
              <p:grpSpPr bwMode="auto">
                <a:xfrm>
                  <a:off x="4608" y="3264"/>
                  <a:ext cx="816" cy="742"/>
                  <a:chOff x="1776" y="3264"/>
                  <a:chExt cx="816" cy="742"/>
                </a:xfrm>
              </p:grpSpPr>
              <p:sp>
                <p:nvSpPr>
                  <p:cNvPr id="22637" name="Oval 109"/>
                  <p:cNvSpPr>
                    <a:spLocks noChangeArrowheads="1"/>
                  </p:cNvSpPr>
                  <p:nvPr/>
                </p:nvSpPr>
                <p:spPr bwMode="auto">
                  <a:xfrm>
                    <a:off x="1813" y="3264"/>
                    <a:ext cx="742" cy="742"/>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38" name="Text Box 110"/>
                  <p:cNvSpPr txBox="1">
                    <a:spLocks noChangeArrowheads="1"/>
                  </p:cNvSpPr>
                  <p:nvPr/>
                </p:nvSpPr>
                <p:spPr bwMode="auto">
                  <a:xfrm>
                    <a:off x="2064" y="3504"/>
                    <a:ext cx="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CCCCFF"/>
                        </a:solidFill>
                      </a:rPr>
                      <a:t>O</a:t>
                    </a:r>
                  </a:p>
                </p:txBody>
              </p:sp>
              <p:sp>
                <p:nvSpPr>
                  <p:cNvPr id="22639" name="Oval 111"/>
                  <p:cNvSpPr>
                    <a:spLocks noChangeArrowheads="1"/>
                  </p:cNvSpPr>
                  <p:nvPr/>
                </p:nvSpPr>
                <p:spPr bwMode="auto">
                  <a:xfrm>
                    <a:off x="1961" y="3264"/>
                    <a:ext cx="75" cy="74"/>
                  </a:xfrm>
                  <a:prstGeom prst="ellipse">
                    <a:avLst/>
                  </a:prstGeom>
                  <a:solidFill>
                    <a:srgbClr val="CC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40" name="Oval 112"/>
                  <p:cNvSpPr>
                    <a:spLocks noChangeArrowheads="1"/>
                  </p:cNvSpPr>
                  <p:nvPr/>
                </p:nvSpPr>
                <p:spPr bwMode="auto">
                  <a:xfrm>
                    <a:off x="2295" y="3264"/>
                    <a:ext cx="74" cy="74"/>
                  </a:xfrm>
                  <a:prstGeom prst="ellipse">
                    <a:avLst/>
                  </a:prstGeom>
                  <a:solidFill>
                    <a:srgbClr val="CC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41" name="Oval 113"/>
                  <p:cNvSpPr>
                    <a:spLocks noChangeArrowheads="1"/>
                  </p:cNvSpPr>
                  <p:nvPr/>
                </p:nvSpPr>
                <p:spPr bwMode="auto">
                  <a:xfrm>
                    <a:off x="1776" y="3524"/>
                    <a:ext cx="74" cy="74"/>
                  </a:xfrm>
                  <a:prstGeom prst="ellipse">
                    <a:avLst/>
                  </a:prstGeom>
                  <a:solidFill>
                    <a:srgbClr val="CC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42" name="Oval 114"/>
                  <p:cNvSpPr>
                    <a:spLocks noChangeArrowheads="1"/>
                  </p:cNvSpPr>
                  <p:nvPr/>
                </p:nvSpPr>
                <p:spPr bwMode="auto">
                  <a:xfrm>
                    <a:off x="1920" y="3888"/>
                    <a:ext cx="74" cy="74"/>
                  </a:xfrm>
                  <a:prstGeom prst="ellipse">
                    <a:avLst/>
                  </a:prstGeom>
                  <a:solidFill>
                    <a:srgbClr val="CC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43" name="Oval 115"/>
                  <p:cNvSpPr>
                    <a:spLocks noChangeArrowheads="1"/>
                  </p:cNvSpPr>
                  <p:nvPr/>
                </p:nvSpPr>
                <p:spPr bwMode="auto">
                  <a:xfrm>
                    <a:off x="2400" y="3888"/>
                    <a:ext cx="74" cy="74"/>
                  </a:xfrm>
                  <a:prstGeom prst="ellipse">
                    <a:avLst/>
                  </a:prstGeom>
                  <a:solidFill>
                    <a:srgbClr val="CC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44" name="Oval 116"/>
                  <p:cNvSpPr>
                    <a:spLocks noChangeArrowheads="1"/>
                  </p:cNvSpPr>
                  <p:nvPr/>
                </p:nvSpPr>
                <p:spPr bwMode="auto">
                  <a:xfrm>
                    <a:off x="2518" y="3598"/>
                    <a:ext cx="74" cy="74"/>
                  </a:xfrm>
                  <a:prstGeom prst="ellipse">
                    <a:avLst/>
                  </a:prstGeom>
                  <a:solidFill>
                    <a:srgbClr val="CC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2656" name="AutoShape 128"/>
                <p:cNvSpPr>
                  <a:spLocks/>
                </p:cNvSpPr>
                <p:nvPr/>
              </p:nvSpPr>
              <p:spPr bwMode="auto">
                <a:xfrm>
                  <a:off x="4560" y="3216"/>
                  <a:ext cx="96" cy="816"/>
                </a:xfrm>
                <a:prstGeom prst="leftBracket">
                  <a:avLst>
                    <a:gd name="adj" fmla="val 0"/>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57" name="AutoShape 129"/>
                <p:cNvSpPr>
                  <a:spLocks/>
                </p:cNvSpPr>
                <p:nvPr/>
              </p:nvSpPr>
              <p:spPr bwMode="auto">
                <a:xfrm flipH="1">
                  <a:off x="5376" y="3216"/>
                  <a:ext cx="96" cy="816"/>
                </a:xfrm>
                <a:prstGeom prst="leftBracket">
                  <a:avLst>
                    <a:gd name="adj" fmla="val 0"/>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58" name="Text Box 130"/>
                <p:cNvSpPr txBox="1">
                  <a:spLocks noChangeArrowheads="1"/>
                </p:cNvSpPr>
                <p:nvPr/>
              </p:nvSpPr>
              <p:spPr bwMode="auto">
                <a:xfrm>
                  <a:off x="5472" y="3120"/>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t>2-</a:t>
                  </a:r>
                </a:p>
              </p:txBody>
            </p:sp>
          </p:grpSp>
          <p:sp>
            <p:nvSpPr>
              <p:cNvPr id="22661" name="Oval 133"/>
              <p:cNvSpPr>
                <a:spLocks noChangeArrowheads="1"/>
              </p:cNvSpPr>
              <p:nvPr/>
            </p:nvSpPr>
            <p:spPr bwMode="auto">
              <a:xfrm>
                <a:off x="4968" y="3756"/>
                <a:ext cx="83" cy="83"/>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2662" name="Oval 134"/>
              <p:cNvSpPr>
                <a:spLocks noChangeArrowheads="1"/>
              </p:cNvSpPr>
              <p:nvPr/>
            </p:nvSpPr>
            <p:spPr bwMode="auto">
              <a:xfrm>
                <a:off x="4608" y="3504"/>
                <a:ext cx="83" cy="83"/>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spTree>
    <p:extLst>
      <p:ext uri="{BB962C8B-B14F-4D97-AF65-F5344CB8AC3E}">
        <p14:creationId xmlns:p14="http://schemas.microsoft.com/office/powerpoint/2010/main" val="13061558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558"/>
                                        </p:tgtEl>
                                        <p:attrNameLst>
                                          <p:attrName>style.visibility</p:attrName>
                                        </p:attrNameLst>
                                      </p:cBhvr>
                                      <p:to>
                                        <p:strVal val="visible"/>
                                      </p:to>
                                    </p:set>
                                    <p:anim calcmode="lin" valueType="num">
                                      <p:cBhvr additive="base">
                                        <p:cTn id="7" dur="500" fill="hold"/>
                                        <p:tgtEl>
                                          <p:spTgt spid="22558"/>
                                        </p:tgtEl>
                                        <p:attrNameLst>
                                          <p:attrName>ppt_x</p:attrName>
                                        </p:attrNameLst>
                                      </p:cBhvr>
                                      <p:tavLst>
                                        <p:tav tm="0">
                                          <p:val>
                                            <p:strVal val="0-#ppt_w/2"/>
                                          </p:val>
                                        </p:tav>
                                        <p:tav tm="100000">
                                          <p:val>
                                            <p:strVal val="#ppt_x"/>
                                          </p:val>
                                        </p:tav>
                                      </p:tavLst>
                                    </p:anim>
                                    <p:anim calcmode="lin" valueType="num">
                                      <p:cBhvr additive="base">
                                        <p:cTn id="8" dur="500" fill="hold"/>
                                        <p:tgtEl>
                                          <p:spTgt spid="2255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2570"/>
                                        </p:tgtEl>
                                        <p:attrNameLst>
                                          <p:attrName>style.visibility</p:attrName>
                                        </p:attrNameLst>
                                      </p:cBhvr>
                                      <p:to>
                                        <p:strVal val="visible"/>
                                      </p:to>
                                    </p:set>
                                    <p:animEffect transition="in" filter="wipe(left)">
                                      <p:cBhvr>
                                        <p:cTn id="13" dur="500"/>
                                        <p:tgtEl>
                                          <p:spTgt spid="2257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22559"/>
                                        </p:tgtEl>
                                        <p:attrNameLst>
                                          <p:attrName>style.visibility</p:attrName>
                                        </p:attrNameLst>
                                      </p:cBhvr>
                                      <p:to>
                                        <p:strVal val="visible"/>
                                      </p:to>
                                    </p:set>
                                    <p:animEffect transition="in" filter="wipe(up)">
                                      <p:cBhvr>
                                        <p:cTn id="18" dur="500"/>
                                        <p:tgtEl>
                                          <p:spTgt spid="2255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22560"/>
                                        </p:tgtEl>
                                        <p:attrNameLst>
                                          <p:attrName>style.visibility</p:attrName>
                                        </p:attrNameLst>
                                      </p:cBhvr>
                                      <p:to>
                                        <p:strVal val="visible"/>
                                      </p:to>
                                    </p:set>
                                    <p:animEffect transition="in" filter="wipe(up)">
                                      <p:cBhvr>
                                        <p:cTn id="23" dur="500"/>
                                        <p:tgtEl>
                                          <p:spTgt spid="2256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2571"/>
                                        </p:tgtEl>
                                        <p:attrNameLst>
                                          <p:attrName>style.visibility</p:attrName>
                                        </p:attrNameLst>
                                      </p:cBhvr>
                                      <p:to>
                                        <p:strVal val="visible"/>
                                      </p:to>
                                    </p:set>
                                    <p:animEffect transition="in" filter="wipe(left)">
                                      <p:cBhvr>
                                        <p:cTn id="28" dur="500"/>
                                        <p:tgtEl>
                                          <p:spTgt spid="2257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22607"/>
                                        </p:tgtEl>
                                        <p:attrNameLst>
                                          <p:attrName>style.visibility</p:attrName>
                                        </p:attrNameLst>
                                      </p:cBhvr>
                                      <p:to>
                                        <p:strVal val="visible"/>
                                      </p:to>
                                    </p:set>
                                    <p:animEffect transition="in" filter="wipe(up)">
                                      <p:cBhvr>
                                        <p:cTn id="33" dur="500"/>
                                        <p:tgtEl>
                                          <p:spTgt spid="2260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22609"/>
                                        </p:tgtEl>
                                        <p:attrNameLst>
                                          <p:attrName>style.visibility</p:attrName>
                                        </p:attrNameLst>
                                      </p:cBhvr>
                                      <p:to>
                                        <p:strVal val="visible"/>
                                      </p:to>
                                    </p:set>
                                    <p:animEffect transition="in" filter="wipe(up)">
                                      <p:cBhvr>
                                        <p:cTn id="38" dur="500"/>
                                        <p:tgtEl>
                                          <p:spTgt spid="22609"/>
                                        </p:tgtEl>
                                      </p:cBhvr>
                                    </p:animEffect>
                                  </p:childTnLst>
                                </p:cTn>
                              </p:par>
                            </p:childTnLst>
                          </p:cTn>
                        </p:par>
                        <p:par>
                          <p:cTn id="39" fill="hold" nodeType="afterGroup">
                            <p:stCondLst>
                              <p:cond delay="500"/>
                            </p:stCondLst>
                            <p:childTnLst>
                              <p:par>
                                <p:cTn id="40" presetID="22" presetClass="entr" presetSubtype="1" fill="hold" nodeType="afterEffect">
                                  <p:stCondLst>
                                    <p:cond delay="0"/>
                                  </p:stCondLst>
                                  <p:childTnLst>
                                    <p:set>
                                      <p:cBhvr>
                                        <p:cTn id="41" dur="1" fill="hold">
                                          <p:stCondLst>
                                            <p:cond delay="0"/>
                                          </p:stCondLst>
                                        </p:cTn>
                                        <p:tgtEl>
                                          <p:spTgt spid="22608"/>
                                        </p:tgtEl>
                                        <p:attrNameLst>
                                          <p:attrName>style.visibility</p:attrName>
                                        </p:attrNameLst>
                                      </p:cBhvr>
                                      <p:to>
                                        <p:strVal val="visible"/>
                                      </p:to>
                                    </p:set>
                                    <p:animEffect transition="in" filter="wipe(up)">
                                      <p:cBhvr>
                                        <p:cTn id="42" dur="500"/>
                                        <p:tgtEl>
                                          <p:spTgt spid="2260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2547"/>
                                        </p:tgtEl>
                                        <p:attrNameLst>
                                          <p:attrName>style.visibility</p:attrName>
                                        </p:attrNameLst>
                                      </p:cBhvr>
                                      <p:to>
                                        <p:strVal val="visible"/>
                                      </p:to>
                                    </p:set>
                                    <p:animEffect transition="in" filter="wipe(left)">
                                      <p:cBhvr>
                                        <p:cTn id="47" dur="500"/>
                                        <p:tgtEl>
                                          <p:spTgt spid="2254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2664"/>
                                        </p:tgtEl>
                                        <p:attrNameLst>
                                          <p:attrName>style.visibility</p:attrName>
                                        </p:attrNameLst>
                                      </p:cBhvr>
                                      <p:to>
                                        <p:strVal val="visible"/>
                                      </p:to>
                                    </p:set>
                                    <p:animEffect transition="in" filter="wipe(left)">
                                      <p:cBhvr>
                                        <p:cTn id="52" dur="500"/>
                                        <p:tgtEl>
                                          <p:spTgt spid="2266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2660"/>
                                        </p:tgtEl>
                                        <p:attrNameLst>
                                          <p:attrName>style.visibility</p:attrName>
                                        </p:attrNameLst>
                                      </p:cBhvr>
                                      <p:to>
                                        <p:strVal val="visible"/>
                                      </p:to>
                                    </p:set>
                                    <p:anim calcmode="lin" valueType="num">
                                      <p:cBhvr additive="base">
                                        <p:cTn id="57" dur="500" fill="hold"/>
                                        <p:tgtEl>
                                          <p:spTgt spid="22660"/>
                                        </p:tgtEl>
                                        <p:attrNameLst>
                                          <p:attrName>ppt_x</p:attrName>
                                        </p:attrNameLst>
                                      </p:cBhvr>
                                      <p:tavLst>
                                        <p:tav tm="0">
                                          <p:val>
                                            <p:strVal val="#ppt_x"/>
                                          </p:val>
                                        </p:tav>
                                        <p:tav tm="100000">
                                          <p:val>
                                            <p:strVal val="#ppt_x"/>
                                          </p:val>
                                        </p:tav>
                                      </p:tavLst>
                                    </p:anim>
                                    <p:anim calcmode="lin" valueType="num">
                                      <p:cBhvr additive="base">
                                        <p:cTn id="58" dur="500" fill="hold"/>
                                        <p:tgtEl>
                                          <p:spTgt spid="226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47" grpId="0" animBg="1" autoUpdateAnimBg="0"/>
      <p:bldP spid="22570" grpId="0" autoUpdateAnimBg="0"/>
      <p:bldP spid="22660"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ate Placeholder 1"/>
          <p:cNvSpPr>
            <a:spLocks noGrp="1"/>
          </p:cNvSpPr>
          <p:nvPr>
            <p:ph type="dt" sz="half" idx="10"/>
          </p:nvPr>
        </p:nvSpPr>
        <p:spPr/>
        <p:txBody>
          <a:bodyPr/>
          <a:lstStyle/>
          <a:p>
            <a:fld id="{7B915BE7-9BEB-4BCA-8491-19888DFF5C05}" type="datetime1">
              <a:rPr lang="en-GB" altLang="en-US"/>
              <a:pPr/>
              <a:t>02/06/2020</a:t>
            </a:fld>
            <a:endParaRPr lang="en-GB" altLang="en-US"/>
          </a:p>
        </p:txBody>
      </p:sp>
      <p:sp>
        <p:nvSpPr>
          <p:cNvPr id="9" name="Date Placeholder 3"/>
          <p:cNvSpPr txBox="1">
            <a:spLocks noGrp="1"/>
          </p:cNvSpPr>
          <p:nvPr/>
        </p:nvSpPr>
        <p:spPr bwMode="auto">
          <a:xfrm>
            <a:off x="7239000" y="0"/>
            <a:ext cx="1905000" cy="457200"/>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lgn="r"/>
            <a:fld id="{1D8546A5-2AB6-49E0-A1DC-94C4972199D7}" type="datetime1">
              <a:rPr lang="en-GB" altLang="en-US" sz="1800">
                <a:solidFill>
                  <a:schemeClr val="folHlink"/>
                </a:solidFill>
                <a:latin typeface="Comic Sans MS" panose="030F0702030302020204" pitchFamily="66" charset="0"/>
                <a:ea typeface="MS PGothic" panose="020B0600070205080204" pitchFamily="34" charset="-128"/>
              </a:rPr>
              <a:pPr algn="r"/>
              <a:t>02/06/2020</a:t>
            </a:fld>
            <a:endParaRPr lang="en-GB" altLang="en-US" sz="1800">
              <a:solidFill>
                <a:schemeClr val="folHlink"/>
              </a:solidFill>
              <a:latin typeface="Comic Sans MS" panose="030F0702030302020204" pitchFamily="66" charset="0"/>
              <a:ea typeface="MS PGothic" panose="020B0600070205080204" pitchFamily="34" charset="-128"/>
            </a:endParaRPr>
          </a:p>
        </p:txBody>
      </p:sp>
      <p:sp>
        <p:nvSpPr>
          <p:cNvPr id="178178" name="Rectangle 2"/>
          <p:cNvSpPr>
            <a:spLocks noGrp="1" noChangeArrowheads="1"/>
          </p:cNvSpPr>
          <p:nvPr>
            <p:ph type="title" idx="4294967295"/>
          </p:nvPr>
        </p:nvSpPr>
        <p:spPr/>
        <p:txBody>
          <a:bodyPr/>
          <a:lstStyle/>
          <a:p>
            <a:r>
              <a:rPr lang="en-GB" altLang="en-US"/>
              <a:t>Balancing ions</a:t>
            </a:r>
          </a:p>
        </p:txBody>
      </p:sp>
      <p:sp>
        <p:nvSpPr>
          <p:cNvPr id="178179" name="Text Box 3"/>
          <p:cNvSpPr txBox="1">
            <a:spLocks noChangeArrowheads="1"/>
          </p:cNvSpPr>
          <p:nvPr/>
        </p:nvSpPr>
        <p:spPr bwMode="auto">
          <a:xfrm>
            <a:off x="34925" y="3141663"/>
            <a:ext cx="9074150" cy="3743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i="1">
                <a:solidFill>
                  <a:schemeClr val="hlink"/>
                </a:solidFill>
                <a:latin typeface="Comic Sans MS" panose="030F0702030302020204" pitchFamily="66" charset="0"/>
                <a:ea typeface="MS PGothic" panose="020B0600070205080204" pitchFamily="34" charset="-128"/>
              </a:rPr>
              <a:t>Determine the formula of these compounds:</a:t>
            </a:r>
          </a:p>
          <a:p>
            <a:pPr>
              <a:spcBef>
                <a:spcPct val="50000"/>
              </a:spcBef>
              <a:buFontTx/>
              <a:buAutoNum type="arabicParenR"/>
            </a:pPr>
            <a:r>
              <a:rPr lang="en-GB" altLang="en-US">
                <a:solidFill>
                  <a:schemeClr val="bg1"/>
                </a:solidFill>
                <a:latin typeface="Comic Sans MS" panose="030F0702030302020204" pitchFamily="66" charset="0"/>
                <a:ea typeface="MS PGothic" panose="020B0600070205080204" pitchFamily="34" charset="-128"/>
              </a:rPr>
              <a:t>Sodium chloride</a:t>
            </a:r>
          </a:p>
          <a:p>
            <a:pPr>
              <a:spcBef>
                <a:spcPct val="50000"/>
              </a:spcBef>
              <a:buFontTx/>
              <a:buAutoNum type="arabicParenR"/>
            </a:pPr>
            <a:r>
              <a:rPr lang="en-GB" altLang="en-US">
                <a:solidFill>
                  <a:schemeClr val="hlink"/>
                </a:solidFill>
                <a:latin typeface="Comic Sans MS" panose="030F0702030302020204" pitchFamily="66" charset="0"/>
                <a:ea typeface="MS PGothic" panose="020B0600070205080204" pitchFamily="34" charset="-128"/>
              </a:rPr>
              <a:t>Magnesium oxide</a:t>
            </a:r>
          </a:p>
          <a:p>
            <a:pPr>
              <a:spcBef>
                <a:spcPct val="50000"/>
              </a:spcBef>
              <a:buFontTx/>
              <a:buAutoNum type="arabicParenR"/>
            </a:pPr>
            <a:r>
              <a:rPr lang="en-GB" altLang="en-US">
                <a:solidFill>
                  <a:schemeClr val="bg1"/>
                </a:solidFill>
                <a:latin typeface="Comic Sans MS" panose="030F0702030302020204" pitchFamily="66" charset="0"/>
                <a:ea typeface="MS PGothic" panose="020B0600070205080204" pitchFamily="34" charset="-128"/>
              </a:rPr>
              <a:t>Magnesium chloride</a:t>
            </a:r>
          </a:p>
          <a:p>
            <a:pPr>
              <a:spcBef>
                <a:spcPct val="50000"/>
              </a:spcBef>
              <a:buFontTx/>
              <a:buAutoNum type="arabicParenR"/>
            </a:pPr>
            <a:r>
              <a:rPr lang="en-GB" altLang="en-US">
                <a:solidFill>
                  <a:schemeClr val="hlink"/>
                </a:solidFill>
                <a:latin typeface="Comic Sans MS" panose="030F0702030302020204" pitchFamily="66" charset="0"/>
                <a:ea typeface="MS PGothic" panose="020B0600070205080204" pitchFamily="34" charset="-128"/>
              </a:rPr>
              <a:t>Ammonium chloride</a:t>
            </a:r>
          </a:p>
          <a:p>
            <a:pPr>
              <a:spcBef>
                <a:spcPct val="50000"/>
              </a:spcBef>
              <a:buFontTx/>
              <a:buAutoNum type="arabicParenR"/>
            </a:pPr>
            <a:r>
              <a:rPr lang="en-GB" altLang="en-US">
                <a:solidFill>
                  <a:schemeClr val="bg1"/>
                </a:solidFill>
                <a:latin typeface="Comic Sans MS" panose="030F0702030302020204" pitchFamily="66" charset="0"/>
                <a:ea typeface="MS PGothic" panose="020B0600070205080204" pitchFamily="34" charset="-128"/>
              </a:rPr>
              <a:t>Sodium sulphate</a:t>
            </a:r>
          </a:p>
          <a:p>
            <a:pPr>
              <a:spcBef>
                <a:spcPct val="50000"/>
              </a:spcBef>
              <a:buFontTx/>
              <a:buAutoNum type="arabicParenR"/>
            </a:pPr>
            <a:r>
              <a:rPr lang="en-GB" altLang="en-US">
                <a:solidFill>
                  <a:schemeClr val="hlink"/>
                </a:solidFill>
                <a:latin typeface="Comic Sans MS" panose="030F0702030302020204" pitchFamily="66" charset="0"/>
                <a:ea typeface="MS PGothic" panose="020B0600070205080204" pitchFamily="34" charset="-128"/>
              </a:rPr>
              <a:t>Sodium oxide </a:t>
            </a:r>
          </a:p>
        </p:txBody>
      </p:sp>
      <p:grpSp>
        <p:nvGrpSpPr>
          <p:cNvPr id="178180" name="Group 4"/>
          <p:cNvGrpSpPr>
            <a:grpSpLocks/>
          </p:cNvGrpSpPr>
          <p:nvPr/>
        </p:nvGrpSpPr>
        <p:grpSpPr bwMode="auto">
          <a:xfrm>
            <a:off x="107950" y="692150"/>
            <a:ext cx="9145588" cy="2376488"/>
            <a:chOff x="68" y="436"/>
            <a:chExt cx="5761" cy="1497"/>
          </a:xfrm>
        </p:grpSpPr>
        <p:sp>
          <p:nvSpPr>
            <p:cNvPr id="178181" name="Text Box 5"/>
            <p:cNvSpPr txBox="1">
              <a:spLocks noChangeArrowheads="1"/>
            </p:cNvSpPr>
            <p:nvPr/>
          </p:nvSpPr>
          <p:spPr bwMode="auto">
            <a:xfrm>
              <a:off x="113" y="436"/>
              <a:ext cx="5716"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b="1">
                  <a:solidFill>
                    <a:srgbClr val="FF99FF"/>
                  </a:solidFill>
                  <a:latin typeface="Comic Sans MS" charset="0"/>
                  <a:ea typeface="ＭＳ Ｐゴシック" charset="0"/>
                </a:rPr>
                <a:t>Some common ions:</a:t>
              </a:r>
            </a:p>
          </p:txBody>
        </p:sp>
        <p:sp>
          <p:nvSpPr>
            <p:cNvPr id="178182" name="Text Box 6"/>
            <p:cNvSpPr txBox="1">
              <a:spLocks noChangeArrowheads="1"/>
            </p:cNvSpPr>
            <p:nvPr/>
          </p:nvSpPr>
          <p:spPr bwMode="auto">
            <a:xfrm>
              <a:off x="113" y="754"/>
              <a:ext cx="2858" cy="111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000">
                  <a:solidFill>
                    <a:schemeClr val="bg1"/>
                  </a:solidFill>
                  <a:latin typeface="Comic Sans MS" panose="030F0702030302020204" pitchFamily="66" charset="0"/>
                  <a:ea typeface="MS PGothic" panose="020B0600070205080204" pitchFamily="34" charset="-128"/>
                </a:rPr>
                <a:t>Sodium – Na</a:t>
              </a:r>
              <a:r>
                <a:rPr lang="en-GB" altLang="en-US" sz="2000" baseline="30000">
                  <a:solidFill>
                    <a:schemeClr val="bg1"/>
                  </a:solidFill>
                  <a:latin typeface="Comic Sans MS" panose="030F0702030302020204" pitchFamily="66" charset="0"/>
                  <a:ea typeface="MS PGothic" panose="020B0600070205080204" pitchFamily="34" charset="-128"/>
                </a:rPr>
                <a:t>+</a:t>
              </a:r>
            </a:p>
            <a:p>
              <a:pPr>
                <a:spcBef>
                  <a:spcPct val="50000"/>
                </a:spcBef>
              </a:pPr>
              <a:r>
                <a:rPr lang="en-GB" altLang="en-US" sz="2000">
                  <a:solidFill>
                    <a:srgbClr val="FFFF66"/>
                  </a:solidFill>
                  <a:latin typeface="Comic Sans MS" panose="030F0702030302020204" pitchFamily="66" charset="0"/>
                  <a:ea typeface="MS PGothic" panose="020B0600070205080204" pitchFamily="34" charset="-128"/>
                </a:rPr>
                <a:t>Potassium – K</a:t>
              </a:r>
              <a:r>
                <a:rPr lang="en-GB" altLang="en-US" sz="2000" baseline="30000">
                  <a:solidFill>
                    <a:srgbClr val="FFFF66"/>
                  </a:solidFill>
                  <a:latin typeface="Comic Sans MS" panose="030F0702030302020204" pitchFamily="66" charset="0"/>
                  <a:ea typeface="MS PGothic" panose="020B0600070205080204" pitchFamily="34" charset="-128"/>
                </a:rPr>
                <a:t>+</a:t>
              </a:r>
            </a:p>
            <a:p>
              <a:pPr>
                <a:spcBef>
                  <a:spcPct val="50000"/>
                </a:spcBef>
              </a:pPr>
              <a:r>
                <a:rPr lang="en-GB" altLang="en-US" sz="2000">
                  <a:solidFill>
                    <a:schemeClr val="bg1"/>
                  </a:solidFill>
                  <a:latin typeface="Comic Sans MS" panose="030F0702030302020204" pitchFamily="66" charset="0"/>
                  <a:ea typeface="MS PGothic" panose="020B0600070205080204" pitchFamily="34" charset="-128"/>
                </a:rPr>
                <a:t>Magnesium – Mg</a:t>
              </a:r>
              <a:r>
                <a:rPr lang="en-GB" altLang="en-US" sz="2000" baseline="30000">
                  <a:solidFill>
                    <a:schemeClr val="bg1"/>
                  </a:solidFill>
                  <a:latin typeface="Comic Sans MS" panose="030F0702030302020204" pitchFamily="66" charset="0"/>
                  <a:ea typeface="MS PGothic" panose="020B0600070205080204" pitchFamily="34" charset="-128"/>
                </a:rPr>
                <a:t>2+</a:t>
              </a:r>
            </a:p>
            <a:p>
              <a:pPr>
                <a:spcBef>
                  <a:spcPct val="50000"/>
                </a:spcBef>
              </a:pPr>
              <a:r>
                <a:rPr lang="en-GB" altLang="en-US" sz="2000">
                  <a:solidFill>
                    <a:srgbClr val="FFFF66"/>
                  </a:solidFill>
                  <a:latin typeface="Comic Sans MS" panose="030F0702030302020204" pitchFamily="66" charset="0"/>
                  <a:ea typeface="MS PGothic" panose="020B0600070205080204" pitchFamily="34" charset="-128"/>
                </a:rPr>
                <a:t>Ammonium – NH</a:t>
              </a:r>
              <a:r>
                <a:rPr lang="en-GB" altLang="en-US" sz="2000" baseline="-25000">
                  <a:solidFill>
                    <a:srgbClr val="FFFF66"/>
                  </a:solidFill>
                  <a:latin typeface="Comic Sans MS" panose="030F0702030302020204" pitchFamily="66" charset="0"/>
                  <a:ea typeface="MS PGothic" panose="020B0600070205080204" pitchFamily="34" charset="-128"/>
                </a:rPr>
                <a:t>4</a:t>
              </a:r>
              <a:r>
                <a:rPr lang="en-GB" altLang="en-US" sz="2000" baseline="30000">
                  <a:solidFill>
                    <a:srgbClr val="FFFF66"/>
                  </a:solidFill>
                  <a:latin typeface="Comic Sans MS" panose="030F0702030302020204" pitchFamily="66" charset="0"/>
                  <a:ea typeface="MS PGothic" panose="020B0600070205080204" pitchFamily="34" charset="-128"/>
                </a:rPr>
                <a:t>+</a:t>
              </a:r>
            </a:p>
          </p:txBody>
        </p:sp>
        <p:sp>
          <p:nvSpPr>
            <p:cNvPr id="178183" name="Text Box 7"/>
            <p:cNvSpPr txBox="1">
              <a:spLocks noChangeArrowheads="1"/>
            </p:cNvSpPr>
            <p:nvPr/>
          </p:nvSpPr>
          <p:spPr bwMode="auto">
            <a:xfrm>
              <a:off x="3016" y="754"/>
              <a:ext cx="2586" cy="111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000">
                  <a:solidFill>
                    <a:schemeClr val="bg1"/>
                  </a:solidFill>
                  <a:latin typeface="Comic Sans MS" panose="030F0702030302020204" pitchFamily="66" charset="0"/>
                  <a:ea typeface="MS PGothic" panose="020B0600070205080204" pitchFamily="34" charset="-128"/>
                </a:rPr>
                <a:t>Chloride – Cl</a:t>
              </a:r>
              <a:r>
                <a:rPr lang="en-GB" altLang="en-US" sz="2000" baseline="30000">
                  <a:solidFill>
                    <a:schemeClr val="bg1"/>
                  </a:solidFill>
                  <a:latin typeface="Comic Sans MS" panose="030F0702030302020204" pitchFamily="66" charset="0"/>
                  <a:ea typeface="MS PGothic" panose="020B0600070205080204" pitchFamily="34" charset="-128"/>
                </a:rPr>
                <a:t>-</a:t>
              </a:r>
            </a:p>
            <a:p>
              <a:pPr>
                <a:spcBef>
                  <a:spcPct val="50000"/>
                </a:spcBef>
              </a:pPr>
              <a:r>
                <a:rPr lang="en-GB" altLang="en-US" sz="2000">
                  <a:solidFill>
                    <a:srgbClr val="FFFF66"/>
                  </a:solidFill>
                  <a:latin typeface="Comic Sans MS" panose="030F0702030302020204" pitchFamily="66" charset="0"/>
                  <a:ea typeface="MS PGothic" panose="020B0600070205080204" pitchFamily="34" charset="-128"/>
                </a:rPr>
                <a:t>Bromide – Br</a:t>
              </a:r>
              <a:r>
                <a:rPr lang="en-GB" altLang="en-US" sz="2000" baseline="30000">
                  <a:solidFill>
                    <a:srgbClr val="FFFF66"/>
                  </a:solidFill>
                  <a:latin typeface="Comic Sans MS" panose="030F0702030302020204" pitchFamily="66" charset="0"/>
                  <a:ea typeface="MS PGothic" panose="020B0600070205080204" pitchFamily="34" charset="-128"/>
                </a:rPr>
                <a:t>-</a:t>
              </a:r>
            </a:p>
            <a:p>
              <a:pPr>
                <a:spcBef>
                  <a:spcPct val="50000"/>
                </a:spcBef>
              </a:pPr>
              <a:r>
                <a:rPr lang="en-GB" altLang="en-US" sz="2000">
                  <a:solidFill>
                    <a:schemeClr val="bg1"/>
                  </a:solidFill>
                  <a:latin typeface="Comic Sans MS" panose="030F0702030302020204" pitchFamily="66" charset="0"/>
                  <a:ea typeface="MS PGothic" panose="020B0600070205080204" pitchFamily="34" charset="-128"/>
                </a:rPr>
                <a:t>Oxide – O</a:t>
              </a:r>
              <a:r>
                <a:rPr lang="en-GB" altLang="en-US" sz="2000" baseline="30000">
                  <a:solidFill>
                    <a:schemeClr val="bg1"/>
                  </a:solidFill>
                  <a:latin typeface="Comic Sans MS" panose="030F0702030302020204" pitchFamily="66" charset="0"/>
                  <a:ea typeface="MS PGothic" panose="020B0600070205080204" pitchFamily="34" charset="-128"/>
                </a:rPr>
                <a:t>2-</a:t>
              </a:r>
              <a:r>
                <a:rPr lang="en-GB" altLang="en-US" sz="2000">
                  <a:solidFill>
                    <a:schemeClr val="bg1"/>
                  </a:solidFill>
                  <a:latin typeface="Comic Sans MS" panose="030F0702030302020204" pitchFamily="66" charset="0"/>
                  <a:ea typeface="MS PGothic" panose="020B0600070205080204" pitchFamily="34" charset="-128"/>
                </a:rPr>
                <a:t> </a:t>
              </a:r>
            </a:p>
            <a:p>
              <a:pPr>
                <a:spcBef>
                  <a:spcPct val="50000"/>
                </a:spcBef>
              </a:pPr>
              <a:r>
                <a:rPr lang="en-GB" altLang="en-US" sz="2000">
                  <a:solidFill>
                    <a:srgbClr val="FFFF66"/>
                  </a:solidFill>
                  <a:latin typeface="Comic Sans MS" panose="030F0702030302020204" pitchFamily="66" charset="0"/>
                  <a:ea typeface="MS PGothic" panose="020B0600070205080204" pitchFamily="34" charset="-128"/>
                </a:rPr>
                <a:t>Sulphate – SO</a:t>
              </a:r>
              <a:r>
                <a:rPr lang="en-GB" altLang="en-US" sz="2000" baseline="-25000">
                  <a:solidFill>
                    <a:srgbClr val="FFFF66"/>
                  </a:solidFill>
                  <a:latin typeface="Comic Sans MS" panose="030F0702030302020204" pitchFamily="66" charset="0"/>
                  <a:ea typeface="MS PGothic" panose="020B0600070205080204" pitchFamily="34" charset="-128"/>
                </a:rPr>
                <a:t>4</a:t>
              </a:r>
              <a:r>
                <a:rPr lang="en-GB" altLang="en-US" sz="2000" baseline="30000">
                  <a:solidFill>
                    <a:srgbClr val="FFFF66"/>
                  </a:solidFill>
                  <a:latin typeface="Comic Sans MS" panose="030F0702030302020204" pitchFamily="66" charset="0"/>
                  <a:ea typeface="MS PGothic" panose="020B0600070205080204" pitchFamily="34" charset="-128"/>
                </a:rPr>
                <a:t>2-</a:t>
              </a:r>
            </a:p>
          </p:txBody>
        </p:sp>
        <p:sp>
          <p:nvSpPr>
            <p:cNvPr id="178184" name="Rectangle 8"/>
            <p:cNvSpPr>
              <a:spLocks noChangeArrowheads="1"/>
            </p:cNvSpPr>
            <p:nvPr/>
          </p:nvSpPr>
          <p:spPr bwMode="auto">
            <a:xfrm>
              <a:off x="68" y="436"/>
              <a:ext cx="5579" cy="1497"/>
            </a:xfrm>
            <a:prstGeom prst="rect">
              <a:avLst/>
            </a:prstGeom>
            <a:noFill/>
            <a:ln w="25400">
              <a:solidFill>
                <a:srgbClr val="FF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
        <p:nvSpPr>
          <p:cNvPr id="2" name="Text Box 3"/>
          <p:cNvSpPr txBox="1">
            <a:spLocks noChangeArrowheads="1"/>
          </p:cNvSpPr>
          <p:nvPr/>
        </p:nvSpPr>
        <p:spPr bwMode="auto">
          <a:xfrm>
            <a:off x="7164388" y="3141663"/>
            <a:ext cx="1979612" cy="3743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i="1">
                <a:solidFill>
                  <a:schemeClr val="hlink"/>
                </a:solidFill>
                <a:latin typeface="Comic Sans MS" panose="030F0702030302020204" pitchFamily="66" charset="0"/>
                <a:ea typeface="MS PGothic" panose="020B0600070205080204" pitchFamily="34" charset="-128"/>
              </a:rPr>
              <a:t>Answers:</a:t>
            </a:r>
          </a:p>
          <a:p>
            <a:pPr>
              <a:spcBef>
                <a:spcPct val="50000"/>
              </a:spcBef>
              <a:buFontTx/>
              <a:buAutoNum type="arabicParenR"/>
            </a:pPr>
            <a:r>
              <a:rPr lang="en-GB" altLang="en-US">
                <a:solidFill>
                  <a:schemeClr val="bg1"/>
                </a:solidFill>
                <a:latin typeface="Comic Sans MS" panose="030F0702030302020204" pitchFamily="66" charset="0"/>
                <a:ea typeface="MS PGothic" panose="020B0600070205080204" pitchFamily="34" charset="-128"/>
              </a:rPr>
              <a:t>NaCl</a:t>
            </a:r>
          </a:p>
          <a:p>
            <a:pPr>
              <a:spcBef>
                <a:spcPct val="50000"/>
              </a:spcBef>
              <a:buFontTx/>
              <a:buAutoNum type="arabicParenR"/>
            </a:pPr>
            <a:r>
              <a:rPr lang="en-GB" altLang="en-US">
                <a:solidFill>
                  <a:schemeClr val="hlink"/>
                </a:solidFill>
                <a:latin typeface="Comic Sans MS" panose="030F0702030302020204" pitchFamily="66" charset="0"/>
                <a:ea typeface="MS PGothic" panose="020B0600070205080204" pitchFamily="34" charset="-128"/>
              </a:rPr>
              <a:t>MgO</a:t>
            </a:r>
          </a:p>
          <a:p>
            <a:pPr>
              <a:spcBef>
                <a:spcPct val="50000"/>
              </a:spcBef>
              <a:buFontTx/>
              <a:buAutoNum type="arabicParenR"/>
            </a:pPr>
            <a:r>
              <a:rPr lang="en-GB" altLang="en-US">
                <a:solidFill>
                  <a:schemeClr val="bg1"/>
                </a:solidFill>
                <a:latin typeface="Comic Sans MS" panose="030F0702030302020204" pitchFamily="66" charset="0"/>
                <a:ea typeface="MS PGothic" panose="020B0600070205080204" pitchFamily="34" charset="-128"/>
              </a:rPr>
              <a:t>MgCl</a:t>
            </a:r>
            <a:r>
              <a:rPr lang="en-GB" altLang="en-US" baseline="-25000">
                <a:solidFill>
                  <a:schemeClr val="bg1"/>
                </a:solidFill>
                <a:latin typeface="Comic Sans MS" panose="030F0702030302020204" pitchFamily="66" charset="0"/>
                <a:ea typeface="MS PGothic" panose="020B0600070205080204" pitchFamily="34" charset="-128"/>
              </a:rPr>
              <a:t>2</a:t>
            </a:r>
          </a:p>
          <a:p>
            <a:pPr>
              <a:spcBef>
                <a:spcPct val="50000"/>
              </a:spcBef>
              <a:buFontTx/>
              <a:buAutoNum type="arabicParenR"/>
            </a:pPr>
            <a:r>
              <a:rPr lang="en-GB" altLang="en-US">
                <a:solidFill>
                  <a:schemeClr val="hlink"/>
                </a:solidFill>
                <a:latin typeface="Comic Sans MS" panose="030F0702030302020204" pitchFamily="66" charset="0"/>
                <a:ea typeface="MS PGothic" panose="020B0600070205080204" pitchFamily="34" charset="-128"/>
              </a:rPr>
              <a:t>NH</a:t>
            </a:r>
            <a:r>
              <a:rPr lang="en-GB" altLang="en-US" baseline="-25000">
                <a:solidFill>
                  <a:schemeClr val="hlink"/>
                </a:solidFill>
                <a:latin typeface="Comic Sans MS" panose="030F0702030302020204" pitchFamily="66" charset="0"/>
                <a:ea typeface="MS PGothic" panose="020B0600070205080204" pitchFamily="34" charset="-128"/>
              </a:rPr>
              <a:t>4</a:t>
            </a:r>
            <a:r>
              <a:rPr lang="en-GB" altLang="en-US">
                <a:solidFill>
                  <a:schemeClr val="hlink"/>
                </a:solidFill>
                <a:latin typeface="Comic Sans MS" panose="030F0702030302020204" pitchFamily="66" charset="0"/>
                <a:ea typeface="MS PGothic" panose="020B0600070205080204" pitchFamily="34" charset="-128"/>
              </a:rPr>
              <a:t>Cl</a:t>
            </a:r>
          </a:p>
          <a:p>
            <a:pPr>
              <a:spcBef>
                <a:spcPct val="50000"/>
              </a:spcBef>
              <a:buFontTx/>
              <a:buAutoNum type="arabicParenR"/>
            </a:pPr>
            <a:r>
              <a:rPr lang="en-GB" altLang="en-US">
                <a:solidFill>
                  <a:schemeClr val="bg1"/>
                </a:solidFill>
                <a:latin typeface="Comic Sans MS" panose="030F0702030302020204" pitchFamily="66" charset="0"/>
                <a:ea typeface="MS PGothic" panose="020B0600070205080204" pitchFamily="34" charset="-128"/>
              </a:rPr>
              <a:t>Na</a:t>
            </a:r>
            <a:r>
              <a:rPr lang="en-GB" altLang="en-US" baseline="-25000">
                <a:solidFill>
                  <a:schemeClr val="bg1"/>
                </a:solidFill>
                <a:latin typeface="Comic Sans MS" panose="030F0702030302020204" pitchFamily="66" charset="0"/>
                <a:ea typeface="MS PGothic" panose="020B0600070205080204" pitchFamily="34" charset="-128"/>
              </a:rPr>
              <a:t>2</a:t>
            </a:r>
            <a:r>
              <a:rPr lang="en-GB" altLang="en-US">
                <a:solidFill>
                  <a:schemeClr val="bg1"/>
                </a:solidFill>
                <a:latin typeface="Comic Sans MS" panose="030F0702030302020204" pitchFamily="66" charset="0"/>
                <a:ea typeface="MS PGothic" panose="020B0600070205080204" pitchFamily="34" charset="-128"/>
              </a:rPr>
              <a:t>SO</a:t>
            </a:r>
            <a:r>
              <a:rPr lang="en-GB" altLang="en-US" baseline="-25000">
                <a:solidFill>
                  <a:schemeClr val="bg1"/>
                </a:solidFill>
                <a:latin typeface="Comic Sans MS" panose="030F0702030302020204" pitchFamily="66" charset="0"/>
                <a:ea typeface="MS PGothic" panose="020B0600070205080204" pitchFamily="34" charset="-128"/>
              </a:rPr>
              <a:t>4</a:t>
            </a:r>
          </a:p>
          <a:p>
            <a:pPr>
              <a:spcBef>
                <a:spcPct val="50000"/>
              </a:spcBef>
              <a:buFontTx/>
              <a:buAutoNum type="arabicParenR"/>
            </a:pPr>
            <a:r>
              <a:rPr lang="en-GB" altLang="en-US">
                <a:solidFill>
                  <a:schemeClr val="hlink"/>
                </a:solidFill>
                <a:latin typeface="Comic Sans MS" panose="030F0702030302020204" pitchFamily="66" charset="0"/>
                <a:ea typeface="MS PGothic" panose="020B0600070205080204" pitchFamily="34" charset="-128"/>
              </a:rPr>
              <a:t>NaO</a:t>
            </a:r>
          </a:p>
        </p:txBody>
      </p:sp>
    </p:spTree>
    <p:extLst>
      <p:ext uri="{BB962C8B-B14F-4D97-AF65-F5344CB8AC3E}">
        <p14:creationId xmlns:p14="http://schemas.microsoft.com/office/powerpoint/2010/main" val="28078661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8180"/>
                                        </p:tgtEl>
                                        <p:attrNameLst>
                                          <p:attrName>style.visibility</p:attrName>
                                        </p:attrNameLst>
                                      </p:cBhvr>
                                      <p:to>
                                        <p:strVal val="visible"/>
                                      </p:to>
                                    </p:set>
                                    <p:animEffect transition="in" filter="wipe(left)">
                                      <p:cBhvr>
                                        <p:cTn id="7" dur="500"/>
                                        <p:tgtEl>
                                          <p:spTgt spid="1781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8179"/>
                                        </p:tgtEl>
                                        <p:attrNameLst>
                                          <p:attrName>style.visibility</p:attrName>
                                        </p:attrNameLst>
                                      </p:cBhvr>
                                      <p:to>
                                        <p:strVal val="visible"/>
                                      </p:to>
                                    </p:set>
                                    <p:animEffect transition="in" filter="wipe(left)">
                                      <p:cBhvr>
                                        <p:cTn id="12" dur="500"/>
                                        <p:tgtEl>
                                          <p:spTgt spid="17817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animEffect transition="in" filter="wipe(left)">
                                      <p:cBhvr>
                                        <p:cTn id="17" dur="500"/>
                                        <p:tgtEl>
                                          <p:spTgt spid="2">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1" end="1"/>
                                            </p:txEl>
                                          </p:spTgt>
                                        </p:tgtEl>
                                        <p:attrNameLst>
                                          <p:attrName>style.visibility</p:attrName>
                                        </p:attrNameLst>
                                      </p:cBhvr>
                                      <p:to>
                                        <p:strVal val="visible"/>
                                      </p:to>
                                    </p:set>
                                    <p:animEffect transition="in" filter="wipe(left)">
                                      <p:cBhvr>
                                        <p:cTn id="22" dur="500"/>
                                        <p:tgtEl>
                                          <p:spTgt spid="2">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animEffect transition="in" filter="wipe(left)">
                                      <p:cBhvr>
                                        <p:cTn id="27" dur="500"/>
                                        <p:tgtEl>
                                          <p:spTgt spid="2">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3" end="3"/>
                                            </p:txEl>
                                          </p:spTgt>
                                        </p:tgtEl>
                                        <p:attrNameLst>
                                          <p:attrName>style.visibility</p:attrName>
                                        </p:attrNameLst>
                                      </p:cBhvr>
                                      <p:to>
                                        <p:strVal val="visible"/>
                                      </p:to>
                                    </p:set>
                                    <p:animEffect transition="in" filter="wipe(left)">
                                      <p:cBhvr>
                                        <p:cTn id="32" dur="500"/>
                                        <p:tgtEl>
                                          <p:spTgt spid="2">
                                            <p:txEl>
                                              <p:pRg st="3" end="3"/>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xEl>
                                              <p:pRg st="4" end="4"/>
                                            </p:txEl>
                                          </p:spTgt>
                                        </p:tgtEl>
                                        <p:attrNameLst>
                                          <p:attrName>style.visibility</p:attrName>
                                        </p:attrNameLst>
                                      </p:cBhvr>
                                      <p:to>
                                        <p:strVal val="visible"/>
                                      </p:to>
                                    </p:set>
                                    <p:animEffect transition="in" filter="wipe(left)">
                                      <p:cBhvr>
                                        <p:cTn id="37" dur="500"/>
                                        <p:tgtEl>
                                          <p:spTgt spid="2">
                                            <p:txEl>
                                              <p:pRg st="4" end="4"/>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wipe(left)">
                                      <p:cBhvr>
                                        <p:cTn id="42" dur="500"/>
                                        <p:tgtEl>
                                          <p:spTgt spid="2">
                                            <p:txEl>
                                              <p:pRg st="5" end="5"/>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
                                            <p:txEl>
                                              <p:pRg st="6" end="6"/>
                                            </p:txEl>
                                          </p:spTgt>
                                        </p:tgtEl>
                                        <p:attrNameLst>
                                          <p:attrName>style.visibility</p:attrName>
                                        </p:attrNameLst>
                                      </p:cBhvr>
                                      <p:to>
                                        <p:strVal val="visible"/>
                                      </p:to>
                                    </p:set>
                                    <p:animEffect transition="in" filter="wipe(left)">
                                      <p:cBhvr>
                                        <p:cTn id="4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p:bldP spid="2"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Date Placeholder 3"/>
          <p:cNvSpPr>
            <a:spLocks noGrp="1"/>
          </p:cNvSpPr>
          <p:nvPr>
            <p:ph type="dt" sz="half" idx="10"/>
          </p:nvPr>
        </p:nvSpPr>
        <p:spPr/>
        <p:txBody>
          <a:bodyPr/>
          <a:lstStyle/>
          <a:p>
            <a:fld id="{91A1CB20-D058-4941-BEA2-62C61D0AC0B2}" type="datetime1">
              <a:rPr lang="en-GB" altLang="en-US"/>
              <a:pPr/>
              <a:t>02/06/2020</a:t>
            </a:fld>
            <a:endParaRPr lang="en-GB" altLang="en-US"/>
          </a:p>
        </p:txBody>
      </p:sp>
      <p:sp>
        <p:nvSpPr>
          <p:cNvPr id="138242" name="Rectangle 2"/>
          <p:cNvSpPr>
            <a:spLocks noGrp="1" noChangeArrowheads="1"/>
          </p:cNvSpPr>
          <p:nvPr>
            <p:ph type="title"/>
          </p:nvPr>
        </p:nvSpPr>
        <p:spPr/>
        <p:txBody>
          <a:bodyPr/>
          <a:lstStyle/>
          <a:p>
            <a:r>
              <a:rPr lang="en-GB" altLang="en-US"/>
              <a:t>Giant Ionic Structures</a:t>
            </a:r>
          </a:p>
        </p:txBody>
      </p:sp>
      <p:sp>
        <p:nvSpPr>
          <p:cNvPr id="138244" name="Text Box 4"/>
          <p:cNvSpPr txBox="1">
            <a:spLocks noChangeArrowheads="1"/>
          </p:cNvSpPr>
          <p:nvPr/>
        </p:nvSpPr>
        <p:spPr bwMode="auto">
          <a:xfrm>
            <a:off x="0" y="908050"/>
            <a:ext cx="5508625"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CCFF99"/>
                </a:solidFill>
              </a:rPr>
              <a:t>When many positive and negative ions are joined they form a “giant ionic lattice” where each ion is held to the other by strong electrostatic forces of attraction (ionic bonds). </a:t>
            </a:r>
          </a:p>
        </p:txBody>
      </p:sp>
      <p:grpSp>
        <p:nvGrpSpPr>
          <p:cNvPr id="138293" name="Group 53"/>
          <p:cNvGrpSpPr>
            <a:grpSpLocks/>
          </p:cNvGrpSpPr>
          <p:nvPr/>
        </p:nvGrpSpPr>
        <p:grpSpPr bwMode="auto">
          <a:xfrm>
            <a:off x="5795963" y="836613"/>
            <a:ext cx="3122612" cy="2111375"/>
            <a:chOff x="158" y="527"/>
            <a:chExt cx="1967" cy="1330"/>
          </a:xfrm>
        </p:grpSpPr>
        <p:sp>
          <p:nvSpPr>
            <p:cNvPr id="138250" name="Oval 10"/>
            <p:cNvSpPr>
              <a:spLocks noChangeArrowheads="1"/>
            </p:cNvSpPr>
            <p:nvPr/>
          </p:nvSpPr>
          <p:spPr bwMode="auto">
            <a:xfrm>
              <a:off x="158" y="527"/>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38260" name="Oval 20"/>
            <p:cNvSpPr>
              <a:spLocks noChangeArrowheads="1"/>
            </p:cNvSpPr>
            <p:nvPr/>
          </p:nvSpPr>
          <p:spPr bwMode="auto">
            <a:xfrm>
              <a:off x="476" y="527"/>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71" name="Oval 31"/>
            <p:cNvSpPr>
              <a:spLocks noChangeArrowheads="1"/>
            </p:cNvSpPr>
            <p:nvPr/>
          </p:nvSpPr>
          <p:spPr bwMode="auto">
            <a:xfrm>
              <a:off x="793" y="527"/>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38272" name="Oval 32"/>
            <p:cNvSpPr>
              <a:spLocks noChangeArrowheads="1"/>
            </p:cNvSpPr>
            <p:nvPr/>
          </p:nvSpPr>
          <p:spPr bwMode="auto">
            <a:xfrm>
              <a:off x="1111" y="527"/>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73" name="Oval 33"/>
            <p:cNvSpPr>
              <a:spLocks noChangeArrowheads="1"/>
            </p:cNvSpPr>
            <p:nvPr/>
          </p:nvSpPr>
          <p:spPr bwMode="auto">
            <a:xfrm>
              <a:off x="1428" y="527"/>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38274" name="Oval 34"/>
            <p:cNvSpPr>
              <a:spLocks noChangeArrowheads="1"/>
            </p:cNvSpPr>
            <p:nvPr/>
          </p:nvSpPr>
          <p:spPr bwMode="auto">
            <a:xfrm>
              <a:off x="1746" y="527"/>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76" name="Oval 36"/>
            <p:cNvSpPr>
              <a:spLocks noChangeArrowheads="1"/>
            </p:cNvSpPr>
            <p:nvPr/>
          </p:nvSpPr>
          <p:spPr bwMode="auto">
            <a:xfrm>
              <a:off x="158" y="845"/>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77" name="Oval 37"/>
            <p:cNvSpPr>
              <a:spLocks noChangeArrowheads="1"/>
            </p:cNvSpPr>
            <p:nvPr/>
          </p:nvSpPr>
          <p:spPr bwMode="auto">
            <a:xfrm>
              <a:off x="475" y="845"/>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38278" name="Oval 38"/>
            <p:cNvSpPr>
              <a:spLocks noChangeArrowheads="1"/>
            </p:cNvSpPr>
            <p:nvPr/>
          </p:nvSpPr>
          <p:spPr bwMode="auto">
            <a:xfrm>
              <a:off x="793" y="845"/>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79" name="Oval 39"/>
            <p:cNvSpPr>
              <a:spLocks noChangeArrowheads="1"/>
            </p:cNvSpPr>
            <p:nvPr/>
          </p:nvSpPr>
          <p:spPr bwMode="auto">
            <a:xfrm>
              <a:off x="1110" y="845"/>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38280" name="Oval 40"/>
            <p:cNvSpPr>
              <a:spLocks noChangeArrowheads="1"/>
            </p:cNvSpPr>
            <p:nvPr/>
          </p:nvSpPr>
          <p:spPr bwMode="auto">
            <a:xfrm>
              <a:off x="1428" y="845"/>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81" name="Oval 41"/>
            <p:cNvSpPr>
              <a:spLocks noChangeArrowheads="1"/>
            </p:cNvSpPr>
            <p:nvPr/>
          </p:nvSpPr>
          <p:spPr bwMode="auto">
            <a:xfrm>
              <a:off x="158" y="1162"/>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38282" name="Oval 42"/>
            <p:cNvSpPr>
              <a:spLocks noChangeArrowheads="1"/>
            </p:cNvSpPr>
            <p:nvPr/>
          </p:nvSpPr>
          <p:spPr bwMode="auto">
            <a:xfrm>
              <a:off x="476" y="1162"/>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83" name="Oval 43"/>
            <p:cNvSpPr>
              <a:spLocks noChangeArrowheads="1"/>
            </p:cNvSpPr>
            <p:nvPr/>
          </p:nvSpPr>
          <p:spPr bwMode="auto">
            <a:xfrm>
              <a:off x="793" y="1162"/>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38284" name="Oval 44"/>
            <p:cNvSpPr>
              <a:spLocks noChangeArrowheads="1"/>
            </p:cNvSpPr>
            <p:nvPr/>
          </p:nvSpPr>
          <p:spPr bwMode="auto">
            <a:xfrm>
              <a:off x="1111" y="1162"/>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85" name="Oval 45"/>
            <p:cNvSpPr>
              <a:spLocks noChangeArrowheads="1"/>
            </p:cNvSpPr>
            <p:nvPr/>
          </p:nvSpPr>
          <p:spPr bwMode="auto">
            <a:xfrm>
              <a:off x="1428" y="1162"/>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38286" name="Oval 46"/>
            <p:cNvSpPr>
              <a:spLocks noChangeArrowheads="1"/>
            </p:cNvSpPr>
            <p:nvPr/>
          </p:nvSpPr>
          <p:spPr bwMode="auto">
            <a:xfrm>
              <a:off x="1746" y="1162"/>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88" name="Oval 48"/>
            <p:cNvSpPr>
              <a:spLocks noChangeArrowheads="1"/>
            </p:cNvSpPr>
            <p:nvPr/>
          </p:nvSpPr>
          <p:spPr bwMode="auto">
            <a:xfrm>
              <a:off x="158" y="1480"/>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89" name="Oval 49"/>
            <p:cNvSpPr>
              <a:spLocks noChangeArrowheads="1"/>
            </p:cNvSpPr>
            <p:nvPr/>
          </p:nvSpPr>
          <p:spPr bwMode="auto">
            <a:xfrm>
              <a:off x="475" y="1480"/>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38290" name="Oval 50"/>
            <p:cNvSpPr>
              <a:spLocks noChangeArrowheads="1"/>
            </p:cNvSpPr>
            <p:nvPr/>
          </p:nvSpPr>
          <p:spPr bwMode="auto">
            <a:xfrm>
              <a:off x="793" y="1480"/>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91" name="Oval 51"/>
            <p:cNvSpPr>
              <a:spLocks noChangeArrowheads="1"/>
            </p:cNvSpPr>
            <p:nvPr/>
          </p:nvSpPr>
          <p:spPr bwMode="auto">
            <a:xfrm>
              <a:off x="1110" y="1480"/>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38292" name="Oval 52"/>
            <p:cNvSpPr>
              <a:spLocks noChangeArrowheads="1"/>
            </p:cNvSpPr>
            <p:nvPr/>
          </p:nvSpPr>
          <p:spPr bwMode="auto">
            <a:xfrm>
              <a:off x="1428" y="1480"/>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75" name="Oval 35"/>
            <p:cNvSpPr>
              <a:spLocks noChangeArrowheads="1"/>
            </p:cNvSpPr>
            <p:nvPr/>
          </p:nvSpPr>
          <p:spPr bwMode="auto">
            <a:xfrm>
              <a:off x="1746" y="845"/>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38287" name="Oval 47"/>
            <p:cNvSpPr>
              <a:spLocks noChangeArrowheads="1"/>
            </p:cNvSpPr>
            <p:nvPr/>
          </p:nvSpPr>
          <p:spPr bwMode="auto">
            <a:xfrm>
              <a:off x="1746" y="1480"/>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grpSp>
      <p:sp>
        <p:nvSpPr>
          <p:cNvPr id="2" name="TextBox 1"/>
          <p:cNvSpPr txBox="1"/>
          <p:nvPr/>
        </p:nvSpPr>
        <p:spPr>
          <a:xfrm>
            <a:off x="-13813" y="3383457"/>
            <a:ext cx="9144000" cy="830997"/>
          </a:xfrm>
          <a:prstGeom prst="rect">
            <a:avLst/>
          </a:prstGeom>
          <a:solidFill>
            <a:srgbClr val="C00000"/>
          </a:solidFill>
        </p:spPr>
        <p:txBody>
          <a:bodyPr wrap="square" rtlCol="0">
            <a:spAutoFit/>
          </a:bodyPr>
          <a:lstStyle/>
          <a:p>
            <a:pPr algn="ctr"/>
            <a:r>
              <a:rPr lang="en-GB" dirty="0"/>
              <a:t>Notice that there is one chlorine ion for every sodium ion.  Therefore the formula for this compound is </a:t>
            </a:r>
            <a:r>
              <a:rPr lang="en-GB" dirty="0" err="1"/>
              <a:t>NaCl</a:t>
            </a:r>
            <a:r>
              <a:rPr lang="en-GB" dirty="0"/>
              <a:t>.</a:t>
            </a:r>
          </a:p>
        </p:txBody>
      </p:sp>
    </p:spTree>
    <p:extLst>
      <p:ext uri="{BB962C8B-B14F-4D97-AF65-F5344CB8AC3E}">
        <p14:creationId xmlns:p14="http://schemas.microsoft.com/office/powerpoint/2010/main" val="34903984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8244"/>
                                        </p:tgtEl>
                                        <p:attrNameLst>
                                          <p:attrName>style.visibility</p:attrName>
                                        </p:attrNameLst>
                                      </p:cBhvr>
                                      <p:to>
                                        <p:strVal val="visible"/>
                                      </p:to>
                                    </p:set>
                                    <p:animEffect transition="in" filter="wipe(left)">
                                      <p:cBhvr>
                                        <p:cTn id="7" dur="500"/>
                                        <p:tgtEl>
                                          <p:spTgt spid="1382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138293"/>
                                        </p:tgtEl>
                                        <p:attrNameLst>
                                          <p:attrName>style.visibility</p:attrName>
                                        </p:attrNameLst>
                                      </p:cBhvr>
                                      <p:to>
                                        <p:strVal val="visible"/>
                                      </p:to>
                                    </p:set>
                                    <p:anim calcmode="lin" valueType="num">
                                      <p:cBhvr additive="base">
                                        <p:cTn id="12" dur="500" fill="hold"/>
                                        <p:tgtEl>
                                          <p:spTgt spid="138293"/>
                                        </p:tgtEl>
                                        <p:attrNameLst>
                                          <p:attrName>ppt_x</p:attrName>
                                        </p:attrNameLst>
                                      </p:cBhvr>
                                      <p:tavLst>
                                        <p:tav tm="0">
                                          <p:val>
                                            <p:strVal val="1+#ppt_w/2"/>
                                          </p:val>
                                        </p:tav>
                                        <p:tav tm="100000">
                                          <p:val>
                                            <p:strVal val="#ppt_x"/>
                                          </p:val>
                                        </p:tav>
                                      </p:tavLst>
                                    </p:anim>
                                    <p:anim calcmode="lin" valueType="num">
                                      <p:cBhvr additive="base">
                                        <p:cTn id="13" dur="500" fill="hold"/>
                                        <p:tgtEl>
                                          <p:spTgt spid="13829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4" grpId="0"/>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Covalent Bonding</a:t>
            </a:r>
          </a:p>
        </p:txBody>
      </p:sp>
      <p:sp>
        <p:nvSpPr>
          <p:cNvPr id="3" name="Date Placeholder 2"/>
          <p:cNvSpPr>
            <a:spLocks noGrp="1"/>
          </p:cNvSpPr>
          <p:nvPr>
            <p:ph type="dt" sz="half" idx="10"/>
          </p:nvPr>
        </p:nvSpPr>
        <p:spPr/>
        <p:txBody>
          <a:bodyPr/>
          <a:lstStyle/>
          <a:p>
            <a:pPr>
              <a:defRPr/>
            </a:pPr>
            <a:fld id="{015E6D66-BACF-4A6D-9DB1-3B675C6F844B}" type="datetime1">
              <a:rPr lang="en-GB" smtClean="0"/>
              <a:pPr>
                <a:defRPr/>
              </a:pPr>
              <a:t>02/06/2020</a:t>
            </a:fld>
            <a:endParaRPr lang="en-GB"/>
          </a:p>
        </p:txBody>
      </p:sp>
    </p:spTree>
    <p:extLst>
      <p:ext uri="{BB962C8B-B14F-4D97-AF65-F5344CB8AC3E}">
        <p14:creationId xmlns:p14="http://schemas.microsoft.com/office/powerpoint/2010/main" val="24789544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Date Placeholder 2"/>
          <p:cNvSpPr>
            <a:spLocks noGrp="1"/>
          </p:cNvSpPr>
          <p:nvPr>
            <p:ph type="dt" sz="half" idx="10"/>
          </p:nvPr>
        </p:nvSpPr>
        <p:spPr/>
        <p:txBody>
          <a:bodyPr/>
          <a:lstStyle/>
          <a:p>
            <a:fld id="{9433C449-7821-4606-A52A-C95EFEB71F6A}" type="datetime1">
              <a:rPr lang="en-GB" altLang="en-US"/>
              <a:pPr/>
              <a:t>02/06/2020</a:t>
            </a:fld>
            <a:endParaRPr lang="en-GB" altLang="en-US"/>
          </a:p>
        </p:txBody>
      </p:sp>
      <p:sp>
        <p:nvSpPr>
          <p:cNvPr id="234498" name="Rectangle 2"/>
          <p:cNvSpPr>
            <a:spLocks noGrp="1" noChangeArrowheads="1"/>
          </p:cNvSpPr>
          <p:nvPr>
            <p:ph type="title"/>
          </p:nvPr>
        </p:nvSpPr>
        <p:spPr/>
        <p:txBody>
          <a:bodyPr/>
          <a:lstStyle/>
          <a:p>
            <a:r>
              <a:rPr lang="en-GB" altLang="en-US"/>
              <a:t>Introduction to Bonding Revision</a:t>
            </a:r>
          </a:p>
        </p:txBody>
      </p:sp>
      <p:graphicFrame>
        <p:nvGraphicFramePr>
          <p:cNvPr id="234499" name="Group 3"/>
          <p:cNvGraphicFramePr>
            <a:graphicFrameLocks noGrp="1"/>
          </p:cNvGraphicFramePr>
          <p:nvPr/>
        </p:nvGraphicFramePr>
        <p:xfrm>
          <a:off x="5857875" y="1485900"/>
          <a:ext cx="3749040" cy="1600200"/>
        </p:xfrm>
        <a:graphic>
          <a:graphicData uri="http://schemas.openxmlformats.org/drawingml/2006/table">
            <a:tbl>
              <a:tblPr/>
              <a:tblGrid>
                <a:gridCol w="208280">
                  <a:extLst>
                    <a:ext uri="{9D8B030D-6E8A-4147-A177-3AD203B41FA5}">
                      <a16:colId xmlns:a16="http://schemas.microsoft.com/office/drawing/2014/main" val="3991971913"/>
                    </a:ext>
                  </a:extLst>
                </a:gridCol>
                <a:gridCol w="208280">
                  <a:extLst>
                    <a:ext uri="{9D8B030D-6E8A-4147-A177-3AD203B41FA5}">
                      <a16:colId xmlns:a16="http://schemas.microsoft.com/office/drawing/2014/main" val="3353801225"/>
                    </a:ext>
                  </a:extLst>
                </a:gridCol>
                <a:gridCol w="208280">
                  <a:extLst>
                    <a:ext uri="{9D8B030D-6E8A-4147-A177-3AD203B41FA5}">
                      <a16:colId xmlns:a16="http://schemas.microsoft.com/office/drawing/2014/main" val="1030001023"/>
                    </a:ext>
                  </a:extLst>
                </a:gridCol>
                <a:gridCol w="208280">
                  <a:extLst>
                    <a:ext uri="{9D8B030D-6E8A-4147-A177-3AD203B41FA5}">
                      <a16:colId xmlns:a16="http://schemas.microsoft.com/office/drawing/2014/main" val="405400029"/>
                    </a:ext>
                  </a:extLst>
                </a:gridCol>
                <a:gridCol w="208280">
                  <a:extLst>
                    <a:ext uri="{9D8B030D-6E8A-4147-A177-3AD203B41FA5}">
                      <a16:colId xmlns:a16="http://schemas.microsoft.com/office/drawing/2014/main" val="3330650197"/>
                    </a:ext>
                  </a:extLst>
                </a:gridCol>
                <a:gridCol w="208280">
                  <a:extLst>
                    <a:ext uri="{9D8B030D-6E8A-4147-A177-3AD203B41FA5}">
                      <a16:colId xmlns:a16="http://schemas.microsoft.com/office/drawing/2014/main" val="502194450"/>
                    </a:ext>
                  </a:extLst>
                </a:gridCol>
                <a:gridCol w="208280">
                  <a:extLst>
                    <a:ext uri="{9D8B030D-6E8A-4147-A177-3AD203B41FA5}">
                      <a16:colId xmlns:a16="http://schemas.microsoft.com/office/drawing/2014/main" val="3027525237"/>
                    </a:ext>
                  </a:extLst>
                </a:gridCol>
                <a:gridCol w="208280">
                  <a:extLst>
                    <a:ext uri="{9D8B030D-6E8A-4147-A177-3AD203B41FA5}">
                      <a16:colId xmlns:a16="http://schemas.microsoft.com/office/drawing/2014/main" val="2179118304"/>
                    </a:ext>
                  </a:extLst>
                </a:gridCol>
                <a:gridCol w="208280">
                  <a:extLst>
                    <a:ext uri="{9D8B030D-6E8A-4147-A177-3AD203B41FA5}">
                      <a16:colId xmlns:a16="http://schemas.microsoft.com/office/drawing/2014/main" val="4169415475"/>
                    </a:ext>
                  </a:extLst>
                </a:gridCol>
                <a:gridCol w="208280">
                  <a:extLst>
                    <a:ext uri="{9D8B030D-6E8A-4147-A177-3AD203B41FA5}">
                      <a16:colId xmlns:a16="http://schemas.microsoft.com/office/drawing/2014/main" val="1781490190"/>
                    </a:ext>
                  </a:extLst>
                </a:gridCol>
                <a:gridCol w="208280">
                  <a:extLst>
                    <a:ext uri="{9D8B030D-6E8A-4147-A177-3AD203B41FA5}">
                      <a16:colId xmlns:a16="http://schemas.microsoft.com/office/drawing/2014/main" val="3348362039"/>
                    </a:ext>
                  </a:extLst>
                </a:gridCol>
                <a:gridCol w="208280">
                  <a:extLst>
                    <a:ext uri="{9D8B030D-6E8A-4147-A177-3AD203B41FA5}">
                      <a16:colId xmlns:a16="http://schemas.microsoft.com/office/drawing/2014/main" val="2855570080"/>
                    </a:ext>
                  </a:extLst>
                </a:gridCol>
                <a:gridCol w="208280">
                  <a:extLst>
                    <a:ext uri="{9D8B030D-6E8A-4147-A177-3AD203B41FA5}">
                      <a16:colId xmlns:a16="http://schemas.microsoft.com/office/drawing/2014/main" val="3247839624"/>
                    </a:ext>
                  </a:extLst>
                </a:gridCol>
                <a:gridCol w="208280">
                  <a:extLst>
                    <a:ext uri="{9D8B030D-6E8A-4147-A177-3AD203B41FA5}">
                      <a16:colId xmlns:a16="http://schemas.microsoft.com/office/drawing/2014/main" val="3419419853"/>
                    </a:ext>
                  </a:extLst>
                </a:gridCol>
                <a:gridCol w="208280">
                  <a:extLst>
                    <a:ext uri="{9D8B030D-6E8A-4147-A177-3AD203B41FA5}">
                      <a16:colId xmlns:a16="http://schemas.microsoft.com/office/drawing/2014/main" val="3859976839"/>
                    </a:ext>
                  </a:extLst>
                </a:gridCol>
                <a:gridCol w="208280">
                  <a:extLst>
                    <a:ext uri="{9D8B030D-6E8A-4147-A177-3AD203B41FA5}">
                      <a16:colId xmlns:a16="http://schemas.microsoft.com/office/drawing/2014/main" val="1500682000"/>
                    </a:ext>
                  </a:extLst>
                </a:gridCol>
                <a:gridCol w="208280">
                  <a:extLst>
                    <a:ext uri="{9D8B030D-6E8A-4147-A177-3AD203B41FA5}">
                      <a16:colId xmlns:a16="http://schemas.microsoft.com/office/drawing/2014/main" val="2670211650"/>
                    </a:ext>
                  </a:extLst>
                </a:gridCol>
                <a:gridCol w="208280">
                  <a:extLst>
                    <a:ext uri="{9D8B030D-6E8A-4147-A177-3AD203B41FA5}">
                      <a16:colId xmlns:a16="http://schemas.microsoft.com/office/drawing/2014/main" val="1672860527"/>
                    </a:ext>
                  </a:extLst>
                </a:gridCol>
              </a:tblGrid>
              <a:tr h="169863">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cap="flat">
                      <a:noFill/>
                    </a:lnL>
                    <a:lnR>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a:noFill/>
                    </a:lnL>
                    <a:lnR>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a:noFill/>
                    </a:lnL>
                    <a:lnR>
                      <a:noFill/>
                    </a:lnR>
                    <a:lnT cap="flat">
                      <a:noFill/>
                    </a:lnT>
                    <a:lnB>
                      <a:noFill/>
                    </a:lnB>
                    <a:lnTlToBr>
                      <a:noFill/>
                    </a:lnTlToBr>
                    <a:lnBlToTr>
                      <a:noFill/>
                    </a:lnBlToTr>
                    <a:no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a:noFill/>
                    </a:lnL>
                    <a:lnR w="12700" cap="flat" cmpd="sng" algn="ctr">
                      <a:solidFill>
                        <a:schemeClr val="bg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645084903"/>
                  </a:ext>
                </a:extLst>
              </a:tr>
              <a:tr h="185738">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34877212"/>
                  </a:ext>
                </a:extLst>
              </a:tr>
              <a:tr h="169863">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3300"/>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534888067"/>
                  </a:ext>
                </a:extLst>
              </a:tr>
              <a:tr h="169863">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3609635286"/>
                  </a:ext>
                </a:extLst>
              </a:tr>
              <a:tr h="169863">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8224013"/>
                  </a:ext>
                </a:extLst>
              </a:tr>
              <a:tr h="171450">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2536664633"/>
                  </a:ext>
                </a:extLst>
              </a:tr>
              <a:tr h="169863">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9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3944734898"/>
                  </a:ext>
                </a:extLst>
              </a:tr>
            </a:tbl>
          </a:graphicData>
        </a:graphic>
      </p:graphicFrame>
      <p:sp>
        <p:nvSpPr>
          <p:cNvPr id="234703" name="AutoShape 207"/>
          <p:cNvSpPr>
            <a:spLocks noChangeArrowheads="1"/>
          </p:cNvSpPr>
          <p:nvPr/>
        </p:nvSpPr>
        <p:spPr bwMode="auto">
          <a:xfrm>
            <a:off x="1308100" y="1316038"/>
            <a:ext cx="4229100" cy="1171575"/>
          </a:xfrm>
          <a:prstGeom prst="wedgeRoundRectCallout">
            <a:avLst>
              <a:gd name="adj1" fmla="val -62162"/>
              <a:gd name="adj2" fmla="val -14500"/>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GB" altLang="en-US" sz="2000">
                <a:solidFill>
                  <a:schemeClr val="tx1"/>
                </a:solidFill>
              </a:rPr>
              <a:t>Hi.  My name’s Johnny Chlorine.  I’m in Group 7, so I have 7 electrons in my outer shell</a:t>
            </a:r>
          </a:p>
        </p:txBody>
      </p:sp>
      <p:sp>
        <p:nvSpPr>
          <p:cNvPr id="234704" name="AutoShape 208"/>
          <p:cNvSpPr>
            <a:spLocks noChangeArrowheads="1"/>
          </p:cNvSpPr>
          <p:nvPr/>
        </p:nvSpPr>
        <p:spPr bwMode="auto">
          <a:xfrm>
            <a:off x="698500" y="4364038"/>
            <a:ext cx="4476750" cy="1057275"/>
          </a:xfrm>
          <a:prstGeom prst="wedgeRoundRectCallout">
            <a:avLst>
              <a:gd name="adj1" fmla="val 81917"/>
              <a:gd name="adj2" fmla="val -26875"/>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GB" altLang="en-US" sz="2000">
                <a:solidFill>
                  <a:schemeClr val="tx1"/>
                </a:solidFill>
              </a:rPr>
              <a:t>I’d quite like to have a full outer shell.  To do this I need to GAIN an electron.  Who can help me?</a:t>
            </a:r>
          </a:p>
        </p:txBody>
      </p:sp>
      <p:grpSp>
        <p:nvGrpSpPr>
          <p:cNvPr id="234705" name="Group 209"/>
          <p:cNvGrpSpPr>
            <a:grpSpLocks/>
          </p:cNvGrpSpPr>
          <p:nvPr/>
        </p:nvGrpSpPr>
        <p:grpSpPr bwMode="auto">
          <a:xfrm>
            <a:off x="244475" y="1190625"/>
            <a:ext cx="1182688" cy="2041525"/>
            <a:chOff x="214" y="174"/>
            <a:chExt cx="745" cy="1286"/>
          </a:xfrm>
        </p:grpSpPr>
        <p:grpSp>
          <p:nvGrpSpPr>
            <p:cNvPr id="234706" name="Group 210"/>
            <p:cNvGrpSpPr>
              <a:grpSpLocks/>
            </p:cNvGrpSpPr>
            <p:nvPr/>
          </p:nvGrpSpPr>
          <p:grpSpPr bwMode="auto">
            <a:xfrm>
              <a:off x="214" y="174"/>
              <a:ext cx="745" cy="1286"/>
              <a:chOff x="387" y="870"/>
              <a:chExt cx="745" cy="1286"/>
            </a:xfrm>
          </p:grpSpPr>
          <p:sp>
            <p:nvSpPr>
              <p:cNvPr id="234707" name="Freeform 211"/>
              <p:cNvSpPr>
                <a:spLocks/>
              </p:cNvSpPr>
              <p:nvPr/>
            </p:nvSpPr>
            <p:spPr bwMode="auto">
              <a:xfrm>
                <a:off x="387" y="2024"/>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4708" name="Freeform 212"/>
              <p:cNvSpPr>
                <a:spLocks/>
              </p:cNvSpPr>
              <p:nvPr/>
            </p:nvSpPr>
            <p:spPr bwMode="auto">
              <a:xfrm flipH="1">
                <a:off x="707" y="2019"/>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4709" name="Freeform 213"/>
              <p:cNvSpPr>
                <a:spLocks/>
              </p:cNvSpPr>
              <p:nvPr/>
            </p:nvSpPr>
            <p:spPr bwMode="auto">
              <a:xfrm flipH="1">
                <a:off x="406" y="1647"/>
                <a:ext cx="158" cy="126"/>
              </a:xfrm>
              <a:custGeom>
                <a:avLst/>
                <a:gdLst>
                  <a:gd name="T0" fmla="*/ 213 w 294"/>
                  <a:gd name="T1" fmla="*/ 0 h 279"/>
                  <a:gd name="T2" fmla="*/ 270 w 294"/>
                  <a:gd name="T3" fmla="*/ 76 h 279"/>
                  <a:gd name="T4" fmla="*/ 270 w 294"/>
                  <a:gd name="T5" fmla="*/ 161 h 279"/>
                  <a:gd name="T6" fmla="*/ 232 w 294"/>
                  <a:gd name="T7" fmla="*/ 151 h 279"/>
                  <a:gd name="T8" fmla="*/ 241 w 294"/>
                  <a:gd name="T9" fmla="*/ 199 h 279"/>
                  <a:gd name="T10" fmla="*/ 232 w 294"/>
                  <a:gd name="T11" fmla="*/ 265 h 279"/>
                  <a:gd name="T12" fmla="*/ 203 w 294"/>
                  <a:gd name="T13" fmla="*/ 274 h 279"/>
                  <a:gd name="T14" fmla="*/ 194 w 294"/>
                  <a:gd name="T15" fmla="*/ 246 h 279"/>
                  <a:gd name="T16" fmla="*/ 166 w 294"/>
                  <a:gd name="T17" fmla="*/ 132 h 279"/>
                  <a:gd name="T18" fmla="*/ 118 w 294"/>
                  <a:gd name="T19" fmla="*/ 265 h 279"/>
                  <a:gd name="T20" fmla="*/ 90 w 294"/>
                  <a:gd name="T21" fmla="*/ 255 h 279"/>
                  <a:gd name="T22" fmla="*/ 81 w 294"/>
                  <a:gd name="T23" fmla="*/ 132 h 279"/>
                  <a:gd name="T24" fmla="*/ 90 w 294"/>
                  <a:gd name="T25" fmla="*/ 161 h 279"/>
                  <a:gd name="T26" fmla="*/ 24 w 294"/>
                  <a:gd name="T27" fmla="*/ 217 h 279"/>
                  <a:gd name="T28" fmla="*/ 5 w 294"/>
                  <a:gd name="T29" fmla="*/ 180 h 279"/>
                  <a:gd name="T30" fmla="*/ 81 w 294"/>
                  <a:gd name="T31" fmla="*/ 29 h 279"/>
                  <a:gd name="T32" fmla="*/ 213 w 294"/>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4" h="279">
                    <a:moveTo>
                      <a:pt x="213" y="0"/>
                    </a:moveTo>
                    <a:cubicBezTo>
                      <a:pt x="226" y="42"/>
                      <a:pt x="246" y="39"/>
                      <a:pt x="270" y="76"/>
                    </a:cubicBezTo>
                    <a:cubicBezTo>
                      <a:pt x="278" y="101"/>
                      <a:pt x="294" y="137"/>
                      <a:pt x="270" y="161"/>
                    </a:cubicBezTo>
                    <a:cubicBezTo>
                      <a:pt x="261" y="170"/>
                      <a:pt x="245" y="154"/>
                      <a:pt x="232" y="151"/>
                    </a:cubicBezTo>
                    <a:cubicBezTo>
                      <a:pt x="204" y="73"/>
                      <a:pt x="236" y="184"/>
                      <a:pt x="241" y="199"/>
                    </a:cubicBezTo>
                    <a:cubicBezTo>
                      <a:pt x="238" y="221"/>
                      <a:pt x="242" y="245"/>
                      <a:pt x="232" y="265"/>
                    </a:cubicBezTo>
                    <a:cubicBezTo>
                      <a:pt x="227" y="274"/>
                      <a:pt x="212" y="279"/>
                      <a:pt x="203" y="274"/>
                    </a:cubicBezTo>
                    <a:cubicBezTo>
                      <a:pt x="194" y="270"/>
                      <a:pt x="197" y="255"/>
                      <a:pt x="194" y="246"/>
                    </a:cubicBezTo>
                    <a:cubicBezTo>
                      <a:pt x="184" y="208"/>
                      <a:pt x="178" y="170"/>
                      <a:pt x="166" y="132"/>
                    </a:cubicBezTo>
                    <a:cubicBezTo>
                      <a:pt x="158" y="198"/>
                      <a:pt x="170" y="231"/>
                      <a:pt x="118" y="265"/>
                    </a:cubicBezTo>
                    <a:cubicBezTo>
                      <a:pt x="109" y="262"/>
                      <a:pt x="93" y="265"/>
                      <a:pt x="90" y="255"/>
                    </a:cubicBezTo>
                    <a:cubicBezTo>
                      <a:pt x="79" y="215"/>
                      <a:pt x="81" y="173"/>
                      <a:pt x="81" y="132"/>
                    </a:cubicBezTo>
                    <a:cubicBezTo>
                      <a:pt x="81" y="122"/>
                      <a:pt x="87" y="151"/>
                      <a:pt x="90" y="161"/>
                    </a:cubicBezTo>
                    <a:cubicBezTo>
                      <a:pt x="76" y="204"/>
                      <a:pt x="61" y="193"/>
                      <a:pt x="24" y="217"/>
                    </a:cubicBezTo>
                    <a:cubicBezTo>
                      <a:pt x="18" y="205"/>
                      <a:pt x="7" y="194"/>
                      <a:pt x="5" y="180"/>
                    </a:cubicBezTo>
                    <a:cubicBezTo>
                      <a:pt x="0" y="137"/>
                      <a:pt x="43" y="54"/>
                      <a:pt x="81" y="29"/>
                    </a:cubicBezTo>
                    <a:cubicBezTo>
                      <a:pt x="118" y="4"/>
                      <a:pt x="171" y="15"/>
                      <a:pt x="213"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4710" name="Freeform 214"/>
              <p:cNvSpPr>
                <a:spLocks/>
              </p:cNvSpPr>
              <p:nvPr/>
            </p:nvSpPr>
            <p:spPr bwMode="auto">
              <a:xfrm flipH="1">
                <a:off x="982" y="1570"/>
                <a:ext cx="150" cy="136"/>
              </a:xfrm>
              <a:custGeom>
                <a:avLst/>
                <a:gdLst>
                  <a:gd name="T0" fmla="*/ 147 w 279"/>
                  <a:gd name="T1" fmla="*/ 0 h 302"/>
                  <a:gd name="T2" fmla="*/ 33 w 279"/>
                  <a:gd name="T3" fmla="*/ 47 h 302"/>
                  <a:gd name="T4" fmla="*/ 62 w 279"/>
                  <a:gd name="T5" fmla="*/ 113 h 302"/>
                  <a:gd name="T6" fmla="*/ 43 w 279"/>
                  <a:gd name="T7" fmla="*/ 142 h 302"/>
                  <a:gd name="T8" fmla="*/ 15 w 279"/>
                  <a:gd name="T9" fmla="*/ 160 h 302"/>
                  <a:gd name="T10" fmla="*/ 90 w 279"/>
                  <a:gd name="T11" fmla="*/ 208 h 302"/>
                  <a:gd name="T12" fmla="*/ 100 w 279"/>
                  <a:gd name="T13" fmla="*/ 236 h 302"/>
                  <a:gd name="T14" fmla="*/ 166 w 279"/>
                  <a:gd name="T15" fmla="*/ 264 h 302"/>
                  <a:gd name="T16" fmla="*/ 185 w 279"/>
                  <a:gd name="T17" fmla="*/ 283 h 302"/>
                  <a:gd name="T18" fmla="*/ 213 w 279"/>
                  <a:gd name="T19" fmla="*/ 302 h 302"/>
                  <a:gd name="T20" fmla="*/ 269 w 279"/>
                  <a:gd name="T21" fmla="*/ 227 h 302"/>
                  <a:gd name="T22" fmla="*/ 260 w 279"/>
                  <a:gd name="T23" fmla="*/ 28 h 302"/>
                  <a:gd name="T24" fmla="*/ 147 w 279"/>
                  <a:gd name="T25"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9" h="302">
                    <a:moveTo>
                      <a:pt x="147" y="0"/>
                    </a:moveTo>
                    <a:cubicBezTo>
                      <a:pt x="107" y="12"/>
                      <a:pt x="74" y="34"/>
                      <a:pt x="33" y="47"/>
                    </a:cubicBezTo>
                    <a:cubicBezTo>
                      <a:pt x="19" y="91"/>
                      <a:pt x="16" y="99"/>
                      <a:pt x="62" y="113"/>
                    </a:cubicBezTo>
                    <a:cubicBezTo>
                      <a:pt x="56" y="123"/>
                      <a:pt x="51" y="134"/>
                      <a:pt x="43" y="142"/>
                    </a:cubicBezTo>
                    <a:cubicBezTo>
                      <a:pt x="35" y="150"/>
                      <a:pt x="19" y="150"/>
                      <a:pt x="15" y="160"/>
                    </a:cubicBezTo>
                    <a:cubicBezTo>
                      <a:pt x="0" y="198"/>
                      <a:pt x="74" y="204"/>
                      <a:pt x="90" y="208"/>
                    </a:cubicBezTo>
                    <a:cubicBezTo>
                      <a:pt x="116" y="134"/>
                      <a:pt x="105" y="219"/>
                      <a:pt x="100" y="236"/>
                    </a:cubicBezTo>
                    <a:cubicBezTo>
                      <a:pt x="113" y="291"/>
                      <a:pt x="118" y="296"/>
                      <a:pt x="166" y="264"/>
                    </a:cubicBezTo>
                    <a:cubicBezTo>
                      <a:pt x="184" y="189"/>
                      <a:pt x="165" y="244"/>
                      <a:pt x="185" y="283"/>
                    </a:cubicBezTo>
                    <a:cubicBezTo>
                      <a:pt x="190" y="293"/>
                      <a:pt x="204" y="296"/>
                      <a:pt x="213" y="302"/>
                    </a:cubicBezTo>
                    <a:cubicBezTo>
                      <a:pt x="271" y="288"/>
                      <a:pt x="256" y="282"/>
                      <a:pt x="269" y="227"/>
                    </a:cubicBezTo>
                    <a:cubicBezTo>
                      <a:pt x="266" y="161"/>
                      <a:pt x="279" y="92"/>
                      <a:pt x="260" y="28"/>
                    </a:cubicBezTo>
                    <a:cubicBezTo>
                      <a:pt x="254" y="9"/>
                      <a:pt x="171" y="0"/>
                      <a:pt x="147"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4711" name="Freeform 215"/>
              <p:cNvSpPr>
                <a:spLocks/>
              </p:cNvSpPr>
              <p:nvPr/>
            </p:nvSpPr>
            <p:spPr bwMode="auto">
              <a:xfrm flipH="1">
                <a:off x="607" y="1270"/>
                <a:ext cx="170" cy="124"/>
              </a:xfrm>
              <a:custGeom>
                <a:avLst/>
                <a:gdLst>
                  <a:gd name="T0" fmla="*/ 9 w 453"/>
                  <a:gd name="T1" fmla="*/ 212 h 392"/>
                  <a:gd name="T2" fmla="*/ 66 w 453"/>
                  <a:gd name="T3" fmla="*/ 174 h 392"/>
                  <a:gd name="T4" fmla="*/ 104 w 453"/>
                  <a:gd name="T5" fmla="*/ 61 h 392"/>
                  <a:gd name="T6" fmla="*/ 132 w 453"/>
                  <a:gd name="T7" fmla="*/ 51 h 392"/>
                  <a:gd name="T8" fmla="*/ 198 w 453"/>
                  <a:gd name="T9" fmla="*/ 42 h 392"/>
                  <a:gd name="T10" fmla="*/ 377 w 453"/>
                  <a:gd name="T11" fmla="*/ 51 h 392"/>
                  <a:gd name="T12" fmla="*/ 425 w 453"/>
                  <a:gd name="T13" fmla="*/ 165 h 392"/>
                  <a:gd name="T14" fmla="*/ 453 w 453"/>
                  <a:gd name="T15" fmla="*/ 259 h 392"/>
                  <a:gd name="T16" fmla="*/ 425 w 453"/>
                  <a:gd name="T17" fmla="*/ 353 h 392"/>
                  <a:gd name="T18" fmla="*/ 330 w 453"/>
                  <a:gd name="T19" fmla="*/ 382 h 392"/>
                  <a:gd name="T20" fmla="*/ 113 w 453"/>
                  <a:gd name="T21" fmla="*/ 344 h 392"/>
                  <a:gd name="T22" fmla="*/ 104 w 453"/>
                  <a:gd name="T23" fmla="*/ 316 h 392"/>
                  <a:gd name="T24" fmla="*/ 47 w 453"/>
                  <a:gd name="T25" fmla="*/ 278 h 392"/>
                  <a:gd name="T26" fmla="*/ 37 w 453"/>
                  <a:gd name="T27" fmla="*/ 250 h 392"/>
                  <a:gd name="T28" fmla="*/ 9 w 453"/>
                  <a:gd name="T29" fmla="*/ 21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3" h="392">
                    <a:moveTo>
                      <a:pt x="9" y="212"/>
                    </a:moveTo>
                    <a:cubicBezTo>
                      <a:pt x="28" y="199"/>
                      <a:pt x="47" y="187"/>
                      <a:pt x="66" y="174"/>
                    </a:cubicBezTo>
                    <a:cubicBezTo>
                      <a:pt x="77" y="167"/>
                      <a:pt x="97" y="81"/>
                      <a:pt x="104" y="61"/>
                    </a:cubicBezTo>
                    <a:cubicBezTo>
                      <a:pt x="107" y="52"/>
                      <a:pt x="122" y="53"/>
                      <a:pt x="132" y="51"/>
                    </a:cubicBezTo>
                    <a:cubicBezTo>
                      <a:pt x="154" y="47"/>
                      <a:pt x="176" y="45"/>
                      <a:pt x="198" y="42"/>
                    </a:cubicBezTo>
                    <a:cubicBezTo>
                      <a:pt x="263" y="19"/>
                      <a:pt x="326" y="0"/>
                      <a:pt x="377" y="51"/>
                    </a:cubicBezTo>
                    <a:cubicBezTo>
                      <a:pt x="392" y="95"/>
                      <a:pt x="400" y="127"/>
                      <a:pt x="425" y="165"/>
                    </a:cubicBezTo>
                    <a:cubicBezTo>
                      <a:pt x="447" y="233"/>
                      <a:pt x="438" y="202"/>
                      <a:pt x="453" y="259"/>
                    </a:cubicBezTo>
                    <a:cubicBezTo>
                      <a:pt x="450" y="271"/>
                      <a:pt x="429" y="352"/>
                      <a:pt x="425" y="353"/>
                    </a:cubicBezTo>
                    <a:cubicBezTo>
                      <a:pt x="356" y="376"/>
                      <a:pt x="387" y="367"/>
                      <a:pt x="330" y="382"/>
                    </a:cubicBezTo>
                    <a:cubicBezTo>
                      <a:pt x="229" y="376"/>
                      <a:pt x="184" y="392"/>
                      <a:pt x="113" y="344"/>
                    </a:cubicBezTo>
                    <a:cubicBezTo>
                      <a:pt x="110" y="335"/>
                      <a:pt x="111" y="323"/>
                      <a:pt x="104" y="316"/>
                    </a:cubicBezTo>
                    <a:cubicBezTo>
                      <a:pt x="88" y="300"/>
                      <a:pt x="47" y="278"/>
                      <a:pt x="47" y="278"/>
                    </a:cubicBezTo>
                    <a:cubicBezTo>
                      <a:pt x="44" y="269"/>
                      <a:pt x="44" y="257"/>
                      <a:pt x="37" y="250"/>
                    </a:cubicBezTo>
                    <a:cubicBezTo>
                      <a:pt x="0" y="213"/>
                      <a:pt x="9" y="272"/>
                      <a:pt x="9" y="212"/>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4712" name="Oval 216"/>
              <p:cNvSpPr>
                <a:spLocks noChangeArrowheads="1"/>
              </p:cNvSpPr>
              <p:nvPr/>
            </p:nvSpPr>
            <p:spPr bwMode="auto">
              <a:xfrm flipH="1">
                <a:off x="487" y="899"/>
                <a:ext cx="404" cy="390"/>
              </a:xfrm>
              <a:prstGeom prst="ellipse">
                <a:avLst/>
              </a:prstGeom>
              <a:noFill/>
              <a:ln w="25400">
                <a:solidFill>
                  <a:schemeClr val="bg1"/>
                </a:solidFill>
                <a:round/>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4713" name="Freeform 217"/>
              <p:cNvSpPr>
                <a:spLocks/>
              </p:cNvSpPr>
              <p:nvPr/>
            </p:nvSpPr>
            <p:spPr bwMode="auto">
              <a:xfrm flipH="1">
                <a:off x="422" y="1325"/>
                <a:ext cx="643" cy="400"/>
              </a:xfrm>
              <a:custGeom>
                <a:avLst/>
                <a:gdLst>
                  <a:gd name="T0" fmla="*/ 787 w 1716"/>
                  <a:gd name="T1" fmla="*/ 38 h 1261"/>
                  <a:gd name="T2" fmla="*/ 853 w 1716"/>
                  <a:gd name="T3" fmla="*/ 76 h 1261"/>
                  <a:gd name="T4" fmla="*/ 881 w 1716"/>
                  <a:gd name="T5" fmla="*/ 104 h 1261"/>
                  <a:gd name="T6" fmla="*/ 966 w 1716"/>
                  <a:gd name="T7" fmla="*/ 142 h 1261"/>
                  <a:gd name="T8" fmla="*/ 1127 w 1716"/>
                  <a:gd name="T9" fmla="*/ 132 h 1261"/>
                  <a:gd name="T10" fmla="*/ 1174 w 1716"/>
                  <a:gd name="T11" fmla="*/ 85 h 1261"/>
                  <a:gd name="T12" fmla="*/ 1230 w 1716"/>
                  <a:gd name="T13" fmla="*/ 47 h 1261"/>
                  <a:gd name="T14" fmla="*/ 1363 w 1716"/>
                  <a:gd name="T15" fmla="*/ 9 h 1261"/>
                  <a:gd name="T16" fmla="*/ 1495 w 1716"/>
                  <a:gd name="T17" fmla="*/ 19 h 1261"/>
                  <a:gd name="T18" fmla="*/ 1561 w 1716"/>
                  <a:gd name="T19" fmla="*/ 151 h 1261"/>
                  <a:gd name="T20" fmla="*/ 1589 w 1716"/>
                  <a:gd name="T21" fmla="*/ 425 h 1261"/>
                  <a:gd name="T22" fmla="*/ 1618 w 1716"/>
                  <a:gd name="T23" fmla="*/ 585 h 1261"/>
                  <a:gd name="T24" fmla="*/ 1646 w 1716"/>
                  <a:gd name="T25" fmla="*/ 793 h 1261"/>
                  <a:gd name="T26" fmla="*/ 1703 w 1716"/>
                  <a:gd name="T27" fmla="*/ 1020 h 1261"/>
                  <a:gd name="T28" fmla="*/ 1712 w 1716"/>
                  <a:gd name="T29" fmla="*/ 1058 h 1261"/>
                  <a:gd name="T30" fmla="*/ 1684 w 1716"/>
                  <a:gd name="T31" fmla="*/ 1076 h 1261"/>
                  <a:gd name="T32" fmla="*/ 1561 w 1716"/>
                  <a:gd name="T33" fmla="*/ 1086 h 1261"/>
                  <a:gd name="T34" fmla="*/ 1372 w 1716"/>
                  <a:gd name="T35" fmla="*/ 500 h 1261"/>
                  <a:gd name="T36" fmla="*/ 1334 w 1716"/>
                  <a:gd name="T37" fmla="*/ 406 h 1261"/>
                  <a:gd name="T38" fmla="*/ 1334 w 1716"/>
                  <a:gd name="T39" fmla="*/ 1228 h 1261"/>
                  <a:gd name="T40" fmla="*/ 1230 w 1716"/>
                  <a:gd name="T41" fmla="*/ 1218 h 1261"/>
                  <a:gd name="T42" fmla="*/ 985 w 1716"/>
                  <a:gd name="T43" fmla="*/ 1143 h 1261"/>
                  <a:gd name="T44" fmla="*/ 560 w 1716"/>
                  <a:gd name="T45" fmla="*/ 1143 h 1261"/>
                  <a:gd name="T46" fmla="*/ 569 w 1716"/>
                  <a:gd name="T47" fmla="*/ 1114 h 1261"/>
                  <a:gd name="T48" fmla="*/ 607 w 1716"/>
                  <a:gd name="T49" fmla="*/ 519 h 1261"/>
                  <a:gd name="T50" fmla="*/ 598 w 1716"/>
                  <a:gd name="T51" fmla="*/ 425 h 1261"/>
                  <a:gd name="T52" fmla="*/ 560 w 1716"/>
                  <a:gd name="T53" fmla="*/ 491 h 1261"/>
                  <a:gd name="T54" fmla="*/ 447 w 1716"/>
                  <a:gd name="T55" fmla="*/ 614 h 1261"/>
                  <a:gd name="T56" fmla="*/ 418 w 1716"/>
                  <a:gd name="T57" fmla="*/ 642 h 1261"/>
                  <a:gd name="T58" fmla="*/ 305 w 1716"/>
                  <a:gd name="T59" fmla="*/ 822 h 1261"/>
                  <a:gd name="T60" fmla="*/ 229 w 1716"/>
                  <a:gd name="T61" fmla="*/ 954 h 1261"/>
                  <a:gd name="T62" fmla="*/ 154 w 1716"/>
                  <a:gd name="T63" fmla="*/ 925 h 1261"/>
                  <a:gd name="T64" fmla="*/ 144 w 1716"/>
                  <a:gd name="T65" fmla="*/ 897 h 1261"/>
                  <a:gd name="T66" fmla="*/ 116 w 1716"/>
                  <a:gd name="T67" fmla="*/ 878 h 1261"/>
                  <a:gd name="T68" fmla="*/ 88 w 1716"/>
                  <a:gd name="T69" fmla="*/ 850 h 1261"/>
                  <a:gd name="T70" fmla="*/ 22 w 1716"/>
                  <a:gd name="T71" fmla="*/ 812 h 1261"/>
                  <a:gd name="T72" fmla="*/ 3 w 1716"/>
                  <a:gd name="T73" fmla="*/ 774 h 1261"/>
                  <a:gd name="T74" fmla="*/ 41 w 1716"/>
                  <a:gd name="T75" fmla="*/ 718 h 1261"/>
                  <a:gd name="T76" fmla="*/ 211 w 1716"/>
                  <a:gd name="T77" fmla="*/ 557 h 1261"/>
                  <a:gd name="T78" fmla="*/ 296 w 1716"/>
                  <a:gd name="T79" fmla="*/ 415 h 1261"/>
                  <a:gd name="T80" fmla="*/ 390 w 1716"/>
                  <a:gd name="T81" fmla="*/ 330 h 1261"/>
                  <a:gd name="T82" fmla="*/ 541 w 1716"/>
                  <a:gd name="T83" fmla="*/ 151 h 1261"/>
                  <a:gd name="T84" fmla="*/ 617 w 1716"/>
                  <a:gd name="T85" fmla="*/ 47 h 1261"/>
                  <a:gd name="T86" fmla="*/ 711 w 1716"/>
                  <a:gd name="T87" fmla="*/ 0 h 1261"/>
                  <a:gd name="T88" fmla="*/ 758 w 1716"/>
                  <a:gd name="T89" fmla="*/ 9 h 1261"/>
                  <a:gd name="T90" fmla="*/ 787 w 1716"/>
                  <a:gd name="T91" fmla="*/ 38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16" h="1261">
                    <a:moveTo>
                      <a:pt x="787" y="38"/>
                    </a:moveTo>
                    <a:cubicBezTo>
                      <a:pt x="808" y="52"/>
                      <a:pt x="832" y="61"/>
                      <a:pt x="853" y="76"/>
                    </a:cubicBezTo>
                    <a:cubicBezTo>
                      <a:pt x="864" y="84"/>
                      <a:pt x="871" y="96"/>
                      <a:pt x="881" y="104"/>
                    </a:cubicBezTo>
                    <a:cubicBezTo>
                      <a:pt x="907" y="125"/>
                      <a:pt x="935" y="131"/>
                      <a:pt x="966" y="142"/>
                    </a:cubicBezTo>
                    <a:cubicBezTo>
                      <a:pt x="1020" y="139"/>
                      <a:pt x="1074" y="140"/>
                      <a:pt x="1127" y="132"/>
                    </a:cubicBezTo>
                    <a:cubicBezTo>
                      <a:pt x="1158" y="127"/>
                      <a:pt x="1155" y="102"/>
                      <a:pt x="1174" y="85"/>
                    </a:cubicBezTo>
                    <a:cubicBezTo>
                      <a:pt x="1191" y="70"/>
                      <a:pt x="1211" y="60"/>
                      <a:pt x="1230" y="47"/>
                    </a:cubicBezTo>
                    <a:cubicBezTo>
                      <a:pt x="1268" y="21"/>
                      <a:pt x="1363" y="9"/>
                      <a:pt x="1363" y="9"/>
                    </a:cubicBezTo>
                    <a:cubicBezTo>
                      <a:pt x="1407" y="12"/>
                      <a:pt x="1453" y="6"/>
                      <a:pt x="1495" y="19"/>
                    </a:cubicBezTo>
                    <a:cubicBezTo>
                      <a:pt x="1515" y="25"/>
                      <a:pt x="1554" y="130"/>
                      <a:pt x="1561" y="151"/>
                    </a:cubicBezTo>
                    <a:cubicBezTo>
                      <a:pt x="1573" y="242"/>
                      <a:pt x="1577" y="334"/>
                      <a:pt x="1589" y="425"/>
                    </a:cubicBezTo>
                    <a:cubicBezTo>
                      <a:pt x="1596" y="479"/>
                      <a:pt x="1612" y="531"/>
                      <a:pt x="1618" y="585"/>
                    </a:cubicBezTo>
                    <a:cubicBezTo>
                      <a:pt x="1626" y="654"/>
                      <a:pt x="1623" y="728"/>
                      <a:pt x="1646" y="793"/>
                    </a:cubicBezTo>
                    <a:cubicBezTo>
                      <a:pt x="1656" y="874"/>
                      <a:pt x="1666" y="947"/>
                      <a:pt x="1703" y="1020"/>
                    </a:cubicBezTo>
                    <a:cubicBezTo>
                      <a:pt x="1706" y="1033"/>
                      <a:pt x="1716" y="1046"/>
                      <a:pt x="1712" y="1058"/>
                    </a:cubicBezTo>
                    <a:cubicBezTo>
                      <a:pt x="1708" y="1069"/>
                      <a:pt x="1695" y="1074"/>
                      <a:pt x="1684" y="1076"/>
                    </a:cubicBezTo>
                    <a:cubicBezTo>
                      <a:pt x="1644" y="1083"/>
                      <a:pt x="1602" y="1083"/>
                      <a:pt x="1561" y="1086"/>
                    </a:cubicBezTo>
                    <a:cubicBezTo>
                      <a:pt x="1188" y="1206"/>
                      <a:pt x="1574" y="637"/>
                      <a:pt x="1372" y="500"/>
                    </a:cubicBezTo>
                    <a:cubicBezTo>
                      <a:pt x="1362" y="467"/>
                      <a:pt x="1345" y="438"/>
                      <a:pt x="1334" y="406"/>
                    </a:cubicBezTo>
                    <a:cubicBezTo>
                      <a:pt x="1335" y="463"/>
                      <a:pt x="1358" y="1148"/>
                      <a:pt x="1334" y="1228"/>
                    </a:cubicBezTo>
                    <a:cubicBezTo>
                      <a:pt x="1324" y="1261"/>
                      <a:pt x="1265" y="1222"/>
                      <a:pt x="1230" y="1218"/>
                    </a:cubicBezTo>
                    <a:cubicBezTo>
                      <a:pt x="1144" y="1207"/>
                      <a:pt x="1066" y="1169"/>
                      <a:pt x="985" y="1143"/>
                    </a:cubicBezTo>
                    <a:cubicBezTo>
                      <a:pt x="918" y="1145"/>
                      <a:pt x="647" y="1162"/>
                      <a:pt x="560" y="1143"/>
                    </a:cubicBezTo>
                    <a:cubicBezTo>
                      <a:pt x="550" y="1141"/>
                      <a:pt x="566" y="1124"/>
                      <a:pt x="569" y="1114"/>
                    </a:cubicBezTo>
                    <a:cubicBezTo>
                      <a:pt x="576" y="920"/>
                      <a:pt x="562" y="710"/>
                      <a:pt x="607" y="519"/>
                    </a:cubicBezTo>
                    <a:cubicBezTo>
                      <a:pt x="604" y="488"/>
                      <a:pt x="616" y="451"/>
                      <a:pt x="598" y="425"/>
                    </a:cubicBezTo>
                    <a:cubicBezTo>
                      <a:pt x="584" y="404"/>
                      <a:pt x="561" y="489"/>
                      <a:pt x="560" y="491"/>
                    </a:cubicBezTo>
                    <a:cubicBezTo>
                      <a:pt x="534" y="543"/>
                      <a:pt x="488" y="573"/>
                      <a:pt x="447" y="614"/>
                    </a:cubicBezTo>
                    <a:cubicBezTo>
                      <a:pt x="437" y="624"/>
                      <a:pt x="418" y="642"/>
                      <a:pt x="418" y="642"/>
                    </a:cubicBezTo>
                    <a:cubicBezTo>
                      <a:pt x="386" y="707"/>
                      <a:pt x="341" y="760"/>
                      <a:pt x="305" y="822"/>
                    </a:cubicBezTo>
                    <a:cubicBezTo>
                      <a:pt x="278" y="869"/>
                      <a:pt x="275" y="924"/>
                      <a:pt x="229" y="954"/>
                    </a:cubicBezTo>
                    <a:cubicBezTo>
                      <a:pt x="215" y="949"/>
                      <a:pt x="160" y="930"/>
                      <a:pt x="154" y="925"/>
                    </a:cubicBezTo>
                    <a:cubicBezTo>
                      <a:pt x="146" y="919"/>
                      <a:pt x="150" y="905"/>
                      <a:pt x="144" y="897"/>
                    </a:cubicBezTo>
                    <a:cubicBezTo>
                      <a:pt x="137" y="888"/>
                      <a:pt x="125" y="885"/>
                      <a:pt x="116" y="878"/>
                    </a:cubicBezTo>
                    <a:cubicBezTo>
                      <a:pt x="106" y="870"/>
                      <a:pt x="99" y="858"/>
                      <a:pt x="88" y="850"/>
                    </a:cubicBezTo>
                    <a:cubicBezTo>
                      <a:pt x="67" y="835"/>
                      <a:pt x="43" y="826"/>
                      <a:pt x="22" y="812"/>
                    </a:cubicBezTo>
                    <a:cubicBezTo>
                      <a:pt x="16" y="799"/>
                      <a:pt x="0" y="788"/>
                      <a:pt x="3" y="774"/>
                    </a:cubicBezTo>
                    <a:cubicBezTo>
                      <a:pt x="7" y="752"/>
                      <a:pt x="28" y="737"/>
                      <a:pt x="41" y="718"/>
                    </a:cubicBezTo>
                    <a:cubicBezTo>
                      <a:pt x="80" y="661"/>
                      <a:pt x="156" y="598"/>
                      <a:pt x="211" y="557"/>
                    </a:cubicBezTo>
                    <a:cubicBezTo>
                      <a:pt x="235" y="521"/>
                      <a:pt x="267" y="444"/>
                      <a:pt x="296" y="415"/>
                    </a:cubicBezTo>
                    <a:cubicBezTo>
                      <a:pt x="325" y="386"/>
                      <a:pt x="363" y="357"/>
                      <a:pt x="390" y="330"/>
                    </a:cubicBezTo>
                    <a:cubicBezTo>
                      <a:pt x="445" y="275"/>
                      <a:pt x="475" y="196"/>
                      <a:pt x="541" y="151"/>
                    </a:cubicBezTo>
                    <a:cubicBezTo>
                      <a:pt x="558" y="105"/>
                      <a:pt x="577" y="73"/>
                      <a:pt x="617" y="47"/>
                    </a:cubicBezTo>
                    <a:cubicBezTo>
                      <a:pt x="643" y="6"/>
                      <a:pt x="663" y="9"/>
                      <a:pt x="711" y="0"/>
                    </a:cubicBezTo>
                    <a:cubicBezTo>
                      <a:pt x="727" y="3"/>
                      <a:pt x="745" y="0"/>
                      <a:pt x="758" y="9"/>
                    </a:cubicBezTo>
                    <a:cubicBezTo>
                      <a:pt x="810" y="44"/>
                      <a:pt x="733" y="38"/>
                      <a:pt x="787" y="38"/>
                    </a:cubicBezTo>
                    <a:close/>
                  </a:path>
                </a:pathLst>
              </a:custGeom>
              <a:solidFill>
                <a:srgbClr val="9933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4714" name="Freeform 218"/>
              <p:cNvSpPr>
                <a:spLocks/>
              </p:cNvSpPr>
              <p:nvPr/>
            </p:nvSpPr>
            <p:spPr bwMode="auto">
              <a:xfrm flipH="1">
                <a:off x="515" y="1652"/>
                <a:ext cx="366" cy="423"/>
              </a:xfrm>
              <a:custGeom>
                <a:avLst/>
                <a:gdLst>
                  <a:gd name="T0" fmla="*/ 75 w 680"/>
                  <a:gd name="T1" fmla="*/ 83 h 940"/>
                  <a:gd name="T2" fmla="*/ 66 w 680"/>
                  <a:gd name="T3" fmla="*/ 206 h 940"/>
                  <a:gd name="T4" fmla="*/ 56 w 680"/>
                  <a:gd name="T5" fmla="*/ 593 h 940"/>
                  <a:gd name="T6" fmla="*/ 0 w 680"/>
                  <a:gd name="T7" fmla="*/ 848 h 940"/>
                  <a:gd name="T8" fmla="*/ 28 w 680"/>
                  <a:gd name="T9" fmla="*/ 858 h 940"/>
                  <a:gd name="T10" fmla="*/ 293 w 680"/>
                  <a:gd name="T11" fmla="*/ 839 h 940"/>
                  <a:gd name="T12" fmla="*/ 302 w 680"/>
                  <a:gd name="T13" fmla="*/ 773 h 940"/>
                  <a:gd name="T14" fmla="*/ 321 w 680"/>
                  <a:gd name="T15" fmla="*/ 688 h 940"/>
                  <a:gd name="T16" fmla="*/ 330 w 680"/>
                  <a:gd name="T17" fmla="*/ 348 h 940"/>
                  <a:gd name="T18" fmla="*/ 340 w 680"/>
                  <a:gd name="T19" fmla="*/ 376 h 940"/>
                  <a:gd name="T20" fmla="*/ 349 w 680"/>
                  <a:gd name="T21" fmla="*/ 471 h 940"/>
                  <a:gd name="T22" fmla="*/ 368 w 680"/>
                  <a:gd name="T23" fmla="*/ 612 h 940"/>
                  <a:gd name="T24" fmla="*/ 377 w 680"/>
                  <a:gd name="T25" fmla="*/ 924 h 940"/>
                  <a:gd name="T26" fmla="*/ 491 w 680"/>
                  <a:gd name="T27" fmla="*/ 905 h 940"/>
                  <a:gd name="T28" fmla="*/ 547 w 680"/>
                  <a:gd name="T29" fmla="*/ 886 h 940"/>
                  <a:gd name="T30" fmla="*/ 680 w 680"/>
                  <a:gd name="T31" fmla="*/ 886 h 940"/>
                  <a:gd name="T32" fmla="*/ 623 w 680"/>
                  <a:gd name="T33" fmla="*/ 659 h 940"/>
                  <a:gd name="T34" fmla="*/ 557 w 680"/>
                  <a:gd name="T35" fmla="*/ 168 h 940"/>
                  <a:gd name="T36" fmla="*/ 481 w 680"/>
                  <a:gd name="T37" fmla="*/ 46 h 940"/>
                  <a:gd name="T38" fmla="*/ 170 w 680"/>
                  <a:gd name="T39" fmla="*/ 27 h 940"/>
                  <a:gd name="T40" fmla="*/ 94 w 680"/>
                  <a:gd name="T41" fmla="*/ 55 h 940"/>
                  <a:gd name="T42" fmla="*/ 75 w 680"/>
                  <a:gd name="T43" fmla="*/ 83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80" h="940">
                    <a:moveTo>
                      <a:pt x="75" y="83"/>
                    </a:moveTo>
                    <a:cubicBezTo>
                      <a:pt x="72" y="124"/>
                      <a:pt x="68" y="165"/>
                      <a:pt x="66" y="206"/>
                    </a:cubicBezTo>
                    <a:cubicBezTo>
                      <a:pt x="61" y="335"/>
                      <a:pt x="62" y="464"/>
                      <a:pt x="56" y="593"/>
                    </a:cubicBezTo>
                    <a:cubicBezTo>
                      <a:pt x="52" y="675"/>
                      <a:pt x="19" y="767"/>
                      <a:pt x="0" y="848"/>
                    </a:cubicBezTo>
                    <a:cubicBezTo>
                      <a:pt x="9" y="851"/>
                      <a:pt x="18" y="858"/>
                      <a:pt x="28" y="858"/>
                    </a:cubicBezTo>
                    <a:cubicBezTo>
                      <a:pt x="117" y="855"/>
                      <a:pt x="208" y="865"/>
                      <a:pt x="293" y="839"/>
                    </a:cubicBezTo>
                    <a:cubicBezTo>
                      <a:pt x="314" y="832"/>
                      <a:pt x="298" y="795"/>
                      <a:pt x="302" y="773"/>
                    </a:cubicBezTo>
                    <a:cubicBezTo>
                      <a:pt x="307" y="744"/>
                      <a:pt x="315" y="716"/>
                      <a:pt x="321" y="688"/>
                    </a:cubicBezTo>
                    <a:cubicBezTo>
                      <a:pt x="324" y="575"/>
                      <a:pt x="323" y="461"/>
                      <a:pt x="330" y="348"/>
                    </a:cubicBezTo>
                    <a:cubicBezTo>
                      <a:pt x="331" y="338"/>
                      <a:pt x="338" y="366"/>
                      <a:pt x="340" y="376"/>
                    </a:cubicBezTo>
                    <a:cubicBezTo>
                      <a:pt x="345" y="407"/>
                      <a:pt x="346" y="439"/>
                      <a:pt x="349" y="471"/>
                    </a:cubicBezTo>
                    <a:cubicBezTo>
                      <a:pt x="359" y="574"/>
                      <a:pt x="354" y="538"/>
                      <a:pt x="368" y="612"/>
                    </a:cubicBezTo>
                    <a:cubicBezTo>
                      <a:pt x="371" y="716"/>
                      <a:pt x="346" y="825"/>
                      <a:pt x="377" y="924"/>
                    </a:cubicBezTo>
                    <a:cubicBezTo>
                      <a:pt x="382" y="940"/>
                      <a:pt x="467" y="913"/>
                      <a:pt x="491" y="905"/>
                    </a:cubicBezTo>
                    <a:cubicBezTo>
                      <a:pt x="510" y="899"/>
                      <a:pt x="547" y="886"/>
                      <a:pt x="547" y="886"/>
                    </a:cubicBezTo>
                    <a:cubicBezTo>
                      <a:pt x="620" y="900"/>
                      <a:pt x="605" y="911"/>
                      <a:pt x="680" y="886"/>
                    </a:cubicBezTo>
                    <a:cubicBezTo>
                      <a:pt x="664" y="809"/>
                      <a:pt x="646" y="735"/>
                      <a:pt x="623" y="659"/>
                    </a:cubicBezTo>
                    <a:cubicBezTo>
                      <a:pt x="616" y="486"/>
                      <a:pt x="604" y="333"/>
                      <a:pt x="557" y="168"/>
                    </a:cubicBezTo>
                    <a:cubicBezTo>
                      <a:pt x="543" y="119"/>
                      <a:pt x="529" y="69"/>
                      <a:pt x="481" y="46"/>
                    </a:cubicBezTo>
                    <a:cubicBezTo>
                      <a:pt x="388" y="0"/>
                      <a:pt x="274" y="30"/>
                      <a:pt x="170" y="27"/>
                    </a:cubicBezTo>
                    <a:cubicBezTo>
                      <a:pt x="144" y="32"/>
                      <a:pt x="113" y="32"/>
                      <a:pt x="94" y="55"/>
                    </a:cubicBezTo>
                    <a:cubicBezTo>
                      <a:pt x="69" y="86"/>
                      <a:pt x="100" y="83"/>
                      <a:pt x="75" y="83"/>
                    </a:cubicBezTo>
                    <a:close/>
                  </a:path>
                </a:pathLst>
              </a:custGeom>
              <a:solidFill>
                <a:srgbClr val="0033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4715" name="Oval 219"/>
              <p:cNvSpPr>
                <a:spLocks noChangeArrowheads="1"/>
              </p:cNvSpPr>
              <p:nvPr/>
            </p:nvSpPr>
            <p:spPr bwMode="auto">
              <a:xfrm flipH="1">
                <a:off x="641" y="1090"/>
                <a:ext cx="48" cy="51"/>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4716" name="Oval 220"/>
              <p:cNvSpPr>
                <a:spLocks noChangeArrowheads="1"/>
              </p:cNvSpPr>
              <p:nvPr/>
            </p:nvSpPr>
            <p:spPr bwMode="auto">
              <a:xfrm>
                <a:off x="510" y="930"/>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4717" name="Oval 221"/>
              <p:cNvSpPr>
                <a:spLocks noChangeArrowheads="1"/>
              </p:cNvSpPr>
              <p:nvPr/>
            </p:nvSpPr>
            <p:spPr bwMode="auto">
              <a:xfrm>
                <a:off x="666" y="870"/>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4718" name="Oval 222"/>
              <p:cNvSpPr>
                <a:spLocks noChangeArrowheads="1"/>
              </p:cNvSpPr>
              <p:nvPr/>
            </p:nvSpPr>
            <p:spPr bwMode="auto">
              <a:xfrm>
                <a:off x="816" y="954"/>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4719" name="Oval 223"/>
              <p:cNvSpPr>
                <a:spLocks noChangeArrowheads="1"/>
              </p:cNvSpPr>
              <p:nvPr/>
            </p:nvSpPr>
            <p:spPr bwMode="auto">
              <a:xfrm>
                <a:off x="858" y="1122"/>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4720" name="Oval 224"/>
              <p:cNvSpPr>
                <a:spLocks noChangeArrowheads="1"/>
              </p:cNvSpPr>
              <p:nvPr/>
            </p:nvSpPr>
            <p:spPr bwMode="auto">
              <a:xfrm>
                <a:off x="450" y="1086"/>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4721" name="Oval 225"/>
              <p:cNvSpPr>
                <a:spLocks noChangeArrowheads="1"/>
              </p:cNvSpPr>
              <p:nvPr/>
            </p:nvSpPr>
            <p:spPr bwMode="auto">
              <a:xfrm>
                <a:off x="522" y="1212"/>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4722" name="Oval 226"/>
              <p:cNvSpPr>
                <a:spLocks noChangeArrowheads="1"/>
              </p:cNvSpPr>
              <p:nvPr/>
            </p:nvSpPr>
            <p:spPr bwMode="auto">
              <a:xfrm>
                <a:off x="774" y="1230"/>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34723" name="Text Box 227"/>
            <p:cNvSpPr txBox="1">
              <a:spLocks noChangeArrowheads="1"/>
            </p:cNvSpPr>
            <p:nvPr/>
          </p:nvSpPr>
          <p:spPr bwMode="auto">
            <a:xfrm>
              <a:off x="372" y="276"/>
              <a:ext cx="2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t>Cl</a:t>
              </a:r>
            </a:p>
          </p:txBody>
        </p:sp>
      </p:grpSp>
      <p:grpSp>
        <p:nvGrpSpPr>
          <p:cNvPr id="234724" name="Group 228"/>
          <p:cNvGrpSpPr>
            <a:grpSpLocks/>
          </p:cNvGrpSpPr>
          <p:nvPr/>
        </p:nvGrpSpPr>
        <p:grpSpPr bwMode="auto">
          <a:xfrm flipH="1">
            <a:off x="5978525" y="4086225"/>
            <a:ext cx="1182688" cy="2041525"/>
            <a:chOff x="214" y="174"/>
            <a:chExt cx="745" cy="1286"/>
          </a:xfrm>
        </p:grpSpPr>
        <p:grpSp>
          <p:nvGrpSpPr>
            <p:cNvPr id="234725" name="Group 229"/>
            <p:cNvGrpSpPr>
              <a:grpSpLocks/>
            </p:cNvGrpSpPr>
            <p:nvPr/>
          </p:nvGrpSpPr>
          <p:grpSpPr bwMode="auto">
            <a:xfrm>
              <a:off x="214" y="174"/>
              <a:ext cx="745" cy="1286"/>
              <a:chOff x="387" y="870"/>
              <a:chExt cx="745" cy="1286"/>
            </a:xfrm>
          </p:grpSpPr>
          <p:sp>
            <p:nvSpPr>
              <p:cNvPr id="234726" name="Freeform 230"/>
              <p:cNvSpPr>
                <a:spLocks/>
              </p:cNvSpPr>
              <p:nvPr/>
            </p:nvSpPr>
            <p:spPr bwMode="auto">
              <a:xfrm>
                <a:off x="387" y="2024"/>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4727" name="Freeform 231"/>
              <p:cNvSpPr>
                <a:spLocks/>
              </p:cNvSpPr>
              <p:nvPr/>
            </p:nvSpPr>
            <p:spPr bwMode="auto">
              <a:xfrm flipH="1">
                <a:off x="707" y="2019"/>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4728" name="Freeform 232"/>
              <p:cNvSpPr>
                <a:spLocks/>
              </p:cNvSpPr>
              <p:nvPr/>
            </p:nvSpPr>
            <p:spPr bwMode="auto">
              <a:xfrm flipH="1">
                <a:off x="406" y="1647"/>
                <a:ext cx="158" cy="126"/>
              </a:xfrm>
              <a:custGeom>
                <a:avLst/>
                <a:gdLst>
                  <a:gd name="T0" fmla="*/ 213 w 294"/>
                  <a:gd name="T1" fmla="*/ 0 h 279"/>
                  <a:gd name="T2" fmla="*/ 270 w 294"/>
                  <a:gd name="T3" fmla="*/ 76 h 279"/>
                  <a:gd name="T4" fmla="*/ 270 w 294"/>
                  <a:gd name="T5" fmla="*/ 161 h 279"/>
                  <a:gd name="T6" fmla="*/ 232 w 294"/>
                  <a:gd name="T7" fmla="*/ 151 h 279"/>
                  <a:gd name="T8" fmla="*/ 241 w 294"/>
                  <a:gd name="T9" fmla="*/ 199 h 279"/>
                  <a:gd name="T10" fmla="*/ 232 w 294"/>
                  <a:gd name="T11" fmla="*/ 265 h 279"/>
                  <a:gd name="T12" fmla="*/ 203 w 294"/>
                  <a:gd name="T13" fmla="*/ 274 h 279"/>
                  <a:gd name="T14" fmla="*/ 194 w 294"/>
                  <a:gd name="T15" fmla="*/ 246 h 279"/>
                  <a:gd name="T16" fmla="*/ 166 w 294"/>
                  <a:gd name="T17" fmla="*/ 132 h 279"/>
                  <a:gd name="T18" fmla="*/ 118 w 294"/>
                  <a:gd name="T19" fmla="*/ 265 h 279"/>
                  <a:gd name="T20" fmla="*/ 90 w 294"/>
                  <a:gd name="T21" fmla="*/ 255 h 279"/>
                  <a:gd name="T22" fmla="*/ 81 w 294"/>
                  <a:gd name="T23" fmla="*/ 132 h 279"/>
                  <a:gd name="T24" fmla="*/ 90 w 294"/>
                  <a:gd name="T25" fmla="*/ 161 h 279"/>
                  <a:gd name="T26" fmla="*/ 24 w 294"/>
                  <a:gd name="T27" fmla="*/ 217 h 279"/>
                  <a:gd name="T28" fmla="*/ 5 w 294"/>
                  <a:gd name="T29" fmla="*/ 180 h 279"/>
                  <a:gd name="T30" fmla="*/ 81 w 294"/>
                  <a:gd name="T31" fmla="*/ 29 h 279"/>
                  <a:gd name="T32" fmla="*/ 213 w 294"/>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4" h="279">
                    <a:moveTo>
                      <a:pt x="213" y="0"/>
                    </a:moveTo>
                    <a:cubicBezTo>
                      <a:pt x="226" y="42"/>
                      <a:pt x="246" y="39"/>
                      <a:pt x="270" y="76"/>
                    </a:cubicBezTo>
                    <a:cubicBezTo>
                      <a:pt x="278" y="101"/>
                      <a:pt x="294" y="137"/>
                      <a:pt x="270" y="161"/>
                    </a:cubicBezTo>
                    <a:cubicBezTo>
                      <a:pt x="261" y="170"/>
                      <a:pt x="245" y="154"/>
                      <a:pt x="232" y="151"/>
                    </a:cubicBezTo>
                    <a:cubicBezTo>
                      <a:pt x="204" y="73"/>
                      <a:pt x="236" y="184"/>
                      <a:pt x="241" y="199"/>
                    </a:cubicBezTo>
                    <a:cubicBezTo>
                      <a:pt x="238" y="221"/>
                      <a:pt x="242" y="245"/>
                      <a:pt x="232" y="265"/>
                    </a:cubicBezTo>
                    <a:cubicBezTo>
                      <a:pt x="227" y="274"/>
                      <a:pt x="212" y="279"/>
                      <a:pt x="203" y="274"/>
                    </a:cubicBezTo>
                    <a:cubicBezTo>
                      <a:pt x="194" y="270"/>
                      <a:pt x="197" y="255"/>
                      <a:pt x="194" y="246"/>
                    </a:cubicBezTo>
                    <a:cubicBezTo>
                      <a:pt x="184" y="208"/>
                      <a:pt x="178" y="170"/>
                      <a:pt x="166" y="132"/>
                    </a:cubicBezTo>
                    <a:cubicBezTo>
                      <a:pt x="158" y="198"/>
                      <a:pt x="170" y="231"/>
                      <a:pt x="118" y="265"/>
                    </a:cubicBezTo>
                    <a:cubicBezTo>
                      <a:pt x="109" y="262"/>
                      <a:pt x="93" y="265"/>
                      <a:pt x="90" y="255"/>
                    </a:cubicBezTo>
                    <a:cubicBezTo>
                      <a:pt x="79" y="215"/>
                      <a:pt x="81" y="173"/>
                      <a:pt x="81" y="132"/>
                    </a:cubicBezTo>
                    <a:cubicBezTo>
                      <a:pt x="81" y="122"/>
                      <a:pt x="87" y="151"/>
                      <a:pt x="90" y="161"/>
                    </a:cubicBezTo>
                    <a:cubicBezTo>
                      <a:pt x="76" y="204"/>
                      <a:pt x="61" y="193"/>
                      <a:pt x="24" y="217"/>
                    </a:cubicBezTo>
                    <a:cubicBezTo>
                      <a:pt x="18" y="205"/>
                      <a:pt x="7" y="194"/>
                      <a:pt x="5" y="180"/>
                    </a:cubicBezTo>
                    <a:cubicBezTo>
                      <a:pt x="0" y="137"/>
                      <a:pt x="43" y="54"/>
                      <a:pt x="81" y="29"/>
                    </a:cubicBezTo>
                    <a:cubicBezTo>
                      <a:pt x="118" y="4"/>
                      <a:pt x="171" y="15"/>
                      <a:pt x="213"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4729" name="Freeform 233"/>
              <p:cNvSpPr>
                <a:spLocks/>
              </p:cNvSpPr>
              <p:nvPr/>
            </p:nvSpPr>
            <p:spPr bwMode="auto">
              <a:xfrm flipH="1">
                <a:off x="982" y="1570"/>
                <a:ext cx="150" cy="136"/>
              </a:xfrm>
              <a:custGeom>
                <a:avLst/>
                <a:gdLst>
                  <a:gd name="T0" fmla="*/ 147 w 279"/>
                  <a:gd name="T1" fmla="*/ 0 h 302"/>
                  <a:gd name="T2" fmla="*/ 33 w 279"/>
                  <a:gd name="T3" fmla="*/ 47 h 302"/>
                  <a:gd name="T4" fmla="*/ 62 w 279"/>
                  <a:gd name="T5" fmla="*/ 113 h 302"/>
                  <a:gd name="T6" fmla="*/ 43 w 279"/>
                  <a:gd name="T7" fmla="*/ 142 h 302"/>
                  <a:gd name="T8" fmla="*/ 15 w 279"/>
                  <a:gd name="T9" fmla="*/ 160 h 302"/>
                  <a:gd name="T10" fmla="*/ 90 w 279"/>
                  <a:gd name="T11" fmla="*/ 208 h 302"/>
                  <a:gd name="T12" fmla="*/ 100 w 279"/>
                  <a:gd name="T13" fmla="*/ 236 h 302"/>
                  <a:gd name="T14" fmla="*/ 166 w 279"/>
                  <a:gd name="T15" fmla="*/ 264 h 302"/>
                  <a:gd name="T16" fmla="*/ 185 w 279"/>
                  <a:gd name="T17" fmla="*/ 283 h 302"/>
                  <a:gd name="T18" fmla="*/ 213 w 279"/>
                  <a:gd name="T19" fmla="*/ 302 h 302"/>
                  <a:gd name="T20" fmla="*/ 269 w 279"/>
                  <a:gd name="T21" fmla="*/ 227 h 302"/>
                  <a:gd name="T22" fmla="*/ 260 w 279"/>
                  <a:gd name="T23" fmla="*/ 28 h 302"/>
                  <a:gd name="T24" fmla="*/ 147 w 279"/>
                  <a:gd name="T25"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9" h="302">
                    <a:moveTo>
                      <a:pt x="147" y="0"/>
                    </a:moveTo>
                    <a:cubicBezTo>
                      <a:pt x="107" y="12"/>
                      <a:pt x="74" y="34"/>
                      <a:pt x="33" y="47"/>
                    </a:cubicBezTo>
                    <a:cubicBezTo>
                      <a:pt x="19" y="91"/>
                      <a:pt x="16" y="99"/>
                      <a:pt x="62" y="113"/>
                    </a:cubicBezTo>
                    <a:cubicBezTo>
                      <a:pt x="56" y="123"/>
                      <a:pt x="51" y="134"/>
                      <a:pt x="43" y="142"/>
                    </a:cubicBezTo>
                    <a:cubicBezTo>
                      <a:pt x="35" y="150"/>
                      <a:pt x="19" y="150"/>
                      <a:pt x="15" y="160"/>
                    </a:cubicBezTo>
                    <a:cubicBezTo>
                      <a:pt x="0" y="198"/>
                      <a:pt x="74" y="204"/>
                      <a:pt x="90" y="208"/>
                    </a:cubicBezTo>
                    <a:cubicBezTo>
                      <a:pt x="116" y="134"/>
                      <a:pt x="105" y="219"/>
                      <a:pt x="100" y="236"/>
                    </a:cubicBezTo>
                    <a:cubicBezTo>
                      <a:pt x="113" y="291"/>
                      <a:pt x="118" y="296"/>
                      <a:pt x="166" y="264"/>
                    </a:cubicBezTo>
                    <a:cubicBezTo>
                      <a:pt x="184" y="189"/>
                      <a:pt x="165" y="244"/>
                      <a:pt x="185" y="283"/>
                    </a:cubicBezTo>
                    <a:cubicBezTo>
                      <a:pt x="190" y="293"/>
                      <a:pt x="204" y="296"/>
                      <a:pt x="213" y="302"/>
                    </a:cubicBezTo>
                    <a:cubicBezTo>
                      <a:pt x="271" y="288"/>
                      <a:pt x="256" y="282"/>
                      <a:pt x="269" y="227"/>
                    </a:cubicBezTo>
                    <a:cubicBezTo>
                      <a:pt x="266" y="161"/>
                      <a:pt x="279" y="92"/>
                      <a:pt x="260" y="28"/>
                    </a:cubicBezTo>
                    <a:cubicBezTo>
                      <a:pt x="254" y="9"/>
                      <a:pt x="171" y="0"/>
                      <a:pt x="147"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4730" name="Freeform 234"/>
              <p:cNvSpPr>
                <a:spLocks/>
              </p:cNvSpPr>
              <p:nvPr/>
            </p:nvSpPr>
            <p:spPr bwMode="auto">
              <a:xfrm flipH="1">
                <a:off x="607" y="1270"/>
                <a:ext cx="170" cy="124"/>
              </a:xfrm>
              <a:custGeom>
                <a:avLst/>
                <a:gdLst>
                  <a:gd name="T0" fmla="*/ 9 w 453"/>
                  <a:gd name="T1" fmla="*/ 212 h 392"/>
                  <a:gd name="T2" fmla="*/ 66 w 453"/>
                  <a:gd name="T3" fmla="*/ 174 h 392"/>
                  <a:gd name="T4" fmla="*/ 104 w 453"/>
                  <a:gd name="T5" fmla="*/ 61 h 392"/>
                  <a:gd name="T6" fmla="*/ 132 w 453"/>
                  <a:gd name="T7" fmla="*/ 51 h 392"/>
                  <a:gd name="T8" fmla="*/ 198 w 453"/>
                  <a:gd name="T9" fmla="*/ 42 h 392"/>
                  <a:gd name="T10" fmla="*/ 377 w 453"/>
                  <a:gd name="T11" fmla="*/ 51 h 392"/>
                  <a:gd name="T12" fmla="*/ 425 w 453"/>
                  <a:gd name="T13" fmla="*/ 165 h 392"/>
                  <a:gd name="T14" fmla="*/ 453 w 453"/>
                  <a:gd name="T15" fmla="*/ 259 h 392"/>
                  <a:gd name="T16" fmla="*/ 425 w 453"/>
                  <a:gd name="T17" fmla="*/ 353 h 392"/>
                  <a:gd name="T18" fmla="*/ 330 w 453"/>
                  <a:gd name="T19" fmla="*/ 382 h 392"/>
                  <a:gd name="T20" fmla="*/ 113 w 453"/>
                  <a:gd name="T21" fmla="*/ 344 h 392"/>
                  <a:gd name="T22" fmla="*/ 104 w 453"/>
                  <a:gd name="T23" fmla="*/ 316 h 392"/>
                  <a:gd name="T24" fmla="*/ 47 w 453"/>
                  <a:gd name="T25" fmla="*/ 278 h 392"/>
                  <a:gd name="T26" fmla="*/ 37 w 453"/>
                  <a:gd name="T27" fmla="*/ 250 h 392"/>
                  <a:gd name="T28" fmla="*/ 9 w 453"/>
                  <a:gd name="T29" fmla="*/ 21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3" h="392">
                    <a:moveTo>
                      <a:pt x="9" y="212"/>
                    </a:moveTo>
                    <a:cubicBezTo>
                      <a:pt x="28" y="199"/>
                      <a:pt x="47" y="187"/>
                      <a:pt x="66" y="174"/>
                    </a:cubicBezTo>
                    <a:cubicBezTo>
                      <a:pt x="77" y="167"/>
                      <a:pt x="97" y="81"/>
                      <a:pt x="104" y="61"/>
                    </a:cubicBezTo>
                    <a:cubicBezTo>
                      <a:pt x="107" y="52"/>
                      <a:pt x="122" y="53"/>
                      <a:pt x="132" y="51"/>
                    </a:cubicBezTo>
                    <a:cubicBezTo>
                      <a:pt x="154" y="47"/>
                      <a:pt x="176" y="45"/>
                      <a:pt x="198" y="42"/>
                    </a:cubicBezTo>
                    <a:cubicBezTo>
                      <a:pt x="263" y="19"/>
                      <a:pt x="326" y="0"/>
                      <a:pt x="377" y="51"/>
                    </a:cubicBezTo>
                    <a:cubicBezTo>
                      <a:pt x="392" y="95"/>
                      <a:pt x="400" y="127"/>
                      <a:pt x="425" y="165"/>
                    </a:cubicBezTo>
                    <a:cubicBezTo>
                      <a:pt x="447" y="233"/>
                      <a:pt x="438" y="202"/>
                      <a:pt x="453" y="259"/>
                    </a:cubicBezTo>
                    <a:cubicBezTo>
                      <a:pt x="450" y="271"/>
                      <a:pt x="429" y="352"/>
                      <a:pt x="425" y="353"/>
                    </a:cubicBezTo>
                    <a:cubicBezTo>
                      <a:pt x="356" y="376"/>
                      <a:pt x="387" y="367"/>
                      <a:pt x="330" y="382"/>
                    </a:cubicBezTo>
                    <a:cubicBezTo>
                      <a:pt x="229" y="376"/>
                      <a:pt x="184" y="392"/>
                      <a:pt x="113" y="344"/>
                    </a:cubicBezTo>
                    <a:cubicBezTo>
                      <a:pt x="110" y="335"/>
                      <a:pt x="111" y="323"/>
                      <a:pt x="104" y="316"/>
                    </a:cubicBezTo>
                    <a:cubicBezTo>
                      <a:pt x="88" y="300"/>
                      <a:pt x="47" y="278"/>
                      <a:pt x="47" y="278"/>
                    </a:cubicBezTo>
                    <a:cubicBezTo>
                      <a:pt x="44" y="269"/>
                      <a:pt x="44" y="257"/>
                      <a:pt x="37" y="250"/>
                    </a:cubicBezTo>
                    <a:cubicBezTo>
                      <a:pt x="0" y="213"/>
                      <a:pt x="9" y="272"/>
                      <a:pt x="9" y="212"/>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4731" name="Oval 235"/>
              <p:cNvSpPr>
                <a:spLocks noChangeArrowheads="1"/>
              </p:cNvSpPr>
              <p:nvPr/>
            </p:nvSpPr>
            <p:spPr bwMode="auto">
              <a:xfrm flipH="1">
                <a:off x="487" y="899"/>
                <a:ext cx="404" cy="390"/>
              </a:xfrm>
              <a:prstGeom prst="ellipse">
                <a:avLst/>
              </a:prstGeom>
              <a:noFill/>
              <a:ln w="25400">
                <a:solidFill>
                  <a:schemeClr val="bg1"/>
                </a:solidFill>
                <a:round/>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4732" name="Freeform 236"/>
              <p:cNvSpPr>
                <a:spLocks/>
              </p:cNvSpPr>
              <p:nvPr/>
            </p:nvSpPr>
            <p:spPr bwMode="auto">
              <a:xfrm flipH="1">
                <a:off x="422" y="1325"/>
                <a:ext cx="643" cy="400"/>
              </a:xfrm>
              <a:custGeom>
                <a:avLst/>
                <a:gdLst>
                  <a:gd name="T0" fmla="*/ 787 w 1716"/>
                  <a:gd name="T1" fmla="*/ 38 h 1261"/>
                  <a:gd name="T2" fmla="*/ 853 w 1716"/>
                  <a:gd name="T3" fmla="*/ 76 h 1261"/>
                  <a:gd name="T4" fmla="*/ 881 w 1716"/>
                  <a:gd name="T5" fmla="*/ 104 h 1261"/>
                  <a:gd name="T6" fmla="*/ 966 w 1716"/>
                  <a:gd name="T7" fmla="*/ 142 h 1261"/>
                  <a:gd name="T8" fmla="*/ 1127 w 1716"/>
                  <a:gd name="T9" fmla="*/ 132 h 1261"/>
                  <a:gd name="T10" fmla="*/ 1174 w 1716"/>
                  <a:gd name="T11" fmla="*/ 85 h 1261"/>
                  <a:gd name="T12" fmla="*/ 1230 w 1716"/>
                  <a:gd name="T13" fmla="*/ 47 h 1261"/>
                  <a:gd name="T14" fmla="*/ 1363 w 1716"/>
                  <a:gd name="T15" fmla="*/ 9 h 1261"/>
                  <a:gd name="T16" fmla="*/ 1495 w 1716"/>
                  <a:gd name="T17" fmla="*/ 19 h 1261"/>
                  <a:gd name="T18" fmla="*/ 1561 w 1716"/>
                  <a:gd name="T19" fmla="*/ 151 h 1261"/>
                  <a:gd name="T20" fmla="*/ 1589 w 1716"/>
                  <a:gd name="T21" fmla="*/ 425 h 1261"/>
                  <a:gd name="T22" fmla="*/ 1618 w 1716"/>
                  <a:gd name="T23" fmla="*/ 585 h 1261"/>
                  <a:gd name="T24" fmla="*/ 1646 w 1716"/>
                  <a:gd name="T25" fmla="*/ 793 h 1261"/>
                  <a:gd name="T26" fmla="*/ 1703 w 1716"/>
                  <a:gd name="T27" fmla="*/ 1020 h 1261"/>
                  <a:gd name="T28" fmla="*/ 1712 w 1716"/>
                  <a:gd name="T29" fmla="*/ 1058 h 1261"/>
                  <a:gd name="T30" fmla="*/ 1684 w 1716"/>
                  <a:gd name="T31" fmla="*/ 1076 h 1261"/>
                  <a:gd name="T32" fmla="*/ 1561 w 1716"/>
                  <a:gd name="T33" fmla="*/ 1086 h 1261"/>
                  <a:gd name="T34" fmla="*/ 1372 w 1716"/>
                  <a:gd name="T35" fmla="*/ 500 h 1261"/>
                  <a:gd name="T36" fmla="*/ 1334 w 1716"/>
                  <a:gd name="T37" fmla="*/ 406 h 1261"/>
                  <a:gd name="T38" fmla="*/ 1334 w 1716"/>
                  <a:gd name="T39" fmla="*/ 1228 h 1261"/>
                  <a:gd name="T40" fmla="*/ 1230 w 1716"/>
                  <a:gd name="T41" fmla="*/ 1218 h 1261"/>
                  <a:gd name="T42" fmla="*/ 985 w 1716"/>
                  <a:gd name="T43" fmla="*/ 1143 h 1261"/>
                  <a:gd name="T44" fmla="*/ 560 w 1716"/>
                  <a:gd name="T45" fmla="*/ 1143 h 1261"/>
                  <a:gd name="T46" fmla="*/ 569 w 1716"/>
                  <a:gd name="T47" fmla="*/ 1114 h 1261"/>
                  <a:gd name="T48" fmla="*/ 607 w 1716"/>
                  <a:gd name="T49" fmla="*/ 519 h 1261"/>
                  <a:gd name="T50" fmla="*/ 598 w 1716"/>
                  <a:gd name="T51" fmla="*/ 425 h 1261"/>
                  <a:gd name="T52" fmla="*/ 560 w 1716"/>
                  <a:gd name="T53" fmla="*/ 491 h 1261"/>
                  <a:gd name="T54" fmla="*/ 447 w 1716"/>
                  <a:gd name="T55" fmla="*/ 614 h 1261"/>
                  <a:gd name="T56" fmla="*/ 418 w 1716"/>
                  <a:gd name="T57" fmla="*/ 642 h 1261"/>
                  <a:gd name="T58" fmla="*/ 305 w 1716"/>
                  <a:gd name="T59" fmla="*/ 822 h 1261"/>
                  <a:gd name="T60" fmla="*/ 229 w 1716"/>
                  <a:gd name="T61" fmla="*/ 954 h 1261"/>
                  <a:gd name="T62" fmla="*/ 154 w 1716"/>
                  <a:gd name="T63" fmla="*/ 925 h 1261"/>
                  <a:gd name="T64" fmla="*/ 144 w 1716"/>
                  <a:gd name="T65" fmla="*/ 897 h 1261"/>
                  <a:gd name="T66" fmla="*/ 116 w 1716"/>
                  <a:gd name="T67" fmla="*/ 878 h 1261"/>
                  <a:gd name="T68" fmla="*/ 88 w 1716"/>
                  <a:gd name="T69" fmla="*/ 850 h 1261"/>
                  <a:gd name="T70" fmla="*/ 22 w 1716"/>
                  <a:gd name="T71" fmla="*/ 812 h 1261"/>
                  <a:gd name="T72" fmla="*/ 3 w 1716"/>
                  <a:gd name="T73" fmla="*/ 774 h 1261"/>
                  <a:gd name="T74" fmla="*/ 41 w 1716"/>
                  <a:gd name="T75" fmla="*/ 718 h 1261"/>
                  <a:gd name="T76" fmla="*/ 211 w 1716"/>
                  <a:gd name="T77" fmla="*/ 557 h 1261"/>
                  <a:gd name="T78" fmla="*/ 296 w 1716"/>
                  <a:gd name="T79" fmla="*/ 415 h 1261"/>
                  <a:gd name="T80" fmla="*/ 390 w 1716"/>
                  <a:gd name="T81" fmla="*/ 330 h 1261"/>
                  <a:gd name="T82" fmla="*/ 541 w 1716"/>
                  <a:gd name="T83" fmla="*/ 151 h 1261"/>
                  <a:gd name="T84" fmla="*/ 617 w 1716"/>
                  <a:gd name="T85" fmla="*/ 47 h 1261"/>
                  <a:gd name="T86" fmla="*/ 711 w 1716"/>
                  <a:gd name="T87" fmla="*/ 0 h 1261"/>
                  <a:gd name="T88" fmla="*/ 758 w 1716"/>
                  <a:gd name="T89" fmla="*/ 9 h 1261"/>
                  <a:gd name="T90" fmla="*/ 787 w 1716"/>
                  <a:gd name="T91" fmla="*/ 38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16" h="1261">
                    <a:moveTo>
                      <a:pt x="787" y="38"/>
                    </a:moveTo>
                    <a:cubicBezTo>
                      <a:pt x="808" y="52"/>
                      <a:pt x="832" y="61"/>
                      <a:pt x="853" y="76"/>
                    </a:cubicBezTo>
                    <a:cubicBezTo>
                      <a:pt x="864" y="84"/>
                      <a:pt x="871" y="96"/>
                      <a:pt x="881" y="104"/>
                    </a:cubicBezTo>
                    <a:cubicBezTo>
                      <a:pt x="907" y="125"/>
                      <a:pt x="935" y="131"/>
                      <a:pt x="966" y="142"/>
                    </a:cubicBezTo>
                    <a:cubicBezTo>
                      <a:pt x="1020" y="139"/>
                      <a:pt x="1074" y="140"/>
                      <a:pt x="1127" y="132"/>
                    </a:cubicBezTo>
                    <a:cubicBezTo>
                      <a:pt x="1158" y="127"/>
                      <a:pt x="1155" y="102"/>
                      <a:pt x="1174" y="85"/>
                    </a:cubicBezTo>
                    <a:cubicBezTo>
                      <a:pt x="1191" y="70"/>
                      <a:pt x="1211" y="60"/>
                      <a:pt x="1230" y="47"/>
                    </a:cubicBezTo>
                    <a:cubicBezTo>
                      <a:pt x="1268" y="21"/>
                      <a:pt x="1363" y="9"/>
                      <a:pt x="1363" y="9"/>
                    </a:cubicBezTo>
                    <a:cubicBezTo>
                      <a:pt x="1407" y="12"/>
                      <a:pt x="1453" y="6"/>
                      <a:pt x="1495" y="19"/>
                    </a:cubicBezTo>
                    <a:cubicBezTo>
                      <a:pt x="1515" y="25"/>
                      <a:pt x="1554" y="130"/>
                      <a:pt x="1561" y="151"/>
                    </a:cubicBezTo>
                    <a:cubicBezTo>
                      <a:pt x="1573" y="242"/>
                      <a:pt x="1577" y="334"/>
                      <a:pt x="1589" y="425"/>
                    </a:cubicBezTo>
                    <a:cubicBezTo>
                      <a:pt x="1596" y="479"/>
                      <a:pt x="1612" y="531"/>
                      <a:pt x="1618" y="585"/>
                    </a:cubicBezTo>
                    <a:cubicBezTo>
                      <a:pt x="1626" y="654"/>
                      <a:pt x="1623" y="728"/>
                      <a:pt x="1646" y="793"/>
                    </a:cubicBezTo>
                    <a:cubicBezTo>
                      <a:pt x="1656" y="874"/>
                      <a:pt x="1666" y="947"/>
                      <a:pt x="1703" y="1020"/>
                    </a:cubicBezTo>
                    <a:cubicBezTo>
                      <a:pt x="1706" y="1033"/>
                      <a:pt x="1716" y="1046"/>
                      <a:pt x="1712" y="1058"/>
                    </a:cubicBezTo>
                    <a:cubicBezTo>
                      <a:pt x="1708" y="1069"/>
                      <a:pt x="1695" y="1074"/>
                      <a:pt x="1684" y="1076"/>
                    </a:cubicBezTo>
                    <a:cubicBezTo>
                      <a:pt x="1644" y="1083"/>
                      <a:pt x="1602" y="1083"/>
                      <a:pt x="1561" y="1086"/>
                    </a:cubicBezTo>
                    <a:cubicBezTo>
                      <a:pt x="1188" y="1206"/>
                      <a:pt x="1574" y="637"/>
                      <a:pt x="1372" y="500"/>
                    </a:cubicBezTo>
                    <a:cubicBezTo>
                      <a:pt x="1362" y="467"/>
                      <a:pt x="1345" y="438"/>
                      <a:pt x="1334" y="406"/>
                    </a:cubicBezTo>
                    <a:cubicBezTo>
                      <a:pt x="1335" y="463"/>
                      <a:pt x="1358" y="1148"/>
                      <a:pt x="1334" y="1228"/>
                    </a:cubicBezTo>
                    <a:cubicBezTo>
                      <a:pt x="1324" y="1261"/>
                      <a:pt x="1265" y="1222"/>
                      <a:pt x="1230" y="1218"/>
                    </a:cubicBezTo>
                    <a:cubicBezTo>
                      <a:pt x="1144" y="1207"/>
                      <a:pt x="1066" y="1169"/>
                      <a:pt x="985" y="1143"/>
                    </a:cubicBezTo>
                    <a:cubicBezTo>
                      <a:pt x="918" y="1145"/>
                      <a:pt x="647" y="1162"/>
                      <a:pt x="560" y="1143"/>
                    </a:cubicBezTo>
                    <a:cubicBezTo>
                      <a:pt x="550" y="1141"/>
                      <a:pt x="566" y="1124"/>
                      <a:pt x="569" y="1114"/>
                    </a:cubicBezTo>
                    <a:cubicBezTo>
                      <a:pt x="576" y="920"/>
                      <a:pt x="562" y="710"/>
                      <a:pt x="607" y="519"/>
                    </a:cubicBezTo>
                    <a:cubicBezTo>
                      <a:pt x="604" y="488"/>
                      <a:pt x="616" y="451"/>
                      <a:pt x="598" y="425"/>
                    </a:cubicBezTo>
                    <a:cubicBezTo>
                      <a:pt x="584" y="404"/>
                      <a:pt x="561" y="489"/>
                      <a:pt x="560" y="491"/>
                    </a:cubicBezTo>
                    <a:cubicBezTo>
                      <a:pt x="534" y="543"/>
                      <a:pt x="488" y="573"/>
                      <a:pt x="447" y="614"/>
                    </a:cubicBezTo>
                    <a:cubicBezTo>
                      <a:pt x="437" y="624"/>
                      <a:pt x="418" y="642"/>
                      <a:pt x="418" y="642"/>
                    </a:cubicBezTo>
                    <a:cubicBezTo>
                      <a:pt x="386" y="707"/>
                      <a:pt x="341" y="760"/>
                      <a:pt x="305" y="822"/>
                    </a:cubicBezTo>
                    <a:cubicBezTo>
                      <a:pt x="278" y="869"/>
                      <a:pt x="275" y="924"/>
                      <a:pt x="229" y="954"/>
                    </a:cubicBezTo>
                    <a:cubicBezTo>
                      <a:pt x="215" y="949"/>
                      <a:pt x="160" y="930"/>
                      <a:pt x="154" y="925"/>
                    </a:cubicBezTo>
                    <a:cubicBezTo>
                      <a:pt x="146" y="919"/>
                      <a:pt x="150" y="905"/>
                      <a:pt x="144" y="897"/>
                    </a:cubicBezTo>
                    <a:cubicBezTo>
                      <a:pt x="137" y="888"/>
                      <a:pt x="125" y="885"/>
                      <a:pt x="116" y="878"/>
                    </a:cubicBezTo>
                    <a:cubicBezTo>
                      <a:pt x="106" y="870"/>
                      <a:pt x="99" y="858"/>
                      <a:pt x="88" y="850"/>
                    </a:cubicBezTo>
                    <a:cubicBezTo>
                      <a:pt x="67" y="835"/>
                      <a:pt x="43" y="826"/>
                      <a:pt x="22" y="812"/>
                    </a:cubicBezTo>
                    <a:cubicBezTo>
                      <a:pt x="16" y="799"/>
                      <a:pt x="0" y="788"/>
                      <a:pt x="3" y="774"/>
                    </a:cubicBezTo>
                    <a:cubicBezTo>
                      <a:pt x="7" y="752"/>
                      <a:pt x="28" y="737"/>
                      <a:pt x="41" y="718"/>
                    </a:cubicBezTo>
                    <a:cubicBezTo>
                      <a:pt x="80" y="661"/>
                      <a:pt x="156" y="598"/>
                      <a:pt x="211" y="557"/>
                    </a:cubicBezTo>
                    <a:cubicBezTo>
                      <a:pt x="235" y="521"/>
                      <a:pt x="267" y="444"/>
                      <a:pt x="296" y="415"/>
                    </a:cubicBezTo>
                    <a:cubicBezTo>
                      <a:pt x="325" y="386"/>
                      <a:pt x="363" y="357"/>
                      <a:pt x="390" y="330"/>
                    </a:cubicBezTo>
                    <a:cubicBezTo>
                      <a:pt x="445" y="275"/>
                      <a:pt x="475" y="196"/>
                      <a:pt x="541" y="151"/>
                    </a:cubicBezTo>
                    <a:cubicBezTo>
                      <a:pt x="558" y="105"/>
                      <a:pt x="577" y="73"/>
                      <a:pt x="617" y="47"/>
                    </a:cubicBezTo>
                    <a:cubicBezTo>
                      <a:pt x="643" y="6"/>
                      <a:pt x="663" y="9"/>
                      <a:pt x="711" y="0"/>
                    </a:cubicBezTo>
                    <a:cubicBezTo>
                      <a:pt x="727" y="3"/>
                      <a:pt x="745" y="0"/>
                      <a:pt x="758" y="9"/>
                    </a:cubicBezTo>
                    <a:cubicBezTo>
                      <a:pt x="810" y="44"/>
                      <a:pt x="733" y="38"/>
                      <a:pt x="787" y="38"/>
                    </a:cubicBezTo>
                    <a:close/>
                  </a:path>
                </a:pathLst>
              </a:custGeom>
              <a:solidFill>
                <a:srgbClr val="9933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4733" name="Freeform 237"/>
              <p:cNvSpPr>
                <a:spLocks/>
              </p:cNvSpPr>
              <p:nvPr/>
            </p:nvSpPr>
            <p:spPr bwMode="auto">
              <a:xfrm flipH="1">
                <a:off x="515" y="1652"/>
                <a:ext cx="366" cy="423"/>
              </a:xfrm>
              <a:custGeom>
                <a:avLst/>
                <a:gdLst>
                  <a:gd name="T0" fmla="*/ 75 w 680"/>
                  <a:gd name="T1" fmla="*/ 83 h 940"/>
                  <a:gd name="T2" fmla="*/ 66 w 680"/>
                  <a:gd name="T3" fmla="*/ 206 h 940"/>
                  <a:gd name="T4" fmla="*/ 56 w 680"/>
                  <a:gd name="T5" fmla="*/ 593 h 940"/>
                  <a:gd name="T6" fmla="*/ 0 w 680"/>
                  <a:gd name="T7" fmla="*/ 848 h 940"/>
                  <a:gd name="T8" fmla="*/ 28 w 680"/>
                  <a:gd name="T9" fmla="*/ 858 h 940"/>
                  <a:gd name="T10" fmla="*/ 293 w 680"/>
                  <a:gd name="T11" fmla="*/ 839 h 940"/>
                  <a:gd name="T12" fmla="*/ 302 w 680"/>
                  <a:gd name="T13" fmla="*/ 773 h 940"/>
                  <a:gd name="T14" fmla="*/ 321 w 680"/>
                  <a:gd name="T15" fmla="*/ 688 h 940"/>
                  <a:gd name="T16" fmla="*/ 330 w 680"/>
                  <a:gd name="T17" fmla="*/ 348 h 940"/>
                  <a:gd name="T18" fmla="*/ 340 w 680"/>
                  <a:gd name="T19" fmla="*/ 376 h 940"/>
                  <a:gd name="T20" fmla="*/ 349 w 680"/>
                  <a:gd name="T21" fmla="*/ 471 h 940"/>
                  <a:gd name="T22" fmla="*/ 368 w 680"/>
                  <a:gd name="T23" fmla="*/ 612 h 940"/>
                  <a:gd name="T24" fmla="*/ 377 w 680"/>
                  <a:gd name="T25" fmla="*/ 924 h 940"/>
                  <a:gd name="T26" fmla="*/ 491 w 680"/>
                  <a:gd name="T27" fmla="*/ 905 h 940"/>
                  <a:gd name="T28" fmla="*/ 547 w 680"/>
                  <a:gd name="T29" fmla="*/ 886 h 940"/>
                  <a:gd name="T30" fmla="*/ 680 w 680"/>
                  <a:gd name="T31" fmla="*/ 886 h 940"/>
                  <a:gd name="T32" fmla="*/ 623 w 680"/>
                  <a:gd name="T33" fmla="*/ 659 h 940"/>
                  <a:gd name="T34" fmla="*/ 557 w 680"/>
                  <a:gd name="T35" fmla="*/ 168 h 940"/>
                  <a:gd name="T36" fmla="*/ 481 w 680"/>
                  <a:gd name="T37" fmla="*/ 46 h 940"/>
                  <a:gd name="T38" fmla="*/ 170 w 680"/>
                  <a:gd name="T39" fmla="*/ 27 h 940"/>
                  <a:gd name="T40" fmla="*/ 94 w 680"/>
                  <a:gd name="T41" fmla="*/ 55 h 940"/>
                  <a:gd name="T42" fmla="*/ 75 w 680"/>
                  <a:gd name="T43" fmla="*/ 83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80" h="940">
                    <a:moveTo>
                      <a:pt x="75" y="83"/>
                    </a:moveTo>
                    <a:cubicBezTo>
                      <a:pt x="72" y="124"/>
                      <a:pt x="68" y="165"/>
                      <a:pt x="66" y="206"/>
                    </a:cubicBezTo>
                    <a:cubicBezTo>
                      <a:pt x="61" y="335"/>
                      <a:pt x="62" y="464"/>
                      <a:pt x="56" y="593"/>
                    </a:cubicBezTo>
                    <a:cubicBezTo>
                      <a:pt x="52" y="675"/>
                      <a:pt x="19" y="767"/>
                      <a:pt x="0" y="848"/>
                    </a:cubicBezTo>
                    <a:cubicBezTo>
                      <a:pt x="9" y="851"/>
                      <a:pt x="18" y="858"/>
                      <a:pt x="28" y="858"/>
                    </a:cubicBezTo>
                    <a:cubicBezTo>
                      <a:pt x="117" y="855"/>
                      <a:pt x="208" y="865"/>
                      <a:pt x="293" y="839"/>
                    </a:cubicBezTo>
                    <a:cubicBezTo>
                      <a:pt x="314" y="832"/>
                      <a:pt x="298" y="795"/>
                      <a:pt x="302" y="773"/>
                    </a:cubicBezTo>
                    <a:cubicBezTo>
                      <a:pt x="307" y="744"/>
                      <a:pt x="315" y="716"/>
                      <a:pt x="321" y="688"/>
                    </a:cubicBezTo>
                    <a:cubicBezTo>
                      <a:pt x="324" y="575"/>
                      <a:pt x="323" y="461"/>
                      <a:pt x="330" y="348"/>
                    </a:cubicBezTo>
                    <a:cubicBezTo>
                      <a:pt x="331" y="338"/>
                      <a:pt x="338" y="366"/>
                      <a:pt x="340" y="376"/>
                    </a:cubicBezTo>
                    <a:cubicBezTo>
                      <a:pt x="345" y="407"/>
                      <a:pt x="346" y="439"/>
                      <a:pt x="349" y="471"/>
                    </a:cubicBezTo>
                    <a:cubicBezTo>
                      <a:pt x="359" y="574"/>
                      <a:pt x="354" y="538"/>
                      <a:pt x="368" y="612"/>
                    </a:cubicBezTo>
                    <a:cubicBezTo>
                      <a:pt x="371" y="716"/>
                      <a:pt x="346" y="825"/>
                      <a:pt x="377" y="924"/>
                    </a:cubicBezTo>
                    <a:cubicBezTo>
                      <a:pt x="382" y="940"/>
                      <a:pt x="467" y="913"/>
                      <a:pt x="491" y="905"/>
                    </a:cubicBezTo>
                    <a:cubicBezTo>
                      <a:pt x="510" y="899"/>
                      <a:pt x="547" y="886"/>
                      <a:pt x="547" y="886"/>
                    </a:cubicBezTo>
                    <a:cubicBezTo>
                      <a:pt x="620" y="900"/>
                      <a:pt x="605" y="911"/>
                      <a:pt x="680" y="886"/>
                    </a:cubicBezTo>
                    <a:cubicBezTo>
                      <a:pt x="664" y="809"/>
                      <a:pt x="646" y="735"/>
                      <a:pt x="623" y="659"/>
                    </a:cubicBezTo>
                    <a:cubicBezTo>
                      <a:pt x="616" y="486"/>
                      <a:pt x="604" y="333"/>
                      <a:pt x="557" y="168"/>
                    </a:cubicBezTo>
                    <a:cubicBezTo>
                      <a:pt x="543" y="119"/>
                      <a:pt x="529" y="69"/>
                      <a:pt x="481" y="46"/>
                    </a:cubicBezTo>
                    <a:cubicBezTo>
                      <a:pt x="388" y="0"/>
                      <a:pt x="274" y="30"/>
                      <a:pt x="170" y="27"/>
                    </a:cubicBezTo>
                    <a:cubicBezTo>
                      <a:pt x="144" y="32"/>
                      <a:pt x="113" y="32"/>
                      <a:pt x="94" y="55"/>
                    </a:cubicBezTo>
                    <a:cubicBezTo>
                      <a:pt x="69" y="86"/>
                      <a:pt x="100" y="83"/>
                      <a:pt x="75" y="83"/>
                    </a:cubicBezTo>
                    <a:close/>
                  </a:path>
                </a:pathLst>
              </a:custGeom>
              <a:solidFill>
                <a:srgbClr val="0033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4734" name="Oval 238"/>
              <p:cNvSpPr>
                <a:spLocks noChangeArrowheads="1"/>
              </p:cNvSpPr>
              <p:nvPr/>
            </p:nvSpPr>
            <p:spPr bwMode="auto">
              <a:xfrm flipH="1">
                <a:off x="641" y="1090"/>
                <a:ext cx="48" cy="51"/>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4735" name="Oval 239"/>
              <p:cNvSpPr>
                <a:spLocks noChangeArrowheads="1"/>
              </p:cNvSpPr>
              <p:nvPr/>
            </p:nvSpPr>
            <p:spPr bwMode="auto">
              <a:xfrm>
                <a:off x="510" y="930"/>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4736" name="Oval 240"/>
              <p:cNvSpPr>
                <a:spLocks noChangeArrowheads="1"/>
              </p:cNvSpPr>
              <p:nvPr/>
            </p:nvSpPr>
            <p:spPr bwMode="auto">
              <a:xfrm>
                <a:off x="666" y="870"/>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4737" name="Oval 241"/>
              <p:cNvSpPr>
                <a:spLocks noChangeArrowheads="1"/>
              </p:cNvSpPr>
              <p:nvPr/>
            </p:nvSpPr>
            <p:spPr bwMode="auto">
              <a:xfrm>
                <a:off x="816" y="954"/>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4738" name="Oval 242"/>
              <p:cNvSpPr>
                <a:spLocks noChangeArrowheads="1"/>
              </p:cNvSpPr>
              <p:nvPr/>
            </p:nvSpPr>
            <p:spPr bwMode="auto">
              <a:xfrm>
                <a:off x="858" y="1122"/>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4739" name="Oval 243"/>
              <p:cNvSpPr>
                <a:spLocks noChangeArrowheads="1"/>
              </p:cNvSpPr>
              <p:nvPr/>
            </p:nvSpPr>
            <p:spPr bwMode="auto">
              <a:xfrm>
                <a:off x="450" y="1086"/>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4740" name="Oval 244"/>
              <p:cNvSpPr>
                <a:spLocks noChangeArrowheads="1"/>
              </p:cNvSpPr>
              <p:nvPr/>
            </p:nvSpPr>
            <p:spPr bwMode="auto">
              <a:xfrm>
                <a:off x="522" y="1212"/>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4741" name="Oval 245"/>
              <p:cNvSpPr>
                <a:spLocks noChangeArrowheads="1"/>
              </p:cNvSpPr>
              <p:nvPr/>
            </p:nvSpPr>
            <p:spPr bwMode="auto">
              <a:xfrm>
                <a:off x="774" y="1230"/>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34742" name="Text Box 246"/>
            <p:cNvSpPr txBox="1">
              <a:spLocks noChangeArrowheads="1"/>
            </p:cNvSpPr>
            <p:nvPr/>
          </p:nvSpPr>
          <p:spPr bwMode="auto">
            <a:xfrm>
              <a:off x="372" y="276"/>
              <a:ext cx="2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t>Cl</a:t>
              </a:r>
            </a:p>
          </p:txBody>
        </p:sp>
      </p:grpSp>
    </p:spTree>
    <p:extLst>
      <p:ext uri="{BB962C8B-B14F-4D97-AF65-F5344CB8AC3E}">
        <p14:creationId xmlns:p14="http://schemas.microsoft.com/office/powerpoint/2010/main" val="12425872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34499"/>
                                        </p:tgtEl>
                                        <p:attrNameLst>
                                          <p:attrName>style.visibility</p:attrName>
                                        </p:attrNameLst>
                                      </p:cBhvr>
                                      <p:to>
                                        <p:strVal val="visible"/>
                                      </p:to>
                                    </p:set>
                                    <p:animEffect transition="in" filter="wipe(up)">
                                      <p:cBhvr>
                                        <p:cTn id="7" dur="500"/>
                                        <p:tgtEl>
                                          <p:spTgt spid="2344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234705"/>
                                        </p:tgtEl>
                                        <p:attrNameLst>
                                          <p:attrName>style.visibility</p:attrName>
                                        </p:attrNameLst>
                                      </p:cBhvr>
                                      <p:to>
                                        <p:strVal val="visible"/>
                                      </p:to>
                                    </p:set>
                                    <p:anim calcmode="lin" valueType="num">
                                      <p:cBhvr additive="base">
                                        <p:cTn id="12" dur="500" fill="hold"/>
                                        <p:tgtEl>
                                          <p:spTgt spid="234705"/>
                                        </p:tgtEl>
                                        <p:attrNameLst>
                                          <p:attrName>ppt_x</p:attrName>
                                        </p:attrNameLst>
                                      </p:cBhvr>
                                      <p:tavLst>
                                        <p:tav tm="0">
                                          <p:val>
                                            <p:strVal val="0-#ppt_w/2"/>
                                          </p:val>
                                        </p:tav>
                                        <p:tav tm="100000">
                                          <p:val>
                                            <p:strVal val="#ppt_x"/>
                                          </p:val>
                                        </p:tav>
                                      </p:tavLst>
                                    </p:anim>
                                    <p:anim calcmode="lin" valueType="num">
                                      <p:cBhvr additive="base">
                                        <p:cTn id="13" dur="500" fill="hold"/>
                                        <p:tgtEl>
                                          <p:spTgt spid="234705"/>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34703"/>
                                        </p:tgtEl>
                                        <p:attrNameLst>
                                          <p:attrName>style.visibility</p:attrName>
                                        </p:attrNameLst>
                                      </p:cBhvr>
                                      <p:to>
                                        <p:strVal val="visible"/>
                                      </p:to>
                                    </p:set>
                                    <p:animEffect transition="in" filter="wipe(left)">
                                      <p:cBhvr>
                                        <p:cTn id="18" dur="500"/>
                                        <p:tgtEl>
                                          <p:spTgt spid="23470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nodeType="clickEffect">
                                  <p:stCondLst>
                                    <p:cond delay="0"/>
                                  </p:stCondLst>
                                  <p:childTnLst>
                                    <p:set>
                                      <p:cBhvr>
                                        <p:cTn id="22" dur="1" fill="hold">
                                          <p:stCondLst>
                                            <p:cond delay="0"/>
                                          </p:stCondLst>
                                        </p:cTn>
                                        <p:tgtEl>
                                          <p:spTgt spid="234724"/>
                                        </p:tgtEl>
                                        <p:attrNameLst>
                                          <p:attrName>style.visibility</p:attrName>
                                        </p:attrNameLst>
                                      </p:cBhvr>
                                      <p:to>
                                        <p:strVal val="visible"/>
                                      </p:to>
                                    </p:set>
                                    <p:anim calcmode="lin" valueType="num">
                                      <p:cBhvr additive="base">
                                        <p:cTn id="23" dur="500" fill="hold"/>
                                        <p:tgtEl>
                                          <p:spTgt spid="234724"/>
                                        </p:tgtEl>
                                        <p:attrNameLst>
                                          <p:attrName>ppt_x</p:attrName>
                                        </p:attrNameLst>
                                      </p:cBhvr>
                                      <p:tavLst>
                                        <p:tav tm="0">
                                          <p:val>
                                            <p:strVal val="1+#ppt_w/2"/>
                                          </p:val>
                                        </p:tav>
                                        <p:tav tm="100000">
                                          <p:val>
                                            <p:strVal val="#ppt_x"/>
                                          </p:val>
                                        </p:tav>
                                      </p:tavLst>
                                    </p:anim>
                                    <p:anim calcmode="lin" valueType="num">
                                      <p:cBhvr additive="base">
                                        <p:cTn id="24" dur="500" fill="hold"/>
                                        <p:tgtEl>
                                          <p:spTgt spid="234724"/>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2" fill="hold" grpId="0" nodeType="clickEffect">
                                  <p:stCondLst>
                                    <p:cond delay="0"/>
                                  </p:stCondLst>
                                  <p:childTnLst>
                                    <p:set>
                                      <p:cBhvr>
                                        <p:cTn id="28" dur="1" fill="hold">
                                          <p:stCondLst>
                                            <p:cond delay="0"/>
                                          </p:stCondLst>
                                        </p:cTn>
                                        <p:tgtEl>
                                          <p:spTgt spid="234704"/>
                                        </p:tgtEl>
                                        <p:attrNameLst>
                                          <p:attrName>style.visibility</p:attrName>
                                        </p:attrNameLst>
                                      </p:cBhvr>
                                      <p:to>
                                        <p:strVal val="visible"/>
                                      </p:to>
                                    </p:set>
                                    <p:animEffect transition="in" filter="wipe(right)">
                                      <p:cBhvr>
                                        <p:cTn id="29" dur="500"/>
                                        <p:tgtEl>
                                          <p:spTgt spid="234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703" grpId="0" animBg="1" autoUpdateAnimBg="0"/>
      <p:bldP spid="234704"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Date Placeholder 2"/>
          <p:cNvSpPr>
            <a:spLocks noGrp="1"/>
          </p:cNvSpPr>
          <p:nvPr>
            <p:ph type="dt" sz="half" idx="10"/>
          </p:nvPr>
        </p:nvSpPr>
        <p:spPr/>
        <p:txBody>
          <a:bodyPr/>
          <a:lstStyle/>
          <a:p>
            <a:fld id="{0B29A0C2-C7E4-40CF-8223-EED9A0A17FF4}" type="datetime1">
              <a:rPr lang="en-GB" altLang="en-US"/>
              <a:pPr/>
              <a:t>02/06/2020</a:t>
            </a:fld>
            <a:endParaRPr lang="en-GB" altLang="en-US"/>
          </a:p>
        </p:txBody>
      </p:sp>
      <p:sp>
        <p:nvSpPr>
          <p:cNvPr id="235522" name="Rectangle 2"/>
          <p:cNvSpPr>
            <a:spLocks noGrp="1" noChangeArrowheads="1"/>
          </p:cNvSpPr>
          <p:nvPr>
            <p:ph type="title"/>
          </p:nvPr>
        </p:nvSpPr>
        <p:spPr/>
        <p:txBody>
          <a:bodyPr/>
          <a:lstStyle/>
          <a:p>
            <a:r>
              <a:rPr lang="en-GB" altLang="en-US"/>
              <a:t>Covalent Bonding</a:t>
            </a:r>
          </a:p>
        </p:txBody>
      </p:sp>
      <p:sp>
        <p:nvSpPr>
          <p:cNvPr id="235523" name="AutoShape 3"/>
          <p:cNvSpPr>
            <a:spLocks noChangeArrowheads="1"/>
          </p:cNvSpPr>
          <p:nvPr/>
        </p:nvSpPr>
        <p:spPr bwMode="auto">
          <a:xfrm>
            <a:off x="3784600" y="877888"/>
            <a:ext cx="4857750" cy="790575"/>
          </a:xfrm>
          <a:prstGeom prst="wedgeRoundRectCallout">
            <a:avLst>
              <a:gd name="adj1" fmla="val -105296"/>
              <a:gd name="adj2" fmla="val -21486"/>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GB" altLang="en-US" sz="2000">
                <a:solidFill>
                  <a:schemeClr val="tx1"/>
                </a:solidFill>
              </a:rPr>
              <a:t>Here comes another one of my friends, Harry Hydrogen</a:t>
            </a:r>
          </a:p>
        </p:txBody>
      </p:sp>
      <p:sp>
        <p:nvSpPr>
          <p:cNvPr id="235524" name="AutoShape 4"/>
          <p:cNvSpPr>
            <a:spLocks noChangeArrowheads="1"/>
          </p:cNvSpPr>
          <p:nvPr/>
        </p:nvSpPr>
        <p:spPr bwMode="auto">
          <a:xfrm>
            <a:off x="2260600" y="2592388"/>
            <a:ext cx="4495800" cy="1381125"/>
          </a:xfrm>
          <a:prstGeom prst="wedgeRoundRectCallout">
            <a:avLst>
              <a:gd name="adj1" fmla="val 78389"/>
              <a:gd name="adj2" fmla="val 4944"/>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GB" altLang="en-US" sz="2000">
                <a:solidFill>
                  <a:schemeClr val="tx1"/>
                </a:solidFill>
              </a:rPr>
              <a:t>Hey Johnny.  I’ve only got one electron but it’s really close to my nucleus so I don’t want to lose it.  Fancy sharing?</a:t>
            </a:r>
          </a:p>
        </p:txBody>
      </p:sp>
      <p:grpSp>
        <p:nvGrpSpPr>
          <p:cNvPr id="235525" name="Group 5"/>
          <p:cNvGrpSpPr>
            <a:grpSpLocks/>
          </p:cNvGrpSpPr>
          <p:nvPr/>
        </p:nvGrpSpPr>
        <p:grpSpPr bwMode="auto">
          <a:xfrm>
            <a:off x="377825" y="752475"/>
            <a:ext cx="1182688" cy="2041525"/>
            <a:chOff x="214" y="174"/>
            <a:chExt cx="745" cy="1286"/>
          </a:xfrm>
        </p:grpSpPr>
        <p:grpSp>
          <p:nvGrpSpPr>
            <p:cNvPr id="235526" name="Group 6"/>
            <p:cNvGrpSpPr>
              <a:grpSpLocks/>
            </p:cNvGrpSpPr>
            <p:nvPr/>
          </p:nvGrpSpPr>
          <p:grpSpPr bwMode="auto">
            <a:xfrm>
              <a:off x="214" y="174"/>
              <a:ext cx="745" cy="1286"/>
              <a:chOff x="387" y="870"/>
              <a:chExt cx="745" cy="1286"/>
            </a:xfrm>
          </p:grpSpPr>
          <p:sp>
            <p:nvSpPr>
              <p:cNvPr id="235527" name="Freeform 7"/>
              <p:cNvSpPr>
                <a:spLocks/>
              </p:cNvSpPr>
              <p:nvPr/>
            </p:nvSpPr>
            <p:spPr bwMode="auto">
              <a:xfrm>
                <a:off x="387" y="2024"/>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28" name="Freeform 8"/>
              <p:cNvSpPr>
                <a:spLocks/>
              </p:cNvSpPr>
              <p:nvPr/>
            </p:nvSpPr>
            <p:spPr bwMode="auto">
              <a:xfrm flipH="1">
                <a:off x="707" y="2019"/>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29" name="Freeform 9"/>
              <p:cNvSpPr>
                <a:spLocks/>
              </p:cNvSpPr>
              <p:nvPr/>
            </p:nvSpPr>
            <p:spPr bwMode="auto">
              <a:xfrm flipH="1">
                <a:off x="406" y="1647"/>
                <a:ext cx="158" cy="126"/>
              </a:xfrm>
              <a:custGeom>
                <a:avLst/>
                <a:gdLst>
                  <a:gd name="T0" fmla="*/ 213 w 294"/>
                  <a:gd name="T1" fmla="*/ 0 h 279"/>
                  <a:gd name="T2" fmla="*/ 270 w 294"/>
                  <a:gd name="T3" fmla="*/ 76 h 279"/>
                  <a:gd name="T4" fmla="*/ 270 w 294"/>
                  <a:gd name="T5" fmla="*/ 161 h 279"/>
                  <a:gd name="T6" fmla="*/ 232 w 294"/>
                  <a:gd name="T7" fmla="*/ 151 h 279"/>
                  <a:gd name="T8" fmla="*/ 241 w 294"/>
                  <a:gd name="T9" fmla="*/ 199 h 279"/>
                  <a:gd name="T10" fmla="*/ 232 w 294"/>
                  <a:gd name="T11" fmla="*/ 265 h 279"/>
                  <a:gd name="T12" fmla="*/ 203 w 294"/>
                  <a:gd name="T13" fmla="*/ 274 h 279"/>
                  <a:gd name="T14" fmla="*/ 194 w 294"/>
                  <a:gd name="T15" fmla="*/ 246 h 279"/>
                  <a:gd name="T16" fmla="*/ 166 w 294"/>
                  <a:gd name="T17" fmla="*/ 132 h 279"/>
                  <a:gd name="T18" fmla="*/ 118 w 294"/>
                  <a:gd name="T19" fmla="*/ 265 h 279"/>
                  <a:gd name="T20" fmla="*/ 90 w 294"/>
                  <a:gd name="T21" fmla="*/ 255 h 279"/>
                  <a:gd name="T22" fmla="*/ 81 w 294"/>
                  <a:gd name="T23" fmla="*/ 132 h 279"/>
                  <a:gd name="T24" fmla="*/ 90 w 294"/>
                  <a:gd name="T25" fmla="*/ 161 h 279"/>
                  <a:gd name="T26" fmla="*/ 24 w 294"/>
                  <a:gd name="T27" fmla="*/ 217 h 279"/>
                  <a:gd name="T28" fmla="*/ 5 w 294"/>
                  <a:gd name="T29" fmla="*/ 180 h 279"/>
                  <a:gd name="T30" fmla="*/ 81 w 294"/>
                  <a:gd name="T31" fmla="*/ 29 h 279"/>
                  <a:gd name="T32" fmla="*/ 213 w 294"/>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4" h="279">
                    <a:moveTo>
                      <a:pt x="213" y="0"/>
                    </a:moveTo>
                    <a:cubicBezTo>
                      <a:pt x="226" y="42"/>
                      <a:pt x="246" y="39"/>
                      <a:pt x="270" y="76"/>
                    </a:cubicBezTo>
                    <a:cubicBezTo>
                      <a:pt x="278" y="101"/>
                      <a:pt x="294" y="137"/>
                      <a:pt x="270" y="161"/>
                    </a:cubicBezTo>
                    <a:cubicBezTo>
                      <a:pt x="261" y="170"/>
                      <a:pt x="245" y="154"/>
                      <a:pt x="232" y="151"/>
                    </a:cubicBezTo>
                    <a:cubicBezTo>
                      <a:pt x="204" y="73"/>
                      <a:pt x="236" y="184"/>
                      <a:pt x="241" y="199"/>
                    </a:cubicBezTo>
                    <a:cubicBezTo>
                      <a:pt x="238" y="221"/>
                      <a:pt x="242" y="245"/>
                      <a:pt x="232" y="265"/>
                    </a:cubicBezTo>
                    <a:cubicBezTo>
                      <a:pt x="227" y="274"/>
                      <a:pt x="212" y="279"/>
                      <a:pt x="203" y="274"/>
                    </a:cubicBezTo>
                    <a:cubicBezTo>
                      <a:pt x="194" y="270"/>
                      <a:pt x="197" y="255"/>
                      <a:pt x="194" y="246"/>
                    </a:cubicBezTo>
                    <a:cubicBezTo>
                      <a:pt x="184" y="208"/>
                      <a:pt x="178" y="170"/>
                      <a:pt x="166" y="132"/>
                    </a:cubicBezTo>
                    <a:cubicBezTo>
                      <a:pt x="158" y="198"/>
                      <a:pt x="170" y="231"/>
                      <a:pt x="118" y="265"/>
                    </a:cubicBezTo>
                    <a:cubicBezTo>
                      <a:pt x="109" y="262"/>
                      <a:pt x="93" y="265"/>
                      <a:pt x="90" y="255"/>
                    </a:cubicBezTo>
                    <a:cubicBezTo>
                      <a:pt x="79" y="215"/>
                      <a:pt x="81" y="173"/>
                      <a:pt x="81" y="132"/>
                    </a:cubicBezTo>
                    <a:cubicBezTo>
                      <a:pt x="81" y="122"/>
                      <a:pt x="87" y="151"/>
                      <a:pt x="90" y="161"/>
                    </a:cubicBezTo>
                    <a:cubicBezTo>
                      <a:pt x="76" y="204"/>
                      <a:pt x="61" y="193"/>
                      <a:pt x="24" y="217"/>
                    </a:cubicBezTo>
                    <a:cubicBezTo>
                      <a:pt x="18" y="205"/>
                      <a:pt x="7" y="194"/>
                      <a:pt x="5" y="180"/>
                    </a:cubicBezTo>
                    <a:cubicBezTo>
                      <a:pt x="0" y="137"/>
                      <a:pt x="43" y="54"/>
                      <a:pt x="81" y="29"/>
                    </a:cubicBezTo>
                    <a:cubicBezTo>
                      <a:pt x="118" y="4"/>
                      <a:pt x="171" y="15"/>
                      <a:pt x="213"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30" name="Freeform 10"/>
              <p:cNvSpPr>
                <a:spLocks/>
              </p:cNvSpPr>
              <p:nvPr/>
            </p:nvSpPr>
            <p:spPr bwMode="auto">
              <a:xfrm flipH="1">
                <a:off x="982" y="1570"/>
                <a:ext cx="150" cy="136"/>
              </a:xfrm>
              <a:custGeom>
                <a:avLst/>
                <a:gdLst>
                  <a:gd name="T0" fmla="*/ 147 w 279"/>
                  <a:gd name="T1" fmla="*/ 0 h 302"/>
                  <a:gd name="T2" fmla="*/ 33 w 279"/>
                  <a:gd name="T3" fmla="*/ 47 h 302"/>
                  <a:gd name="T4" fmla="*/ 62 w 279"/>
                  <a:gd name="T5" fmla="*/ 113 h 302"/>
                  <a:gd name="T6" fmla="*/ 43 w 279"/>
                  <a:gd name="T7" fmla="*/ 142 h 302"/>
                  <a:gd name="T8" fmla="*/ 15 w 279"/>
                  <a:gd name="T9" fmla="*/ 160 h 302"/>
                  <a:gd name="T10" fmla="*/ 90 w 279"/>
                  <a:gd name="T11" fmla="*/ 208 h 302"/>
                  <a:gd name="T12" fmla="*/ 100 w 279"/>
                  <a:gd name="T13" fmla="*/ 236 h 302"/>
                  <a:gd name="T14" fmla="*/ 166 w 279"/>
                  <a:gd name="T15" fmla="*/ 264 h 302"/>
                  <a:gd name="T16" fmla="*/ 185 w 279"/>
                  <a:gd name="T17" fmla="*/ 283 h 302"/>
                  <a:gd name="T18" fmla="*/ 213 w 279"/>
                  <a:gd name="T19" fmla="*/ 302 h 302"/>
                  <a:gd name="T20" fmla="*/ 269 w 279"/>
                  <a:gd name="T21" fmla="*/ 227 h 302"/>
                  <a:gd name="T22" fmla="*/ 260 w 279"/>
                  <a:gd name="T23" fmla="*/ 28 h 302"/>
                  <a:gd name="T24" fmla="*/ 147 w 279"/>
                  <a:gd name="T25"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9" h="302">
                    <a:moveTo>
                      <a:pt x="147" y="0"/>
                    </a:moveTo>
                    <a:cubicBezTo>
                      <a:pt x="107" y="12"/>
                      <a:pt x="74" y="34"/>
                      <a:pt x="33" y="47"/>
                    </a:cubicBezTo>
                    <a:cubicBezTo>
                      <a:pt x="19" y="91"/>
                      <a:pt x="16" y="99"/>
                      <a:pt x="62" y="113"/>
                    </a:cubicBezTo>
                    <a:cubicBezTo>
                      <a:pt x="56" y="123"/>
                      <a:pt x="51" y="134"/>
                      <a:pt x="43" y="142"/>
                    </a:cubicBezTo>
                    <a:cubicBezTo>
                      <a:pt x="35" y="150"/>
                      <a:pt x="19" y="150"/>
                      <a:pt x="15" y="160"/>
                    </a:cubicBezTo>
                    <a:cubicBezTo>
                      <a:pt x="0" y="198"/>
                      <a:pt x="74" y="204"/>
                      <a:pt x="90" y="208"/>
                    </a:cubicBezTo>
                    <a:cubicBezTo>
                      <a:pt x="116" y="134"/>
                      <a:pt x="105" y="219"/>
                      <a:pt x="100" y="236"/>
                    </a:cubicBezTo>
                    <a:cubicBezTo>
                      <a:pt x="113" y="291"/>
                      <a:pt x="118" y="296"/>
                      <a:pt x="166" y="264"/>
                    </a:cubicBezTo>
                    <a:cubicBezTo>
                      <a:pt x="184" y="189"/>
                      <a:pt x="165" y="244"/>
                      <a:pt x="185" y="283"/>
                    </a:cubicBezTo>
                    <a:cubicBezTo>
                      <a:pt x="190" y="293"/>
                      <a:pt x="204" y="296"/>
                      <a:pt x="213" y="302"/>
                    </a:cubicBezTo>
                    <a:cubicBezTo>
                      <a:pt x="271" y="288"/>
                      <a:pt x="256" y="282"/>
                      <a:pt x="269" y="227"/>
                    </a:cubicBezTo>
                    <a:cubicBezTo>
                      <a:pt x="266" y="161"/>
                      <a:pt x="279" y="92"/>
                      <a:pt x="260" y="28"/>
                    </a:cubicBezTo>
                    <a:cubicBezTo>
                      <a:pt x="254" y="9"/>
                      <a:pt x="171" y="0"/>
                      <a:pt x="147"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31" name="Freeform 11"/>
              <p:cNvSpPr>
                <a:spLocks/>
              </p:cNvSpPr>
              <p:nvPr/>
            </p:nvSpPr>
            <p:spPr bwMode="auto">
              <a:xfrm flipH="1">
                <a:off x="607" y="1270"/>
                <a:ext cx="170" cy="124"/>
              </a:xfrm>
              <a:custGeom>
                <a:avLst/>
                <a:gdLst>
                  <a:gd name="T0" fmla="*/ 9 w 453"/>
                  <a:gd name="T1" fmla="*/ 212 h 392"/>
                  <a:gd name="T2" fmla="*/ 66 w 453"/>
                  <a:gd name="T3" fmla="*/ 174 h 392"/>
                  <a:gd name="T4" fmla="*/ 104 w 453"/>
                  <a:gd name="T5" fmla="*/ 61 h 392"/>
                  <a:gd name="T6" fmla="*/ 132 w 453"/>
                  <a:gd name="T7" fmla="*/ 51 h 392"/>
                  <a:gd name="T8" fmla="*/ 198 w 453"/>
                  <a:gd name="T9" fmla="*/ 42 h 392"/>
                  <a:gd name="T10" fmla="*/ 377 w 453"/>
                  <a:gd name="T11" fmla="*/ 51 h 392"/>
                  <a:gd name="T12" fmla="*/ 425 w 453"/>
                  <a:gd name="T13" fmla="*/ 165 h 392"/>
                  <a:gd name="T14" fmla="*/ 453 w 453"/>
                  <a:gd name="T15" fmla="*/ 259 h 392"/>
                  <a:gd name="T16" fmla="*/ 425 w 453"/>
                  <a:gd name="T17" fmla="*/ 353 h 392"/>
                  <a:gd name="T18" fmla="*/ 330 w 453"/>
                  <a:gd name="T19" fmla="*/ 382 h 392"/>
                  <a:gd name="T20" fmla="*/ 113 w 453"/>
                  <a:gd name="T21" fmla="*/ 344 h 392"/>
                  <a:gd name="T22" fmla="*/ 104 w 453"/>
                  <a:gd name="T23" fmla="*/ 316 h 392"/>
                  <a:gd name="T24" fmla="*/ 47 w 453"/>
                  <a:gd name="T25" fmla="*/ 278 h 392"/>
                  <a:gd name="T26" fmla="*/ 37 w 453"/>
                  <a:gd name="T27" fmla="*/ 250 h 392"/>
                  <a:gd name="T28" fmla="*/ 9 w 453"/>
                  <a:gd name="T29" fmla="*/ 21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3" h="392">
                    <a:moveTo>
                      <a:pt x="9" y="212"/>
                    </a:moveTo>
                    <a:cubicBezTo>
                      <a:pt x="28" y="199"/>
                      <a:pt x="47" y="187"/>
                      <a:pt x="66" y="174"/>
                    </a:cubicBezTo>
                    <a:cubicBezTo>
                      <a:pt x="77" y="167"/>
                      <a:pt x="97" y="81"/>
                      <a:pt x="104" y="61"/>
                    </a:cubicBezTo>
                    <a:cubicBezTo>
                      <a:pt x="107" y="52"/>
                      <a:pt x="122" y="53"/>
                      <a:pt x="132" y="51"/>
                    </a:cubicBezTo>
                    <a:cubicBezTo>
                      <a:pt x="154" y="47"/>
                      <a:pt x="176" y="45"/>
                      <a:pt x="198" y="42"/>
                    </a:cubicBezTo>
                    <a:cubicBezTo>
                      <a:pt x="263" y="19"/>
                      <a:pt x="326" y="0"/>
                      <a:pt x="377" y="51"/>
                    </a:cubicBezTo>
                    <a:cubicBezTo>
                      <a:pt x="392" y="95"/>
                      <a:pt x="400" y="127"/>
                      <a:pt x="425" y="165"/>
                    </a:cubicBezTo>
                    <a:cubicBezTo>
                      <a:pt x="447" y="233"/>
                      <a:pt x="438" y="202"/>
                      <a:pt x="453" y="259"/>
                    </a:cubicBezTo>
                    <a:cubicBezTo>
                      <a:pt x="450" y="271"/>
                      <a:pt x="429" y="352"/>
                      <a:pt x="425" y="353"/>
                    </a:cubicBezTo>
                    <a:cubicBezTo>
                      <a:pt x="356" y="376"/>
                      <a:pt x="387" y="367"/>
                      <a:pt x="330" y="382"/>
                    </a:cubicBezTo>
                    <a:cubicBezTo>
                      <a:pt x="229" y="376"/>
                      <a:pt x="184" y="392"/>
                      <a:pt x="113" y="344"/>
                    </a:cubicBezTo>
                    <a:cubicBezTo>
                      <a:pt x="110" y="335"/>
                      <a:pt x="111" y="323"/>
                      <a:pt x="104" y="316"/>
                    </a:cubicBezTo>
                    <a:cubicBezTo>
                      <a:pt x="88" y="300"/>
                      <a:pt x="47" y="278"/>
                      <a:pt x="47" y="278"/>
                    </a:cubicBezTo>
                    <a:cubicBezTo>
                      <a:pt x="44" y="269"/>
                      <a:pt x="44" y="257"/>
                      <a:pt x="37" y="250"/>
                    </a:cubicBezTo>
                    <a:cubicBezTo>
                      <a:pt x="0" y="213"/>
                      <a:pt x="9" y="272"/>
                      <a:pt x="9" y="212"/>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32" name="Oval 12"/>
              <p:cNvSpPr>
                <a:spLocks noChangeArrowheads="1"/>
              </p:cNvSpPr>
              <p:nvPr/>
            </p:nvSpPr>
            <p:spPr bwMode="auto">
              <a:xfrm flipH="1">
                <a:off x="487" y="899"/>
                <a:ext cx="404" cy="390"/>
              </a:xfrm>
              <a:prstGeom prst="ellipse">
                <a:avLst/>
              </a:prstGeom>
              <a:noFill/>
              <a:ln w="25400">
                <a:solidFill>
                  <a:schemeClr val="bg1"/>
                </a:solidFill>
                <a:round/>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33" name="Freeform 13"/>
              <p:cNvSpPr>
                <a:spLocks/>
              </p:cNvSpPr>
              <p:nvPr/>
            </p:nvSpPr>
            <p:spPr bwMode="auto">
              <a:xfrm flipH="1">
                <a:off x="422" y="1325"/>
                <a:ext cx="643" cy="400"/>
              </a:xfrm>
              <a:custGeom>
                <a:avLst/>
                <a:gdLst>
                  <a:gd name="T0" fmla="*/ 787 w 1716"/>
                  <a:gd name="T1" fmla="*/ 38 h 1261"/>
                  <a:gd name="T2" fmla="*/ 853 w 1716"/>
                  <a:gd name="T3" fmla="*/ 76 h 1261"/>
                  <a:gd name="T4" fmla="*/ 881 w 1716"/>
                  <a:gd name="T5" fmla="*/ 104 h 1261"/>
                  <a:gd name="T6" fmla="*/ 966 w 1716"/>
                  <a:gd name="T7" fmla="*/ 142 h 1261"/>
                  <a:gd name="T8" fmla="*/ 1127 w 1716"/>
                  <a:gd name="T9" fmla="*/ 132 h 1261"/>
                  <a:gd name="T10" fmla="*/ 1174 w 1716"/>
                  <a:gd name="T11" fmla="*/ 85 h 1261"/>
                  <a:gd name="T12" fmla="*/ 1230 w 1716"/>
                  <a:gd name="T13" fmla="*/ 47 h 1261"/>
                  <a:gd name="T14" fmla="*/ 1363 w 1716"/>
                  <a:gd name="T15" fmla="*/ 9 h 1261"/>
                  <a:gd name="T16" fmla="*/ 1495 w 1716"/>
                  <a:gd name="T17" fmla="*/ 19 h 1261"/>
                  <a:gd name="T18" fmla="*/ 1561 w 1716"/>
                  <a:gd name="T19" fmla="*/ 151 h 1261"/>
                  <a:gd name="T20" fmla="*/ 1589 w 1716"/>
                  <a:gd name="T21" fmla="*/ 425 h 1261"/>
                  <a:gd name="T22" fmla="*/ 1618 w 1716"/>
                  <a:gd name="T23" fmla="*/ 585 h 1261"/>
                  <a:gd name="T24" fmla="*/ 1646 w 1716"/>
                  <a:gd name="T25" fmla="*/ 793 h 1261"/>
                  <a:gd name="T26" fmla="*/ 1703 w 1716"/>
                  <a:gd name="T27" fmla="*/ 1020 h 1261"/>
                  <a:gd name="T28" fmla="*/ 1712 w 1716"/>
                  <a:gd name="T29" fmla="*/ 1058 h 1261"/>
                  <a:gd name="T30" fmla="*/ 1684 w 1716"/>
                  <a:gd name="T31" fmla="*/ 1076 h 1261"/>
                  <a:gd name="T32" fmla="*/ 1561 w 1716"/>
                  <a:gd name="T33" fmla="*/ 1086 h 1261"/>
                  <a:gd name="T34" fmla="*/ 1372 w 1716"/>
                  <a:gd name="T35" fmla="*/ 500 h 1261"/>
                  <a:gd name="T36" fmla="*/ 1334 w 1716"/>
                  <a:gd name="T37" fmla="*/ 406 h 1261"/>
                  <a:gd name="T38" fmla="*/ 1334 w 1716"/>
                  <a:gd name="T39" fmla="*/ 1228 h 1261"/>
                  <a:gd name="T40" fmla="*/ 1230 w 1716"/>
                  <a:gd name="T41" fmla="*/ 1218 h 1261"/>
                  <a:gd name="T42" fmla="*/ 985 w 1716"/>
                  <a:gd name="T43" fmla="*/ 1143 h 1261"/>
                  <a:gd name="T44" fmla="*/ 560 w 1716"/>
                  <a:gd name="T45" fmla="*/ 1143 h 1261"/>
                  <a:gd name="T46" fmla="*/ 569 w 1716"/>
                  <a:gd name="T47" fmla="*/ 1114 h 1261"/>
                  <a:gd name="T48" fmla="*/ 607 w 1716"/>
                  <a:gd name="T49" fmla="*/ 519 h 1261"/>
                  <a:gd name="T50" fmla="*/ 598 w 1716"/>
                  <a:gd name="T51" fmla="*/ 425 h 1261"/>
                  <a:gd name="T52" fmla="*/ 560 w 1716"/>
                  <a:gd name="T53" fmla="*/ 491 h 1261"/>
                  <a:gd name="T54" fmla="*/ 447 w 1716"/>
                  <a:gd name="T55" fmla="*/ 614 h 1261"/>
                  <a:gd name="T56" fmla="*/ 418 w 1716"/>
                  <a:gd name="T57" fmla="*/ 642 h 1261"/>
                  <a:gd name="T58" fmla="*/ 305 w 1716"/>
                  <a:gd name="T59" fmla="*/ 822 h 1261"/>
                  <a:gd name="T60" fmla="*/ 229 w 1716"/>
                  <a:gd name="T61" fmla="*/ 954 h 1261"/>
                  <a:gd name="T62" fmla="*/ 154 w 1716"/>
                  <a:gd name="T63" fmla="*/ 925 h 1261"/>
                  <a:gd name="T64" fmla="*/ 144 w 1716"/>
                  <a:gd name="T65" fmla="*/ 897 h 1261"/>
                  <a:gd name="T66" fmla="*/ 116 w 1716"/>
                  <a:gd name="T67" fmla="*/ 878 h 1261"/>
                  <a:gd name="T68" fmla="*/ 88 w 1716"/>
                  <a:gd name="T69" fmla="*/ 850 h 1261"/>
                  <a:gd name="T70" fmla="*/ 22 w 1716"/>
                  <a:gd name="T71" fmla="*/ 812 h 1261"/>
                  <a:gd name="T72" fmla="*/ 3 w 1716"/>
                  <a:gd name="T73" fmla="*/ 774 h 1261"/>
                  <a:gd name="T74" fmla="*/ 41 w 1716"/>
                  <a:gd name="T75" fmla="*/ 718 h 1261"/>
                  <a:gd name="T76" fmla="*/ 211 w 1716"/>
                  <a:gd name="T77" fmla="*/ 557 h 1261"/>
                  <a:gd name="T78" fmla="*/ 296 w 1716"/>
                  <a:gd name="T79" fmla="*/ 415 h 1261"/>
                  <a:gd name="T80" fmla="*/ 390 w 1716"/>
                  <a:gd name="T81" fmla="*/ 330 h 1261"/>
                  <a:gd name="T82" fmla="*/ 541 w 1716"/>
                  <a:gd name="T83" fmla="*/ 151 h 1261"/>
                  <a:gd name="T84" fmla="*/ 617 w 1716"/>
                  <a:gd name="T85" fmla="*/ 47 h 1261"/>
                  <a:gd name="T86" fmla="*/ 711 w 1716"/>
                  <a:gd name="T87" fmla="*/ 0 h 1261"/>
                  <a:gd name="T88" fmla="*/ 758 w 1716"/>
                  <a:gd name="T89" fmla="*/ 9 h 1261"/>
                  <a:gd name="T90" fmla="*/ 787 w 1716"/>
                  <a:gd name="T91" fmla="*/ 38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16" h="1261">
                    <a:moveTo>
                      <a:pt x="787" y="38"/>
                    </a:moveTo>
                    <a:cubicBezTo>
                      <a:pt x="808" y="52"/>
                      <a:pt x="832" y="61"/>
                      <a:pt x="853" y="76"/>
                    </a:cubicBezTo>
                    <a:cubicBezTo>
                      <a:pt x="864" y="84"/>
                      <a:pt x="871" y="96"/>
                      <a:pt x="881" y="104"/>
                    </a:cubicBezTo>
                    <a:cubicBezTo>
                      <a:pt x="907" y="125"/>
                      <a:pt x="935" y="131"/>
                      <a:pt x="966" y="142"/>
                    </a:cubicBezTo>
                    <a:cubicBezTo>
                      <a:pt x="1020" y="139"/>
                      <a:pt x="1074" y="140"/>
                      <a:pt x="1127" y="132"/>
                    </a:cubicBezTo>
                    <a:cubicBezTo>
                      <a:pt x="1158" y="127"/>
                      <a:pt x="1155" y="102"/>
                      <a:pt x="1174" y="85"/>
                    </a:cubicBezTo>
                    <a:cubicBezTo>
                      <a:pt x="1191" y="70"/>
                      <a:pt x="1211" y="60"/>
                      <a:pt x="1230" y="47"/>
                    </a:cubicBezTo>
                    <a:cubicBezTo>
                      <a:pt x="1268" y="21"/>
                      <a:pt x="1363" y="9"/>
                      <a:pt x="1363" y="9"/>
                    </a:cubicBezTo>
                    <a:cubicBezTo>
                      <a:pt x="1407" y="12"/>
                      <a:pt x="1453" y="6"/>
                      <a:pt x="1495" y="19"/>
                    </a:cubicBezTo>
                    <a:cubicBezTo>
                      <a:pt x="1515" y="25"/>
                      <a:pt x="1554" y="130"/>
                      <a:pt x="1561" y="151"/>
                    </a:cubicBezTo>
                    <a:cubicBezTo>
                      <a:pt x="1573" y="242"/>
                      <a:pt x="1577" y="334"/>
                      <a:pt x="1589" y="425"/>
                    </a:cubicBezTo>
                    <a:cubicBezTo>
                      <a:pt x="1596" y="479"/>
                      <a:pt x="1612" y="531"/>
                      <a:pt x="1618" y="585"/>
                    </a:cubicBezTo>
                    <a:cubicBezTo>
                      <a:pt x="1626" y="654"/>
                      <a:pt x="1623" y="728"/>
                      <a:pt x="1646" y="793"/>
                    </a:cubicBezTo>
                    <a:cubicBezTo>
                      <a:pt x="1656" y="874"/>
                      <a:pt x="1666" y="947"/>
                      <a:pt x="1703" y="1020"/>
                    </a:cubicBezTo>
                    <a:cubicBezTo>
                      <a:pt x="1706" y="1033"/>
                      <a:pt x="1716" y="1046"/>
                      <a:pt x="1712" y="1058"/>
                    </a:cubicBezTo>
                    <a:cubicBezTo>
                      <a:pt x="1708" y="1069"/>
                      <a:pt x="1695" y="1074"/>
                      <a:pt x="1684" y="1076"/>
                    </a:cubicBezTo>
                    <a:cubicBezTo>
                      <a:pt x="1644" y="1083"/>
                      <a:pt x="1602" y="1083"/>
                      <a:pt x="1561" y="1086"/>
                    </a:cubicBezTo>
                    <a:cubicBezTo>
                      <a:pt x="1188" y="1206"/>
                      <a:pt x="1574" y="637"/>
                      <a:pt x="1372" y="500"/>
                    </a:cubicBezTo>
                    <a:cubicBezTo>
                      <a:pt x="1362" y="467"/>
                      <a:pt x="1345" y="438"/>
                      <a:pt x="1334" y="406"/>
                    </a:cubicBezTo>
                    <a:cubicBezTo>
                      <a:pt x="1335" y="463"/>
                      <a:pt x="1358" y="1148"/>
                      <a:pt x="1334" y="1228"/>
                    </a:cubicBezTo>
                    <a:cubicBezTo>
                      <a:pt x="1324" y="1261"/>
                      <a:pt x="1265" y="1222"/>
                      <a:pt x="1230" y="1218"/>
                    </a:cubicBezTo>
                    <a:cubicBezTo>
                      <a:pt x="1144" y="1207"/>
                      <a:pt x="1066" y="1169"/>
                      <a:pt x="985" y="1143"/>
                    </a:cubicBezTo>
                    <a:cubicBezTo>
                      <a:pt x="918" y="1145"/>
                      <a:pt x="647" y="1162"/>
                      <a:pt x="560" y="1143"/>
                    </a:cubicBezTo>
                    <a:cubicBezTo>
                      <a:pt x="550" y="1141"/>
                      <a:pt x="566" y="1124"/>
                      <a:pt x="569" y="1114"/>
                    </a:cubicBezTo>
                    <a:cubicBezTo>
                      <a:pt x="576" y="920"/>
                      <a:pt x="562" y="710"/>
                      <a:pt x="607" y="519"/>
                    </a:cubicBezTo>
                    <a:cubicBezTo>
                      <a:pt x="604" y="488"/>
                      <a:pt x="616" y="451"/>
                      <a:pt x="598" y="425"/>
                    </a:cubicBezTo>
                    <a:cubicBezTo>
                      <a:pt x="584" y="404"/>
                      <a:pt x="561" y="489"/>
                      <a:pt x="560" y="491"/>
                    </a:cubicBezTo>
                    <a:cubicBezTo>
                      <a:pt x="534" y="543"/>
                      <a:pt x="488" y="573"/>
                      <a:pt x="447" y="614"/>
                    </a:cubicBezTo>
                    <a:cubicBezTo>
                      <a:pt x="437" y="624"/>
                      <a:pt x="418" y="642"/>
                      <a:pt x="418" y="642"/>
                    </a:cubicBezTo>
                    <a:cubicBezTo>
                      <a:pt x="386" y="707"/>
                      <a:pt x="341" y="760"/>
                      <a:pt x="305" y="822"/>
                    </a:cubicBezTo>
                    <a:cubicBezTo>
                      <a:pt x="278" y="869"/>
                      <a:pt x="275" y="924"/>
                      <a:pt x="229" y="954"/>
                    </a:cubicBezTo>
                    <a:cubicBezTo>
                      <a:pt x="215" y="949"/>
                      <a:pt x="160" y="930"/>
                      <a:pt x="154" y="925"/>
                    </a:cubicBezTo>
                    <a:cubicBezTo>
                      <a:pt x="146" y="919"/>
                      <a:pt x="150" y="905"/>
                      <a:pt x="144" y="897"/>
                    </a:cubicBezTo>
                    <a:cubicBezTo>
                      <a:pt x="137" y="888"/>
                      <a:pt x="125" y="885"/>
                      <a:pt x="116" y="878"/>
                    </a:cubicBezTo>
                    <a:cubicBezTo>
                      <a:pt x="106" y="870"/>
                      <a:pt x="99" y="858"/>
                      <a:pt x="88" y="850"/>
                    </a:cubicBezTo>
                    <a:cubicBezTo>
                      <a:pt x="67" y="835"/>
                      <a:pt x="43" y="826"/>
                      <a:pt x="22" y="812"/>
                    </a:cubicBezTo>
                    <a:cubicBezTo>
                      <a:pt x="16" y="799"/>
                      <a:pt x="0" y="788"/>
                      <a:pt x="3" y="774"/>
                    </a:cubicBezTo>
                    <a:cubicBezTo>
                      <a:pt x="7" y="752"/>
                      <a:pt x="28" y="737"/>
                      <a:pt x="41" y="718"/>
                    </a:cubicBezTo>
                    <a:cubicBezTo>
                      <a:pt x="80" y="661"/>
                      <a:pt x="156" y="598"/>
                      <a:pt x="211" y="557"/>
                    </a:cubicBezTo>
                    <a:cubicBezTo>
                      <a:pt x="235" y="521"/>
                      <a:pt x="267" y="444"/>
                      <a:pt x="296" y="415"/>
                    </a:cubicBezTo>
                    <a:cubicBezTo>
                      <a:pt x="325" y="386"/>
                      <a:pt x="363" y="357"/>
                      <a:pt x="390" y="330"/>
                    </a:cubicBezTo>
                    <a:cubicBezTo>
                      <a:pt x="445" y="275"/>
                      <a:pt x="475" y="196"/>
                      <a:pt x="541" y="151"/>
                    </a:cubicBezTo>
                    <a:cubicBezTo>
                      <a:pt x="558" y="105"/>
                      <a:pt x="577" y="73"/>
                      <a:pt x="617" y="47"/>
                    </a:cubicBezTo>
                    <a:cubicBezTo>
                      <a:pt x="643" y="6"/>
                      <a:pt x="663" y="9"/>
                      <a:pt x="711" y="0"/>
                    </a:cubicBezTo>
                    <a:cubicBezTo>
                      <a:pt x="727" y="3"/>
                      <a:pt x="745" y="0"/>
                      <a:pt x="758" y="9"/>
                    </a:cubicBezTo>
                    <a:cubicBezTo>
                      <a:pt x="810" y="44"/>
                      <a:pt x="733" y="38"/>
                      <a:pt x="787" y="38"/>
                    </a:cubicBezTo>
                    <a:close/>
                  </a:path>
                </a:pathLst>
              </a:custGeom>
              <a:solidFill>
                <a:srgbClr val="9933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34" name="Freeform 14"/>
              <p:cNvSpPr>
                <a:spLocks/>
              </p:cNvSpPr>
              <p:nvPr/>
            </p:nvSpPr>
            <p:spPr bwMode="auto">
              <a:xfrm flipH="1">
                <a:off x="515" y="1652"/>
                <a:ext cx="366" cy="423"/>
              </a:xfrm>
              <a:custGeom>
                <a:avLst/>
                <a:gdLst>
                  <a:gd name="T0" fmla="*/ 75 w 680"/>
                  <a:gd name="T1" fmla="*/ 83 h 940"/>
                  <a:gd name="T2" fmla="*/ 66 w 680"/>
                  <a:gd name="T3" fmla="*/ 206 h 940"/>
                  <a:gd name="T4" fmla="*/ 56 w 680"/>
                  <a:gd name="T5" fmla="*/ 593 h 940"/>
                  <a:gd name="T6" fmla="*/ 0 w 680"/>
                  <a:gd name="T7" fmla="*/ 848 h 940"/>
                  <a:gd name="T8" fmla="*/ 28 w 680"/>
                  <a:gd name="T9" fmla="*/ 858 h 940"/>
                  <a:gd name="T10" fmla="*/ 293 w 680"/>
                  <a:gd name="T11" fmla="*/ 839 h 940"/>
                  <a:gd name="T12" fmla="*/ 302 w 680"/>
                  <a:gd name="T13" fmla="*/ 773 h 940"/>
                  <a:gd name="T14" fmla="*/ 321 w 680"/>
                  <a:gd name="T15" fmla="*/ 688 h 940"/>
                  <a:gd name="T16" fmla="*/ 330 w 680"/>
                  <a:gd name="T17" fmla="*/ 348 h 940"/>
                  <a:gd name="T18" fmla="*/ 340 w 680"/>
                  <a:gd name="T19" fmla="*/ 376 h 940"/>
                  <a:gd name="T20" fmla="*/ 349 w 680"/>
                  <a:gd name="T21" fmla="*/ 471 h 940"/>
                  <a:gd name="T22" fmla="*/ 368 w 680"/>
                  <a:gd name="T23" fmla="*/ 612 h 940"/>
                  <a:gd name="T24" fmla="*/ 377 w 680"/>
                  <a:gd name="T25" fmla="*/ 924 h 940"/>
                  <a:gd name="T26" fmla="*/ 491 w 680"/>
                  <a:gd name="T27" fmla="*/ 905 h 940"/>
                  <a:gd name="T28" fmla="*/ 547 w 680"/>
                  <a:gd name="T29" fmla="*/ 886 h 940"/>
                  <a:gd name="T30" fmla="*/ 680 w 680"/>
                  <a:gd name="T31" fmla="*/ 886 h 940"/>
                  <a:gd name="T32" fmla="*/ 623 w 680"/>
                  <a:gd name="T33" fmla="*/ 659 h 940"/>
                  <a:gd name="T34" fmla="*/ 557 w 680"/>
                  <a:gd name="T35" fmla="*/ 168 h 940"/>
                  <a:gd name="T36" fmla="*/ 481 w 680"/>
                  <a:gd name="T37" fmla="*/ 46 h 940"/>
                  <a:gd name="T38" fmla="*/ 170 w 680"/>
                  <a:gd name="T39" fmla="*/ 27 h 940"/>
                  <a:gd name="T40" fmla="*/ 94 w 680"/>
                  <a:gd name="T41" fmla="*/ 55 h 940"/>
                  <a:gd name="T42" fmla="*/ 75 w 680"/>
                  <a:gd name="T43" fmla="*/ 83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80" h="940">
                    <a:moveTo>
                      <a:pt x="75" y="83"/>
                    </a:moveTo>
                    <a:cubicBezTo>
                      <a:pt x="72" y="124"/>
                      <a:pt x="68" y="165"/>
                      <a:pt x="66" y="206"/>
                    </a:cubicBezTo>
                    <a:cubicBezTo>
                      <a:pt x="61" y="335"/>
                      <a:pt x="62" y="464"/>
                      <a:pt x="56" y="593"/>
                    </a:cubicBezTo>
                    <a:cubicBezTo>
                      <a:pt x="52" y="675"/>
                      <a:pt x="19" y="767"/>
                      <a:pt x="0" y="848"/>
                    </a:cubicBezTo>
                    <a:cubicBezTo>
                      <a:pt x="9" y="851"/>
                      <a:pt x="18" y="858"/>
                      <a:pt x="28" y="858"/>
                    </a:cubicBezTo>
                    <a:cubicBezTo>
                      <a:pt x="117" y="855"/>
                      <a:pt x="208" y="865"/>
                      <a:pt x="293" y="839"/>
                    </a:cubicBezTo>
                    <a:cubicBezTo>
                      <a:pt x="314" y="832"/>
                      <a:pt x="298" y="795"/>
                      <a:pt x="302" y="773"/>
                    </a:cubicBezTo>
                    <a:cubicBezTo>
                      <a:pt x="307" y="744"/>
                      <a:pt x="315" y="716"/>
                      <a:pt x="321" y="688"/>
                    </a:cubicBezTo>
                    <a:cubicBezTo>
                      <a:pt x="324" y="575"/>
                      <a:pt x="323" y="461"/>
                      <a:pt x="330" y="348"/>
                    </a:cubicBezTo>
                    <a:cubicBezTo>
                      <a:pt x="331" y="338"/>
                      <a:pt x="338" y="366"/>
                      <a:pt x="340" y="376"/>
                    </a:cubicBezTo>
                    <a:cubicBezTo>
                      <a:pt x="345" y="407"/>
                      <a:pt x="346" y="439"/>
                      <a:pt x="349" y="471"/>
                    </a:cubicBezTo>
                    <a:cubicBezTo>
                      <a:pt x="359" y="574"/>
                      <a:pt x="354" y="538"/>
                      <a:pt x="368" y="612"/>
                    </a:cubicBezTo>
                    <a:cubicBezTo>
                      <a:pt x="371" y="716"/>
                      <a:pt x="346" y="825"/>
                      <a:pt x="377" y="924"/>
                    </a:cubicBezTo>
                    <a:cubicBezTo>
                      <a:pt x="382" y="940"/>
                      <a:pt x="467" y="913"/>
                      <a:pt x="491" y="905"/>
                    </a:cubicBezTo>
                    <a:cubicBezTo>
                      <a:pt x="510" y="899"/>
                      <a:pt x="547" y="886"/>
                      <a:pt x="547" y="886"/>
                    </a:cubicBezTo>
                    <a:cubicBezTo>
                      <a:pt x="620" y="900"/>
                      <a:pt x="605" y="911"/>
                      <a:pt x="680" y="886"/>
                    </a:cubicBezTo>
                    <a:cubicBezTo>
                      <a:pt x="664" y="809"/>
                      <a:pt x="646" y="735"/>
                      <a:pt x="623" y="659"/>
                    </a:cubicBezTo>
                    <a:cubicBezTo>
                      <a:pt x="616" y="486"/>
                      <a:pt x="604" y="333"/>
                      <a:pt x="557" y="168"/>
                    </a:cubicBezTo>
                    <a:cubicBezTo>
                      <a:pt x="543" y="119"/>
                      <a:pt x="529" y="69"/>
                      <a:pt x="481" y="46"/>
                    </a:cubicBezTo>
                    <a:cubicBezTo>
                      <a:pt x="388" y="0"/>
                      <a:pt x="274" y="30"/>
                      <a:pt x="170" y="27"/>
                    </a:cubicBezTo>
                    <a:cubicBezTo>
                      <a:pt x="144" y="32"/>
                      <a:pt x="113" y="32"/>
                      <a:pt x="94" y="55"/>
                    </a:cubicBezTo>
                    <a:cubicBezTo>
                      <a:pt x="69" y="86"/>
                      <a:pt x="100" y="83"/>
                      <a:pt x="75" y="83"/>
                    </a:cubicBezTo>
                    <a:close/>
                  </a:path>
                </a:pathLst>
              </a:custGeom>
              <a:solidFill>
                <a:srgbClr val="0033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35" name="Oval 15"/>
              <p:cNvSpPr>
                <a:spLocks noChangeArrowheads="1"/>
              </p:cNvSpPr>
              <p:nvPr/>
            </p:nvSpPr>
            <p:spPr bwMode="auto">
              <a:xfrm flipH="1">
                <a:off x="641" y="1090"/>
                <a:ext cx="48" cy="51"/>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36" name="Oval 16"/>
              <p:cNvSpPr>
                <a:spLocks noChangeArrowheads="1"/>
              </p:cNvSpPr>
              <p:nvPr/>
            </p:nvSpPr>
            <p:spPr bwMode="auto">
              <a:xfrm>
                <a:off x="510" y="930"/>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37" name="Oval 17"/>
              <p:cNvSpPr>
                <a:spLocks noChangeArrowheads="1"/>
              </p:cNvSpPr>
              <p:nvPr/>
            </p:nvSpPr>
            <p:spPr bwMode="auto">
              <a:xfrm>
                <a:off x="666" y="870"/>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38" name="Oval 18"/>
              <p:cNvSpPr>
                <a:spLocks noChangeArrowheads="1"/>
              </p:cNvSpPr>
              <p:nvPr/>
            </p:nvSpPr>
            <p:spPr bwMode="auto">
              <a:xfrm>
                <a:off x="816" y="954"/>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39" name="Oval 19"/>
              <p:cNvSpPr>
                <a:spLocks noChangeArrowheads="1"/>
              </p:cNvSpPr>
              <p:nvPr/>
            </p:nvSpPr>
            <p:spPr bwMode="auto">
              <a:xfrm>
                <a:off x="858" y="1122"/>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40" name="Oval 20"/>
              <p:cNvSpPr>
                <a:spLocks noChangeArrowheads="1"/>
              </p:cNvSpPr>
              <p:nvPr/>
            </p:nvSpPr>
            <p:spPr bwMode="auto">
              <a:xfrm>
                <a:off x="450" y="1086"/>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41" name="Oval 21"/>
              <p:cNvSpPr>
                <a:spLocks noChangeArrowheads="1"/>
              </p:cNvSpPr>
              <p:nvPr/>
            </p:nvSpPr>
            <p:spPr bwMode="auto">
              <a:xfrm>
                <a:off x="522" y="1212"/>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42" name="Oval 22"/>
              <p:cNvSpPr>
                <a:spLocks noChangeArrowheads="1"/>
              </p:cNvSpPr>
              <p:nvPr/>
            </p:nvSpPr>
            <p:spPr bwMode="auto">
              <a:xfrm>
                <a:off x="774" y="1230"/>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35543" name="Text Box 23"/>
            <p:cNvSpPr txBox="1">
              <a:spLocks noChangeArrowheads="1"/>
            </p:cNvSpPr>
            <p:nvPr/>
          </p:nvSpPr>
          <p:spPr bwMode="auto">
            <a:xfrm>
              <a:off x="372" y="276"/>
              <a:ext cx="2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t>Cl</a:t>
              </a:r>
            </a:p>
          </p:txBody>
        </p:sp>
      </p:grpSp>
      <p:grpSp>
        <p:nvGrpSpPr>
          <p:cNvPr id="235544" name="Group 24"/>
          <p:cNvGrpSpPr>
            <a:grpSpLocks/>
          </p:cNvGrpSpPr>
          <p:nvPr/>
        </p:nvGrpSpPr>
        <p:grpSpPr bwMode="auto">
          <a:xfrm>
            <a:off x="7578725" y="2905125"/>
            <a:ext cx="1182688" cy="2022475"/>
            <a:chOff x="4702" y="1386"/>
            <a:chExt cx="745" cy="1274"/>
          </a:xfrm>
        </p:grpSpPr>
        <p:sp>
          <p:nvSpPr>
            <p:cNvPr id="235545" name="Freeform 25"/>
            <p:cNvSpPr>
              <a:spLocks/>
            </p:cNvSpPr>
            <p:nvPr/>
          </p:nvSpPr>
          <p:spPr bwMode="auto">
            <a:xfrm flipH="1">
              <a:off x="5141" y="2528"/>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46" name="Freeform 26"/>
            <p:cNvSpPr>
              <a:spLocks/>
            </p:cNvSpPr>
            <p:nvPr/>
          </p:nvSpPr>
          <p:spPr bwMode="auto">
            <a:xfrm>
              <a:off x="4821" y="2523"/>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47" name="Freeform 27"/>
            <p:cNvSpPr>
              <a:spLocks/>
            </p:cNvSpPr>
            <p:nvPr/>
          </p:nvSpPr>
          <p:spPr bwMode="auto">
            <a:xfrm>
              <a:off x="5270" y="2151"/>
              <a:ext cx="158" cy="126"/>
            </a:xfrm>
            <a:custGeom>
              <a:avLst/>
              <a:gdLst>
                <a:gd name="T0" fmla="*/ 213 w 294"/>
                <a:gd name="T1" fmla="*/ 0 h 279"/>
                <a:gd name="T2" fmla="*/ 270 w 294"/>
                <a:gd name="T3" fmla="*/ 76 h 279"/>
                <a:gd name="T4" fmla="*/ 270 w 294"/>
                <a:gd name="T5" fmla="*/ 161 h 279"/>
                <a:gd name="T6" fmla="*/ 232 w 294"/>
                <a:gd name="T7" fmla="*/ 151 h 279"/>
                <a:gd name="T8" fmla="*/ 241 w 294"/>
                <a:gd name="T9" fmla="*/ 199 h 279"/>
                <a:gd name="T10" fmla="*/ 232 w 294"/>
                <a:gd name="T11" fmla="*/ 265 h 279"/>
                <a:gd name="T12" fmla="*/ 203 w 294"/>
                <a:gd name="T13" fmla="*/ 274 h 279"/>
                <a:gd name="T14" fmla="*/ 194 w 294"/>
                <a:gd name="T15" fmla="*/ 246 h 279"/>
                <a:gd name="T16" fmla="*/ 166 w 294"/>
                <a:gd name="T17" fmla="*/ 132 h 279"/>
                <a:gd name="T18" fmla="*/ 118 w 294"/>
                <a:gd name="T19" fmla="*/ 265 h 279"/>
                <a:gd name="T20" fmla="*/ 90 w 294"/>
                <a:gd name="T21" fmla="*/ 255 h 279"/>
                <a:gd name="T22" fmla="*/ 81 w 294"/>
                <a:gd name="T23" fmla="*/ 132 h 279"/>
                <a:gd name="T24" fmla="*/ 90 w 294"/>
                <a:gd name="T25" fmla="*/ 161 h 279"/>
                <a:gd name="T26" fmla="*/ 24 w 294"/>
                <a:gd name="T27" fmla="*/ 217 h 279"/>
                <a:gd name="T28" fmla="*/ 5 w 294"/>
                <a:gd name="T29" fmla="*/ 180 h 279"/>
                <a:gd name="T30" fmla="*/ 81 w 294"/>
                <a:gd name="T31" fmla="*/ 29 h 279"/>
                <a:gd name="T32" fmla="*/ 213 w 294"/>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4" h="279">
                  <a:moveTo>
                    <a:pt x="213" y="0"/>
                  </a:moveTo>
                  <a:cubicBezTo>
                    <a:pt x="226" y="42"/>
                    <a:pt x="246" y="39"/>
                    <a:pt x="270" y="76"/>
                  </a:cubicBezTo>
                  <a:cubicBezTo>
                    <a:pt x="278" y="101"/>
                    <a:pt x="294" y="137"/>
                    <a:pt x="270" y="161"/>
                  </a:cubicBezTo>
                  <a:cubicBezTo>
                    <a:pt x="261" y="170"/>
                    <a:pt x="245" y="154"/>
                    <a:pt x="232" y="151"/>
                  </a:cubicBezTo>
                  <a:cubicBezTo>
                    <a:pt x="204" y="73"/>
                    <a:pt x="236" y="184"/>
                    <a:pt x="241" y="199"/>
                  </a:cubicBezTo>
                  <a:cubicBezTo>
                    <a:pt x="238" y="221"/>
                    <a:pt x="242" y="245"/>
                    <a:pt x="232" y="265"/>
                  </a:cubicBezTo>
                  <a:cubicBezTo>
                    <a:pt x="227" y="274"/>
                    <a:pt x="212" y="279"/>
                    <a:pt x="203" y="274"/>
                  </a:cubicBezTo>
                  <a:cubicBezTo>
                    <a:pt x="194" y="270"/>
                    <a:pt x="197" y="255"/>
                    <a:pt x="194" y="246"/>
                  </a:cubicBezTo>
                  <a:cubicBezTo>
                    <a:pt x="184" y="208"/>
                    <a:pt x="178" y="170"/>
                    <a:pt x="166" y="132"/>
                  </a:cubicBezTo>
                  <a:cubicBezTo>
                    <a:pt x="158" y="198"/>
                    <a:pt x="170" y="231"/>
                    <a:pt x="118" y="265"/>
                  </a:cubicBezTo>
                  <a:cubicBezTo>
                    <a:pt x="109" y="262"/>
                    <a:pt x="93" y="265"/>
                    <a:pt x="90" y="255"/>
                  </a:cubicBezTo>
                  <a:cubicBezTo>
                    <a:pt x="79" y="215"/>
                    <a:pt x="81" y="173"/>
                    <a:pt x="81" y="132"/>
                  </a:cubicBezTo>
                  <a:cubicBezTo>
                    <a:pt x="81" y="122"/>
                    <a:pt x="87" y="151"/>
                    <a:pt x="90" y="161"/>
                  </a:cubicBezTo>
                  <a:cubicBezTo>
                    <a:pt x="76" y="204"/>
                    <a:pt x="61" y="193"/>
                    <a:pt x="24" y="217"/>
                  </a:cubicBezTo>
                  <a:cubicBezTo>
                    <a:pt x="18" y="205"/>
                    <a:pt x="7" y="194"/>
                    <a:pt x="5" y="180"/>
                  </a:cubicBezTo>
                  <a:cubicBezTo>
                    <a:pt x="0" y="137"/>
                    <a:pt x="43" y="54"/>
                    <a:pt x="81" y="29"/>
                  </a:cubicBezTo>
                  <a:cubicBezTo>
                    <a:pt x="118" y="4"/>
                    <a:pt x="171" y="15"/>
                    <a:pt x="213"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48" name="Freeform 28"/>
            <p:cNvSpPr>
              <a:spLocks/>
            </p:cNvSpPr>
            <p:nvPr/>
          </p:nvSpPr>
          <p:spPr bwMode="auto">
            <a:xfrm>
              <a:off x="4702" y="2074"/>
              <a:ext cx="150" cy="136"/>
            </a:xfrm>
            <a:custGeom>
              <a:avLst/>
              <a:gdLst>
                <a:gd name="T0" fmla="*/ 147 w 279"/>
                <a:gd name="T1" fmla="*/ 0 h 302"/>
                <a:gd name="T2" fmla="*/ 33 w 279"/>
                <a:gd name="T3" fmla="*/ 47 h 302"/>
                <a:gd name="T4" fmla="*/ 62 w 279"/>
                <a:gd name="T5" fmla="*/ 113 h 302"/>
                <a:gd name="T6" fmla="*/ 43 w 279"/>
                <a:gd name="T7" fmla="*/ 142 h 302"/>
                <a:gd name="T8" fmla="*/ 15 w 279"/>
                <a:gd name="T9" fmla="*/ 160 h 302"/>
                <a:gd name="T10" fmla="*/ 90 w 279"/>
                <a:gd name="T11" fmla="*/ 208 h 302"/>
                <a:gd name="T12" fmla="*/ 100 w 279"/>
                <a:gd name="T13" fmla="*/ 236 h 302"/>
                <a:gd name="T14" fmla="*/ 166 w 279"/>
                <a:gd name="T15" fmla="*/ 264 h 302"/>
                <a:gd name="T16" fmla="*/ 185 w 279"/>
                <a:gd name="T17" fmla="*/ 283 h 302"/>
                <a:gd name="T18" fmla="*/ 213 w 279"/>
                <a:gd name="T19" fmla="*/ 302 h 302"/>
                <a:gd name="T20" fmla="*/ 269 w 279"/>
                <a:gd name="T21" fmla="*/ 227 h 302"/>
                <a:gd name="T22" fmla="*/ 260 w 279"/>
                <a:gd name="T23" fmla="*/ 28 h 302"/>
                <a:gd name="T24" fmla="*/ 147 w 279"/>
                <a:gd name="T25"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9" h="302">
                  <a:moveTo>
                    <a:pt x="147" y="0"/>
                  </a:moveTo>
                  <a:cubicBezTo>
                    <a:pt x="107" y="12"/>
                    <a:pt x="74" y="34"/>
                    <a:pt x="33" y="47"/>
                  </a:cubicBezTo>
                  <a:cubicBezTo>
                    <a:pt x="19" y="91"/>
                    <a:pt x="16" y="99"/>
                    <a:pt x="62" y="113"/>
                  </a:cubicBezTo>
                  <a:cubicBezTo>
                    <a:pt x="56" y="123"/>
                    <a:pt x="51" y="134"/>
                    <a:pt x="43" y="142"/>
                  </a:cubicBezTo>
                  <a:cubicBezTo>
                    <a:pt x="35" y="150"/>
                    <a:pt x="19" y="150"/>
                    <a:pt x="15" y="160"/>
                  </a:cubicBezTo>
                  <a:cubicBezTo>
                    <a:pt x="0" y="198"/>
                    <a:pt x="74" y="204"/>
                    <a:pt x="90" y="208"/>
                  </a:cubicBezTo>
                  <a:cubicBezTo>
                    <a:pt x="116" y="134"/>
                    <a:pt x="105" y="219"/>
                    <a:pt x="100" y="236"/>
                  </a:cubicBezTo>
                  <a:cubicBezTo>
                    <a:pt x="113" y="291"/>
                    <a:pt x="118" y="296"/>
                    <a:pt x="166" y="264"/>
                  </a:cubicBezTo>
                  <a:cubicBezTo>
                    <a:pt x="184" y="189"/>
                    <a:pt x="165" y="244"/>
                    <a:pt x="185" y="283"/>
                  </a:cubicBezTo>
                  <a:cubicBezTo>
                    <a:pt x="190" y="293"/>
                    <a:pt x="204" y="296"/>
                    <a:pt x="213" y="302"/>
                  </a:cubicBezTo>
                  <a:cubicBezTo>
                    <a:pt x="271" y="288"/>
                    <a:pt x="256" y="282"/>
                    <a:pt x="269" y="227"/>
                  </a:cubicBezTo>
                  <a:cubicBezTo>
                    <a:pt x="266" y="161"/>
                    <a:pt x="279" y="92"/>
                    <a:pt x="260" y="28"/>
                  </a:cubicBezTo>
                  <a:cubicBezTo>
                    <a:pt x="254" y="9"/>
                    <a:pt x="171" y="0"/>
                    <a:pt x="147"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49" name="Freeform 29"/>
            <p:cNvSpPr>
              <a:spLocks/>
            </p:cNvSpPr>
            <p:nvPr/>
          </p:nvSpPr>
          <p:spPr bwMode="auto">
            <a:xfrm>
              <a:off x="5057" y="1774"/>
              <a:ext cx="170" cy="124"/>
            </a:xfrm>
            <a:custGeom>
              <a:avLst/>
              <a:gdLst>
                <a:gd name="T0" fmla="*/ 9 w 453"/>
                <a:gd name="T1" fmla="*/ 212 h 392"/>
                <a:gd name="T2" fmla="*/ 66 w 453"/>
                <a:gd name="T3" fmla="*/ 174 h 392"/>
                <a:gd name="T4" fmla="*/ 104 w 453"/>
                <a:gd name="T5" fmla="*/ 61 h 392"/>
                <a:gd name="T6" fmla="*/ 132 w 453"/>
                <a:gd name="T7" fmla="*/ 51 h 392"/>
                <a:gd name="T8" fmla="*/ 198 w 453"/>
                <a:gd name="T9" fmla="*/ 42 h 392"/>
                <a:gd name="T10" fmla="*/ 377 w 453"/>
                <a:gd name="T11" fmla="*/ 51 h 392"/>
                <a:gd name="T12" fmla="*/ 425 w 453"/>
                <a:gd name="T13" fmla="*/ 165 h 392"/>
                <a:gd name="T14" fmla="*/ 453 w 453"/>
                <a:gd name="T15" fmla="*/ 259 h 392"/>
                <a:gd name="T16" fmla="*/ 425 w 453"/>
                <a:gd name="T17" fmla="*/ 353 h 392"/>
                <a:gd name="T18" fmla="*/ 330 w 453"/>
                <a:gd name="T19" fmla="*/ 382 h 392"/>
                <a:gd name="T20" fmla="*/ 113 w 453"/>
                <a:gd name="T21" fmla="*/ 344 h 392"/>
                <a:gd name="T22" fmla="*/ 104 w 453"/>
                <a:gd name="T23" fmla="*/ 316 h 392"/>
                <a:gd name="T24" fmla="*/ 47 w 453"/>
                <a:gd name="T25" fmla="*/ 278 h 392"/>
                <a:gd name="T26" fmla="*/ 37 w 453"/>
                <a:gd name="T27" fmla="*/ 250 h 392"/>
                <a:gd name="T28" fmla="*/ 9 w 453"/>
                <a:gd name="T29" fmla="*/ 21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3" h="392">
                  <a:moveTo>
                    <a:pt x="9" y="212"/>
                  </a:moveTo>
                  <a:cubicBezTo>
                    <a:pt x="28" y="199"/>
                    <a:pt x="47" y="187"/>
                    <a:pt x="66" y="174"/>
                  </a:cubicBezTo>
                  <a:cubicBezTo>
                    <a:pt x="77" y="167"/>
                    <a:pt x="97" y="81"/>
                    <a:pt x="104" y="61"/>
                  </a:cubicBezTo>
                  <a:cubicBezTo>
                    <a:pt x="107" y="52"/>
                    <a:pt x="122" y="53"/>
                    <a:pt x="132" y="51"/>
                  </a:cubicBezTo>
                  <a:cubicBezTo>
                    <a:pt x="154" y="47"/>
                    <a:pt x="176" y="45"/>
                    <a:pt x="198" y="42"/>
                  </a:cubicBezTo>
                  <a:cubicBezTo>
                    <a:pt x="263" y="19"/>
                    <a:pt x="326" y="0"/>
                    <a:pt x="377" y="51"/>
                  </a:cubicBezTo>
                  <a:cubicBezTo>
                    <a:pt x="392" y="95"/>
                    <a:pt x="400" y="127"/>
                    <a:pt x="425" y="165"/>
                  </a:cubicBezTo>
                  <a:cubicBezTo>
                    <a:pt x="447" y="233"/>
                    <a:pt x="438" y="202"/>
                    <a:pt x="453" y="259"/>
                  </a:cubicBezTo>
                  <a:cubicBezTo>
                    <a:pt x="450" y="271"/>
                    <a:pt x="429" y="352"/>
                    <a:pt x="425" y="353"/>
                  </a:cubicBezTo>
                  <a:cubicBezTo>
                    <a:pt x="356" y="376"/>
                    <a:pt x="387" y="367"/>
                    <a:pt x="330" y="382"/>
                  </a:cubicBezTo>
                  <a:cubicBezTo>
                    <a:pt x="229" y="376"/>
                    <a:pt x="184" y="392"/>
                    <a:pt x="113" y="344"/>
                  </a:cubicBezTo>
                  <a:cubicBezTo>
                    <a:pt x="110" y="335"/>
                    <a:pt x="111" y="323"/>
                    <a:pt x="104" y="316"/>
                  </a:cubicBezTo>
                  <a:cubicBezTo>
                    <a:pt x="88" y="300"/>
                    <a:pt x="47" y="278"/>
                    <a:pt x="47" y="278"/>
                  </a:cubicBezTo>
                  <a:cubicBezTo>
                    <a:pt x="44" y="269"/>
                    <a:pt x="44" y="257"/>
                    <a:pt x="37" y="250"/>
                  </a:cubicBezTo>
                  <a:cubicBezTo>
                    <a:pt x="0" y="213"/>
                    <a:pt x="9" y="272"/>
                    <a:pt x="9" y="212"/>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50" name="Oval 30"/>
            <p:cNvSpPr>
              <a:spLocks noChangeArrowheads="1"/>
            </p:cNvSpPr>
            <p:nvPr/>
          </p:nvSpPr>
          <p:spPr bwMode="auto">
            <a:xfrm>
              <a:off x="4943" y="1403"/>
              <a:ext cx="404" cy="390"/>
            </a:xfrm>
            <a:prstGeom prst="ellipse">
              <a:avLst/>
            </a:prstGeom>
            <a:noFill/>
            <a:ln w="25400">
              <a:solidFill>
                <a:schemeClr val="bg1"/>
              </a:solidFill>
              <a:round/>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51" name="Freeform 31"/>
            <p:cNvSpPr>
              <a:spLocks/>
            </p:cNvSpPr>
            <p:nvPr/>
          </p:nvSpPr>
          <p:spPr bwMode="auto">
            <a:xfrm>
              <a:off x="4769" y="1829"/>
              <a:ext cx="643" cy="400"/>
            </a:xfrm>
            <a:custGeom>
              <a:avLst/>
              <a:gdLst>
                <a:gd name="T0" fmla="*/ 787 w 1716"/>
                <a:gd name="T1" fmla="*/ 38 h 1261"/>
                <a:gd name="T2" fmla="*/ 853 w 1716"/>
                <a:gd name="T3" fmla="*/ 76 h 1261"/>
                <a:gd name="T4" fmla="*/ 881 w 1716"/>
                <a:gd name="T5" fmla="*/ 104 h 1261"/>
                <a:gd name="T6" fmla="*/ 966 w 1716"/>
                <a:gd name="T7" fmla="*/ 142 h 1261"/>
                <a:gd name="T8" fmla="*/ 1127 w 1716"/>
                <a:gd name="T9" fmla="*/ 132 h 1261"/>
                <a:gd name="T10" fmla="*/ 1174 w 1716"/>
                <a:gd name="T11" fmla="*/ 85 h 1261"/>
                <a:gd name="T12" fmla="*/ 1230 w 1716"/>
                <a:gd name="T13" fmla="*/ 47 h 1261"/>
                <a:gd name="T14" fmla="*/ 1363 w 1716"/>
                <a:gd name="T15" fmla="*/ 9 h 1261"/>
                <a:gd name="T16" fmla="*/ 1495 w 1716"/>
                <a:gd name="T17" fmla="*/ 19 h 1261"/>
                <a:gd name="T18" fmla="*/ 1561 w 1716"/>
                <a:gd name="T19" fmla="*/ 151 h 1261"/>
                <a:gd name="T20" fmla="*/ 1589 w 1716"/>
                <a:gd name="T21" fmla="*/ 425 h 1261"/>
                <a:gd name="T22" fmla="*/ 1618 w 1716"/>
                <a:gd name="T23" fmla="*/ 585 h 1261"/>
                <a:gd name="T24" fmla="*/ 1646 w 1716"/>
                <a:gd name="T25" fmla="*/ 793 h 1261"/>
                <a:gd name="T26" fmla="*/ 1703 w 1716"/>
                <a:gd name="T27" fmla="*/ 1020 h 1261"/>
                <a:gd name="T28" fmla="*/ 1712 w 1716"/>
                <a:gd name="T29" fmla="*/ 1058 h 1261"/>
                <a:gd name="T30" fmla="*/ 1684 w 1716"/>
                <a:gd name="T31" fmla="*/ 1076 h 1261"/>
                <a:gd name="T32" fmla="*/ 1561 w 1716"/>
                <a:gd name="T33" fmla="*/ 1086 h 1261"/>
                <a:gd name="T34" fmla="*/ 1372 w 1716"/>
                <a:gd name="T35" fmla="*/ 500 h 1261"/>
                <a:gd name="T36" fmla="*/ 1334 w 1716"/>
                <a:gd name="T37" fmla="*/ 406 h 1261"/>
                <a:gd name="T38" fmla="*/ 1334 w 1716"/>
                <a:gd name="T39" fmla="*/ 1228 h 1261"/>
                <a:gd name="T40" fmla="*/ 1230 w 1716"/>
                <a:gd name="T41" fmla="*/ 1218 h 1261"/>
                <a:gd name="T42" fmla="*/ 985 w 1716"/>
                <a:gd name="T43" fmla="*/ 1143 h 1261"/>
                <a:gd name="T44" fmla="*/ 560 w 1716"/>
                <a:gd name="T45" fmla="*/ 1143 h 1261"/>
                <a:gd name="T46" fmla="*/ 569 w 1716"/>
                <a:gd name="T47" fmla="*/ 1114 h 1261"/>
                <a:gd name="T48" fmla="*/ 607 w 1716"/>
                <a:gd name="T49" fmla="*/ 519 h 1261"/>
                <a:gd name="T50" fmla="*/ 598 w 1716"/>
                <a:gd name="T51" fmla="*/ 425 h 1261"/>
                <a:gd name="T52" fmla="*/ 560 w 1716"/>
                <a:gd name="T53" fmla="*/ 491 h 1261"/>
                <a:gd name="T54" fmla="*/ 447 w 1716"/>
                <a:gd name="T55" fmla="*/ 614 h 1261"/>
                <a:gd name="T56" fmla="*/ 418 w 1716"/>
                <a:gd name="T57" fmla="*/ 642 h 1261"/>
                <a:gd name="T58" fmla="*/ 305 w 1716"/>
                <a:gd name="T59" fmla="*/ 822 h 1261"/>
                <a:gd name="T60" fmla="*/ 229 w 1716"/>
                <a:gd name="T61" fmla="*/ 954 h 1261"/>
                <a:gd name="T62" fmla="*/ 154 w 1716"/>
                <a:gd name="T63" fmla="*/ 925 h 1261"/>
                <a:gd name="T64" fmla="*/ 144 w 1716"/>
                <a:gd name="T65" fmla="*/ 897 h 1261"/>
                <a:gd name="T66" fmla="*/ 116 w 1716"/>
                <a:gd name="T67" fmla="*/ 878 h 1261"/>
                <a:gd name="T68" fmla="*/ 88 w 1716"/>
                <a:gd name="T69" fmla="*/ 850 h 1261"/>
                <a:gd name="T70" fmla="*/ 22 w 1716"/>
                <a:gd name="T71" fmla="*/ 812 h 1261"/>
                <a:gd name="T72" fmla="*/ 3 w 1716"/>
                <a:gd name="T73" fmla="*/ 774 h 1261"/>
                <a:gd name="T74" fmla="*/ 41 w 1716"/>
                <a:gd name="T75" fmla="*/ 718 h 1261"/>
                <a:gd name="T76" fmla="*/ 211 w 1716"/>
                <a:gd name="T77" fmla="*/ 557 h 1261"/>
                <a:gd name="T78" fmla="*/ 296 w 1716"/>
                <a:gd name="T79" fmla="*/ 415 h 1261"/>
                <a:gd name="T80" fmla="*/ 390 w 1716"/>
                <a:gd name="T81" fmla="*/ 330 h 1261"/>
                <a:gd name="T82" fmla="*/ 541 w 1716"/>
                <a:gd name="T83" fmla="*/ 151 h 1261"/>
                <a:gd name="T84" fmla="*/ 617 w 1716"/>
                <a:gd name="T85" fmla="*/ 47 h 1261"/>
                <a:gd name="T86" fmla="*/ 711 w 1716"/>
                <a:gd name="T87" fmla="*/ 0 h 1261"/>
                <a:gd name="T88" fmla="*/ 758 w 1716"/>
                <a:gd name="T89" fmla="*/ 9 h 1261"/>
                <a:gd name="T90" fmla="*/ 787 w 1716"/>
                <a:gd name="T91" fmla="*/ 38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16" h="1261">
                  <a:moveTo>
                    <a:pt x="787" y="38"/>
                  </a:moveTo>
                  <a:cubicBezTo>
                    <a:pt x="808" y="52"/>
                    <a:pt x="832" y="61"/>
                    <a:pt x="853" y="76"/>
                  </a:cubicBezTo>
                  <a:cubicBezTo>
                    <a:pt x="864" y="84"/>
                    <a:pt x="871" y="96"/>
                    <a:pt x="881" y="104"/>
                  </a:cubicBezTo>
                  <a:cubicBezTo>
                    <a:pt x="907" y="125"/>
                    <a:pt x="935" y="131"/>
                    <a:pt x="966" y="142"/>
                  </a:cubicBezTo>
                  <a:cubicBezTo>
                    <a:pt x="1020" y="139"/>
                    <a:pt x="1074" y="140"/>
                    <a:pt x="1127" y="132"/>
                  </a:cubicBezTo>
                  <a:cubicBezTo>
                    <a:pt x="1158" y="127"/>
                    <a:pt x="1155" y="102"/>
                    <a:pt x="1174" y="85"/>
                  </a:cubicBezTo>
                  <a:cubicBezTo>
                    <a:pt x="1191" y="70"/>
                    <a:pt x="1211" y="60"/>
                    <a:pt x="1230" y="47"/>
                  </a:cubicBezTo>
                  <a:cubicBezTo>
                    <a:pt x="1268" y="21"/>
                    <a:pt x="1363" y="9"/>
                    <a:pt x="1363" y="9"/>
                  </a:cubicBezTo>
                  <a:cubicBezTo>
                    <a:pt x="1407" y="12"/>
                    <a:pt x="1453" y="6"/>
                    <a:pt x="1495" y="19"/>
                  </a:cubicBezTo>
                  <a:cubicBezTo>
                    <a:pt x="1515" y="25"/>
                    <a:pt x="1554" y="130"/>
                    <a:pt x="1561" y="151"/>
                  </a:cubicBezTo>
                  <a:cubicBezTo>
                    <a:pt x="1573" y="242"/>
                    <a:pt x="1577" y="334"/>
                    <a:pt x="1589" y="425"/>
                  </a:cubicBezTo>
                  <a:cubicBezTo>
                    <a:pt x="1596" y="479"/>
                    <a:pt x="1612" y="531"/>
                    <a:pt x="1618" y="585"/>
                  </a:cubicBezTo>
                  <a:cubicBezTo>
                    <a:pt x="1626" y="654"/>
                    <a:pt x="1623" y="728"/>
                    <a:pt x="1646" y="793"/>
                  </a:cubicBezTo>
                  <a:cubicBezTo>
                    <a:pt x="1656" y="874"/>
                    <a:pt x="1666" y="947"/>
                    <a:pt x="1703" y="1020"/>
                  </a:cubicBezTo>
                  <a:cubicBezTo>
                    <a:pt x="1706" y="1033"/>
                    <a:pt x="1716" y="1046"/>
                    <a:pt x="1712" y="1058"/>
                  </a:cubicBezTo>
                  <a:cubicBezTo>
                    <a:pt x="1708" y="1069"/>
                    <a:pt x="1695" y="1074"/>
                    <a:pt x="1684" y="1076"/>
                  </a:cubicBezTo>
                  <a:cubicBezTo>
                    <a:pt x="1644" y="1083"/>
                    <a:pt x="1602" y="1083"/>
                    <a:pt x="1561" y="1086"/>
                  </a:cubicBezTo>
                  <a:cubicBezTo>
                    <a:pt x="1188" y="1206"/>
                    <a:pt x="1574" y="637"/>
                    <a:pt x="1372" y="500"/>
                  </a:cubicBezTo>
                  <a:cubicBezTo>
                    <a:pt x="1362" y="467"/>
                    <a:pt x="1345" y="438"/>
                    <a:pt x="1334" y="406"/>
                  </a:cubicBezTo>
                  <a:cubicBezTo>
                    <a:pt x="1335" y="463"/>
                    <a:pt x="1358" y="1148"/>
                    <a:pt x="1334" y="1228"/>
                  </a:cubicBezTo>
                  <a:cubicBezTo>
                    <a:pt x="1324" y="1261"/>
                    <a:pt x="1265" y="1222"/>
                    <a:pt x="1230" y="1218"/>
                  </a:cubicBezTo>
                  <a:cubicBezTo>
                    <a:pt x="1144" y="1207"/>
                    <a:pt x="1066" y="1169"/>
                    <a:pt x="985" y="1143"/>
                  </a:cubicBezTo>
                  <a:cubicBezTo>
                    <a:pt x="918" y="1145"/>
                    <a:pt x="647" y="1162"/>
                    <a:pt x="560" y="1143"/>
                  </a:cubicBezTo>
                  <a:cubicBezTo>
                    <a:pt x="550" y="1141"/>
                    <a:pt x="566" y="1124"/>
                    <a:pt x="569" y="1114"/>
                  </a:cubicBezTo>
                  <a:cubicBezTo>
                    <a:pt x="576" y="920"/>
                    <a:pt x="562" y="710"/>
                    <a:pt x="607" y="519"/>
                  </a:cubicBezTo>
                  <a:cubicBezTo>
                    <a:pt x="604" y="488"/>
                    <a:pt x="616" y="451"/>
                    <a:pt x="598" y="425"/>
                  </a:cubicBezTo>
                  <a:cubicBezTo>
                    <a:pt x="584" y="404"/>
                    <a:pt x="561" y="489"/>
                    <a:pt x="560" y="491"/>
                  </a:cubicBezTo>
                  <a:cubicBezTo>
                    <a:pt x="534" y="543"/>
                    <a:pt x="488" y="573"/>
                    <a:pt x="447" y="614"/>
                  </a:cubicBezTo>
                  <a:cubicBezTo>
                    <a:pt x="437" y="624"/>
                    <a:pt x="418" y="642"/>
                    <a:pt x="418" y="642"/>
                  </a:cubicBezTo>
                  <a:cubicBezTo>
                    <a:pt x="386" y="707"/>
                    <a:pt x="341" y="760"/>
                    <a:pt x="305" y="822"/>
                  </a:cubicBezTo>
                  <a:cubicBezTo>
                    <a:pt x="278" y="869"/>
                    <a:pt x="275" y="924"/>
                    <a:pt x="229" y="954"/>
                  </a:cubicBezTo>
                  <a:cubicBezTo>
                    <a:pt x="215" y="949"/>
                    <a:pt x="160" y="930"/>
                    <a:pt x="154" y="925"/>
                  </a:cubicBezTo>
                  <a:cubicBezTo>
                    <a:pt x="146" y="919"/>
                    <a:pt x="150" y="905"/>
                    <a:pt x="144" y="897"/>
                  </a:cubicBezTo>
                  <a:cubicBezTo>
                    <a:pt x="137" y="888"/>
                    <a:pt x="125" y="885"/>
                    <a:pt x="116" y="878"/>
                  </a:cubicBezTo>
                  <a:cubicBezTo>
                    <a:pt x="106" y="870"/>
                    <a:pt x="99" y="858"/>
                    <a:pt x="88" y="850"/>
                  </a:cubicBezTo>
                  <a:cubicBezTo>
                    <a:pt x="67" y="835"/>
                    <a:pt x="43" y="826"/>
                    <a:pt x="22" y="812"/>
                  </a:cubicBezTo>
                  <a:cubicBezTo>
                    <a:pt x="16" y="799"/>
                    <a:pt x="0" y="788"/>
                    <a:pt x="3" y="774"/>
                  </a:cubicBezTo>
                  <a:cubicBezTo>
                    <a:pt x="7" y="752"/>
                    <a:pt x="28" y="737"/>
                    <a:pt x="41" y="718"/>
                  </a:cubicBezTo>
                  <a:cubicBezTo>
                    <a:pt x="80" y="661"/>
                    <a:pt x="156" y="598"/>
                    <a:pt x="211" y="557"/>
                  </a:cubicBezTo>
                  <a:cubicBezTo>
                    <a:pt x="235" y="521"/>
                    <a:pt x="267" y="444"/>
                    <a:pt x="296" y="415"/>
                  </a:cubicBezTo>
                  <a:cubicBezTo>
                    <a:pt x="325" y="386"/>
                    <a:pt x="363" y="357"/>
                    <a:pt x="390" y="330"/>
                  </a:cubicBezTo>
                  <a:cubicBezTo>
                    <a:pt x="445" y="275"/>
                    <a:pt x="475" y="196"/>
                    <a:pt x="541" y="151"/>
                  </a:cubicBezTo>
                  <a:cubicBezTo>
                    <a:pt x="558" y="105"/>
                    <a:pt x="577" y="73"/>
                    <a:pt x="617" y="47"/>
                  </a:cubicBezTo>
                  <a:cubicBezTo>
                    <a:pt x="643" y="6"/>
                    <a:pt x="663" y="9"/>
                    <a:pt x="711" y="0"/>
                  </a:cubicBezTo>
                  <a:cubicBezTo>
                    <a:pt x="727" y="3"/>
                    <a:pt x="745" y="0"/>
                    <a:pt x="758" y="9"/>
                  </a:cubicBezTo>
                  <a:cubicBezTo>
                    <a:pt x="810" y="44"/>
                    <a:pt x="733" y="38"/>
                    <a:pt x="787" y="38"/>
                  </a:cubicBezTo>
                  <a:close/>
                </a:path>
              </a:pathLst>
            </a:custGeom>
            <a:solidFill>
              <a:srgbClr val="33CC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52" name="Freeform 32"/>
            <p:cNvSpPr>
              <a:spLocks/>
            </p:cNvSpPr>
            <p:nvPr/>
          </p:nvSpPr>
          <p:spPr bwMode="auto">
            <a:xfrm>
              <a:off x="4953" y="2156"/>
              <a:ext cx="366" cy="423"/>
            </a:xfrm>
            <a:custGeom>
              <a:avLst/>
              <a:gdLst>
                <a:gd name="T0" fmla="*/ 75 w 680"/>
                <a:gd name="T1" fmla="*/ 83 h 940"/>
                <a:gd name="T2" fmla="*/ 66 w 680"/>
                <a:gd name="T3" fmla="*/ 206 h 940"/>
                <a:gd name="T4" fmla="*/ 56 w 680"/>
                <a:gd name="T5" fmla="*/ 593 h 940"/>
                <a:gd name="T6" fmla="*/ 0 w 680"/>
                <a:gd name="T7" fmla="*/ 848 h 940"/>
                <a:gd name="T8" fmla="*/ 28 w 680"/>
                <a:gd name="T9" fmla="*/ 858 h 940"/>
                <a:gd name="T10" fmla="*/ 293 w 680"/>
                <a:gd name="T11" fmla="*/ 839 h 940"/>
                <a:gd name="T12" fmla="*/ 302 w 680"/>
                <a:gd name="T13" fmla="*/ 773 h 940"/>
                <a:gd name="T14" fmla="*/ 321 w 680"/>
                <a:gd name="T15" fmla="*/ 688 h 940"/>
                <a:gd name="T16" fmla="*/ 330 w 680"/>
                <a:gd name="T17" fmla="*/ 348 h 940"/>
                <a:gd name="T18" fmla="*/ 340 w 680"/>
                <a:gd name="T19" fmla="*/ 376 h 940"/>
                <a:gd name="T20" fmla="*/ 349 w 680"/>
                <a:gd name="T21" fmla="*/ 471 h 940"/>
                <a:gd name="T22" fmla="*/ 368 w 680"/>
                <a:gd name="T23" fmla="*/ 612 h 940"/>
                <a:gd name="T24" fmla="*/ 377 w 680"/>
                <a:gd name="T25" fmla="*/ 924 h 940"/>
                <a:gd name="T26" fmla="*/ 491 w 680"/>
                <a:gd name="T27" fmla="*/ 905 h 940"/>
                <a:gd name="T28" fmla="*/ 547 w 680"/>
                <a:gd name="T29" fmla="*/ 886 h 940"/>
                <a:gd name="T30" fmla="*/ 680 w 680"/>
                <a:gd name="T31" fmla="*/ 886 h 940"/>
                <a:gd name="T32" fmla="*/ 623 w 680"/>
                <a:gd name="T33" fmla="*/ 659 h 940"/>
                <a:gd name="T34" fmla="*/ 557 w 680"/>
                <a:gd name="T35" fmla="*/ 168 h 940"/>
                <a:gd name="T36" fmla="*/ 481 w 680"/>
                <a:gd name="T37" fmla="*/ 46 h 940"/>
                <a:gd name="T38" fmla="*/ 170 w 680"/>
                <a:gd name="T39" fmla="*/ 27 h 940"/>
                <a:gd name="T40" fmla="*/ 94 w 680"/>
                <a:gd name="T41" fmla="*/ 55 h 940"/>
                <a:gd name="T42" fmla="*/ 75 w 680"/>
                <a:gd name="T43" fmla="*/ 83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80" h="940">
                  <a:moveTo>
                    <a:pt x="75" y="83"/>
                  </a:moveTo>
                  <a:cubicBezTo>
                    <a:pt x="72" y="124"/>
                    <a:pt x="68" y="165"/>
                    <a:pt x="66" y="206"/>
                  </a:cubicBezTo>
                  <a:cubicBezTo>
                    <a:pt x="61" y="335"/>
                    <a:pt x="62" y="464"/>
                    <a:pt x="56" y="593"/>
                  </a:cubicBezTo>
                  <a:cubicBezTo>
                    <a:pt x="52" y="675"/>
                    <a:pt x="19" y="767"/>
                    <a:pt x="0" y="848"/>
                  </a:cubicBezTo>
                  <a:cubicBezTo>
                    <a:pt x="9" y="851"/>
                    <a:pt x="18" y="858"/>
                    <a:pt x="28" y="858"/>
                  </a:cubicBezTo>
                  <a:cubicBezTo>
                    <a:pt x="117" y="855"/>
                    <a:pt x="208" y="865"/>
                    <a:pt x="293" y="839"/>
                  </a:cubicBezTo>
                  <a:cubicBezTo>
                    <a:pt x="314" y="832"/>
                    <a:pt x="298" y="795"/>
                    <a:pt x="302" y="773"/>
                  </a:cubicBezTo>
                  <a:cubicBezTo>
                    <a:pt x="307" y="744"/>
                    <a:pt x="315" y="716"/>
                    <a:pt x="321" y="688"/>
                  </a:cubicBezTo>
                  <a:cubicBezTo>
                    <a:pt x="324" y="575"/>
                    <a:pt x="323" y="461"/>
                    <a:pt x="330" y="348"/>
                  </a:cubicBezTo>
                  <a:cubicBezTo>
                    <a:pt x="331" y="338"/>
                    <a:pt x="338" y="366"/>
                    <a:pt x="340" y="376"/>
                  </a:cubicBezTo>
                  <a:cubicBezTo>
                    <a:pt x="345" y="407"/>
                    <a:pt x="346" y="439"/>
                    <a:pt x="349" y="471"/>
                  </a:cubicBezTo>
                  <a:cubicBezTo>
                    <a:pt x="359" y="574"/>
                    <a:pt x="354" y="538"/>
                    <a:pt x="368" y="612"/>
                  </a:cubicBezTo>
                  <a:cubicBezTo>
                    <a:pt x="371" y="716"/>
                    <a:pt x="346" y="825"/>
                    <a:pt x="377" y="924"/>
                  </a:cubicBezTo>
                  <a:cubicBezTo>
                    <a:pt x="382" y="940"/>
                    <a:pt x="467" y="913"/>
                    <a:pt x="491" y="905"/>
                  </a:cubicBezTo>
                  <a:cubicBezTo>
                    <a:pt x="510" y="899"/>
                    <a:pt x="547" y="886"/>
                    <a:pt x="547" y="886"/>
                  </a:cubicBezTo>
                  <a:cubicBezTo>
                    <a:pt x="620" y="900"/>
                    <a:pt x="605" y="911"/>
                    <a:pt x="680" y="886"/>
                  </a:cubicBezTo>
                  <a:cubicBezTo>
                    <a:pt x="664" y="809"/>
                    <a:pt x="646" y="735"/>
                    <a:pt x="623" y="659"/>
                  </a:cubicBezTo>
                  <a:cubicBezTo>
                    <a:pt x="616" y="486"/>
                    <a:pt x="604" y="333"/>
                    <a:pt x="557" y="168"/>
                  </a:cubicBezTo>
                  <a:cubicBezTo>
                    <a:pt x="543" y="119"/>
                    <a:pt x="529" y="69"/>
                    <a:pt x="481" y="46"/>
                  </a:cubicBezTo>
                  <a:cubicBezTo>
                    <a:pt x="388" y="0"/>
                    <a:pt x="274" y="30"/>
                    <a:pt x="170" y="27"/>
                  </a:cubicBezTo>
                  <a:cubicBezTo>
                    <a:pt x="144" y="32"/>
                    <a:pt x="113" y="32"/>
                    <a:pt x="94" y="55"/>
                  </a:cubicBezTo>
                  <a:cubicBezTo>
                    <a:pt x="69" y="86"/>
                    <a:pt x="100" y="83"/>
                    <a:pt x="75" y="83"/>
                  </a:cubicBezTo>
                  <a:close/>
                </a:path>
              </a:pathLst>
            </a:custGeom>
            <a:solidFill>
              <a:srgbClr val="FF66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53" name="Oval 33"/>
            <p:cNvSpPr>
              <a:spLocks noChangeArrowheads="1"/>
            </p:cNvSpPr>
            <p:nvPr/>
          </p:nvSpPr>
          <p:spPr bwMode="auto">
            <a:xfrm>
              <a:off x="5145" y="1594"/>
              <a:ext cx="48" cy="51"/>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54" name="Oval 34"/>
            <p:cNvSpPr>
              <a:spLocks noChangeArrowheads="1"/>
            </p:cNvSpPr>
            <p:nvPr/>
          </p:nvSpPr>
          <p:spPr bwMode="auto">
            <a:xfrm flipH="1">
              <a:off x="5132" y="1386"/>
              <a:ext cx="60" cy="6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55" name="Text Box 35"/>
            <p:cNvSpPr txBox="1">
              <a:spLocks noChangeArrowheads="1"/>
            </p:cNvSpPr>
            <p:nvPr/>
          </p:nvSpPr>
          <p:spPr bwMode="auto">
            <a:xfrm>
              <a:off x="5028" y="1476"/>
              <a:ext cx="2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t>H</a:t>
              </a:r>
            </a:p>
          </p:txBody>
        </p:sp>
      </p:grpSp>
      <p:grpSp>
        <p:nvGrpSpPr>
          <p:cNvPr id="235556" name="Group 36"/>
          <p:cNvGrpSpPr>
            <a:grpSpLocks/>
          </p:cNvGrpSpPr>
          <p:nvPr/>
        </p:nvGrpSpPr>
        <p:grpSpPr bwMode="auto">
          <a:xfrm>
            <a:off x="1120775" y="4562475"/>
            <a:ext cx="1811338" cy="2041525"/>
            <a:chOff x="874" y="2706"/>
            <a:chExt cx="1141" cy="1286"/>
          </a:xfrm>
        </p:grpSpPr>
        <p:sp>
          <p:nvSpPr>
            <p:cNvPr id="235557" name="Freeform 37"/>
            <p:cNvSpPr>
              <a:spLocks/>
            </p:cNvSpPr>
            <p:nvPr/>
          </p:nvSpPr>
          <p:spPr bwMode="auto">
            <a:xfrm flipH="1">
              <a:off x="1490" y="3106"/>
              <a:ext cx="170" cy="124"/>
            </a:xfrm>
            <a:custGeom>
              <a:avLst/>
              <a:gdLst>
                <a:gd name="T0" fmla="*/ 9 w 453"/>
                <a:gd name="T1" fmla="*/ 212 h 392"/>
                <a:gd name="T2" fmla="*/ 66 w 453"/>
                <a:gd name="T3" fmla="*/ 174 h 392"/>
                <a:gd name="T4" fmla="*/ 104 w 453"/>
                <a:gd name="T5" fmla="*/ 61 h 392"/>
                <a:gd name="T6" fmla="*/ 132 w 453"/>
                <a:gd name="T7" fmla="*/ 51 h 392"/>
                <a:gd name="T8" fmla="*/ 198 w 453"/>
                <a:gd name="T9" fmla="*/ 42 h 392"/>
                <a:gd name="T10" fmla="*/ 377 w 453"/>
                <a:gd name="T11" fmla="*/ 51 h 392"/>
                <a:gd name="T12" fmla="*/ 425 w 453"/>
                <a:gd name="T13" fmla="*/ 165 h 392"/>
                <a:gd name="T14" fmla="*/ 453 w 453"/>
                <a:gd name="T15" fmla="*/ 259 h 392"/>
                <a:gd name="T16" fmla="*/ 425 w 453"/>
                <a:gd name="T17" fmla="*/ 353 h 392"/>
                <a:gd name="T18" fmla="*/ 330 w 453"/>
                <a:gd name="T19" fmla="*/ 382 h 392"/>
                <a:gd name="T20" fmla="*/ 113 w 453"/>
                <a:gd name="T21" fmla="*/ 344 h 392"/>
                <a:gd name="T22" fmla="*/ 104 w 453"/>
                <a:gd name="T23" fmla="*/ 316 h 392"/>
                <a:gd name="T24" fmla="*/ 47 w 453"/>
                <a:gd name="T25" fmla="*/ 278 h 392"/>
                <a:gd name="T26" fmla="*/ 37 w 453"/>
                <a:gd name="T27" fmla="*/ 250 h 392"/>
                <a:gd name="T28" fmla="*/ 9 w 453"/>
                <a:gd name="T29" fmla="*/ 21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3" h="392">
                  <a:moveTo>
                    <a:pt x="9" y="212"/>
                  </a:moveTo>
                  <a:cubicBezTo>
                    <a:pt x="28" y="199"/>
                    <a:pt x="47" y="187"/>
                    <a:pt x="66" y="174"/>
                  </a:cubicBezTo>
                  <a:cubicBezTo>
                    <a:pt x="77" y="167"/>
                    <a:pt x="97" y="81"/>
                    <a:pt x="104" y="61"/>
                  </a:cubicBezTo>
                  <a:cubicBezTo>
                    <a:pt x="107" y="52"/>
                    <a:pt x="122" y="53"/>
                    <a:pt x="132" y="51"/>
                  </a:cubicBezTo>
                  <a:cubicBezTo>
                    <a:pt x="154" y="47"/>
                    <a:pt x="176" y="45"/>
                    <a:pt x="198" y="42"/>
                  </a:cubicBezTo>
                  <a:cubicBezTo>
                    <a:pt x="263" y="19"/>
                    <a:pt x="326" y="0"/>
                    <a:pt x="377" y="51"/>
                  </a:cubicBezTo>
                  <a:cubicBezTo>
                    <a:pt x="392" y="95"/>
                    <a:pt x="400" y="127"/>
                    <a:pt x="425" y="165"/>
                  </a:cubicBezTo>
                  <a:cubicBezTo>
                    <a:pt x="447" y="233"/>
                    <a:pt x="438" y="202"/>
                    <a:pt x="453" y="259"/>
                  </a:cubicBezTo>
                  <a:cubicBezTo>
                    <a:pt x="450" y="271"/>
                    <a:pt x="429" y="352"/>
                    <a:pt x="425" y="353"/>
                  </a:cubicBezTo>
                  <a:cubicBezTo>
                    <a:pt x="356" y="376"/>
                    <a:pt x="387" y="367"/>
                    <a:pt x="330" y="382"/>
                  </a:cubicBezTo>
                  <a:cubicBezTo>
                    <a:pt x="229" y="376"/>
                    <a:pt x="184" y="392"/>
                    <a:pt x="113" y="344"/>
                  </a:cubicBezTo>
                  <a:cubicBezTo>
                    <a:pt x="110" y="335"/>
                    <a:pt x="111" y="323"/>
                    <a:pt x="104" y="316"/>
                  </a:cubicBezTo>
                  <a:cubicBezTo>
                    <a:pt x="88" y="300"/>
                    <a:pt x="47" y="278"/>
                    <a:pt x="47" y="278"/>
                  </a:cubicBezTo>
                  <a:cubicBezTo>
                    <a:pt x="44" y="269"/>
                    <a:pt x="44" y="257"/>
                    <a:pt x="37" y="250"/>
                  </a:cubicBezTo>
                  <a:cubicBezTo>
                    <a:pt x="0" y="213"/>
                    <a:pt x="9" y="272"/>
                    <a:pt x="9" y="212"/>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58" name="Oval 38"/>
            <p:cNvSpPr>
              <a:spLocks noChangeArrowheads="1"/>
            </p:cNvSpPr>
            <p:nvPr/>
          </p:nvSpPr>
          <p:spPr bwMode="auto">
            <a:xfrm flipH="1">
              <a:off x="1370" y="2735"/>
              <a:ext cx="404" cy="390"/>
            </a:xfrm>
            <a:prstGeom prst="ellipse">
              <a:avLst/>
            </a:prstGeom>
            <a:noFill/>
            <a:ln w="25400">
              <a:solidFill>
                <a:schemeClr val="bg1"/>
              </a:solidFill>
              <a:round/>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59" name="Freeform 39"/>
            <p:cNvSpPr>
              <a:spLocks/>
            </p:cNvSpPr>
            <p:nvPr/>
          </p:nvSpPr>
          <p:spPr bwMode="auto">
            <a:xfrm>
              <a:off x="874" y="3860"/>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60" name="Freeform 40"/>
            <p:cNvSpPr>
              <a:spLocks/>
            </p:cNvSpPr>
            <p:nvPr/>
          </p:nvSpPr>
          <p:spPr bwMode="auto">
            <a:xfrm flipH="1">
              <a:off x="1194" y="3855"/>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61" name="Freeform 41"/>
            <p:cNvSpPr>
              <a:spLocks/>
            </p:cNvSpPr>
            <p:nvPr/>
          </p:nvSpPr>
          <p:spPr bwMode="auto">
            <a:xfrm flipH="1">
              <a:off x="893" y="3483"/>
              <a:ext cx="158" cy="126"/>
            </a:xfrm>
            <a:custGeom>
              <a:avLst/>
              <a:gdLst>
                <a:gd name="T0" fmla="*/ 213 w 294"/>
                <a:gd name="T1" fmla="*/ 0 h 279"/>
                <a:gd name="T2" fmla="*/ 270 w 294"/>
                <a:gd name="T3" fmla="*/ 76 h 279"/>
                <a:gd name="T4" fmla="*/ 270 w 294"/>
                <a:gd name="T5" fmla="*/ 161 h 279"/>
                <a:gd name="T6" fmla="*/ 232 w 294"/>
                <a:gd name="T7" fmla="*/ 151 h 279"/>
                <a:gd name="T8" fmla="*/ 241 w 294"/>
                <a:gd name="T9" fmla="*/ 199 h 279"/>
                <a:gd name="T10" fmla="*/ 232 w 294"/>
                <a:gd name="T11" fmla="*/ 265 h 279"/>
                <a:gd name="T12" fmla="*/ 203 w 294"/>
                <a:gd name="T13" fmla="*/ 274 h 279"/>
                <a:gd name="T14" fmla="*/ 194 w 294"/>
                <a:gd name="T15" fmla="*/ 246 h 279"/>
                <a:gd name="T16" fmla="*/ 166 w 294"/>
                <a:gd name="T17" fmla="*/ 132 h 279"/>
                <a:gd name="T18" fmla="*/ 118 w 294"/>
                <a:gd name="T19" fmla="*/ 265 h 279"/>
                <a:gd name="T20" fmla="*/ 90 w 294"/>
                <a:gd name="T21" fmla="*/ 255 h 279"/>
                <a:gd name="T22" fmla="*/ 81 w 294"/>
                <a:gd name="T23" fmla="*/ 132 h 279"/>
                <a:gd name="T24" fmla="*/ 90 w 294"/>
                <a:gd name="T25" fmla="*/ 161 h 279"/>
                <a:gd name="T26" fmla="*/ 24 w 294"/>
                <a:gd name="T27" fmla="*/ 217 h 279"/>
                <a:gd name="T28" fmla="*/ 5 w 294"/>
                <a:gd name="T29" fmla="*/ 180 h 279"/>
                <a:gd name="T30" fmla="*/ 81 w 294"/>
                <a:gd name="T31" fmla="*/ 29 h 279"/>
                <a:gd name="T32" fmla="*/ 213 w 294"/>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4" h="279">
                  <a:moveTo>
                    <a:pt x="213" y="0"/>
                  </a:moveTo>
                  <a:cubicBezTo>
                    <a:pt x="226" y="42"/>
                    <a:pt x="246" y="39"/>
                    <a:pt x="270" y="76"/>
                  </a:cubicBezTo>
                  <a:cubicBezTo>
                    <a:pt x="278" y="101"/>
                    <a:pt x="294" y="137"/>
                    <a:pt x="270" y="161"/>
                  </a:cubicBezTo>
                  <a:cubicBezTo>
                    <a:pt x="261" y="170"/>
                    <a:pt x="245" y="154"/>
                    <a:pt x="232" y="151"/>
                  </a:cubicBezTo>
                  <a:cubicBezTo>
                    <a:pt x="204" y="73"/>
                    <a:pt x="236" y="184"/>
                    <a:pt x="241" y="199"/>
                  </a:cubicBezTo>
                  <a:cubicBezTo>
                    <a:pt x="238" y="221"/>
                    <a:pt x="242" y="245"/>
                    <a:pt x="232" y="265"/>
                  </a:cubicBezTo>
                  <a:cubicBezTo>
                    <a:pt x="227" y="274"/>
                    <a:pt x="212" y="279"/>
                    <a:pt x="203" y="274"/>
                  </a:cubicBezTo>
                  <a:cubicBezTo>
                    <a:pt x="194" y="270"/>
                    <a:pt x="197" y="255"/>
                    <a:pt x="194" y="246"/>
                  </a:cubicBezTo>
                  <a:cubicBezTo>
                    <a:pt x="184" y="208"/>
                    <a:pt x="178" y="170"/>
                    <a:pt x="166" y="132"/>
                  </a:cubicBezTo>
                  <a:cubicBezTo>
                    <a:pt x="158" y="198"/>
                    <a:pt x="170" y="231"/>
                    <a:pt x="118" y="265"/>
                  </a:cubicBezTo>
                  <a:cubicBezTo>
                    <a:pt x="109" y="262"/>
                    <a:pt x="93" y="265"/>
                    <a:pt x="90" y="255"/>
                  </a:cubicBezTo>
                  <a:cubicBezTo>
                    <a:pt x="79" y="215"/>
                    <a:pt x="81" y="173"/>
                    <a:pt x="81" y="132"/>
                  </a:cubicBezTo>
                  <a:cubicBezTo>
                    <a:pt x="81" y="122"/>
                    <a:pt x="87" y="151"/>
                    <a:pt x="90" y="161"/>
                  </a:cubicBezTo>
                  <a:cubicBezTo>
                    <a:pt x="76" y="204"/>
                    <a:pt x="61" y="193"/>
                    <a:pt x="24" y="217"/>
                  </a:cubicBezTo>
                  <a:cubicBezTo>
                    <a:pt x="18" y="205"/>
                    <a:pt x="7" y="194"/>
                    <a:pt x="5" y="180"/>
                  </a:cubicBezTo>
                  <a:cubicBezTo>
                    <a:pt x="0" y="137"/>
                    <a:pt x="43" y="54"/>
                    <a:pt x="81" y="29"/>
                  </a:cubicBezTo>
                  <a:cubicBezTo>
                    <a:pt x="118" y="4"/>
                    <a:pt x="171" y="15"/>
                    <a:pt x="213"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62" name="Freeform 42"/>
            <p:cNvSpPr>
              <a:spLocks/>
            </p:cNvSpPr>
            <p:nvPr/>
          </p:nvSpPr>
          <p:spPr bwMode="auto">
            <a:xfrm flipH="1">
              <a:off x="1469" y="3406"/>
              <a:ext cx="150" cy="136"/>
            </a:xfrm>
            <a:custGeom>
              <a:avLst/>
              <a:gdLst>
                <a:gd name="T0" fmla="*/ 147 w 279"/>
                <a:gd name="T1" fmla="*/ 0 h 302"/>
                <a:gd name="T2" fmla="*/ 33 w 279"/>
                <a:gd name="T3" fmla="*/ 47 h 302"/>
                <a:gd name="T4" fmla="*/ 62 w 279"/>
                <a:gd name="T5" fmla="*/ 113 h 302"/>
                <a:gd name="T6" fmla="*/ 43 w 279"/>
                <a:gd name="T7" fmla="*/ 142 h 302"/>
                <a:gd name="T8" fmla="*/ 15 w 279"/>
                <a:gd name="T9" fmla="*/ 160 h 302"/>
                <a:gd name="T10" fmla="*/ 90 w 279"/>
                <a:gd name="T11" fmla="*/ 208 h 302"/>
                <a:gd name="T12" fmla="*/ 100 w 279"/>
                <a:gd name="T13" fmla="*/ 236 h 302"/>
                <a:gd name="T14" fmla="*/ 166 w 279"/>
                <a:gd name="T15" fmla="*/ 264 h 302"/>
                <a:gd name="T16" fmla="*/ 185 w 279"/>
                <a:gd name="T17" fmla="*/ 283 h 302"/>
                <a:gd name="T18" fmla="*/ 213 w 279"/>
                <a:gd name="T19" fmla="*/ 302 h 302"/>
                <a:gd name="T20" fmla="*/ 269 w 279"/>
                <a:gd name="T21" fmla="*/ 227 h 302"/>
                <a:gd name="T22" fmla="*/ 260 w 279"/>
                <a:gd name="T23" fmla="*/ 28 h 302"/>
                <a:gd name="T24" fmla="*/ 147 w 279"/>
                <a:gd name="T25"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9" h="302">
                  <a:moveTo>
                    <a:pt x="147" y="0"/>
                  </a:moveTo>
                  <a:cubicBezTo>
                    <a:pt x="107" y="12"/>
                    <a:pt x="74" y="34"/>
                    <a:pt x="33" y="47"/>
                  </a:cubicBezTo>
                  <a:cubicBezTo>
                    <a:pt x="19" y="91"/>
                    <a:pt x="16" y="99"/>
                    <a:pt x="62" y="113"/>
                  </a:cubicBezTo>
                  <a:cubicBezTo>
                    <a:pt x="56" y="123"/>
                    <a:pt x="51" y="134"/>
                    <a:pt x="43" y="142"/>
                  </a:cubicBezTo>
                  <a:cubicBezTo>
                    <a:pt x="35" y="150"/>
                    <a:pt x="19" y="150"/>
                    <a:pt x="15" y="160"/>
                  </a:cubicBezTo>
                  <a:cubicBezTo>
                    <a:pt x="0" y="198"/>
                    <a:pt x="74" y="204"/>
                    <a:pt x="90" y="208"/>
                  </a:cubicBezTo>
                  <a:cubicBezTo>
                    <a:pt x="116" y="134"/>
                    <a:pt x="105" y="219"/>
                    <a:pt x="100" y="236"/>
                  </a:cubicBezTo>
                  <a:cubicBezTo>
                    <a:pt x="113" y="291"/>
                    <a:pt x="118" y="296"/>
                    <a:pt x="166" y="264"/>
                  </a:cubicBezTo>
                  <a:cubicBezTo>
                    <a:pt x="184" y="189"/>
                    <a:pt x="165" y="244"/>
                    <a:pt x="185" y="283"/>
                  </a:cubicBezTo>
                  <a:cubicBezTo>
                    <a:pt x="190" y="293"/>
                    <a:pt x="204" y="296"/>
                    <a:pt x="213" y="302"/>
                  </a:cubicBezTo>
                  <a:cubicBezTo>
                    <a:pt x="271" y="288"/>
                    <a:pt x="256" y="282"/>
                    <a:pt x="269" y="227"/>
                  </a:cubicBezTo>
                  <a:cubicBezTo>
                    <a:pt x="266" y="161"/>
                    <a:pt x="279" y="92"/>
                    <a:pt x="260" y="28"/>
                  </a:cubicBezTo>
                  <a:cubicBezTo>
                    <a:pt x="254" y="9"/>
                    <a:pt x="171" y="0"/>
                    <a:pt x="147"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63" name="Freeform 43"/>
            <p:cNvSpPr>
              <a:spLocks/>
            </p:cNvSpPr>
            <p:nvPr/>
          </p:nvSpPr>
          <p:spPr bwMode="auto">
            <a:xfrm flipH="1">
              <a:off x="1094" y="3106"/>
              <a:ext cx="170" cy="124"/>
            </a:xfrm>
            <a:custGeom>
              <a:avLst/>
              <a:gdLst>
                <a:gd name="T0" fmla="*/ 9 w 453"/>
                <a:gd name="T1" fmla="*/ 212 h 392"/>
                <a:gd name="T2" fmla="*/ 66 w 453"/>
                <a:gd name="T3" fmla="*/ 174 h 392"/>
                <a:gd name="T4" fmla="*/ 104 w 453"/>
                <a:gd name="T5" fmla="*/ 61 h 392"/>
                <a:gd name="T6" fmla="*/ 132 w 453"/>
                <a:gd name="T7" fmla="*/ 51 h 392"/>
                <a:gd name="T8" fmla="*/ 198 w 453"/>
                <a:gd name="T9" fmla="*/ 42 h 392"/>
                <a:gd name="T10" fmla="*/ 377 w 453"/>
                <a:gd name="T11" fmla="*/ 51 h 392"/>
                <a:gd name="T12" fmla="*/ 425 w 453"/>
                <a:gd name="T13" fmla="*/ 165 h 392"/>
                <a:gd name="T14" fmla="*/ 453 w 453"/>
                <a:gd name="T15" fmla="*/ 259 h 392"/>
                <a:gd name="T16" fmla="*/ 425 w 453"/>
                <a:gd name="T17" fmla="*/ 353 h 392"/>
                <a:gd name="T18" fmla="*/ 330 w 453"/>
                <a:gd name="T19" fmla="*/ 382 h 392"/>
                <a:gd name="T20" fmla="*/ 113 w 453"/>
                <a:gd name="T21" fmla="*/ 344 h 392"/>
                <a:gd name="T22" fmla="*/ 104 w 453"/>
                <a:gd name="T23" fmla="*/ 316 h 392"/>
                <a:gd name="T24" fmla="*/ 47 w 453"/>
                <a:gd name="T25" fmla="*/ 278 h 392"/>
                <a:gd name="T26" fmla="*/ 37 w 453"/>
                <a:gd name="T27" fmla="*/ 250 h 392"/>
                <a:gd name="T28" fmla="*/ 9 w 453"/>
                <a:gd name="T29" fmla="*/ 21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3" h="392">
                  <a:moveTo>
                    <a:pt x="9" y="212"/>
                  </a:moveTo>
                  <a:cubicBezTo>
                    <a:pt x="28" y="199"/>
                    <a:pt x="47" y="187"/>
                    <a:pt x="66" y="174"/>
                  </a:cubicBezTo>
                  <a:cubicBezTo>
                    <a:pt x="77" y="167"/>
                    <a:pt x="97" y="81"/>
                    <a:pt x="104" y="61"/>
                  </a:cubicBezTo>
                  <a:cubicBezTo>
                    <a:pt x="107" y="52"/>
                    <a:pt x="122" y="53"/>
                    <a:pt x="132" y="51"/>
                  </a:cubicBezTo>
                  <a:cubicBezTo>
                    <a:pt x="154" y="47"/>
                    <a:pt x="176" y="45"/>
                    <a:pt x="198" y="42"/>
                  </a:cubicBezTo>
                  <a:cubicBezTo>
                    <a:pt x="263" y="19"/>
                    <a:pt x="326" y="0"/>
                    <a:pt x="377" y="51"/>
                  </a:cubicBezTo>
                  <a:cubicBezTo>
                    <a:pt x="392" y="95"/>
                    <a:pt x="400" y="127"/>
                    <a:pt x="425" y="165"/>
                  </a:cubicBezTo>
                  <a:cubicBezTo>
                    <a:pt x="447" y="233"/>
                    <a:pt x="438" y="202"/>
                    <a:pt x="453" y="259"/>
                  </a:cubicBezTo>
                  <a:cubicBezTo>
                    <a:pt x="450" y="271"/>
                    <a:pt x="429" y="352"/>
                    <a:pt x="425" y="353"/>
                  </a:cubicBezTo>
                  <a:cubicBezTo>
                    <a:pt x="356" y="376"/>
                    <a:pt x="387" y="367"/>
                    <a:pt x="330" y="382"/>
                  </a:cubicBezTo>
                  <a:cubicBezTo>
                    <a:pt x="229" y="376"/>
                    <a:pt x="184" y="392"/>
                    <a:pt x="113" y="344"/>
                  </a:cubicBezTo>
                  <a:cubicBezTo>
                    <a:pt x="110" y="335"/>
                    <a:pt x="111" y="323"/>
                    <a:pt x="104" y="316"/>
                  </a:cubicBezTo>
                  <a:cubicBezTo>
                    <a:pt x="88" y="300"/>
                    <a:pt x="47" y="278"/>
                    <a:pt x="47" y="278"/>
                  </a:cubicBezTo>
                  <a:cubicBezTo>
                    <a:pt x="44" y="269"/>
                    <a:pt x="44" y="257"/>
                    <a:pt x="37" y="250"/>
                  </a:cubicBezTo>
                  <a:cubicBezTo>
                    <a:pt x="0" y="213"/>
                    <a:pt x="9" y="272"/>
                    <a:pt x="9" y="212"/>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64" name="Oval 44"/>
            <p:cNvSpPr>
              <a:spLocks noChangeArrowheads="1"/>
            </p:cNvSpPr>
            <p:nvPr/>
          </p:nvSpPr>
          <p:spPr bwMode="auto">
            <a:xfrm flipH="1">
              <a:off x="974" y="2735"/>
              <a:ext cx="404" cy="390"/>
            </a:xfrm>
            <a:prstGeom prst="ellipse">
              <a:avLst/>
            </a:prstGeom>
            <a:noFill/>
            <a:ln w="25400">
              <a:solidFill>
                <a:schemeClr val="bg1"/>
              </a:solidFill>
              <a:round/>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65" name="Freeform 45"/>
            <p:cNvSpPr>
              <a:spLocks/>
            </p:cNvSpPr>
            <p:nvPr/>
          </p:nvSpPr>
          <p:spPr bwMode="auto">
            <a:xfrm flipH="1">
              <a:off x="909" y="3161"/>
              <a:ext cx="643" cy="400"/>
            </a:xfrm>
            <a:custGeom>
              <a:avLst/>
              <a:gdLst>
                <a:gd name="T0" fmla="*/ 787 w 1716"/>
                <a:gd name="T1" fmla="*/ 38 h 1261"/>
                <a:gd name="T2" fmla="*/ 853 w 1716"/>
                <a:gd name="T3" fmla="*/ 76 h 1261"/>
                <a:gd name="T4" fmla="*/ 881 w 1716"/>
                <a:gd name="T5" fmla="*/ 104 h 1261"/>
                <a:gd name="T6" fmla="*/ 966 w 1716"/>
                <a:gd name="T7" fmla="*/ 142 h 1261"/>
                <a:gd name="T8" fmla="*/ 1127 w 1716"/>
                <a:gd name="T9" fmla="*/ 132 h 1261"/>
                <a:gd name="T10" fmla="*/ 1174 w 1716"/>
                <a:gd name="T11" fmla="*/ 85 h 1261"/>
                <a:gd name="T12" fmla="*/ 1230 w 1716"/>
                <a:gd name="T13" fmla="*/ 47 h 1261"/>
                <a:gd name="T14" fmla="*/ 1363 w 1716"/>
                <a:gd name="T15" fmla="*/ 9 h 1261"/>
                <a:gd name="T16" fmla="*/ 1495 w 1716"/>
                <a:gd name="T17" fmla="*/ 19 h 1261"/>
                <a:gd name="T18" fmla="*/ 1561 w 1716"/>
                <a:gd name="T19" fmla="*/ 151 h 1261"/>
                <a:gd name="T20" fmla="*/ 1589 w 1716"/>
                <a:gd name="T21" fmla="*/ 425 h 1261"/>
                <a:gd name="T22" fmla="*/ 1618 w 1716"/>
                <a:gd name="T23" fmla="*/ 585 h 1261"/>
                <a:gd name="T24" fmla="*/ 1646 w 1716"/>
                <a:gd name="T25" fmla="*/ 793 h 1261"/>
                <a:gd name="T26" fmla="*/ 1703 w 1716"/>
                <a:gd name="T27" fmla="*/ 1020 h 1261"/>
                <a:gd name="T28" fmla="*/ 1712 w 1716"/>
                <a:gd name="T29" fmla="*/ 1058 h 1261"/>
                <a:gd name="T30" fmla="*/ 1684 w 1716"/>
                <a:gd name="T31" fmla="*/ 1076 h 1261"/>
                <a:gd name="T32" fmla="*/ 1561 w 1716"/>
                <a:gd name="T33" fmla="*/ 1086 h 1261"/>
                <a:gd name="T34" fmla="*/ 1372 w 1716"/>
                <a:gd name="T35" fmla="*/ 500 h 1261"/>
                <a:gd name="T36" fmla="*/ 1334 w 1716"/>
                <a:gd name="T37" fmla="*/ 406 h 1261"/>
                <a:gd name="T38" fmla="*/ 1334 w 1716"/>
                <a:gd name="T39" fmla="*/ 1228 h 1261"/>
                <a:gd name="T40" fmla="*/ 1230 w 1716"/>
                <a:gd name="T41" fmla="*/ 1218 h 1261"/>
                <a:gd name="T42" fmla="*/ 985 w 1716"/>
                <a:gd name="T43" fmla="*/ 1143 h 1261"/>
                <a:gd name="T44" fmla="*/ 560 w 1716"/>
                <a:gd name="T45" fmla="*/ 1143 h 1261"/>
                <a:gd name="T46" fmla="*/ 569 w 1716"/>
                <a:gd name="T47" fmla="*/ 1114 h 1261"/>
                <a:gd name="T48" fmla="*/ 607 w 1716"/>
                <a:gd name="T49" fmla="*/ 519 h 1261"/>
                <a:gd name="T50" fmla="*/ 598 w 1716"/>
                <a:gd name="T51" fmla="*/ 425 h 1261"/>
                <a:gd name="T52" fmla="*/ 560 w 1716"/>
                <a:gd name="T53" fmla="*/ 491 h 1261"/>
                <a:gd name="T54" fmla="*/ 447 w 1716"/>
                <a:gd name="T55" fmla="*/ 614 h 1261"/>
                <a:gd name="T56" fmla="*/ 418 w 1716"/>
                <a:gd name="T57" fmla="*/ 642 h 1261"/>
                <a:gd name="T58" fmla="*/ 305 w 1716"/>
                <a:gd name="T59" fmla="*/ 822 h 1261"/>
                <a:gd name="T60" fmla="*/ 229 w 1716"/>
                <a:gd name="T61" fmla="*/ 954 h 1261"/>
                <a:gd name="T62" fmla="*/ 154 w 1716"/>
                <a:gd name="T63" fmla="*/ 925 h 1261"/>
                <a:gd name="T64" fmla="*/ 144 w 1716"/>
                <a:gd name="T65" fmla="*/ 897 h 1261"/>
                <a:gd name="T66" fmla="*/ 116 w 1716"/>
                <a:gd name="T67" fmla="*/ 878 h 1261"/>
                <a:gd name="T68" fmla="*/ 88 w 1716"/>
                <a:gd name="T69" fmla="*/ 850 h 1261"/>
                <a:gd name="T70" fmla="*/ 22 w 1716"/>
                <a:gd name="T71" fmla="*/ 812 h 1261"/>
                <a:gd name="T72" fmla="*/ 3 w 1716"/>
                <a:gd name="T73" fmla="*/ 774 h 1261"/>
                <a:gd name="T74" fmla="*/ 41 w 1716"/>
                <a:gd name="T75" fmla="*/ 718 h 1261"/>
                <a:gd name="T76" fmla="*/ 211 w 1716"/>
                <a:gd name="T77" fmla="*/ 557 h 1261"/>
                <a:gd name="T78" fmla="*/ 296 w 1716"/>
                <a:gd name="T79" fmla="*/ 415 h 1261"/>
                <a:gd name="T80" fmla="*/ 390 w 1716"/>
                <a:gd name="T81" fmla="*/ 330 h 1261"/>
                <a:gd name="T82" fmla="*/ 541 w 1716"/>
                <a:gd name="T83" fmla="*/ 151 h 1261"/>
                <a:gd name="T84" fmla="*/ 617 w 1716"/>
                <a:gd name="T85" fmla="*/ 47 h 1261"/>
                <a:gd name="T86" fmla="*/ 711 w 1716"/>
                <a:gd name="T87" fmla="*/ 0 h 1261"/>
                <a:gd name="T88" fmla="*/ 758 w 1716"/>
                <a:gd name="T89" fmla="*/ 9 h 1261"/>
                <a:gd name="T90" fmla="*/ 787 w 1716"/>
                <a:gd name="T91" fmla="*/ 38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16" h="1261">
                  <a:moveTo>
                    <a:pt x="787" y="38"/>
                  </a:moveTo>
                  <a:cubicBezTo>
                    <a:pt x="808" y="52"/>
                    <a:pt x="832" y="61"/>
                    <a:pt x="853" y="76"/>
                  </a:cubicBezTo>
                  <a:cubicBezTo>
                    <a:pt x="864" y="84"/>
                    <a:pt x="871" y="96"/>
                    <a:pt x="881" y="104"/>
                  </a:cubicBezTo>
                  <a:cubicBezTo>
                    <a:pt x="907" y="125"/>
                    <a:pt x="935" y="131"/>
                    <a:pt x="966" y="142"/>
                  </a:cubicBezTo>
                  <a:cubicBezTo>
                    <a:pt x="1020" y="139"/>
                    <a:pt x="1074" y="140"/>
                    <a:pt x="1127" y="132"/>
                  </a:cubicBezTo>
                  <a:cubicBezTo>
                    <a:pt x="1158" y="127"/>
                    <a:pt x="1155" y="102"/>
                    <a:pt x="1174" y="85"/>
                  </a:cubicBezTo>
                  <a:cubicBezTo>
                    <a:pt x="1191" y="70"/>
                    <a:pt x="1211" y="60"/>
                    <a:pt x="1230" y="47"/>
                  </a:cubicBezTo>
                  <a:cubicBezTo>
                    <a:pt x="1268" y="21"/>
                    <a:pt x="1363" y="9"/>
                    <a:pt x="1363" y="9"/>
                  </a:cubicBezTo>
                  <a:cubicBezTo>
                    <a:pt x="1407" y="12"/>
                    <a:pt x="1453" y="6"/>
                    <a:pt x="1495" y="19"/>
                  </a:cubicBezTo>
                  <a:cubicBezTo>
                    <a:pt x="1515" y="25"/>
                    <a:pt x="1554" y="130"/>
                    <a:pt x="1561" y="151"/>
                  </a:cubicBezTo>
                  <a:cubicBezTo>
                    <a:pt x="1573" y="242"/>
                    <a:pt x="1577" y="334"/>
                    <a:pt x="1589" y="425"/>
                  </a:cubicBezTo>
                  <a:cubicBezTo>
                    <a:pt x="1596" y="479"/>
                    <a:pt x="1612" y="531"/>
                    <a:pt x="1618" y="585"/>
                  </a:cubicBezTo>
                  <a:cubicBezTo>
                    <a:pt x="1626" y="654"/>
                    <a:pt x="1623" y="728"/>
                    <a:pt x="1646" y="793"/>
                  </a:cubicBezTo>
                  <a:cubicBezTo>
                    <a:pt x="1656" y="874"/>
                    <a:pt x="1666" y="947"/>
                    <a:pt x="1703" y="1020"/>
                  </a:cubicBezTo>
                  <a:cubicBezTo>
                    <a:pt x="1706" y="1033"/>
                    <a:pt x="1716" y="1046"/>
                    <a:pt x="1712" y="1058"/>
                  </a:cubicBezTo>
                  <a:cubicBezTo>
                    <a:pt x="1708" y="1069"/>
                    <a:pt x="1695" y="1074"/>
                    <a:pt x="1684" y="1076"/>
                  </a:cubicBezTo>
                  <a:cubicBezTo>
                    <a:pt x="1644" y="1083"/>
                    <a:pt x="1602" y="1083"/>
                    <a:pt x="1561" y="1086"/>
                  </a:cubicBezTo>
                  <a:cubicBezTo>
                    <a:pt x="1188" y="1206"/>
                    <a:pt x="1574" y="637"/>
                    <a:pt x="1372" y="500"/>
                  </a:cubicBezTo>
                  <a:cubicBezTo>
                    <a:pt x="1362" y="467"/>
                    <a:pt x="1345" y="438"/>
                    <a:pt x="1334" y="406"/>
                  </a:cubicBezTo>
                  <a:cubicBezTo>
                    <a:pt x="1335" y="463"/>
                    <a:pt x="1358" y="1148"/>
                    <a:pt x="1334" y="1228"/>
                  </a:cubicBezTo>
                  <a:cubicBezTo>
                    <a:pt x="1324" y="1261"/>
                    <a:pt x="1265" y="1222"/>
                    <a:pt x="1230" y="1218"/>
                  </a:cubicBezTo>
                  <a:cubicBezTo>
                    <a:pt x="1144" y="1207"/>
                    <a:pt x="1066" y="1169"/>
                    <a:pt x="985" y="1143"/>
                  </a:cubicBezTo>
                  <a:cubicBezTo>
                    <a:pt x="918" y="1145"/>
                    <a:pt x="647" y="1162"/>
                    <a:pt x="560" y="1143"/>
                  </a:cubicBezTo>
                  <a:cubicBezTo>
                    <a:pt x="550" y="1141"/>
                    <a:pt x="566" y="1124"/>
                    <a:pt x="569" y="1114"/>
                  </a:cubicBezTo>
                  <a:cubicBezTo>
                    <a:pt x="576" y="920"/>
                    <a:pt x="562" y="710"/>
                    <a:pt x="607" y="519"/>
                  </a:cubicBezTo>
                  <a:cubicBezTo>
                    <a:pt x="604" y="488"/>
                    <a:pt x="616" y="451"/>
                    <a:pt x="598" y="425"/>
                  </a:cubicBezTo>
                  <a:cubicBezTo>
                    <a:pt x="584" y="404"/>
                    <a:pt x="561" y="489"/>
                    <a:pt x="560" y="491"/>
                  </a:cubicBezTo>
                  <a:cubicBezTo>
                    <a:pt x="534" y="543"/>
                    <a:pt x="488" y="573"/>
                    <a:pt x="447" y="614"/>
                  </a:cubicBezTo>
                  <a:cubicBezTo>
                    <a:pt x="437" y="624"/>
                    <a:pt x="418" y="642"/>
                    <a:pt x="418" y="642"/>
                  </a:cubicBezTo>
                  <a:cubicBezTo>
                    <a:pt x="386" y="707"/>
                    <a:pt x="341" y="760"/>
                    <a:pt x="305" y="822"/>
                  </a:cubicBezTo>
                  <a:cubicBezTo>
                    <a:pt x="278" y="869"/>
                    <a:pt x="275" y="924"/>
                    <a:pt x="229" y="954"/>
                  </a:cubicBezTo>
                  <a:cubicBezTo>
                    <a:pt x="215" y="949"/>
                    <a:pt x="160" y="930"/>
                    <a:pt x="154" y="925"/>
                  </a:cubicBezTo>
                  <a:cubicBezTo>
                    <a:pt x="146" y="919"/>
                    <a:pt x="150" y="905"/>
                    <a:pt x="144" y="897"/>
                  </a:cubicBezTo>
                  <a:cubicBezTo>
                    <a:pt x="137" y="888"/>
                    <a:pt x="125" y="885"/>
                    <a:pt x="116" y="878"/>
                  </a:cubicBezTo>
                  <a:cubicBezTo>
                    <a:pt x="106" y="870"/>
                    <a:pt x="99" y="858"/>
                    <a:pt x="88" y="850"/>
                  </a:cubicBezTo>
                  <a:cubicBezTo>
                    <a:pt x="67" y="835"/>
                    <a:pt x="43" y="826"/>
                    <a:pt x="22" y="812"/>
                  </a:cubicBezTo>
                  <a:cubicBezTo>
                    <a:pt x="16" y="799"/>
                    <a:pt x="0" y="788"/>
                    <a:pt x="3" y="774"/>
                  </a:cubicBezTo>
                  <a:cubicBezTo>
                    <a:pt x="7" y="752"/>
                    <a:pt x="28" y="737"/>
                    <a:pt x="41" y="718"/>
                  </a:cubicBezTo>
                  <a:cubicBezTo>
                    <a:pt x="80" y="661"/>
                    <a:pt x="156" y="598"/>
                    <a:pt x="211" y="557"/>
                  </a:cubicBezTo>
                  <a:cubicBezTo>
                    <a:pt x="235" y="521"/>
                    <a:pt x="267" y="444"/>
                    <a:pt x="296" y="415"/>
                  </a:cubicBezTo>
                  <a:cubicBezTo>
                    <a:pt x="325" y="386"/>
                    <a:pt x="363" y="357"/>
                    <a:pt x="390" y="330"/>
                  </a:cubicBezTo>
                  <a:cubicBezTo>
                    <a:pt x="445" y="275"/>
                    <a:pt x="475" y="196"/>
                    <a:pt x="541" y="151"/>
                  </a:cubicBezTo>
                  <a:cubicBezTo>
                    <a:pt x="558" y="105"/>
                    <a:pt x="577" y="73"/>
                    <a:pt x="617" y="47"/>
                  </a:cubicBezTo>
                  <a:cubicBezTo>
                    <a:pt x="643" y="6"/>
                    <a:pt x="663" y="9"/>
                    <a:pt x="711" y="0"/>
                  </a:cubicBezTo>
                  <a:cubicBezTo>
                    <a:pt x="727" y="3"/>
                    <a:pt x="745" y="0"/>
                    <a:pt x="758" y="9"/>
                  </a:cubicBezTo>
                  <a:cubicBezTo>
                    <a:pt x="810" y="44"/>
                    <a:pt x="733" y="38"/>
                    <a:pt x="787" y="38"/>
                  </a:cubicBezTo>
                  <a:close/>
                </a:path>
              </a:pathLst>
            </a:custGeom>
            <a:solidFill>
              <a:srgbClr val="9933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66" name="Freeform 46"/>
            <p:cNvSpPr>
              <a:spLocks/>
            </p:cNvSpPr>
            <p:nvPr/>
          </p:nvSpPr>
          <p:spPr bwMode="auto">
            <a:xfrm flipH="1">
              <a:off x="1002" y="3488"/>
              <a:ext cx="366" cy="423"/>
            </a:xfrm>
            <a:custGeom>
              <a:avLst/>
              <a:gdLst>
                <a:gd name="T0" fmla="*/ 75 w 680"/>
                <a:gd name="T1" fmla="*/ 83 h 940"/>
                <a:gd name="T2" fmla="*/ 66 w 680"/>
                <a:gd name="T3" fmla="*/ 206 h 940"/>
                <a:gd name="T4" fmla="*/ 56 w 680"/>
                <a:gd name="T5" fmla="*/ 593 h 940"/>
                <a:gd name="T6" fmla="*/ 0 w 680"/>
                <a:gd name="T7" fmla="*/ 848 h 940"/>
                <a:gd name="T8" fmla="*/ 28 w 680"/>
                <a:gd name="T9" fmla="*/ 858 h 940"/>
                <a:gd name="T10" fmla="*/ 293 w 680"/>
                <a:gd name="T11" fmla="*/ 839 h 940"/>
                <a:gd name="T12" fmla="*/ 302 w 680"/>
                <a:gd name="T13" fmla="*/ 773 h 940"/>
                <a:gd name="T14" fmla="*/ 321 w 680"/>
                <a:gd name="T15" fmla="*/ 688 h 940"/>
                <a:gd name="T16" fmla="*/ 330 w 680"/>
                <a:gd name="T17" fmla="*/ 348 h 940"/>
                <a:gd name="T18" fmla="*/ 340 w 680"/>
                <a:gd name="T19" fmla="*/ 376 h 940"/>
                <a:gd name="T20" fmla="*/ 349 w 680"/>
                <a:gd name="T21" fmla="*/ 471 h 940"/>
                <a:gd name="T22" fmla="*/ 368 w 680"/>
                <a:gd name="T23" fmla="*/ 612 h 940"/>
                <a:gd name="T24" fmla="*/ 377 w 680"/>
                <a:gd name="T25" fmla="*/ 924 h 940"/>
                <a:gd name="T26" fmla="*/ 491 w 680"/>
                <a:gd name="T27" fmla="*/ 905 h 940"/>
                <a:gd name="T28" fmla="*/ 547 w 680"/>
                <a:gd name="T29" fmla="*/ 886 h 940"/>
                <a:gd name="T30" fmla="*/ 680 w 680"/>
                <a:gd name="T31" fmla="*/ 886 h 940"/>
                <a:gd name="T32" fmla="*/ 623 w 680"/>
                <a:gd name="T33" fmla="*/ 659 h 940"/>
                <a:gd name="T34" fmla="*/ 557 w 680"/>
                <a:gd name="T35" fmla="*/ 168 h 940"/>
                <a:gd name="T36" fmla="*/ 481 w 680"/>
                <a:gd name="T37" fmla="*/ 46 h 940"/>
                <a:gd name="T38" fmla="*/ 170 w 680"/>
                <a:gd name="T39" fmla="*/ 27 h 940"/>
                <a:gd name="T40" fmla="*/ 94 w 680"/>
                <a:gd name="T41" fmla="*/ 55 h 940"/>
                <a:gd name="T42" fmla="*/ 75 w 680"/>
                <a:gd name="T43" fmla="*/ 83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80" h="940">
                  <a:moveTo>
                    <a:pt x="75" y="83"/>
                  </a:moveTo>
                  <a:cubicBezTo>
                    <a:pt x="72" y="124"/>
                    <a:pt x="68" y="165"/>
                    <a:pt x="66" y="206"/>
                  </a:cubicBezTo>
                  <a:cubicBezTo>
                    <a:pt x="61" y="335"/>
                    <a:pt x="62" y="464"/>
                    <a:pt x="56" y="593"/>
                  </a:cubicBezTo>
                  <a:cubicBezTo>
                    <a:pt x="52" y="675"/>
                    <a:pt x="19" y="767"/>
                    <a:pt x="0" y="848"/>
                  </a:cubicBezTo>
                  <a:cubicBezTo>
                    <a:pt x="9" y="851"/>
                    <a:pt x="18" y="858"/>
                    <a:pt x="28" y="858"/>
                  </a:cubicBezTo>
                  <a:cubicBezTo>
                    <a:pt x="117" y="855"/>
                    <a:pt x="208" y="865"/>
                    <a:pt x="293" y="839"/>
                  </a:cubicBezTo>
                  <a:cubicBezTo>
                    <a:pt x="314" y="832"/>
                    <a:pt x="298" y="795"/>
                    <a:pt x="302" y="773"/>
                  </a:cubicBezTo>
                  <a:cubicBezTo>
                    <a:pt x="307" y="744"/>
                    <a:pt x="315" y="716"/>
                    <a:pt x="321" y="688"/>
                  </a:cubicBezTo>
                  <a:cubicBezTo>
                    <a:pt x="324" y="575"/>
                    <a:pt x="323" y="461"/>
                    <a:pt x="330" y="348"/>
                  </a:cubicBezTo>
                  <a:cubicBezTo>
                    <a:pt x="331" y="338"/>
                    <a:pt x="338" y="366"/>
                    <a:pt x="340" y="376"/>
                  </a:cubicBezTo>
                  <a:cubicBezTo>
                    <a:pt x="345" y="407"/>
                    <a:pt x="346" y="439"/>
                    <a:pt x="349" y="471"/>
                  </a:cubicBezTo>
                  <a:cubicBezTo>
                    <a:pt x="359" y="574"/>
                    <a:pt x="354" y="538"/>
                    <a:pt x="368" y="612"/>
                  </a:cubicBezTo>
                  <a:cubicBezTo>
                    <a:pt x="371" y="716"/>
                    <a:pt x="346" y="825"/>
                    <a:pt x="377" y="924"/>
                  </a:cubicBezTo>
                  <a:cubicBezTo>
                    <a:pt x="382" y="940"/>
                    <a:pt x="467" y="913"/>
                    <a:pt x="491" y="905"/>
                  </a:cubicBezTo>
                  <a:cubicBezTo>
                    <a:pt x="510" y="899"/>
                    <a:pt x="547" y="886"/>
                    <a:pt x="547" y="886"/>
                  </a:cubicBezTo>
                  <a:cubicBezTo>
                    <a:pt x="620" y="900"/>
                    <a:pt x="605" y="911"/>
                    <a:pt x="680" y="886"/>
                  </a:cubicBezTo>
                  <a:cubicBezTo>
                    <a:pt x="664" y="809"/>
                    <a:pt x="646" y="735"/>
                    <a:pt x="623" y="659"/>
                  </a:cubicBezTo>
                  <a:cubicBezTo>
                    <a:pt x="616" y="486"/>
                    <a:pt x="604" y="333"/>
                    <a:pt x="557" y="168"/>
                  </a:cubicBezTo>
                  <a:cubicBezTo>
                    <a:pt x="543" y="119"/>
                    <a:pt x="529" y="69"/>
                    <a:pt x="481" y="46"/>
                  </a:cubicBezTo>
                  <a:cubicBezTo>
                    <a:pt x="388" y="0"/>
                    <a:pt x="274" y="30"/>
                    <a:pt x="170" y="27"/>
                  </a:cubicBezTo>
                  <a:cubicBezTo>
                    <a:pt x="144" y="32"/>
                    <a:pt x="113" y="32"/>
                    <a:pt x="94" y="55"/>
                  </a:cubicBezTo>
                  <a:cubicBezTo>
                    <a:pt x="69" y="86"/>
                    <a:pt x="100" y="83"/>
                    <a:pt x="75" y="83"/>
                  </a:cubicBezTo>
                  <a:close/>
                </a:path>
              </a:pathLst>
            </a:custGeom>
            <a:solidFill>
              <a:srgbClr val="0033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67" name="Oval 47"/>
            <p:cNvSpPr>
              <a:spLocks noChangeArrowheads="1"/>
            </p:cNvSpPr>
            <p:nvPr/>
          </p:nvSpPr>
          <p:spPr bwMode="auto">
            <a:xfrm flipH="1">
              <a:off x="1128" y="2926"/>
              <a:ext cx="48" cy="51"/>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68" name="Oval 48"/>
            <p:cNvSpPr>
              <a:spLocks noChangeArrowheads="1"/>
            </p:cNvSpPr>
            <p:nvPr/>
          </p:nvSpPr>
          <p:spPr bwMode="auto">
            <a:xfrm>
              <a:off x="1237" y="2724"/>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69" name="Oval 49"/>
            <p:cNvSpPr>
              <a:spLocks noChangeArrowheads="1"/>
            </p:cNvSpPr>
            <p:nvPr/>
          </p:nvSpPr>
          <p:spPr bwMode="auto">
            <a:xfrm>
              <a:off x="1153" y="2706"/>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70" name="Oval 50"/>
            <p:cNvSpPr>
              <a:spLocks noChangeArrowheads="1"/>
            </p:cNvSpPr>
            <p:nvPr/>
          </p:nvSpPr>
          <p:spPr bwMode="auto">
            <a:xfrm>
              <a:off x="949" y="2838"/>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71" name="Oval 51"/>
            <p:cNvSpPr>
              <a:spLocks noChangeArrowheads="1"/>
            </p:cNvSpPr>
            <p:nvPr/>
          </p:nvSpPr>
          <p:spPr bwMode="auto">
            <a:xfrm>
              <a:off x="1345" y="2958"/>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72" name="Oval 52"/>
            <p:cNvSpPr>
              <a:spLocks noChangeArrowheads="1"/>
            </p:cNvSpPr>
            <p:nvPr/>
          </p:nvSpPr>
          <p:spPr bwMode="auto">
            <a:xfrm>
              <a:off x="1003" y="2772"/>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73" name="Oval 53"/>
            <p:cNvSpPr>
              <a:spLocks noChangeArrowheads="1"/>
            </p:cNvSpPr>
            <p:nvPr/>
          </p:nvSpPr>
          <p:spPr bwMode="auto">
            <a:xfrm>
              <a:off x="1009" y="3048"/>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74" name="Oval 54"/>
            <p:cNvSpPr>
              <a:spLocks noChangeArrowheads="1"/>
            </p:cNvSpPr>
            <p:nvPr/>
          </p:nvSpPr>
          <p:spPr bwMode="auto">
            <a:xfrm>
              <a:off x="949" y="2982"/>
              <a:ext cx="60" cy="6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75" name="Text Box 55"/>
            <p:cNvSpPr txBox="1">
              <a:spLocks noChangeArrowheads="1"/>
            </p:cNvSpPr>
            <p:nvPr/>
          </p:nvSpPr>
          <p:spPr bwMode="auto">
            <a:xfrm>
              <a:off x="1032" y="2808"/>
              <a:ext cx="2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t>Cl</a:t>
              </a:r>
            </a:p>
          </p:txBody>
        </p:sp>
        <p:sp>
          <p:nvSpPr>
            <p:cNvPr id="235576" name="Freeform 56"/>
            <p:cNvSpPr>
              <a:spLocks/>
            </p:cNvSpPr>
            <p:nvPr/>
          </p:nvSpPr>
          <p:spPr bwMode="auto">
            <a:xfrm>
              <a:off x="1270" y="3860"/>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77" name="Freeform 57"/>
            <p:cNvSpPr>
              <a:spLocks/>
            </p:cNvSpPr>
            <p:nvPr/>
          </p:nvSpPr>
          <p:spPr bwMode="auto">
            <a:xfrm flipH="1">
              <a:off x="1590" y="3855"/>
              <a:ext cx="306" cy="132"/>
            </a:xfrm>
            <a:custGeom>
              <a:avLst/>
              <a:gdLst>
                <a:gd name="T0" fmla="*/ 284 w 569"/>
                <a:gd name="T1" fmla="*/ 81 h 454"/>
                <a:gd name="T2" fmla="*/ 227 w 569"/>
                <a:gd name="T3" fmla="*/ 166 h 454"/>
                <a:gd name="T4" fmla="*/ 132 w 569"/>
                <a:gd name="T5" fmla="*/ 81 h 454"/>
                <a:gd name="T6" fmla="*/ 0 w 569"/>
                <a:gd name="T7" fmla="*/ 166 h 454"/>
                <a:gd name="T8" fmla="*/ 10 w 569"/>
                <a:gd name="T9" fmla="*/ 251 h 454"/>
                <a:gd name="T10" fmla="*/ 387 w 569"/>
                <a:gd name="T11" fmla="*/ 383 h 454"/>
                <a:gd name="T12" fmla="*/ 557 w 569"/>
                <a:gd name="T13" fmla="*/ 364 h 454"/>
                <a:gd name="T14" fmla="*/ 567 w 569"/>
                <a:gd name="T15" fmla="*/ 327 h 454"/>
                <a:gd name="T16" fmla="*/ 520 w 569"/>
                <a:gd name="T17" fmla="*/ 166 h 454"/>
                <a:gd name="T18" fmla="*/ 454 w 569"/>
                <a:gd name="T19" fmla="*/ 24 h 454"/>
                <a:gd name="T20" fmla="*/ 284 w 569"/>
                <a:gd name="T21" fmla="*/ 81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9" h="454">
                  <a:moveTo>
                    <a:pt x="284" y="81"/>
                  </a:moveTo>
                  <a:cubicBezTo>
                    <a:pt x="271" y="118"/>
                    <a:pt x="255" y="138"/>
                    <a:pt x="227" y="166"/>
                  </a:cubicBezTo>
                  <a:cubicBezTo>
                    <a:pt x="179" y="151"/>
                    <a:pt x="175" y="109"/>
                    <a:pt x="132" y="81"/>
                  </a:cubicBezTo>
                  <a:cubicBezTo>
                    <a:pt x="26" y="93"/>
                    <a:pt x="31" y="79"/>
                    <a:pt x="0" y="166"/>
                  </a:cubicBezTo>
                  <a:cubicBezTo>
                    <a:pt x="3" y="194"/>
                    <a:pt x="6" y="223"/>
                    <a:pt x="10" y="251"/>
                  </a:cubicBezTo>
                  <a:cubicBezTo>
                    <a:pt x="36" y="454"/>
                    <a:pt x="176" y="377"/>
                    <a:pt x="387" y="383"/>
                  </a:cubicBezTo>
                  <a:cubicBezTo>
                    <a:pt x="444" y="377"/>
                    <a:pt x="503" y="381"/>
                    <a:pt x="557" y="364"/>
                  </a:cubicBezTo>
                  <a:cubicBezTo>
                    <a:pt x="569" y="360"/>
                    <a:pt x="567" y="340"/>
                    <a:pt x="567" y="327"/>
                  </a:cubicBezTo>
                  <a:cubicBezTo>
                    <a:pt x="567" y="269"/>
                    <a:pt x="545" y="216"/>
                    <a:pt x="520" y="166"/>
                  </a:cubicBezTo>
                  <a:cubicBezTo>
                    <a:pt x="511" y="61"/>
                    <a:pt x="533" y="52"/>
                    <a:pt x="454" y="24"/>
                  </a:cubicBezTo>
                  <a:cubicBezTo>
                    <a:pt x="397" y="28"/>
                    <a:pt x="284" y="0"/>
                    <a:pt x="284" y="81"/>
                  </a:cubicBezTo>
                  <a:close/>
                </a:path>
              </a:pathLst>
            </a:custGeom>
            <a:solidFill>
              <a:srgbClr val="99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78" name="Freeform 58"/>
            <p:cNvSpPr>
              <a:spLocks/>
            </p:cNvSpPr>
            <p:nvPr/>
          </p:nvSpPr>
          <p:spPr bwMode="auto">
            <a:xfrm flipH="1">
              <a:off x="1289" y="3483"/>
              <a:ext cx="158" cy="126"/>
            </a:xfrm>
            <a:custGeom>
              <a:avLst/>
              <a:gdLst>
                <a:gd name="T0" fmla="*/ 213 w 294"/>
                <a:gd name="T1" fmla="*/ 0 h 279"/>
                <a:gd name="T2" fmla="*/ 270 w 294"/>
                <a:gd name="T3" fmla="*/ 76 h 279"/>
                <a:gd name="T4" fmla="*/ 270 w 294"/>
                <a:gd name="T5" fmla="*/ 161 h 279"/>
                <a:gd name="T6" fmla="*/ 232 w 294"/>
                <a:gd name="T7" fmla="*/ 151 h 279"/>
                <a:gd name="T8" fmla="*/ 241 w 294"/>
                <a:gd name="T9" fmla="*/ 199 h 279"/>
                <a:gd name="T10" fmla="*/ 232 w 294"/>
                <a:gd name="T11" fmla="*/ 265 h 279"/>
                <a:gd name="T12" fmla="*/ 203 w 294"/>
                <a:gd name="T13" fmla="*/ 274 h 279"/>
                <a:gd name="T14" fmla="*/ 194 w 294"/>
                <a:gd name="T15" fmla="*/ 246 h 279"/>
                <a:gd name="T16" fmla="*/ 166 w 294"/>
                <a:gd name="T17" fmla="*/ 132 h 279"/>
                <a:gd name="T18" fmla="*/ 118 w 294"/>
                <a:gd name="T19" fmla="*/ 265 h 279"/>
                <a:gd name="T20" fmla="*/ 90 w 294"/>
                <a:gd name="T21" fmla="*/ 255 h 279"/>
                <a:gd name="T22" fmla="*/ 81 w 294"/>
                <a:gd name="T23" fmla="*/ 132 h 279"/>
                <a:gd name="T24" fmla="*/ 90 w 294"/>
                <a:gd name="T25" fmla="*/ 161 h 279"/>
                <a:gd name="T26" fmla="*/ 24 w 294"/>
                <a:gd name="T27" fmla="*/ 217 h 279"/>
                <a:gd name="T28" fmla="*/ 5 w 294"/>
                <a:gd name="T29" fmla="*/ 180 h 279"/>
                <a:gd name="T30" fmla="*/ 81 w 294"/>
                <a:gd name="T31" fmla="*/ 29 h 279"/>
                <a:gd name="T32" fmla="*/ 213 w 294"/>
                <a:gd name="T33"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4" h="279">
                  <a:moveTo>
                    <a:pt x="213" y="0"/>
                  </a:moveTo>
                  <a:cubicBezTo>
                    <a:pt x="226" y="42"/>
                    <a:pt x="246" y="39"/>
                    <a:pt x="270" y="76"/>
                  </a:cubicBezTo>
                  <a:cubicBezTo>
                    <a:pt x="278" y="101"/>
                    <a:pt x="294" y="137"/>
                    <a:pt x="270" y="161"/>
                  </a:cubicBezTo>
                  <a:cubicBezTo>
                    <a:pt x="261" y="170"/>
                    <a:pt x="245" y="154"/>
                    <a:pt x="232" y="151"/>
                  </a:cubicBezTo>
                  <a:cubicBezTo>
                    <a:pt x="204" y="73"/>
                    <a:pt x="236" y="184"/>
                    <a:pt x="241" y="199"/>
                  </a:cubicBezTo>
                  <a:cubicBezTo>
                    <a:pt x="238" y="221"/>
                    <a:pt x="242" y="245"/>
                    <a:pt x="232" y="265"/>
                  </a:cubicBezTo>
                  <a:cubicBezTo>
                    <a:pt x="227" y="274"/>
                    <a:pt x="212" y="279"/>
                    <a:pt x="203" y="274"/>
                  </a:cubicBezTo>
                  <a:cubicBezTo>
                    <a:pt x="194" y="270"/>
                    <a:pt x="197" y="255"/>
                    <a:pt x="194" y="246"/>
                  </a:cubicBezTo>
                  <a:cubicBezTo>
                    <a:pt x="184" y="208"/>
                    <a:pt x="178" y="170"/>
                    <a:pt x="166" y="132"/>
                  </a:cubicBezTo>
                  <a:cubicBezTo>
                    <a:pt x="158" y="198"/>
                    <a:pt x="170" y="231"/>
                    <a:pt x="118" y="265"/>
                  </a:cubicBezTo>
                  <a:cubicBezTo>
                    <a:pt x="109" y="262"/>
                    <a:pt x="93" y="265"/>
                    <a:pt x="90" y="255"/>
                  </a:cubicBezTo>
                  <a:cubicBezTo>
                    <a:pt x="79" y="215"/>
                    <a:pt x="81" y="173"/>
                    <a:pt x="81" y="132"/>
                  </a:cubicBezTo>
                  <a:cubicBezTo>
                    <a:pt x="81" y="122"/>
                    <a:pt x="87" y="151"/>
                    <a:pt x="90" y="161"/>
                  </a:cubicBezTo>
                  <a:cubicBezTo>
                    <a:pt x="76" y="204"/>
                    <a:pt x="61" y="193"/>
                    <a:pt x="24" y="217"/>
                  </a:cubicBezTo>
                  <a:cubicBezTo>
                    <a:pt x="18" y="205"/>
                    <a:pt x="7" y="194"/>
                    <a:pt x="5" y="180"/>
                  </a:cubicBezTo>
                  <a:cubicBezTo>
                    <a:pt x="0" y="137"/>
                    <a:pt x="43" y="54"/>
                    <a:pt x="81" y="29"/>
                  </a:cubicBezTo>
                  <a:cubicBezTo>
                    <a:pt x="118" y="4"/>
                    <a:pt x="171" y="15"/>
                    <a:pt x="213"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79" name="Freeform 59"/>
            <p:cNvSpPr>
              <a:spLocks/>
            </p:cNvSpPr>
            <p:nvPr/>
          </p:nvSpPr>
          <p:spPr bwMode="auto">
            <a:xfrm flipH="1">
              <a:off x="1865" y="3406"/>
              <a:ext cx="150" cy="136"/>
            </a:xfrm>
            <a:custGeom>
              <a:avLst/>
              <a:gdLst>
                <a:gd name="T0" fmla="*/ 147 w 279"/>
                <a:gd name="T1" fmla="*/ 0 h 302"/>
                <a:gd name="T2" fmla="*/ 33 w 279"/>
                <a:gd name="T3" fmla="*/ 47 h 302"/>
                <a:gd name="T4" fmla="*/ 62 w 279"/>
                <a:gd name="T5" fmla="*/ 113 h 302"/>
                <a:gd name="T6" fmla="*/ 43 w 279"/>
                <a:gd name="T7" fmla="*/ 142 h 302"/>
                <a:gd name="T8" fmla="*/ 15 w 279"/>
                <a:gd name="T9" fmla="*/ 160 h 302"/>
                <a:gd name="T10" fmla="*/ 90 w 279"/>
                <a:gd name="T11" fmla="*/ 208 h 302"/>
                <a:gd name="T12" fmla="*/ 100 w 279"/>
                <a:gd name="T13" fmla="*/ 236 h 302"/>
                <a:gd name="T14" fmla="*/ 166 w 279"/>
                <a:gd name="T15" fmla="*/ 264 h 302"/>
                <a:gd name="T16" fmla="*/ 185 w 279"/>
                <a:gd name="T17" fmla="*/ 283 h 302"/>
                <a:gd name="T18" fmla="*/ 213 w 279"/>
                <a:gd name="T19" fmla="*/ 302 h 302"/>
                <a:gd name="T20" fmla="*/ 269 w 279"/>
                <a:gd name="T21" fmla="*/ 227 h 302"/>
                <a:gd name="T22" fmla="*/ 260 w 279"/>
                <a:gd name="T23" fmla="*/ 28 h 302"/>
                <a:gd name="T24" fmla="*/ 147 w 279"/>
                <a:gd name="T25"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9" h="302">
                  <a:moveTo>
                    <a:pt x="147" y="0"/>
                  </a:moveTo>
                  <a:cubicBezTo>
                    <a:pt x="107" y="12"/>
                    <a:pt x="74" y="34"/>
                    <a:pt x="33" y="47"/>
                  </a:cubicBezTo>
                  <a:cubicBezTo>
                    <a:pt x="19" y="91"/>
                    <a:pt x="16" y="99"/>
                    <a:pt x="62" y="113"/>
                  </a:cubicBezTo>
                  <a:cubicBezTo>
                    <a:pt x="56" y="123"/>
                    <a:pt x="51" y="134"/>
                    <a:pt x="43" y="142"/>
                  </a:cubicBezTo>
                  <a:cubicBezTo>
                    <a:pt x="35" y="150"/>
                    <a:pt x="19" y="150"/>
                    <a:pt x="15" y="160"/>
                  </a:cubicBezTo>
                  <a:cubicBezTo>
                    <a:pt x="0" y="198"/>
                    <a:pt x="74" y="204"/>
                    <a:pt x="90" y="208"/>
                  </a:cubicBezTo>
                  <a:cubicBezTo>
                    <a:pt x="116" y="134"/>
                    <a:pt x="105" y="219"/>
                    <a:pt x="100" y="236"/>
                  </a:cubicBezTo>
                  <a:cubicBezTo>
                    <a:pt x="113" y="291"/>
                    <a:pt x="118" y="296"/>
                    <a:pt x="166" y="264"/>
                  </a:cubicBezTo>
                  <a:cubicBezTo>
                    <a:pt x="184" y="189"/>
                    <a:pt x="165" y="244"/>
                    <a:pt x="185" y="283"/>
                  </a:cubicBezTo>
                  <a:cubicBezTo>
                    <a:pt x="190" y="293"/>
                    <a:pt x="204" y="296"/>
                    <a:pt x="213" y="302"/>
                  </a:cubicBezTo>
                  <a:cubicBezTo>
                    <a:pt x="271" y="288"/>
                    <a:pt x="256" y="282"/>
                    <a:pt x="269" y="227"/>
                  </a:cubicBezTo>
                  <a:cubicBezTo>
                    <a:pt x="266" y="161"/>
                    <a:pt x="279" y="92"/>
                    <a:pt x="260" y="28"/>
                  </a:cubicBezTo>
                  <a:cubicBezTo>
                    <a:pt x="254" y="9"/>
                    <a:pt x="171" y="0"/>
                    <a:pt x="147" y="0"/>
                  </a:cubicBezTo>
                  <a:close/>
                </a:path>
              </a:pathLst>
            </a:cu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80" name="Freeform 60"/>
            <p:cNvSpPr>
              <a:spLocks/>
            </p:cNvSpPr>
            <p:nvPr/>
          </p:nvSpPr>
          <p:spPr bwMode="auto">
            <a:xfrm flipH="1">
              <a:off x="1305" y="3161"/>
              <a:ext cx="643" cy="400"/>
            </a:xfrm>
            <a:custGeom>
              <a:avLst/>
              <a:gdLst>
                <a:gd name="T0" fmla="*/ 787 w 1716"/>
                <a:gd name="T1" fmla="*/ 38 h 1261"/>
                <a:gd name="T2" fmla="*/ 853 w 1716"/>
                <a:gd name="T3" fmla="*/ 76 h 1261"/>
                <a:gd name="T4" fmla="*/ 881 w 1716"/>
                <a:gd name="T5" fmla="*/ 104 h 1261"/>
                <a:gd name="T6" fmla="*/ 966 w 1716"/>
                <a:gd name="T7" fmla="*/ 142 h 1261"/>
                <a:gd name="T8" fmla="*/ 1127 w 1716"/>
                <a:gd name="T9" fmla="*/ 132 h 1261"/>
                <a:gd name="T10" fmla="*/ 1174 w 1716"/>
                <a:gd name="T11" fmla="*/ 85 h 1261"/>
                <a:gd name="T12" fmla="*/ 1230 w 1716"/>
                <a:gd name="T13" fmla="*/ 47 h 1261"/>
                <a:gd name="T14" fmla="*/ 1363 w 1716"/>
                <a:gd name="T15" fmla="*/ 9 h 1261"/>
                <a:gd name="T16" fmla="*/ 1495 w 1716"/>
                <a:gd name="T17" fmla="*/ 19 h 1261"/>
                <a:gd name="T18" fmla="*/ 1561 w 1716"/>
                <a:gd name="T19" fmla="*/ 151 h 1261"/>
                <a:gd name="T20" fmla="*/ 1589 w 1716"/>
                <a:gd name="T21" fmla="*/ 425 h 1261"/>
                <a:gd name="T22" fmla="*/ 1618 w 1716"/>
                <a:gd name="T23" fmla="*/ 585 h 1261"/>
                <a:gd name="T24" fmla="*/ 1646 w 1716"/>
                <a:gd name="T25" fmla="*/ 793 h 1261"/>
                <a:gd name="T26" fmla="*/ 1703 w 1716"/>
                <a:gd name="T27" fmla="*/ 1020 h 1261"/>
                <a:gd name="T28" fmla="*/ 1712 w 1716"/>
                <a:gd name="T29" fmla="*/ 1058 h 1261"/>
                <a:gd name="T30" fmla="*/ 1684 w 1716"/>
                <a:gd name="T31" fmla="*/ 1076 h 1261"/>
                <a:gd name="T32" fmla="*/ 1561 w 1716"/>
                <a:gd name="T33" fmla="*/ 1086 h 1261"/>
                <a:gd name="T34" fmla="*/ 1372 w 1716"/>
                <a:gd name="T35" fmla="*/ 500 h 1261"/>
                <a:gd name="T36" fmla="*/ 1334 w 1716"/>
                <a:gd name="T37" fmla="*/ 406 h 1261"/>
                <a:gd name="T38" fmla="*/ 1334 w 1716"/>
                <a:gd name="T39" fmla="*/ 1228 h 1261"/>
                <a:gd name="T40" fmla="*/ 1230 w 1716"/>
                <a:gd name="T41" fmla="*/ 1218 h 1261"/>
                <a:gd name="T42" fmla="*/ 985 w 1716"/>
                <a:gd name="T43" fmla="*/ 1143 h 1261"/>
                <a:gd name="T44" fmla="*/ 560 w 1716"/>
                <a:gd name="T45" fmla="*/ 1143 h 1261"/>
                <a:gd name="T46" fmla="*/ 569 w 1716"/>
                <a:gd name="T47" fmla="*/ 1114 h 1261"/>
                <a:gd name="T48" fmla="*/ 607 w 1716"/>
                <a:gd name="T49" fmla="*/ 519 h 1261"/>
                <a:gd name="T50" fmla="*/ 598 w 1716"/>
                <a:gd name="T51" fmla="*/ 425 h 1261"/>
                <a:gd name="T52" fmla="*/ 560 w 1716"/>
                <a:gd name="T53" fmla="*/ 491 h 1261"/>
                <a:gd name="T54" fmla="*/ 447 w 1716"/>
                <a:gd name="T55" fmla="*/ 614 h 1261"/>
                <a:gd name="T56" fmla="*/ 418 w 1716"/>
                <a:gd name="T57" fmla="*/ 642 h 1261"/>
                <a:gd name="T58" fmla="*/ 305 w 1716"/>
                <a:gd name="T59" fmla="*/ 822 h 1261"/>
                <a:gd name="T60" fmla="*/ 229 w 1716"/>
                <a:gd name="T61" fmla="*/ 954 h 1261"/>
                <a:gd name="T62" fmla="*/ 154 w 1716"/>
                <a:gd name="T63" fmla="*/ 925 h 1261"/>
                <a:gd name="T64" fmla="*/ 144 w 1716"/>
                <a:gd name="T65" fmla="*/ 897 h 1261"/>
                <a:gd name="T66" fmla="*/ 116 w 1716"/>
                <a:gd name="T67" fmla="*/ 878 h 1261"/>
                <a:gd name="T68" fmla="*/ 88 w 1716"/>
                <a:gd name="T69" fmla="*/ 850 h 1261"/>
                <a:gd name="T70" fmla="*/ 22 w 1716"/>
                <a:gd name="T71" fmla="*/ 812 h 1261"/>
                <a:gd name="T72" fmla="*/ 3 w 1716"/>
                <a:gd name="T73" fmla="*/ 774 h 1261"/>
                <a:gd name="T74" fmla="*/ 41 w 1716"/>
                <a:gd name="T75" fmla="*/ 718 h 1261"/>
                <a:gd name="T76" fmla="*/ 211 w 1716"/>
                <a:gd name="T77" fmla="*/ 557 h 1261"/>
                <a:gd name="T78" fmla="*/ 296 w 1716"/>
                <a:gd name="T79" fmla="*/ 415 h 1261"/>
                <a:gd name="T80" fmla="*/ 390 w 1716"/>
                <a:gd name="T81" fmla="*/ 330 h 1261"/>
                <a:gd name="T82" fmla="*/ 541 w 1716"/>
                <a:gd name="T83" fmla="*/ 151 h 1261"/>
                <a:gd name="T84" fmla="*/ 617 w 1716"/>
                <a:gd name="T85" fmla="*/ 47 h 1261"/>
                <a:gd name="T86" fmla="*/ 711 w 1716"/>
                <a:gd name="T87" fmla="*/ 0 h 1261"/>
                <a:gd name="T88" fmla="*/ 758 w 1716"/>
                <a:gd name="T89" fmla="*/ 9 h 1261"/>
                <a:gd name="T90" fmla="*/ 787 w 1716"/>
                <a:gd name="T91" fmla="*/ 38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16" h="1261">
                  <a:moveTo>
                    <a:pt x="787" y="38"/>
                  </a:moveTo>
                  <a:cubicBezTo>
                    <a:pt x="808" y="52"/>
                    <a:pt x="832" y="61"/>
                    <a:pt x="853" y="76"/>
                  </a:cubicBezTo>
                  <a:cubicBezTo>
                    <a:pt x="864" y="84"/>
                    <a:pt x="871" y="96"/>
                    <a:pt x="881" y="104"/>
                  </a:cubicBezTo>
                  <a:cubicBezTo>
                    <a:pt x="907" y="125"/>
                    <a:pt x="935" y="131"/>
                    <a:pt x="966" y="142"/>
                  </a:cubicBezTo>
                  <a:cubicBezTo>
                    <a:pt x="1020" y="139"/>
                    <a:pt x="1074" y="140"/>
                    <a:pt x="1127" y="132"/>
                  </a:cubicBezTo>
                  <a:cubicBezTo>
                    <a:pt x="1158" y="127"/>
                    <a:pt x="1155" y="102"/>
                    <a:pt x="1174" y="85"/>
                  </a:cubicBezTo>
                  <a:cubicBezTo>
                    <a:pt x="1191" y="70"/>
                    <a:pt x="1211" y="60"/>
                    <a:pt x="1230" y="47"/>
                  </a:cubicBezTo>
                  <a:cubicBezTo>
                    <a:pt x="1268" y="21"/>
                    <a:pt x="1363" y="9"/>
                    <a:pt x="1363" y="9"/>
                  </a:cubicBezTo>
                  <a:cubicBezTo>
                    <a:pt x="1407" y="12"/>
                    <a:pt x="1453" y="6"/>
                    <a:pt x="1495" y="19"/>
                  </a:cubicBezTo>
                  <a:cubicBezTo>
                    <a:pt x="1515" y="25"/>
                    <a:pt x="1554" y="130"/>
                    <a:pt x="1561" y="151"/>
                  </a:cubicBezTo>
                  <a:cubicBezTo>
                    <a:pt x="1573" y="242"/>
                    <a:pt x="1577" y="334"/>
                    <a:pt x="1589" y="425"/>
                  </a:cubicBezTo>
                  <a:cubicBezTo>
                    <a:pt x="1596" y="479"/>
                    <a:pt x="1612" y="531"/>
                    <a:pt x="1618" y="585"/>
                  </a:cubicBezTo>
                  <a:cubicBezTo>
                    <a:pt x="1626" y="654"/>
                    <a:pt x="1623" y="728"/>
                    <a:pt x="1646" y="793"/>
                  </a:cubicBezTo>
                  <a:cubicBezTo>
                    <a:pt x="1656" y="874"/>
                    <a:pt x="1666" y="947"/>
                    <a:pt x="1703" y="1020"/>
                  </a:cubicBezTo>
                  <a:cubicBezTo>
                    <a:pt x="1706" y="1033"/>
                    <a:pt x="1716" y="1046"/>
                    <a:pt x="1712" y="1058"/>
                  </a:cubicBezTo>
                  <a:cubicBezTo>
                    <a:pt x="1708" y="1069"/>
                    <a:pt x="1695" y="1074"/>
                    <a:pt x="1684" y="1076"/>
                  </a:cubicBezTo>
                  <a:cubicBezTo>
                    <a:pt x="1644" y="1083"/>
                    <a:pt x="1602" y="1083"/>
                    <a:pt x="1561" y="1086"/>
                  </a:cubicBezTo>
                  <a:cubicBezTo>
                    <a:pt x="1188" y="1206"/>
                    <a:pt x="1574" y="637"/>
                    <a:pt x="1372" y="500"/>
                  </a:cubicBezTo>
                  <a:cubicBezTo>
                    <a:pt x="1362" y="467"/>
                    <a:pt x="1345" y="438"/>
                    <a:pt x="1334" y="406"/>
                  </a:cubicBezTo>
                  <a:cubicBezTo>
                    <a:pt x="1335" y="463"/>
                    <a:pt x="1358" y="1148"/>
                    <a:pt x="1334" y="1228"/>
                  </a:cubicBezTo>
                  <a:cubicBezTo>
                    <a:pt x="1324" y="1261"/>
                    <a:pt x="1265" y="1222"/>
                    <a:pt x="1230" y="1218"/>
                  </a:cubicBezTo>
                  <a:cubicBezTo>
                    <a:pt x="1144" y="1207"/>
                    <a:pt x="1066" y="1169"/>
                    <a:pt x="985" y="1143"/>
                  </a:cubicBezTo>
                  <a:cubicBezTo>
                    <a:pt x="918" y="1145"/>
                    <a:pt x="647" y="1162"/>
                    <a:pt x="560" y="1143"/>
                  </a:cubicBezTo>
                  <a:cubicBezTo>
                    <a:pt x="550" y="1141"/>
                    <a:pt x="566" y="1124"/>
                    <a:pt x="569" y="1114"/>
                  </a:cubicBezTo>
                  <a:cubicBezTo>
                    <a:pt x="576" y="920"/>
                    <a:pt x="562" y="710"/>
                    <a:pt x="607" y="519"/>
                  </a:cubicBezTo>
                  <a:cubicBezTo>
                    <a:pt x="604" y="488"/>
                    <a:pt x="616" y="451"/>
                    <a:pt x="598" y="425"/>
                  </a:cubicBezTo>
                  <a:cubicBezTo>
                    <a:pt x="584" y="404"/>
                    <a:pt x="561" y="489"/>
                    <a:pt x="560" y="491"/>
                  </a:cubicBezTo>
                  <a:cubicBezTo>
                    <a:pt x="534" y="543"/>
                    <a:pt x="488" y="573"/>
                    <a:pt x="447" y="614"/>
                  </a:cubicBezTo>
                  <a:cubicBezTo>
                    <a:pt x="437" y="624"/>
                    <a:pt x="418" y="642"/>
                    <a:pt x="418" y="642"/>
                  </a:cubicBezTo>
                  <a:cubicBezTo>
                    <a:pt x="386" y="707"/>
                    <a:pt x="341" y="760"/>
                    <a:pt x="305" y="822"/>
                  </a:cubicBezTo>
                  <a:cubicBezTo>
                    <a:pt x="278" y="869"/>
                    <a:pt x="275" y="924"/>
                    <a:pt x="229" y="954"/>
                  </a:cubicBezTo>
                  <a:cubicBezTo>
                    <a:pt x="215" y="949"/>
                    <a:pt x="160" y="930"/>
                    <a:pt x="154" y="925"/>
                  </a:cubicBezTo>
                  <a:cubicBezTo>
                    <a:pt x="146" y="919"/>
                    <a:pt x="150" y="905"/>
                    <a:pt x="144" y="897"/>
                  </a:cubicBezTo>
                  <a:cubicBezTo>
                    <a:pt x="137" y="888"/>
                    <a:pt x="125" y="885"/>
                    <a:pt x="116" y="878"/>
                  </a:cubicBezTo>
                  <a:cubicBezTo>
                    <a:pt x="106" y="870"/>
                    <a:pt x="99" y="858"/>
                    <a:pt x="88" y="850"/>
                  </a:cubicBezTo>
                  <a:cubicBezTo>
                    <a:pt x="67" y="835"/>
                    <a:pt x="43" y="826"/>
                    <a:pt x="22" y="812"/>
                  </a:cubicBezTo>
                  <a:cubicBezTo>
                    <a:pt x="16" y="799"/>
                    <a:pt x="0" y="788"/>
                    <a:pt x="3" y="774"/>
                  </a:cubicBezTo>
                  <a:cubicBezTo>
                    <a:pt x="7" y="752"/>
                    <a:pt x="28" y="737"/>
                    <a:pt x="41" y="718"/>
                  </a:cubicBezTo>
                  <a:cubicBezTo>
                    <a:pt x="80" y="661"/>
                    <a:pt x="156" y="598"/>
                    <a:pt x="211" y="557"/>
                  </a:cubicBezTo>
                  <a:cubicBezTo>
                    <a:pt x="235" y="521"/>
                    <a:pt x="267" y="444"/>
                    <a:pt x="296" y="415"/>
                  </a:cubicBezTo>
                  <a:cubicBezTo>
                    <a:pt x="325" y="386"/>
                    <a:pt x="363" y="357"/>
                    <a:pt x="390" y="330"/>
                  </a:cubicBezTo>
                  <a:cubicBezTo>
                    <a:pt x="445" y="275"/>
                    <a:pt x="475" y="196"/>
                    <a:pt x="541" y="151"/>
                  </a:cubicBezTo>
                  <a:cubicBezTo>
                    <a:pt x="558" y="105"/>
                    <a:pt x="577" y="73"/>
                    <a:pt x="617" y="47"/>
                  </a:cubicBezTo>
                  <a:cubicBezTo>
                    <a:pt x="643" y="6"/>
                    <a:pt x="663" y="9"/>
                    <a:pt x="711" y="0"/>
                  </a:cubicBezTo>
                  <a:cubicBezTo>
                    <a:pt x="727" y="3"/>
                    <a:pt x="745" y="0"/>
                    <a:pt x="758" y="9"/>
                  </a:cubicBezTo>
                  <a:cubicBezTo>
                    <a:pt x="810" y="44"/>
                    <a:pt x="733" y="38"/>
                    <a:pt x="787" y="38"/>
                  </a:cubicBezTo>
                  <a:close/>
                </a:path>
              </a:pathLst>
            </a:custGeom>
            <a:solidFill>
              <a:srgbClr val="33CC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81" name="Freeform 61"/>
            <p:cNvSpPr>
              <a:spLocks/>
            </p:cNvSpPr>
            <p:nvPr/>
          </p:nvSpPr>
          <p:spPr bwMode="auto">
            <a:xfrm flipH="1">
              <a:off x="1398" y="3488"/>
              <a:ext cx="366" cy="423"/>
            </a:xfrm>
            <a:custGeom>
              <a:avLst/>
              <a:gdLst>
                <a:gd name="T0" fmla="*/ 75 w 680"/>
                <a:gd name="T1" fmla="*/ 83 h 940"/>
                <a:gd name="T2" fmla="*/ 66 w 680"/>
                <a:gd name="T3" fmla="*/ 206 h 940"/>
                <a:gd name="T4" fmla="*/ 56 w 680"/>
                <a:gd name="T5" fmla="*/ 593 h 940"/>
                <a:gd name="T6" fmla="*/ 0 w 680"/>
                <a:gd name="T7" fmla="*/ 848 h 940"/>
                <a:gd name="T8" fmla="*/ 28 w 680"/>
                <a:gd name="T9" fmla="*/ 858 h 940"/>
                <a:gd name="T10" fmla="*/ 293 w 680"/>
                <a:gd name="T11" fmla="*/ 839 h 940"/>
                <a:gd name="T12" fmla="*/ 302 w 680"/>
                <a:gd name="T13" fmla="*/ 773 h 940"/>
                <a:gd name="T14" fmla="*/ 321 w 680"/>
                <a:gd name="T15" fmla="*/ 688 h 940"/>
                <a:gd name="T16" fmla="*/ 330 w 680"/>
                <a:gd name="T17" fmla="*/ 348 h 940"/>
                <a:gd name="T18" fmla="*/ 340 w 680"/>
                <a:gd name="T19" fmla="*/ 376 h 940"/>
                <a:gd name="T20" fmla="*/ 349 w 680"/>
                <a:gd name="T21" fmla="*/ 471 h 940"/>
                <a:gd name="T22" fmla="*/ 368 w 680"/>
                <a:gd name="T23" fmla="*/ 612 h 940"/>
                <a:gd name="T24" fmla="*/ 377 w 680"/>
                <a:gd name="T25" fmla="*/ 924 h 940"/>
                <a:gd name="T26" fmla="*/ 491 w 680"/>
                <a:gd name="T27" fmla="*/ 905 h 940"/>
                <a:gd name="T28" fmla="*/ 547 w 680"/>
                <a:gd name="T29" fmla="*/ 886 h 940"/>
                <a:gd name="T30" fmla="*/ 680 w 680"/>
                <a:gd name="T31" fmla="*/ 886 h 940"/>
                <a:gd name="T32" fmla="*/ 623 w 680"/>
                <a:gd name="T33" fmla="*/ 659 h 940"/>
                <a:gd name="T34" fmla="*/ 557 w 680"/>
                <a:gd name="T35" fmla="*/ 168 h 940"/>
                <a:gd name="T36" fmla="*/ 481 w 680"/>
                <a:gd name="T37" fmla="*/ 46 h 940"/>
                <a:gd name="T38" fmla="*/ 170 w 680"/>
                <a:gd name="T39" fmla="*/ 27 h 940"/>
                <a:gd name="T40" fmla="*/ 94 w 680"/>
                <a:gd name="T41" fmla="*/ 55 h 940"/>
                <a:gd name="T42" fmla="*/ 75 w 680"/>
                <a:gd name="T43" fmla="*/ 83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80" h="940">
                  <a:moveTo>
                    <a:pt x="75" y="83"/>
                  </a:moveTo>
                  <a:cubicBezTo>
                    <a:pt x="72" y="124"/>
                    <a:pt x="68" y="165"/>
                    <a:pt x="66" y="206"/>
                  </a:cubicBezTo>
                  <a:cubicBezTo>
                    <a:pt x="61" y="335"/>
                    <a:pt x="62" y="464"/>
                    <a:pt x="56" y="593"/>
                  </a:cubicBezTo>
                  <a:cubicBezTo>
                    <a:pt x="52" y="675"/>
                    <a:pt x="19" y="767"/>
                    <a:pt x="0" y="848"/>
                  </a:cubicBezTo>
                  <a:cubicBezTo>
                    <a:pt x="9" y="851"/>
                    <a:pt x="18" y="858"/>
                    <a:pt x="28" y="858"/>
                  </a:cubicBezTo>
                  <a:cubicBezTo>
                    <a:pt x="117" y="855"/>
                    <a:pt x="208" y="865"/>
                    <a:pt x="293" y="839"/>
                  </a:cubicBezTo>
                  <a:cubicBezTo>
                    <a:pt x="314" y="832"/>
                    <a:pt x="298" y="795"/>
                    <a:pt x="302" y="773"/>
                  </a:cubicBezTo>
                  <a:cubicBezTo>
                    <a:pt x="307" y="744"/>
                    <a:pt x="315" y="716"/>
                    <a:pt x="321" y="688"/>
                  </a:cubicBezTo>
                  <a:cubicBezTo>
                    <a:pt x="324" y="575"/>
                    <a:pt x="323" y="461"/>
                    <a:pt x="330" y="348"/>
                  </a:cubicBezTo>
                  <a:cubicBezTo>
                    <a:pt x="331" y="338"/>
                    <a:pt x="338" y="366"/>
                    <a:pt x="340" y="376"/>
                  </a:cubicBezTo>
                  <a:cubicBezTo>
                    <a:pt x="345" y="407"/>
                    <a:pt x="346" y="439"/>
                    <a:pt x="349" y="471"/>
                  </a:cubicBezTo>
                  <a:cubicBezTo>
                    <a:pt x="359" y="574"/>
                    <a:pt x="354" y="538"/>
                    <a:pt x="368" y="612"/>
                  </a:cubicBezTo>
                  <a:cubicBezTo>
                    <a:pt x="371" y="716"/>
                    <a:pt x="346" y="825"/>
                    <a:pt x="377" y="924"/>
                  </a:cubicBezTo>
                  <a:cubicBezTo>
                    <a:pt x="382" y="940"/>
                    <a:pt x="467" y="913"/>
                    <a:pt x="491" y="905"/>
                  </a:cubicBezTo>
                  <a:cubicBezTo>
                    <a:pt x="510" y="899"/>
                    <a:pt x="547" y="886"/>
                    <a:pt x="547" y="886"/>
                  </a:cubicBezTo>
                  <a:cubicBezTo>
                    <a:pt x="620" y="900"/>
                    <a:pt x="605" y="911"/>
                    <a:pt x="680" y="886"/>
                  </a:cubicBezTo>
                  <a:cubicBezTo>
                    <a:pt x="664" y="809"/>
                    <a:pt x="646" y="735"/>
                    <a:pt x="623" y="659"/>
                  </a:cubicBezTo>
                  <a:cubicBezTo>
                    <a:pt x="616" y="486"/>
                    <a:pt x="604" y="333"/>
                    <a:pt x="557" y="168"/>
                  </a:cubicBezTo>
                  <a:cubicBezTo>
                    <a:pt x="543" y="119"/>
                    <a:pt x="529" y="69"/>
                    <a:pt x="481" y="46"/>
                  </a:cubicBezTo>
                  <a:cubicBezTo>
                    <a:pt x="388" y="0"/>
                    <a:pt x="274" y="30"/>
                    <a:pt x="170" y="27"/>
                  </a:cubicBezTo>
                  <a:cubicBezTo>
                    <a:pt x="144" y="32"/>
                    <a:pt x="113" y="32"/>
                    <a:pt x="94" y="55"/>
                  </a:cubicBezTo>
                  <a:cubicBezTo>
                    <a:pt x="69" y="86"/>
                    <a:pt x="100" y="83"/>
                    <a:pt x="75" y="83"/>
                  </a:cubicBezTo>
                  <a:close/>
                </a:path>
              </a:pathLst>
            </a:custGeom>
            <a:solidFill>
              <a:srgbClr val="FF66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582" name="Oval 62"/>
            <p:cNvSpPr>
              <a:spLocks noChangeArrowheads="1"/>
            </p:cNvSpPr>
            <p:nvPr/>
          </p:nvSpPr>
          <p:spPr bwMode="auto">
            <a:xfrm flipH="1">
              <a:off x="1524" y="2926"/>
              <a:ext cx="48" cy="51"/>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83" name="Oval 63"/>
            <p:cNvSpPr>
              <a:spLocks noChangeArrowheads="1"/>
            </p:cNvSpPr>
            <p:nvPr/>
          </p:nvSpPr>
          <p:spPr bwMode="auto">
            <a:xfrm>
              <a:off x="1339" y="2862"/>
              <a:ext cx="60" cy="6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84" name="Text Box 64"/>
            <p:cNvSpPr txBox="1">
              <a:spLocks noChangeArrowheads="1"/>
            </p:cNvSpPr>
            <p:nvPr/>
          </p:nvSpPr>
          <p:spPr bwMode="auto">
            <a:xfrm flipH="1">
              <a:off x="1461" y="2808"/>
              <a:ext cx="2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t>H</a:t>
              </a:r>
            </a:p>
          </p:txBody>
        </p:sp>
      </p:grpSp>
      <p:sp>
        <p:nvSpPr>
          <p:cNvPr id="235585" name="AutoShape 65"/>
          <p:cNvSpPr>
            <a:spLocks noChangeArrowheads="1"/>
          </p:cNvSpPr>
          <p:nvPr/>
        </p:nvSpPr>
        <p:spPr bwMode="auto">
          <a:xfrm>
            <a:off x="4013200" y="5392738"/>
            <a:ext cx="4495800" cy="809625"/>
          </a:xfrm>
          <a:prstGeom prst="wedgeRoundRectCallout">
            <a:avLst>
              <a:gd name="adj1" fmla="val -87713"/>
              <a:gd name="adj2" fmla="val -85685"/>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GB" altLang="en-US" sz="2000">
                <a:solidFill>
                  <a:schemeClr val="tx1"/>
                </a:solidFill>
              </a:rPr>
              <a:t>Now we’re both really stable.  We’ve formed a covalent bond.</a:t>
            </a:r>
          </a:p>
        </p:txBody>
      </p:sp>
    </p:spTree>
    <p:extLst>
      <p:ext uri="{BB962C8B-B14F-4D97-AF65-F5344CB8AC3E}">
        <p14:creationId xmlns:p14="http://schemas.microsoft.com/office/powerpoint/2010/main" val="3112282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5523"/>
                                        </p:tgtEl>
                                        <p:attrNameLst>
                                          <p:attrName>style.visibility</p:attrName>
                                        </p:attrNameLst>
                                      </p:cBhvr>
                                      <p:to>
                                        <p:strVal val="visible"/>
                                      </p:to>
                                    </p:set>
                                    <p:animEffect transition="in" filter="wipe(left)">
                                      <p:cBhvr>
                                        <p:cTn id="7" dur="500"/>
                                        <p:tgtEl>
                                          <p:spTgt spid="2355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235544"/>
                                        </p:tgtEl>
                                        <p:attrNameLst>
                                          <p:attrName>style.visibility</p:attrName>
                                        </p:attrNameLst>
                                      </p:cBhvr>
                                      <p:to>
                                        <p:strVal val="visible"/>
                                      </p:to>
                                    </p:set>
                                    <p:anim calcmode="lin" valueType="num">
                                      <p:cBhvr additive="base">
                                        <p:cTn id="12" dur="500" fill="hold"/>
                                        <p:tgtEl>
                                          <p:spTgt spid="235544"/>
                                        </p:tgtEl>
                                        <p:attrNameLst>
                                          <p:attrName>ppt_x</p:attrName>
                                        </p:attrNameLst>
                                      </p:cBhvr>
                                      <p:tavLst>
                                        <p:tav tm="0">
                                          <p:val>
                                            <p:strVal val="1+#ppt_w/2"/>
                                          </p:val>
                                        </p:tav>
                                        <p:tav tm="100000">
                                          <p:val>
                                            <p:strVal val="#ppt_x"/>
                                          </p:val>
                                        </p:tav>
                                      </p:tavLst>
                                    </p:anim>
                                    <p:anim calcmode="lin" valueType="num">
                                      <p:cBhvr additive="base">
                                        <p:cTn id="13" dur="500" fill="hold"/>
                                        <p:tgtEl>
                                          <p:spTgt spid="235544"/>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2" fill="hold" grpId="0" nodeType="clickEffect">
                                  <p:stCondLst>
                                    <p:cond delay="0"/>
                                  </p:stCondLst>
                                  <p:childTnLst>
                                    <p:set>
                                      <p:cBhvr>
                                        <p:cTn id="17" dur="1" fill="hold">
                                          <p:stCondLst>
                                            <p:cond delay="0"/>
                                          </p:stCondLst>
                                        </p:cTn>
                                        <p:tgtEl>
                                          <p:spTgt spid="235524"/>
                                        </p:tgtEl>
                                        <p:attrNameLst>
                                          <p:attrName>style.visibility</p:attrName>
                                        </p:attrNameLst>
                                      </p:cBhvr>
                                      <p:to>
                                        <p:strVal val="visible"/>
                                      </p:to>
                                    </p:set>
                                    <p:animEffect transition="in" filter="wipe(right)">
                                      <p:cBhvr>
                                        <p:cTn id="18" dur="500"/>
                                        <p:tgtEl>
                                          <p:spTgt spid="23552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235556"/>
                                        </p:tgtEl>
                                        <p:attrNameLst>
                                          <p:attrName>style.visibility</p:attrName>
                                        </p:attrNameLst>
                                      </p:cBhvr>
                                      <p:to>
                                        <p:strVal val="visible"/>
                                      </p:to>
                                    </p:set>
                                    <p:anim calcmode="lin" valueType="num">
                                      <p:cBhvr additive="base">
                                        <p:cTn id="23" dur="500" fill="hold"/>
                                        <p:tgtEl>
                                          <p:spTgt spid="235556"/>
                                        </p:tgtEl>
                                        <p:attrNameLst>
                                          <p:attrName>ppt_x</p:attrName>
                                        </p:attrNameLst>
                                      </p:cBhvr>
                                      <p:tavLst>
                                        <p:tav tm="0">
                                          <p:val>
                                            <p:strVal val="0-#ppt_w/2"/>
                                          </p:val>
                                        </p:tav>
                                        <p:tav tm="100000">
                                          <p:val>
                                            <p:strVal val="#ppt_x"/>
                                          </p:val>
                                        </p:tav>
                                      </p:tavLst>
                                    </p:anim>
                                    <p:anim calcmode="lin" valueType="num">
                                      <p:cBhvr additive="base">
                                        <p:cTn id="24" dur="500" fill="hold"/>
                                        <p:tgtEl>
                                          <p:spTgt spid="235556"/>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35585"/>
                                        </p:tgtEl>
                                        <p:attrNameLst>
                                          <p:attrName>style.visibility</p:attrName>
                                        </p:attrNameLst>
                                      </p:cBhvr>
                                      <p:to>
                                        <p:strVal val="visible"/>
                                      </p:to>
                                    </p:set>
                                    <p:animEffect transition="in" filter="wipe(left)">
                                      <p:cBhvr>
                                        <p:cTn id="29" dur="500"/>
                                        <p:tgtEl>
                                          <p:spTgt spid="2355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3" grpId="0" animBg="1" autoUpdateAnimBg="0"/>
      <p:bldP spid="235524" grpId="0" animBg="1" autoUpdateAnimBg="0"/>
      <p:bldP spid="235585"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Date Placeholder 2"/>
          <p:cNvSpPr>
            <a:spLocks noGrp="1"/>
          </p:cNvSpPr>
          <p:nvPr>
            <p:ph type="dt" sz="half" idx="10"/>
          </p:nvPr>
        </p:nvSpPr>
        <p:spPr/>
        <p:txBody>
          <a:bodyPr/>
          <a:lstStyle/>
          <a:p>
            <a:fld id="{877D09F6-B436-41F6-878A-5C19C3D6E1B1}" type="datetime1">
              <a:rPr lang="en-GB" altLang="en-US"/>
              <a:pPr/>
              <a:t>02/06/2020</a:t>
            </a:fld>
            <a:endParaRPr lang="en-GB" altLang="en-US"/>
          </a:p>
        </p:txBody>
      </p:sp>
      <p:sp>
        <p:nvSpPr>
          <p:cNvPr id="18434" name="Rectangle 2"/>
          <p:cNvSpPr>
            <a:spLocks noGrp="1" noChangeArrowheads="1"/>
          </p:cNvSpPr>
          <p:nvPr>
            <p:ph type="title"/>
          </p:nvPr>
        </p:nvSpPr>
        <p:spPr/>
        <p:txBody>
          <a:bodyPr/>
          <a:lstStyle/>
          <a:p>
            <a:r>
              <a:rPr lang="en-GB" altLang="en-US"/>
              <a:t>Covalent bonding</a:t>
            </a:r>
          </a:p>
        </p:txBody>
      </p:sp>
      <p:sp>
        <p:nvSpPr>
          <p:cNvPr id="18435" name="Text Box 3"/>
          <p:cNvSpPr txBox="1">
            <a:spLocks noChangeArrowheads="1"/>
          </p:cNvSpPr>
          <p:nvPr/>
        </p:nvSpPr>
        <p:spPr bwMode="auto">
          <a:xfrm>
            <a:off x="0" y="764704"/>
            <a:ext cx="914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solidFill>
                  <a:srgbClr val="CCECFF"/>
                </a:solidFill>
              </a:rPr>
              <a:t>Consider an atom of hydrogen:</a:t>
            </a:r>
          </a:p>
        </p:txBody>
      </p:sp>
      <p:grpSp>
        <p:nvGrpSpPr>
          <p:cNvPr id="18440" name="Group 8"/>
          <p:cNvGrpSpPr>
            <a:grpSpLocks/>
          </p:cNvGrpSpPr>
          <p:nvPr/>
        </p:nvGrpSpPr>
        <p:grpSpPr bwMode="auto">
          <a:xfrm>
            <a:off x="228600" y="1260004"/>
            <a:ext cx="1181100" cy="1114425"/>
            <a:chOff x="552" y="1188"/>
            <a:chExt cx="852" cy="804"/>
          </a:xfrm>
        </p:grpSpPr>
        <p:sp>
          <p:nvSpPr>
            <p:cNvPr id="18436" name="Oval 4"/>
            <p:cNvSpPr>
              <a:spLocks noChangeArrowheads="1"/>
            </p:cNvSpPr>
            <p:nvPr/>
          </p:nvSpPr>
          <p:spPr bwMode="auto">
            <a:xfrm>
              <a:off x="552" y="1188"/>
              <a:ext cx="804" cy="804"/>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37" name="Oval 5"/>
            <p:cNvSpPr>
              <a:spLocks noChangeArrowheads="1"/>
            </p:cNvSpPr>
            <p:nvPr/>
          </p:nvSpPr>
          <p:spPr bwMode="auto">
            <a:xfrm>
              <a:off x="840" y="1464"/>
              <a:ext cx="240" cy="24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38" name="Oval 6"/>
            <p:cNvSpPr>
              <a:spLocks noChangeArrowheads="1"/>
            </p:cNvSpPr>
            <p:nvPr/>
          </p:nvSpPr>
          <p:spPr bwMode="auto">
            <a:xfrm>
              <a:off x="1260" y="1356"/>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8451" name="Group 19"/>
          <p:cNvGrpSpPr>
            <a:grpSpLocks/>
          </p:cNvGrpSpPr>
          <p:nvPr/>
        </p:nvGrpSpPr>
        <p:grpSpPr bwMode="auto">
          <a:xfrm>
            <a:off x="255588" y="2669704"/>
            <a:ext cx="2163762" cy="1123950"/>
            <a:chOff x="144" y="2160"/>
            <a:chExt cx="1548" cy="804"/>
          </a:xfrm>
        </p:grpSpPr>
        <p:sp>
          <p:nvSpPr>
            <p:cNvPr id="18442" name="Oval 10"/>
            <p:cNvSpPr>
              <a:spLocks noChangeArrowheads="1"/>
            </p:cNvSpPr>
            <p:nvPr/>
          </p:nvSpPr>
          <p:spPr bwMode="auto">
            <a:xfrm>
              <a:off x="144" y="2160"/>
              <a:ext cx="804" cy="804"/>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43" name="Oval 11"/>
            <p:cNvSpPr>
              <a:spLocks noChangeArrowheads="1"/>
            </p:cNvSpPr>
            <p:nvPr/>
          </p:nvSpPr>
          <p:spPr bwMode="auto">
            <a:xfrm>
              <a:off x="432" y="2436"/>
              <a:ext cx="240" cy="24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18445" name="Group 13"/>
            <p:cNvGrpSpPr>
              <a:grpSpLocks/>
            </p:cNvGrpSpPr>
            <p:nvPr/>
          </p:nvGrpSpPr>
          <p:grpSpPr bwMode="auto">
            <a:xfrm rot="-10800000">
              <a:off x="840" y="2160"/>
              <a:ext cx="852" cy="804"/>
              <a:chOff x="552" y="1188"/>
              <a:chExt cx="852" cy="804"/>
            </a:xfrm>
          </p:grpSpPr>
          <p:sp>
            <p:nvSpPr>
              <p:cNvPr id="18446" name="Oval 14"/>
              <p:cNvSpPr>
                <a:spLocks noChangeArrowheads="1"/>
              </p:cNvSpPr>
              <p:nvPr/>
            </p:nvSpPr>
            <p:spPr bwMode="auto">
              <a:xfrm>
                <a:off x="552" y="1188"/>
                <a:ext cx="804" cy="804"/>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47" name="Oval 15"/>
              <p:cNvSpPr>
                <a:spLocks noChangeArrowheads="1"/>
              </p:cNvSpPr>
              <p:nvPr/>
            </p:nvSpPr>
            <p:spPr bwMode="auto">
              <a:xfrm>
                <a:off x="840" y="1464"/>
                <a:ext cx="240" cy="24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48" name="Oval 16"/>
              <p:cNvSpPr>
                <a:spLocks noChangeArrowheads="1"/>
              </p:cNvSpPr>
              <p:nvPr/>
            </p:nvSpPr>
            <p:spPr bwMode="auto">
              <a:xfrm>
                <a:off x="1260" y="1356"/>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18444" name="Oval 12"/>
            <p:cNvSpPr>
              <a:spLocks noChangeArrowheads="1"/>
            </p:cNvSpPr>
            <p:nvPr/>
          </p:nvSpPr>
          <p:spPr bwMode="auto">
            <a:xfrm>
              <a:off x="852" y="2328"/>
              <a:ext cx="144" cy="144"/>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8471" name="Group 39"/>
          <p:cNvGrpSpPr>
            <a:grpSpLocks/>
          </p:cNvGrpSpPr>
          <p:nvPr/>
        </p:nvGrpSpPr>
        <p:grpSpPr bwMode="auto">
          <a:xfrm>
            <a:off x="6429951" y="3976836"/>
            <a:ext cx="2714049" cy="2116460"/>
            <a:chOff x="4452" y="2832"/>
            <a:chExt cx="1308" cy="1020"/>
          </a:xfrm>
        </p:grpSpPr>
        <p:sp>
          <p:nvSpPr>
            <p:cNvPr id="18470" name="Rectangle 38"/>
            <p:cNvSpPr>
              <a:spLocks noChangeArrowheads="1"/>
            </p:cNvSpPr>
            <p:nvPr/>
          </p:nvSpPr>
          <p:spPr bwMode="auto">
            <a:xfrm>
              <a:off x="4452" y="2832"/>
              <a:ext cx="1308" cy="102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18454" name="Group 22"/>
            <p:cNvGrpSpPr>
              <a:grpSpLocks/>
            </p:cNvGrpSpPr>
            <p:nvPr/>
          </p:nvGrpSpPr>
          <p:grpSpPr bwMode="auto">
            <a:xfrm>
              <a:off x="4584" y="3060"/>
              <a:ext cx="240" cy="240"/>
              <a:chOff x="4464" y="2904"/>
              <a:chExt cx="240" cy="240"/>
            </a:xfrm>
          </p:grpSpPr>
          <p:sp>
            <p:nvSpPr>
              <p:cNvPr id="18452" name="Oval 20"/>
              <p:cNvSpPr>
                <a:spLocks noChangeArrowheads="1"/>
              </p:cNvSpPr>
              <p:nvPr/>
            </p:nvSpPr>
            <p:spPr bwMode="auto">
              <a:xfrm>
                <a:off x="4464" y="2904"/>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53" name="Oval 21"/>
              <p:cNvSpPr>
                <a:spLocks noChangeArrowheads="1"/>
              </p:cNvSpPr>
              <p:nvPr/>
            </p:nvSpPr>
            <p:spPr bwMode="auto">
              <a:xfrm>
                <a:off x="4560" y="3000"/>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8455" name="Group 23"/>
            <p:cNvGrpSpPr>
              <a:grpSpLocks/>
            </p:cNvGrpSpPr>
            <p:nvPr/>
          </p:nvGrpSpPr>
          <p:grpSpPr bwMode="auto">
            <a:xfrm rot="5800290">
              <a:off x="5292" y="3492"/>
              <a:ext cx="240" cy="240"/>
              <a:chOff x="4464" y="2904"/>
              <a:chExt cx="240" cy="240"/>
            </a:xfrm>
          </p:grpSpPr>
          <p:sp>
            <p:nvSpPr>
              <p:cNvPr id="18456" name="Oval 24"/>
              <p:cNvSpPr>
                <a:spLocks noChangeArrowheads="1"/>
              </p:cNvSpPr>
              <p:nvPr/>
            </p:nvSpPr>
            <p:spPr bwMode="auto">
              <a:xfrm>
                <a:off x="4464" y="2904"/>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57" name="Oval 25"/>
              <p:cNvSpPr>
                <a:spLocks noChangeArrowheads="1"/>
              </p:cNvSpPr>
              <p:nvPr/>
            </p:nvSpPr>
            <p:spPr bwMode="auto">
              <a:xfrm>
                <a:off x="4560" y="3000"/>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8458" name="Group 26"/>
            <p:cNvGrpSpPr>
              <a:grpSpLocks/>
            </p:cNvGrpSpPr>
            <p:nvPr/>
          </p:nvGrpSpPr>
          <p:grpSpPr bwMode="auto">
            <a:xfrm rot="-3251035">
              <a:off x="4932" y="2904"/>
              <a:ext cx="240" cy="240"/>
              <a:chOff x="4464" y="2904"/>
              <a:chExt cx="240" cy="240"/>
            </a:xfrm>
          </p:grpSpPr>
          <p:sp>
            <p:nvSpPr>
              <p:cNvPr id="18459" name="Oval 27"/>
              <p:cNvSpPr>
                <a:spLocks noChangeArrowheads="1"/>
              </p:cNvSpPr>
              <p:nvPr/>
            </p:nvSpPr>
            <p:spPr bwMode="auto">
              <a:xfrm>
                <a:off x="4464" y="2904"/>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60" name="Oval 28"/>
              <p:cNvSpPr>
                <a:spLocks noChangeArrowheads="1"/>
              </p:cNvSpPr>
              <p:nvPr/>
            </p:nvSpPr>
            <p:spPr bwMode="auto">
              <a:xfrm>
                <a:off x="4560" y="3000"/>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8461" name="Group 29"/>
            <p:cNvGrpSpPr>
              <a:grpSpLocks/>
            </p:cNvGrpSpPr>
            <p:nvPr/>
          </p:nvGrpSpPr>
          <p:grpSpPr bwMode="auto">
            <a:xfrm rot="-1452353">
              <a:off x="4596" y="3504"/>
              <a:ext cx="240" cy="240"/>
              <a:chOff x="4464" y="2904"/>
              <a:chExt cx="240" cy="240"/>
            </a:xfrm>
          </p:grpSpPr>
          <p:sp>
            <p:nvSpPr>
              <p:cNvPr id="18462" name="Oval 30"/>
              <p:cNvSpPr>
                <a:spLocks noChangeArrowheads="1"/>
              </p:cNvSpPr>
              <p:nvPr/>
            </p:nvSpPr>
            <p:spPr bwMode="auto">
              <a:xfrm>
                <a:off x="4464" y="2904"/>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63" name="Oval 31"/>
              <p:cNvSpPr>
                <a:spLocks noChangeArrowheads="1"/>
              </p:cNvSpPr>
              <p:nvPr/>
            </p:nvSpPr>
            <p:spPr bwMode="auto">
              <a:xfrm>
                <a:off x="4560" y="3000"/>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8464" name="Group 32"/>
            <p:cNvGrpSpPr>
              <a:grpSpLocks/>
            </p:cNvGrpSpPr>
            <p:nvPr/>
          </p:nvGrpSpPr>
          <p:grpSpPr bwMode="auto">
            <a:xfrm rot="3227845">
              <a:off x="5016" y="3276"/>
              <a:ext cx="240" cy="240"/>
              <a:chOff x="4464" y="2904"/>
              <a:chExt cx="240" cy="240"/>
            </a:xfrm>
          </p:grpSpPr>
          <p:sp>
            <p:nvSpPr>
              <p:cNvPr id="18465" name="Oval 33"/>
              <p:cNvSpPr>
                <a:spLocks noChangeArrowheads="1"/>
              </p:cNvSpPr>
              <p:nvPr/>
            </p:nvSpPr>
            <p:spPr bwMode="auto">
              <a:xfrm>
                <a:off x="4464" y="2904"/>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66" name="Oval 34"/>
              <p:cNvSpPr>
                <a:spLocks noChangeArrowheads="1"/>
              </p:cNvSpPr>
              <p:nvPr/>
            </p:nvSpPr>
            <p:spPr bwMode="auto">
              <a:xfrm>
                <a:off x="4560" y="3000"/>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8467" name="Group 35"/>
            <p:cNvGrpSpPr>
              <a:grpSpLocks/>
            </p:cNvGrpSpPr>
            <p:nvPr/>
          </p:nvGrpSpPr>
          <p:grpSpPr bwMode="auto">
            <a:xfrm>
              <a:off x="5376" y="3036"/>
              <a:ext cx="240" cy="240"/>
              <a:chOff x="4464" y="2904"/>
              <a:chExt cx="240" cy="240"/>
            </a:xfrm>
          </p:grpSpPr>
          <p:sp>
            <p:nvSpPr>
              <p:cNvPr id="18468" name="Oval 36"/>
              <p:cNvSpPr>
                <a:spLocks noChangeArrowheads="1"/>
              </p:cNvSpPr>
              <p:nvPr/>
            </p:nvSpPr>
            <p:spPr bwMode="auto">
              <a:xfrm>
                <a:off x="4464" y="2904"/>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69" name="Oval 37"/>
              <p:cNvSpPr>
                <a:spLocks noChangeArrowheads="1"/>
              </p:cNvSpPr>
              <p:nvPr/>
            </p:nvSpPr>
            <p:spPr bwMode="auto">
              <a:xfrm>
                <a:off x="4560" y="3000"/>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grpSp>
        <p:nvGrpSpPr>
          <p:cNvPr id="18473" name="Group 41"/>
          <p:cNvGrpSpPr>
            <a:grpSpLocks/>
          </p:cNvGrpSpPr>
          <p:nvPr/>
        </p:nvGrpSpPr>
        <p:grpSpPr bwMode="auto">
          <a:xfrm>
            <a:off x="0" y="1366838"/>
            <a:ext cx="9144000" cy="5414963"/>
            <a:chOff x="0" y="861"/>
            <a:chExt cx="5760" cy="3411"/>
          </a:xfrm>
        </p:grpSpPr>
        <p:sp>
          <p:nvSpPr>
            <p:cNvPr id="18439" name="Text Box 7"/>
            <p:cNvSpPr txBox="1">
              <a:spLocks noChangeArrowheads="1"/>
            </p:cNvSpPr>
            <p:nvPr/>
          </p:nvSpPr>
          <p:spPr bwMode="auto">
            <a:xfrm>
              <a:off x="1176" y="861"/>
              <a:ext cx="4584"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dirty="0">
                  <a:solidFill>
                    <a:srgbClr val="00FFCC"/>
                  </a:solidFill>
                </a:rPr>
                <a:t>Notice that hydrogen has just __ electron in its outer shell.  A full (inner) shell would have __ electrons, so two hydrogen atoms get together and “_____” their electrons:</a:t>
              </a:r>
            </a:p>
          </p:txBody>
        </p:sp>
        <p:sp>
          <p:nvSpPr>
            <p:cNvPr id="18449" name="Text Box 17"/>
            <p:cNvSpPr txBox="1">
              <a:spLocks noChangeArrowheads="1"/>
            </p:cNvSpPr>
            <p:nvPr/>
          </p:nvSpPr>
          <p:spPr bwMode="auto">
            <a:xfrm>
              <a:off x="1704" y="1809"/>
              <a:ext cx="390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solidFill>
                    <a:srgbClr val="FFFF99"/>
                  </a:solidFill>
                </a:rPr>
                <a:t>Now they both have a ____ outer shell and are more _____.  The formula for this molecule is H</a:t>
              </a:r>
              <a:r>
                <a:rPr lang="en-GB" altLang="en-US" sz="2000" baseline="-25000">
                  <a:solidFill>
                    <a:srgbClr val="FFFF99"/>
                  </a:solidFill>
                </a:rPr>
                <a:t>2</a:t>
              </a:r>
              <a:r>
                <a:rPr lang="en-GB" altLang="en-US" sz="2000">
                  <a:solidFill>
                    <a:srgbClr val="FFFF99"/>
                  </a:solidFill>
                </a:rPr>
                <a:t>.</a:t>
              </a:r>
            </a:p>
          </p:txBody>
        </p:sp>
        <p:sp>
          <p:nvSpPr>
            <p:cNvPr id="18450" name="Text Box 18"/>
            <p:cNvSpPr txBox="1">
              <a:spLocks noChangeArrowheads="1"/>
            </p:cNvSpPr>
            <p:nvPr/>
          </p:nvSpPr>
          <p:spPr bwMode="auto">
            <a:xfrm>
              <a:off x="0" y="2745"/>
              <a:ext cx="4014"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altLang="en-US" sz="2000" dirty="0">
                  <a:solidFill>
                    <a:srgbClr val="FFCCFF"/>
                  </a:solidFill>
                </a:rPr>
                <a:t>When two or more atoms bond and form a molecule by sharing electrons we call it ____________ BONDING.  </a:t>
              </a:r>
            </a:p>
          </p:txBody>
        </p:sp>
        <p:sp>
          <p:nvSpPr>
            <p:cNvPr id="18472" name="Text Box 40"/>
            <p:cNvSpPr txBox="1">
              <a:spLocks noChangeArrowheads="1"/>
            </p:cNvSpPr>
            <p:nvPr/>
          </p:nvSpPr>
          <p:spPr bwMode="auto">
            <a:xfrm>
              <a:off x="144" y="4020"/>
              <a:ext cx="5460" cy="252"/>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2000" b="1" dirty="0"/>
                <a:t>Words</a:t>
              </a:r>
              <a:r>
                <a:rPr lang="en-GB" altLang="en-US" sz="2000" dirty="0"/>
                <a:t> – covalent, 1, 2, share, full, stable</a:t>
              </a:r>
            </a:p>
          </p:txBody>
        </p:sp>
      </p:grpSp>
    </p:spTree>
    <p:extLst>
      <p:ext uri="{BB962C8B-B14F-4D97-AF65-F5344CB8AC3E}">
        <p14:creationId xmlns:p14="http://schemas.microsoft.com/office/powerpoint/2010/main" val="35196394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35"/>
                                        </p:tgtEl>
                                        <p:attrNameLst>
                                          <p:attrName>style.visibility</p:attrName>
                                        </p:attrNameLst>
                                      </p:cBhvr>
                                      <p:to>
                                        <p:strVal val="visible"/>
                                      </p:to>
                                    </p:set>
                                    <p:animEffect transition="in" filter="wipe(left)">
                                      <p:cBhvr>
                                        <p:cTn id="7" dur="500"/>
                                        <p:tgtEl>
                                          <p:spTgt spid="184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8440"/>
                                        </p:tgtEl>
                                        <p:attrNameLst>
                                          <p:attrName>style.visibility</p:attrName>
                                        </p:attrNameLst>
                                      </p:cBhvr>
                                      <p:to>
                                        <p:strVal val="visible"/>
                                      </p:to>
                                    </p:set>
                                    <p:animEffect transition="in" filter="wipe(up)">
                                      <p:cBhvr>
                                        <p:cTn id="12" dur="500"/>
                                        <p:tgtEl>
                                          <p:spTgt spid="184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8451"/>
                                        </p:tgtEl>
                                        <p:attrNameLst>
                                          <p:attrName>style.visibility</p:attrName>
                                        </p:attrNameLst>
                                      </p:cBhvr>
                                      <p:to>
                                        <p:strVal val="visible"/>
                                      </p:to>
                                    </p:set>
                                    <p:animEffect transition="in" filter="wipe(up)">
                                      <p:cBhvr>
                                        <p:cTn id="17" dur="500"/>
                                        <p:tgtEl>
                                          <p:spTgt spid="1845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8471"/>
                                        </p:tgtEl>
                                        <p:attrNameLst>
                                          <p:attrName>style.visibility</p:attrName>
                                        </p:attrNameLst>
                                      </p:cBhvr>
                                      <p:to>
                                        <p:strVal val="visible"/>
                                      </p:to>
                                    </p:set>
                                    <p:animEffect transition="in" filter="wipe(up)">
                                      <p:cBhvr>
                                        <p:cTn id="22" dur="500"/>
                                        <p:tgtEl>
                                          <p:spTgt spid="1847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18473"/>
                                        </p:tgtEl>
                                        <p:attrNameLst>
                                          <p:attrName>style.visibility</p:attrName>
                                        </p:attrNameLst>
                                      </p:cBhvr>
                                      <p:to>
                                        <p:strVal val="visible"/>
                                      </p:to>
                                    </p:set>
                                    <p:animEffect transition="in" filter="wipe(up)">
                                      <p:cBhvr>
                                        <p:cTn id="27" dur="500"/>
                                        <p:tgtEl>
                                          <p:spTgt spid="184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Substance</a:t>
            </a:r>
          </a:p>
        </p:txBody>
      </p:sp>
      <p:sp>
        <p:nvSpPr>
          <p:cNvPr id="3" name="Date Placeholder 2"/>
          <p:cNvSpPr>
            <a:spLocks noGrp="1"/>
          </p:cNvSpPr>
          <p:nvPr>
            <p:ph type="dt" sz="half" idx="10"/>
          </p:nvPr>
        </p:nvSpPr>
        <p:spPr/>
        <p:txBody>
          <a:bodyPr/>
          <a:lstStyle/>
          <a:p>
            <a:pPr>
              <a:defRPr/>
            </a:pPr>
            <a:fld id="{015E6D66-BACF-4A6D-9DB1-3B675C6F844B}" type="datetime1">
              <a:rPr lang="en-GB" smtClean="0"/>
              <a:pPr>
                <a:defRPr/>
              </a:pPr>
              <a:t>02/06/2020</a:t>
            </a:fld>
            <a:endParaRPr lang="en-GB"/>
          </a:p>
        </p:txBody>
      </p:sp>
    </p:spTree>
    <p:extLst>
      <p:ext uri="{BB962C8B-B14F-4D97-AF65-F5344CB8AC3E}">
        <p14:creationId xmlns:p14="http://schemas.microsoft.com/office/powerpoint/2010/main" val="41025232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Date Placeholder 3"/>
          <p:cNvSpPr>
            <a:spLocks noGrp="1"/>
          </p:cNvSpPr>
          <p:nvPr>
            <p:ph type="dt" sz="half" idx="10"/>
          </p:nvPr>
        </p:nvSpPr>
        <p:spPr>
          <a:xfrm>
            <a:off x="7239000" y="263227"/>
            <a:ext cx="1905000" cy="457200"/>
          </a:xfrm>
        </p:spPr>
        <p:txBody>
          <a:bodyPr/>
          <a:lstStyle/>
          <a:p>
            <a:fld id="{496C2004-B61C-4F44-98A9-95CC5CF8E19D}" type="datetime1">
              <a:rPr lang="en-GB" altLang="en-US"/>
              <a:pPr/>
              <a:t>02/06/2020</a:t>
            </a:fld>
            <a:endParaRPr lang="en-GB" altLang="en-US"/>
          </a:p>
        </p:txBody>
      </p:sp>
      <p:sp>
        <p:nvSpPr>
          <p:cNvPr id="236546" name="Oval 2"/>
          <p:cNvSpPr>
            <a:spLocks noChangeArrowheads="1"/>
          </p:cNvSpPr>
          <p:nvPr/>
        </p:nvSpPr>
        <p:spPr bwMode="auto">
          <a:xfrm>
            <a:off x="3559175" y="2454275"/>
            <a:ext cx="2200275" cy="2198688"/>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6547" name="Rectangle 3"/>
          <p:cNvSpPr>
            <a:spLocks noGrp="1" noChangeArrowheads="1"/>
          </p:cNvSpPr>
          <p:nvPr>
            <p:ph type="title"/>
          </p:nvPr>
        </p:nvSpPr>
        <p:spPr>
          <a:xfrm>
            <a:off x="0" y="263227"/>
            <a:ext cx="9144000" cy="762000"/>
          </a:xfrm>
        </p:spPr>
        <p:txBody>
          <a:bodyPr/>
          <a:lstStyle/>
          <a:p>
            <a:r>
              <a:rPr lang="en-GB" altLang="en-US" dirty="0"/>
              <a:t>Dot and Cross Diagrams for Covalent Molecules</a:t>
            </a:r>
          </a:p>
        </p:txBody>
      </p:sp>
      <p:grpSp>
        <p:nvGrpSpPr>
          <p:cNvPr id="236548" name="Group 4"/>
          <p:cNvGrpSpPr>
            <a:grpSpLocks/>
          </p:cNvGrpSpPr>
          <p:nvPr/>
        </p:nvGrpSpPr>
        <p:grpSpPr bwMode="auto">
          <a:xfrm>
            <a:off x="7092950" y="2133600"/>
            <a:ext cx="1589088" cy="1570038"/>
            <a:chOff x="1949" y="1284"/>
            <a:chExt cx="486" cy="480"/>
          </a:xfrm>
        </p:grpSpPr>
        <p:sp>
          <p:nvSpPr>
            <p:cNvPr id="236549" name="Oval 5"/>
            <p:cNvSpPr>
              <a:spLocks noChangeArrowheads="1"/>
            </p:cNvSpPr>
            <p:nvPr/>
          </p:nvSpPr>
          <p:spPr bwMode="auto">
            <a:xfrm flipH="1">
              <a:off x="1955" y="1284"/>
              <a:ext cx="480" cy="48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6550" name="Oval 6"/>
            <p:cNvSpPr>
              <a:spLocks noChangeArrowheads="1"/>
            </p:cNvSpPr>
            <p:nvPr/>
          </p:nvSpPr>
          <p:spPr bwMode="auto">
            <a:xfrm flipH="1">
              <a:off x="1949" y="1374"/>
              <a:ext cx="86" cy="8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6551" name="Text Box 7"/>
            <p:cNvSpPr txBox="1">
              <a:spLocks noChangeArrowheads="1"/>
            </p:cNvSpPr>
            <p:nvPr/>
          </p:nvSpPr>
          <p:spPr bwMode="auto">
            <a:xfrm>
              <a:off x="2028" y="1392"/>
              <a:ext cx="37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4400">
                  <a:solidFill>
                    <a:srgbClr val="66CCFF"/>
                  </a:solidFill>
                </a:rPr>
                <a:t>H</a:t>
              </a:r>
            </a:p>
          </p:txBody>
        </p:sp>
      </p:grpSp>
      <p:sp>
        <p:nvSpPr>
          <p:cNvPr id="236552" name="Text Box 8"/>
          <p:cNvSpPr txBox="1">
            <a:spLocks noChangeArrowheads="1"/>
          </p:cNvSpPr>
          <p:nvPr/>
        </p:nvSpPr>
        <p:spPr bwMode="auto">
          <a:xfrm>
            <a:off x="4083050" y="3187700"/>
            <a:ext cx="10826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4800">
                <a:solidFill>
                  <a:srgbClr val="00FF99"/>
                </a:solidFill>
              </a:rPr>
              <a:t>O</a:t>
            </a:r>
          </a:p>
        </p:txBody>
      </p:sp>
      <p:sp>
        <p:nvSpPr>
          <p:cNvPr id="236553" name="AutoShape 9"/>
          <p:cNvSpPr>
            <a:spLocks noChangeArrowheads="1"/>
          </p:cNvSpPr>
          <p:nvPr/>
        </p:nvSpPr>
        <p:spPr bwMode="auto">
          <a:xfrm rot="8100000">
            <a:off x="4222750" y="2384425"/>
            <a:ext cx="349250" cy="34925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6554" name="AutoShape 10"/>
          <p:cNvSpPr>
            <a:spLocks noChangeArrowheads="1"/>
          </p:cNvSpPr>
          <p:nvPr/>
        </p:nvSpPr>
        <p:spPr bwMode="auto">
          <a:xfrm rot="8100000">
            <a:off x="4606925" y="2349500"/>
            <a:ext cx="349250" cy="34925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6555" name="AutoShape 11"/>
          <p:cNvSpPr>
            <a:spLocks noChangeArrowheads="1"/>
          </p:cNvSpPr>
          <p:nvPr/>
        </p:nvSpPr>
        <p:spPr bwMode="auto">
          <a:xfrm rot="8100000">
            <a:off x="5480050" y="3675063"/>
            <a:ext cx="349250" cy="34925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6556" name="AutoShape 12"/>
          <p:cNvSpPr>
            <a:spLocks noChangeArrowheads="1"/>
          </p:cNvSpPr>
          <p:nvPr/>
        </p:nvSpPr>
        <p:spPr bwMode="auto">
          <a:xfrm rot="8100000">
            <a:off x="4152900" y="4443413"/>
            <a:ext cx="349250" cy="34925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6557" name="AutoShape 13"/>
          <p:cNvSpPr>
            <a:spLocks noChangeArrowheads="1"/>
          </p:cNvSpPr>
          <p:nvPr/>
        </p:nvSpPr>
        <p:spPr bwMode="auto">
          <a:xfrm rot="8100000">
            <a:off x="4746625" y="4443413"/>
            <a:ext cx="349250" cy="34925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236558" name="Group 14"/>
          <p:cNvGrpSpPr>
            <a:grpSpLocks/>
          </p:cNvGrpSpPr>
          <p:nvPr/>
        </p:nvGrpSpPr>
        <p:grpSpPr bwMode="auto">
          <a:xfrm>
            <a:off x="900113" y="2997200"/>
            <a:ext cx="1570037" cy="1550988"/>
            <a:chOff x="748" y="1162"/>
            <a:chExt cx="989" cy="977"/>
          </a:xfrm>
        </p:grpSpPr>
        <p:sp>
          <p:nvSpPr>
            <p:cNvPr id="236559" name="Oval 15"/>
            <p:cNvSpPr>
              <a:spLocks noChangeArrowheads="1"/>
            </p:cNvSpPr>
            <p:nvPr/>
          </p:nvSpPr>
          <p:spPr bwMode="auto">
            <a:xfrm>
              <a:off x="748" y="1162"/>
              <a:ext cx="977" cy="977"/>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6560" name="Oval 16"/>
            <p:cNvSpPr>
              <a:spLocks noChangeArrowheads="1"/>
            </p:cNvSpPr>
            <p:nvPr/>
          </p:nvSpPr>
          <p:spPr bwMode="auto">
            <a:xfrm>
              <a:off x="1562" y="1345"/>
              <a:ext cx="175" cy="175"/>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6561" name="Text Box 17"/>
            <p:cNvSpPr txBox="1">
              <a:spLocks noChangeArrowheads="1"/>
            </p:cNvSpPr>
            <p:nvPr/>
          </p:nvSpPr>
          <p:spPr bwMode="auto">
            <a:xfrm>
              <a:off x="860" y="1333"/>
              <a:ext cx="757"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4400">
                  <a:solidFill>
                    <a:srgbClr val="66CCFF"/>
                  </a:solidFill>
                </a:rPr>
                <a:t>H</a:t>
              </a:r>
            </a:p>
          </p:txBody>
        </p:sp>
      </p:grpSp>
      <p:sp>
        <p:nvSpPr>
          <p:cNvPr id="236562" name="AutoShape 18"/>
          <p:cNvSpPr>
            <a:spLocks noChangeArrowheads="1"/>
          </p:cNvSpPr>
          <p:nvPr/>
        </p:nvSpPr>
        <p:spPr bwMode="auto">
          <a:xfrm rot="8100000">
            <a:off x="3419475" y="3571875"/>
            <a:ext cx="349250" cy="347663"/>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6563" name="Text Box 19"/>
          <p:cNvSpPr txBox="1">
            <a:spLocks noChangeArrowheads="1"/>
          </p:cNvSpPr>
          <p:nvPr/>
        </p:nvSpPr>
        <p:spPr bwMode="auto">
          <a:xfrm>
            <a:off x="1042988" y="1531640"/>
            <a:ext cx="2990850" cy="457200"/>
          </a:xfrm>
          <a:prstGeom prst="rect">
            <a:avLst/>
          </a:prstGeom>
          <a:solidFill>
            <a:srgbClr val="CC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t>Water, H</a:t>
            </a:r>
            <a:r>
              <a:rPr lang="en-GB" altLang="en-US" baseline="-25000"/>
              <a:t>2</a:t>
            </a:r>
            <a:r>
              <a:rPr lang="en-GB" altLang="en-US"/>
              <a:t>O:</a:t>
            </a:r>
          </a:p>
        </p:txBody>
      </p:sp>
    </p:spTree>
    <p:extLst>
      <p:ext uri="{BB962C8B-B14F-4D97-AF65-F5344CB8AC3E}">
        <p14:creationId xmlns:p14="http://schemas.microsoft.com/office/powerpoint/2010/main" val="15157382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nodeType="clickEffect">
                                  <p:stCondLst>
                                    <p:cond delay="0"/>
                                  </p:stCondLst>
                                  <p:childTnLst>
                                    <p:animMotion origin="layout" path="M -1.38889E-6 0 L 0.13472 -0.0081 " pathEditMode="relative" rAng="0" ptsTypes="AA">
                                      <p:cBhvr>
                                        <p:cTn id="6" dur="2000" fill="hold"/>
                                        <p:tgtEl>
                                          <p:spTgt spid="236558"/>
                                        </p:tgtEl>
                                        <p:attrNameLst>
                                          <p:attrName>ppt_x</p:attrName>
                                          <p:attrName>ppt_y</p:attrName>
                                        </p:attrNameLst>
                                      </p:cBhvr>
                                      <p:rCtr x="6736" y="-417"/>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0" presetClass="path" presetSubtype="0" accel="50000" decel="50000" fill="hold" nodeType="clickEffect">
                                  <p:stCondLst>
                                    <p:cond delay="0"/>
                                  </p:stCondLst>
                                  <p:childTnLst>
                                    <p:animMotion origin="layout" path="M 0 -2.96296E-6 L -0.16562 0.10602 " pathEditMode="relative" rAng="0" ptsTypes="AA">
                                      <p:cBhvr>
                                        <p:cTn id="10" dur="2000" fill="hold"/>
                                        <p:tgtEl>
                                          <p:spTgt spid="236548"/>
                                        </p:tgtEl>
                                        <p:attrNameLst>
                                          <p:attrName>ppt_x</p:attrName>
                                          <p:attrName>ppt_y</p:attrName>
                                        </p:attrNameLst>
                                      </p:cBhvr>
                                      <p:rCtr x="-8281" y="530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Date Placeholder 3"/>
          <p:cNvSpPr>
            <a:spLocks noGrp="1"/>
          </p:cNvSpPr>
          <p:nvPr>
            <p:ph type="dt" sz="half" idx="10"/>
          </p:nvPr>
        </p:nvSpPr>
        <p:spPr/>
        <p:txBody>
          <a:bodyPr/>
          <a:lstStyle/>
          <a:p>
            <a:fld id="{46EBCF27-F56A-484F-A804-32DAD82BC875}" type="datetime1">
              <a:rPr lang="en-GB" altLang="en-US"/>
              <a:pPr/>
              <a:t>02/06/2020</a:t>
            </a:fld>
            <a:endParaRPr lang="en-GB" altLang="en-US"/>
          </a:p>
        </p:txBody>
      </p:sp>
      <p:sp>
        <p:nvSpPr>
          <p:cNvPr id="237570" name="Oval 2"/>
          <p:cNvSpPr>
            <a:spLocks noChangeArrowheads="1"/>
          </p:cNvSpPr>
          <p:nvPr/>
        </p:nvSpPr>
        <p:spPr bwMode="auto">
          <a:xfrm>
            <a:off x="1185863" y="2578100"/>
            <a:ext cx="2827337" cy="282575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7571" name="Oval 3"/>
          <p:cNvSpPr>
            <a:spLocks noChangeArrowheads="1"/>
          </p:cNvSpPr>
          <p:nvPr/>
        </p:nvSpPr>
        <p:spPr bwMode="auto">
          <a:xfrm>
            <a:off x="4606925" y="2700338"/>
            <a:ext cx="2827338" cy="282575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7572" name="Rectangle 4"/>
          <p:cNvSpPr>
            <a:spLocks noGrp="1" noChangeArrowheads="1"/>
          </p:cNvSpPr>
          <p:nvPr>
            <p:ph type="title"/>
          </p:nvPr>
        </p:nvSpPr>
        <p:spPr>
          <a:xfrm>
            <a:off x="0" y="218728"/>
            <a:ext cx="9144000" cy="762000"/>
          </a:xfrm>
        </p:spPr>
        <p:txBody>
          <a:bodyPr/>
          <a:lstStyle/>
          <a:p>
            <a:r>
              <a:rPr lang="en-GB" altLang="en-US" dirty="0"/>
              <a:t>Dot and Cross Diagrams for Covalent Molecules</a:t>
            </a:r>
          </a:p>
        </p:txBody>
      </p:sp>
      <p:sp>
        <p:nvSpPr>
          <p:cNvPr id="237573" name="Text Box 5"/>
          <p:cNvSpPr txBox="1">
            <a:spLocks noChangeArrowheads="1"/>
          </p:cNvSpPr>
          <p:nvPr/>
        </p:nvSpPr>
        <p:spPr bwMode="auto">
          <a:xfrm>
            <a:off x="900113" y="1603648"/>
            <a:ext cx="2952750" cy="457200"/>
          </a:xfrm>
          <a:prstGeom prst="rect">
            <a:avLst/>
          </a:prstGeom>
          <a:solidFill>
            <a:srgbClr val="CC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t>Oxygen, O</a:t>
            </a:r>
            <a:r>
              <a:rPr lang="en-GB" altLang="en-US" baseline="-25000"/>
              <a:t>2</a:t>
            </a:r>
            <a:r>
              <a:rPr lang="en-GB" altLang="en-US"/>
              <a:t>:</a:t>
            </a:r>
          </a:p>
        </p:txBody>
      </p:sp>
      <p:sp>
        <p:nvSpPr>
          <p:cNvPr id="237574" name="Oval 6"/>
          <p:cNvSpPr>
            <a:spLocks noChangeArrowheads="1"/>
          </p:cNvSpPr>
          <p:nvPr/>
        </p:nvSpPr>
        <p:spPr bwMode="auto">
          <a:xfrm>
            <a:off x="2698750" y="2420938"/>
            <a:ext cx="320675" cy="322262"/>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7575" name="Oval 7"/>
          <p:cNvSpPr>
            <a:spLocks noChangeArrowheads="1"/>
          </p:cNvSpPr>
          <p:nvPr/>
        </p:nvSpPr>
        <p:spPr bwMode="auto">
          <a:xfrm>
            <a:off x="2193925" y="2420938"/>
            <a:ext cx="320675" cy="322262"/>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7576" name="Oval 8"/>
          <p:cNvSpPr>
            <a:spLocks noChangeArrowheads="1"/>
          </p:cNvSpPr>
          <p:nvPr/>
        </p:nvSpPr>
        <p:spPr bwMode="auto">
          <a:xfrm>
            <a:off x="2122488" y="5229225"/>
            <a:ext cx="320675" cy="322263"/>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7577" name="Oval 9"/>
          <p:cNvSpPr>
            <a:spLocks noChangeArrowheads="1"/>
          </p:cNvSpPr>
          <p:nvPr/>
        </p:nvSpPr>
        <p:spPr bwMode="auto">
          <a:xfrm>
            <a:off x="2627313" y="5229225"/>
            <a:ext cx="320675" cy="322263"/>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7578" name="Text Box 10"/>
          <p:cNvSpPr txBox="1">
            <a:spLocks noChangeArrowheads="1"/>
          </p:cNvSpPr>
          <p:nvPr/>
        </p:nvSpPr>
        <p:spPr bwMode="auto">
          <a:xfrm>
            <a:off x="1858963" y="3519488"/>
            <a:ext cx="1390650" cy="91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5400">
                <a:solidFill>
                  <a:srgbClr val="00FF99"/>
                </a:solidFill>
              </a:rPr>
              <a:t>O</a:t>
            </a:r>
          </a:p>
        </p:txBody>
      </p:sp>
      <p:sp>
        <p:nvSpPr>
          <p:cNvPr id="237579" name="Oval 11"/>
          <p:cNvSpPr>
            <a:spLocks noChangeArrowheads="1"/>
          </p:cNvSpPr>
          <p:nvPr/>
        </p:nvSpPr>
        <p:spPr bwMode="auto">
          <a:xfrm>
            <a:off x="1042988" y="4005263"/>
            <a:ext cx="322262" cy="322262"/>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7580" name="Text Box 12"/>
          <p:cNvSpPr txBox="1">
            <a:spLocks noChangeArrowheads="1"/>
          </p:cNvSpPr>
          <p:nvPr/>
        </p:nvSpPr>
        <p:spPr bwMode="auto">
          <a:xfrm>
            <a:off x="5280025" y="3641725"/>
            <a:ext cx="13906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5400">
                <a:solidFill>
                  <a:srgbClr val="66CCFF"/>
                </a:solidFill>
              </a:rPr>
              <a:t>O</a:t>
            </a:r>
          </a:p>
        </p:txBody>
      </p:sp>
      <p:sp>
        <p:nvSpPr>
          <p:cNvPr id="237581" name="AutoShape 13"/>
          <p:cNvSpPr>
            <a:spLocks noChangeArrowheads="1"/>
          </p:cNvSpPr>
          <p:nvPr/>
        </p:nvSpPr>
        <p:spPr bwMode="auto">
          <a:xfrm rot="8100000">
            <a:off x="5508625" y="5300663"/>
            <a:ext cx="449263" cy="449262"/>
          </a:xfrm>
          <a:prstGeom prst="plus">
            <a:avLst>
              <a:gd name="adj" fmla="val 35000"/>
            </a:avLst>
          </a:prstGeom>
          <a:solidFill>
            <a:srgbClr val="00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7582" name="AutoShape 14"/>
          <p:cNvSpPr>
            <a:spLocks noChangeArrowheads="1"/>
          </p:cNvSpPr>
          <p:nvPr/>
        </p:nvSpPr>
        <p:spPr bwMode="auto">
          <a:xfrm rot="8100000">
            <a:off x="6156325" y="5300663"/>
            <a:ext cx="449263" cy="449262"/>
          </a:xfrm>
          <a:prstGeom prst="plus">
            <a:avLst>
              <a:gd name="adj" fmla="val 35000"/>
            </a:avLst>
          </a:prstGeom>
          <a:solidFill>
            <a:srgbClr val="00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7583" name="AutoShape 15"/>
          <p:cNvSpPr>
            <a:spLocks noChangeArrowheads="1"/>
          </p:cNvSpPr>
          <p:nvPr/>
        </p:nvSpPr>
        <p:spPr bwMode="auto">
          <a:xfrm rot="8100000">
            <a:off x="5503863" y="2565400"/>
            <a:ext cx="449262" cy="449263"/>
          </a:xfrm>
          <a:prstGeom prst="plus">
            <a:avLst>
              <a:gd name="adj" fmla="val 35000"/>
            </a:avLst>
          </a:prstGeom>
          <a:solidFill>
            <a:srgbClr val="00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7584" name="AutoShape 16"/>
          <p:cNvSpPr>
            <a:spLocks noChangeArrowheads="1"/>
          </p:cNvSpPr>
          <p:nvPr/>
        </p:nvSpPr>
        <p:spPr bwMode="auto">
          <a:xfrm rot="8100000">
            <a:off x="5953125" y="2565400"/>
            <a:ext cx="449263" cy="449263"/>
          </a:xfrm>
          <a:prstGeom prst="plus">
            <a:avLst>
              <a:gd name="adj" fmla="val 35000"/>
            </a:avLst>
          </a:prstGeom>
          <a:solidFill>
            <a:srgbClr val="00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7585" name="AutoShape 17"/>
          <p:cNvSpPr>
            <a:spLocks noChangeArrowheads="1"/>
          </p:cNvSpPr>
          <p:nvPr/>
        </p:nvSpPr>
        <p:spPr bwMode="auto">
          <a:xfrm rot="8100000">
            <a:off x="7164388" y="4292600"/>
            <a:ext cx="447675" cy="447675"/>
          </a:xfrm>
          <a:prstGeom prst="plus">
            <a:avLst>
              <a:gd name="adj" fmla="val 35000"/>
            </a:avLst>
          </a:prstGeom>
          <a:solidFill>
            <a:srgbClr val="00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7586" name="AutoShape 18"/>
          <p:cNvSpPr>
            <a:spLocks noChangeArrowheads="1"/>
          </p:cNvSpPr>
          <p:nvPr/>
        </p:nvSpPr>
        <p:spPr bwMode="auto">
          <a:xfrm rot="8100000">
            <a:off x="7164388" y="3716338"/>
            <a:ext cx="449262" cy="449262"/>
          </a:xfrm>
          <a:prstGeom prst="plus">
            <a:avLst>
              <a:gd name="adj" fmla="val 35000"/>
            </a:avLst>
          </a:prstGeom>
          <a:solidFill>
            <a:srgbClr val="00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7587" name="Oval 19"/>
          <p:cNvSpPr>
            <a:spLocks noChangeArrowheads="1"/>
          </p:cNvSpPr>
          <p:nvPr/>
        </p:nvSpPr>
        <p:spPr bwMode="auto">
          <a:xfrm>
            <a:off x="1042988" y="3571875"/>
            <a:ext cx="322262" cy="320675"/>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extLst>
      <p:ext uri="{BB962C8B-B14F-4D97-AF65-F5344CB8AC3E}">
        <p14:creationId xmlns:p14="http://schemas.microsoft.com/office/powerpoint/2010/main" val="18833643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nodeType="clickEffect">
                                  <p:stCondLst>
                                    <p:cond delay="0"/>
                                  </p:stCondLst>
                                  <p:childTnLst>
                                    <p:animMotion origin="layout" path="M 0 0 L 0.11025 0 " pathEditMode="relative" ptsTypes="AA">
                                      <p:cBhvr>
                                        <p:cTn id="6" dur="2000" fill="hold"/>
                                        <p:tgtEl>
                                          <p:spTgt spid="237570"/>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0 0 L 0.11025 0 " pathEditMode="relative" ptsTypes="AA">
                                      <p:cBhvr>
                                        <p:cTn id="8" dur="2000" fill="hold"/>
                                        <p:tgtEl>
                                          <p:spTgt spid="237574"/>
                                        </p:tgtEl>
                                        <p:attrNameLst>
                                          <p:attrName>ppt_x</p:attrName>
                                          <p:attrName>ppt_y</p:attrName>
                                        </p:attrNameLst>
                                      </p:cBhvr>
                                    </p:animMotion>
                                  </p:childTnLst>
                                </p:cTn>
                              </p:par>
                              <p:par>
                                <p:cTn id="9" presetID="0" presetClass="path" presetSubtype="0" accel="50000" decel="50000" fill="hold" nodeType="withEffect">
                                  <p:stCondLst>
                                    <p:cond delay="0"/>
                                  </p:stCondLst>
                                  <p:childTnLst>
                                    <p:animMotion origin="layout" path="M 0 0 L 0.11025 0 " pathEditMode="relative" ptsTypes="AA">
                                      <p:cBhvr>
                                        <p:cTn id="10" dur="2000" fill="hold"/>
                                        <p:tgtEl>
                                          <p:spTgt spid="237575"/>
                                        </p:tgtEl>
                                        <p:attrNameLst>
                                          <p:attrName>ppt_x</p:attrName>
                                          <p:attrName>ppt_y</p:attrName>
                                        </p:attrNameLst>
                                      </p:cBhvr>
                                    </p:animMotion>
                                  </p:childTnLst>
                                </p:cTn>
                              </p:par>
                              <p:par>
                                <p:cTn id="11" presetID="0" presetClass="path" presetSubtype="0" accel="50000" decel="50000" fill="hold" nodeType="withEffect">
                                  <p:stCondLst>
                                    <p:cond delay="0"/>
                                  </p:stCondLst>
                                  <p:childTnLst>
                                    <p:animMotion origin="layout" path="M 0 0 L 0.11025 0 " pathEditMode="relative" ptsTypes="AA">
                                      <p:cBhvr>
                                        <p:cTn id="12" dur="2000" fill="hold"/>
                                        <p:tgtEl>
                                          <p:spTgt spid="237576"/>
                                        </p:tgtEl>
                                        <p:attrNameLst>
                                          <p:attrName>ppt_x</p:attrName>
                                          <p:attrName>ppt_y</p:attrName>
                                        </p:attrNameLst>
                                      </p:cBhvr>
                                    </p:animMotion>
                                  </p:childTnLst>
                                </p:cTn>
                              </p:par>
                              <p:par>
                                <p:cTn id="13" presetID="0" presetClass="path" presetSubtype="0" accel="50000" decel="50000" fill="hold" nodeType="withEffect">
                                  <p:stCondLst>
                                    <p:cond delay="0"/>
                                  </p:stCondLst>
                                  <p:childTnLst>
                                    <p:animMotion origin="layout" path="M 0 0 L 0.11025 0 " pathEditMode="relative" ptsTypes="AA">
                                      <p:cBhvr>
                                        <p:cTn id="14" dur="2000" fill="hold"/>
                                        <p:tgtEl>
                                          <p:spTgt spid="237577"/>
                                        </p:tgtEl>
                                        <p:attrNameLst>
                                          <p:attrName>ppt_x</p:attrName>
                                          <p:attrName>ppt_y</p:attrName>
                                        </p:attrNameLst>
                                      </p:cBhvr>
                                    </p:animMotion>
                                  </p:childTnLst>
                                </p:cTn>
                              </p:par>
                              <p:par>
                                <p:cTn id="15" presetID="0" presetClass="path" presetSubtype="0" accel="50000" decel="50000" fill="hold" grpId="0" nodeType="withEffect">
                                  <p:stCondLst>
                                    <p:cond delay="0"/>
                                  </p:stCondLst>
                                  <p:childTnLst>
                                    <p:animMotion origin="layout" path="M 0 0 L 0.11025 0 " pathEditMode="relative" ptsTypes="AA">
                                      <p:cBhvr>
                                        <p:cTn id="16" dur="2000" fill="hold"/>
                                        <p:tgtEl>
                                          <p:spTgt spid="237578"/>
                                        </p:tgtEl>
                                        <p:attrNameLst>
                                          <p:attrName>ppt_x</p:attrName>
                                          <p:attrName>ppt_y</p:attrName>
                                        </p:attrNameLst>
                                      </p:cBhvr>
                                    </p:animMotion>
                                  </p:childTnLst>
                                </p:cTn>
                              </p:par>
                              <p:par>
                                <p:cTn id="17" presetID="0" presetClass="path" presetSubtype="0" accel="50000" decel="50000" fill="hold" nodeType="withEffect">
                                  <p:stCondLst>
                                    <p:cond delay="0"/>
                                  </p:stCondLst>
                                  <p:childTnLst>
                                    <p:animMotion origin="layout" path="M 0 0 L 0.11025 0 " pathEditMode="relative" ptsTypes="AA">
                                      <p:cBhvr>
                                        <p:cTn id="18" dur="2000" fill="hold"/>
                                        <p:tgtEl>
                                          <p:spTgt spid="237579"/>
                                        </p:tgtEl>
                                        <p:attrNameLst>
                                          <p:attrName>ppt_x</p:attrName>
                                          <p:attrName>ppt_y</p:attrName>
                                        </p:attrNameLst>
                                      </p:cBhvr>
                                    </p:animMotion>
                                  </p:childTnLst>
                                </p:cTn>
                              </p:par>
                              <p:par>
                                <p:cTn id="19" presetID="0" presetClass="path" presetSubtype="0" accel="50000" decel="50000" fill="hold" nodeType="withEffect">
                                  <p:stCondLst>
                                    <p:cond delay="0"/>
                                  </p:stCondLst>
                                  <p:childTnLst>
                                    <p:animMotion origin="layout" path="M 0 0 L 0.11025 0 " pathEditMode="relative" ptsTypes="AA">
                                      <p:cBhvr>
                                        <p:cTn id="20" dur="2000" fill="hold"/>
                                        <p:tgtEl>
                                          <p:spTgt spid="237587"/>
                                        </p:tgtEl>
                                        <p:attrNameLst>
                                          <p:attrName>ppt_x</p:attrName>
                                          <p:attrName>ppt_y</p:attrName>
                                        </p:attrNameLst>
                                      </p:cBhvr>
                                    </p:animMotion>
                                  </p:childTnLst>
                                </p:cTn>
                              </p:par>
                            </p:childTnLst>
                          </p:cTn>
                        </p:par>
                      </p:childTnLst>
                    </p:cTn>
                  </p:par>
                  <p:par>
                    <p:cTn id="21" fill="hold" nodeType="clickPar">
                      <p:stCondLst>
                        <p:cond delay="indefinite"/>
                      </p:stCondLst>
                      <p:childTnLst>
                        <p:par>
                          <p:cTn id="22" fill="hold" nodeType="withGroup">
                            <p:stCondLst>
                              <p:cond delay="0"/>
                            </p:stCondLst>
                            <p:childTnLst>
                              <p:par>
                                <p:cTn id="23" presetID="0" presetClass="path" presetSubtype="0" accel="50000" decel="50000" fill="hold" nodeType="clickEffect">
                                  <p:stCondLst>
                                    <p:cond delay="0"/>
                                  </p:stCondLst>
                                  <p:childTnLst>
                                    <p:animMotion origin="layout" path="M 0.11025 1.11111E-6 L 0.21875 0.30208 " pathEditMode="relative" rAng="0" ptsTypes="AA">
                                      <p:cBhvr>
                                        <p:cTn id="24" dur="2000" fill="hold"/>
                                        <p:tgtEl>
                                          <p:spTgt spid="237574"/>
                                        </p:tgtEl>
                                        <p:attrNameLst>
                                          <p:attrName>ppt_x</p:attrName>
                                          <p:attrName>ppt_y</p:attrName>
                                        </p:attrNameLst>
                                      </p:cBhvr>
                                      <p:rCtr x="5417" y="15093"/>
                                    </p:animMotion>
                                  </p:childTnLst>
                                </p:cTn>
                              </p:par>
                              <p:par>
                                <p:cTn id="25" presetID="0" presetClass="path" presetSubtype="0" accel="50000" decel="50000" fill="hold" nodeType="withEffect">
                                  <p:stCondLst>
                                    <p:cond delay="0"/>
                                  </p:stCondLst>
                                  <p:childTnLst>
                                    <p:animMotion origin="layout" path="M 0.11024 1.11111E-6 L 0.27395 0.19722 " pathEditMode="relative" rAng="0" ptsTypes="AA">
                                      <p:cBhvr>
                                        <p:cTn id="26" dur="2000" fill="hold"/>
                                        <p:tgtEl>
                                          <p:spTgt spid="237575"/>
                                        </p:tgtEl>
                                        <p:attrNameLst>
                                          <p:attrName>ppt_x</p:attrName>
                                          <p:attrName>ppt_y</p:attrName>
                                        </p:attrNameLst>
                                      </p:cBhvr>
                                      <p:rCtr x="8177" y="9861"/>
                                    </p:animMotion>
                                  </p:childTnLst>
                                </p:cTn>
                              </p:par>
                              <p:par>
                                <p:cTn id="27" presetID="0" presetClass="path" presetSubtype="0" accel="50000" decel="50000" fill="hold" nodeType="withEffect">
                                  <p:stCondLst>
                                    <p:cond delay="0"/>
                                  </p:stCondLst>
                                  <p:childTnLst>
                                    <p:animMotion origin="layout" path="M 1.11111E-6 -2.96296E-6 L -0.10278 0.21922 " pathEditMode="relative" rAng="0" ptsTypes="AA">
                                      <p:cBhvr>
                                        <p:cTn id="28" dur="2000" fill="hold"/>
                                        <p:tgtEl>
                                          <p:spTgt spid="237583"/>
                                        </p:tgtEl>
                                        <p:attrNameLst>
                                          <p:attrName>ppt_x</p:attrName>
                                          <p:attrName>ppt_y</p:attrName>
                                        </p:attrNameLst>
                                      </p:cBhvr>
                                      <p:rCtr x="-5139" y="10949"/>
                                    </p:animMotion>
                                  </p:childTnLst>
                                </p:cTn>
                              </p:par>
                              <p:par>
                                <p:cTn id="29" presetID="0" presetClass="path" presetSubtype="0" accel="50000" decel="50000" fill="hold" nodeType="withEffect">
                                  <p:stCondLst>
                                    <p:cond delay="0"/>
                                  </p:stCondLst>
                                  <p:childTnLst>
                                    <p:animMotion origin="layout" path="M -8.33333E-7 -2.96296E-6 L -0.15191 0.10371 " pathEditMode="relative" rAng="0" ptsTypes="AA">
                                      <p:cBhvr>
                                        <p:cTn id="30" dur="2000" fill="hold"/>
                                        <p:tgtEl>
                                          <p:spTgt spid="237584"/>
                                        </p:tgtEl>
                                        <p:attrNameLst>
                                          <p:attrName>ppt_x</p:attrName>
                                          <p:attrName>ppt_y</p:attrName>
                                        </p:attrNameLst>
                                      </p:cBhvr>
                                      <p:rCtr x="-7604" y="518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Date Placeholder 2"/>
          <p:cNvSpPr>
            <a:spLocks noGrp="1"/>
          </p:cNvSpPr>
          <p:nvPr>
            <p:ph type="dt" sz="half" idx="10"/>
          </p:nvPr>
        </p:nvSpPr>
        <p:spPr/>
        <p:txBody>
          <a:bodyPr/>
          <a:lstStyle/>
          <a:p>
            <a:fld id="{7CDF8690-9930-4E7F-97B9-C7D795890529}" type="datetime1">
              <a:rPr lang="en-GB" altLang="en-US"/>
              <a:pPr/>
              <a:t>02/06/2020</a:t>
            </a:fld>
            <a:endParaRPr lang="en-GB" altLang="en-US"/>
          </a:p>
        </p:txBody>
      </p:sp>
      <p:sp>
        <p:nvSpPr>
          <p:cNvPr id="238594" name="Rectangle 2"/>
          <p:cNvSpPr>
            <a:spLocks noGrp="1" noChangeArrowheads="1"/>
          </p:cNvSpPr>
          <p:nvPr>
            <p:ph type="title"/>
          </p:nvPr>
        </p:nvSpPr>
        <p:spPr/>
        <p:txBody>
          <a:bodyPr/>
          <a:lstStyle/>
          <a:p>
            <a:r>
              <a:rPr lang="en-GB" altLang="en-US"/>
              <a:t>Dot and cross diagrams</a:t>
            </a:r>
          </a:p>
        </p:txBody>
      </p:sp>
      <p:sp>
        <p:nvSpPr>
          <p:cNvPr id="238595" name="Text Box 3"/>
          <p:cNvSpPr txBox="1">
            <a:spLocks noChangeArrowheads="1"/>
          </p:cNvSpPr>
          <p:nvPr/>
        </p:nvSpPr>
        <p:spPr bwMode="auto">
          <a:xfrm>
            <a:off x="3105150" y="781050"/>
            <a:ext cx="2990850" cy="457200"/>
          </a:xfrm>
          <a:prstGeom prst="rect">
            <a:avLst/>
          </a:prstGeom>
          <a:solidFill>
            <a:srgbClr val="CC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t>Water, H</a:t>
            </a:r>
            <a:r>
              <a:rPr lang="en-GB" altLang="en-US" baseline="-25000"/>
              <a:t>2</a:t>
            </a:r>
            <a:r>
              <a:rPr lang="en-GB" altLang="en-US"/>
              <a:t>O:</a:t>
            </a:r>
          </a:p>
        </p:txBody>
      </p:sp>
      <p:sp>
        <p:nvSpPr>
          <p:cNvPr id="238596" name="Text Box 4"/>
          <p:cNvSpPr txBox="1">
            <a:spLocks noChangeArrowheads="1"/>
          </p:cNvSpPr>
          <p:nvPr/>
        </p:nvSpPr>
        <p:spPr bwMode="auto">
          <a:xfrm>
            <a:off x="3200400" y="4229100"/>
            <a:ext cx="2952750" cy="457200"/>
          </a:xfrm>
          <a:prstGeom prst="rect">
            <a:avLst/>
          </a:prstGeom>
          <a:solidFill>
            <a:srgbClr val="CC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t>Oxygen, O</a:t>
            </a:r>
            <a:r>
              <a:rPr lang="en-GB" altLang="en-US" baseline="-25000"/>
              <a:t>2</a:t>
            </a:r>
            <a:r>
              <a:rPr lang="en-GB" altLang="en-US"/>
              <a:t>:</a:t>
            </a:r>
          </a:p>
        </p:txBody>
      </p:sp>
      <p:grpSp>
        <p:nvGrpSpPr>
          <p:cNvPr id="238597" name="Group 5"/>
          <p:cNvGrpSpPr>
            <a:grpSpLocks/>
          </p:cNvGrpSpPr>
          <p:nvPr/>
        </p:nvGrpSpPr>
        <p:grpSpPr bwMode="auto">
          <a:xfrm>
            <a:off x="5722938" y="2228850"/>
            <a:ext cx="2581275" cy="1333500"/>
            <a:chOff x="677" y="1008"/>
            <a:chExt cx="1626" cy="840"/>
          </a:xfrm>
        </p:grpSpPr>
        <p:sp>
          <p:nvSpPr>
            <p:cNvPr id="238598" name="Oval 6"/>
            <p:cNvSpPr>
              <a:spLocks noChangeArrowheads="1"/>
            </p:cNvSpPr>
            <p:nvPr/>
          </p:nvSpPr>
          <p:spPr bwMode="auto">
            <a:xfrm>
              <a:off x="1116" y="1044"/>
              <a:ext cx="756" cy="756"/>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599" name="Oval 7"/>
            <p:cNvSpPr>
              <a:spLocks noChangeArrowheads="1"/>
            </p:cNvSpPr>
            <p:nvPr/>
          </p:nvSpPr>
          <p:spPr bwMode="auto">
            <a:xfrm>
              <a:off x="677" y="1212"/>
              <a:ext cx="480" cy="48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00" name="Oval 8"/>
            <p:cNvSpPr>
              <a:spLocks noChangeArrowheads="1"/>
            </p:cNvSpPr>
            <p:nvPr/>
          </p:nvSpPr>
          <p:spPr bwMode="auto">
            <a:xfrm>
              <a:off x="1077" y="1302"/>
              <a:ext cx="86" cy="8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01" name="Oval 9"/>
            <p:cNvSpPr>
              <a:spLocks noChangeArrowheads="1"/>
            </p:cNvSpPr>
            <p:nvPr/>
          </p:nvSpPr>
          <p:spPr bwMode="auto">
            <a:xfrm flipH="1">
              <a:off x="1823" y="1212"/>
              <a:ext cx="480" cy="48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02" name="Oval 10"/>
            <p:cNvSpPr>
              <a:spLocks noChangeArrowheads="1"/>
            </p:cNvSpPr>
            <p:nvPr/>
          </p:nvSpPr>
          <p:spPr bwMode="auto">
            <a:xfrm flipH="1">
              <a:off x="1817" y="1302"/>
              <a:ext cx="86" cy="8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03" name="Text Box 11"/>
            <p:cNvSpPr txBox="1">
              <a:spLocks noChangeArrowheads="1"/>
            </p:cNvSpPr>
            <p:nvPr/>
          </p:nvSpPr>
          <p:spPr bwMode="auto">
            <a:xfrm>
              <a:off x="1296" y="1296"/>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00FF99"/>
                  </a:solidFill>
                </a:rPr>
                <a:t>O</a:t>
              </a:r>
            </a:p>
          </p:txBody>
        </p:sp>
        <p:sp>
          <p:nvSpPr>
            <p:cNvPr id="238604" name="Text Box 12"/>
            <p:cNvSpPr txBox="1">
              <a:spLocks noChangeArrowheads="1"/>
            </p:cNvSpPr>
            <p:nvPr/>
          </p:nvSpPr>
          <p:spPr bwMode="auto">
            <a:xfrm>
              <a:off x="732" y="1296"/>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66CCFF"/>
                  </a:solidFill>
                </a:rPr>
                <a:t>H</a:t>
              </a:r>
            </a:p>
          </p:txBody>
        </p:sp>
        <p:sp>
          <p:nvSpPr>
            <p:cNvPr id="238605" name="Text Box 13"/>
            <p:cNvSpPr txBox="1">
              <a:spLocks noChangeArrowheads="1"/>
            </p:cNvSpPr>
            <p:nvPr/>
          </p:nvSpPr>
          <p:spPr bwMode="auto">
            <a:xfrm>
              <a:off x="1896" y="1320"/>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66CCFF"/>
                  </a:solidFill>
                </a:rPr>
                <a:t>H</a:t>
              </a:r>
            </a:p>
          </p:txBody>
        </p:sp>
        <p:sp>
          <p:nvSpPr>
            <p:cNvPr id="238606" name="AutoShape 14"/>
            <p:cNvSpPr>
              <a:spLocks noChangeArrowheads="1"/>
            </p:cNvSpPr>
            <p:nvPr/>
          </p:nvSpPr>
          <p:spPr bwMode="auto">
            <a:xfrm rot="8100000">
              <a:off x="1344" y="1020"/>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07" name="AutoShape 15"/>
            <p:cNvSpPr>
              <a:spLocks noChangeArrowheads="1"/>
            </p:cNvSpPr>
            <p:nvPr/>
          </p:nvSpPr>
          <p:spPr bwMode="auto">
            <a:xfrm rot="8100000">
              <a:off x="1476" y="1008"/>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08" name="AutoShape 16"/>
            <p:cNvSpPr>
              <a:spLocks noChangeArrowheads="1"/>
            </p:cNvSpPr>
            <p:nvPr/>
          </p:nvSpPr>
          <p:spPr bwMode="auto">
            <a:xfrm rot="8100000">
              <a:off x="1068" y="1428"/>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09" name="AutoShape 17"/>
            <p:cNvSpPr>
              <a:spLocks noChangeArrowheads="1"/>
            </p:cNvSpPr>
            <p:nvPr/>
          </p:nvSpPr>
          <p:spPr bwMode="auto">
            <a:xfrm rot="8100000">
              <a:off x="1776" y="1464"/>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10" name="AutoShape 18"/>
            <p:cNvSpPr>
              <a:spLocks noChangeArrowheads="1"/>
            </p:cNvSpPr>
            <p:nvPr/>
          </p:nvSpPr>
          <p:spPr bwMode="auto">
            <a:xfrm rot="8100000">
              <a:off x="1320" y="1728"/>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11" name="AutoShape 19"/>
            <p:cNvSpPr>
              <a:spLocks noChangeArrowheads="1"/>
            </p:cNvSpPr>
            <p:nvPr/>
          </p:nvSpPr>
          <p:spPr bwMode="auto">
            <a:xfrm rot="8100000">
              <a:off x="1524" y="1728"/>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38612" name="Group 20"/>
          <p:cNvGrpSpPr>
            <a:grpSpLocks/>
          </p:cNvGrpSpPr>
          <p:nvPr/>
        </p:nvGrpSpPr>
        <p:grpSpPr bwMode="auto">
          <a:xfrm>
            <a:off x="5772150" y="5048250"/>
            <a:ext cx="2457450" cy="1365250"/>
            <a:chOff x="3228" y="972"/>
            <a:chExt cx="1548" cy="860"/>
          </a:xfrm>
        </p:grpSpPr>
        <p:sp>
          <p:nvSpPr>
            <p:cNvPr id="238613" name="Oval 21"/>
            <p:cNvSpPr>
              <a:spLocks noChangeArrowheads="1"/>
            </p:cNvSpPr>
            <p:nvPr/>
          </p:nvSpPr>
          <p:spPr bwMode="auto">
            <a:xfrm>
              <a:off x="3228" y="1032"/>
              <a:ext cx="756" cy="756"/>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14" name="Oval 22"/>
            <p:cNvSpPr>
              <a:spLocks noChangeArrowheads="1"/>
            </p:cNvSpPr>
            <p:nvPr/>
          </p:nvSpPr>
          <p:spPr bwMode="auto">
            <a:xfrm>
              <a:off x="3489" y="990"/>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15" name="Oval 23"/>
            <p:cNvSpPr>
              <a:spLocks noChangeArrowheads="1"/>
            </p:cNvSpPr>
            <p:nvPr/>
          </p:nvSpPr>
          <p:spPr bwMode="auto">
            <a:xfrm>
              <a:off x="3357" y="1038"/>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16" name="Oval 24"/>
            <p:cNvSpPr>
              <a:spLocks noChangeArrowheads="1"/>
            </p:cNvSpPr>
            <p:nvPr/>
          </p:nvSpPr>
          <p:spPr bwMode="auto">
            <a:xfrm>
              <a:off x="3345" y="1686"/>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17" name="Oval 25"/>
            <p:cNvSpPr>
              <a:spLocks noChangeArrowheads="1"/>
            </p:cNvSpPr>
            <p:nvPr/>
          </p:nvSpPr>
          <p:spPr bwMode="auto">
            <a:xfrm>
              <a:off x="3453" y="1746"/>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18" name="Text Box 26"/>
            <p:cNvSpPr txBox="1">
              <a:spLocks noChangeArrowheads="1"/>
            </p:cNvSpPr>
            <p:nvPr/>
          </p:nvSpPr>
          <p:spPr bwMode="auto">
            <a:xfrm>
              <a:off x="3408" y="1284"/>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00FF99"/>
                  </a:solidFill>
                </a:rPr>
                <a:t>O</a:t>
              </a:r>
            </a:p>
          </p:txBody>
        </p:sp>
        <p:sp>
          <p:nvSpPr>
            <p:cNvPr id="238619" name="Oval 27"/>
            <p:cNvSpPr>
              <a:spLocks noChangeArrowheads="1"/>
            </p:cNvSpPr>
            <p:nvPr/>
          </p:nvSpPr>
          <p:spPr bwMode="auto">
            <a:xfrm>
              <a:off x="3960" y="1008"/>
              <a:ext cx="756" cy="756"/>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20" name="Text Box 28"/>
            <p:cNvSpPr txBox="1">
              <a:spLocks noChangeArrowheads="1"/>
            </p:cNvSpPr>
            <p:nvPr/>
          </p:nvSpPr>
          <p:spPr bwMode="auto">
            <a:xfrm>
              <a:off x="4140" y="1260"/>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00FF99"/>
                  </a:solidFill>
                </a:rPr>
                <a:t>O</a:t>
              </a:r>
            </a:p>
          </p:txBody>
        </p:sp>
        <p:sp>
          <p:nvSpPr>
            <p:cNvPr id="238621" name="Oval 29"/>
            <p:cNvSpPr>
              <a:spLocks noChangeArrowheads="1"/>
            </p:cNvSpPr>
            <p:nvPr/>
          </p:nvSpPr>
          <p:spPr bwMode="auto">
            <a:xfrm>
              <a:off x="3924" y="1332"/>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22" name="Oval 30"/>
            <p:cNvSpPr>
              <a:spLocks noChangeArrowheads="1"/>
            </p:cNvSpPr>
            <p:nvPr/>
          </p:nvSpPr>
          <p:spPr bwMode="auto">
            <a:xfrm>
              <a:off x="3945" y="1506"/>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23" name="AutoShape 31"/>
            <p:cNvSpPr>
              <a:spLocks noChangeArrowheads="1"/>
            </p:cNvSpPr>
            <p:nvPr/>
          </p:nvSpPr>
          <p:spPr bwMode="auto">
            <a:xfrm rot="8100000">
              <a:off x="3924" y="1404"/>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24" name="AutoShape 32"/>
            <p:cNvSpPr>
              <a:spLocks noChangeArrowheads="1"/>
            </p:cNvSpPr>
            <p:nvPr/>
          </p:nvSpPr>
          <p:spPr bwMode="auto">
            <a:xfrm rot="8100000">
              <a:off x="3912" y="1212"/>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25" name="AutoShape 33"/>
            <p:cNvSpPr>
              <a:spLocks noChangeArrowheads="1"/>
            </p:cNvSpPr>
            <p:nvPr/>
          </p:nvSpPr>
          <p:spPr bwMode="auto">
            <a:xfrm rot="8100000">
              <a:off x="4200" y="972"/>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26" name="AutoShape 34"/>
            <p:cNvSpPr>
              <a:spLocks noChangeArrowheads="1"/>
            </p:cNvSpPr>
            <p:nvPr/>
          </p:nvSpPr>
          <p:spPr bwMode="auto">
            <a:xfrm rot="8100000">
              <a:off x="4320" y="972"/>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27" name="AutoShape 35"/>
            <p:cNvSpPr>
              <a:spLocks noChangeArrowheads="1"/>
            </p:cNvSpPr>
            <p:nvPr/>
          </p:nvSpPr>
          <p:spPr bwMode="auto">
            <a:xfrm rot="8100000">
              <a:off x="4620" y="1476"/>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28" name="AutoShape 36"/>
            <p:cNvSpPr>
              <a:spLocks noChangeArrowheads="1"/>
            </p:cNvSpPr>
            <p:nvPr/>
          </p:nvSpPr>
          <p:spPr bwMode="auto">
            <a:xfrm rot="8100000">
              <a:off x="4656" y="1356"/>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38629" name="Group 37"/>
          <p:cNvGrpSpPr>
            <a:grpSpLocks/>
          </p:cNvGrpSpPr>
          <p:nvPr/>
        </p:nvGrpSpPr>
        <p:grpSpPr bwMode="auto">
          <a:xfrm>
            <a:off x="865188" y="2209800"/>
            <a:ext cx="771525" cy="762000"/>
            <a:chOff x="221" y="2016"/>
            <a:chExt cx="486" cy="480"/>
          </a:xfrm>
        </p:grpSpPr>
        <p:sp>
          <p:nvSpPr>
            <p:cNvPr id="238630" name="Oval 38"/>
            <p:cNvSpPr>
              <a:spLocks noChangeArrowheads="1"/>
            </p:cNvSpPr>
            <p:nvPr/>
          </p:nvSpPr>
          <p:spPr bwMode="auto">
            <a:xfrm>
              <a:off x="221" y="2016"/>
              <a:ext cx="480" cy="48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31" name="Oval 39"/>
            <p:cNvSpPr>
              <a:spLocks noChangeArrowheads="1"/>
            </p:cNvSpPr>
            <p:nvPr/>
          </p:nvSpPr>
          <p:spPr bwMode="auto">
            <a:xfrm>
              <a:off x="621" y="2106"/>
              <a:ext cx="86" cy="8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32" name="Text Box 40"/>
            <p:cNvSpPr txBox="1">
              <a:spLocks noChangeArrowheads="1"/>
            </p:cNvSpPr>
            <p:nvPr/>
          </p:nvSpPr>
          <p:spPr bwMode="auto">
            <a:xfrm>
              <a:off x="276" y="2100"/>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66CCFF"/>
                  </a:solidFill>
                </a:rPr>
                <a:t>H</a:t>
              </a:r>
            </a:p>
          </p:txBody>
        </p:sp>
      </p:grpSp>
      <p:grpSp>
        <p:nvGrpSpPr>
          <p:cNvPr id="238633" name="Group 41"/>
          <p:cNvGrpSpPr>
            <a:grpSpLocks/>
          </p:cNvGrpSpPr>
          <p:nvPr/>
        </p:nvGrpSpPr>
        <p:grpSpPr bwMode="auto">
          <a:xfrm>
            <a:off x="827088" y="3162300"/>
            <a:ext cx="771525" cy="762000"/>
            <a:chOff x="1949" y="1284"/>
            <a:chExt cx="486" cy="480"/>
          </a:xfrm>
        </p:grpSpPr>
        <p:sp>
          <p:nvSpPr>
            <p:cNvPr id="238634" name="Oval 42"/>
            <p:cNvSpPr>
              <a:spLocks noChangeArrowheads="1"/>
            </p:cNvSpPr>
            <p:nvPr/>
          </p:nvSpPr>
          <p:spPr bwMode="auto">
            <a:xfrm flipH="1">
              <a:off x="1955" y="1284"/>
              <a:ext cx="480" cy="48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35" name="Oval 43"/>
            <p:cNvSpPr>
              <a:spLocks noChangeArrowheads="1"/>
            </p:cNvSpPr>
            <p:nvPr/>
          </p:nvSpPr>
          <p:spPr bwMode="auto">
            <a:xfrm flipH="1">
              <a:off x="1949" y="1374"/>
              <a:ext cx="86" cy="8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36" name="Text Box 44"/>
            <p:cNvSpPr txBox="1">
              <a:spLocks noChangeArrowheads="1"/>
            </p:cNvSpPr>
            <p:nvPr/>
          </p:nvSpPr>
          <p:spPr bwMode="auto">
            <a:xfrm>
              <a:off x="2028" y="1392"/>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66CCFF"/>
                  </a:solidFill>
                </a:rPr>
                <a:t>H</a:t>
              </a:r>
            </a:p>
          </p:txBody>
        </p:sp>
      </p:grpSp>
      <p:grpSp>
        <p:nvGrpSpPr>
          <p:cNvPr id="238637" name="Group 45"/>
          <p:cNvGrpSpPr>
            <a:grpSpLocks/>
          </p:cNvGrpSpPr>
          <p:nvPr/>
        </p:nvGrpSpPr>
        <p:grpSpPr bwMode="auto">
          <a:xfrm>
            <a:off x="2076450" y="2190750"/>
            <a:ext cx="1314450" cy="1333500"/>
            <a:chOff x="612" y="1080"/>
            <a:chExt cx="828" cy="840"/>
          </a:xfrm>
        </p:grpSpPr>
        <p:sp>
          <p:nvSpPr>
            <p:cNvPr id="238638" name="Oval 46"/>
            <p:cNvSpPr>
              <a:spLocks noChangeArrowheads="1"/>
            </p:cNvSpPr>
            <p:nvPr/>
          </p:nvSpPr>
          <p:spPr bwMode="auto">
            <a:xfrm>
              <a:off x="660" y="1116"/>
              <a:ext cx="756" cy="756"/>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39" name="Text Box 47"/>
            <p:cNvSpPr txBox="1">
              <a:spLocks noChangeArrowheads="1"/>
            </p:cNvSpPr>
            <p:nvPr/>
          </p:nvSpPr>
          <p:spPr bwMode="auto">
            <a:xfrm>
              <a:off x="840" y="1368"/>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00FF99"/>
                  </a:solidFill>
                </a:rPr>
                <a:t>O</a:t>
              </a:r>
            </a:p>
          </p:txBody>
        </p:sp>
        <p:sp>
          <p:nvSpPr>
            <p:cNvPr id="238640" name="AutoShape 48"/>
            <p:cNvSpPr>
              <a:spLocks noChangeArrowheads="1"/>
            </p:cNvSpPr>
            <p:nvPr/>
          </p:nvSpPr>
          <p:spPr bwMode="auto">
            <a:xfrm rot="8100000">
              <a:off x="888" y="1092"/>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41" name="AutoShape 49"/>
            <p:cNvSpPr>
              <a:spLocks noChangeArrowheads="1"/>
            </p:cNvSpPr>
            <p:nvPr/>
          </p:nvSpPr>
          <p:spPr bwMode="auto">
            <a:xfrm rot="8100000">
              <a:off x="1020" y="1080"/>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42" name="AutoShape 50"/>
            <p:cNvSpPr>
              <a:spLocks noChangeArrowheads="1"/>
            </p:cNvSpPr>
            <p:nvPr/>
          </p:nvSpPr>
          <p:spPr bwMode="auto">
            <a:xfrm rot="8100000">
              <a:off x="612" y="1500"/>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43" name="AutoShape 51"/>
            <p:cNvSpPr>
              <a:spLocks noChangeArrowheads="1"/>
            </p:cNvSpPr>
            <p:nvPr/>
          </p:nvSpPr>
          <p:spPr bwMode="auto">
            <a:xfrm rot="8100000">
              <a:off x="1320" y="1536"/>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44" name="AutoShape 52"/>
            <p:cNvSpPr>
              <a:spLocks noChangeArrowheads="1"/>
            </p:cNvSpPr>
            <p:nvPr/>
          </p:nvSpPr>
          <p:spPr bwMode="auto">
            <a:xfrm rot="8100000">
              <a:off x="864" y="1800"/>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45" name="AutoShape 53"/>
            <p:cNvSpPr>
              <a:spLocks noChangeArrowheads="1"/>
            </p:cNvSpPr>
            <p:nvPr/>
          </p:nvSpPr>
          <p:spPr bwMode="auto">
            <a:xfrm rot="8100000">
              <a:off x="1068" y="1800"/>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38646" name="Group 54"/>
          <p:cNvGrpSpPr>
            <a:grpSpLocks/>
          </p:cNvGrpSpPr>
          <p:nvPr/>
        </p:nvGrpSpPr>
        <p:grpSpPr bwMode="auto">
          <a:xfrm>
            <a:off x="381000" y="5076825"/>
            <a:ext cx="1255713" cy="1336675"/>
            <a:chOff x="420" y="3150"/>
            <a:chExt cx="791" cy="842"/>
          </a:xfrm>
        </p:grpSpPr>
        <p:sp>
          <p:nvSpPr>
            <p:cNvPr id="238647" name="Oval 55"/>
            <p:cNvSpPr>
              <a:spLocks noChangeArrowheads="1"/>
            </p:cNvSpPr>
            <p:nvPr/>
          </p:nvSpPr>
          <p:spPr bwMode="auto">
            <a:xfrm>
              <a:off x="420" y="3192"/>
              <a:ext cx="756" cy="756"/>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48" name="Oval 56"/>
            <p:cNvSpPr>
              <a:spLocks noChangeArrowheads="1"/>
            </p:cNvSpPr>
            <p:nvPr/>
          </p:nvSpPr>
          <p:spPr bwMode="auto">
            <a:xfrm>
              <a:off x="681" y="3150"/>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49" name="Oval 57"/>
            <p:cNvSpPr>
              <a:spLocks noChangeArrowheads="1"/>
            </p:cNvSpPr>
            <p:nvPr/>
          </p:nvSpPr>
          <p:spPr bwMode="auto">
            <a:xfrm>
              <a:off x="549" y="3198"/>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50" name="Oval 58"/>
            <p:cNvSpPr>
              <a:spLocks noChangeArrowheads="1"/>
            </p:cNvSpPr>
            <p:nvPr/>
          </p:nvSpPr>
          <p:spPr bwMode="auto">
            <a:xfrm>
              <a:off x="537" y="3846"/>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51" name="Oval 59"/>
            <p:cNvSpPr>
              <a:spLocks noChangeArrowheads="1"/>
            </p:cNvSpPr>
            <p:nvPr/>
          </p:nvSpPr>
          <p:spPr bwMode="auto">
            <a:xfrm>
              <a:off x="645" y="3906"/>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52" name="Text Box 60"/>
            <p:cNvSpPr txBox="1">
              <a:spLocks noChangeArrowheads="1"/>
            </p:cNvSpPr>
            <p:nvPr/>
          </p:nvSpPr>
          <p:spPr bwMode="auto">
            <a:xfrm>
              <a:off x="600" y="3444"/>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00FF99"/>
                  </a:solidFill>
                </a:rPr>
                <a:t>O</a:t>
              </a:r>
            </a:p>
          </p:txBody>
        </p:sp>
        <p:sp>
          <p:nvSpPr>
            <p:cNvPr id="238653" name="Oval 61"/>
            <p:cNvSpPr>
              <a:spLocks noChangeArrowheads="1"/>
            </p:cNvSpPr>
            <p:nvPr/>
          </p:nvSpPr>
          <p:spPr bwMode="auto">
            <a:xfrm>
              <a:off x="1104" y="3372"/>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54" name="Oval 62"/>
            <p:cNvSpPr>
              <a:spLocks noChangeArrowheads="1"/>
            </p:cNvSpPr>
            <p:nvPr/>
          </p:nvSpPr>
          <p:spPr bwMode="auto">
            <a:xfrm>
              <a:off x="1125" y="3522"/>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38655" name="Group 63"/>
          <p:cNvGrpSpPr>
            <a:grpSpLocks/>
          </p:cNvGrpSpPr>
          <p:nvPr/>
        </p:nvGrpSpPr>
        <p:grpSpPr bwMode="auto">
          <a:xfrm>
            <a:off x="2057400" y="5048250"/>
            <a:ext cx="1371600" cy="1257300"/>
            <a:chOff x="1248" y="3144"/>
            <a:chExt cx="864" cy="792"/>
          </a:xfrm>
        </p:grpSpPr>
        <p:sp>
          <p:nvSpPr>
            <p:cNvPr id="238656" name="Oval 64"/>
            <p:cNvSpPr>
              <a:spLocks noChangeArrowheads="1"/>
            </p:cNvSpPr>
            <p:nvPr/>
          </p:nvSpPr>
          <p:spPr bwMode="auto">
            <a:xfrm>
              <a:off x="1296" y="3180"/>
              <a:ext cx="756" cy="756"/>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57" name="Text Box 65"/>
            <p:cNvSpPr txBox="1">
              <a:spLocks noChangeArrowheads="1"/>
            </p:cNvSpPr>
            <p:nvPr/>
          </p:nvSpPr>
          <p:spPr bwMode="auto">
            <a:xfrm>
              <a:off x="1476" y="3432"/>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00FF99"/>
                  </a:solidFill>
                </a:rPr>
                <a:t>O</a:t>
              </a:r>
            </a:p>
          </p:txBody>
        </p:sp>
        <p:sp>
          <p:nvSpPr>
            <p:cNvPr id="238658" name="AutoShape 66"/>
            <p:cNvSpPr>
              <a:spLocks noChangeArrowheads="1"/>
            </p:cNvSpPr>
            <p:nvPr/>
          </p:nvSpPr>
          <p:spPr bwMode="auto">
            <a:xfrm rot="8100000">
              <a:off x="1260" y="3576"/>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59" name="AutoShape 67"/>
            <p:cNvSpPr>
              <a:spLocks noChangeArrowheads="1"/>
            </p:cNvSpPr>
            <p:nvPr/>
          </p:nvSpPr>
          <p:spPr bwMode="auto">
            <a:xfrm rot="8100000">
              <a:off x="1248" y="3384"/>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60" name="AutoShape 68"/>
            <p:cNvSpPr>
              <a:spLocks noChangeArrowheads="1"/>
            </p:cNvSpPr>
            <p:nvPr/>
          </p:nvSpPr>
          <p:spPr bwMode="auto">
            <a:xfrm rot="8100000">
              <a:off x="1536" y="3144"/>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61" name="AutoShape 69"/>
            <p:cNvSpPr>
              <a:spLocks noChangeArrowheads="1"/>
            </p:cNvSpPr>
            <p:nvPr/>
          </p:nvSpPr>
          <p:spPr bwMode="auto">
            <a:xfrm rot="8100000">
              <a:off x="1656" y="3144"/>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62" name="AutoShape 70"/>
            <p:cNvSpPr>
              <a:spLocks noChangeArrowheads="1"/>
            </p:cNvSpPr>
            <p:nvPr/>
          </p:nvSpPr>
          <p:spPr bwMode="auto">
            <a:xfrm rot="8100000">
              <a:off x="1956" y="3648"/>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8663" name="AutoShape 71"/>
            <p:cNvSpPr>
              <a:spLocks noChangeArrowheads="1"/>
            </p:cNvSpPr>
            <p:nvPr/>
          </p:nvSpPr>
          <p:spPr bwMode="auto">
            <a:xfrm rot="8100000">
              <a:off x="1992" y="3528"/>
              <a:ext cx="120" cy="120"/>
            </a:xfrm>
            <a:prstGeom prst="plus">
              <a:avLst>
                <a:gd name="adj" fmla="val 35000"/>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38664" name="Text Box 72"/>
          <p:cNvSpPr txBox="1">
            <a:spLocks noChangeArrowheads="1"/>
          </p:cNvSpPr>
          <p:nvPr/>
        </p:nvSpPr>
        <p:spPr bwMode="auto">
          <a:xfrm>
            <a:off x="0" y="1390650"/>
            <a:ext cx="38290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i="1"/>
              <a:t>Step 1: Draw the atoms with their outer shell:</a:t>
            </a:r>
          </a:p>
        </p:txBody>
      </p:sp>
      <p:sp>
        <p:nvSpPr>
          <p:cNvPr id="238665" name="Text Box 73"/>
          <p:cNvSpPr txBox="1">
            <a:spLocks noChangeArrowheads="1"/>
          </p:cNvSpPr>
          <p:nvPr/>
        </p:nvSpPr>
        <p:spPr bwMode="auto">
          <a:xfrm>
            <a:off x="4572000" y="1390650"/>
            <a:ext cx="4572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i="1"/>
              <a:t>Step 2: Put the atoms together and check they all have a full outer shell:</a:t>
            </a:r>
          </a:p>
        </p:txBody>
      </p:sp>
    </p:spTree>
    <p:extLst>
      <p:ext uri="{BB962C8B-B14F-4D97-AF65-F5344CB8AC3E}">
        <p14:creationId xmlns:p14="http://schemas.microsoft.com/office/powerpoint/2010/main" val="42392859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8595"/>
                                        </p:tgtEl>
                                        <p:attrNameLst>
                                          <p:attrName>style.visibility</p:attrName>
                                        </p:attrNameLst>
                                      </p:cBhvr>
                                      <p:to>
                                        <p:strVal val="visible"/>
                                      </p:to>
                                    </p:set>
                                    <p:animEffect transition="in" filter="wipe(left)">
                                      <p:cBhvr>
                                        <p:cTn id="7" dur="500"/>
                                        <p:tgtEl>
                                          <p:spTgt spid="2385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8664"/>
                                        </p:tgtEl>
                                        <p:attrNameLst>
                                          <p:attrName>style.visibility</p:attrName>
                                        </p:attrNameLst>
                                      </p:cBhvr>
                                      <p:to>
                                        <p:strVal val="visible"/>
                                      </p:to>
                                    </p:set>
                                    <p:animEffect transition="in" filter="wipe(left)">
                                      <p:cBhvr>
                                        <p:cTn id="12" dur="500"/>
                                        <p:tgtEl>
                                          <p:spTgt spid="2386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238629"/>
                                        </p:tgtEl>
                                        <p:attrNameLst>
                                          <p:attrName>style.visibility</p:attrName>
                                        </p:attrNameLst>
                                      </p:cBhvr>
                                      <p:to>
                                        <p:strVal val="visible"/>
                                      </p:to>
                                    </p:set>
                                    <p:anim calcmode="lin" valueType="num">
                                      <p:cBhvr additive="base">
                                        <p:cTn id="17" dur="500" fill="hold"/>
                                        <p:tgtEl>
                                          <p:spTgt spid="238629"/>
                                        </p:tgtEl>
                                        <p:attrNameLst>
                                          <p:attrName>ppt_x</p:attrName>
                                        </p:attrNameLst>
                                      </p:cBhvr>
                                      <p:tavLst>
                                        <p:tav tm="0">
                                          <p:val>
                                            <p:strVal val="0-#ppt_w/2"/>
                                          </p:val>
                                        </p:tav>
                                        <p:tav tm="100000">
                                          <p:val>
                                            <p:strVal val="#ppt_x"/>
                                          </p:val>
                                        </p:tav>
                                      </p:tavLst>
                                    </p:anim>
                                    <p:anim calcmode="lin" valueType="num">
                                      <p:cBhvr additive="base">
                                        <p:cTn id="18" dur="500" fill="hold"/>
                                        <p:tgtEl>
                                          <p:spTgt spid="238629"/>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238633"/>
                                        </p:tgtEl>
                                        <p:attrNameLst>
                                          <p:attrName>style.visibility</p:attrName>
                                        </p:attrNameLst>
                                      </p:cBhvr>
                                      <p:to>
                                        <p:strVal val="visible"/>
                                      </p:to>
                                    </p:set>
                                    <p:anim calcmode="lin" valueType="num">
                                      <p:cBhvr additive="base">
                                        <p:cTn id="23" dur="500" fill="hold"/>
                                        <p:tgtEl>
                                          <p:spTgt spid="238633"/>
                                        </p:tgtEl>
                                        <p:attrNameLst>
                                          <p:attrName>ppt_x</p:attrName>
                                        </p:attrNameLst>
                                      </p:cBhvr>
                                      <p:tavLst>
                                        <p:tav tm="0">
                                          <p:val>
                                            <p:strVal val="0-#ppt_w/2"/>
                                          </p:val>
                                        </p:tav>
                                        <p:tav tm="100000">
                                          <p:val>
                                            <p:strVal val="#ppt_x"/>
                                          </p:val>
                                        </p:tav>
                                      </p:tavLst>
                                    </p:anim>
                                    <p:anim calcmode="lin" valueType="num">
                                      <p:cBhvr additive="base">
                                        <p:cTn id="24" dur="500" fill="hold"/>
                                        <p:tgtEl>
                                          <p:spTgt spid="238633"/>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nodeType="clickEffect">
                                  <p:stCondLst>
                                    <p:cond delay="0"/>
                                  </p:stCondLst>
                                  <p:childTnLst>
                                    <p:set>
                                      <p:cBhvr>
                                        <p:cTn id="28" dur="1" fill="hold">
                                          <p:stCondLst>
                                            <p:cond delay="0"/>
                                          </p:stCondLst>
                                        </p:cTn>
                                        <p:tgtEl>
                                          <p:spTgt spid="238637"/>
                                        </p:tgtEl>
                                        <p:attrNameLst>
                                          <p:attrName>style.visibility</p:attrName>
                                        </p:attrNameLst>
                                      </p:cBhvr>
                                      <p:to>
                                        <p:strVal val="visible"/>
                                      </p:to>
                                    </p:set>
                                    <p:anim calcmode="lin" valueType="num">
                                      <p:cBhvr additive="base">
                                        <p:cTn id="29" dur="500" fill="hold"/>
                                        <p:tgtEl>
                                          <p:spTgt spid="238637"/>
                                        </p:tgtEl>
                                        <p:attrNameLst>
                                          <p:attrName>ppt_x</p:attrName>
                                        </p:attrNameLst>
                                      </p:cBhvr>
                                      <p:tavLst>
                                        <p:tav tm="0">
                                          <p:val>
                                            <p:strVal val="0-#ppt_w/2"/>
                                          </p:val>
                                        </p:tav>
                                        <p:tav tm="100000">
                                          <p:val>
                                            <p:strVal val="#ppt_x"/>
                                          </p:val>
                                        </p:tav>
                                      </p:tavLst>
                                    </p:anim>
                                    <p:anim calcmode="lin" valueType="num">
                                      <p:cBhvr additive="base">
                                        <p:cTn id="30" dur="500" fill="hold"/>
                                        <p:tgtEl>
                                          <p:spTgt spid="238637"/>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38665"/>
                                        </p:tgtEl>
                                        <p:attrNameLst>
                                          <p:attrName>style.visibility</p:attrName>
                                        </p:attrNameLst>
                                      </p:cBhvr>
                                      <p:to>
                                        <p:strVal val="visible"/>
                                      </p:to>
                                    </p:set>
                                    <p:animEffect transition="in" filter="wipe(left)">
                                      <p:cBhvr>
                                        <p:cTn id="35" dur="500"/>
                                        <p:tgtEl>
                                          <p:spTgt spid="23866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238597"/>
                                        </p:tgtEl>
                                        <p:attrNameLst>
                                          <p:attrName>style.visibility</p:attrName>
                                        </p:attrNameLst>
                                      </p:cBhvr>
                                      <p:to>
                                        <p:strVal val="visible"/>
                                      </p:to>
                                    </p:set>
                                    <p:animEffect transition="in" filter="wipe(left)">
                                      <p:cBhvr>
                                        <p:cTn id="40" dur="500"/>
                                        <p:tgtEl>
                                          <p:spTgt spid="23859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38596"/>
                                        </p:tgtEl>
                                        <p:attrNameLst>
                                          <p:attrName>style.visibility</p:attrName>
                                        </p:attrNameLst>
                                      </p:cBhvr>
                                      <p:to>
                                        <p:strVal val="visible"/>
                                      </p:to>
                                    </p:set>
                                    <p:animEffect transition="in" filter="wipe(left)">
                                      <p:cBhvr>
                                        <p:cTn id="45" dur="500"/>
                                        <p:tgtEl>
                                          <p:spTgt spid="23859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8" fill="hold" nodeType="clickEffect">
                                  <p:stCondLst>
                                    <p:cond delay="0"/>
                                  </p:stCondLst>
                                  <p:childTnLst>
                                    <p:set>
                                      <p:cBhvr>
                                        <p:cTn id="49" dur="1" fill="hold">
                                          <p:stCondLst>
                                            <p:cond delay="0"/>
                                          </p:stCondLst>
                                        </p:cTn>
                                        <p:tgtEl>
                                          <p:spTgt spid="238646"/>
                                        </p:tgtEl>
                                        <p:attrNameLst>
                                          <p:attrName>style.visibility</p:attrName>
                                        </p:attrNameLst>
                                      </p:cBhvr>
                                      <p:to>
                                        <p:strVal val="visible"/>
                                      </p:to>
                                    </p:set>
                                    <p:anim calcmode="lin" valueType="num">
                                      <p:cBhvr additive="base">
                                        <p:cTn id="50" dur="500" fill="hold"/>
                                        <p:tgtEl>
                                          <p:spTgt spid="238646"/>
                                        </p:tgtEl>
                                        <p:attrNameLst>
                                          <p:attrName>ppt_x</p:attrName>
                                        </p:attrNameLst>
                                      </p:cBhvr>
                                      <p:tavLst>
                                        <p:tav tm="0">
                                          <p:val>
                                            <p:strVal val="0-#ppt_w/2"/>
                                          </p:val>
                                        </p:tav>
                                        <p:tav tm="100000">
                                          <p:val>
                                            <p:strVal val="#ppt_x"/>
                                          </p:val>
                                        </p:tav>
                                      </p:tavLst>
                                    </p:anim>
                                    <p:anim calcmode="lin" valueType="num">
                                      <p:cBhvr additive="base">
                                        <p:cTn id="51" dur="500" fill="hold"/>
                                        <p:tgtEl>
                                          <p:spTgt spid="238646"/>
                                        </p:tgtEl>
                                        <p:attrNameLst>
                                          <p:attrName>ppt_y</p:attrName>
                                        </p:attrNameLst>
                                      </p:cBhvr>
                                      <p:tavLst>
                                        <p:tav tm="0">
                                          <p:val>
                                            <p:strVal val="#ppt_y"/>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8" fill="hold" nodeType="clickEffect">
                                  <p:stCondLst>
                                    <p:cond delay="0"/>
                                  </p:stCondLst>
                                  <p:childTnLst>
                                    <p:set>
                                      <p:cBhvr>
                                        <p:cTn id="55" dur="1" fill="hold">
                                          <p:stCondLst>
                                            <p:cond delay="0"/>
                                          </p:stCondLst>
                                        </p:cTn>
                                        <p:tgtEl>
                                          <p:spTgt spid="238655"/>
                                        </p:tgtEl>
                                        <p:attrNameLst>
                                          <p:attrName>style.visibility</p:attrName>
                                        </p:attrNameLst>
                                      </p:cBhvr>
                                      <p:to>
                                        <p:strVal val="visible"/>
                                      </p:to>
                                    </p:set>
                                    <p:anim calcmode="lin" valueType="num">
                                      <p:cBhvr additive="base">
                                        <p:cTn id="56" dur="500" fill="hold"/>
                                        <p:tgtEl>
                                          <p:spTgt spid="238655"/>
                                        </p:tgtEl>
                                        <p:attrNameLst>
                                          <p:attrName>ppt_x</p:attrName>
                                        </p:attrNameLst>
                                      </p:cBhvr>
                                      <p:tavLst>
                                        <p:tav tm="0">
                                          <p:val>
                                            <p:strVal val="0-#ppt_w/2"/>
                                          </p:val>
                                        </p:tav>
                                        <p:tav tm="100000">
                                          <p:val>
                                            <p:strVal val="#ppt_x"/>
                                          </p:val>
                                        </p:tav>
                                      </p:tavLst>
                                    </p:anim>
                                    <p:anim calcmode="lin" valueType="num">
                                      <p:cBhvr additive="base">
                                        <p:cTn id="57" dur="500" fill="hold"/>
                                        <p:tgtEl>
                                          <p:spTgt spid="238655"/>
                                        </p:tgtEl>
                                        <p:attrNameLst>
                                          <p:attrName>ppt_y</p:attrName>
                                        </p:attrNameLst>
                                      </p:cBhvr>
                                      <p:tavLst>
                                        <p:tav tm="0">
                                          <p:val>
                                            <p:strVal val="#ppt_y"/>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38612"/>
                                        </p:tgtEl>
                                        <p:attrNameLst>
                                          <p:attrName>style.visibility</p:attrName>
                                        </p:attrNameLst>
                                      </p:cBhvr>
                                      <p:to>
                                        <p:strVal val="visible"/>
                                      </p:to>
                                    </p:set>
                                    <p:animEffect transition="in" filter="wipe(left)">
                                      <p:cBhvr>
                                        <p:cTn id="62" dur="500"/>
                                        <p:tgtEl>
                                          <p:spTgt spid="238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5" grpId="0" animBg="1" autoUpdateAnimBg="0"/>
      <p:bldP spid="238596" grpId="0" animBg="1" autoUpdateAnimBg="0"/>
      <p:bldP spid="238664" grpId="0" autoUpdateAnimBg="0"/>
      <p:bldP spid="238665"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Date Placeholder 2"/>
          <p:cNvSpPr>
            <a:spLocks noGrp="1"/>
          </p:cNvSpPr>
          <p:nvPr>
            <p:ph type="dt" sz="half" idx="10"/>
          </p:nvPr>
        </p:nvSpPr>
        <p:spPr/>
        <p:txBody>
          <a:bodyPr/>
          <a:lstStyle/>
          <a:p>
            <a:fld id="{4283407E-9A2D-4BF8-8099-3C147BFC2A19}" type="datetime1">
              <a:rPr lang="en-GB" altLang="en-US"/>
              <a:pPr/>
              <a:t>02/06/2020</a:t>
            </a:fld>
            <a:endParaRPr lang="en-GB" altLang="en-US"/>
          </a:p>
        </p:txBody>
      </p:sp>
      <p:sp>
        <p:nvSpPr>
          <p:cNvPr id="239618" name="Rectangle 2"/>
          <p:cNvSpPr>
            <a:spLocks noGrp="1" noChangeArrowheads="1"/>
          </p:cNvSpPr>
          <p:nvPr>
            <p:ph type="title"/>
          </p:nvPr>
        </p:nvSpPr>
        <p:spPr/>
        <p:txBody>
          <a:bodyPr/>
          <a:lstStyle/>
          <a:p>
            <a:r>
              <a:rPr lang="en-GB" altLang="en-US"/>
              <a:t>Dot and cross diagrams</a:t>
            </a:r>
          </a:p>
        </p:txBody>
      </p:sp>
      <p:sp>
        <p:nvSpPr>
          <p:cNvPr id="239619" name="Text Box 3"/>
          <p:cNvSpPr txBox="1">
            <a:spLocks noChangeArrowheads="1"/>
          </p:cNvSpPr>
          <p:nvPr/>
        </p:nvSpPr>
        <p:spPr bwMode="auto">
          <a:xfrm>
            <a:off x="0" y="971550"/>
            <a:ext cx="2990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t>Nitrogen, N</a:t>
            </a:r>
            <a:r>
              <a:rPr lang="en-GB" altLang="en-US" baseline="-25000"/>
              <a:t>2</a:t>
            </a:r>
            <a:r>
              <a:rPr lang="en-GB" altLang="en-US"/>
              <a:t>:</a:t>
            </a:r>
          </a:p>
        </p:txBody>
      </p:sp>
      <p:sp>
        <p:nvSpPr>
          <p:cNvPr id="239620" name="Text Box 4"/>
          <p:cNvSpPr txBox="1">
            <a:spLocks noChangeArrowheads="1"/>
          </p:cNvSpPr>
          <p:nvPr/>
        </p:nvSpPr>
        <p:spPr bwMode="auto">
          <a:xfrm>
            <a:off x="5076825" y="4292600"/>
            <a:ext cx="3619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t>Carbon dioxide, CO</a:t>
            </a:r>
            <a:r>
              <a:rPr lang="en-GB" altLang="en-US" baseline="-25000"/>
              <a:t>2</a:t>
            </a:r>
            <a:r>
              <a:rPr lang="en-GB" altLang="en-US"/>
              <a:t>:</a:t>
            </a:r>
          </a:p>
        </p:txBody>
      </p:sp>
      <p:sp>
        <p:nvSpPr>
          <p:cNvPr id="239621" name="Text Box 5"/>
          <p:cNvSpPr txBox="1">
            <a:spLocks noChangeArrowheads="1"/>
          </p:cNvSpPr>
          <p:nvPr/>
        </p:nvSpPr>
        <p:spPr bwMode="auto">
          <a:xfrm>
            <a:off x="0" y="4229100"/>
            <a:ext cx="3295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t>Ammonia NH</a:t>
            </a:r>
            <a:r>
              <a:rPr lang="en-GB" altLang="en-US" baseline="-25000"/>
              <a:t>3</a:t>
            </a:r>
            <a:r>
              <a:rPr lang="en-GB" altLang="en-US"/>
              <a:t>:</a:t>
            </a:r>
          </a:p>
        </p:txBody>
      </p:sp>
      <p:sp>
        <p:nvSpPr>
          <p:cNvPr id="239622" name="Text Box 6"/>
          <p:cNvSpPr txBox="1">
            <a:spLocks noChangeArrowheads="1"/>
          </p:cNvSpPr>
          <p:nvPr/>
        </p:nvSpPr>
        <p:spPr bwMode="auto">
          <a:xfrm>
            <a:off x="5276850" y="990600"/>
            <a:ext cx="358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t>Methane CH</a:t>
            </a:r>
            <a:r>
              <a:rPr lang="en-GB" altLang="en-US" baseline="-25000"/>
              <a:t>4</a:t>
            </a:r>
            <a:r>
              <a:rPr lang="en-GB" altLang="en-US"/>
              <a:t>:</a:t>
            </a:r>
          </a:p>
        </p:txBody>
      </p:sp>
      <p:grpSp>
        <p:nvGrpSpPr>
          <p:cNvPr id="239623" name="Group 7"/>
          <p:cNvGrpSpPr>
            <a:grpSpLocks/>
          </p:cNvGrpSpPr>
          <p:nvPr/>
        </p:nvGrpSpPr>
        <p:grpSpPr bwMode="auto">
          <a:xfrm>
            <a:off x="1227138" y="4762500"/>
            <a:ext cx="2486025" cy="1771650"/>
            <a:chOff x="1049" y="2856"/>
            <a:chExt cx="1566" cy="1116"/>
          </a:xfrm>
        </p:grpSpPr>
        <p:sp>
          <p:nvSpPr>
            <p:cNvPr id="239624" name="Oval 8"/>
            <p:cNvSpPr>
              <a:spLocks noChangeArrowheads="1"/>
            </p:cNvSpPr>
            <p:nvPr/>
          </p:nvSpPr>
          <p:spPr bwMode="auto">
            <a:xfrm>
              <a:off x="1500" y="2892"/>
              <a:ext cx="660" cy="66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25" name="Oval 9"/>
            <p:cNvSpPr>
              <a:spLocks noChangeArrowheads="1"/>
            </p:cNvSpPr>
            <p:nvPr/>
          </p:nvSpPr>
          <p:spPr bwMode="auto">
            <a:xfrm>
              <a:off x="1049" y="2988"/>
              <a:ext cx="480" cy="48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26" name="Oval 10"/>
            <p:cNvSpPr>
              <a:spLocks noChangeArrowheads="1"/>
            </p:cNvSpPr>
            <p:nvPr/>
          </p:nvSpPr>
          <p:spPr bwMode="auto">
            <a:xfrm>
              <a:off x="1449" y="3078"/>
              <a:ext cx="86" cy="8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27" name="Oval 11"/>
            <p:cNvSpPr>
              <a:spLocks noChangeArrowheads="1"/>
            </p:cNvSpPr>
            <p:nvPr/>
          </p:nvSpPr>
          <p:spPr bwMode="auto">
            <a:xfrm flipH="1">
              <a:off x="2135" y="2976"/>
              <a:ext cx="480" cy="48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28" name="Oval 12"/>
            <p:cNvSpPr>
              <a:spLocks noChangeArrowheads="1"/>
            </p:cNvSpPr>
            <p:nvPr/>
          </p:nvSpPr>
          <p:spPr bwMode="auto">
            <a:xfrm flipH="1">
              <a:off x="2117" y="3078"/>
              <a:ext cx="86" cy="8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29" name="Text Box 13"/>
            <p:cNvSpPr txBox="1">
              <a:spLocks noChangeArrowheads="1"/>
            </p:cNvSpPr>
            <p:nvPr/>
          </p:nvSpPr>
          <p:spPr bwMode="auto">
            <a:xfrm>
              <a:off x="1104" y="3072"/>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66CCFF"/>
                  </a:solidFill>
                </a:rPr>
                <a:t>H</a:t>
              </a:r>
            </a:p>
          </p:txBody>
        </p:sp>
        <p:sp>
          <p:nvSpPr>
            <p:cNvPr id="239630" name="Text Box 14"/>
            <p:cNvSpPr txBox="1">
              <a:spLocks noChangeArrowheads="1"/>
            </p:cNvSpPr>
            <p:nvPr/>
          </p:nvSpPr>
          <p:spPr bwMode="auto">
            <a:xfrm>
              <a:off x="2208" y="3084"/>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66CCFF"/>
                  </a:solidFill>
                </a:rPr>
                <a:t>H</a:t>
              </a:r>
            </a:p>
          </p:txBody>
        </p:sp>
        <p:sp>
          <p:nvSpPr>
            <p:cNvPr id="239631" name="Text Box 15"/>
            <p:cNvSpPr txBox="1">
              <a:spLocks noChangeArrowheads="1"/>
            </p:cNvSpPr>
            <p:nvPr/>
          </p:nvSpPr>
          <p:spPr bwMode="auto">
            <a:xfrm>
              <a:off x="1668" y="309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FF9999"/>
                  </a:solidFill>
                </a:rPr>
                <a:t>N</a:t>
              </a:r>
            </a:p>
          </p:txBody>
        </p:sp>
        <p:sp>
          <p:nvSpPr>
            <p:cNvPr id="239632" name="Oval 16"/>
            <p:cNvSpPr>
              <a:spLocks noChangeArrowheads="1"/>
            </p:cNvSpPr>
            <p:nvPr/>
          </p:nvSpPr>
          <p:spPr bwMode="auto">
            <a:xfrm flipH="1">
              <a:off x="1595" y="3492"/>
              <a:ext cx="480" cy="48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33" name="Oval 17"/>
            <p:cNvSpPr>
              <a:spLocks noChangeArrowheads="1"/>
            </p:cNvSpPr>
            <p:nvPr/>
          </p:nvSpPr>
          <p:spPr bwMode="auto">
            <a:xfrm flipH="1">
              <a:off x="1889" y="3486"/>
              <a:ext cx="86" cy="8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34" name="Text Box 18"/>
            <p:cNvSpPr txBox="1">
              <a:spLocks noChangeArrowheads="1"/>
            </p:cNvSpPr>
            <p:nvPr/>
          </p:nvSpPr>
          <p:spPr bwMode="auto">
            <a:xfrm>
              <a:off x="1656" y="3576"/>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66CCFF"/>
                  </a:solidFill>
                </a:rPr>
                <a:t>H</a:t>
              </a:r>
            </a:p>
          </p:txBody>
        </p:sp>
        <p:sp>
          <p:nvSpPr>
            <p:cNvPr id="239635" name="AutoShape 19"/>
            <p:cNvSpPr>
              <a:spLocks noChangeArrowheads="1"/>
            </p:cNvSpPr>
            <p:nvPr/>
          </p:nvSpPr>
          <p:spPr bwMode="auto">
            <a:xfrm rot="8100000">
              <a:off x="1716" y="2856"/>
              <a:ext cx="120" cy="120"/>
            </a:xfrm>
            <a:prstGeom prst="plus">
              <a:avLst>
                <a:gd name="adj" fmla="val 35000"/>
              </a:avLst>
            </a:prstGeom>
            <a:solidFill>
              <a:srgbClr val="FF99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36" name="AutoShape 20"/>
            <p:cNvSpPr>
              <a:spLocks noChangeArrowheads="1"/>
            </p:cNvSpPr>
            <p:nvPr/>
          </p:nvSpPr>
          <p:spPr bwMode="auto">
            <a:xfrm rot="8100000">
              <a:off x="1704" y="3468"/>
              <a:ext cx="120" cy="120"/>
            </a:xfrm>
            <a:prstGeom prst="plus">
              <a:avLst>
                <a:gd name="adj" fmla="val 35000"/>
              </a:avLst>
            </a:prstGeom>
            <a:solidFill>
              <a:srgbClr val="FF99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37" name="AutoShape 21"/>
            <p:cNvSpPr>
              <a:spLocks noChangeArrowheads="1"/>
            </p:cNvSpPr>
            <p:nvPr/>
          </p:nvSpPr>
          <p:spPr bwMode="auto">
            <a:xfrm rot="8100000">
              <a:off x="1452" y="3216"/>
              <a:ext cx="120" cy="120"/>
            </a:xfrm>
            <a:prstGeom prst="plus">
              <a:avLst>
                <a:gd name="adj" fmla="val 35000"/>
              </a:avLst>
            </a:prstGeom>
            <a:solidFill>
              <a:srgbClr val="FF99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38" name="AutoShape 22"/>
            <p:cNvSpPr>
              <a:spLocks noChangeArrowheads="1"/>
            </p:cNvSpPr>
            <p:nvPr/>
          </p:nvSpPr>
          <p:spPr bwMode="auto">
            <a:xfrm rot="8100000">
              <a:off x="2100" y="3216"/>
              <a:ext cx="120" cy="120"/>
            </a:xfrm>
            <a:prstGeom prst="plus">
              <a:avLst>
                <a:gd name="adj" fmla="val 35000"/>
              </a:avLst>
            </a:prstGeom>
            <a:solidFill>
              <a:srgbClr val="FF99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39" name="AutoShape 23"/>
            <p:cNvSpPr>
              <a:spLocks noChangeArrowheads="1"/>
            </p:cNvSpPr>
            <p:nvPr/>
          </p:nvSpPr>
          <p:spPr bwMode="auto">
            <a:xfrm rot="8100000">
              <a:off x="1848" y="2856"/>
              <a:ext cx="120" cy="120"/>
            </a:xfrm>
            <a:prstGeom prst="plus">
              <a:avLst>
                <a:gd name="adj" fmla="val 35000"/>
              </a:avLst>
            </a:prstGeom>
            <a:solidFill>
              <a:srgbClr val="FF99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39640" name="Group 24"/>
          <p:cNvGrpSpPr>
            <a:grpSpLocks/>
          </p:cNvGrpSpPr>
          <p:nvPr/>
        </p:nvGrpSpPr>
        <p:grpSpPr bwMode="auto">
          <a:xfrm>
            <a:off x="5710238" y="1492250"/>
            <a:ext cx="2652712" cy="2670175"/>
            <a:chOff x="3164" y="2464"/>
            <a:chExt cx="1671" cy="1682"/>
          </a:xfrm>
        </p:grpSpPr>
        <p:sp>
          <p:nvSpPr>
            <p:cNvPr id="239641" name="Oval 25"/>
            <p:cNvSpPr>
              <a:spLocks noChangeArrowheads="1"/>
            </p:cNvSpPr>
            <p:nvPr/>
          </p:nvSpPr>
          <p:spPr bwMode="auto">
            <a:xfrm>
              <a:off x="3600" y="2904"/>
              <a:ext cx="804" cy="804"/>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42" name="Oval 26"/>
            <p:cNvSpPr>
              <a:spLocks noChangeArrowheads="1"/>
            </p:cNvSpPr>
            <p:nvPr/>
          </p:nvSpPr>
          <p:spPr bwMode="auto">
            <a:xfrm flipH="1">
              <a:off x="4355" y="3072"/>
              <a:ext cx="480" cy="48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43" name="Oval 27"/>
            <p:cNvSpPr>
              <a:spLocks noChangeArrowheads="1"/>
            </p:cNvSpPr>
            <p:nvPr/>
          </p:nvSpPr>
          <p:spPr bwMode="auto">
            <a:xfrm flipH="1">
              <a:off x="4349" y="3162"/>
              <a:ext cx="86" cy="8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44" name="Text Box 28"/>
            <p:cNvSpPr txBox="1">
              <a:spLocks noChangeArrowheads="1"/>
            </p:cNvSpPr>
            <p:nvPr/>
          </p:nvSpPr>
          <p:spPr bwMode="auto">
            <a:xfrm>
              <a:off x="4428" y="3180"/>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66CCFF"/>
                  </a:solidFill>
                </a:rPr>
                <a:t>H</a:t>
              </a:r>
            </a:p>
          </p:txBody>
        </p:sp>
        <p:sp>
          <p:nvSpPr>
            <p:cNvPr id="239645" name="Oval 29"/>
            <p:cNvSpPr>
              <a:spLocks noChangeArrowheads="1"/>
            </p:cNvSpPr>
            <p:nvPr/>
          </p:nvSpPr>
          <p:spPr bwMode="auto">
            <a:xfrm rot="10800000" flipH="1">
              <a:off x="3164" y="3071"/>
              <a:ext cx="480" cy="48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46" name="Oval 30"/>
            <p:cNvSpPr>
              <a:spLocks noChangeArrowheads="1"/>
            </p:cNvSpPr>
            <p:nvPr/>
          </p:nvSpPr>
          <p:spPr bwMode="auto">
            <a:xfrm rot="10800000" flipH="1">
              <a:off x="3564" y="3375"/>
              <a:ext cx="86" cy="8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47" name="Text Box 31"/>
            <p:cNvSpPr txBox="1">
              <a:spLocks noChangeArrowheads="1"/>
            </p:cNvSpPr>
            <p:nvPr/>
          </p:nvSpPr>
          <p:spPr bwMode="auto">
            <a:xfrm>
              <a:off x="3216" y="3156"/>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66CCFF"/>
                  </a:solidFill>
                </a:rPr>
                <a:t>H</a:t>
              </a:r>
            </a:p>
          </p:txBody>
        </p:sp>
        <p:sp>
          <p:nvSpPr>
            <p:cNvPr id="239648" name="Oval 32"/>
            <p:cNvSpPr>
              <a:spLocks noChangeArrowheads="1"/>
            </p:cNvSpPr>
            <p:nvPr/>
          </p:nvSpPr>
          <p:spPr bwMode="auto">
            <a:xfrm rot="5400000" flipH="1">
              <a:off x="3771" y="3666"/>
              <a:ext cx="480" cy="48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49" name="Oval 33"/>
            <p:cNvSpPr>
              <a:spLocks noChangeArrowheads="1"/>
            </p:cNvSpPr>
            <p:nvPr/>
          </p:nvSpPr>
          <p:spPr bwMode="auto">
            <a:xfrm rot="5400000" flipH="1">
              <a:off x="4075" y="3660"/>
              <a:ext cx="86" cy="8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50" name="Text Box 34"/>
            <p:cNvSpPr txBox="1">
              <a:spLocks noChangeArrowheads="1"/>
            </p:cNvSpPr>
            <p:nvPr/>
          </p:nvSpPr>
          <p:spPr bwMode="auto">
            <a:xfrm>
              <a:off x="3828" y="3756"/>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66CCFF"/>
                  </a:solidFill>
                </a:rPr>
                <a:t>H</a:t>
              </a:r>
            </a:p>
          </p:txBody>
        </p:sp>
        <p:sp>
          <p:nvSpPr>
            <p:cNvPr id="239651" name="Oval 35"/>
            <p:cNvSpPr>
              <a:spLocks noChangeArrowheads="1"/>
            </p:cNvSpPr>
            <p:nvPr/>
          </p:nvSpPr>
          <p:spPr bwMode="auto">
            <a:xfrm rot="16200000" flipH="1">
              <a:off x="3759" y="2464"/>
              <a:ext cx="480" cy="48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52" name="Oval 36"/>
            <p:cNvSpPr>
              <a:spLocks noChangeArrowheads="1"/>
            </p:cNvSpPr>
            <p:nvPr/>
          </p:nvSpPr>
          <p:spPr bwMode="auto">
            <a:xfrm rot="16200000" flipH="1">
              <a:off x="3849" y="2864"/>
              <a:ext cx="86" cy="8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53" name="Text Box 37"/>
            <p:cNvSpPr txBox="1">
              <a:spLocks noChangeArrowheads="1"/>
            </p:cNvSpPr>
            <p:nvPr/>
          </p:nvSpPr>
          <p:spPr bwMode="auto">
            <a:xfrm>
              <a:off x="3828" y="2568"/>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66CCFF"/>
                  </a:solidFill>
                </a:rPr>
                <a:t>H</a:t>
              </a:r>
            </a:p>
          </p:txBody>
        </p:sp>
        <p:sp>
          <p:nvSpPr>
            <p:cNvPr id="239654" name="Text Box 38"/>
            <p:cNvSpPr txBox="1">
              <a:spLocks noChangeArrowheads="1"/>
            </p:cNvSpPr>
            <p:nvPr/>
          </p:nvSpPr>
          <p:spPr bwMode="auto">
            <a:xfrm>
              <a:off x="3852" y="3156"/>
              <a:ext cx="3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FFFF66"/>
                  </a:solidFill>
                </a:rPr>
                <a:t>C</a:t>
              </a:r>
            </a:p>
          </p:txBody>
        </p:sp>
        <p:sp>
          <p:nvSpPr>
            <p:cNvPr id="239655" name="AutoShape 39"/>
            <p:cNvSpPr>
              <a:spLocks noChangeArrowheads="1"/>
            </p:cNvSpPr>
            <p:nvPr/>
          </p:nvSpPr>
          <p:spPr bwMode="auto">
            <a:xfrm rot="8100000">
              <a:off x="4344" y="3360"/>
              <a:ext cx="120" cy="120"/>
            </a:xfrm>
            <a:prstGeom prst="plus">
              <a:avLst>
                <a:gd name="adj" fmla="val 35000"/>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56" name="AutoShape 40"/>
            <p:cNvSpPr>
              <a:spLocks noChangeArrowheads="1"/>
            </p:cNvSpPr>
            <p:nvPr/>
          </p:nvSpPr>
          <p:spPr bwMode="auto">
            <a:xfrm rot="8100000">
              <a:off x="3876" y="3636"/>
              <a:ext cx="120" cy="120"/>
            </a:xfrm>
            <a:prstGeom prst="plus">
              <a:avLst>
                <a:gd name="adj" fmla="val 35000"/>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57" name="AutoShape 41"/>
            <p:cNvSpPr>
              <a:spLocks noChangeArrowheads="1"/>
            </p:cNvSpPr>
            <p:nvPr/>
          </p:nvSpPr>
          <p:spPr bwMode="auto">
            <a:xfrm rot="8100000">
              <a:off x="4020" y="2856"/>
              <a:ext cx="120" cy="120"/>
            </a:xfrm>
            <a:prstGeom prst="plus">
              <a:avLst>
                <a:gd name="adj" fmla="val 35000"/>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58" name="AutoShape 42"/>
            <p:cNvSpPr>
              <a:spLocks noChangeArrowheads="1"/>
            </p:cNvSpPr>
            <p:nvPr/>
          </p:nvSpPr>
          <p:spPr bwMode="auto">
            <a:xfrm rot="8100000">
              <a:off x="3564" y="3192"/>
              <a:ext cx="120" cy="120"/>
            </a:xfrm>
            <a:prstGeom prst="plus">
              <a:avLst>
                <a:gd name="adj" fmla="val 35000"/>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39659" name="Group 43"/>
          <p:cNvGrpSpPr>
            <a:grpSpLocks/>
          </p:cNvGrpSpPr>
          <p:nvPr/>
        </p:nvGrpSpPr>
        <p:grpSpPr bwMode="auto">
          <a:xfrm>
            <a:off x="781050" y="1981200"/>
            <a:ext cx="1943100" cy="1143000"/>
            <a:chOff x="804" y="1008"/>
            <a:chExt cx="1224" cy="720"/>
          </a:xfrm>
        </p:grpSpPr>
        <p:sp>
          <p:nvSpPr>
            <p:cNvPr id="239660" name="Oval 44"/>
            <p:cNvSpPr>
              <a:spLocks noChangeArrowheads="1"/>
            </p:cNvSpPr>
            <p:nvPr/>
          </p:nvSpPr>
          <p:spPr bwMode="auto">
            <a:xfrm>
              <a:off x="1368" y="1068"/>
              <a:ext cx="660" cy="66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61" name="Oval 45"/>
            <p:cNvSpPr>
              <a:spLocks noChangeArrowheads="1"/>
            </p:cNvSpPr>
            <p:nvPr/>
          </p:nvSpPr>
          <p:spPr bwMode="auto">
            <a:xfrm>
              <a:off x="852" y="1044"/>
              <a:ext cx="660" cy="66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62" name="Text Box 46"/>
            <p:cNvSpPr txBox="1">
              <a:spLocks noChangeArrowheads="1"/>
            </p:cNvSpPr>
            <p:nvPr/>
          </p:nvSpPr>
          <p:spPr bwMode="auto">
            <a:xfrm>
              <a:off x="1020" y="124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FF9999"/>
                  </a:solidFill>
                </a:rPr>
                <a:t>N</a:t>
              </a:r>
            </a:p>
          </p:txBody>
        </p:sp>
        <p:sp>
          <p:nvSpPr>
            <p:cNvPr id="239663" name="AutoShape 47"/>
            <p:cNvSpPr>
              <a:spLocks noChangeArrowheads="1"/>
            </p:cNvSpPr>
            <p:nvPr/>
          </p:nvSpPr>
          <p:spPr bwMode="auto">
            <a:xfrm rot="8100000">
              <a:off x="1068" y="1008"/>
              <a:ext cx="120" cy="120"/>
            </a:xfrm>
            <a:prstGeom prst="plus">
              <a:avLst>
                <a:gd name="adj" fmla="val 35000"/>
              </a:avLst>
            </a:prstGeom>
            <a:solidFill>
              <a:srgbClr val="FF99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64" name="AutoShape 48"/>
            <p:cNvSpPr>
              <a:spLocks noChangeArrowheads="1"/>
            </p:cNvSpPr>
            <p:nvPr/>
          </p:nvSpPr>
          <p:spPr bwMode="auto">
            <a:xfrm rot="8100000">
              <a:off x="804" y="1368"/>
              <a:ext cx="120" cy="120"/>
            </a:xfrm>
            <a:prstGeom prst="plus">
              <a:avLst>
                <a:gd name="adj" fmla="val 35000"/>
              </a:avLst>
            </a:prstGeom>
            <a:solidFill>
              <a:srgbClr val="FF99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65" name="AutoShape 49"/>
            <p:cNvSpPr>
              <a:spLocks noChangeArrowheads="1"/>
            </p:cNvSpPr>
            <p:nvPr/>
          </p:nvSpPr>
          <p:spPr bwMode="auto">
            <a:xfrm rot="8100000">
              <a:off x="1380" y="1392"/>
              <a:ext cx="120" cy="120"/>
            </a:xfrm>
            <a:prstGeom prst="plus">
              <a:avLst>
                <a:gd name="adj" fmla="val 35000"/>
              </a:avLst>
            </a:prstGeom>
            <a:solidFill>
              <a:srgbClr val="FF99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66" name="Text Box 50"/>
            <p:cNvSpPr txBox="1">
              <a:spLocks noChangeArrowheads="1"/>
            </p:cNvSpPr>
            <p:nvPr/>
          </p:nvSpPr>
          <p:spPr bwMode="auto">
            <a:xfrm>
              <a:off x="1536" y="127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FF9999"/>
                  </a:solidFill>
                </a:rPr>
                <a:t>N</a:t>
              </a:r>
            </a:p>
          </p:txBody>
        </p:sp>
        <p:sp>
          <p:nvSpPr>
            <p:cNvPr id="239667" name="AutoShape 51"/>
            <p:cNvSpPr>
              <a:spLocks noChangeArrowheads="1"/>
            </p:cNvSpPr>
            <p:nvPr/>
          </p:nvSpPr>
          <p:spPr bwMode="auto">
            <a:xfrm rot="8100000">
              <a:off x="1392" y="1176"/>
              <a:ext cx="120" cy="120"/>
            </a:xfrm>
            <a:prstGeom prst="plus">
              <a:avLst>
                <a:gd name="adj" fmla="val 35000"/>
              </a:avLst>
            </a:prstGeom>
            <a:solidFill>
              <a:srgbClr val="FF99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68" name="AutoShape 52"/>
            <p:cNvSpPr>
              <a:spLocks noChangeArrowheads="1"/>
            </p:cNvSpPr>
            <p:nvPr/>
          </p:nvSpPr>
          <p:spPr bwMode="auto">
            <a:xfrm rot="8100000">
              <a:off x="1368" y="1572"/>
              <a:ext cx="120" cy="120"/>
            </a:xfrm>
            <a:prstGeom prst="plus">
              <a:avLst>
                <a:gd name="adj" fmla="val 35000"/>
              </a:avLst>
            </a:prstGeom>
            <a:solidFill>
              <a:srgbClr val="FF99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69" name="Oval 53"/>
            <p:cNvSpPr>
              <a:spLocks noChangeArrowheads="1"/>
            </p:cNvSpPr>
            <p:nvPr/>
          </p:nvSpPr>
          <p:spPr bwMode="auto">
            <a:xfrm>
              <a:off x="1404" y="1108"/>
              <a:ext cx="80" cy="80"/>
            </a:xfrm>
            <a:prstGeom prst="ellipse">
              <a:avLst/>
            </a:prstGeom>
            <a:solidFill>
              <a:srgbClr val="FF99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70" name="Oval 54"/>
            <p:cNvSpPr>
              <a:spLocks noChangeArrowheads="1"/>
            </p:cNvSpPr>
            <p:nvPr/>
          </p:nvSpPr>
          <p:spPr bwMode="auto">
            <a:xfrm>
              <a:off x="1788" y="1060"/>
              <a:ext cx="80" cy="80"/>
            </a:xfrm>
            <a:prstGeom prst="ellipse">
              <a:avLst/>
            </a:prstGeom>
            <a:solidFill>
              <a:srgbClr val="FF99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71" name="Oval 55"/>
            <p:cNvSpPr>
              <a:spLocks noChangeArrowheads="1"/>
            </p:cNvSpPr>
            <p:nvPr/>
          </p:nvSpPr>
          <p:spPr bwMode="auto">
            <a:xfrm>
              <a:off x="1944" y="1540"/>
              <a:ext cx="80" cy="80"/>
            </a:xfrm>
            <a:prstGeom prst="ellipse">
              <a:avLst/>
            </a:prstGeom>
            <a:solidFill>
              <a:srgbClr val="FF99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72" name="Oval 56"/>
            <p:cNvSpPr>
              <a:spLocks noChangeArrowheads="1"/>
            </p:cNvSpPr>
            <p:nvPr/>
          </p:nvSpPr>
          <p:spPr bwMode="auto">
            <a:xfrm>
              <a:off x="1392" y="1504"/>
              <a:ext cx="80" cy="80"/>
            </a:xfrm>
            <a:prstGeom prst="ellipse">
              <a:avLst/>
            </a:prstGeom>
            <a:solidFill>
              <a:srgbClr val="FF99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73" name="Oval 57"/>
            <p:cNvSpPr>
              <a:spLocks noChangeArrowheads="1"/>
            </p:cNvSpPr>
            <p:nvPr/>
          </p:nvSpPr>
          <p:spPr bwMode="auto">
            <a:xfrm>
              <a:off x="1404" y="1300"/>
              <a:ext cx="80" cy="80"/>
            </a:xfrm>
            <a:prstGeom prst="ellipse">
              <a:avLst/>
            </a:prstGeom>
            <a:solidFill>
              <a:srgbClr val="FF99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39674" name="Group 58"/>
          <p:cNvGrpSpPr>
            <a:grpSpLocks/>
          </p:cNvGrpSpPr>
          <p:nvPr/>
        </p:nvGrpSpPr>
        <p:grpSpPr bwMode="auto">
          <a:xfrm>
            <a:off x="4924425" y="4930775"/>
            <a:ext cx="3751263" cy="1323975"/>
            <a:chOff x="2904" y="1050"/>
            <a:chExt cx="2363" cy="834"/>
          </a:xfrm>
        </p:grpSpPr>
        <p:sp>
          <p:nvSpPr>
            <p:cNvPr id="239675" name="Oval 59"/>
            <p:cNvSpPr>
              <a:spLocks noChangeArrowheads="1"/>
            </p:cNvSpPr>
            <p:nvPr/>
          </p:nvSpPr>
          <p:spPr bwMode="auto">
            <a:xfrm>
              <a:off x="3673" y="1080"/>
              <a:ext cx="804" cy="804"/>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76" name="Oval 60"/>
            <p:cNvSpPr>
              <a:spLocks noChangeArrowheads="1"/>
            </p:cNvSpPr>
            <p:nvPr/>
          </p:nvSpPr>
          <p:spPr bwMode="auto">
            <a:xfrm>
              <a:off x="2904" y="1092"/>
              <a:ext cx="756" cy="756"/>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77" name="Oval 61"/>
            <p:cNvSpPr>
              <a:spLocks noChangeArrowheads="1"/>
            </p:cNvSpPr>
            <p:nvPr/>
          </p:nvSpPr>
          <p:spPr bwMode="auto">
            <a:xfrm>
              <a:off x="3165" y="1050"/>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78" name="Oval 62"/>
            <p:cNvSpPr>
              <a:spLocks noChangeArrowheads="1"/>
            </p:cNvSpPr>
            <p:nvPr/>
          </p:nvSpPr>
          <p:spPr bwMode="auto">
            <a:xfrm>
              <a:off x="3033" y="1098"/>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79" name="Oval 63"/>
            <p:cNvSpPr>
              <a:spLocks noChangeArrowheads="1"/>
            </p:cNvSpPr>
            <p:nvPr/>
          </p:nvSpPr>
          <p:spPr bwMode="auto">
            <a:xfrm>
              <a:off x="3021" y="1746"/>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80" name="Oval 64"/>
            <p:cNvSpPr>
              <a:spLocks noChangeArrowheads="1"/>
            </p:cNvSpPr>
            <p:nvPr/>
          </p:nvSpPr>
          <p:spPr bwMode="auto">
            <a:xfrm>
              <a:off x="2925" y="1638"/>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81" name="Text Box 65"/>
            <p:cNvSpPr txBox="1">
              <a:spLocks noChangeArrowheads="1"/>
            </p:cNvSpPr>
            <p:nvPr/>
          </p:nvSpPr>
          <p:spPr bwMode="auto">
            <a:xfrm>
              <a:off x="3084" y="1344"/>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00FF99"/>
                  </a:solidFill>
                </a:rPr>
                <a:t>O</a:t>
              </a:r>
            </a:p>
          </p:txBody>
        </p:sp>
        <p:sp>
          <p:nvSpPr>
            <p:cNvPr id="239682" name="Oval 66"/>
            <p:cNvSpPr>
              <a:spLocks noChangeArrowheads="1"/>
            </p:cNvSpPr>
            <p:nvPr/>
          </p:nvSpPr>
          <p:spPr bwMode="auto">
            <a:xfrm>
              <a:off x="4464" y="1104"/>
              <a:ext cx="756" cy="756"/>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83" name="Text Box 67"/>
            <p:cNvSpPr txBox="1">
              <a:spLocks noChangeArrowheads="1"/>
            </p:cNvSpPr>
            <p:nvPr/>
          </p:nvSpPr>
          <p:spPr bwMode="auto">
            <a:xfrm>
              <a:off x="4632" y="1356"/>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00FF99"/>
                  </a:solidFill>
                </a:rPr>
                <a:t>O</a:t>
              </a:r>
            </a:p>
          </p:txBody>
        </p:sp>
        <p:sp>
          <p:nvSpPr>
            <p:cNvPr id="239684" name="Oval 68"/>
            <p:cNvSpPr>
              <a:spLocks noChangeArrowheads="1"/>
            </p:cNvSpPr>
            <p:nvPr/>
          </p:nvSpPr>
          <p:spPr bwMode="auto">
            <a:xfrm>
              <a:off x="3624" y="1380"/>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85" name="Oval 69"/>
            <p:cNvSpPr>
              <a:spLocks noChangeArrowheads="1"/>
            </p:cNvSpPr>
            <p:nvPr/>
          </p:nvSpPr>
          <p:spPr bwMode="auto">
            <a:xfrm>
              <a:off x="3633" y="1566"/>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86" name="Text Box 70"/>
            <p:cNvSpPr txBox="1">
              <a:spLocks noChangeArrowheads="1"/>
            </p:cNvSpPr>
            <p:nvPr/>
          </p:nvSpPr>
          <p:spPr bwMode="auto">
            <a:xfrm>
              <a:off x="3925" y="1332"/>
              <a:ext cx="3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FFFF66"/>
                  </a:solidFill>
                </a:rPr>
                <a:t>C</a:t>
              </a:r>
            </a:p>
          </p:txBody>
        </p:sp>
        <p:sp>
          <p:nvSpPr>
            <p:cNvPr id="239687" name="AutoShape 71"/>
            <p:cNvSpPr>
              <a:spLocks noChangeArrowheads="1"/>
            </p:cNvSpPr>
            <p:nvPr/>
          </p:nvSpPr>
          <p:spPr bwMode="auto">
            <a:xfrm rot="8100000">
              <a:off x="4417" y="1536"/>
              <a:ext cx="120" cy="120"/>
            </a:xfrm>
            <a:prstGeom prst="plus">
              <a:avLst>
                <a:gd name="adj" fmla="val 35000"/>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88" name="AutoShape 72"/>
            <p:cNvSpPr>
              <a:spLocks noChangeArrowheads="1"/>
            </p:cNvSpPr>
            <p:nvPr/>
          </p:nvSpPr>
          <p:spPr bwMode="auto">
            <a:xfrm rot="8100000">
              <a:off x="4417" y="1332"/>
              <a:ext cx="120" cy="120"/>
            </a:xfrm>
            <a:prstGeom prst="plus">
              <a:avLst>
                <a:gd name="adj" fmla="val 35000"/>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89" name="AutoShape 73"/>
            <p:cNvSpPr>
              <a:spLocks noChangeArrowheads="1"/>
            </p:cNvSpPr>
            <p:nvPr/>
          </p:nvSpPr>
          <p:spPr bwMode="auto">
            <a:xfrm rot="8100000">
              <a:off x="3601" y="1260"/>
              <a:ext cx="120" cy="120"/>
            </a:xfrm>
            <a:prstGeom prst="plus">
              <a:avLst>
                <a:gd name="adj" fmla="val 35000"/>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90" name="AutoShape 74"/>
            <p:cNvSpPr>
              <a:spLocks noChangeArrowheads="1"/>
            </p:cNvSpPr>
            <p:nvPr/>
          </p:nvSpPr>
          <p:spPr bwMode="auto">
            <a:xfrm rot="8100000">
              <a:off x="3613" y="1452"/>
              <a:ext cx="120" cy="120"/>
            </a:xfrm>
            <a:prstGeom prst="plus">
              <a:avLst>
                <a:gd name="adj" fmla="val 35000"/>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91" name="Oval 75"/>
            <p:cNvSpPr>
              <a:spLocks noChangeArrowheads="1"/>
            </p:cNvSpPr>
            <p:nvPr/>
          </p:nvSpPr>
          <p:spPr bwMode="auto">
            <a:xfrm>
              <a:off x="4761" y="1074"/>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92" name="Oval 76"/>
            <p:cNvSpPr>
              <a:spLocks noChangeArrowheads="1"/>
            </p:cNvSpPr>
            <p:nvPr/>
          </p:nvSpPr>
          <p:spPr bwMode="auto">
            <a:xfrm>
              <a:off x="4881" y="1086"/>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93" name="Oval 77"/>
            <p:cNvSpPr>
              <a:spLocks noChangeArrowheads="1"/>
            </p:cNvSpPr>
            <p:nvPr/>
          </p:nvSpPr>
          <p:spPr bwMode="auto">
            <a:xfrm>
              <a:off x="4437" y="1242"/>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94" name="Oval 78"/>
            <p:cNvSpPr>
              <a:spLocks noChangeArrowheads="1"/>
            </p:cNvSpPr>
            <p:nvPr/>
          </p:nvSpPr>
          <p:spPr bwMode="auto">
            <a:xfrm>
              <a:off x="4449" y="1446"/>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95" name="Oval 79"/>
            <p:cNvSpPr>
              <a:spLocks noChangeArrowheads="1"/>
            </p:cNvSpPr>
            <p:nvPr/>
          </p:nvSpPr>
          <p:spPr bwMode="auto">
            <a:xfrm>
              <a:off x="5181" y="1398"/>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9696" name="Oval 80"/>
            <p:cNvSpPr>
              <a:spLocks noChangeArrowheads="1"/>
            </p:cNvSpPr>
            <p:nvPr/>
          </p:nvSpPr>
          <p:spPr bwMode="auto">
            <a:xfrm>
              <a:off x="5157" y="1554"/>
              <a:ext cx="86" cy="86"/>
            </a:xfrm>
            <a:prstGeom prst="ellipse">
              <a:avLst/>
            </a:prstGeom>
            <a:solidFill>
              <a:srgbClr val="00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Tree>
    <p:extLst>
      <p:ext uri="{BB962C8B-B14F-4D97-AF65-F5344CB8AC3E}">
        <p14:creationId xmlns:p14="http://schemas.microsoft.com/office/powerpoint/2010/main" val="10600820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39659"/>
                                        </p:tgtEl>
                                        <p:attrNameLst>
                                          <p:attrName>style.visibility</p:attrName>
                                        </p:attrNameLst>
                                      </p:cBhvr>
                                      <p:to>
                                        <p:strVal val="visible"/>
                                      </p:to>
                                    </p:set>
                                    <p:animEffect transition="in" filter="wipe(up)">
                                      <p:cBhvr>
                                        <p:cTn id="7" dur="500"/>
                                        <p:tgtEl>
                                          <p:spTgt spid="2396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39640"/>
                                        </p:tgtEl>
                                        <p:attrNameLst>
                                          <p:attrName>style.visibility</p:attrName>
                                        </p:attrNameLst>
                                      </p:cBhvr>
                                      <p:to>
                                        <p:strVal val="visible"/>
                                      </p:to>
                                    </p:set>
                                    <p:animEffect transition="in" filter="wipe(up)">
                                      <p:cBhvr>
                                        <p:cTn id="12" dur="500"/>
                                        <p:tgtEl>
                                          <p:spTgt spid="2396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39623"/>
                                        </p:tgtEl>
                                        <p:attrNameLst>
                                          <p:attrName>style.visibility</p:attrName>
                                        </p:attrNameLst>
                                      </p:cBhvr>
                                      <p:to>
                                        <p:strVal val="visible"/>
                                      </p:to>
                                    </p:set>
                                    <p:animEffect transition="in" filter="wipe(up)">
                                      <p:cBhvr>
                                        <p:cTn id="17" dur="500"/>
                                        <p:tgtEl>
                                          <p:spTgt spid="23962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239674"/>
                                        </p:tgtEl>
                                        <p:attrNameLst>
                                          <p:attrName>style.visibility</p:attrName>
                                        </p:attrNameLst>
                                      </p:cBhvr>
                                      <p:to>
                                        <p:strVal val="visible"/>
                                      </p:to>
                                    </p:set>
                                    <p:animEffect transition="in" filter="wipe(up)">
                                      <p:cBhvr>
                                        <p:cTn id="22" dur="500"/>
                                        <p:tgtEl>
                                          <p:spTgt spid="2396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Date Placeholder 3"/>
          <p:cNvSpPr>
            <a:spLocks noGrp="1"/>
          </p:cNvSpPr>
          <p:nvPr>
            <p:ph type="dt" sz="half" idx="10"/>
          </p:nvPr>
        </p:nvSpPr>
        <p:spPr/>
        <p:txBody>
          <a:bodyPr/>
          <a:lstStyle/>
          <a:p>
            <a:fld id="{AE0D5248-987C-4C0A-AC19-74A82BF4B0D5}" type="datetime1">
              <a:rPr lang="en-GB" altLang="en-US"/>
              <a:pPr/>
              <a:t>02/06/2020</a:t>
            </a:fld>
            <a:endParaRPr lang="en-GB" altLang="en-US"/>
          </a:p>
        </p:txBody>
      </p:sp>
      <p:sp>
        <p:nvSpPr>
          <p:cNvPr id="257026" name="Rectangle 2"/>
          <p:cNvSpPr>
            <a:spLocks noGrp="1" noChangeArrowheads="1"/>
          </p:cNvSpPr>
          <p:nvPr>
            <p:ph type="title"/>
          </p:nvPr>
        </p:nvSpPr>
        <p:spPr/>
        <p:txBody>
          <a:bodyPr/>
          <a:lstStyle/>
          <a:p>
            <a:r>
              <a:rPr lang="en-GB" altLang="en-US" sz="3200"/>
              <a:t>Different forms of elements and compounds</a:t>
            </a:r>
          </a:p>
        </p:txBody>
      </p:sp>
      <p:sp>
        <p:nvSpPr>
          <p:cNvPr id="257031" name="Text Box 7"/>
          <p:cNvSpPr txBox="1">
            <a:spLocks noChangeArrowheads="1"/>
          </p:cNvSpPr>
          <p:nvPr/>
        </p:nvSpPr>
        <p:spPr bwMode="auto">
          <a:xfrm>
            <a:off x="2771775" y="1700213"/>
            <a:ext cx="4464050" cy="457200"/>
          </a:xfrm>
          <a:prstGeom prst="rect">
            <a:avLst/>
          </a:prstGeom>
          <a:solidFill>
            <a:srgbClr val="800080"/>
          </a:solidFill>
          <a:ln>
            <a:noFill/>
          </a:ln>
          <a:effectLst/>
          <a:extLs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cs typeface="Arial" panose="020B0604020202020204" pitchFamily="34" charset="0"/>
              </a:rPr>
              <a:t>1)  Ionic, like sodium chloride:</a:t>
            </a:r>
          </a:p>
        </p:txBody>
      </p:sp>
      <p:sp>
        <p:nvSpPr>
          <p:cNvPr id="257032" name="Text Box 8"/>
          <p:cNvSpPr txBox="1">
            <a:spLocks noChangeArrowheads="1"/>
          </p:cNvSpPr>
          <p:nvPr/>
        </p:nvSpPr>
        <p:spPr bwMode="auto">
          <a:xfrm>
            <a:off x="2555875" y="2997200"/>
            <a:ext cx="3816350" cy="822325"/>
          </a:xfrm>
          <a:prstGeom prst="rect">
            <a:avLst/>
          </a:prstGeom>
          <a:solidFill>
            <a:srgbClr val="008000"/>
          </a:solidFill>
          <a:ln>
            <a:noFill/>
          </a:ln>
          <a:effectLst/>
          <a:extLs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cs typeface="Arial" panose="020B0604020202020204" pitchFamily="34" charset="0"/>
              </a:rPr>
              <a:t>2) Giant covalent structures, like graphite:</a:t>
            </a:r>
          </a:p>
        </p:txBody>
      </p:sp>
      <p:sp>
        <p:nvSpPr>
          <p:cNvPr id="257033" name="Text Box 9"/>
          <p:cNvSpPr txBox="1">
            <a:spLocks noChangeArrowheads="1"/>
          </p:cNvSpPr>
          <p:nvPr/>
        </p:nvSpPr>
        <p:spPr bwMode="auto">
          <a:xfrm>
            <a:off x="2268538" y="5661025"/>
            <a:ext cx="4175125" cy="822325"/>
          </a:xfrm>
          <a:prstGeom prst="rect">
            <a:avLst/>
          </a:prstGeom>
          <a:solidFill>
            <a:srgbClr val="800000"/>
          </a:solidFill>
          <a:ln>
            <a:noFill/>
          </a:ln>
          <a:effectLst/>
          <a:extLs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cs typeface="Arial" panose="020B0604020202020204" pitchFamily="34" charset="0"/>
              </a:rPr>
              <a:t>4)  Simple covalent molecules, like methane:</a:t>
            </a:r>
          </a:p>
        </p:txBody>
      </p:sp>
      <p:pic>
        <p:nvPicPr>
          <p:cNvPr id="257034" name="Picture 10" descr="Graphi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76475"/>
            <a:ext cx="2447925" cy="2111375"/>
          </a:xfrm>
          <a:prstGeom prst="rect">
            <a:avLst/>
          </a:prstGeom>
          <a:noFill/>
          <a:extLst>
            <a:ext uri="{909E8E84-426E-40DD-AFC4-6F175D3DCCD1}">
              <a14:hiddenFill xmlns:a14="http://schemas.microsoft.com/office/drawing/2010/main">
                <a:solidFill>
                  <a:srgbClr val="FFFFFF"/>
                </a:solidFill>
              </a14:hiddenFill>
            </a:ext>
          </a:extLst>
        </p:spPr>
      </p:pic>
      <p:sp>
        <p:nvSpPr>
          <p:cNvPr id="257035" name="Text Box 11"/>
          <p:cNvSpPr txBox="1">
            <a:spLocks noChangeArrowheads="1"/>
          </p:cNvSpPr>
          <p:nvPr/>
        </p:nvSpPr>
        <p:spPr bwMode="auto">
          <a:xfrm>
            <a:off x="3348038" y="4508500"/>
            <a:ext cx="3384550" cy="457200"/>
          </a:xfrm>
          <a:prstGeom prst="rect">
            <a:avLst/>
          </a:prstGeom>
          <a:solidFill>
            <a:srgbClr val="008080"/>
          </a:solidFill>
          <a:ln>
            <a:noFill/>
          </a:ln>
          <a:effectLst/>
          <a:extLs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cs typeface="Arial" panose="020B0604020202020204" pitchFamily="34" charset="0"/>
              </a:rPr>
              <a:t>3)  Metallic, like iron:</a:t>
            </a:r>
          </a:p>
        </p:txBody>
      </p:sp>
      <p:grpSp>
        <p:nvGrpSpPr>
          <p:cNvPr id="257048" name="Group 24"/>
          <p:cNvGrpSpPr>
            <a:grpSpLocks/>
          </p:cNvGrpSpPr>
          <p:nvPr/>
        </p:nvGrpSpPr>
        <p:grpSpPr bwMode="auto">
          <a:xfrm>
            <a:off x="7499350" y="765175"/>
            <a:ext cx="1609725" cy="2111375"/>
            <a:chOff x="2501" y="2795"/>
            <a:chExt cx="1014" cy="1330"/>
          </a:xfrm>
        </p:grpSpPr>
        <p:sp>
          <p:nvSpPr>
            <p:cNvPr id="257036" name="Oval 12"/>
            <p:cNvSpPr>
              <a:spLocks noChangeArrowheads="1"/>
            </p:cNvSpPr>
            <p:nvPr/>
          </p:nvSpPr>
          <p:spPr bwMode="auto">
            <a:xfrm>
              <a:off x="2501" y="2795"/>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257037" name="Oval 13"/>
            <p:cNvSpPr>
              <a:spLocks noChangeArrowheads="1"/>
            </p:cNvSpPr>
            <p:nvPr/>
          </p:nvSpPr>
          <p:spPr bwMode="auto">
            <a:xfrm>
              <a:off x="2819" y="2795"/>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257038" name="Oval 14"/>
            <p:cNvSpPr>
              <a:spLocks noChangeArrowheads="1"/>
            </p:cNvSpPr>
            <p:nvPr/>
          </p:nvSpPr>
          <p:spPr bwMode="auto">
            <a:xfrm>
              <a:off x="3136" y="2795"/>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257039" name="Oval 15"/>
            <p:cNvSpPr>
              <a:spLocks noChangeArrowheads="1"/>
            </p:cNvSpPr>
            <p:nvPr/>
          </p:nvSpPr>
          <p:spPr bwMode="auto">
            <a:xfrm>
              <a:off x="2501" y="3113"/>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257040" name="Oval 16"/>
            <p:cNvSpPr>
              <a:spLocks noChangeArrowheads="1"/>
            </p:cNvSpPr>
            <p:nvPr/>
          </p:nvSpPr>
          <p:spPr bwMode="auto">
            <a:xfrm>
              <a:off x="2818" y="3113"/>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257041" name="Oval 17"/>
            <p:cNvSpPr>
              <a:spLocks noChangeArrowheads="1"/>
            </p:cNvSpPr>
            <p:nvPr/>
          </p:nvSpPr>
          <p:spPr bwMode="auto">
            <a:xfrm>
              <a:off x="3136" y="3113"/>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257042" name="Oval 18"/>
            <p:cNvSpPr>
              <a:spLocks noChangeArrowheads="1"/>
            </p:cNvSpPr>
            <p:nvPr/>
          </p:nvSpPr>
          <p:spPr bwMode="auto">
            <a:xfrm>
              <a:off x="2501" y="3430"/>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257043" name="Oval 19"/>
            <p:cNvSpPr>
              <a:spLocks noChangeArrowheads="1"/>
            </p:cNvSpPr>
            <p:nvPr/>
          </p:nvSpPr>
          <p:spPr bwMode="auto">
            <a:xfrm>
              <a:off x="2819" y="3430"/>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257044" name="Oval 20"/>
            <p:cNvSpPr>
              <a:spLocks noChangeArrowheads="1"/>
            </p:cNvSpPr>
            <p:nvPr/>
          </p:nvSpPr>
          <p:spPr bwMode="auto">
            <a:xfrm>
              <a:off x="3136" y="3430"/>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257045" name="Oval 21"/>
            <p:cNvSpPr>
              <a:spLocks noChangeArrowheads="1"/>
            </p:cNvSpPr>
            <p:nvPr/>
          </p:nvSpPr>
          <p:spPr bwMode="auto">
            <a:xfrm>
              <a:off x="2501" y="3748"/>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257046" name="Oval 22"/>
            <p:cNvSpPr>
              <a:spLocks noChangeArrowheads="1"/>
            </p:cNvSpPr>
            <p:nvPr/>
          </p:nvSpPr>
          <p:spPr bwMode="auto">
            <a:xfrm>
              <a:off x="2818" y="3748"/>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257047" name="Oval 23"/>
            <p:cNvSpPr>
              <a:spLocks noChangeArrowheads="1"/>
            </p:cNvSpPr>
            <p:nvPr/>
          </p:nvSpPr>
          <p:spPr bwMode="auto">
            <a:xfrm>
              <a:off x="3136" y="3748"/>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grpSp>
      <p:sp>
        <p:nvSpPr>
          <p:cNvPr id="257049" name="Text Box 25"/>
          <p:cNvSpPr txBox="1">
            <a:spLocks noChangeArrowheads="1"/>
          </p:cNvSpPr>
          <p:nvPr/>
        </p:nvSpPr>
        <p:spPr bwMode="auto">
          <a:xfrm>
            <a:off x="0" y="692150"/>
            <a:ext cx="68040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99FF99"/>
                </a:solidFill>
              </a:rPr>
              <a:t>Elements and compounds can form many different structures, including:</a:t>
            </a:r>
          </a:p>
        </p:txBody>
      </p:sp>
      <p:grpSp>
        <p:nvGrpSpPr>
          <p:cNvPr id="257050" name="Group 26"/>
          <p:cNvGrpSpPr>
            <a:grpSpLocks/>
          </p:cNvGrpSpPr>
          <p:nvPr/>
        </p:nvGrpSpPr>
        <p:grpSpPr bwMode="auto">
          <a:xfrm>
            <a:off x="6870700" y="3644900"/>
            <a:ext cx="2273300" cy="2376488"/>
            <a:chOff x="4392" y="663"/>
            <a:chExt cx="1210" cy="1265"/>
          </a:xfrm>
        </p:grpSpPr>
        <p:sp>
          <p:nvSpPr>
            <p:cNvPr id="257051" name="Rectangle 27"/>
            <p:cNvSpPr>
              <a:spLocks noChangeArrowheads="1"/>
            </p:cNvSpPr>
            <p:nvPr/>
          </p:nvSpPr>
          <p:spPr bwMode="auto">
            <a:xfrm>
              <a:off x="4392" y="663"/>
              <a:ext cx="1210" cy="126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052" name="Oval 28"/>
            <p:cNvSpPr>
              <a:spLocks noChangeArrowheads="1"/>
            </p:cNvSpPr>
            <p:nvPr/>
          </p:nvSpPr>
          <p:spPr bwMode="auto">
            <a:xfrm>
              <a:off x="4422" y="1634"/>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53" name="Oval 29"/>
            <p:cNvSpPr>
              <a:spLocks noChangeArrowheads="1"/>
            </p:cNvSpPr>
            <p:nvPr/>
          </p:nvSpPr>
          <p:spPr bwMode="auto">
            <a:xfrm>
              <a:off x="4628" y="1604"/>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054" name="Oval 30"/>
            <p:cNvSpPr>
              <a:spLocks noChangeArrowheads="1"/>
            </p:cNvSpPr>
            <p:nvPr/>
          </p:nvSpPr>
          <p:spPr bwMode="auto">
            <a:xfrm>
              <a:off x="4649" y="1634"/>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55" name="Oval 31"/>
            <p:cNvSpPr>
              <a:spLocks noChangeArrowheads="1"/>
            </p:cNvSpPr>
            <p:nvPr/>
          </p:nvSpPr>
          <p:spPr bwMode="auto">
            <a:xfrm>
              <a:off x="4876" y="1634"/>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56" name="Oval 32"/>
            <p:cNvSpPr>
              <a:spLocks noChangeArrowheads="1"/>
            </p:cNvSpPr>
            <p:nvPr/>
          </p:nvSpPr>
          <p:spPr bwMode="auto">
            <a:xfrm>
              <a:off x="5103" y="1634"/>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57" name="Oval 33"/>
            <p:cNvSpPr>
              <a:spLocks noChangeArrowheads="1"/>
            </p:cNvSpPr>
            <p:nvPr/>
          </p:nvSpPr>
          <p:spPr bwMode="auto">
            <a:xfrm>
              <a:off x="5329" y="1634"/>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58" name="Oval 34"/>
            <p:cNvSpPr>
              <a:spLocks noChangeArrowheads="1"/>
            </p:cNvSpPr>
            <p:nvPr/>
          </p:nvSpPr>
          <p:spPr bwMode="auto">
            <a:xfrm>
              <a:off x="4422" y="1389"/>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59" name="Oval 35"/>
            <p:cNvSpPr>
              <a:spLocks noChangeArrowheads="1"/>
            </p:cNvSpPr>
            <p:nvPr/>
          </p:nvSpPr>
          <p:spPr bwMode="auto">
            <a:xfrm>
              <a:off x="4649" y="1389"/>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60" name="Oval 36"/>
            <p:cNvSpPr>
              <a:spLocks noChangeArrowheads="1"/>
            </p:cNvSpPr>
            <p:nvPr/>
          </p:nvSpPr>
          <p:spPr bwMode="auto">
            <a:xfrm>
              <a:off x="4876" y="1389"/>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61" name="Oval 37"/>
            <p:cNvSpPr>
              <a:spLocks noChangeArrowheads="1"/>
            </p:cNvSpPr>
            <p:nvPr/>
          </p:nvSpPr>
          <p:spPr bwMode="auto">
            <a:xfrm>
              <a:off x="5103" y="1389"/>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62" name="Oval 38"/>
            <p:cNvSpPr>
              <a:spLocks noChangeArrowheads="1"/>
            </p:cNvSpPr>
            <p:nvPr/>
          </p:nvSpPr>
          <p:spPr bwMode="auto">
            <a:xfrm>
              <a:off x="5329" y="1389"/>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63" name="Oval 39"/>
            <p:cNvSpPr>
              <a:spLocks noChangeArrowheads="1"/>
            </p:cNvSpPr>
            <p:nvPr/>
          </p:nvSpPr>
          <p:spPr bwMode="auto">
            <a:xfrm>
              <a:off x="4422" y="1162"/>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64" name="Oval 40"/>
            <p:cNvSpPr>
              <a:spLocks noChangeArrowheads="1"/>
            </p:cNvSpPr>
            <p:nvPr/>
          </p:nvSpPr>
          <p:spPr bwMode="auto">
            <a:xfrm>
              <a:off x="4649" y="1162"/>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65" name="Oval 41"/>
            <p:cNvSpPr>
              <a:spLocks noChangeArrowheads="1"/>
            </p:cNvSpPr>
            <p:nvPr/>
          </p:nvSpPr>
          <p:spPr bwMode="auto">
            <a:xfrm>
              <a:off x="4876" y="1162"/>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66" name="Oval 42"/>
            <p:cNvSpPr>
              <a:spLocks noChangeArrowheads="1"/>
            </p:cNvSpPr>
            <p:nvPr/>
          </p:nvSpPr>
          <p:spPr bwMode="auto">
            <a:xfrm>
              <a:off x="5103" y="1162"/>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67" name="Oval 43"/>
            <p:cNvSpPr>
              <a:spLocks noChangeArrowheads="1"/>
            </p:cNvSpPr>
            <p:nvPr/>
          </p:nvSpPr>
          <p:spPr bwMode="auto">
            <a:xfrm>
              <a:off x="5329" y="1162"/>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68" name="Oval 44"/>
            <p:cNvSpPr>
              <a:spLocks noChangeArrowheads="1"/>
            </p:cNvSpPr>
            <p:nvPr/>
          </p:nvSpPr>
          <p:spPr bwMode="auto">
            <a:xfrm>
              <a:off x="4422" y="935"/>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69" name="Oval 45"/>
            <p:cNvSpPr>
              <a:spLocks noChangeArrowheads="1"/>
            </p:cNvSpPr>
            <p:nvPr/>
          </p:nvSpPr>
          <p:spPr bwMode="auto">
            <a:xfrm>
              <a:off x="4649" y="935"/>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70" name="Oval 46"/>
            <p:cNvSpPr>
              <a:spLocks noChangeArrowheads="1"/>
            </p:cNvSpPr>
            <p:nvPr/>
          </p:nvSpPr>
          <p:spPr bwMode="auto">
            <a:xfrm>
              <a:off x="4876" y="935"/>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71" name="Oval 47"/>
            <p:cNvSpPr>
              <a:spLocks noChangeArrowheads="1"/>
            </p:cNvSpPr>
            <p:nvPr/>
          </p:nvSpPr>
          <p:spPr bwMode="auto">
            <a:xfrm>
              <a:off x="5103" y="935"/>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72" name="Oval 48"/>
            <p:cNvSpPr>
              <a:spLocks noChangeArrowheads="1"/>
            </p:cNvSpPr>
            <p:nvPr/>
          </p:nvSpPr>
          <p:spPr bwMode="auto">
            <a:xfrm>
              <a:off x="5329" y="935"/>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73" name="Oval 49"/>
            <p:cNvSpPr>
              <a:spLocks noChangeArrowheads="1"/>
            </p:cNvSpPr>
            <p:nvPr/>
          </p:nvSpPr>
          <p:spPr bwMode="auto">
            <a:xfrm>
              <a:off x="4422" y="709"/>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74" name="Oval 50"/>
            <p:cNvSpPr>
              <a:spLocks noChangeArrowheads="1"/>
            </p:cNvSpPr>
            <p:nvPr/>
          </p:nvSpPr>
          <p:spPr bwMode="auto">
            <a:xfrm>
              <a:off x="4649" y="709"/>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75" name="Oval 51"/>
            <p:cNvSpPr>
              <a:spLocks noChangeArrowheads="1"/>
            </p:cNvSpPr>
            <p:nvPr/>
          </p:nvSpPr>
          <p:spPr bwMode="auto">
            <a:xfrm>
              <a:off x="4876" y="709"/>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76" name="Oval 52"/>
            <p:cNvSpPr>
              <a:spLocks noChangeArrowheads="1"/>
            </p:cNvSpPr>
            <p:nvPr/>
          </p:nvSpPr>
          <p:spPr bwMode="auto">
            <a:xfrm>
              <a:off x="5103" y="709"/>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77" name="Oval 53"/>
            <p:cNvSpPr>
              <a:spLocks noChangeArrowheads="1"/>
            </p:cNvSpPr>
            <p:nvPr/>
          </p:nvSpPr>
          <p:spPr bwMode="auto">
            <a:xfrm>
              <a:off x="5329" y="709"/>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257078" name="Oval 54"/>
            <p:cNvSpPr>
              <a:spLocks noChangeArrowheads="1"/>
            </p:cNvSpPr>
            <p:nvPr/>
          </p:nvSpPr>
          <p:spPr bwMode="auto">
            <a:xfrm>
              <a:off x="4859" y="1604"/>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079" name="Oval 55"/>
            <p:cNvSpPr>
              <a:spLocks noChangeArrowheads="1"/>
            </p:cNvSpPr>
            <p:nvPr/>
          </p:nvSpPr>
          <p:spPr bwMode="auto">
            <a:xfrm>
              <a:off x="5078" y="1604"/>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080" name="Oval 56"/>
            <p:cNvSpPr>
              <a:spLocks noChangeArrowheads="1"/>
            </p:cNvSpPr>
            <p:nvPr/>
          </p:nvSpPr>
          <p:spPr bwMode="auto">
            <a:xfrm>
              <a:off x="5303" y="1604"/>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081" name="Oval 57"/>
            <p:cNvSpPr>
              <a:spLocks noChangeArrowheads="1"/>
            </p:cNvSpPr>
            <p:nvPr/>
          </p:nvSpPr>
          <p:spPr bwMode="auto">
            <a:xfrm>
              <a:off x="4628" y="1373"/>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082" name="Oval 58"/>
            <p:cNvSpPr>
              <a:spLocks noChangeArrowheads="1"/>
            </p:cNvSpPr>
            <p:nvPr/>
          </p:nvSpPr>
          <p:spPr bwMode="auto">
            <a:xfrm>
              <a:off x="4859" y="1373"/>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083" name="Oval 59"/>
            <p:cNvSpPr>
              <a:spLocks noChangeArrowheads="1"/>
            </p:cNvSpPr>
            <p:nvPr/>
          </p:nvSpPr>
          <p:spPr bwMode="auto">
            <a:xfrm>
              <a:off x="5078" y="1373"/>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084" name="Oval 60"/>
            <p:cNvSpPr>
              <a:spLocks noChangeArrowheads="1"/>
            </p:cNvSpPr>
            <p:nvPr/>
          </p:nvSpPr>
          <p:spPr bwMode="auto">
            <a:xfrm>
              <a:off x="5303" y="1373"/>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085" name="Oval 61"/>
            <p:cNvSpPr>
              <a:spLocks noChangeArrowheads="1"/>
            </p:cNvSpPr>
            <p:nvPr/>
          </p:nvSpPr>
          <p:spPr bwMode="auto">
            <a:xfrm>
              <a:off x="4628" y="1142"/>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086" name="Oval 62"/>
            <p:cNvSpPr>
              <a:spLocks noChangeArrowheads="1"/>
            </p:cNvSpPr>
            <p:nvPr/>
          </p:nvSpPr>
          <p:spPr bwMode="auto">
            <a:xfrm>
              <a:off x="4859" y="1142"/>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087" name="Oval 63"/>
            <p:cNvSpPr>
              <a:spLocks noChangeArrowheads="1"/>
            </p:cNvSpPr>
            <p:nvPr/>
          </p:nvSpPr>
          <p:spPr bwMode="auto">
            <a:xfrm>
              <a:off x="5078" y="1142"/>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088" name="Oval 64"/>
            <p:cNvSpPr>
              <a:spLocks noChangeArrowheads="1"/>
            </p:cNvSpPr>
            <p:nvPr/>
          </p:nvSpPr>
          <p:spPr bwMode="auto">
            <a:xfrm>
              <a:off x="5303" y="1142"/>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089" name="Oval 65"/>
            <p:cNvSpPr>
              <a:spLocks noChangeArrowheads="1"/>
            </p:cNvSpPr>
            <p:nvPr/>
          </p:nvSpPr>
          <p:spPr bwMode="auto">
            <a:xfrm>
              <a:off x="4628" y="920"/>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090" name="Oval 66"/>
            <p:cNvSpPr>
              <a:spLocks noChangeArrowheads="1"/>
            </p:cNvSpPr>
            <p:nvPr/>
          </p:nvSpPr>
          <p:spPr bwMode="auto">
            <a:xfrm>
              <a:off x="4859" y="920"/>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091" name="Oval 67"/>
            <p:cNvSpPr>
              <a:spLocks noChangeArrowheads="1"/>
            </p:cNvSpPr>
            <p:nvPr/>
          </p:nvSpPr>
          <p:spPr bwMode="auto">
            <a:xfrm>
              <a:off x="5078" y="920"/>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092" name="Oval 68"/>
            <p:cNvSpPr>
              <a:spLocks noChangeArrowheads="1"/>
            </p:cNvSpPr>
            <p:nvPr/>
          </p:nvSpPr>
          <p:spPr bwMode="auto">
            <a:xfrm>
              <a:off x="5303" y="920"/>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57093" name="Group 69"/>
          <p:cNvGrpSpPr>
            <a:grpSpLocks/>
          </p:cNvGrpSpPr>
          <p:nvPr/>
        </p:nvGrpSpPr>
        <p:grpSpPr bwMode="auto">
          <a:xfrm>
            <a:off x="0" y="4652963"/>
            <a:ext cx="2016125" cy="2028825"/>
            <a:chOff x="3164" y="2464"/>
            <a:chExt cx="1671" cy="1682"/>
          </a:xfrm>
        </p:grpSpPr>
        <p:sp>
          <p:nvSpPr>
            <p:cNvPr id="257094" name="Oval 70"/>
            <p:cNvSpPr>
              <a:spLocks noChangeArrowheads="1"/>
            </p:cNvSpPr>
            <p:nvPr/>
          </p:nvSpPr>
          <p:spPr bwMode="auto">
            <a:xfrm>
              <a:off x="3600" y="2904"/>
              <a:ext cx="804" cy="804"/>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095" name="Oval 71"/>
            <p:cNvSpPr>
              <a:spLocks noChangeArrowheads="1"/>
            </p:cNvSpPr>
            <p:nvPr/>
          </p:nvSpPr>
          <p:spPr bwMode="auto">
            <a:xfrm flipH="1">
              <a:off x="4355" y="3072"/>
              <a:ext cx="480" cy="48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096" name="Oval 72"/>
            <p:cNvSpPr>
              <a:spLocks noChangeArrowheads="1"/>
            </p:cNvSpPr>
            <p:nvPr/>
          </p:nvSpPr>
          <p:spPr bwMode="auto">
            <a:xfrm flipH="1">
              <a:off x="4349" y="3162"/>
              <a:ext cx="86" cy="8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097" name="Text Box 73"/>
            <p:cNvSpPr txBox="1">
              <a:spLocks noChangeArrowheads="1"/>
            </p:cNvSpPr>
            <p:nvPr/>
          </p:nvSpPr>
          <p:spPr bwMode="auto">
            <a:xfrm>
              <a:off x="4428" y="3180"/>
              <a:ext cx="371"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1800">
                  <a:solidFill>
                    <a:srgbClr val="66CCFF"/>
                  </a:solidFill>
                </a:rPr>
                <a:t>H</a:t>
              </a:r>
            </a:p>
          </p:txBody>
        </p:sp>
        <p:sp>
          <p:nvSpPr>
            <p:cNvPr id="257098" name="Oval 74"/>
            <p:cNvSpPr>
              <a:spLocks noChangeArrowheads="1"/>
            </p:cNvSpPr>
            <p:nvPr/>
          </p:nvSpPr>
          <p:spPr bwMode="auto">
            <a:xfrm rot="10800000" flipH="1">
              <a:off x="3164" y="3071"/>
              <a:ext cx="480" cy="48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099" name="Oval 75"/>
            <p:cNvSpPr>
              <a:spLocks noChangeArrowheads="1"/>
            </p:cNvSpPr>
            <p:nvPr/>
          </p:nvSpPr>
          <p:spPr bwMode="auto">
            <a:xfrm rot="10800000" flipH="1">
              <a:off x="3564" y="3375"/>
              <a:ext cx="86" cy="8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100" name="Text Box 76"/>
            <p:cNvSpPr txBox="1">
              <a:spLocks noChangeArrowheads="1"/>
            </p:cNvSpPr>
            <p:nvPr/>
          </p:nvSpPr>
          <p:spPr bwMode="auto">
            <a:xfrm>
              <a:off x="3217" y="3156"/>
              <a:ext cx="371"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1800">
                  <a:solidFill>
                    <a:srgbClr val="66CCFF"/>
                  </a:solidFill>
                </a:rPr>
                <a:t>H</a:t>
              </a:r>
            </a:p>
          </p:txBody>
        </p:sp>
        <p:sp>
          <p:nvSpPr>
            <p:cNvPr id="257101" name="Oval 77"/>
            <p:cNvSpPr>
              <a:spLocks noChangeArrowheads="1"/>
            </p:cNvSpPr>
            <p:nvPr/>
          </p:nvSpPr>
          <p:spPr bwMode="auto">
            <a:xfrm rot="5400000" flipH="1">
              <a:off x="3771" y="3666"/>
              <a:ext cx="480" cy="48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102" name="Oval 78"/>
            <p:cNvSpPr>
              <a:spLocks noChangeArrowheads="1"/>
            </p:cNvSpPr>
            <p:nvPr/>
          </p:nvSpPr>
          <p:spPr bwMode="auto">
            <a:xfrm rot="5400000" flipH="1">
              <a:off x="4075" y="3660"/>
              <a:ext cx="86" cy="8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103" name="Text Box 79"/>
            <p:cNvSpPr txBox="1">
              <a:spLocks noChangeArrowheads="1"/>
            </p:cNvSpPr>
            <p:nvPr/>
          </p:nvSpPr>
          <p:spPr bwMode="auto">
            <a:xfrm>
              <a:off x="3828" y="3756"/>
              <a:ext cx="371"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1800">
                  <a:solidFill>
                    <a:srgbClr val="66CCFF"/>
                  </a:solidFill>
                </a:rPr>
                <a:t>H</a:t>
              </a:r>
            </a:p>
          </p:txBody>
        </p:sp>
        <p:sp>
          <p:nvSpPr>
            <p:cNvPr id="257104" name="Oval 80"/>
            <p:cNvSpPr>
              <a:spLocks noChangeArrowheads="1"/>
            </p:cNvSpPr>
            <p:nvPr/>
          </p:nvSpPr>
          <p:spPr bwMode="auto">
            <a:xfrm rot="16200000" flipH="1">
              <a:off x="3759" y="2464"/>
              <a:ext cx="480" cy="48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105" name="Oval 81"/>
            <p:cNvSpPr>
              <a:spLocks noChangeArrowheads="1"/>
            </p:cNvSpPr>
            <p:nvPr/>
          </p:nvSpPr>
          <p:spPr bwMode="auto">
            <a:xfrm rot="16200000" flipH="1">
              <a:off x="3849" y="2864"/>
              <a:ext cx="86" cy="8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106" name="Text Box 82"/>
            <p:cNvSpPr txBox="1">
              <a:spLocks noChangeArrowheads="1"/>
            </p:cNvSpPr>
            <p:nvPr/>
          </p:nvSpPr>
          <p:spPr bwMode="auto">
            <a:xfrm>
              <a:off x="3828" y="2568"/>
              <a:ext cx="371"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1800">
                  <a:solidFill>
                    <a:srgbClr val="66CCFF"/>
                  </a:solidFill>
                </a:rPr>
                <a:t>H</a:t>
              </a:r>
            </a:p>
          </p:txBody>
        </p:sp>
        <p:sp>
          <p:nvSpPr>
            <p:cNvPr id="257107" name="Text Box 83"/>
            <p:cNvSpPr txBox="1">
              <a:spLocks noChangeArrowheads="1"/>
            </p:cNvSpPr>
            <p:nvPr/>
          </p:nvSpPr>
          <p:spPr bwMode="auto">
            <a:xfrm>
              <a:off x="3852" y="3156"/>
              <a:ext cx="300"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1800">
                  <a:solidFill>
                    <a:srgbClr val="FFFF66"/>
                  </a:solidFill>
                </a:rPr>
                <a:t>C</a:t>
              </a:r>
            </a:p>
          </p:txBody>
        </p:sp>
        <p:sp>
          <p:nvSpPr>
            <p:cNvPr id="257108" name="AutoShape 84"/>
            <p:cNvSpPr>
              <a:spLocks noChangeArrowheads="1"/>
            </p:cNvSpPr>
            <p:nvPr/>
          </p:nvSpPr>
          <p:spPr bwMode="auto">
            <a:xfrm rot="8100000">
              <a:off x="4344" y="3360"/>
              <a:ext cx="120" cy="120"/>
            </a:xfrm>
            <a:prstGeom prst="plus">
              <a:avLst>
                <a:gd name="adj" fmla="val 35000"/>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109" name="AutoShape 85"/>
            <p:cNvSpPr>
              <a:spLocks noChangeArrowheads="1"/>
            </p:cNvSpPr>
            <p:nvPr/>
          </p:nvSpPr>
          <p:spPr bwMode="auto">
            <a:xfrm rot="8100000">
              <a:off x="3876" y="3636"/>
              <a:ext cx="120" cy="120"/>
            </a:xfrm>
            <a:prstGeom prst="plus">
              <a:avLst>
                <a:gd name="adj" fmla="val 35000"/>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110" name="AutoShape 86"/>
            <p:cNvSpPr>
              <a:spLocks noChangeArrowheads="1"/>
            </p:cNvSpPr>
            <p:nvPr/>
          </p:nvSpPr>
          <p:spPr bwMode="auto">
            <a:xfrm rot="8100000">
              <a:off x="4020" y="2856"/>
              <a:ext cx="120" cy="120"/>
            </a:xfrm>
            <a:prstGeom prst="plus">
              <a:avLst>
                <a:gd name="adj" fmla="val 35000"/>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7111" name="AutoShape 87"/>
            <p:cNvSpPr>
              <a:spLocks noChangeArrowheads="1"/>
            </p:cNvSpPr>
            <p:nvPr/>
          </p:nvSpPr>
          <p:spPr bwMode="auto">
            <a:xfrm rot="8100000">
              <a:off x="3564" y="3192"/>
              <a:ext cx="120" cy="120"/>
            </a:xfrm>
            <a:prstGeom prst="plus">
              <a:avLst>
                <a:gd name="adj" fmla="val 35000"/>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Tree>
    <p:extLst>
      <p:ext uri="{BB962C8B-B14F-4D97-AF65-F5344CB8AC3E}">
        <p14:creationId xmlns:p14="http://schemas.microsoft.com/office/powerpoint/2010/main" val="27407614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7031"/>
                                        </p:tgtEl>
                                        <p:attrNameLst>
                                          <p:attrName>style.visibility</p:attrName>
                                        </p:attrNameLst>
                                      </p:cBhvr>
                                      <p:to>
                                        <p:strVal val="visible"/>
                                      </p:to>
                                    </p:set>
                                    <p:animEffect transition="in" filter="wipe(left)">
                                      <p:cBhvr>
                                        <p:cTn id="7" dur="500"/>
                                        <p:tgtEl>
                                          <p:spTgt spid="2570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57048"/>
                                        </p:tgtEl>
                                        <p:attrNameLst>
                                          <p:attrName>style.visibility</p:attrName>
                                        </p:attrNameLst>
                                      </p:cBhvr>
                                      <p:to>
                                        <p:strVal val="visible"/>
                                      </p:to>
                                    </p:set>
                                    <p:animEffect transition="in" filter="wipe(up)">
                                      <p:cBhvr>
                                        <p:cTn id="12" dur="500"/>
                                        <p:tgtEl>
                                          <p:spTgt spid="2570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7032"/>
                                        </p:tgtEl>
                                        <p:attrNameLst>
                                          <p:attrName>style.visibility</p:attrName>
                                        </p:attrNameLst>
                                      </p:cBhvr>
                                      <p:to>
                                        <p:strVal val="visible"/>
                                      </p:to>
                                    </p:set>
                                    <p:animEffect transition="in" filter="wipe(left)">
                                      <p:cBhvr>
                                        <p:cTn id="17" dur="500"/>
                                        <p:tgtEl>
                                          <p:spTgt spid="2570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257034"/>
                                        </p:tgtEl>
                                        <p:attrNameLst>
                                          <p:attrName>style.visibility</p:attrName>
                                        </p:attrNameLst>
                                      </p:cBhvr>
                                      <p:to>
                                        <p:strVal val="visible"/>
                                      </p:to>
                                    </p:set>
                                    <p:animEffect transition="in" filter="wipe(up)">
                                      <p:cBhvr>
                                        <p:cTn id="22" dur="500"/>
                                        <p:tgtEl>
                                          <p:spTgt spid="25703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7035"/>
                                        </p:tgtEl>
                                        <p:attrNameLst>
                                          <p:attrName>style.visibility</p:attrName>
                                        </p:attrNameLst>
                                      </p:cBhvr>
                                      <p:to>
                                        <p:strVal val="visible"/>
                                      </p:to>
                                    </p:set>
                                    <p:animEffect transition="in" filter="wipe(left)">
                                      <p:cBhvr>
                                        <p:cTn id="27" dur="500"/>
                                        <p:tgtEl>
                                          <p:spTgt spid="25703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257050"/>
                                        </p:tgtEl>
                                        <p:attrNameLst>
                                          <p:attrName>style.visibility</p:attrName>
                                        </p:attrNameLst>
                                      </p:cBhvr>
                                      <p:to>
                                        <p:strVal val="visible"/>
                                      </p:to>
                                    </p:set>
                                    <p:animEffect transition="in" filter="wipe(up)">
                                      <p:cBhvr>
                                        <p:cTn id="32" dur="500"/>
                                        <p:tgtEl>
                                          <p:spTgt spid="25705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57033"/>
                                        </p:tgtEl>
                                        <p:attrNameLst>
                                          <p:attrName>style.visibility</p:attrName>
                                        </p:attrNameLst>
                                      </p:cBhvr>
                                      <p:to>
                                        <p:strVal val="visible"/>
                                      </p:to>
                                    </p:set>
                                    <p:animEffect transition="in" filter="wipe(left)">
                                      <p:cBhvr>
                                        <p:cTn id="37" dur="500"/>
                                        <p:tgtEl>
                                          <p:spTgt spid="25703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257093"/>
                                        </p:tgtEl>
                                        <p:attrNameLst>
                                          <p:attrName>style.visibility</p:attrName>
                                        </p:attrNameLst>
                                      </p:cBhvr>
                                      <p:to>
                                        <p:strVal val="visible"/>
                                      </p:to>
                                    </p:set>
                                    <p:animEffect transition="in" filter="wipe(up)">
                                      <p:cBhvr>
                                        <p:cTn id="42" dur="500"/>
                                        <p:tgtEl>
                                          <p:spTgt spid="2570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31" grpId="0" animBg="1"/>
      <p:bldP spid="257032" grpId="0" animBg="1"/>
      <p:bldP spid="257033" grpId="0" animBg="1"/>
      <p:bldP spid="25703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Date Placeholder 3"/>
          <p:cNvSpPr>
            <a:spLocks noGrp="1"/>
          </p:cNvSpPr>
          <p:nvPr>
            <p:ph type="dt" sz="half" idx="10"/>
          </p:nvPr>
        </p:nvSpPr>
        <p:spPr/>
        <p:txBody>
          <a:bodyPr/>
          <a:lstStyle/>
          <a:p>
            <a:fld id="{91A1CB20-D058-4941-BEA2-62C61D0AC0B2}" type="datetime1">
              <a:rPr lang="en-GB" altLang="en-US"/>
              <a:pPr/>
              <a:t>02/06/2020</a:t>
            </a:fld>
            <a:endParaRPr lang="en-GB" altLang="en-US"/>
          </a:p>
        </p:txBody>
      </p:sp>
      <p:sp>
        <p:nvSpPr>
          <p:cNvPr id="138242" name="Rectangle 2"/>
          <p:cNvSpPr>
            <a:spLocks noGrp="1" noChangeArrowheads="1"/>
          </p:cNvSpPr>
          <p:nvPr>
            <p:ph type="title"/>
          </p:nvPr>
        </p:nvSpPr>
        <p:spPr/>
        <p:txBody>
          <a:bodyPr/>
          <a:lstStyle/>
          <a:p>
            <a:r>
              <a:rPr lang="en-GB" altLang="en-US" dirty="0"/>
              <a:t>Giant Ionic Structures recap</a:t>
            </a:r>
          </a:p>
        </p:txBody>
      </p:sp>
      <p:sp>
        <p:nvSpPr>
          <p:cNvPr id="138244" name="Text Box 4"/>
          <p:cNvSpPr txBox="1">
            <a:spLocks noChangeArrowheads="1"/>
          </p:cNvSpPr>
          <p:nvPr/>
        </p:nvSpPr>
        <p:spPr bwMode="auto">
          <a:xfrm>
            <a:off x="0" y="908050"/>
            <a:ext cx="5508625"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CCFF99"/>
                </a:solidFill>
              </a:rPr>
              <a:t>When many positive and negative ions are joined they form a “giant ionic lattice” where each ion is held to the other by strong electrostatic forces of attraction (ionic bonds). </a:t>
            </a:r>
          </a:p>
        </p:txBody>
      </p:sp>
      <p:grpSp>
        <p:nvGrpSpPr>
          <p:cNvPr id="138293" name="Group 53"/>
          <p:cNvGrpSpPr>
            <a:grpSpLocks/>
          </p:cNvGrpSpPr>
          <p:nvPr/>
        </p:nvGrpSpPr>
        <p:grpSpPr bwMode="auto">
          <a:xfrm>
            <a:off x="5795963" y="836613"/>
            <a:ext cx="3122612" cy="2111375"/>
            <a:chOff x="158" y="527"/>
            <a:chExt cx="1967" cy="1330"/>
          </a:xfrm>
        </p:grpSpPr>
        <p:sp>
          <p:nvSpPr>
            <p:cNvPr id="138250" name="Oval 10"/>
            <p:cNvSpPr>
              <a:spLocks noChangeArrowheads="1"/>
            </p:cNvSpPr>
            <p:nvPr/>
          </p:nvSpPr>
          <p:spPr bwMode="auto">
            <a:xfrm>
              <a:off x="158" y="527"/>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38260" name="Oval 20"/>
            <p:cNvSpPr>
              <a:spLocks noChangeArrowheads="1"/>
            </p:cNvSpPr>
            <p:nvPr/>
          </p:nvSpPr>
          <p:spPr bwMode="auto">
            <a:xfrm>
              <a:off x="476" y="527"/>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71" name="Oval 31"/>
            <p:cNvSpPr>
              <a:spLocks noChangeArrowheads="1"/>
            </p:cNvSpPr>
            <p:nvPr/>
          </p:nvSpPr>
          <p:spPr bwMode="auto">
            <a:xfrm>
              <a:off x="793" y="527"/>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38272" name="Oval 32"/>
            <p:cNvSpPr>
              <a:spLocks noChangeArrowheads="1"/>
            </p:cNvSpPr>
            <p:nvPr/>
          </p:nvSpPr>
          <p:spPr bwMode="auto">
            <a:xfrm>
              <a:off x="1111" y="527"/>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73" name="Oval 33"/>
            <p:cNvSpPr>
              <a:spLocks noChangeArrowheads="1"/>
            </p:cNvSpPr>
            <p:nvPr/>
          </p:nvSpPr>
          <p:spPr bwMode="auto">
            <a:xfrm>
              <a:off x="1428" y="527"/>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38274" name="Oval 34"/>
            <p:cNvSpPr>
              <a:spLocks noChangeArrowheads="1"/>
            </p:cNvSpPr>
            <p:nvPr/>
          </p:nvSpPr>
          <p:spPr bwMode="auto">
            <a:xfrm>
              <a:off x="1746" y="527"/>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76" name="Oval 36"/>
            <p:cNvSpPr>
              <a:spLocks noChangeArrowheads="1"/>
            </p:cNvSpPr>
            <p:nvPr/>
          </p:nvSpPr>
          <p:spPr bwMode="auto">
            <a:xfrm>
              <a:off x="158" y="845"/>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77" name="Oval 37"/>
            <p:cNvSpPr>
              <a:spLocks noChangeArrowheads="1"/>
            </p:cNvSpPr>
            <p:nvPr/>
          </p:nvSpPr>
          <p:spPr bwMode="auto">
            <a:xfrm>
              <a:off x="475" y="845"/>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38278" name="Oval 38"/>
            <p:cNvSpPr>
              <a:spLocks noChangeArrowheads="1"/>
            </p:cNvSpPr>
            <p:nvPr/>
          </p:nvSpPr>
          <p:spPr bwMode="auto">
            <a:xfrm>
              <a:off x="793" y="845"/>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79" name="Oval 39"/>
            <p:cNvSpPr>
              <a:spLocks noChangeArrowheads="1"/>
            </p:cNvSpPr>
            <p:nvPr/>
          </p:nvSpPr>
          <p:spPr bwMode="auto">
            <a:xfrm>
              <a:off x="1110" y="845"/>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38280" name="Oval 40"/>
            <p:cNvSpPr>
              <a:spLocks noChangeArrowheads="1"/>
            </p:cNvSpPr>
            <p:nvPr/>
          </p:nvSpPr>
          <p:spPr bwMode="auto">
            <a:xfrm>
              <a:off x="1428" y="845"/>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81" name="Oval 41"/>
            <p:cNvSpPr>
              <a:spLocks noChangeArrowheads="1"/>
            </p:cNvSpPr>
            <p:nvPr/>
          </p:nvSpPr>
          <p:spPr bwMode="auto">
            <a:xfrm>
              <a:off x="158" y="1162"/>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38282" name="Oval 42"/>
            <p:cNvSpPr>
              <a:spLocks noChangeArrowheads="1"/>
            </p:cNvSpPr>
            <p:nvPr/>
          </p:nvSpPr>
          <p:spPr bwMode="auto">
            <a:xfrm>
              <a:off x="476" y="1162"/>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83" name="Oval 43"/>
            <p:cNvSpPr>
              <a:spLocks noChangeArrowheads="1"/>
            </p:cNvSpPr>
            <p:nvPr/>
          </p:nvSpPr>
          <p:spPr bwMode="auto">
            <a:xfrm>
              <a:off x="793" y="1162"/>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38284" name="Oval 44"/>
            <p:cNvSpPr>
              <a:spLocks noChangeArrowheads="1"/>
            </p:cNvSpPr>
            <p:nvPr/>
          </p:nvSpPr>
          <p:spPr bwMode="auto">
            <a:xfrm>
              <a:off x="1111" y="1162"/>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85" name="Oval 45"/>
            <p:cNvSpPr>
              <a:spLocks noChangeArrowheads="1"/>
            </p:cNvSpPr>
            <p:nvPr/>
          </p:nvSpPr>
          <p:spPr bwMode="auto">
            <a:xfrm>
              <a:off x="1428" y="1162"/>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38286" name="Oval 46"/>
            <p:cNvSpPr>
              <a:spLocks noChangeArrowheads="1"/>
            </p:cNvSpPr>
            <p:nvPr/>
          </p:nvSpPr>
          <p:spPr bwMode="auto">
            <a:xfrm>
              <a:off x="1746" y="1162"/>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88" name="Oval 48"/>
            <p:cNvSpPr>
              <a:spLocks noChangeArrowheads="1"/>
            </p:cNvSpPr>
            <p:nvPr/>
          </p:nvSpPr>
          <p:spPr bwMode="auto">
            <a:xfrm>
              <a:off x="158" y="1480"/>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89" name="Oval 49"/>
            <p:cNvSpPr>
              <a:spLocks noChangeArrowheads="1"/>
            </p:cNvSpPr>
            <p:nvPr/>
          </p:nvSpPr>
          <p:spPr bwMode="auto">
            <a:xfrm>
              <a:off x="475" y="1480"/>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38290" name="Oval 50"/>
            <p:cNvSpPr>
              <a:spLocks noChangeArrowheads="1"/>
            </p:cNvSpPr>
            <p:nvPr/>
          </p:nvSpPr>
          <p:spPr bwMode="auto">
            <a:xfrm>
              <a:off x="793" y="1480"/>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91" name="Oval 51"/>
            <p:cNvSpPr>
              <a:spLocks noChangeArrowheads="1"/>
            </p:cNvSpPr>
            <p:nvPr/>
          </p:nvSpPr>
          <p:spPr bwMode="auto">
            <a:xfrm>
              <a:off x="1110" y="1480"/>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38292" name="Oval 52"/>
            <p:cNvSpPr>
              <a:spLocks noChangeArrowheads="1"/>
            </p:cNvSpPr>
            <p:nvPr/>
          </p:nvSpPr>
          <p:spPr bwMode="auto">
            <a:xfrm>
              <a:off x="1428" y="1480"/>
              <a:ext cx="379" cy="37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38275" name="Oval 35"/>
            <p:cNvSpPr>
              <a:spLocks noChangeArrowheads="1"/>
            </p:cNvSpPr>
            <p:nvPr/>
          </p:nvSpPr>
          <p:spPr bwMode="auto">
            <a:xfrm>
              <a:off x="1746" y="845"/>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38287" name="Oval 47"/>
            <p:cNvSpPr>
              <a:spLocks noChangeArrowheads="1"/>
            </p:cNvSpPr>
            <p:nvPr/>
          </p:nvSpPr>
          <p:spPr bwMode="auto">
            <a:xfrm>
              <a:off x="1746" y="1480"/>
              <a:ext cx="377" cy="37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grpSp>
      <p:sp>
        <p:nvSpPr>
          <p:cNvPr id="138294" name="Text Box 54"/>
          <p:cNvSpPr txBox="1">
            <a:spLocks noChangeArrowheads="1"/>
          </p:cNvSpPr>
          <p:nvPr/>
        </p:nvSpPr>
        <p:spPr bwMode="auto">
          <a:xfrm>
            <a:off x="0" y="3357563"/>
            <a:ext cx="9144000" cy="246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a:solidFill>
                  <a:srgbClr val="CCECFF"/>
                </a:solidFill>
                <a:latin typeface="Comic Sans MS" panose="030F0702030302020204" pitchFamily="66" charset="0"/>
              </a:rPr>
              <a:t>If these ions are strongly held together what affect would this have on the substance’s:</a:t>
            </a:r>
          </a:p>
          <a:p>
            <a:pPr>
              <a:spcBef>
                <a:spcPct val="50000"/>
              </a:spcBef>
              <a:buFontTx/>
              <a:buAutoNum type="arabicParenR"/>
            </a:pPr>
            <a:r>
              <a:rPr lang="en-GB" altLang="en-US">
                <a:solidFill>
                  <a:schemeClr val="bg1"/>
                </a:solidFill>
                <a:latin typeface="Comic Sans MS" panose="030F0702030302020204" pitchFamily="66" charset="0"/>
              </a:rPr>
              <a:t>Melting point?</a:t>
            </a:r>
          </a:p>
          <a:p>
            <a:pPr>
              <a:spcBef>
                <a:spcPct val="50000"/>
              </a:spcBef>
              <a:buFontTx/>
              <a:buAutoNum type="arabicParenR"/>
            </a:pPr>
            <a:r>
              <a:rPr lang="en-GB" altLang="en-US">
                <a:solidFill>
                  <a:srgbClr val="CCECFF"/>
                </a:solidFill>
                <a:latin typeface="Comic Sans MS" panose="030F0702030302020204" pitchFamily="66" charset="0"/>
              </a:rPr>
              <a:t>Boiling point?</a:t>
            </a:r>
          </a:p>
          <a:p>
            <a:pPr>
              <a:spcBef>
                <a:spcPct val="50000"/>
              </a:spcBef>
              <a:buFontTx/>
              <a:buAutoNum type="arabicParenR"/>
            </a:pPr>
            <a:r>
              <a:rPr lang="en-GB" altLang="en-US">
                <a:solidFill>
                  <a:schemeClr val="bg1"/>
                </a:solidFill>
                <a:latin typeface="Comic Sans MS" panose="030F0702030302020204" pitchFamily="66" charset="0"/>
              </a:rPr>
              <a:t>State (solid, liquid or gas) at room temperature?</a:t>
            </a:r>
          </a:p>
        </p:txBody>
      </p:sp>
    </p:spTree>
    <p:extLst>
      <p:ext uri="{BB962C8B-B14F-4D97-AF65-F5344CB8AC3E}">
        <p14:creationId xmlns:p14="http://schemas.microsoft.com/office/powerpoint/2010/main" val="32581867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8244"/>
                                        </p:tgtEl>
                                        <p:attrNameLst>
                                          <p:attrName>style.visibility</p:attrName>
                                        </p:attrNameLst>
                                      </p:cBhvr>
                                      <p:to>
                                        <p:strVal val="visible"/>
                                      </p:to>
                                    </p:set>
                                    <p:animEffect transition="in" filter="wipe(left)">
                                      <p:cBhvr>
                                        <p:cTn id="7" dur="500"/>
                                        <p:tgtEl>
                                          <p:spTgt spid="1382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138293"/>
                                        </p:tgtEl>
                                        <p:attrNameLst>
                                          <p:attrName>style.visibility</p:attrName>
                                        </p:attrNameLst>
                                      </p:cBhvr>
                                      <p:to>
                                        <p:strVal val="visible"/>
                                      </p:to>
                                    </p:set>
                                    <p:anim calcmode="lin" valueType="num">
                                      <p:cBhvr additive="base">
                                        <p:cTn id="12" dur="500" fill="hold"/>
                                        <p:tgtEl>
                                          <p:spTgt spid="138293"/>
                                        </p:tgtEl>
                                        <p:attrNameLst>
                                          <p:attrName>ppt_x</p:attrName>
                                        </p:attrNameLst>
                                      </p:cBhvr>
                                      <p:tavLst>
                                        <p:tav tm="0">
                                          <p:val>
                                            <p:strVal val="1+#ppt_w/2"/>
                                          </p:val>
                                        </p:tav>
                                        <p:tav tm="100000">
                                          <p:val>
                                            <p:strVal val="#ppt_x"/>
                                          </p:val>
                                        </p:tav>
                                      </p:tavLst>
                                    </p:anim>
                                    <p:anim calcmode="lin" valueType="num">
                                      <p:cBhvr additive="base">
                                        <p:cTn id="13" dur="500" fill="hold"/>
                                        <p:tgtEl>
                                          <p:spTgt spid="138293"/>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8294">
                                            <p:txEl>
                                              <p:pRg st="0" end="0"/>
                                            </p:txEl>
                                          </p:spTgt>
                                        </p:tgtEl>
                                        <p:attrNameLst>
                                          <p:attrName>style.visibility</p:attrName>
                                        </p:attrNameLst>
                                      </p:cBhvr>
                                      <p:to>
                                        <p:strVal val="visible"/>
                                      </p:to>
                                    </p:set>
                                    <p:animEffect transition="in" filter="wipe(left)">
                                      <p:cBhvr>
                                        <p:cTn id="18" dur="500"/>
                                        <p:tgtEl>
                                          <p:spTgt spid="138294">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8294">
                                            <p:txEl>
                                              <p:pRg st="1" end="1"/>
                                            </p:txEl>
                                          </p:spTgt>
                                        </p:tgtEl>
                                        <p:attrNameLst>
                                          <p:attrName>style.visibility</p:attrName>
                                        </p:attrNameLst>
                                      </p:cBhvr>
                                      <p:to>
                                        <p:strVal val="visible"/>
                                      </p:to>
                                    </p:set>
                                    <p:animEffect transition="in" filter="wipe(left)">
                                      <p:cBhvr>
                                        <p:cTn id="23" dur="500"/>
                                        <p:tgtEl>
                                          <p:spTgt spid="138294">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38294">
                                            <p:txEl>
                                              <p:pRg st="2" end="2"/>
                                            </p:txEl>
                                          </p:spTgt>
                                        </p:tgtEl>
                                        <p:attrNameLst>
                                          <p:attrName>style.visibility</p:attrName>
                                        </p:attrNameLst>
                                      </p:cBhvr>
                                      <p:to>
                                        <p:strVal val="visible"/>
                                      </p:to>
                                    </p:set>
                                    <p:animEffect transition="in" filter="wipe(left)">
                                      <p:cBhvr>
                                        <p:cTn id="28" dur="500"/>
                                        <p:tgtEl>
                                          <p:spTgt spid="138294">
                                            <p:txEl>
                                              <p:pRg st="2" end="2"/>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38294">
                                            <p:txEl>
                                              <p:pRg st="3" end="3"/>
                                            </p:txEl>
                                          </p:spTgt>
                                        </p:tgtEl>
                                        <p:attrNameLst>
                                          <p:attrName>style.visibility</p:attrName>
                                        </p:attrNameLst>
                                      </p:cBhvr>
                                      <p:to>
                                        <p:strVal val="visible"/>
                                      </p:to>
                                    </p:set>
                                    <p:animEffect transition="in" filter="wipe(left)">
                                      <p:cBhvr>
                                        <p:cTn id="33" dur="500"/>
                                        <p:tgtEl>
                                          <p:spTgt spid="13829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4" grpId="0"/>
      <p:bldP spid="138294"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Date Placeholder 3"/>
          <p:cNvSpPr>
            <a:spLocks noGrp="1"/>
          </p:cNvSpPr>
          <p:nvPr>
            <p:ph type="dt" sz="half" idx="10"/>
          </p:nvPr>
        </p:nvSpPr>
        <p:spPr/>
        <p:txBody>
          <a:bodyPr/>
          <a:lstStyle/>
          <a:p>
            <a:fld id="{78C5C713-EB60-45DF-8DD8-D6CF057BAE20}" type="datetime1">
              <a:rPr lang="en-GB" altLang="en-US"/>
              <a:pPr/>
              <a:t>02/06/2020</a:t>
            </a:fld>
            <a:endParaRPr lang="en-GB" altLang="en-US"/>
          </a:p>
        </p:txBody>
      </p:sp>
      <p:sp>
        <p:nvSpPr>
          <p:cNvPr id="142367" name="Rectangle 31"/>
          <p:cNvSpPr>
            <a:spLocks noChangeArrowheads="1"/>
          </p:cNvSpPr>
          <p:nvPr/>
        </p:nvSpPr>
        <p:spPr bwMode="auto">
          <a:xfrm>
            <a:off x="1908175" y="1773238"/>
            <a:ext cx="5400675" cy="5084762"/>
          </a:xfrm>
          <a:prstGeom prst="rect">
            <a:avLst/>
          </a:prstGeom>
          <a:solidFill>
            <a:schemeClr val="bg1"/>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142366" name="Picture 30" descr="BEAK_L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1844675"/>
            <a:ext cx="5068888" cy="5013325"/>
          </a:xfrm>
          <a:prstGeom prst="rect">
            <a:avLst/>
          </a:prstGeom>
          <a:noFill/>
          <a:extLst>
            <a:ext uri="{909E8E84-426E-40DD-AFC4-6F175D3DCCD1}">
              <a14:hiddenFill xmlns:a14="http://schemas.microsoft.com/office/drawing/2010/main">
                <a:solidFill>
                  <a:srgbClr val="FFFFFF"/>
                </a:solidFill>
              </a14:hiddenFill>
            </a:ext>
          </a:extLst>
        </p:spPr>
      </p:pic>
      <p:sp>
        <p:nvSpPr>
          <p:cNvPr id="142338" name="Rectangle 2"/>
          <p:cNvSpPr>
            <a:spLocks noGrp="1" noChangeArrowheads="1"/>
          </p:cNvSpPr>
          <p:nvPr>
            <p:ph type="title"/>
          </p:nvPr>
        </p:nvSpPr>
        <p:spPr/>
        <p:txBody>
          <a:bodyPr/>
          <a:lstStyle/>
          <a:p>
            <a:r>
              <a:rPr lang="en-GB" altLang="en-US"/>
              <a:t>Dissolving Ionic Structures</a:t>
            </a:r>
          </a:p>
        </p:txBody>
      </p:sp>
      <p:sp>
        <p:nvSpPr>
          <p:cNvPr id="142339" name="Text Box 3"/>
          <p:cNvSpPr txBox="1">
            <a:spLocks noChangeArrowheads="1"/>
          </p:cNvSpPr>
          <p:nvPr/>
        </p:nvSpPr>
        <p:spPr bwMode="auto">
          <a:xfrm>
            <a:off x="0" y="692150"/>
            <a:ext cx="9144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CCFF99"/>
                </a:solidFill>
              </a:rPr>
              <a:t>When an ionic structure like sodium chloride is dissolved it enables the water to conduct electricity as charge is carried by the ions:</a:t>
            </a:r>
          </a:p>
        </p:txBody>
      </p:sp>
      <p:sp>
        <p:nvSpPr>
          <p:cNvPr id="142341" name="Oval 5"/>
          <p:cNvSpPr>
            <a:spLocks noChangeArrowheads="1"/>
          </p:cNvSpPr>
          <p:nvPr/>
        </p:nvSpPr>
        <p:spPr bwMode="auto">
          <a:xfrm>
            <a:off x="3970338" y="4437063"/>
            <a:ext cx="598487" cy="59848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42342" name="Oval 6"/>
          <p:cNvSpPr>
            <a:spLocks noChangeArrowheads="1"/>
          </p:cNvSpPr>
          <p:nvPr/>
        </p:nvSpPr>
        <p:spPr bwMode="auto">
          <a:xfrm>
            <a:off x="4475163" y="4437063"/>
            <a:ext cx="601662" cy="59848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42343" name="Oval 7"/>
          <p:cNvSpPr>
            <a:spLocks noChangeArrowheads="1"/>
          </p:cNvSpPr>
          <p:nvPr/>
        </p:nvSpPr>
        <p:spPr bwMode="auto">
          <a:xfrm>
            <a:off x="4978400" y="4437063"/>
            <a:ext cx="598488" cy="59848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42347" name="Oval 11"/>
          <p:cNvSpPr>
            <a:spLocks noChangeArrowheads="1"/>
          </p:cNvSpPr>
          <p:nvPr/>
        </p:nvSpPr>
        <p:spPr bwMode="auto">
          <a:xfrm>
            <a:off x="3970338" y="4941888"/>
            <a:ext cx="601662" cy="59848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42348" name="Oval 12"/>
          <p:cNvSpPr>
            <a:spLocks noChangeArrowheads="1"/>
          </p:cNvSpPr>
          <p:nvPr/>
        </p:nvSpPr>
        <p:spPr bwMode="auto">
          <a:xfrm>
            <a:off x="4473575" y="4941888"/>
            <a:ext cx="598488" cy="598487"/>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42349" name="Oval 13"/>
          <p:cNvSpPr>
            <a:spLocks noChangeArrowheads="1"/>
          </p:cNvSpPr>
          <p:nvPr/>
        </p:nvSpPr>
        <p:spPr bwMode="auto">
          <a:xfrm>
            <a:off x="4978400" y="4941888"/>
            <a:ext cx="601663" cy="598487"/>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42352" name="Oval 16"/>
          <p:cNvSpPr>
            <a:spLocks noChangeArrowheads="1"/>
          </p:cNvSpPr>
          <p:nvPr/>
        </p:nvSpPr>
        <p:spPr bwMode="auto">
          <a:xfrm>
            <a:off x="3970338" y="5445125"/>
            <a:ext cx="598487" cy="598488"/>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42353" name="Oval 17"/>
          <p:cNvSpPr>
            <a:spLocks noChangeArrowheads="1"/>
          </p:cNvSpPr>
          <p:nvPr/>
        </p:nvSpPr>
        <p:spPr bwMode="auto">
          <a:xfrm>
            <a:off x="4475163" y="5445125"/>
            <a:ext cx="601662" cy="598488"/>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42354" name="Oval 18"/>
          <p:cNvSpPr>
            <a:spLocks noChangeArrowheads="1"/>
          </p:cNvSpPr>
          <p:nvPr/>
        </p:nvSpPr>
        <p:spPr bwMode="auto">
          <a:xfrm>
            <a:off x="4978400" y="5445125"/>
            <a:ext cx="598488" cy="598488"/>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42358" name="Oval 22"/>
          <p:cNvSpPr>
            <a:spLocks noChangeArrowheads="1"/>
          </p:cNvSpPr>
          <p:nvPr/>
        </p:nvSpPr>
        <p:spPr bwMode="auto">
          <a:xfrm>
            <a:off x="3970338" y="5949950"/>
            <a:ext cx="601662" cy="598488"/>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
        <p:nvSpPr>
          <p:cNvPr id="142359" name="Oval 23"/>
          <p:cNvSpPr>
            <a:spLocks noChangeArrowheads="1"/>
          </p:cNvSpPr>
          <p:nvPr/>
        </p:nvSpPr>
        <p:spPr bwMode="auto">
          <a:xfrm>
            <a:off x="4473575" y="5949950"/>
            <a:ext cx="598488" cy="598488"/>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Cl</a:t>
            </a:r>
            <a:r>
              <a:rPr lang="en-GB" altLang="en-US" sz="1800" baseline="30000"/>
              <a:t>-</a:t>
            </a:r>
          </a:p>
        </p:txBody>
      </p:sp>
      <p:sp>
        <p:nvSpPr>
          <p:cNvPr id="142360" name="Oval 24"/>
          <p:cNvSpPr>
            <a:spLocks noChangeArrowheads="1"/>
          </p:cNvSpPr>
          <p:nvPr/>
        </p:nvSpPr>
        <p:spPr bwMode="auto">
          <a:xfrm>
            <a:off x="4978400" y="5949950"/>
            <a:ext cx="601663" cy="598488"/>
          </a:xfrm>
          <a:prstGeom prst="ellipse">
            <a:avLst/>
          </a:prstGeom>
          <a:gradFill rotWithShape="0">
            <a:gsLst>
              <a:gs pos="0">
                <a:schemeClr val="accent1"/>
              </a:gs>
              <a:gs pos="100000">
                <a:schemeClr val="accent1">
                  <a:gamma/>
                  <a:shade val="36078"/>
                  <a:invGamma/>
                </a:schemeClr>
              </a:gs>
            </a:gsLst>
            <a:path path="rect">
              <a:fillToRect l="100000" t="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Na</a:t>
            </a:r>
            <a:r>
              <a:rPr lang="en-GB" altLang="en-US" sz="1800" baseline="30000"/>
              <a:t>+</a:t>
            </a:r>
          </a:p>
        </p:txBody>
      </p:sp>
    </p:spTree>
    <p:extLst>
      <p:ext uri="{BB962C8B-B14F-4D97-AF65-F5344CB8AC3E}">
        <p14:creationId xmlns:p14="http://schemas.microsoft.com/office/powerpoint/2010/main" val="18840316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2339"/>
                                        </p:tgtEl>
                                        <p:attrNameLst>
                                          <p:attrName>style.visibility</p:attrName>
                                        </p:attrNameLst>
                                      </p:cBhvr>
                                      <p:to>
                                        <p:strVal val="visible"/>
                                      </p:to>
                                    </p:set>
                                    <p:animEffect transition="in" filter="wipe(left)">
                                      <p:cBhvr>
                                        <p:cTn id="7" dur="500"/>
                                        <p:tgtEl>
                                          <p:spTgt spid="1423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0" presetClass="path" presetSubtype="0" fill="hold" grpId="0" nodeType="clickEffect">
                                  <p:stCondLst>
                                    <p:cond delay="0"/>
                                  </p:stCondLst>
                                  <p:childTnLst>
                                    <p:animMotion origin="layout" path="M -1.11111E-6 4.52926E-6 C 0.02032 0.00231 0.03525 0.01526 0.0533 0.02613 C 0.06268 0.03816 0.06771 0.04025 0.07014 0.05852 C 0.06945 0.0761 0.06823 0.08905 0.06632 0.10571 C 0.06667 0.11496 0.06528 0.12491 0.06823 0.13324 C 0.07066 0.13971 0.07674 0.14272 0.08125 0.1455 C 0.09462 0.15359 0.10296 0.15614 0.11771 0.15938 C 0.12431 0.15845 0.13091 0.15891 0.13733 0.15683 C 0.14011 0.15591 0.14184 0.14966 0.14306 0.14688 C 0.14601 0.13994 0.15 0.13555 0.15226 0.12815 C 0.15365 0.12329 0.154 0.11797 0.15521 0.11311 C 0.15487 0.10733 0.15539 0.10131 0.15417 0.09576 C 0.15261 0.08859 0.14566 0.08628 0.14115 0.08211 C 0.13542 0.07679 0.13004 0.07124 0.12431 0.06592 C 0.11858 0.06083 0.11494 0.05482 0.11025 0.04834 C 0.10209 0.03747 0.09375 0.02937 0.08785 0.01596 C 0.08681 0.00925 0.08577 0.003 0.08507 -0.00394 C 0.08681 -0.02036 0.09445 -0.03146 0.10469 -0.04002 C 0.1066 -0.04164 0.10955 -0.04627 0.11216 -0.04627 " pathEditMode="relative" ptsTypes="ffffffffffffffffffA">
                                      <p:cBhvr>
                                        <p:cTn id="11" dur="2000" fill="hold"/>
                                        <p:tgtEl>
                                          <p:spTgt spid="142343"/>
                                        </p:tgtEl>
                                        <p:attrNameLst>
                                          <p:attrName>ppt_x</p:attrName>
                                          <p:attrName>ppt_y</p:attrName>
                                        </p:attrNameLst>
                                      </p:cBhvr>
                                    </p:animMotion>
                                  </p:childTnLst>
                                </p:cTn>
                              </p:par>
                              <p:par>
                                <p:cTn id="12" presetID="0" presetClass="path" presetSubtype="0" fill="hold" grpId="0" nodeType="withEffect">
                                  <p:stCondLst>
                                    <p:cond delay="0"/>
                                  </p:stCondLst>
                                  <p:childTnLst>
                                    <p:animMotion origin="layout" path="M -5.27778E-6 -4.34189E-6 C 0.00746 -0.00624 0.01319 -0.01249 0.02152 -0.01503 C 0.02621 0.00371 0.02013 -0.01873 0.02708 -4.34189E-6 C 0.03333 0.01689 0.03732 0.03216 0.04496 0.04858 C 0.04635 0.05436 0.04704 0.05992 0.04774 0.06593 C 0.04583 0.08004 0.04652 0.07981 0.03923 0.08721 C 0.0328 0.10109 0.02083 0.10595 0.00937 0.10826 C 0.00312 0.10734 -0.00331 0.1078 -0.00938 0.10572 C -0.01407 0.1041 -0.01789 0.0997 -0.0224 0.09716 C -0.02761 0.09415 -0.03299 0.09392 -0.03647 0.08721 C -0.04202 0.07657 -0.04706 0.06015 -0.05053 0.04858 C -0.0547 0.03493 -0.05487 0.01967 -0.05973 0.00625 C -0.06181 0.00047 -0.06581 -0.00879 -0.07101 -0.00994 C -0.07657 -0.01133 -0.08785 -0.01364 -0.08785 -0.01364 C -0.10904 -0.01133 -0.1165 -0.01642 -0.12987 -0.00254 C -0.1415 0.02846 -0.12084 0.06316 -0.11581 0.09346 C -0.11476 0.10757 -0.1139 0.11983 -0.12154 0.1307 C -0.12397 0.13417 -0.12657 0.13741 -0.129 0.14065 C -0.13091 0.14319 -0.13647 0.14574 -0.13647 0.14574 C -0.1599 0.14365 -0.17535 0.13579 -0.19445 0.1196 C -0.19636 0.11543 -0.19914 0.11266 -0.20088 0.10826 C -0.20209 0.10526 -0.20209 0.10202 -0.20365 0.09947 " pathEditMode="relative" ptsTypes="fffffffffffffffffffffA">
                                      <p:cBhvr>
                                        <p:cTn id="13" dur="2000" fill="hold"/>
                                        <p:tgtEl>
                                          <p:spTgt spid="142349"/>
                                        </p:tgtEl>
                                        <p:attrNameLst>
                                          <p:attrName>ppt_x</p:attrName>
                                          <p:attrName>ppt_y</p:attrName>
                                        </p:attrNameLst>
                                      </p:cBhvr>
                                    </p:animMotion>
                                  </p:childTnLst>
                                </p:cTn>
                              </p:par>
                              <p:par>
                                <p:cTn id="14" presetID="0" presetClass="path" presetSubtype="0" fill="hold" grpId="0" nodeType="withEffect">
                                  <p:stCondLst>
                                    <p:cond delay="0"/>
                                  </p:stCondLst>
                                  <p:childTnLst>
                                    <p:animMotion origin="layout" path="M -1.38889E-6 3.39579E-6 C 0.03785 0.00138 0.07657 -0.00278 0.09532 0.04973 C 0.09549 0.05089 0.09896 0.06407 0.09636 0.06731 C 0.08525 0.08165 0.0474 0.08026 0.0356 0.08096 C 0.01615 0.07795 -0.00225 0.06939 -0.02152 0.06592 C -0.03194 0.06083 -0.04218 0.05736 -0.05138 0.04857 C -0.05312 0.04395 -0.05416 0.04001 -0.05503 0.03492 C -0.05468 0.02822 -0.0552 0.02128 -0.05416 0.0148 C -0.05225 0.00254 -0.04027 -0.01273 -0.03368 -0.0199 C -0.0217 -0.03285 -0.00625 -0.04766 0.00747 -0.05853 C 0.01962 -0.08582 0.0033 -0.10248 -0.01024 -0.11844 C -0.02413 -0.13486 -0.03975 -0.14111 -0.05694 -0.14944 C -0.06406 -0.15291 -0.07187 -0.15059 -0.07934 -0.15198 C -0.09479 -0.15476 -0.10972 -0.16124 -0.12517 -0.16447 C -0.12986 -0.16679 -0.13472 -0.1691 -0.13923 -0.17188 C -0.14027 -0.17257 -0.14201 -0.17442 -0.14201 -0.17442 " pathEditMode="relative" ptsTypes="fffffffffffffffA">
                                      <p:cBhvr>
                                        <p:cTn id="15" dur="2000" fill="hold"/>
                                        <p:tgtEl>
                                          <p:spTgt spid="142354"/>
                                        </p:tgtEl>
                                        <p:attrNameLst>
                                          <p:attrName>ppt_x</p:attrName>
                                          <p:attrName>ppt_y</p:attrName>
                                        </p:attrNameLst>
                                      </p:cBhvr>
                                    </p:animMotion>
                                  </p:childTnLst>
                                </p:cTn>
                              </p:par>
                              <p:par>
                                <p:cTn id="16" presetID="0" presetClass="path" presetSubtype="0" fill="hold" grpId="0" nodeType="withEffect">
                                  <p:stCondLst>
                                    <p:cond delay="0"/>
                                  </p:stCondLst>
                                  <p:childTnLst>
                                    <p:animMotion origin="layout" path="M -6.94444E-6 -4.34189E-6 C -0.00626 -0.00832 -0.01546 -0.01665 -0.02431 -0.01873 C -0.03542 -0.02151 -0.05799 -0.02359 -0.05799 -0.02359 C -0.06511 -0.02267 -0.0724 -0.02313 -0.07952 -0.02105 C -0.09028 -0.01781 -0.09827 -0.00069 -0.1066 0.00741 C -0.10903 0.00972 -0.11146 0.01203 -0.11407 0.01365 C -0.11771 0.01573 -0.12535 0.01874 -0.12535 0.01874 C -0.14671 0.0162 -0.17396 0.00023 -0.19254 -0.01503 C -0.19966 -0.02082 -0.20643 -0.02729 -0.2132 -0.03354 C -0.21806 -0.03793 -0.22726 -0.04742 -0.22726 -0.04742 C -0.22657 -0.05436 -0.22674 -0.06176 -0.22535 -0.06847 C -0.22258 -0.08165 -0.21424 -0.09368 -0.20851 -0.10455 C -0.2066 -0.10825 -0.20504 -0.11242 -0.20296 -0.11589 C -0.20122 -0.11866 -0.19723 -0.12329 -0.19723 -0.12329 C -0.19619 -0.12884 -0.1941 -0.13185 -0.19254 -0.13694 C -0.19167 -0.13995 -0.19046 -0.14596 -0.18976 -0.14943 C -0.19046 -0.15475 -0.19046 -0.1603 -0.19167 -0.16562 C -0.19219 -0.16747 -0.19376 -0.16863 -0.19445 -0.17048 C -0.19497 -0.1721 -0.1948 -0.17418 -0.19549 -0.17557 C -0.19619 -0.17673 -0.1974 -0.17719 -0.19827 -0.17811 C -0.20695 -0.18829 -0.2099 -0.18922 -0.22153 -0.18922 " pathEditMode="relative" ptsTypes="ffffffffffffffffffffA">
                                      <p:cBhvr>
                                        <p:cTn id="17" dur="2000" fill="hold"/>
                                        <p:tgtEl>
                                          <p:spTgt spid="142360"/>
                                        </p:tgtEl>
                                        <p:attrNameLst>
                                          <p:attrName>ppt_x</p:attrName>
                                          <p:attrName>ppt_y</p:attrName>
                                        </p:attrNameLst>
                                      </p:cBhvr>
                                    </p:animMotion>
                                  </p:childTnLst>
                                </p:cTn>
                              </p:par>
                              <p:par>
                                <p:cTn id="18" presetID="0" presetClass="path" presetSubtype="0" fill="hold" grpId="0" nodeType="withEffect">
                                  <p:stCondLst>
                                    <p:cond delay="0"/>
                                  </p:stCondLst>
                                  <p:childTnLst>
                                    <p:animMotion origin="layout" path="M 6.66667E-6 3.39579E-6 C 0.00643 -0.00879 0.0033 -0.01388 -0.00381 -0.0199 C -0.01232 -0.02707 -0.02187 -0.03146 -0.0309 -0.03748 C -0.03541 -0.04696 -0.03489 -0.05992 -0.02986 -0.06847 C -0.02499 -0.09716 -0.00052 -0.10086 0.01771 -0.10225 C 0.04098 -0.09531 0.06233 -0.08536 0.07657 -0.05853 C 0.0823 -0.03262 0.07865 -0.01342 0.08126 0.01735 C 0.0816 0.02082 0.08351 0.02336 0.08508 0.02614 C 0.08889 0.03308 0.09671 0.04719 0.10365 0.05343 C 0.11719 0.06546 0.13386 0.06523 0.14948 0.06708 C 0.15973 0.08165 0.16233 0.10941 0.16546 0.12699 C 0.16615 0.13069 0.16737 0.1381 0.16737 0.1381 C 0.16702 0.14226 0.16702 0.14642 0.16633 0.15059 C 0.16424 0.16215 0.14723 0.16215 0.14115 0.16308 C 0.12813 0.16262 0.11494 0.164 0.10192 0.16169 C 0.0981 0.161 0.09514 0.15637 0.09167 0.15429 C 0.07796 0.14596 0.06285 0.13555 0.04862 0.12954 C 0.03889 0.13092 0.03994 0.13301 0.03178 0.13694 C 0.02848 0.14249 0.02622 0.14966 0.02622 0.15683 " pathEditMode="relative" ptsTypes="ffffffffffffffffffA">
                                      <p:cBhvr>
                                        <p:cTn id="19" dur="2000" fill="hold"/>
                                        <p:tgtEl>
                                          <p:spTgt spid="142342"/>
                                        </p:tgtEl>
                                        <p:attrNameLst>
                                          <p:attrName>ppt_x</p:attrName>
                                          <p:attrName>ppt_y</p:attrName>
                                        </p:attrNameLst>
                                      </p:cBhvr>
                                    </p:animMotion>
                                  </p:childTnLst>
                                </p:cTn>
                              </p:par>
                              <p:par>
                                <p:cTn id="20" presetID="0" presetClass="path" presetSubtype="0" fill="hold" grpId="0" nodeType="withEffect">
                                  <p:stCondLst>
                                    <p:cond delay="0"/>
                                  </p:stCondLst>
                                  <p:childTnLst>
                                    <p:animMotion origin="layout" path="M -5.55556E-7 4.71663E-6 C 0.02032 -0.0081 0.02657 -0.00579 0.05226 -0.00486 C 0.09011 0.00508 0.09862 0.00948 0.129 0.03863 C 0.14219 0.05135 0.15035 0.05968 0.15799 0.07726 C 0.1599 0.09137 0.15886 0.08558 0.16077 0.09461 C 0.16008 0.10039 0.1599 0.1064 0.15886 0.11219 C 0.15469 0.13694 0.13455 0.14758 0.11876 0.15197 C 0.10001 0.15035 0.08126 0.14943 0.06268 0.14688 C 0.05678 0.14226 0.0533 0.13555 0.04948 0.12838 C 0.04289 0.09831 0.0323 0.08767 0.01494 0.06847 C 0.01164 0.06477 0.00903 0.05991 0.00556 0.05621 C -0.00105 0.04904 -0.00815 0.04279 -0.01493 0.03608 C -0.0177 0.03331 -0.03159 0.02567 -0.03454 0.02382 C -0.0493 0.01457 -0.06268 0.00508 -0.07847 -0.00116 C -0.0809 -0.0007 -0.08367 -0.00139 -0.08593 4.71663E-6 C -0.09114 0.00323 -0.0927 0.02729 -0.0934 0.03377 C -0.0927 0.04695 -0.08732 0.07888 -0.09062 0.09345 C -0.09097 0.09507 -0.09322 0.09414 -0.09444 0.09461 C -0.09774 0.09183 -0.09826 0.08882 -0.1019 0.0872 C -0.10816 0.07448 -0.11042 0.06199 -0.11303 0.04742 C -0.11268 0.04233 -0.11216 0.03238 -0.11216 0.03238 " pathEditMode="relative" ptsTypes="ffffffffffffffffffffA">
                                      <p:cBhvr>
                                        <p:cTn id="21" dur="2000" fill="hold"/>
                                        <p:tgtEl>
                                          <p:spTgt spid="142348"/>
                                        </p:tgtEl>
                                        <p:attrNameLst>
                                          <p:attrName>ppt_x</p:attrName>
                                          <p:attrName>ppt_y</p:attrName>
                                        </p:attrNameLst>
                                      </p:cBhvr>
                                    </p:animMotion>
                                  </p:childTnLst>
                                </p:cTn>
                              </p:par>
                              <p:par>
                                <p:cTn id="22" presetID="0" presetClass="path" presetSubtype="0" fill="hold" grpId="0" nodeType="withEffect">
                                  <p:stCondLst>
                                    <p:cond delay="0"/>
                                  </p:stCondLst>
                                  <p:childTnLst>
                                    <p:animMotion origin="layout" path="M 6.38889E-6 3.39579E-6 C -0.02604 -0.00926 -0.05104 -0.0192 -0.0776 -0.02753 C -0.08437 -0.02961 -0.09131 -0.03146 -0.09808 -0.03355 C -0.10295 -0.03493 -0.11215 -0.03979 -0.11215 -0.03979 C -0.1118 -0.04396 -0.1118 -0.04812 -0.11111 -0.05228 C -0.10989 -0.05945 -0.10277 -0.06524 -0.09895 -0.06986 C -0.08888 -0.08212 -0.07933 -0.08768 -0.06631 -0.09091 C -0.04236 -0.08814 -0.01909 -0.08143 0.00469 -0.07727 C 0.02362 -0.07796 0.04046 -0.07773 0.05799 -0.08721 C 0.05817 -0.08791 0.06164 -0.09647 0.06164 -0.09716 C 0.06094 -0.10433 0.0474 -0.10896 0.04393 -0.11081 C 0.03108 -0.11798 0.01789 -0.12237 0.00469 -0.12839 C 0.00035 -0.13024 -0.00329 -0.1344 -0.00746 -0.13695 C -0.01041 -0.14204 -0.01232 -0.14736 -0.01579 -0.15198 C -0.02117 -0.17072 0.00226 -0.18807 0.01216 -0.19547 C 0.01563 -0.19825 0.02813 -0.20287 0.02813 -0.21051 " pathEditMode="relative" ptsTypes="fffffffffffffffA">
                                      <p:cBhvr>
                                        <p:cTn id="23" dur="2000" fill="hold"/>
                                        <p:tgtEl>
                                          <p:spTgt spid="142353"/>
                                        </p:tgtEl>
                                        <p:attrNameLst>
                                          <p:attrName>ppt_x</p:attrName>
                                          <p:attrName>ppt_y</p:attrName>
                                        </p:attrNameLst>
                                      </p:cBhvr>
                                    </p:animMotion>
                                  </p:childTnLst>
                                </p:cTn>
                              </p:par>
                              <p:par>
                                <p:cTn id="24" presetID="0" presetClass="path" presetSubtype="0" fill="hold" grpId="0" nodeType="withEffect">
                                  <p:stCondLst>
                                    <p:cond delay="0"/>
                                  </p:stCondLst>
                                  <p:childTnLst>
                                    <p:animMotion origin="layout" path="M 5E-6 -2.07495E-6 C -0.02014 -0.01041 -0.05069 -0.02012 -0.06182 -0.04858 C -0.06319 -0.06084 -0.06199 -0.0694 -0.0533 -0.07472 C -0.03177 -0.07379 -0.01268 -0.0687 0.00834 -0.06616 C 0.01737 -0.06384 0.01616 -0.05875 0.02327 -0.05112 C 0.03265 -0.04094 0.04029 -0.04094 0.05227 -0.04002 C 0.06355 -0.04187 0.07379 -0.04441 0.08404 -0.05112 C 0.0948 -0.07101 0.08109 -0.08813 0.07657 -0.10594 C 0.07727 -0.11728 0.0757 -0.12352 0.08404 -0.12699 C 0.10314 -0.12561 0.12102 -0.11774 0.13925 -0.10965 C 0.14359 -0.1034 0.14498 -0.10039 0.14758 -0.0923 C 0.15018 -0.05228 0.13595 -0.03863 0.1205 -0.00879 C 0.11859 -0.00069 0.11685 0.00787 0.12327 0.01365 C 0.1389 0.01157 0.12588 0.01504 0.13647 0.00856 C 0.14498 0.00347 0.15487 0.00208 0.16355 -0.00254 C 0.16407 -0.0037 0.16425 -0.00578 0.16529 -0.00624 C 0.16633 -0.00694 0.17102 -0.00416 0.17102 -0.00254 " pathEditMode="relative" ptsTypes="ffffffffffffffffA">
                                      <p:cBhvr>
                                        <p:cTn id="25" dur="2000" fill="hold"/>
                                        <p:tgtEl>
                                          <p:spTgt spid="142359"/>
                                        </p:tgtEl>
                                        <p:attrNameLst>
                                          <p:attrName>ppt_x</p:attrName>
                                          <p:attrName>ppt_y</p:attrName>
                                        </p:attrNameLst>
                                      </p:cBhvr>
                                    </p:animMotion>
                                  </p:childTnLst>
                                </p:cTn>
                              </p:par>
                              <p:par>
                                <p:cTn id="26" presetID="0" presetClass="path" presetSubtype="0" fill="hold" grpId="0" nodeType="withEffect">
                                  <p:stCondLst>
                                    <p:cond delay="0"/>
                                  </p:stCondLst>
                                  <p:childTnLst>
                                    <p:animMotion origin="layout" path="M 3.05556E-6 1.32084E-6 C -0.02084 -0.01735 -0.01493 -0.0081 -0.0224 -0.02105 C -0.02327 -0.02452 -0.02535 -0.02753 -0.02518 -0.031 C -0.02466 -0.03771 -0.02327 -0.04465 -0.02136 -0.05089 C -0.02049 -0.05344 -0.0132 -0.05783 -0.01216 -0.05853 C -0.00313 -0.06385 0.00607 -0.06801 0.01597 -0.06963 C 0.02534 -0.06893 0.02916 -0.07079 0.03646 -0.06477 C 0.04062 -0.0613 0.04861 -0.05344 0.04861 -0.05344 C 0.05451 -0.04095 0.05972 -0.02869 0.06354 -0.01481 C 0.06684 -0.00278 0.06771 0.01041 0.07291 0.02128 C 0.08229 0.04071 0.09705 0.04834 0.11215 0.05621 C 0.13055 0.05482 0.14913 0.05528 0.16736 0.05228 C 0.17795 0.05066 0.19826 0.04233 0.19826 0.04233 C 0.21059 0.03123 0.21666 0.02406 0.22257 0.00624 C 0.22187 1.32084E-6 0.22187 -0.00648 0.22066 -0.01249 C 0.21892 -0.02059 0.21198 -0.03748 0.2085 -0.04488 C 0.20712 -0.04765 0.19982 -0.05459 0.19913 -0.05482 C 0.1967 -0.05552 0.19166 -0.05714 0.19166 -0.05714 C 0.16319 -0.04904 0.13646 -0.02707 0.11128 -0.0074 C 0.09062 0.00856 0.05521 0.0148 0.03177 0.01619 C 0.0118 0.01527 0.0033 0.0148 -0.01389 0.00763 C -0.0257 -0.00208 -0.03525 -0.00925 -0.04393 -0.0236 C -0.04653 -0.03285 -0.05 -0.04095 -0.05313 -0.04974 C -0.05417 -0.06315 -0.05382 -0.07148 -0.04948 -0.08328 " pathEditMode="relative" ptsTypes="fffffffffffffffffffffffA">
                                      <p:cBhvr>
                                        <p:cTn id="27" dur="2000" fill="hold"/>
                                        <p:tgtEl>
                                          <p:spTgt spid="142341"/>
                                        </p:tgtEl>
                                        <p:attrNameLst>
                                          <p:attrName>ppt_x</p:attrName>
                                          <p:attrName>ppt_y</p:attrName>
                                        </p:attrNameLst>
                                      </p:cBhvr>
                                    </p:animMotion>
                                  </p:childTnLst>
                                </p:cTn>
                              </p:par>
                              <p:par>
                                <p:cTn id="28" presetID="0" presetClass="path" presetSubtype="0" fill="hold" grpId="0" nodeType="withEffect">
                                  <p:stCondLst>
                                    <p:cond delay="0"/>
                                  </p:stCondLst>
                                  <p:childTnLst>
                                    <p:animMotion origin="layout" path="M 2.5E-6 4.71663E-6 C 0.00938 -0.00556 0.01372 -0.0125 0.02153 -0.02105 C 0.03872 -0.03956 0.05347 -0.05275 0.0757 -0.05483 C 0.09375 -0.05113 0.08438 -0.05437 0.10469 -0.04234 C 0.10747 -0.04072 0.11302 -0.03725 0.11302 -0.03725 C 0.12118 -0.02638 0.12153 -0.02406 0.1224 -0.00741 C 0.12274 0.0037 0.12292 0.01503 0.12327 0.02613 C 0.12361 0.03562 0.12309 0.04533 0.12431 0.05482 C 0.12639 0.06985 0.14618 0.0717 0.15417 0.07356 C 0.18004 0.07217 0.2033 0.07032 0.2224 0.04487 C 0.2342 -0.00116 0.20625 -0.02267 0.17761 -0.03609 C 0.16667 -0.04118 0.17309 -0.03933 0.15972 -0.04234 C 0.15191 -0.04396 0.13646 -0.04719 0.13646 -0.04719 C 0.12448 -0.04557 0.11424 -0.04511 0.10365 -0.03725 C 0.08802 -0.02545 0.08177 0.00439 0.07847 0.02613 C 0.07813 0.0303 0.07813 0.03446 0.07761 0.03863 C 0.07726 0.0421 0.07604 0.0451 0.0757 0.04857 C 0.07309 0.07934 0.07535 0.10594 0.05052 0.11843 C 0.04653 0.11797 0.04236 0.11751 0.03837 0.11704 C 0.03455 0.11658 0.0309 0.11658 0.02708 0.11589 C 0.01858 0.1145 0.01094 0.10663 0.00469 0.09969 C 0.00295 0.09761 -0.00035 0.09576 -0.00104 0.09229 C -0.00139 0.09021 -0.00104 0.08813 -0.00104 0.08605 " pathEditMode="relative" ptsTypes="ffffffffffffffffffffffA">
                                      <p:cBhvr>
                                        <p:cTn id="29" dur="2000" fill="hold"/>
                                        <p:tgtEl>
                                          <p:spTgt spid="142347"/>
                                        </p:tgtEl>
                                        <p:attrNameLst>
                                          <p:attrName>ppt_x</p:attrName>
                                          <p:attrName>ppt_y</p:attrName>
                                        </p:attrNameLst>
                                      </p:cBhvr>
                                    </p:animMotion>
                                  </p:childTnLst>
                                </p:cTn>
                              </p:par>
                              <p:par>
                                <p:cTn id="30" presetID="0" presetClass="path" presetSubtype="0" fill="hold" grpId="0" nodeType="withEffect">
                                  <p:stCondLst>
                                    <p:cond delay="0"/>
                                  </p:stCondLst>
                                  <p:childTnLst>
                                    <p:animMotion origin="layout" path="M 3.05556E-6 1.32084E-6 C -0.01216 -0.0081 -0.02518 -0.01411 -0.03733 -0.02221 C -0.04219 -0.03216 -0.03854 -0.04303 -0.03455 -0.05228 C -0.02657 -0.07125 -0.0158 -0.07958 3.05556E-6 -0.08212 C 0.01423 -0.07449 0.02378 -0.05968 0.03646 -0.04835 C 0.05642 -0.03054 0.07343 -0.02383 0.09722 -0.0199 C 0.12587 -0.02082 0.13316 -0.02128 0.15607 -0.02845 C 0.16406 -0.03424 0.171 -0.04002 0.1776 -0.04835 C 0.18073 -0.05991 0.1743 -0.07194 0.16736 -0.07842 C 0.15416 -0.09068 0.13975 -0.10317 0.12343 -0.10572 C 0.10278 -0.11428 0.09201 -0.11127 0.06823 -0.10942 C 0.05677 -0.1041 0.0526 -0.09693 0.04687 -0.08328 C 0.04305 -0.07403 0.03889 -0.06685 0.03646 -0.05714 C 0.03333 -0.04418 0.0309 -0.03123 0.02708 -0.01851 C 0.02552 -0.00255 0.02222 0.01365 0.01597 0.02752 C 0.01458 0.03793 0.01146 0.04603 0.00573 0.05366 C 0.00139 0.06777 -0.00591 0.07587 -0.01684 0.07865 C -0.01875 0.08281 -0.02153 0.08767 -0.02431 0.09091 " pathEditMode="relative" ptsTypes="fffffffffffffffffA">
                                      <p:cBhvr>
                                        <p:cTn id="31" dur="2000" fill="hold"/>
                                        <p:tgtEl>
                                          <p:spTgt spid="142352"/>
                                        </p:tgtEl>
                                        <p:attrNameLst>
                                          <p:attrName>ppt_x</p:attrName>
                                          <p:attrName>ppt_y</p:attrName>
                                        </p:attrNameLst>
                                      </p:cBhvr>
                                    </p:animMotion>
                                  </p:childTnLst>
                                </p:cTn>
                              </p:par>
                              <p:par>
                                <p:cTn id="32" presetID="0" presetClass="path" presetSubtype="0" fill="hold" grpId="0" nodeType="withEffect">
                                  <p:stCondLst>
                                    <p:cond delay="0"/>
                                  </p:stCondLst>
                                  <p:childTnLst>
                                    <p:animMotion origin="layout" path="M 2.77778E-6 1.12885E-6 C -0.00278 -0.00139 -0.00816 -0.00417 -0.01042 -0.00625 C -0.01493 -0.01018 -0.01649 -0.02013 -0.01875 -0.02614 C -0.02014 -0.05413 -0.01701 -0.0805 0.00556 -0.08837 C 0.01059 -0.0879 0.01563 -0.08883 0.02049 -0.08721 C 0.02309 -0.08628 0.02465 -0.08282 0.02708 -0.08096 C 0.04358 -0.0687 0.05799 -0.05483 0.07274 -0.03863 C 0.08559 -0.02452 0.10452 -0.01943 0.12049 -0.01758 C 0.14618 -0.0192 0.17274 -0.02915 0.18785 -0.05853 C 0.18837 -0.06223 0.18958 -0.07032 0.18958 -0.07356 C 0.18958 -0.08189 0.18281 -0.09091 0.17847 -0.096 C 0.16649 -0.11011 0.15799 -0.11705 0.14288 -0.12468 C 0.13195 -0.13024 0.11667 -0.13579 0.11111 -0.15082 C 0.11059 -0.15429 0.1092 -0.1573 0.1092 -0.16077 C 0.1092 -0.17997 0.13281 -0.17766 0.14288 -0.17928 C 0.14861 -0.17858 0.16372 -0.1802 0.16997 -0.17187 C 0.1783 -0.16077 0.18872 -0.14319 0.20174 -0.14319 " pathEditMode="relative" ptsTypes="ffffffffffffffffA">
                                      <p:cBhvr>
                                        <p:cTn id="33" dur="2000" fill="hold"/>
                                        <p:tgtEl>
                                          <p:spTgt spid="14235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p:bldP spid="142341" grpId="0" animBg="1"/>
      <p:bldP spid="142342" grpId="0" animBg="1"/>
      <p:bldP spid="142343" grpId="0" animBg="1"/>
      <p:bldP spid="142347" grpId="0" animBg="1"/>
      <p:bldP spid="142348" grpId="0" animBg="1"/>
      <p:bldP spid="142349" grpId="0" animBg="1"/>
      <p:bldP spid="142352" grpId="0" animBg="1"/>
      <p:bldP spid="142353" grpId="0" animBg="1"/>
      <p:bldP spid="142354" grpId="0" animBg="1"/>
      <p:bldP spid="142358" grpId="0" animBg="1"/>
      <p:bldP spid="142359" grpId="0" animBg="1"/>
      <p:bldP spid="14236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Date Placeholder 3"/>
          <p:cNvSpPr>
            <a:spLocks noGrp="1"/>
          </p:cNvSpPr>
          <p:nvPr>
            <p:ph type="dt" sz="half" idx="10"/>
          </p:nvPr>
        </p:nvSpPr>
        <p:spPr/>
        <p:txBody>
          <a:bodyPr/>
          <a:lstStyle/>
          <a:p>
            <a:fld id="{7F454597-90FF-48D2-A2CB-AEC8FD52A48E}" type="datetime1">
              <a:rPr lang="en-GB" altLang="en-US"/>
              <a:pPr/>
              <a:t>02/06/2020</a:t>
            </a:fld>
            <a:endParaRPr lang="en-GB" altLang="en-US"/>
          </a:p>
        </p:txBody>
      </p:sp>
      <p:grpSp>
        <p:nvGrpSpPr>
          <p:cNvPr id="90216" name="Group 104"/>
          <p:cNvGrpSpPr>
            <a:grpSpLocks/>
          </p:cNvGrpSpPr>
          <p:nvPr/>
        </p:nvGrpSpPr>
        <p:grpSpPr bwMode="auto">
          <a:xfrm>
            <a:off x="6835775" y="765175"/>
            <a:ext cx="2273300" cy="2376488"/>
            <a:chOff x="4392" y="663"/>
            <a:chExt cx="1210" cy="1265"/>
          </a:xfrm>
        </p:grpSpPr>
        <p:sp>
          <p:nvSpPr>
            <p:cNvPr id="90217" name="Rectangle 105"/>
            <p:cNvSpPr>
              <a:spLocks noChangeArrowheads="1"/>
            </p:cNvSpPr>
            <p:nvPr/>
          </p:nvSpPr>
          <p:spPr bwMode="auto">
            <a:xfrm>
              <a:off x="4392" y="663"/>
              <a:ext cx="1210" cy="126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218" name="Oval 106"/>
            <p:cNvSpPr>
              <a:spLocks noChangeArrowheads="1"/>
            </p:cNvSpPr>
            <p:nvPr/>
          </p:nvSpPr>
          <p:spPr bwMode="auto">
            <a:xfrm>
              <a:off x="4422" y="1634"/>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19" name="Oval 107"/>
            <p:cNvSpPr>
              <a:spLocks noChangeArrowheads="1"/>
            </p:cNvSpPr>
            <p:nvPr/>
          </p:nvSpPr>
          <p:spPr bwMode="auto">
            <a:xfrm>
              <a:off x="4628" y="1604"/>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220" name="Oval 108"/>
            <p:cNvSpPr>
              <a:spLocks noChangeArrowheads="1"/>
            </p:cNvSpPr>
            <p:nvPr/>
          </p:nvSpPr>
          <p:spPr bwMode="auto">
            <a:xfrm>
              <a:off x="4649" y="1634"/>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21" name="Oval 109"/>
            <p:cNvSpPr>
              <a:spLocks noChangeArrowheads="1"/>
            </p:cNvSpPr>
            <p:nvPr/>
          </p:nvSpPr>
          <p:spPr bwMode="auto">
            <a:xfrm>
              <a:off x="4876" y="1634"/>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22" name="Oval 110"/>
            <p:cNvSpPr>
              <a:spLocks noChangeArrowheads="1"/>
            </p:cNvSpPr>
            <p:nvPr/>
          </p:nvSpPr>
          <p:spPr bwMode="auto">
            <a:xfrm>
              <a:off x="5103" y="1634"/>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23" name="Oval 111"/>
            <p:cNvSpPr>
              <a:spLocks noChangeArrowheads="1"/>
            </p:cNvSpPr>
            <p:nvPr/>
          </p:nvSpPr>
          <p:spPr bwMode="auto">
            <a:xfrm>
              <a:off x="5329" y="1634"/>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24" name="Oval 112"/>
            <p:cNvSpPr>
              <a:spLocks noChangeArrowheads="1"/>
            </p:cNvSpPr>
            <p:nvPr/>
          </p:nvSpPr>
          <p:spPr bwMode="auto">
            <a:xfrm>
              <a:off x="4422" y="1389"/>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25" name="Oval 113"/>
            <p:cNvSpPr>
              <a:spLocks noChangeArrowheads="1"/>
            </p:cNvSpPr>
            <p:nvPr/>
          </p:nvSpPr>
          <p:spPr bwMode="auto">
            <a:xfrm>
              <a:off x="4649" y="1389"/>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26" name="Oval 114"/>
            <p:cNvSpPr>
              <a:spLocks noChangeArrowheads="1"/>
            </p:cNvSpPr>
            <p:nvPr/>
          </p:nvSpPr>
          <p:spPr bwMode="auto">
            <a:xfrm>
              <a:off x="4876" y="1389"/>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27" name="Oval 115"/>
            <p:cNvSpPr>
              <a:spLocks noChangeArrowheads="1"/>
            </p:cNvSpPr>
            <p:nvPr/>
          </p:nvSpPr>
          <p:spPr bwMode="auto">
            <a:xfrm>
              <a:off x="5103" y="1389"/>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28" name="Oval 116"/>
            <p:cNvSpPr>
              <a:spLocks noChangeArrowheads="1"/>
            </p:cNvSpPr>
            <p:nvPr/>
          </p:nvSpPr>
          <p:spPr bwMode="auto">
            <a:xfrm>
              <a:off x="5329" y="1389"/>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29" name="Oval 117"/>
            <p:cNvSpPr>
              <a:spLocks noChangeArrowheads="1"/>
            </p:cNvSpPr>
            <p:nvPr/>
          </p:nvSpPr>
          <p:spPr bwMode="auto">
            <a:xfrm>
              <a:off x="4422" y="1162"/>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30" name="Oval 118"/>
            <p:cNvSpPr>
              <a:spLocks noChangeArrowheads="1"/>
            </p:cNvSpPr>
            <p:nvPr/>
          </p:nvSpPr>
          <p:spPr bwMode="auto">
            <a:xfrm>
              <a:off x="4649" y="1162"/>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31" name="Oval 119"/>
            <p:cNvSpPr>
              <a:spLocks noChangeArrowheads="1"/>
            </p:cNvSpPr>
            <p:nvPr/>
          </p:nvSpPr>
          <p:spPr bwMode="auto">
            <a:xfrm>
              <a:off x="4876" y="1162"/>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32" name="Oval 120"/>
            <p:cNvSpPr>
              <a:spLocks noChangeArrowheads="1"/>
            </p:cNvSpPr>
            <p:nvPr/>
          </p:nvSpPr>
          <p:spPr bwMode="auto">
            <a:xfrm>
              <a:off x="5103" y="1162"/>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33" name="Oval 121"/>
            <p:cNvSpPr>
              <a:spLocks noChangeArrowheads="1"/>
            </p:cNvSpPr>
            <p:nvPr/>
          </p:nvSpPr>
          <p:spPr bwMode="auto">
            <a:xfrm>
              <a:off x="5329" y="1162"/>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34" name="Oval 122"/>
            <p:cNvSpPr>
              <a:spLocks noChangeArrowheads="1"/>
            </p:cNvSpPr>
            <p:nvPr/>
          </p:nvSpPr>
          <p:spPr bwMode="auto">
            <a:xfrm>
              <a:off x="4422" y="935"/>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35" name="Oval 123"/>
            <p:cNvSpPr>
              <a:spLocks noChangeArrowheads="1"/>
            </p:cNvSpPr>
            <p:nvPr/>
          </p:nvSpPr>
          <p:spPr bwMode="auto">
            <a:xfrm>
              <a:off x="4649" y="935"/>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36" name="Oval 124"/>
            <p:cNvSpPr>
              <a:spLocks noChangeArrowheads="1"/>
            </p:cNvSpPr>
            <p:nvPr/>
          </p:nvSpPr>
          <p:spPr bwMode="auto">
            <a:xfrm>
              <a:off x="4876" y="935"/>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37" name="Oval 125"/>
            <p:cNvSpPr>
              <a:spLocks noChangeArrowheads="1"/>
            </p:cNvSpPr>
            <p:nvPr/>
          </p:nvSpPr>
          <p:spPr bwMode="auto">
            <a:xfrm>
              <a:off x="5103" y="935"/>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38" name="Oval 126"/>
            <p:cNvSpPr>
              <a:spLocks noChangeArrowheads="1"/>
            </p:cNvSpPr>
            <p:nvPr/>
          </p:nvSpPr>
          <p:spPr bwMode="auto">
            <a:xfrm>
              <a:off x="5329" y="935"/>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39" name="Oval 127"/>
            <p:cNvSpPr>
              <a:spLocks noChangeArrowheads="1"/>
            </p:cNvSpPr>
            <p:nvPr/>
          </p:nvSpPr>
          <p:spPr bwMode="auto">
            <a:xfrm>
              <a:off x="4422" y="709"/>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40" name="Oval 128"/>
            <p:cNvSpPr>
              <a:spLocks noChangeArrowheads="1"/>
            </p:cNvSpPr>
            <p:nvPr/>
          </p:nvSpPr>
          <p:spPr bwMode="auto">
            <a:xfrm>
              <a:off x="4649" y="709"/>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41" name="Oval 129"/>
            <p:cNvSpPr>
              <a:spLocks noChangeArrowheads="1"/>
            </p:cNvSpPr>
            <p:nvPr/>
          </p:nvSpPr>
          <p:spPr bwMode="auto">
            <a:xfrm>
              <a:off x="4876" y="709"/>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42" name="Oval 130"/>
            <p:cNvSpPr>
              <a:spLocks noChangeArrowheads="1"/>
            </p:cNvSpPr>
            <p:nvPr/>
          </p:nvSpPr>
          <p:spPr bwMode="auto">
            <a:xfrm>
              <a:off x="5103" y="709"/>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43" name="Oval 131"/>
            <p:cNvSpPr>
              <a:spLocks noChangeArrowheads="1"/>
            </p:cNvSpPr>
            <p:nvPr/>
          </p:nvSpPr>
          <p:spPr bwMode="auto">
            <a:xfrm>
              <a:off x="5329" y="709"/>
              <a:ext cx="237" cy="241"/>
            </a:xfrm>
            <a:prstGeom prst="ellipse">
              <a:avLst/>
            </a:prstGeom>
            <a:gradFill rotWithShape="0">
              <a:gsLst>
                <a:gs pos="0">
                  <a:srgbClr val="FF0000"/>
                </a:gs>
                <a:gs pos="100000">
                  <a:srgbClr val="FF0000">
                    <a:gamma/>
                    <a:shade val="36078"/>
                    <a:invGamma/>
                  </a:srgbClr>
                </a:gs>
              </a:gsLst>
              <a:path path="rect">
                <a:fillToRect r="100000" b="10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a:t>+</a:t>
              </a:r>
            </a:p>
          </p:txBody>
        </p:sp>
        <p:sp>
          <p:nvSpPr>
            <p:cNvPr id="90244" name="Oval 132"/>
            <p:cNvSpPr>
              <a:spLocks noChangeArrowheads="1"/>
            </p:cNvSpPr>
            <p:nvPr/>
          </p:nvSpPr>
          <p:spPr bwMode="auto">
            <a:xfrm>
              <a:off x="4859" y="1604"/>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245" name="Oval 133"/>
            <p:cNvSpPr>
              <a:spLocks noChangeArrowheads="1"/>
            </p:cNvSpPr>
            <p:nvPr/>
          </p:nvSpPr>
          <p:spPr bwMode="auto">
            <a:xfrm>
              <a:off x="5078" y="1604"/>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246" name="Oval 134"/>
            <p:cNvSpPr>
              <a:spLocks noChangeArrowheads="1"/>
            </p:cNvSpPr>
            <p:nvPr/>
          </p:nvSpPr>
          <p:spPr bwMode="auto">
            <a:xfrm>
              <a:off x="5303" y="1604"/>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247" name="Oval 135"/>
            <p:cNvSpPr>
              <a:spLocks noChangeArrowheads="1"/>
            </p:cNvSpPr>
            <p:nvPr/>
          </p:nvSpPr>
          <p:spPr bwMode="auto">
            <a:xfrm>
              <a:off x="4628" y="1373"/>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248" name="Oval 136"/>
            <p:cNvSpPr>
              <a:spLocks noChangeArrowheads="1"/>
            </p:cNvSpPr>
            <p:nvPr/>
          </p:nvSpPr>
          <p:spPr bwMode="auto">
            <a:xfrm>
              <a:off x="4859" y="1373"/>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249" name="Oval 137"/>
            <p:cNvSpPr>
              <a:spLocks noChangeArrowheads="1"/>
            </p:cNvSpPr>
            <p:nvPr/>
          </p:nvSpPr>
          <p:spPr bwMode="auto">
            <a:xfrm>
              <a:off x="5078" y="1373"/>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250" name="Oval 138"/>
            <p:cNvSpPr>
              <a:spLocks noChangeArrowheads="1"/>
            </p:cNvSpPr>
            <p:nvPr/>
          </p:nvSpPr>
          <p:spPr bwMode="auto">
            <a:xfrm>
              <a:off x="5303" y="1373"/>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251" name="Oval 139"/>
            <p:cNvSpPr>
              <a:spLocks noChangeArrowheads="1"/>
            </p:cNvSpPr>
            <p:nvPr/>
          </p:nvSpPr>
          <p:spPr bwMode="auto">
            <a:xfrm>
              <a:off x="4628" y="1142"/>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252" name="Oval 140"/>
            <p:cNvSpPr>
              <a:spLocks noChangeArrowheads="1"/>
            </p:cNvSpPr>
            <p:nvPr/>
          </p:nvSpPr>
          <p:spPr bwMode="auto">
            <a:xfrm>
              <a:off x="4859" y="1142"/>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253" name="Oval 141"/>
            <p:cNvSpPr>
              <a:spLocks noChangeArrowheads="1"/>
            </p:cNvSpPr>
            <p:nvPr/>
          </p:nvSpPr>
          <p:spPr bwMode="auto">
            <a:xfrm>
              <a:off x="5078" y="1142"/>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254" name="Oval 142"/>
            <p:cNvSpPr>
              <a:spLocks noChangeArrowheads="1"/>
            </p:cNvSpPr>
            <p:nvPr/>
          </p:nvSpPr>
          <p:spPr bwMode="auto">
            <a:xfrm>
              <a:off x="5303" y="1142"/>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255" name="Oval 143"/>
            <p:cNvSpPr>
              <a:spLocks noChangeArrowheads="1"/>
            </p:cNvSpPr>
            <p:nvPr/>
          </p:nvSpPr>
          <p:spPr bwMode="auto">
            <a:xfrm>
              <a:off x="4628" y="920"/>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256" name="Oval 144"/>
            <p:cNvSpPr>
              <a:spLocks noChangeArrowheads="1"/>
            </p:cNvSpPr>
            <p:nvPr/>
          </p:nvSpPr>
          <p:spPr bwMode="auto">
            <a:xfrm>
              <a:off x="4859" y="920"/>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257" name="Oval 145"/>
            <p:cNvSpPr>
              <a:spLocks noChangeArrowheads="1"/>
            </p:cNvSpPr>
            <p:nvPr/>
          </p:nvSpPr>
          <p:spPr bwMode="auto">
            <a:xfrm>
              <a:off x="5078" y="920"/>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258" name="Oval 146"/>
            <p:cNvSpPr>
              <a:spLocks noChangeArrowheads="1"/>
            </p:cNvSpPr>
            <p:nvPr/>
          </p:nvSpPr>
          <p:spPr bwMode="auto">
            <a:xfrm>
              <a:off x="5303" y="920"/>
              <a:ext cx="56" cy="56"/>
            </a:xfrm>
            <a:prstGeom prst="ellipse">
              <a:avLst/>
            </a:prstGeom>
            <a:solidFill>
              <a:srgbClr val="99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90114" name="Rectangle 2"/>
          <p:cNvSpPr>
            <a:spLocks noGrp="1" noChangeArrowheads="1"/>
          </p:cNvSpPr>
          <p:nvPr>
            <p:ph type="title"/>
          </p:nvPr>
        </p:nvSpPr>
        <p:spPr/>
        <p:txBody>
          <a:bodyPr/>
          <a:lstStyle/>
          <a:p>
            <a:r>
              <a:rPr lang="cy-GB" altLang="en-US"/>
              <a:t>A closer look at metals</a:t>
            </a:r>
            <a:endParaRPr lang="en-US" altLang="en-US"/>
          </a:p>
        </p:txBody>
      </p:sp>
      <p:grpSp>
        <p:nvGrpSpPr>
          <p:cNvPr id="90183" name="Group 71"/>
          <p:cNvGrpSpPr>
            <a:grpSpLocks/>
          </p:cNvGrpSpPr>
          <p:nvPr/>
        </p:nvGrpSpPr>
        <p:grpSpPr bwMode="auto">
          <a:xfrm>
            <a:off x="250825" y="3573463"/>
            <a:ext cx="3455988" cy="3167062"/>
            <a:chOff x="158" y="2251"/>
            <a:chExt cx="2177" cy="1995"/>
          </a:xfrm>
        </p:grpSpPr>
        <p:sp>
          <p:nvSpPr>
            <p:cNvPr id="90150" name="Oval 38"/>
            <p:cNvSpPr>
              <a:spLocks noChangeArrowheads="1"/>
            </p:cNvSpPr>
            <p:nvPr/>
          </p:nvSpPr>
          <p:spPr bwMode="auto">
            <a:xfrm>
              <a:off x="339" y="2432"/>
              <a:ext cx="362" cy="362"/>
            </a:xfrm>
            <a:prstGeom prst="ellipse">
              <a:avLst/>
            </a:prstGeom>
            <a:noFill/>
            <a:ln w="25400">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a:t>+</a:t>
              </a:r>
              <a:endParaRPr lang="en-US" altLang="en-US"/>
            </a:p>
          </p:txBody>
        </p:sp>
        <p:sp>
          <p:nvSpPr>
            <p:cNvPr id="90151" name="Oval 39"/>
            <p:cNvSpPr>
              <a:spLocks noChangeArrowheads="1"/>
            </p:cNvSpPr>
            <p:nvPr/>
          </p:nvSpPr>
          <p:spPr bwMode="auto">
            <a:xfrm>
              <a:off x="158" y="2251"/>
              <a:ext cx="725" cy="725"/>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153" name="Oval 41"/>
            <p:cNvSpPr>
              <a:spLocks noChangeArrowheads="1"/>
            </p:cNvSpPr>
            <p:nvPr/>
          </p:nvSpPr>
          <p:spPr bwMode="auto">
            <a:xfrm>
              <a:off x="611" y="2341"/>
              <a:ext cx="91" cy="91"/>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sz="1800"/>
                <a:t>-</a:t>
              </a:r>
              <a:endParaRPr lang="en-US" altLang="en-US" sz="1800"/>
            </a:p>
          </p:txBody>
        </p:sp>
        <p:sp>
          <p:nvSpPr>
            <p:cNvPr id="90156" name="Oval 44"/>
            <p:cNvSpPr>
              <a:spLocks noChangeArrowheads="1"/>
            </p:cNvSpPr>
            <p:nvPr/>
          </p:nvSpPr>
          <p:spPr bwMode="auto">
            <a:xfrm>
              <a:off x="1065" y="2432"/>
              <a:ext cx="362" cy="362"/>
            </a:xfrm>
            <a:prstGeom prst="ellipse">
              <a:avLst/>
            </a:prstGeom>
            <a:noFill/>
            <a:ln w="25400">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a:t>+</a:t>
              </a:r>
              <a:endParaRPr lang="en-US" altLang="en-US"/>
            </a:p>
          </p:txBody>
        </p:sp>
        <p:sp>
          <p:nvSpPr>
            <p:cNvPr id="90157" name="Oval 45"/>
            <p:cNvSpPr>
              <a:spLocks noChangeArrowheads="1"/>
            </p:cNvSpPr>
            <p:nvPr/>
          </p:nvSpPr>
          <p:spPr bwMode="auto">
            <a:xfrm>
              <a:off x="884" y="2251"/>
              <a:ext cx="725" cy="725"/>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158" name="Oval 46"/>
            <p:cNvSpPr>
              <a:spLocks noChangeArrowheads="1"/>
            </p:cNvSpPr>
            <p:nvPr/>
          </p:nvSpPr>
          <p:spPr bwMode="auto">
            <a:xfrm>
              <a:off x="975" y="2750"/>
              <a:ext cx="91" cy="91"/>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sz="1800"/>
                <a:t>-</a:t>
              </a:r>
              <a:endParaRPr lang="en-US" altLang="en-US" sz="1800"/>
            </a:p>
          </p:txBody>
        </p:sp>
        <p:sp>
          <p:nvSpPr>
            <p:cNvPr id="90160" name="Oval 48"/>
            <p:cNvSpPr>
              <a:spLocks noChangeArrowheads="1"/>
            </p:cNvSpPr>
            <p:nvPr/>
          </p:nvSpPr>
          <p:spPr bwMode="auto">
            <a:xfrm>
              <a:off x="1791" y="2432"/>
              <a:ext cx="362" cy="362"/>
            </a:xfrm>
            <a:prstGeom prst="ellipse">
              <a:avLst/>
            </a:prstGeom>
            <a:noFill/>
            <a:ln w="25400">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a:t>+</a:t>
              </a:r>
              <a:endParaRPr lang="en-US" altLang="en-US"/>
            </a:p>
          </p:txBody>
        </p:sp>
        <p:sp>
          <p:nvSpPr>
            <p:cNvPr id="90161" name="Oval 49"/>
            <p:cNvSpPr>
              <a:spLocks noChangeArrowheads="1"/>
            </p:cNvSpPr>
            <p:nvPr/>
          </p:nvSpPr>
          <p:spPr bwMode="auto">
            <a:xfrm>
              <a:off x="1610" y="2251"/>
              <a:ext cx="725" cy="725"/>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162" name="Oval 50"/>
            <p:cNvSpPr>
              <a:spLocks noChangeArrowheads="1"/>
            </p:cNvSpPr>
            <p:nvPr/>
          </p:nvSpPr>
          <p:spPr bwMode="auto">
            <a:xfrm>
              <a:off x="2063" y="2341"/>
              <a:ext cx="91" cy="91"/>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sz="1800"/>
                <a:t>-</a:t>
              </a:r>
              <a:endParaRPr lang="en-US" altLang="en-US" sz="1800"/>
            </a:p>
          </p:txBody>
        </p:sp>
        <p:sp>
          <p:nvSpPr>
            <p:cNvPr id="90164" name="Oval 52"/>
            <p:cNvSpPr>
              <a:spLocks noChangeArrowheads="1"/>
            </p:cNvSpPr>
            <p:nvPr/>
          </p:nvSpPr>
          <p:spPr bwMode="auto">
            <a:xfrm>
              <a:off x="339" y="3702"/>
              <a:ext cx="362" cy="362"/>
            </a:xfrm>
            <a:prstGeom prst="ellipse">
              <a:avLst/>
            </a:prstGeom>
            <a:noFill/>
            <a:ln w="25400">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a:t>+</a:t>
              </a:r>
              <a:endParaRPr lang="en-US" altLang="en-US"/>
            </a:p>
          </p:txBody>
        </p:sp>
        <p:sp>
          <p:nvSpPr>
            <p:cNvPr id="90165" name="Oval 53"/>
            <p:cNvSpPr>
              <a:spLocks noChangeArrowheads="1"/>
            </p:cNvSpPr>
            <p:nvPr/>
          </p:nvSpPr>
          <p:spPr bwMode="auto">
            <a:xfrm>
              <a:off x="158" y="3521"/>
              <a:ext cx="725" cy="725"/>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166" name="Oval 54"/>
            <p:cNvSpPr>
              <a:spLocks noChangeArrowheads="1"/>
            </p:cNvSpPr>
            <p:nvPr/>
          </p:nvSpPr>
          <p:spPr bwMode="auto">
            <a:xfrm>
              <a:off x="204" y="3793"/>
              <a:ext cx="91" cy="91"/>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sz="1800"/>
                <a:t>-</a:t>
              </a:r>
              <a:endParaRPr lang="en-US" altLang="en-US" sz="1800"/>
            </a:p>
          </p:txBody>
        </p:sp>
        <p:sp>
          <p:nvSpPr>
            <p:cNvPr id="90168" name="Oval 56"/>
            <p:cNvSpPr>
              <a:spLocks noChangeArrowheads="1"/>
            </p:cNvSpPr>
            <p:nvPr/>
          </p:nvSpPr>
          <p:spPr bwMode="auto">
            <a:xfrm>
              <a:off x="1065" y="3702"/>
              <a:ext cx="362" cy="362"/>
            </a:xfrm>
            <a:prstGeom prst="ellipse">
              <a:avLst/>
            </a:prstGeom>
            <a:noFill/>
            <a:ln w="25400">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a:t>+</a:t>
              </a:r>
              <a:endParaRPr lang="en-US" altLang="en-US"/>
            </a:p>
          </p:txBody>
        </p:sp>
        <p:sp>
          <p:nvSpPr>
            <p:cNvPr id="90169" name="Oval 57"/>
            <p:cNvSpPr>
              <a:spLocks noChangeArrowheads="1"/>
            </p:cNvSpPr>
            <p:nvPr/>
          </p:nvSpPr>
          <p:spPr bwMode="auto">
            <a:xfrm>
              <a:off x="884" y="3521"/>
              <a:ext cx="725" cy="725"/>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170" name="Oval 58"/>
            <p:cNvSpPr>
              <a:spLocks noChangeArrowheads="1"/>
            </p:cNvSpPr>
            <p:nvPr/>
          </p:nvSpPr>
          <p:spPr bwMode="auto">
            <a:xfrm>
              <a:off x="1429" y="3929"/>
              <a:ext cx="91" cy="91"/>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sz="1800"/>
                <a:t>-</a:t>
              </a:r>
              <a:endParaRPr lang="en-US" altLang="en-US" sz="1800"/>
            </a:p>
          </p:txBody>
        </p:sp>
        <p:sp>
          <p:nvSpPr>
            <p:cNvPr id="90172" name="Oval 60"/>
            <p:cNvSpPr>
              <a:spLocks noChangeArrowheads="1"/>
            </p:cNvSpPr>
            <p:nvPr/>
          </p:nvSpPr>
          <p:spPr bwMode="auto">
            <a:xfrm>
              <a:off x="1791" y="3702"/>
              <a:ext cx="362" cy="362"/>
            </a:xfrm>
            <a:prstGeom prst="ellipse">
              <a:avLst/>
            </a:prstGeom>
            <a:noFill/>
            <a:ln w="25400">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a:t>+</a:t>
              </a:r>
              <a:endParaRPr lang="en-US" altLang="en-US"/>
            </a:p>
          </p:txBody>
        </p:sp>
        <p:sp>
          <p:nvSpPr>
            <p:cNvPr id="90173" name="Oval 61"/>
            <p:cNvSpPr>
              <a:spLocks noChangeArrowheads="1"/>
            </p:cNvSpPr>
            <p:nvPr/>
          </p:nvSpPr>
          <p:spPr bwMode="auto">
            <a:xfrm>
              <a:off x="1610" y="3521"/>
              <a:ext cx="725" cy="725"/>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174" name="Oval 62"/>
            <p:cNvSpPr>
              <a:spLocks noChangeArrowheads="1"/>
            </p:cNvSpPr>
            <p:nvPr/>
          </p:nvSpPr>
          <p:spPr bwMode="auto">
            <a:xfrm>
              <a:off x="1701" y="3702"/>
              <a:ext cx="91" cy="91"/>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sz="1800"/>
                <a:t>-</a:t>
              </a:r>
              <a:endParaRPr lang="en-US" altLang="en-US" sz="1800"/>
            </a:p>
          </p:txBody>
        </p:sp>
        <p:sp>
          <p:nvSpPr>
            <p:cNvPr id="90176" name="Oval 64"/>
            <p:cNvSpPr>
              <a:spLocks noChangeArrowheads="1"/>
            </p:cNvSpPr>
            <p:nvPr/>
          </p:nvSpPr>
          <p:spPr bwMode="auto">
            <a:xfrm>
              <a:off x="702" y="3067"/>
              <a:ext cx="362" cy="362"/>
            </a:xfrm>
            <a:prstGeom prst="ellipse">
              <a:avLst/>
            </a:prstGeom>
            <a:noFill/>
            <a:ln w="25400">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a:t>+</a:t>
              </a:r>
              <a:endParaRPr lang="en-US" altLang="en-US"/>
            </a:p>
          </p:txBody>
        </p:sp>
        <p:sp>
          <p:nvSpPr>
            <p:cNvPr id="90177" name="Oval 65"/>
            <p:cNvSpPr>
              <a:spLocks noChangeArrowheads="1"/>
            </p:cNvSpPr>
            <p:nvPr/>
          </p:nvSpPr>
          <p:spPr bwMode="auto">
            <a:xfrm>
              <a:off x="521" y="2886"/>
              <a:ext cx="725" cy="725"/>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178" name="Oval 66"/>
            <p:cNvSpPr>
              <a:spLocks noChangeArrowheads="1"/>
            </p:cNvSpPr>
            <p:nvPr/>
          </p:nvSpPr>
          <p:spPr bwMode="auto">
            <a:xfrm>
              <a:off x="974" y="2976"/>
              <a:ext cx="91" cy="91"/>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sz="1800"/>
                <a:t>-</a:t>
              </a:r>
              <a:endParaRPr lang="en-US" altLang="en-US" sz="1800"/>
            </a:p>
          </p:txBody>
        </p:sp>
        <p:sp>
          <p:nvSpPr>
            <p:cNvPr id="90180" name="Oval 68"/>
            <p:cNvSpPr>
              <a:spLocks noChangeArrowheads="1"/>
            </p:cNvSpPr>
            <p:nvPr/>
          </p:nvSpPr>
          <p:spPr bwMode="auto">
            <a:xfrm>
              <a:off x="1428" y="3067"/>
              <a:ext cx="362" cy="362"/>
            </a:xfrm>
            <a:prstGeom prst="ellipse">
              <a:avLst/>
            </a:prstGeom>
            <a:noFill/>
            <a:ln w="25400">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a:t>+</a:t>
              </a:r>
              <a:endParaRPr lang="en-US" altLang="en-US"/>
            </a:p>
          </p:txBody>
        </p:sp>
        <p:sp>
          <p:nvSpPr>
            <p:cNvPr id="90181" name="Oval 69"/>
            <p:cNvSpPr>
              <a:spLocks noChangeArrowheads="1"/>
            </p:cNvSpPr>
            <p:nvPr/>
          </p:nvSpPr>
          <p:spPr bwMode="auto">
            <a:xfrm>
              <a:off x="1247" y="2886"/>
              <a:ext cx="725" cy="725"/>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182" name="Oval 70"/>
            <p:cNvSpPr>
              <a:spLocks noChangeArrowheads="1"/>
            </p:cNvSpPr>
            <p:nvPr/>
          </p:nvSpPr>
          <p:spPr bwMode="auto">
            <a:xfrm>
              <a:off x="1429" y="3430"/>
              <a:ext cx="91" cy="91"/>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sz="1800"/>
                <a:t>-</a:t>
              </a:r>
              <a:endParaRPr lang="en-US" altLang="en-US" sz="1800"/>
            </a:p>
          </p:txBody>
        </p:sp>
      </p:grpSp>
      <p:grpSp>
        <p:nvGrpSpPr>
          <p:cNvPr id="90213" name="Group 101"/>
          <p:cNvGrpSpPr>
            <a:grpSpLocks/>
          </p:cNvGrpSpPr>
          <p:nvPr/>
        </p:nvGrpSpPr>
        <p:grpSpPr bwMode="auto">
          <a:xfrm>
            <a:off x="4932363" y="3141663"/>
            <a:ext cx="3384550" cy="3024187"/>
            <a:chOff x="3107" y="1979"/>
            <a:chExt cx="2132" cy="1905"/>
          </a:xfrm>
        </p:grpSpPr>
        <p:sp>
          <p:nvSpPr>
            <p:cNvPr id="90209" name="Rectangle 97"/>
            <p:cNvSpPr>
              <a:spLocks noChangeArrowheads="1"/>
            </p:cNvSpPr>
            <p:nvPr/>
          </p:nvSpPr>
          <p:spPr bwMode="auto">
            <a:xfrm>
              <a:off x="3107" y="1979"/>
              <a:ext cx="2132" cy="1905"/>
            </a:xfrm>
            <a:prstGeom prst="rect">
              <a:avLst/>
            </a:prstGeom>
            <a:solidFill>
              <a:srgbClr val="3333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90185" name="Oval 73"/>
            <p:cNvSpPr>
              <a:spLocks noChangeArrowheads="1"/>
            </p:cNvSpPr>
            <p:nvPr/>
          </p:nvSpPr>
          <p:spPr bwMode="auto">
            <a:xfrm>
              <a:off x="3288" y="2202"/>
              <a:ext cx="362" cy="362"/>
            </a:xfrm>
            <a:prstGeom prst="ellipse">
              <a:avLst/>
            </a:prstGeom>
            <a:noFill/>
            <a:ln w="25400">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a:t>+</a:t>
              </a:r>
              <a:endParaRPr lang="en-US" altLang="en-US"/>
            </a:p>
          </p:txBody>
        </p:sp>
        <p:sp>
          <p:nvSpPr>
            <p:cNvPr id="90188" name="Oval 76"/>
            <p:cNvSpPr>
              <a:spLocks noChangeArrowheads="1"/>
            </p:cNvSpPr>
            <p:nvPr/>
          </p:nvSpPr>
          <p:spPr bwMode="auto">
            <a:xfrm>
              <a:off x="4014" y="2202"/>
              <a:ext cx="362" cy="362"/>
            </a:xfrm>
            <a:prstGeom prst="ellipse">
              <a:avLst/>
            </a:prstGeom>
            <a:noFill/>
            <a:ln w="25400">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a:t>+</a:t>
              </a:r>
              <a:endParaRPr lang="en-US" altLang="en-US"/>
            </a:p>
          </p:txBody>
        </p:sp>
        <p:sp>
          <p:nvSpPr>
            <p:cNvPr id="90191" name="Oval 79"/>
            <p:cNvSpPr>
              <a:spLocks noChangeArrowheads="1"/>
            </p:cNvSpPr>
            <p:nvPr/>
          </p:nvSpPr>
          <p:spPr bwMode="auto">
            <a:xfrm>
              <a:off x="4740" y="2202"/>
              <a:ext cx="362" cy="362"/>
            </a:xfrm>
            <a:prstGeom prst="ellipse">
              <a:avLst/>
            </a:prstGeom>
            <a:noFill/>
            <a:ln w="25400">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a:t>+</a:t>
              </a:r>
              <a:endParaRPr lang="en-US" altLang="en-US"/>
            </a:p>
          </p:txBody>
        </p:sp>
        <p:sp>
          <p:nvSpPr>
            <p:cNvPr id="90194" name="Oval 82"/>
            <p:cNvSpPr>
              <a:spLocks noChangeArrowheads="1"/>
            </p:cNvSpPr>
            <p:nvPr/>
          </p:nvSpPr>
          <p:spPr bwMode="auto">
            <a:xfrm>
              <a:off x="3288" y="3472"/>
              <a:ext cx="362" cy="362"/>
            </a:xfrm>
            <a:prstGeom prst="ellipse">
              <a:avLst/>
            </a:prstGeom>
            <a:noFill/>
            <a:ln w="25400">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a:t>+</a:t>
              </a:r>
              <a:endParaRPr lang="en-US" altLang="en-US"/>
            </a:p>
          </p:txBody>
        </p:sp>
        <p:sp>
          <p:nvSpPr>
            <p:cNvPr id="90197" name="Oval 85"/>
            <p:cNvSpPr>
              <a:spLocks noChangeArrowheads="1"/>
            </p:cNvSpPr>
            <p:nvPr/>
          </p:nvSpPr>
          <p:spPr bwMode="auto">
            <a:xfrm>
              <a:off x="4014" y="3472"/>
              <a:ext cx="362" cy="362"/>
            </a:xfrm>
            <a:prstGeom prst="ellipse">
              <a:avLst/>
            </a:prstGeom>
            <a:noFill/>
            <a:ln w="25400">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a:t>+</a:t>
              </a:r>
              <a:endParaRPr lang="en-US" altLang="en-US"/>
            </a:p>
          </p:txBody>
        </p:sp>
        <p:sp>
          <p:nvSpPr>
            <p:cNvPr id="90200" name="Oval 88"/>
            <p:cNvSpPr>
              <a:spLocks noChangeArrowheads="1"/>
            </p:cNvSpPr>
            <p:nvPr/>
          </p:nvSpPr>
          <p:spPr bwMode="auto">
            <a:xfrm>
              <a:off x="4740" y="3472"/>
              <a:ext cx="362" cy="362"/>
            </a:xfrm>
            <a:prstGeom prst="ellipse">
              <a:avLst/>
            </a:prstGeom>
            <a:noFill/>
            <a:ln w="25400">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a:t>+</a:t>
              </a:r>
              <a:endParaRPr lang="en-US" altLang="en-US"/>
            </a:p>
          </p:txBody>
        </p:sp>
        <p:sp>
          <p:nvSpPr>
            <p:cNvPr id="90203" name="Oval 91"/>
            <p:cNvSpPr>
              <a:spLocks noChangeArrowheads="1"/>
            </p:cNvSpPr>
            <p:nvPr/>
          </p:nvSpPr>
          <p:spPr bwMode="auto">
            <a:xfrm>
              <a:off x="3651" y="2837"/>
              <a:ext cx="362" cy="362"/>
            </a:xfrm>
            <a:prstGeom prst="ellipse">
              <a:avLst/>
            </a:prstGeom>
            <a:noFill/>
            <a:ln w="25400">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a:t>+</a:t>
              </a:r>
              <a:endParaRPr lang="en-US" altLang="en-US"/>
            </a:p>
          </p:txBody>
        </p:sp>
        <p:sp>
          <p:nvSpPr>
            <p:cNvPr id="90206" name="Oval 94"/>
            <p:cNvSpPr>
              <a:spLocks noChangeArrowheads="1"/>
            </p:cNvSpPr>
            <p:nvPr/>
          </p:nvSpPr>
          <p:spPr bwMode="auto">
            <a:xfrm>
              <a:off x="4377" y="2837"/>
              <a:ext cx="362" cy="362"/>
            </a:xfrm>
            <a:prstGeom prst="ellipse">
              <a:avLst/>
            </a:prstGeom>
            <a:noFill/>
            <a:ln w="25400">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cy-GB" altLang="en-US"/>
                <a:t>+</a:t>
              </a:r>
              <a:endParaRPr lang="en-US" altLang="en-US"/>
            </a:p>
          </p:txBody>
        </p:sp>
      </p:grpSp>
      <p:grpSp>
        <p:nvGrpSpPr>
          <p:cNvPr id="90212" name="Group 100"/>
          <p:cNvGrpSpPr>
            <a:grpSpLocks/>
          </p:cNvGrpSpPr>
          <p:nvPr/>
        </p:nvGrpSpPr>
        <p:grpSpPr bwMode="auto">
          <a:xfrm>
            <a:off x="4932363" y="5518150"/>
            <a:ext cx="3384550" cy="1201738"/>
            <a:chOff x="3107" y="3476"/>
            <a:chExt cx="2132" cy="757"/>
          </a:xfrm>
        </p:grpSpPr>
        <p:sp>
          <p:nvSpPr>
            <p:cNvPr id="90210" name="Text Box 98"/>
            <p:cNvSpPr txBox="1">
              <a:spLocks noChangeArrowheads="1"/>
            </p:cNvSpPr>
            <p:nvPr/>
          </p:nvSpPr>
          <p:spPr bwMode="auto">
            <a:xfrm>
              <a:off x="3107" y="3929"/>
              <a:ext cx="2132" cy="304"/>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cy-GB" altLang="en-US"/>
                <a:t>Delocalised electrons</a:t>
              </a:r>
              <a:endParaRPr lang="en-US" altLang="en-US"/>
            </a:p>
          </p:txBody>
        </p:sp>
        <p:sp>
          <p:nvSpPr>
            <p:cNvPr id="90211" name="Line 99"/>
            <p:cNvSpPr>
              <a:spLocks noChangeShapeType="1"/>
            </p:cNvSpPr>
            <p:nvPr/>
          </p:nvSpPr>
          <p:spPr bwMode="auto">
            <a:xfrm flipV="1">
              <a:off x="3651" y="3476"/>
              <a:ext cx="182" cy="453"/>
            </a:xfrm>
            <a:prstGeom prst="line">
              <a:avLst/>
            </a:prstGeom>
            <a:noFill/>
            <a:ln w="25400">
              <a:solidFill>
                <a:srgbClr val="FF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90215" name="Group 103"/>
          <p:cNvGrpSpPr>
            <a:grpSpLocks/>
          </p:cNvGrpSpPr>
          <p:nvPr/>
        </p:nvGrpSpPr>
        <p:grpSpPr bwMode="auto">
          <a:xfrm>
            <a:off x="0" y="765175"/>
            <a:ext cx="7596188" cy="2308226"/>
            <a:chOff x="0" y="482"/>
            <a:chExt cx="4785" cy="1454"/>
          </a:xfrm>
        </p:grpSpPr>
        <p:sp>
          <p:nvSpPr>
            <p:cNvPr id="90149" name="Text Box 37"/>
            <p:cNvSpPr txBox="1">
              <a:spLocks noChangeArrowheads="1"/>
            </p:cNvSpPr>
            <p:nvPr/>
          </p:nvSpPr>
          <p:spPr bwMode="auto">
            <a:xfrm>
              <a:off x="0" y="482"/>
              <a:ext cx="4286" cy="1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cy-GB" altLang="en-US" dirty="0">
                  <a:solidFill>
                    <a:srgbClr val="CCFFCC"/>
                  </a:solidFill>
                </a:rPr>
                <a:t>Metals are defined as elements that readily lose electrons to form positive ions.  The electrons in the highest shells are delocalised and surround positive ions.  These delocalised electrons can be used to conduct electricity.  There are a number of ways of drawing this:</a:t>
              </a:r>
              <a:endParaRPr lang="en-US" altLang="en-US" dirty="0">
                <a:solidFill>
                  <a:srgbClr val="CCFFCC"/>
                </a:solidFill>
              </a:endParaRPr>
            </a:p>
          </p:txBody>
        </p:sp>
        <p:sp>
          <p:nvSpPr>
            <p:cNvPr id="90214" name="AutoShape 102"/>
            <p:cNvSpPr>
              <a:spLocks noChangeArrowheads="1"/>
            </p:cNvSpPr>
            <p:nvPr/>
          </p:nvSpPr>
          <p:spPr bwMode="auto">
            <a:xfrm>
              <a:off x="4241" y="981"/>
              <a:ext cx="544" cy="181"/>
            </a:xfrm>
            <a:prstGeom prst="rightArrow">
              <a:avLst>
                <a:gd name="adj1" fmla="val 50000"/>
                <a:gd name="adj2" fmla="val 75138"/>
              </a:avLst>
            </a:prstGeom>
            <a:solidFill>
              <a:srgbClr val="99FFCC"/>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Tree>
    <p:extLst>
      <p:ext uri="{BB962C8B-B14F-4D97-AF65-F5344CB8AC3E}">
        <p14:creationId xmlns:p14="http://schemas.microsoft.com/office/powerpoint/2010/main" val="12111902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0215"/>
                                        </p:tgtEl>
                                        <p:attrNameLst>
                                          <p:attrName>style.visibility</p:attrName>
                                        </p:attrNameLst>
                                      </p:cBhvr>
                                      <p:to>
                                        <p:strVal val="visible"/>
                                      </p:to>
                                    </p:set>
                                    <p:animEffect transition="in" filter="wipe(left)">
                                      <p:cBhvr>
                                        <p:cTn id="7" dur="500"/>
                                        <p:tgtEl>
                                          <p:spTgt spid="902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0216"/>
                                        </p:tgtEl>
                                        <p:attrNameLst>
                                          <p:attrName>style.visibility</p:attrName>
                                        </p:attrNameLst>
                                      </p:cBhvr>
                                      <p:to>
                                        <p:strVal val="visible"/>
                                      </p:to>
                                    </p:set>
                                    <p:animEffect transition="in" filter="wipe(up)">
                                      <p:cBhvr>
                                        <p:cTn id="12" dur="500"/>
                                        <p:tgtEl>
                                          <p:spTgt spid="902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90183"/>
                                        </p:tgtEl>
                                        <p:attrNameLst>
                                          <p:attrName>style.visibility</p:attrName>
                                        </p:attrNameLst>
                                      </p:cBhvr>
                                      <p:to>
                                        <p:strVal val="visible"/>
                                      </p:to>
                                    </p:set>
                                    <p:animEffect transition="in" filter="wipe(up)">
                                      <p:cBhvr>
                                        <p:cTn id="17" dur="500"/>
                                        <p:tgtEl>
                                          <p:spTgt spid="9018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90213"/>
                                        </p:tgtEl>
                                        <p:attrNameLst>
                                          <p:attrName>style.visibility</p:attrName>
                                        </p:attrNameLst>
                                      </p:cBhvr>
                                      <p:to>
                                        <p:strVal val="visible"/>
                                      </p:to>
                                    </p:set>
                                    <p:animEffect transition="in" filter="wipe(up)">
                                      <p:cBhvr>
                                        <p:cTn id="22" dur="500"/>
                                        <p:tgtEl>
                                          <p:spTgt spid="902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90212"/>
                                        </p:tgtEl>
                                        <p:attrNameLst>
                                          <p:attrName>style.visibility</p:attrName>
                                        </p:attrNameLst>
                                      </p:cBhvr>
                                      <p:to>
                                        <p:strVal val="visible"/>
                                      </p:to>
                                    </p:set>
                                    <p:animEffect transition="in" filter="wipe(down)">
                                      <p:cBhvr>
                                        <p:cTn id="27" dur="500"/>
                                        <p:tgtEl>
                                          <p:spTgt spid="90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Date Placeholder 3"/>
          <p:cNvSpPr>
            <a:spLocks noGrp="1"/>
          </p:cNvSpPr>
          <p:nvPr>
            <p:ph type="dt" sz="half" idx="10"/>
          </p:nvPr>
        </p:nvSpPr>
        <p:spPr/>
        <p:txBody>
          <a:bodyPr/>
          <a:lstStyle/>
          <a:p>
            <a:fld id="{79F8F55E-2EA8-427A-870D-7E8242953C0B}" type="datetime1">
              <a:rPr lang="en-GB" altLang="en-US"/>
              <a:pPr/>
              <a:t>02/06/2020</a:t>
            </a:fld>
            <a:endParaRPr lang="en-GB" altLang="en-US"/>
          </a:p>
        </p:txBody>
      </p:sp>
      <p:sp>
        <p:nvSpPr>
          <p:cNvPr id="141314" name="Rectangle 2"/>
          <p:cNvSpPr>
            <a:spLocks noGrp="1" noChangeArrowheads="1"/>
          </p:cNvSpPr>
          <p:nvPr>
            <p:ph type="title"/>
          </p:nvPr>
        </p:nvSpPr>
        <p:spPr/>
        <p:txBody>
          <a:bodyPr/>
          <a:lstStyle/>
          <a:p>
            <a:r>
              <a:rPr lang="en-GB" altLang="en-US" dirty="0"/>
              <a:t>Simple Covalent Molecules</a:t>
            </a:r>
          </a:p>
        </p:txBody>
      </p:sp>
      <p:grpSp>
        <p:nvGrpSpPr>
          <p:cNvPr id="141337" name="Group 25"/>
          <p:cNvGrpSpPr>
            <a:grpSpLocks/>
          </p:cNvGrpSpPr>
          <p:nvPr/>
        </p:nvGrpSpPr>
        <p:grpSpPr bwMode="auto">
          <a:xfrm>
            <a:off x="1835150" y="1123950"/>
            <a:ext cx="2843213" cy="2324100"/>
            <a:chOff x="3651" y="618"/>
            <a:chExt cx="2109" cy="1645"/>
          </a:xfrm>
        </p:grpSpPr>
        <p:sp>
          <p:nvSpPr>
            <p:cNvPr id="141317" name="Rectangle 5"/>
            <p:cNvSpPr>
              <a:spLocks noChangeArrowheads="1"/>
            </p:cNvSpPr>
            <p:nvPr/>
          </p:nvSpPr>
          <p:spPr bwMode="auto">
            <a:xfrm>
              <a:off x="3651" y="618"/>
              <a:ext cx="2109" cy="164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1319" name="Oval 7"/>
            <p:cNvSpPr>
              <a:spLocks noChangeArrowheads="1"/>
            </p:cNvSpPr>
            <p:nvPr/>
          </p:nvSpPr>
          <p:spPr bwMode="auto">
            <a:xfrm>
              <a:off x="3878" y="981"/>
              <a:ext cx="232" cy="232"/>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H</a:t>
              </a:r>
            </a:p>
          </p:txBody>
        </p:sp>
        <p:sp>
          <p:nvSpPr>
            <p:cNvPr id="141320" name="Oval 8"/>
            <p:cNvSpPr>
              <a:spLocks noChangeArrowheads="1"/>
            </p:cNvSpPr>
            <p:nvPr/>
          </p:nvSpPr>
          <p:spPr bwMode="auto">
            <a:xfrm>
              <a:off x="4014" y="1162"/>
              <a:ext cx="232" cy="232"/>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t>H</a:t>
              </a:r>
            </a:p>
          </p:txBody>
        </p:sp>
        <p:grpSp>
          <p:nvGrpSpPr>
            <p:cNvPr id="141321" name="Group 9"/>
            <p:cNvGrpSpPr>
              <a:grpSpLocks/>
            </p:cNvGrpSpPr>
            <p:nvPr/>
          </p:nvGrpSpPr>
          <p:grpSpPr bwMode="auto">
            <a:xfrm rot="5800290">
              <a:off x="5005" y="1682"/>
              <a:ext cx="387" cy="387"/>
              <a:chOff x="4464" y="2904"/>
              <a:chExt cx="240" cy="240"/>
            </a:xfrm>
          </p:grpSpPr>
          <p:sp>
            <p:nvSpPr>
              <p:cNvPr id="141322" name="Oval 10"/>
              <p:cNvSpPr>
                <a:spLocks noChangeArrowheads="1"/>
              </p:cNvSpPr>
              <p:nvPr/>
            </p:nvSpPr>
            <p:spPr bwMode="auto">
              <a:xfrm>
                <a:off x="4464" y="2904"/>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1323" name="Oval 11"/>
              <p:cNvSpPr>
                <a:spLocks noChangeArrowheads="1"/>
              </p:cNvSpPr>
              <p:nvPr/>
            </p:nvSpPr>
            <p:spPr bwMode="auto">
              <a:xfrm>
                <a:off x="4560" y="3000"/>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41324" name="Group 12"/>
            <p:cNvGrpSpPr>
              <a:grpSpLocks/>
            </p:cNvGrpSpPr>
            <p:nvPr/>
          </p:nvGrpSpPr>
          <p:grpSpPr bwMode="auto">
            <a:xfrm rot="-3251035">
              <a:off x="4425" y="734"/>
              <a:ext cx="387" cy="387"/>
              <a:chOff x="4464" y="2904"/>
              <a:chExt cx="240" cy="240"/>
            </a:xfrm>
          </p:grpSpPr>
          <p:sp>
            <p:nvSpPr>
              <p:cNvPr id="141325" name="Oval 13"/>
              <p:cNvSpPr>
                <a:spLocks noChangeArrowheads="1"/>
              </p:cNvSpPr>
              <p:nvPr/>
            </p:nvSpPr>
            <p:spPr bwMode="auto">
              <a:xfrm>
                <a:off x="4464" y="2904"/>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1326" name="Oval 14"/>
              <p:cNvSpPr>
                <a:spLocks noChangeArrowheads="1"/>
              </p:cNvSpPr>
              <p:nvPr/>
            </p:nvSpPr>
            <p:spPr bwMode="auto">
              <a:xfrm>
                <a:off x="4560" y="3000"/>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41327" name="Group 15"/>
            <p:cNvGrpSpPr>
              <a:grpSpLocks/>
            </p:cNvGrpSpPr>
            <p:nvPr/>
          </p:nvGrpSpPr>
          <p:grpSpPr bwMode="auto">
            <a:xfrm rot="-1452353">
              <a:off x="3883" y="1702"/>
              <a:ext cx="387" cy="387"/>
              <a:chOff x="4464" y="2904"/>
              <a:chExt cx="240" cy="240"/>
            </a:xfrm>
          </p:grpSpPr>
          <p:sp>
            <p:nvSpPr>
              <p:cNvPr id="141328" name="Oval 16"/>
              <p:cNvSpPr>
                <a:spLocks noChangeArrowheads="1"/>
              </p:cNvSpPr>
              <p:nvPr/>
            </p:nvSpPr>
            <p:spPr bwMode="auto">
              <a:xfrm>
                <a:off x="4464" y="2904"/>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1329" name="Oval 17"/>
              <p:cNvSpPr>
                <a:spLocks noChangeArrowheads="1"/>
              </p:cNvSpPr>
              <p:nvPr/>
            </p:nvSpPr>
            <p:spPr bwMode="auto">
              <a:xfrm>
                <a:off x="4560" y="3000"/>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41330" name="Group 18"/>
            <p:cNvGrpSpPr>
              <a:grpSpLocks/>
            </p:cNvGrpSpPr>
            <p:nvPr/>
          </p:nvGrpSpPr>
          <p:grpSpPr bwMode="auto">
            <a:xfrm rot="3227845">
              <a:off x="4560" y="1334"/>
              <a:ext cx="387" cy="387"/>
              <a:chOff x="4464" y="2904"/>
              <a:chExt cx="240" cy="240"/>
            </a:xfrm>
          </p:grpSpPr>
          <p:sp>
            <p:nvSpPr>
              <p:cNvPr id="141331" name="Oval 19"/>
              <p:cNvSpPr>
                <a:spLocks noChangeArrowheads="1"/>
              </p:cNvSpPr>
              <p:nvPr/>
            </p:nvSpPr>
            <p:spPr bwMode="auto">
              <a:xfrm>
                <a:off x="4464" y="2904"/>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1332" name="Oval 20"/>
              <p:cNvSpPr>
                <a:spLocks noChangeArrowheads="1"/>
              </p:cNvSpPr>
              <p:nvPr/>
            </p:nvSpPr>
            <p:spPr bwMode="auto">
              <a:xfrm>
                <a:off x="4560" y="3000"/>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41333" name="Group 21"/>
            <p:cNvGrpSpPr>
              <a:grpSpLocks/>
            </p:cNvGrpSpPr>
            <p:nvPr/>
          </p:nvGrpSpPr>
          <p:grpSpPr bwMode="auto">
            <a:xfrm>
              <a:off x="5141" y="947"/>
              <a:ext cx="387" cy="387"/>
              <a:chOff x="4464" y="2904"/>
              <a:chExt cx="240" cy="240"/>
            </a:xfrm>
          </p:grpSpPr>
          <p:sp>
            <p:nvSpPr>
              <p:cNvPr id="141334" name="Oval 22"/>
              <p:cNvSpPr>
                <a:spLocks noChangeArrowheads="1"/>
              </p:cNvSpPr>
              <p:nvPr/>
            </p:nvSpPr>
            <p:spPr bwMode="auto">
              <a:xfrm>
                <a:off x="4464" y="2904"/>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1335" name="Oval 23"/>
              <p:cNvSpPr>
                <a:spLocks noChangeArrowheads="1"/>
              </p:cNvSpPr>
              <p:nvPr/>
            </p:nvSpPr>
            <p:spPr bwMode="auto">
              <a:xfrm>
                <a:off x="4560" y="3000"/>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sp>
        <p:nvSpPr>
          <p:cNvPr id="141336" name="Text Box 24"/>
          <p:cNvSpPr txBox="1">
            <a:spLocks noChangeArrowheads="1"/>
          </p:cNvSpPr>
          <p:nvPr/>
        </p:nvSpPr>
        <p:spPr bwMode="auto">
          <a:xfrm>
            <a:off x="0" y="620713"/>
            <a:ext cx="9144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FFCCFF"/>
                </a:solidFill>
              </a:rPr>
              <a:t>Recall our model of a simple covalent compound like hydrogen, H</a:t>
            </a:r>
            <a:r>
              <a:rPr lang="en-GB" altLang="en-US" baseline="-25000">
                <a:solidFill>
                  <a:srgbClr val="FFCCFF"/>
                </a:solidFill>
              </a:rPr>
              <a:t>2</a:t>
            </a:r>
            <a:r>
              <a:rPr lang="en-GB" altLang="en-US">
                <a:solidFill>
                  <a:srgbClr val="FFCCFF"/>
                </a:solidFill>
              </a:rPr>
              <a:t>:</a:t>
            </a:r>
          </a:p>
        </p:txBody>
      </p:sp>
      <p:sp>
        <p:nvSpPr>
          <p:cNvPr id="141338" name="Text Box 26"/>
          <p:cNvSpPr txBox="1">
            <a:spLocks noChangeArrowheads="1"/>
          </p:cNvSpPr>
          <p:nvPr/>
        </p:nvSpPr>
        <p:spPr bwMode="auto">
          <a:xfrm>
            <a:off x="5003800" y="1555750"/>
            <a:ext cx="3455988"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CCECFF"/>
                </a:solidFill>
              </a:rPr>
              <a:t>Hydrogen has a very low melting point and a very low boiling point.  Why?</a:t>
            </a:r>
          </a:p>
        </p:txBody>
      </p:sp>
      <p:grpSp>
        <p:nvGrpSpPr>
          <p:cNvPr id="141343" name="Group 31"/>
          <p:cNvGrpSpPr>
            <a:grpSpLocks/>
          </p:cNvGrpSpPr>
          <p:nvPr/>
        </p:nvGrpSpPr>
        <p:grpSpPr bwMode="auto">
          <a:xfrm>
            <a:off x="107950" y="2924175"/>
            <a:ext cx="4319588" cy="3003550"/>
            <a:chOff x="68" y="1933"/>
            <a:chExt cx="2721" cy="1892"/>
          </a:xfrm>
        </p:grpSpPr>
        <p:sp>
          <p:nvSpPr>
            <p:cNvPr id="141341" name="AutoShape 29"/>
            <p:cNvSpPr>
              <a:spLocks noChangeArrowheads="1"/>
            </p:cNvSpPr>
            <p:nvPr/>
          </p:nvSpPr>
          <p:spPr bwMode="auto">
            <a:xfrm rot="-5099474">
              <a:off x="1656" y="2205"/>
              <a:ext cx="635" cy="273"/>
            </a:xfrm>
            <a:prstGeom prst="rightArrow">
              <a:avLst>
                <a:gd name="adj1" fmla="val 50000"/>
                <a:gd name="adj2" fmla="val 58150"/>
              </a:avLst>
            </a:prstGeom>
            <a:solidFill>
              <a:srgbClr val="990000"/>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GB"/>
            </a:p>
          </p:txBody>
        </p:sp>
        <p:sp>
          <p:nvSpPr>
            <p:cNvPr id="141339" name="Text Box 27"/>
            <p:cNvSpPr txBox="1">
              <a:spLocks noChangeArrowheads="1"/>
            </p:cNvSpPr>
            <p:nvPr/>
          </p:nvSpPr>
          <p:spPr bwMode="auto">
            <a:xfrm>
              <a:off x="68" y="2387"/>
              <a:ext cx="2721" cy="1438"/>
            </a:xfrm>
            <a:prstGeom prst="rect">
              <a:avLst/>
            </a:prstGeom>
            <a:solidFill>
              <a:srgbClr val="990000"/>
            </a:solidFill>
            <a:ln>
              <a:noFill/>
            </a:ln>
            <a:effectLst/>
            <a:extLs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t>1)  The intermolecular forces are very weak so each one of these H</a:t>
              </a:r>
              <a:r>
                <a:rPr lang="en-GB" altLang="en-US" baseline="-25000"/>
                <a:t>2</a:t>
              </a:r>
              <a:r>
                <a:rPr lang="en-GB" altLang="en-US"/>
                <a:t> molecules doesn’t really care about the others – it’s very easy to pull them apart.</a:t>
              </a:r>
            </a:p>
          </p:txBody>
        </p:sp>
        <p:sp>
          <p:nvSpPr>
            <p:cNvPr id="141342" name="AutoShape 30"/>
            <p:cNvSpPr>
              <a:spLocks noChangeArrowheads="1"/>
            </p:cNvSpPr>
            <p:nvPr/>
          </p:nvSpPr>
          <p:spPr bwMode="auto">
            <a:xfrm>
              <a:off x="1746" y="1933"/>
              <a:ext cx="544" cy="91"/>
            </a:xfrm>
            <a:prstGeom prst="leftRightArrow">
              <a:avLst>
                <a:gd name="adj1" fmla="val 50000"/>
                <a:gd name="adj2" fmla="val 119560"/>
              </a:avLst>
            </a:prstGeom>
            <a:solidFill>
              <a:schemeClr val="accent1"/>
            </a:solidFill>
            <a:ln>
              <a:noFill/>
            </a:ln>
            <a:effectLst/>
            <a:extLs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141345" name="Group 33"/>
          <p:cNvGrpSpPr>
            <a:grpSpLocks/>
          </p:cNvGrpSpPr>
          <p:nvPr/>
        </p:nvGrpSpPr>
        <p:grpSpPr bwMode="auto">
          <a:xfrm>
            <a:off x="4211638" y="2852738"/>
            <a:ext cx="4824412" cy="3074987"/>
            <a:chOff x="2653" y="1888"/>
            <a:chExt cx="3107" cy="1937"/>
          </a:xfrm>
        </p:grpSpPr>
        <p:sp>
          <p:nvSpPr>
            <p:cNvPr id="141344" name="AutoShape 32"/>
            <p:cNvSpPr>
              <a:spLocks noChangeArrowheads="1"/>
            </p:cNvSpPr>
            <p:nvPr/>
          </p:nvSpPr>
          <p:spPr bwMode="auto">
            <a:xfrm rot="2764050">
              <a:off x="2404" y="2137"/>
              <a:ext cx="726" cy="227"/>
            </a:xfrm>
            <a:prstGeom prst="leftArrow">
              <a:avLst>
                <a:gd name="adj1" fmla="val 50000"/>
                <a:gd name="adj2" fmla="val 79956"/>
              </a:avLst>
            </a:prstGeom>
            <a:solidFill>
              <a:srgbClr val="003399"/>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GB"/>
            </a:p>
          </p:txBody>
        </p:sp>
        <p:sp>
          <p:nvSpPr>
            <p:cNvPr id="141340" name="Text Box 28"/>
            <p:cNvSpPr txBox="1">
              <a:spLocks noChangeArrowheads="1"/>
            </p:cNvSpPr>
            <p:nvPr/>
          </p:nvSpPr>
          <p:spPr bwMode="auto">
            <a:xfrm>
              <a:off x="2835" y="2387"/>
              <a:ext cx="2925" cy="1438"/>
            </a:xfrm>
            <a:prstGeom prst="rect">
              <a:avLst/>
            </a:prstGeom>
            <a:solidFill>
              <a:srgbClr val="003399"/>
            </a:solidFill>
            <a:ln>
              <a:noFill/>
            </a:ln>
            <a:effectLst/>
            <a:extLs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t>2)  When a substance is heated it is the intermolecular forces that are overcome, NOT the covalent bond in each molecule, which is much stronger!</a:t>
              </a:r>
            </a:p>
          </p:txBody>
        </p:sp>
      </p:grpSp>
      <p:sp>
        <p:nvSpPr>
          <p:cNvPr id="141346" name="Text Box 34"/>
          <p:cNvSpPr txBox="1">
            <a:spLocks noChangeArrowheads="1"/>
          </p:cNvSpPr>
          <p:nvPr/>
        </p:nvSpPr>
        <p:spPr bwMode="auto">
          <a:xfrm>
            <a:off x="0" y="6035675"/>
            <a:ext cx="9144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CCECFF"/>
                </a:solidFill>
              </a:rPr>
              <a:t>Also, the molecules do not carry a charge so covalent compounds usually do not conduct electricity.</a:t>
            </a:r>
          </a:p>
        </p:txBody>
      </p:sp>
    </p:spTree>
    <p:extLst>
      <p:ext uri="{BB962C8B-B14F-4D97-AF65-F5344CB8AC3E}">
        <p14:creationId xmlns:p14="http://schemas.microsoft.com/office/powerpoint/2010/main" val="5188248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41337"/>
                                        </p:tgtEl>
                                        <p:attrNameLst>
                                          <p:attrName>style.visibility</p:attrName>
                                        </p:attrNameLst>
                                      </p:cBhvr>
                                      <p:to>
                                        <p:strVal val="visible"/>
                                      </p:to>
                                    </p:set>
                                    <p:animEffect transition="in" filter="wipe(left)">
                                      <p:cBhvr>
                                        <p:cTn id="7" dur="500"/>
                                        <p:tgtEl>
                                          <p:spTgt spid="1413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1338"/>
                                        </p:tgtEl>
                                        <p:attrNameLst>
                                          <p:attrName>style.visibility</p:attrName>
                                        </p:attrNameLst>
                                      </p:cBhvr>
                                      <p:to>
                                        <p:strVal val="visible"/>
                                      </p:to>
                                    </p:set>
                                    <p:animEffect transition="in" filter="wipe(left)">
                                      <p:cBhvr>
                                        <p:cTn id="12" dur="500"/>
                                        <p:tgtEl>
                                          <p:spTgt spid="1413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141343"/>
                                        </p:tgtEl>
                                        <p:attrNameLst>
                                          <p:attrName>style.visibility</p:attrName>
                                        </p:attrNameLst>
                                      </p:cBhvr>
                                      <p:to>
                                        <p:strVal val="visible"/>
                                      </p:to>
                                    </p:set>
                                    <p:animEffect transition="in" filter="wipe(down)">
                                      <p:cBhvr>
                                        <p:cTn id="17" dur="500"/>
                                        <p:tgtEl>
                                          <p:spTgt spid="14134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141345"/>
                                        </p:tgtEl>
                                        <p:attrNameLst>
                                          <p:attrName>style.visibility</p:attrName>
                                        </p:attrNameLst>
                                      </p:cBhvr>
                                      <p:to>
                                        <p:strVal val="visible"/>
                                      </p:to>
                                    </p:set>
                                    <p:animEffect transition="in" filter="wipe(down)">
                                      <p:cBhvr>
                                        <p:cTn id="22" dur="500"/>
                                        <p:tgtEl>
                                          <p:spTgt spid="14134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1346"/>
                                        </p:tgtEl>
                                        <p:attrNameLst>
                                          <p:attrName>style.visibility</p:attrName>
                                        </p:attrNameLst>
                                      </p:cBhvr>
                                      <p:to>
                                        <p:strVal val="visible"/>
                                      </p:to>
                                    </p:set>
                                    <p:animEffect transition="in" filter="wipe(left)">
                                      <p:cBhvr>
                                        <p:cTn id="27" dur="500"/>
                                        <p:tgtEl>
                                          <p:spTgt spid="141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38" grpId="0"/>
      <p:bldP spid="14134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Date Placeholder 2"/>
          <p:cNvSpPr>
            <a:spLocks noGrp="1"/>
          </p:cNvSpPr>
          <p:nvPr>
            <p:ph type="dt" sz="half" idx="10"/>
          </p:nvPr>
        </p:nvSpPr>
        <p:spPr/>
        <p:txBody>
          <a:bodyPr/>
          <a:lstStyle/>
          <a:p>
            <a:fld id="{A0372391-FF15-4EFC-9E26-90277934EE95}" type="datetime1">
              <a:rPr lang="en-GB" altLang="en-US"/>
              <a:pPr/>
              <a:t>02/06/2020</a:t>
            </a:fld>
            <a:endParaRPr lang="en-GB" altLang="en-US"/>
          </a:p>
        </p:txBody>
      </p:sp>
      <p:sp>
        <p:nvSpPr>
          <p:cNvPr id="143362" name="Rectangle 2"/>
          <p:cNvSpPr>
            <a:spLocks noGrp="1" noChangeArrowheads="1"/>
          </p:cNvSpPr>
          <p:nvPr>
            <p:ph type="title"/>
          </p:nvPr>
        </p:nvSpPr>
        <p:spPr>
          <a:xfrm>
            <a:off x="0" y="0"/>
            <a:ext cx="9144000" cy="549275"/>
          </a:xfrm>
        </p:spPr>
        <p:txBody>
          <a:bodyPr/>
          <a:lstStyle/>
          <a:p>
            <a:r>
              <a:rPr lang="en-GB" altLang="en-US" sz="3600"/>
              <a:t>Giant Covalent structures (“lattices”)</a:t>
            </a:r>
          </a:p>
        </p:txBody>
      </p:sp>
      <p:grpSp>
        <p:nvGrpSpPr>
          <p:cNvPr id="143403" name="Group 43"/>
          <p:cNvGrpSpPr>
            <a:grpSpLocks/>
          </p:cNvGrpSpPr>
          <p:nvPr/>
        </p:nvGrpSpPr>
        <p:grpSpPr bwMode="auto">
          <a:xfrm>
            <a:off x="0" y="1484313"/>
            <a:ext cx="6084888" cy="2438400"/>
            <a:chOff x="0" y="935"/>
            <a:chExt cx="3833" cy="1536"/>
          </a:xfrm>
        </p:grpSpPr>
        <p:grpSp>
          <p:nvGrpSpPr>
            <p:cNvPr id="143364" name="Group 4"/>
            <p:cNvGrpSpPr>
              <a:grpSpLocks/>
            </p:cNvGrpSpPr>
            <p:nvPr/>
          </p:nvGrpSpPr>
          <p:grpSpPr bwMode="auto">
            <a:xfrm>
              <a:off x="0" y="935"/>
              <a:ext cx="1377" cy="1536"/>
              <a:chOff x="2064" y="1248"/>
              <a:chExt cx="1560" cy="1740"/>
            </a:xfrm>
          </p:grpSpPr>
          <p:sp>
            <p:nvSpPr>
              <p:cNvPr id="143365" name="Rectangle 5"/>
              <p:cNvSpPr>
                <a:spLocks noChangeArrowheads="1"/>
              </p:cNvSpPr>
              <p:nvPr/>
            </p:nvSpPr>
            <p:spPr bwMode="auto">
              <a:xfrm>
                <a:off x="2064" y="1248"/>
                <a:ext cx="1560" cy="174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143366" name="Picture 6" descr="diamond stru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2" y="1440"/>
                <a:ext cx="1296" cy="1440"/>
              </a:xfrm>
              <a:prstGeom prst="rect">
                <a:avLst/>
              </a:prstGeom>
              <a:noFill/>
              <a:extLst>
                <a:ext uri="{909E8E84-426E-40DD-AFC4-6F175D3DCCD1}">
                  <a14:hiddenFill xmlns:a14="http://schemas.microsoft.com/office/drawing/2010/main">
                    <a:solidFill>
                      <a:srgbClr val="FFFFFF"/>
                    </a:solidFill>
                  </a14:hiddenFill>
                </a:ext>
              </a:extLst>
            </p:spPr>
          </p:pic>
        </p:grpSp>
        <p:sp>
          <p:nvSpPr>
            <p:cNvPr id="143367" name="Text Box 7"/>
            <p:cNvSpPr txBox="1">
              <a:spLocks noChangeArrowheads="1"/>
            </p:cNvSpPr>
            <p:nvPr/>
          </p:nvSpPr>
          <p:spPr bwMode="auto">
            <a:xfrm>
              <a:off x="1464" y="998"/>
              <a:ext cx="2369" cy="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dirty="0">
                  <a:solidFill>
                    <a:srgbClr val="CCECFF"/>
                  </a:solidFill>
                </a:rPr>
                <a:t>1. Diamond – a giant covalent structure with a very ____ melting point due to ______ bonds between carbon atoms</a:t>
              </a:r>
            </a:p>
          </p:txBody>
        </p:sp>
      </p:grpSp>
      <p:grpSp>
        <p:nvGrpSpPr>
          <p:cNvPr id="143368" name="Group 8"/>
          <p:cNvGrpSpPr>
            <a:grpSpLocks/>
          </p:cNvGrpSpPr>
          <p:nvPr/>
        </p:nvGrpSpPr>
        <p:grpSpPr bwMode="auto">
          <a:xfrm>
            <a:off x="4140200" y="1181100"/>
            <a:ext cx="5003800" cy="3255963"/>
            <a:chOff x="2608" y="527"/>
            <a:chExt cx="3152" cy="2051"/>
          </a:xfrm>
        </p:grpSpPr>
        <p:sp>
          <p:nvSpPr>
            <p:cNvPr id="143369" name="Text Box 9"/>
            <p:cNvSpPr txBox="1">
              <a:spLocks noChangeArrowheads="1"/>
            </p:cNvSpPr>
            <p:nvPr/>
          </p:nvSpPr>
          <p:spPr bwMode="auto">
            <a:xfrm>
              <a:off x="2608" y="1752"/>
              <a:ext cx="3152" cy="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solidFill>
                    <a:srgbClr val="CCFF99"/>
                  </a:solidFill>
                </a:rPr>
                <a:t>2. Graphite – carbon atoms arranged in a layered structure, with free _______ in between each layer enabling carbon to conduct _________ (like metals)</a:t>
              </a:r>
            </a:p>
          </p:txBody>
        </p:sp>
        <p:pic>
          <p:nvPicPr>
            <p:cNvPr id="143370" name="Picture 10" descr="Graphi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9" y="527"/>
              <a:ext cx="1361" cy="1174"/>
            </a:xfrm>
            <a:prstGeom prst="rect">
              <a:avLst/>
            </a:prstGeom>
            <a:noFill/>
            <a:extLst>
              <a:ext uri="{909E8E84-426E-40DD-AFC4-6F175D3DCCD1}">
                <a14:hiddenFill xmlns:a14="http://schemas.microsoft.com/office/drawing/2010/main">
                  <a:solidFill>
                    <a:srgbClr val="FFFFFF"/>
                  </a:solidFill>
                </a14:hiddenFill>
              </a:ext>
            </a:extLst>
          </p:spPr>
        </p:pic>
      </p:grpSp>
      <p:sp>
        <p:nvSpPr>
          <p:cNvPr id="143374" name="Text Box 14"/>
          <p:cNvSpPr txBox="1">
            <a:spLocks noChangeArrowheads="1"/>
          </p:cNvSpPr>
          <p:nvPr/>
        </p:nvSpPr>
        <p:spPr bwMode="auto">
          <a:xfrm>
            <a:off x="107950" y="6237288"/>
            <a:ext cx="8928100" cy="482600"/>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b="1"/>
              <a:t>Words</a:t>
            </a:r>
            <a:r>
              <a:rPr lang="en-GB" altLang="en-US"/>
              <a:t> – melting, high, electrons, bonds, strong, electricity</a:t>
            </a:r>
          </a:p>
        </p:txBody>
      </p:sp>
      <p:grpSp>
        <p:nvGrpSpPr>
          <p:cNvPr id="143404" name="Group 44"/>
          <p:cNvGrpSpPr>
            <a:grpSpLocks/>
          </p:cNvGrpSpPr>
          <p:nvPr/>
        </p:nvGrpSpPr>
        <p:grpSpPr bwMode="auto">
          <a:xfrm>
            <a:off x="684213" y="4005263"/>
            <a:ext cx="8172450" cy="2225675"/>
            <a:chOff x="431" y="2523"/>
            <a:chExt cx="5148" cy="1402"/>
          </a:xfrm>
        </p:grpSpPr>
        <p:sp>
          <p:nvSpPr>
            <p:cNvPr id="143373" name="Text Box 13"/>
            <p:cNvSpPr txBox="1">
              <a:spLocks noChangeArrowheads="1"/>
            </p:cNvSpPr>
            <p:nvPr/>
          </p:nvSpPr>
          <p:spPr bwMode="auto">
            <a:xfrm>
              <a:off x="2064" y="2907"/>
              <a:ext cx="3515" cy="1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solidFill>
                    <a:srgbClr val="FFCCFF"/>
                  </a:solidFill>
                </a:rPr>
                <a:t>3. Silicon dioxide (sand) – a giant covalent structure of silicon and oxygen atoms with strong _____ causing a high ______ point and it’s a good insulator as it has no free electrons</a:t>
              </a:r>
            </a:p>
          </p:txBody>
        </p:sp>
        <p:grpSp>
          <p:nvGrpSpPr>
            <p:cNvPr id="143375" name="Group 15"/>
            <p:cNvGrpSpPr>
              <a:grpSpLocks/>
            </p:cNvGrpSpPr>
            <p:nvPr/>
          </p:nvGrpSpPr>
          <p:grpSpPr bwMode="auto">
            <a:xfrm>
              <a:off x="431" y="2523"/>
              <a:ext cx="1404" cy="1361"/>
              <a:chOff x="114" y="572"/>
              <a:chExt cx="2901" cy="2812"/>
            </a:xfrm>
          </p:grpSpPr>
          <p:sp>
            <p:nvSpPr>
              <p:cNvPr id="143376" name="Line 16"/>
              <p:cNvSpPr>
                <a:spLocks noChangeShapeType="1"/>
              </p:cNvSpPr>
              <p:nvPr/>
            </p:nvSpPr>
            <p:spPr bwMode="auto">
              <a:xfrm flipV="1">
                <a:off x="1565" y="890"/>
                <a:ext cx="0" cy="363"/>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3377" name="Line 17"/>
              <p:cNvSpPr>
                <a:spLocks noChangeShapeType="1"/>
              </p:cNvSpPr>
              <p:nvPr/>
            </p:nvSpPr>
            <p:spPr bwMode="auto">
              <a:xfrm flipH="1" flipV="1">
                <a:off x="1655" y="1480"/>
                <a:ext cx="272" cy="317"/>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3378" name="Line 18"/>
              <p:cNvSpPr>
                <a:spLocks noChangeShapeType="1"/>
              </p:cNvSpPr>
              <p:nvPr/>
            </p:nvSpPr>
            <p:spPr bwMode="auto">
              <a:xfrm flipV="1">
                <a:off x="1202" y="1480"/>
                <a:ext cx="272" cy="317"/>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3379" name="Line 19"/>
              <p:cNvSpPr>
                <a:spLocks noChangeShapeType="1"/>
              </p:cNvSpPr>
              <p:nvPr/>
            </p:nvSpPr>
            <p:spPr bwMode="auto">
              <a:xfrm flipV="1">
                <a:off x="884" y="1389"/>
                <a:ext cx="544" cy="136"/>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3380" name="Line 20"/>
              <p:cNvSpPr>
                <a:spLocks noChangeShapeType="1"/>
              </p:cNvSpPr>
              <p:nvPr/>
            </p:nvSpPr>
            <p:spPr bwMode="auto">
              <a:xfrm flipV="1">
                <a:off x="1112" y="2070"/>
                <a:ext cx="0" cy="363"/>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3381" name="Line 21"/>
              <p:cNvSpPr>
                <a:spLocks noChangeShapeType="1"/>
              </p:cNvSpPr>
              <p:nvPr/>
            </p:nvSpPr>
            <p:spPr bwMode="auto">
              <a:xfrm flipH="1" flipV="1">
                <a:off x="1202" y="2660"/>
                <a:ext cx="227" cy="407"/>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3382" name="Line 22"/>
              <p:cNvSpPr>
                <a:spLocks noChangeShapeType="1"/>
              </p:cNvSpPr>
              <p:nvPr/>
            </p:nvSpPr>
            <p:spPr bwMode="auto">
              <a:xfrm flipV="1">
                <a:off x="749" y="2660"/>
                <a:ext cx="272" cy="317"/>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3383" name="Line 23"/>
              <p:cNvSpPr>
                <a:spLocks noChangeShapeType="1"/>
              </p:cNvSpPr>
              <p:nvPr/>
            </p:nvSpPr>
            <p:spPr bwMode="auto">
              <a:xfrm flipV="1">
                <a:off x="431" y="2569"/>
                <a:ext cx="544" cy="136"/>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3384" name="Line 24"/>
              <p:cNvSpPr>
                <a:spLocks noChangeShapeType="1"/>
              </p:cNvSpPr>
              <p:nvPr/>
            </p:nvSpPr>
            <p:spPr bwMode="auto">
              <a:xfrm flipV="1">
                <a:off x="2109" y="1979"/>
                <a:ext cx="0" cy="363"/>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3385" name="Line 25"/>
              <p:cNvSpPr>
                <a:spLocks noChangeShapeType="1"/>
              </p:cNvSpPr>
              <p:nvPr/>
            </p:nvSpPr>
            <p:spPr bwMode="auto">
              <a:xfrm flipH="1" flipV="1">
                <a:off x="2199" y="2569"/>
                <a:ext cx="272" cy="317"/>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3386" name="Line 26"/>
              <p:cNvSpPr>
                <a:spLocks noChangeShapeType="1"/>
              </p:cNvSpPr>
              <p:nvPr/>
            </p:nvSpPr>
            <p:spPr bwMode="auto">
              <a:xfrm flipV="1">
                <a:off x="1973" y="2569"/>
                <a:ext cx="45" cy="362"/>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3387" name="Line 27"/>
              <p:cNvSpPr>
                <a:spLocks noChangeShapeType="1"/>
              </p:cNvSpPr>
              <p:nvPr/>
            </p:nvSpPr>
            <p:spPr bwMode="auto">
              <a:xfrm flipV="1">
                <a:off x="2200" y="2341"/>
                <a:ext cx="544" cy="136"/>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3388" name="Oval 28"/>
              <p:cNvSpPr>
                <a:spLocks noChangeArrowheads="1"/>
              </p:cNvSpPr>
              <p:nvPr/>
            </p:nvSpPr>
            <p:spPr bwMode="auto">
              <a:xfrm>
                <a:off x="930" y="1752"/>
                <a:ext cx="362" cy="362"/>
              </a:xfrm>
              <a:prstGeom prst="ellipse">
                <a:avLst/>
              </a:prstGeom>
              <a:gradFill rotWithShape="1">
                <a:gsLst>
                  <a:gs pos="0">
                    <a:srgbClr val="0099FF">
                      <a:gamma/>
                      <a:shade val="22353"/>
                      <a:invGamma/>
                    </a:srgbClr>
                  </a:gs>
                  <a:gs pos="100000">
                    <a:srgbClr val="0099FF"/>
                  </a:gs>
                </a:gsLst>
                <a:path path="shape">
                  <a:fillToRect l="50000" t="50000" r="50000" b="50000"/>
                </a:path>
              </a:gra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200"/>
                  <a:t>O</a:t>
                </a:r>
              </a:p>
            </p:txBody>
          </p:sp>
          <p:sp>
            <p:nvSpPr>
              <p:cNvPr id="143389" name="Oval 29"/>
              <p:cNvSpPr>
                <a:spLocks noChangeArrowheads="1"/>
              </p:cNvSpPr>
              <p:nvPr/>
            </p:nvSpPr>
            <p:spPr bwMode="auto">
              <a:xfrm>
                <a:off x="1882" y="1661"/>
                <a:ext cx="362" cy="362"/>
              </a:xfrm>
              <a:prstGeom prst="ellipse">
                <a:avLst/>
              </a:prstGeom>
              <a:gradFill rotWithShape="1">
                <a:gsLst>
                  <a:gs pos="0">
                    <a:srgbClr val="0099FF">
                      <a:gamma/>
                      <a:shade val="22353"/>
                      <a:invGamma/>
                    </a:srgbClr>
                  </a:gs>
                  <a:gs pos="100000">
                    <a:srgbClr val="0099FF"/>
                  </a:gs>
                </a:gsLst>
                <a:path path="shape">
                  <a:fillToRect l="50000" t="50000" r="50000" b="50000"/>
                </a:path>
              </a:gra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200"/>
                  <a:t>O</a:t>
                </a:r>
              </a:p>
            </p:txBody>
          </p:sp>
          <p:sp>
            <p:nvSpPr>
              <p:cNvPr id="143390" name="Oval 30"/>
              <p:cNvSpPr>
                <a:spLocks noChangeArrowheads="1"/>
              </p:cNvSpPr>
              <p:nvPr/>
            </p:nvSpPr>
            <p:spPr bwMode="auto">
              <a:xfrm>
                <a:off x="567" y="1389"/>
                <a:ext cx="362" cy="362"/>
              </a:xfrm>
              <a:prstGeom prst="ellipse">
                <a:avLst/>
              </a:prstGeom>
              <a:gradFill rotWithShape="1">
                <a:gsLst>
                  <a:gs pos="0">
                    <a:srgbClr val="0099FF">
                      <a:gamma/>
                      <a:shade val="22353"/>
                      <a:invGamma/>
                    </a:srgbClr>
                  </a:gs>
                  <a:gs pos="100000">
                    <a:srgbClr val="0099FF"/>
                  </a:gs>
                </a:gsLst>
                <a:path path="shape">
                  <a:fillToRect l="50000" t="50000" r="50000" b="50000"/>
                </a:path>
              </a:gra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200"/>
                  <a:t>O</a:t>
                </a:r>
              </a:p>
            </p:txBody>
          </p:sp>
          <p:sp>
            <p:nvSpPr>
              <p:cNvPr id="143391" name="Oval 31"/>
              <p:cNvSpPr>
                <a:spLocks noChangeArrowheads="1"/>
              </p:cNvSpPr>
              <p:nvPr/>
            </p:nvSpPr>
            <p:spPr bwMode="auto">
              <a:xfrm>
                <a:off x="1383" y="572"/>
                <a:ext cx="362" cy="362"/>
              </a:xfrm>
              <a:prstGeom prst="ellipse">
                <a:avLst/>
              </a:prstGeom>
              <a:gradFill rotWithShape="1">
                <a:gsLst>
                  <a:gs pos="0">
                    <a:srgbClr val="0099FF">
                      <a:gamma/>
                      <a:shade val="22353"/>
                      <a:invGamma/>
                    </a:srgbClr>
                  </a:gs>
                  <a:gs pos="100000">
                    <a:srgbClr val="0099FF"/>
                  </a:gs>
                </a:gsLst>
                <a:path path="shape">
                  <a:fillToRect l="50000" t="50000" r="50000" b="50000"/>
                </a:path>
              </a:gra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200"/>
                  <a:t>O</a:t>
                </a:r>
              </a:p>
            </p:txBody>
          </p:sp>
          <p:sp>
            <p:nvSpPr>
              <p:cNvPr id="143392" name="Oval 32"/>
              <p:cNvSpPr>
                <a:spLocks noChangeArrowheads="1"/>
              </p:cNvSpPr>
              <p:nvPr/>
            </p:nvSpPr>
            <p:spPr bwMode="auto">
              <a:xfrm>
                <a:off x="930" y="2387"/>
                <a:ext cx="362" cy="362"/>
              </a:xfrm>
              <a:prstGeom prst="ellipse">
                <a:avLst/>
              </a:prstGeom>
              <a:gradFill rotWithShape="1">
                <a:gsLst>
                  <a:gs pos="0">
                    <a:srgbClr val="FF66FF">
                      <a:gamma/>
                      <a:shade val="22353"/>
                      <a:invGamma/>
                    </a:srgbClr>
                  </a:gs>
                  <a:gs pos="100000">
                    <a:srgbClr val="FF66FF"/>
                  </a:gs>
                </a:gsLst>
                <a:path path="shape">
                  <a:fillToRect l="50000" t="50000" r="50000" b="50000"/>
                </a:path>
              </a:gra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200"/>
                  <a:t>Si</a:t>
                </a:r>
              </a:p>
            </p:txBody>
          </p:sp>
          <p:sp>
            <p:nvSpPr>
              <p:cNvPr id="143393" name="Oval 33"/>
              <p:cNvSpPr>
                <a:spLocks noChangeArrowheads="1"/>
              </p:cNvSpPr>
              <p:nvPr/>
            </p:nvSpPr>
            <p:spPr bwMode="auto">
              <a:xfrm>
                <a:off x="477" y="2932"/>
                <a:ext cx="362" cy="362"/>
              </a:xfrm>
              <a:prstGeom prst="ellipse">
                <a:avLst/>
              </a:prstGeom>
              <a:gradFill rotWithShape="1">
                <a:gsLst>
                  <a:gs pos="0">
                    <a:srgbClr val="0099FF">
                      <a:gamma/>
                      <a:shade val="22353"/>
                      <a:invGamma/>
                    </a:srgbClr>
                  </a:gs>
                  <a:gs pos="100000">
                    <a:srgbClr val="0099FF"/>
                  </a:gs>
                </a:gsLst>
                <a:path path="shape">
                  <a:fillToRect l="50000" t="50000" r="50000" b="50000"/>
                </a:path>
              </a:gra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200"/>
                  <a:t>O</a:t>
                </a:r>
              </a:p>
            </p:txBody>
          </p:sp>
          <p:sp>
            <p:nvSpPr>
              <p:cNvPr id="143394" name="Oval 34"/>
              <p:cNvSpPr>
                <a:spLocks noChangeArrowheads="1"/>
              </p:cNvSpPr>
              <p:nvPr/>
            </p:nvSpPr>
            <p:spPr bwMode="auto">
              <a:xfrm>
                <a:off x="1247" y="3022"/>
                <a:ext cx="362" cy="362"/>
              </a:xfrm>
              <a:prstGeom prst="ellipse">
                <a:avLst/>
              </a:prstGeom>
              <a:gradFill rotWithShape="1">
                <a:gsLst>
                  <a:gs pos="0">
                    <a:srgbClr val="0099FF">
                      <a:gamma/>
                      <a:shade val="22353"/>
                      <a:invGamma/>
                    </a:srgbClr>
                  </a:gs>
                  <a:gs pos="100000">
                    <a:srgbClr val="0099FF"/>
                  </a:gs>
                </a:gsLst>
                <a:path path="shape">
                  <a:fillToRect l="50000" t="50000" r="50000" b="50000"/>
                </a:path>
              </a:gra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200"/>
                  <a:t>O</a:t>
                </a:r>
              </a:p>
            </p:txBody>
          </p:sp>
          <p:sp>
            <p:nvSpPr>
              <p:cNvPr id="143395" name="Oval 35"/>
              <p:cNvSpPr>
                <a:spLocks noChangeArrowheads="1"/>
              </p:cNvSpPr>
              <p:nvPr/>
            </p:nvSpPr>
            <p:spPr bwMode="auto">
              <a:xfrm>
                <a:off x="114" y="2569"/>
                <a:ext cx="362" cy="362"/>
              </a:xfrm>
              <a:prstGeom prst="ellipse">
                <a:avLst/>
              </a:prstGeom>
              <a:gradFill rotWithShape="1">
                <a:gsLst>
                  <a:gs pos="0">
                    <a:srgbClr val="0099FF">
                      <a:gamma/>
                      <a:shade val="22353"/>
                      <a:invGamma/>
                    </a:srgbClr>
                  </a:gs>
                  <a:gs pos="100000">
                    <a:srgbClr val="0099FF"/>
                  </a:gs>
                </a:gsLst>
                <a:path path="shape">
                  <a:fillToRect l="50000" t="50000" r="50000" b="50000"/>
                </a:path>
              </a:gra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200"/>
                  <a:t>O</a:t>
                </a:r>
              </a:p>
            </p:txBody>
          </p:sp>
          <p:sp>
            <p:nvSpPr>
              <p:cNvPr id="143396" name="Oval 36"/>
              <p:cNvSpPr>
                <a:spLocks noChangeArrowheads="1"/>
              </p:cNvSpPr>
              <p:nvPr/>
            </p:nvSpPr>
            <p:spPr bwMode="auto">
              <a:xfrm>
                <a:off x="1927" y="2296"/>
                <a:ext cx="362" cy="362"/>
              </a:xfrm>
              <a:prstGeom prst="ellipse">
                <a:avLst/>
              </a:prstGeom>
              <a:gradFill rotWithShape="1">
                <a:gsLst>
                  <a:gs pos="0">
                    <a:srgbClr val="FF66FF">
                      <a:gamma/>
                      <a:shade val="22353"/>
                      <a:invGamma/>
                    </a:srgbClr>
                  </a:gs>
                  <a:gs pos="100000">
                    <a:srgbClr val="FF66FF"/>
                  </a:gs>
                </a:gsLst>
                <a:path path="shape">
                  <a:fillToRect l="50000" t="50000" r="50000" b="50000"/>
                </a:path>
              </a:gra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200"/>
                  <a:t>Si</a:t>
                </a:r>
              </a:p>
            </p:txBody>
          </p:sp>
          <p:sp>
            <p:nvSpPr>
              <p:cNvPr id="143397" name="Oval 37"/>
              <p:cNvSpPr>
                <a:spLocks noChangeArrowheads="1"/>
              </p:cNvSpPr>
              <p:nvPr/>
            </p:nvSpPr>
            <p:spPr bwMode="auto">
              <a:xfrm>
                <a:off x="1837" y="2886"/>
                <a:ext cx="362" cy="362"/>
              </a:xfrm>
              <a:prstGeom prst="ellipse">
                <a:avLst/>
              </a:prstGeom>
              <a:gradFill rotWithShape="1">
                <a:gsLst>
                  <a:gs pos="0">
                    <a:srgbClr val="0099FF">
                      <a:gamma/>
                      <a:shade val="22353"/>
                      <a:invGamma/>
                    </a:srgbClr>
                  </a:gs>
                  <a:gs pos="100000">
                    <a:srgbClr val="0099FF"/>
                  </a:gs>
                </a:gsLst>
                <a:path path="shape">
                  <a:fillToRect l="50000" t="50000" r="50000" b="50000"/>
                </a:path>
              </a:gra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200"/>
                  <a:t>O</a:t>
                </a:r>
              </a:p>
            </p:txBody>
          </p:sp>
          <p:sp>
            <p:nvSpPr>
              <p:cNvPr id="143398" name="Oval 38"/>
              <p:cNvSpPr>
                <a:spLocks noChangeArrowheads="1"/>
              </p:cNvSpPr>
              <p:nvPr/>
            </p:nvSpPr>
            <p:spPr bwMode="auto">
              <a:xfrm>
                <a:off x="2426" y="2750"/>
                <a:ext cx="362" cy="362"/>
              </a:xfrm>
              <a:prstGeom prst="ellipse">
                <a:avLst/>
              </a:prstGeom>
              <a:gradFill rotWithShape="1">
                <a:gsLst>
                  <a:gs pos="0">
                    <a:srgbClr val="0099FF">
                      <a:gamma/>
                      <a:shade val="22353"/>
                      <a:invGamma/>
                    </a:srgbClr>
                  </a:gs>
                  <a:gs pos="100000">
                    <a:srgbClr val="0099FF"/>
                  </a:gs>
                </a:gsLst>
                <a:path path="shape">
                  <a:fillToRect l="50000" t="50000" r="50000" b="50000"/>
                </a:path>
              </a:gra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200"/>
                  <a:t>O</a:t>
                </a:r>
              </a:p>
            </p:txBody>
          </p:sp>
          <p:sp>
            <p:nvSpPr>
              <p:cNvPr id="143399" name="Oval 39"/>
              <p:cNvSpPr>
                <a:spLocks noChangeArrowheads="1"/>
              </p:cNvSpPr>
              <p:nvPr/>
            </p:nvSpPr>
            <p:spPr bwMode="auto">
              <a:xfrm>
                <a:off x="2653" y="2205"/>
                <a:ext cx="362" cy="362"/>
              </a:xfrm>
              <a:prstGeom prst="ellipse">
                <a:avLst/>
              </a:prstGeom>
              <a:gradFill rotWithShape="1">
                <a:gsLst>
                  <a:gs pos="0">
                    <a:srgbClr val="0099FF">
                      <a:gamma/>
                      <a:shade val="22353"/>
                      <a:invGamma/>
                    </a:srgbClr>
                  </a:gs>
                  <a:gs pos="100000">
                    <a:srgbClr val="0099FF"/>
                  </a:gs>
                </a:gsLst>
                <a:path path="shape">
                  <a:fillToRect l="50000" t="50000" r="50000" b="50000"/>
                </a:path>
              </a:gra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200"/>
                  <a:t>O</a:t>
                </a:r>
              </a:p>
            </p:txBody>
          </p:sp>
          <p:sp>
            <p:nvSpPr>
              <p:cNvPr id="143400" name="Oval 40"/>
              <p:cNvSpPr>
                <a:spLocks noChangeArrowheads="1"/>
              </p:cNvSpPr>
              <p:nvPr/>
            </p:nvSpPr>
            <p:spPr bwMode="auto">
              <a:xfrm>
                <a:off x="1383" y="1207"/>
                <a:ext cx="362" cy="362"/>
              </a:xfrm>
              <a:prstGeom prst="ellipse">
                <a:avLst/>
              </a:prstGeom>
              <a:gradFill rotWithShape="1">
                <a:gsLst>
                  <a:gs pos="0">
                    <a:srgbClr val="FF66FF">
                      <a:gamma/>
                      <a:shade val="22353"/>
                      <a:invGamma/>
                    </a:srgbClr>
                  </a:gs>
                  <a:gs pos="100000">
                    <a:srgbClr val="FF66FF"/>
                  </a:gs>
                </a:gsLst>
                <a:path path="shape">
                  <a:fillToRect l="50000" t="50000" r="50000" b="50000"/>
                </a:path>
              </a:gra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200"/>
                  <a:t>Si</a:t>
                </a:r>
              </a:p>
            </p:txBody>
          </p:sp>
        </p:grpSp>
      </p:grpSp>
      <p:sp>
        <p:nvSpPr>
          <p:cNvPr id="143402" name="Text Box 42"/>
          <p:cNvSpPr txBox="1">
            <a:spLocks noChangeArrowheads="1"/>
          </p:cNvSpPr>
          <p:nvPr/>
        </p:nvSpPr>
        <p:spPr bwMode="auto">
          <a:xfrm>
            <a:off x="0" y="620713"/>
            <a:ext cx="68770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solidFill>
                  <a:srgbClr val="CCCCFF"/>
                </a:solidFill>
              </a:rPr>
              <a:t>Notice that giant covalent structures have very different properties to individual covalent molecules:</a:t>
            </a:r>
          </a:p>
        </p:txBody>
      </p:sp>
    </p:spTree>
    <p:extLst>
      <p:ext uri="{BB962C8B-B14F-4D97-AF65-F5344CB8AC3E}">
        <p14:creationId xmlns:p14="http://schemas.microsoft.com/office/powerpoint/2010/main" val="15194740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402"/>
                                        </p:tgtEl>
                                        <p:attrNameLst>
                                          <p:attrName>style.visibility</p:attrName>
                                        </p:attrNameLst>
                                      </p:cBhvr>
                                      <p:to>
                                        <p:strVal val="visible"/>
                                      </p:to>
                                    </p:set>
                                    <p:animEffect transition="in" filter="wipe(left)">
                                      <p:cBhvr>
                                        <p:cTn id="7" dur="500"/>
                                        <p:tgtEl>
                                          <p:spTgt spid="1434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43374"/>
                                        </p:tgtEl>
                                        <p:attrNameLst>
                                          <p:attrName>style.visibility</p:attrName>
                                        </p:attrNameLst>
                                      </p:cBhvr>
                                      <p:to>
                                        <p:strVal val="visible"/>
                                      </p:to>
                                    </p:set>
                                    <p:anim calcmode="lin" valueType="num">
                                      <p:cBhvr additive="base">
                                        <p:cTn id="12" dur="500" fill="hold"/>
                                        <p:tgtEl>
                                          <p:spTgt spid="143374"/>
                                        </p:tgtEl>
                                        <p:attrNameLst>
                                          <p:attrName>ppt_x</p:attrName>
                                        </p:attrNameLst>
                                      </p:cBhvr>
                                      <p:tavLst>
                                        <p:tav tm="0">
                                          <p:val>
                                            <p:strVal val="#ppt_x"/>
                                          </p:val>
                                        </p:tav>
                                        <p:tav tm="100000">
                                          <p:val>
                                            <p:strVal val="#ppt_x"/>
                                          </p:val>
                                        </p:tav>
                                      </p:tavLst>
                                    </p:anim>
                                    <p:anim calcmode="lin" valueType="num">
                                      <p:cBhvr additive="base">
                                        <p:cTn id="13" dur="500" fill="hold"/>
                                        <p:tgtEl>
                                          <p:spTgt spid="143374"/>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143403"/>
                                        </p:tgtEl>
                                        <p:attrNameLst>
                                          <p:attrName>style.visibility</p:attrName>
                                        </p:attrNameLst>
                                      </p:cBhvr>
                                      <p:to>
                                        <p:strVal val="visible"/>
                                      </p:to>
                                    </p:set>
                                    <p:animEffect transition="in" filter="wipe(left)">
                                      <p:cBhvr>
                                        <p:cTn id="18" dur="500"/>
                                        <p:tgtEl>
                                          <p:spTgt spid="14340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143368"/>
                                        </p:tgtEl>
                                        <p:attrNameLst>
                                          <p:attrName>style.visibility</p:attrName>
                                        </p:attrNameLst>
                                      </p:cBhvr>
                                      <p:to>
                                        <p:strVal val="visible"/>
                                      </p:to>
                                    </p:set>
                                    <p:animEffect transition="in" filter="wipe(left)">
                                      <p:cBhvr>
                                        <p:cTn id="23" dur="500"/>
                                        <p:tgtEl>
                                          <p:spTgt spid="14336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143404"/>
                                        </p:tgtEl>
                                        <p:attrNameLst>
                                          <p:attrName>style.visibility</p:attrName>
                                        </p:attrNameLst>
                                      </p:cBhvr>
                                      <p:to>
                                        <p:strVal val="visible"/>
                                      </p:to>
                                    </p:set>
                                    <p:animEffect transition="in" filter="wipe(left)">
                                      <p:cBhvr>
                                        <p:cTn id="28" dur="500"/>
                                        <p:tgtEl>
                                          <p:spTgt spid="1434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74" grpId="0" animBg="1"/>
      <p:bldP spid="14340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Date Placeholder 3"/>
          <p:cNvSpPr>
            <a:spLocks noGrp="1"/>
          </p:cNvSpPr>
          <p:nvPr>
            <p:ph type="dt" sz="quarter" idx="10"/>
          </p:nvPr>
        </p:nvSpPr>
        <p:spPr>
          <a:noFill/>
        </p:spPr>
        <p:txBody>
          <a:bodyP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fld id="{DE540617-600F-4092-98EB-F6B54D5D9C65}" type="datetime1">
              <a:rPr lang="en-GB" altLang="en-US" sz="1800" smtClean="0">
                <a:solidFill>
                  <a:schemeClr val="folHlink"/>
                </a:solidFill>
              </a:rPr>
              <a:pPr eaLnBrk="1" hangingPunct="1"/>
              <a:t>02/06/2020</a:t>
            </a:fld>
            <a:endParaRPr lang="en-GB" altLang="en-US" sz="1800">
              <a:solidFill>
                <a:schemeClr val="folHlink"/>
              </a:solidFill>
            </a:endParaRPr>
          </a:p>
        </p:txBody>
      </p:sp>
      <p:sp>
        <p:nvSpPr>
          <p:cNvPr id="191490" name="Rectangle 2"/>
          <p:cNvSpPr>
            <a:spLocks noGrp="1" noChangeArrowheads="1"/>
          </p:cNvSpPr>
          <p:nvPr>
            <p:ph type="title"/>
          </p:nvPr>
        </p:nvSpPr>
        <p:spPr/>
        <p:txBody>
          <a:bodyPr/>
          <a:lstStyle/>
          <a:p>
            <a:pPr eaLnBrk="1" hangingPunct="1">
              <a:defRPr/>
            </a:pPr>
            <a:r>
              <a:rPr lang="en-GB"/>
              <a:t>Using Covalent Structures</a:t>
            </a:r>
          </a:p>
        </p:txBody>
      </p:sp>
      <p:graphicFrame>
        <p:nvGraphicFramePr>
          <p:cNvPr id="191491" name="Group 3"/>
          <p:cNvGraphicFramePr>
            <a:graphicFrameLocks noGrp="1"/>
          </p:cNvGraphicFramePr>
          <p:nvPr>
            <p:ph idx="1"/>
            <p:extLst>
              <p:ext uri="{D42A27DB-BD31-4B8C-83A1-F6EECF244321}">
                <p14:modId xmlns:p14="http://schemas.microsoft.com/office/powerpoint/2010/main" val="3354730440"/>
              </p:ext>
            </p:extLst>
          </p:nvPr>
        </p:nvGraphicFramePr>
        <p:xfrm>
          <a:off x="179388" y="1052513"/>
          <a:ext cx="8785225" cy="5046662"/>
        </p:xfrm>
        <a:graphic>
          <a:graphicData uri="http://schemas.openxmlformats.org/drawingml/2006/table">
            <a:tbl>
              <a:tblPr/>
              <a:tblGrid>
                <a:gridCol w="2197100">
                  <a:extLst>
                    <a:ext uri="{9D8B030D-6E8A-4147-A177-3AD203B41FA5}">
                      <a16:colId xmlns:a16="http://schemas.microsoft.com/office/drawing/2014/main" val="20000"/>
                    </a:ext>
                  </a:extLst>
                </a:gridCol>
                <a:gridCol w="2195512">
                  <a:extLst>
                    <a:ext uri="{9D8B030D-6E8A-4147-A177-3AD203B41FA5}">
                      <a16:colId xmlns:a16="http://schemas.microsoft.com/office/drawing/2014/main" val="20001"/>
                    </a:ext>
                  </a:extLst>
                </a:gridCol>
                <a:gridCol w="2197100">
                  <a:extLst>
                    <a:ext uri="{9D8B030D-6E8A-4147-A177-3AD203B41FA5}">
                      <a16:colId xmlns:a16="http://schemas.microsoft.com/office/drawing/2014/main" val="20002"/>
                    </a:ext>
                  </a:extLst>
                </a:gridCol>
                <a:gridCol w="2195513">
                  <a:extLst>
                    <a:ext uri="{9D8B030D-6E8A-4147-A177-3AD203B41FA5}">
                      <a16:colId xmlns:a16="http://schemas.microsoft.com/office/drawing/2014/main" val="20003"/>
                    </a:ext>
                  </a:extLst>
                </a:gridCol>
              </a:tblGrid>
              <a:tr h="100797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400" b="1" i="0" u="none" strike="noStrike" cap="none" normalizeH="0" baseline="0" dirty="0">
                          <a:ln>
                            <a:noFill/>
                          </a:ln>
                          <a:solidFill>
                            <a:srgbClr val="CCECFF"/>
                          </a:solidFill>
                          <a:effectLst/>
                          <a:latin typeface="Comic Sans MS" pitchFamily="66" charset="0"/>
                        </a:rPr>
                        <a:t>Element/ compound</a:t>
                      </a: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400" b="1" i="0" u="none" strike="noStrike" cap="none" normalizeH="0" baseline="0">
                          <a:ln>
                            <a:noFill/>
                          </a:ln>
                          <a:solidFill>
                            <a:srgbClr val="FFFF99"/>
                          </a:solidFill>
                          <a:effectLst/>
                          <a:latin typeface="Comic Sans MS" pitchFamily="66" charset="0"/>
                        </a:rPr>
                        <a:t>Property</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400" b="1" i="0" u="none" strike="noStrike" cap="none" normalizeH="0" baseline="0">
                          <a:ln>
                            <a:noFill/>
                          </a:ln>
                          <a:solidFill>
                            <a:srgbClr val="FFCCFF"/>
                          </a:solidFill>
                          <a:effectLst/>
                          <a:latin typeface="Comic Sans MS" pitchFamily="66" charset="0"/>
                        </a:rPr>
                        <a:t>Uses</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400" b="1" i="0" u="none" strike="noStrike" cap="none" normalizeH="0" baseline="0">
                          <a:ln>
                            <a:noFill/>
                          </a:ln>
                          <a:solidFill>
                            <a:srgbClr val="CCFFCC"/>
                          </a:solidFill>
                          <a:effectLst/>
                          <a:latin typeface="Comic Sans MS" pitchFamily="66" charset="0"/>
                        </a:rPr>
                        <a:t>Why?</a:t>
                      </a:r>
                    </a:p>
                  </a:txBody>
                  <a:tcPr marT="45716" marB="45716" horzOverflow="overflow">
                    <a:lnL w="12700" cap="flat" cmpd="sng" algn="ctr">
                      <a:solidFill>
                        <a:schemeClr val="bg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5447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400" b="0" i="0" u="none" strike="noStrike" cap="none" normalizeH="0" baseline="0">
                          <a:ln>
                            <a:noFill/>
                          </a:ln>
                          <a:solidFill>
                            <a:srgbClr val="CCECFF"/>
                          </a:solidFill>
                          <a:effectLst/>
                          <a:latin typeface="Comic Sans MS" pitchFamily="66" charset="0"/>
                        </a:rPr>
                        <a:t>Carbon – diamond</a:t>
                      </a: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400" b="0" i="0" u="none" strike="noStrike" cap="none" normalizeH="0" baseline="0">
                          <a:ln>
                            <a:noFill/>
                          </a:ln>
                          <a:solidFill>
                            <a:srgbClr val="FFFF99"/>
                          </a:solidFill>
                          <a:effectLst/>
                          <a:latin typeface="Comic Sans MS" pitchFamily="66" charset="0"/>
                        </a:rPr>
                        <a:t>Very hard</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400" b="0" i="0" u="none" strike="noStrike" cap="none" normalizeH="0" baseline="0">
                          <a:ln>
                            <a:noFill/>
                          </a:ln>
                          <a:solidFill>
                            <a:srgbClr val="FFCCFF"/>
                          </a:solidFill>
                          <a:effectLst/>
                          <a:latin typeface="Comic Sans MS" pitchFamily="66" charset="0"/>
                        </a:rPr>
                        <a:t>Drill tips</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400" b="0" i="0" u="none" strike="noStrike" cap="none" normalizeH="0" baseline="0">
                          <a:ln>
                            <a:noFill/>
                          </a:ln>
                          <a:solidFill>
                            <a:srgbClr val="CCFFCC"/>
                          </a:solidFill>
                          <a:effectLst/>
                          <a:latin typeface="Comic Sans MS" pitchFamily="66" charset="0"/>
                        </a:rPr>
                        <a:t>Extremely strong covalent structure</a:t>
                      </a:r>
                    </a:p>
                  </a:txBody>
                  <a:tcPr marT="45716" marB="45716" horzOverflow="overflow">
                    <a:lnL w="12700" cap="flat" cmpd="sng" algn="ctr">
                      <a:solidFill>
                        <a:schemeClr val="bg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429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400" b="0" i="0" u="none" strike="noStrike" cap="none" normalizeH="0" baseline="0" dirty="0">
                          <a:ln>
                            <a:noFill/>
                          </a:ln>
                          <a:solidFill>
                            <a:srgbClr val="CCECFF"/>
                          </a:solidFill>
                          <a:effectLst/>
                          <a:latin typeface="Comic Sans MS" pitchFamily="66" charset="0"/>
                        </a:rPr>
                        <a:t>Carbon - graphite</a:t>
                      </a: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400" b="0" i="0" u="none" strike="noStrike" cap="none" normalizeH="0" baseline="0" dirty="0">
                          <a:ln>
                            <a:noFill/>
                          </a:ln>
                          <a:solidFill>
                            <a:srgbClr val="FFFF99"/>
                          </a:solidFill>
                          <a:effectLst/>
                          <a:latin typeface="Comic Sans MS" pitchFamily="66" charset="0"/>
                        </a:rPr>
                        <a:t>Soft</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400" b="0" i="0" u="none" strike="noStrike" cap="none" normalizeH="0" baseline="0" dirty="0">
                          <a:ln>
                            <a:noFill/>
                          </a:ln>
                          <a:solidFill>
                            <a:srgbClr val="FFCCFF"/>
                          </a:solidFill>
                          <a:effectLst/>
                          <a:latin typeface="Comic Sans MS" pitchFamily="66" charset="0"/>
                        </a:rPr>
                        <a:t>Lubricants</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400" b="0" i="0" u="none" strike="noStrike" cap="none" normalizeH="0" baseline="0" dirty="0">
                          <a:ln>
                            <a:noFill/>
                          </a:ln>
                          <a:solidFill>
                            <a:srgbClr val="CCFFCC"/>
                          </a:solidFill>
                          <a:effectLst/>
                          <a:latin typeface="Comic Sans MS" pitchFamily="66" charset="0"/>
                        </a:rPr>
                        <a:t>Layers “slip” off each other</a:t>
                      </a:r>
                    </a:p>
                  </a:txBody>
                  <a:tcPr marT="45716" marB="45716" horzOverflow="overflow">
                    <a:lnL w="12700" cap="flat" cmpd="sng" algn="ctr">
                      <a:solidFill>
                        <a:schemeClr val="bg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4131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400" b="0" i="0" u="none" strike="noStrike" cap="none" normalizeH="0" baseline="0" dirty="0">
                          <a:ln>
                            <a:noFill/>
                          </a:ln>
                          <a:solidFill>
                            <a:srgbClr val="CCECFF"/>
                          </a:solidFill>
                          <a:effectLst/>
                          <a:latin typeface="Comic Sans MS" pitchFamily="66" charset="0"/>
                        </a:rPr>
                        <a:t>Carbon - graphite</a:t>
                      </a: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400" b="0" i="0" u="none" strike="noStrike" cap="none" normalizeH="0" baseline="0" dirty="0">
                          <a:ln>
                            <a:noFill/>
                          </a:ln>
                          <a:solidFill>
                            <a:srgbClr val="FFFF99"/>
                          </a:solidFill>
                          <a:effectLst/>
                          <a:latin typeface="Comic Sans MS" pitchFamily="66" charset="0"/>
                        </a:rPr>
                        <a:t>Conducts electricity</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400" b="0" i="0" u="none" strike="noStrike" cap="none" normalizeH="0" baseline="0" dirty="0">
                          <a:ln>
                            <a:noFill/>
                          </a:ln>
                          <a:solidFill>
                            <a:srgbClr val="FFCCFF"/>
                          </a:solidFill>
                          <a:effectLst/>
                          <a:latin typeface="Comic Sans MS" pitchFamily="66" charset="0"/>
                        </a:rPr>
                        <a:t>Making electrodes</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400" b="0" i="0" u="none" strike="noStrike" cap="none" normalizeH="0" baseline="0" dirty="0">
                          <a:ln>
                            <a:noFill/>
                          </a:ln>
                          <a:solidFill>
                            <a:srgbClr val="CCFFCC"/>
                          </a:solidFill>
                          <a:effectLst/>
                          <a:latin typeface="Comic Sans MS" pitchFamily="66" charset="0"/>
                        </a:rPr>
                        <a:t>Free electrons to carry charge</a:t>
                      </a:r>
                    </a:p>
                  </a:txBody>
                  <a:tcPr marT="45716" marB="45716" horzOverflow="overflow">
                    <a:lnL w="12700" cap="flat" cmpd="sng" algn="ctr">
                      <a:solidFill>
                        <a:schemeClr val="bg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461589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91491"/>
                                        </p:tgtEl>
                                        <p:attrNameLst>
                                          <p:attrName>style.visibility</p:attrName>
                                        </p:attrNameLst>
                                      </p:cBhvr>
                                      <p:to>
                                        <p:strVal val="visible"/>
                                      </p:to>
                                    </p:set>
                                    <p:animEffect transition="in" filter="wipe(up)">
                                      <p:cBhvr>
                                        <p:cTn id="7" dur="500"/>
                                        <p:tgtEl>
                                          <p:spTgt spid="1914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Graphene</a:t>
            </a:r>
          </a:p>
        </p:txBody>
      </p:sp>
      <p:sp>
        <p:nvSpPr>
          <p:cNvPr id="4" name="Date Placeholder 3"/>
          <p:cNvSpPr>
            <a:spLocks noGrp="1"/>
          </p:cNvSpPr>
          <p:nvPr>
            <p:ph type="dt" sz="half" idx="10"/>
          </p:nvPr>
        </p:nvSpPr>
        <p:spPr/>
        <p:txBody>
          <a:bodyPr/>
          <a:lstStyle/>
          <a:p>
            <a:fld id="{80146E47-8789-4289-B764-637CF4CD0420}" type="datetime1">
              <a:rPr lang="en-GB" altLang="en-US" smtClean="0"/>
              <a:pPr/>
              <a:t>02/06/2020</a:t>
            </a:fld>
            <a:endParaRPr lang="en-GB" altLang="en-US"/>
          </a:p>
        </p:txBody>
      </p:sp>
      <p:pic>
        <p:nvPicPr>
          <p:cNvPr id="273410" name="Picture 2" descr="http://regmedia.co.uk/2014/04/04/graphene.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179512" y="1052736"/>
            <a:ext cx="4536504" cy="399119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148064" y="1052736"/>
            <a:ext cx="3888432" cy="1200329"/>
          </a:xfrm>
          <a:prstGeom prst="rect">
            <a:avLst/>
          </a:prstGeom>
          <a:solidFill>
            <a:srgbClr val="C00000"/>
          </a:solidFill>
        </p:spPr>
        <p:txBody>
          <a:bodyPr wrap="square" rtlCol="0">
            <a:spAutoFit/>
          </a:bodyPr>
          <a:lstStyle/>
          <a:p>
            <a:r>
              <a:rPr lang="en-GB" dirty="0"/>
              <a:t>Graphene is a single layer of carbon atoms and is only one atom thick.</a:t>
            </a:r>
          </a:p>
        </p:txBody>
      </p:sp>
      <p:sp>
        <p:nvSpPr>
          <p:cNvPr id="6" name="TextBox 5"/>
          <p:cNvSpPr txBox="1"/>
          <p:nvPr/>
        </p:nvSpPr>
        <p:spPr>
          <a:xfrm>
            <a:off x="5148064" y="4077072"/>
            <a:ext cx="3888432" cy="830997"/>
          </a:xfrm>
          <a:prstGeom prst="rect">
            <a:avLst/>
          </a:prstGeom>
          <a:solidFill>
            <a:srgbClr val="006666"/>
          </a:solidFill>
        </p:spPr>
        <p:txBody>
          <a:bodyPr wrap="square" rtlCol="0">
            <a:spAutoFit/>
          </a:bodyPr>
          <a:lstStyle/>
          <a:p>
            <a:r>
              <a:rPr lang="en-GB" dirty="0"/>
              <a:t>Q. What are the possible uses for graphene?</a:t>
            </a:r>
          </a:p>
        </p:txBody>
      </p:sp>
    </p:spTree>
    <p:extLst>
      <p:ext uri="{BB962C8B-B14F-4D97-AF65-F5344CB8AC3E}">
        <p14:creationId xmlns:p14="http://schemas.microsoft.com/office/powerpoint/2010/main" val="187416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3410"/>
                                        </p:tgtEl>
                                        <p:attrNameLst>
                                          <p:attrName>style.visibility</p:attrName>
                                        </p:attrNameLst>
                                      </p:cBhvr>
                                      <p:to>
                                        <p:strVal val="visible"/>
                                      </p:to>
                                    </p:set>
                                    <p:animEffect transition="in" filter="wipe(left)">
                                      <p:cBhvr>
                                        <p:cTn id="7" dur="500"/>
                                        <p:tgtEl>
                                          <p:spTgt spid="2734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Date Placeholder 3"/>
          <p:cNvSpPr>
            <a:spLocks noGrp="1"/>
          </p:cNvSpPr>
          <p:nvPr>
            <p:ph type="dt" sz="quarter" idx="10"/>
          </p:nvPr>
        </p:nvSpPr>
        <p:spPr>
          <a:noFill/>
        </p:spPr>
        <p:txBody>
          <a:bodyP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fld id="{659EF222-48B0-4A85-845E-0CAB61D13D56}" type="datetime1">
              <a:rPr lang="en-GB" altLang="en-US" sz="1800" smtClean="0">
                <a:solidFill>
                  <a:schemeClr val="folHlink"/>
                </a:solidFill>
              </a:rPr>
              <a:pPr eaLnBrk="1" hangingPunct="1"/>
              <a:t>02/06/2020</a:t>
            </a:fld>
            <a:endParaRPr lang="en-GB" altLang="en-US" sz="1800">
              <a:solidFill>
                <a:schemeClr val="folHlink"/>
              </a:solidFill>
            </a:endParaRPr>
          </a:p>
        </p:txBody>
      </p:sp>
      <p:sp>
        <p:nvSpPr>
          <p:cNvPr id="144386" name="Rectangle 2"/>
          <p:cNvSpPr>
            <a:spLocks noGrp="1" noChangeArrowheads="1"/>
          </p:cNvSpPr>
          <p:nvPr>
            <p:ph type="title"/>
          </p:nvPr>
        </p:nvSpPr>
        <p:spPr/>
        <p:txBody>
          <a:bodyPr/>
          <a:lstStyle/>
          <a:p>
            <a:pPr eaLnBrk="1" hangingPunct="1">
              <a:defRPr/>
            </a:pPr>
            <a:r>
              <a:rPr lang="en-GB"/>
              <a:t>Fullerenes</a:t>
            </a:r>
          </a:p>
        </p:txBody>
      </p:sp>
      <p:grpSp>
        <p:nvGrpSpPr>
          <p:cNvPr id="144394" name="Group 10"/>
          <p:cNvGrpSpPr>
            <a:grpSpLocks/>
          </p:cNvGrpSpPr>
          <p:nvPr/>
        </p:nvGrpSpPr>
        <p:grpSpPr bwMode="auto">
          <a:xfrm>
            <a:off x="3707904" y="2034287"/>
            <a:ext cx="4677169" cy="4105325"/>
            <a:chOff x="2472" y="1434"/>
            <a:chExt cx="3288" cy="2886"/>
          </a:xfrm>
        </p:grpSpPr>
        <p:pic>
          <p:nvPicPr>
            <p:cNvPr id="26631" name="Picture 1" descr="buckeyb.gif"/>
            <p:cNvPicPr>
              <a:picLocks noChangeAspect="1"/>
            </p:cNvPicPr>
            <p:nvPr/>
          </p:nvPicPr>
          <p:blipFill>
            <a:blip r:embed="rId2" cstate="print">
              <a:extLst>
                <a:ext uri="{28A0092B-C50C-407E-A947-70E740481C1C}">
                  <a14:useLocalDpi xmlns:a14="http://schemas.microsoft.com/office/drawing/2010/main" val="0"/>
                </a:ext>
              </a:extLst>
            </a:blip>
            <a:srcRect r="3955"/>
            <a:stretch>
              <a:fillRect/>
            </a:stretch>
          </p:blipFill>
          <p:spPr bwMode="auto">
            <a:xfrm>
              <a:off x="3696" y="1434"/>
              <a:ext cx="2064" cy="2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2" name="Picture 7" descr="fig3bna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2" y="2742"/>
              <a:ext cx="1474" cy="1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4393" name="Picture 9" descr="nano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447344"/>
            <a:ext cx="3131840" cy="2725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388" name="Text Box 4"/>
          <p:cNvSpPr txBox="1">
            <a:spLocks noChangeArrowheads="1"/>
          </p:cNvSpPr>
          <p:nvPr/>
        </p:nvSpPr>
        <p:spPr bwMode="auto">
          <a:xfrm>
            <a:off x="0" y="710848"/>
            <a:ext cx="903605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spcBef>
                <a:spcPct val="50000"/>
              </a:spcBef>
            </a:pPr>
            <a:r>
              <a:rPr lang="en-GB" altLang="en-US" sz="2000" dirty="0">
                <a:solidFill>
                  <a:srgbClr val="CCECFF"/>
                </a:solidFill>
              </a:rPr>
              <a:t>Carbon can also be used to make structures called “fullerenes” (carbon atoms forming an empty shape).  Fullerenes are compounds used for applications such as drug delivery, lubricants, catalysts and nanotubes and they have structures based on carbon atoms forming hexagonal rings:</a:t>
            </a:r>
          </a:p>
        </p:txBody>
      </p:sp>
      <p:sp>
        <p:nvSpPr>
          <p:cNvPr id="2" name="TextBox 1"/>
          <p:cNvSpPr txBox="1"/>
          <p:nvPr/>
        </p:nvSpPr>
        <p:spPr>
          <a:xfrm>
            <a:off x="0" y="5226784"/>
            <a:ext cx="3131840" cy="1631216"/>
          </a:xfrm>
          <a:prstGeom prst="rect">
            <a:avLst/>
          </a:prstGeom>
          <a:solidFill>
            <a:srgbClr val="006666"/>
          </a:solidFill>
        </p:spPr>
        <p:txBody>
          <a:bodyPr wrap="square" rtlCol="0">
            <a:spAutoFit/>
          </a:bodyPr>
          <a:lstStyle/>
          <a:p>
            <a:r>
              <a:rPr lang="en-GB" sz="2000" dirty="0"/>
              <a:t>A “carbon nanotube” – high tensile strength, high electrical conductivity and high thermal conductivity</a:t>
            </a:r>
          </a:p>
        </p:txBody>
      </p:sp>
      <p:sp>
        <p:nvSpPr>
          <p:cNvPr id="3" name="TextBox 2"/>
          <p:cNvSpPr txBox="1"/>
          <p:nvPr/>
        </p:nvSpPr>
        <p:spPr>
          <a:xfrm>
            <a:off x="6084168" y="5085184"/>
            <a:ext cx="2951882" cy="1323439"/>
          </a:xfrm>
          <a:prstGeom prst="rect">
            <a:avLst/>
          </a:prstGeom>
          <a:solidFill>
            <a:srgbClr val="C00000"/>
          </a:solidFill>
        </p:spPr>
        <p:txBody>
          <a:bodyPr wrap="square" rtlCol="0">
            <a:spAutoFit/>
          </a:bodyPr>
          <a:lstStyle/>
          <a:p>
            <a:r>
              <a:rPr lang="en-GB" sz="2000" dirty="0"/>
              <a:t>“Buckminster fullerene” – the first fullerene to be discovered in 1960.</a:t>
            </a:r>
          </a:p>
        </p:txBody>
      </p:sp>
    </p:spTree>
    <p:extLst>
      <p:ext uri="{BB962C8B-B14F-4D97-AF65-F5344CB8AC3E}">
        <p14:creationId xmlns:p14="http://schemas.microsoft.com/office/powerpoint/2010/main" val="15100982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4388"/>
                                        </p:tgtEl>
                                        <p:attrNameLst>
                                          <p:attrName>style.visibility</p:attrName>
                                        </p:attrNameLst>
                                      </p:cBhvr>
                                      <p:to>
                                        <p:strVal val="visible"/>
                                      </p:to>
                                    </p:set>
                                    <p:animEffect transition="in" filter="wipe(left)">
                                      <p:cBhvr>
                                        <p:cTn id="7" dur="500"/>
                                        <p:tgtEl>
                                          <p:spTgt spid="1443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44393"/>
                                        </p:tgtEl>
                                        <p:attrNameLst>
                                          <p:attrName>style.visibility</p:attrName>
                                        </p:attrNameLst>
                                      </p:cBhvr>
                                      <p:to>
                                        <p:strVal val="visible"/>
                                      </p:to>
                                    </p:set>
                                    <p:animEffect transition="in" filter="wipe(left)">
                                      <p:cBhvr>
                                        <p:cTn id="12" dur="500"/>
                                        <p:tgtEl>
                                          <p:spTgt spid="14439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44394"/>
                                        </p:tgtEl>
                                        <p:attrNameLst>
                                          <p:attrName>style.visibility</p:attrName>
                                        </p:attrNameLst>
                                      </p:cBhvr>
                                      <p:to>
                                        <p:strVal val="visible"/>
                                      </p:to>
                                    </p:set>
                                    <p:animEffect transition="in" filter="wipe(left)">
                                      <p:cBhvr>
                                        <p:cTn id="22" dur="500"/>
                                        <p:tgtEl>
                                          <p:spTgt spid="14439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8" grpId="0"/>
      <p:bldP spid="2" grpId="0" animBg="1"/>
      <p:bldP spid="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Rectangle 4"/>
          <p:cNvSpPr>
            <a:spLocks noGrp="1" noChangeArrowheads="1"/>
          </p:cNvSpPr>
          <p:nvPr>
            <p:ph type="dt" sz="half" idx="10"/>
          </p:nvPr>
        </p:nvSpPr>
        <p:spPr>
          <a:ln/>
        </p:spPr>
        <p:txBody>
          <a:bodyPr/>
          <a:lstStyle/>
          <a:p>
            <a:fld id="{8A86D22C-9DC6-4269-ADBF-EC5CF56F99F7}" type="datetime1">
              <a:rPr lang="en-GB" altLang="en-US"/>
              <a:pPr/>
              <a:t>02/06/2020</a:t>
            </a:fld>
            <a:endParaRPr lang="en-GB" altLang="en-US"/>
          </a:p>
        </p:txBody>
      </p:sp>
      <p:sp>
        <p:nvSpPr>
          <p:cNvPr id="106" name="Date Placeholder 3"/>
          <p:cNvSpPr txBox="1">
            <a:spLocks noGrp="1"/>
          </p:cNvSpPr>
          <p:nvPr/>
        </p:nvSpPr>
        <p:spPr bwMode="auto">
          <a:xfrm>
            <a:off x="7239000" y="0"/>
            <a:ext cx="1905000" cy="457200"/>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bg1"/>
                </a:solidFill>
                <a:latin typeface="Comic Sans MS" panose="030F0702030302020204" pitchFamily="66" charset="0"/>
                <a:ea typeface="MS PGothic" panose="020B0600070205080204" pitchFamily="34" charset="-128"/>
              </a:defRPr>
            </a:lvl1pPr>
            <a:lvl2pPr marL="742950" indent="-285750" eaLnBrk="0" hangingPunct="0">
              <a:defRPr sz="2400">
                <a:solidFill>
                  <a:schemeClr val="bg1"/>
                </a:solidFill>
                <a:latin typeface="Comic Sans MS" panose="030F0702030302020204" pitchFamily="66" charset="0"/>
                <a:ea typeface="MS PGothic" panose="020B0600070205080204" pitchFamily="34" charset="-128"/>
              </a:defRPr>
            </a:lvl2pPr>
            <a:lvl3pPr marL="1143000" indent="-228600" eaLnBrk="0" hangingPunct="0">
              <a:defRPr sz="2400">
                <a:solidFill>
                  <a:schemeClr val="bg1"/>
                </a:solidFill>
                <a:latin typeface="Comic Sans MS" panose="030F0702030302020204" pitchFamily="66" charset="0"/>
                <a:ea typeface="MS PGothic" panose="020B0600070205080204" pitchFamily="34" charset="-128"/>
              </a:defRPr>
            </a:lvl3pPr>
            <a:lvl4pPr marL="1600200" indent="-228600" eaLnBrk="0" hangingPunct="0">
              <a:defRPr sz="2400">
                <a:solidFill>
                  <a:schemeClr val="bg1"/>
                </a:solidFill>
                <a:latin typeface="Comic Sans MS" panose="030F0702030302020204" pitchFamily="66" charset="0"/>
                <a:ea typeface="MS PGothic" panose="020B0600070205080204" pitchFamily="34" charset="-128"/>
              </a:defRPr>
            </a:lvl4pPr>
            <a:lvl5pPr marL="2057400" indent="-228600" eaLnBrk="0" hangingPunct="0">
              <a:defRPr sz="2400">
                <a:solidFill>
                  <a:schemeClr val="bg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a:solidFill>
                  <a:schemeClr val="bg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a:solidFill>
                  <a:schemeClr val="bg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a:solidFill>
                  <a:schemeClr val="bg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a:solidFill>
                  <a:schemeClr val="bg1"/>
                </a:solidFill>
                <a:latin typeface="Comic Sans MS" panose="030F0702030302020204" pitchFamily="66" charset="0"/>
                <a:ea typeface="MS PGothic" panose="020B0600070205080204" pitchFamily="34" charset="-128"/>
              </a:defRPr>
            </a:lvl9pPr>
          </a:lstStyle>
          <a:p>
            <a:pPr algn="r" eaLnBrk="1" hangingPunct="1"/>
            <a:fld id="{5C06D3D8-12C1-4656-8F7D-3D6ACA290197}" type="datetime1">
              <a:rPr lang="en-GB" altLang="en-US" sz="1800">
                <a:solidFill>
                  <a:schemeClr val="folHlink"/>
                </a:solidFill>
              </a:rPr>
              <a:pPr algn="r" eaLnBrk="1" hangingPunct="1"/>
              <a:t>02/06/2020</a:t>
            </a:fld>
            <a:endParaRPr lang="en-GB" altLang="en-US" sz="1800">
              <a:solidFill>
                <a:schemeClr val="folHlink"/>
              </a:solidFill>
            </a:endParaRPr>
          </a:p>
        </p:txBody>
      </p:sp>
      <p:sp>
        <p:nvSpPr>
          <p:cNvPr id="351234" name="Rectangle 2"/>
          <p:cNvSpPr>
            <a:spLocks noGrp="1" noChangeArrowheads="1"/>
          </p:cNvSpPr>
          <p:nvPr>
            <p:ph type="title"/>
          </p:nvPr>
        </p:nvSpPr>
        <p:spPr/>
        <p:txBody>
          <a:bodyPr/>
          <a:lstStyle/>
          <a:p>
            <a:pPr eaLnBrk="1" hangingPunct="1">
              <a:defRPr/>
            </a:pPr>
            <a:r>
              <a:rPr lang="en-GB" dirty="0">
                <a:ea typeface="+mj-ea"/>
                <a:cs typeface="+mj-cs"/>
              </a:rPr>
              <a:t>Polymers</a:t>
            </a:r>
            <a:endParaRPr lang="en-US" dirty="0">
              <a:ea typeface="+mj-ea"/>
              <a:cs typeface="+mj-cs"/>
            </a:endParaRPr>
          </a:p>
        </p:txBody>
      </p:sp>
      <p:grpSp>
        <p:nvGrpSpPr>
          <p:cNvPr id="351235" name="Group 3"/>
          <p:cNvGrpSpPr>
            <a:grpSpLocks/>
          </p:cNvGrpSpPr>
          <p:nvPr/>
        </p:nvGrpSpPr>
        <p:grpSpPr bwMode="auto">
          <a:xfrm>
            <a:off x="7315200" y="361988"/>
            <a:ext cx="1673225" cy="1800225"/>
            <a:chOff x="3669" y="1218"/>
            <a:chExt cx="1054" cy="1134"/>
          </a:xfrm>
        </p:grpSpPr>
        <p:sp>
          <p:nvSpPr>
            <p:cNvPr id="351236" name="Line 4"/>
            <p:cNvSpPr>
              <a:spLocks noChangeShapeType="1"/>
            </p:cNvSpPr>
            <p:nvPr/>
          </p:nvSpPr>
          <p:spPr bwMode="auto">
            <a:xfrm>
              <a:off x="4060" y="1632"/>
              <a:ext cx="407" cy="0"/>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defRPr/>
              </a:pPr>
              <a:endParaRPr lang="en-US">
                <a:latin typeface="Comic Sans MS" charset="0"/>
                <a:ea typeface="ＭＳ Ｐゴシック" charset="0"/>
              </a:endParaRPr>
            </a:p>
          </p:txBody>
        </p:sp>
        <p:sp>
          <p:nvSpPr>
            <p:cNvPr id="351237" name="Line 5"/>
            <p:cNvSpPr>
              <a:spLocks noChangeShapeType="1"/>
            </p:cNvSpPr>
            <p:nvPr/>
          </p:nvSpPr>
          <p:spPr bwMode="auto">
            <a:xfrm flipH="1">
              <a:off x="4482" y="1313"/>
              <a:ext cx="144" cy="230"/>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defRPr/>
              </a:pPr>
              <a:endParaRPr lang="en-US">
                <a:latin typeface="Comic Sans MS" charset="0"/>
                <a:ea typeface="ＭＳ Ｐゴシック" charset="0"/>
              </a:endParaRPr>
            </a:p>
          </p:txBody>
        </p:sp>
        <p:sp>
          <p:nvSpPr>
            <p:cNvPr id="351238" name="Line 6"/>
            <p:cNvSpPr>
              <a:spLocks noChangeShapeType="1"/>
            </p:cNvSpPr>
            <p:nvPr/>
          </p:nvSpPr>
          <p:spPr bwMode="auto">
            <a:xfrm flipV="1">
              <a:off x="3779" y="1615"/>
              <a:ext cx="184" cy="235"/>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defRPr/>
              </a:pPr>
              <a:endParaRPr lang="en-US">
                <a:latin typeface="Comic Sans MS" charset="0"/>
                <a:ea typeface="ＭＳ Ｐゴシック" charset="0"/>
              </a:endParaRPr>
            </a:p>
          </p:txBody>
        </p:sp>
        <p:sp>
          <p:nvSpPr>
            <p:cNvPr id="351239" name="Line 7"/>
            <p:cNvSpPr>
              <a:spLocks noChangeShapeType="1"/>
            </p:cNvSpPr>
            <p:nvPr/>
          </p:nvSpPr>
          <p:spPr bwMode="auto">
            <a:xfrm>
              <a:off x="4451" y="1611"/>
              <a:ext cx="165" cy="212"/>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defRPr/>
              </a:pPr>
              <a:endParaRPr lang="en-US">
                <a:latin typeface="Comic Sans MS" charset="0"/>
                <a:ea typeface="ＭＳ Ｐゴシック" charset="0"/>
              </a:endParaRPr>
            </a:p>
          </p:txBody>
        </p:sp>
        <p:sp>
          <p:nvSpPr>
            <p:cNvPr id="351240" name="Line 8"/>
            <p:cNvSpPr>
              <a:spLocks noChangeShapeType="1"/>
            </p:cNvSpPr>
            <p:nvPr/>
          </p:nvSpPr>
          <p:spPr bwMode="auto">
            <a:xfrm>
              <a:off x="3801" y="1320"/>
              <a:ext cx="208" cy="298"/>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defRPr/>
              </a:pPr>
              <a:endParaRPr lang="en-US">
                <a:latin typeface="Comic Sans MS" charset="0"/>
                <a:ea typeface="ＭＳ Ｐゴシック" charset="0"/>
              </a:endParaRPr>
            </a:p>
          </p:txBody>
        </p:sp>
        <p:sp>
          <p:nvSpPr>
            <p:cNvPr id="351241" name="Line 9"/>
            <p:cNvSpPr>
              <a:spLocks noChangeShapeType="1"/>
            </p:cNvSpPr>
            <p:nvPr/>
          </p:nvSpPr>
          <p:spPr bwMode="auto">
            <a:xfrm>
              <a:off x="3914" y="1547"/>
              <a:ext cx="578" cy="1"/>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defRPr/>
              </a:pPr>
              <a:endParaRPr lang="en-US">
                <a:latin typeface="Comic Sans MS" charset="0"/>
                <a:ea typeface="ＭＳ Ｐゴシック" charset="0"/>
              </a:endParaRPr>
            </a:p>
          </p:txBody>
        </p:sp>
        <p:sp>
          <p:nvSpPr>
            <p:cNvPr id="351242" name="Oval 10"/>
            <p:cNvSpPr>
              <a:spLocks noChangeArrowheads="1"/>
            </p:cNvSpPr>
            <p:nvPr/>
          </p:nvSpPr>
          <p:spPr bwMode="auto">
            <a:xfrm>
              <a:off x="3839" y="1440"/>
              <a:ext cx="300" cy="300"/>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cy-GB">
                  <a:solidFill>
                    <a:schemeClr val="tx1"/>
                  </a:solidFill>
                  <a:latin typeface="Comic Sans MS" charset="0"/>
                  <a:ea typeface="ＭＳ Ｐゴシック" charset="0"/>
                </a:rPr>
                <a:t>C</a:t>
              </a:r>
              <a:endParaRPr lang="en-US">
                <a:solidFill>
                  <a:schemeClr val="tx1"/>
                </a:solidFill>
                <a:latin typeface="Comic Sans MS" charset="0"/>
                <a:ea typeface="ＭＳ Ｐゴシック" charset="0"/>
              </a:endParaRPr>
            </a:p>
          </p:txBody>
        </p:sp>
        <p:sp>
          <p:nvSpPr>
            <p:cNvPr id="351243" name="Oval 11"/>
            <p:cNvSpPr>
              <a:spLocks noChangeArrowheads="1"/>
            </p:cNvSpPr>
            <p:nvPr/>
          </p:nvSpPr>
          <p:spPr bwMode="auto">
            <a:xfrm>
              <a:off x="4271" y="1440"/>
              <a:ext cx="300" cy="300"/>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cy-GB">
                  <a:solidFill>
                    <a:schemeClr val="tx1"/>
                  </a:solidFill>
                  <a:latin typeface="Comic Sans MS" charset="0"/>
                  <a:ea typeface="ＭＳ Ｐゴシック" charset="0"/>
                </a:rPr>
                <a:t>C</a:t>
              </a:r>
              <a:endParaRPr lang="en-US">
                <a:solidFill>
                  <a:schemeClr val="tx1"/>
                </a:solidFill>
                <a:latin typeface="Comic Sans MS" charset="0"/>
                <a:ea typeface="ＭＳ Ｐゴシック" charset="0"/>
              </a:endParaRPr>
            </a:p>
          </p:txBody>
        </p:sp>
        <p:sp>
          <p:nvSpPr>
            <p:cNvPr id="351244" name="Oval 12"/>
            <p:cNvSpPr>
              <a:spLocks noChangeArrowheads="1"/>
            </p:cNvSpPr>
            <p:nvPr/>
          </p:nvSpPr>
          <p:spPr bwMode="auto">
            <a:xfrm>
              <a:off x="4531" y="1752"/>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cy-GB" sz="1800">
                  <a:solidFill>
                    <a:schemeClr val="tx1"/>
                  </a:solidFill>
                  <a:latin typeface="Comic Sans MS" charset="0"/>
                  <a:ea typeface="ＭＳ Ｐゴシック" charset="0"/>
                </a:rPr>
                <a:t>H</a:t>
              </a:r>
              <a:endParaRPr lang="en-US" sz="1800">
                <a:solidFill>
                  <a:schemeClr val="tx1"/>
                </a:solidFill>
                <a:latin typeface="Comic Sans MS" charset="0"/>
                <a:ea typeface="ＭＳ Ｐゴシック" charset="0"/>
              </a:endParaRPr>
            </a:p>
          </p:txBody>
        </p:sp>
        <p:sp>
          <p:nvSpPr>
            <p:cNvPr id="351245" name="Oval 13"/>
            <p:cNvSpPr>
              <a:spLocks noChangeArrowheads="1"/>
            </p:cNvSpPr>
            <p:nvPr/>
          </p:nvSpPr>
          <p:spPr bwMode="auto">
            <a:xfrm>
              <a:off x="3669" y="1757"/>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cy-GB" sz="1800">
                  <a:solidFill>
                    <a:schemeClr val="tx1"/>
                  </a:solidFill>
                  <a:latin typeface="Comic Sans MS" charset="0"/>
                  <a:ea typeface="ＭＳ Ｐゴシック" charset="0"/>
                </a:rPr>
                <a:t>H</a:t>
              </a:r>
              <a:endParaRPr lang="en-US" sz="1800">
                <a:solidFill>
                  <a:schemeClr val="tx1"/>
                </a:solidFill>
                <a:latin typeface="Comic Sans MS" charset="0"/>
                <a:ea typeface="ＭＳ Ｐゴシック" charset="0"/>
              </a:endParaRPr>
            </a:p>
          </p:txBody>
        </p:sp>
        <p:sp>
          <p:nvSpPr>
            <p:cNvPr id="351246" name="Oval 14"/>
            <p:cNvSpPr>
              <a:spLocks noChangeArrowheads="1"/>
            </p:cNvSpPr>
            <p:nvPr/>
          </p:nvSpPr>
          <p:spPr bwMode="auto">
            <a:xfrm>
              <a:off x="4531" y="1224"/>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cy-GB" sz="1800">
                  <a:solidFill>
                    <a:schemeClr val="tx1"/>
                  </a:solidFill>
                  <a:latin typeface="Comic Sans MS" charset="0"/>
                  <a:ea typeface="ＭＳ Ｐゴシック" charset="0"/>
                </a:rPr>
                <a:t>H</a:t>
              </a:r>
              <a:endParaRPr lang="en-US" sz="1800">
                <a:solidFill>
                  <a:schemeClr val="tx1"/>
                </a:solidFill>
                <a:latin typeface="Comic Sans MS" charset="0"/>
                <a:ea typeface="ＭＳ Ｐゴシック" charset="0"/>
              </a:endParaRPr>
            </a:p>
          </p:txBody>
        </p:sp>
        <p:sp>
          <p:nvSpPr>
            <p:cNvPr id="351247" name="Oval 15"/>
            <p:cNvSpPr>
              <a:spLocks noChangeArrowheads="1"/>
            </p:cNvSpPr>
            <p:nvPr/>
          </p:nvSpPr>
          <p:spPr bwMode="auto">
            <a:xfrm>
              <a:off x="3681" y="1218"/>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cy-GB" sz="1800">
                  <a:solidFill>
                    <a:schemeClr val="tx1"/>
                  </a:solidFill>
                  <a:latin typeface="Comic Sans MS" charset="0"/>
                  <a:ea typeface="ＭＳ Ｐゴシック" charset="0"/>
                </a:rPr>
                <a:t>H</a:t>
              </a:r>
              <a:endParaRPr lang="en-US" sz="1800">
                <a:solidFill>
                  <a:schemeClr val="tx1"/>
                </a:solidFill>
                <a:latin typeface="Comic Sans MS" charset="0"/>
                <a:ea typeface="ＭＳ Ｐゴシック" charset="0"/>
              </a:endParaRPr>
            </a:p>
          </p:txBody>
        </p:sp>
        <p:sp>
          <p:nvSpPr>
            <p:cNvPr id="351248" name="Text Box 16"/>
            <p:cNvSpPr txBox="1">
              <a:spLocks noChangeArrowheads="1"/>
            </p:cNvSpPr>
            <p:nvPr/>
          </p:nvSpPr>
          <p:spPr bwMode="auto">
            <a:xfrm>
              <a:off x="3743" y="2064"/>
              <a:ext cx="912"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GB">
                  <a:solidFill>
                    <a:srgbClr val="66CCFF"/>
                  </a:solidFill>
                  <a:latin typeface="Comic Sans MS" charset="0"/>
                  <a:ea typeface="ＭＳ Ｐゴシック" charset="0"/>
                </a:rPr>
                <a:t>Ethene</a:t>
              </a:r>
            </a:p>
          </p:txBody>
        </p:sp>
      </p:grpSp>
      <p:sp>
        <p:nvSpPr>
          <p:cNvPr id="351249" name="Text Box 17"/>
          <p:cNvSpPr txBox="1">
            <a:spLocks noChangeArrowheads="1"/>
          </p:cNvSpPr>
          <p:nvPr/>
        </p:nvSpPr>
        <p:spPr bwMode="auto">
          <a:xfrm>
            <a:off x="51395" y="882650"/>
            <a:ext cx="6572250" cy="12003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sz="2400">
                <a:solidFill>
                  <a:schemeClr val="bg1"/>
                </a:solidFill>
                <a:latin typeface="Comic Sans MS" panose="030F0702030302020204" pitchFamily="66" charset="0"/>
                <a:ea typeface="MS PGothic" panose="020B0600070205080204" pitchFamily="34" charset="-128"/>
              </a:defRPr>
            </a:lvl1pPr>
            <a:lvl2pPr marL="742950" indent="-285750" eaLnBrk="0" hangingPunct="0">
              <a:defRPr sz="2400">
                <a:solidFill>
                  <a:schemeClr val="bg1"/>
                </a:solidFill>
                <a:latin typeface="Comic Sans MS" panose="030F0702030302020204" pitchFamily="66" charset="0"/>
                <a:ea typeface="MS PGothic" panose="020B0600070205080204" pitchFamily="34" charset="-128"/>
              </a:defRPr>
            </a:lvl2pPr>
            <a:lvl3pPr marL="1143000" indent="-228600" eaLnBrk="0" hangingPunct="0">
              <a:defRPr sz="2400">
                <a:solidFill>
                  <a:schemeClr val="bg1"/>
                </a:solidFill>
                <a:latin typeface="Comic Sans MS" panose="030F0702030302020204" pitchFamily="66" charset="0"/>
                <a:ea typeface="MS PGothic" panose="020B0600070205080204" pitchFamily="34" charset="-128"/>
              </a:defRPr>
            </a:lvl3pPr>
            <a:lvl4pPr marL="1600200" indent="-228600" eaLnBrk="0" hangingPunct="0">
              <a:defRPr sz="2400">
                <a:solidFill>
                  <a:schemeClr val="bg1"/>
                </a:solidFill>
                <a:latin typeface="Comic Sans MS" panose="030F0702030302020204" pitchFamily="66" charset="0"/>
                <a:ea typeface="MS PGothic" panose="020B0600070205080204" pitchFamily="34" charset="-128"/>
              </a:defRPr>
            </a:lvl4pPr>
            <a:lvl5pPr marL="2057400" indent="-228600" eaLnBrk="0" hangingPunct="0">
              <a:defRPr sz="2400">
                <a:solidFill>
                  <a:schemeClr val="bg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a:solidFill>
                  <a:schemeClr val="bg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a:solidFill>
                  <a:schemeClr val="bg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a:solidFill>
                  <a:schemeClr val="bg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a:solidFill>
                  <a:schemeClr val="bg1"/>
                </a:solidFill>
                <a:latin typeface="Comic Sans MS" panose="030F0702030302020204" pitchFamily="66" charset="0"/>
                <a:ea typeface="MS PGothic" panose="020B0600070205080204" pitchFamily="34" charset="-128"/>
              </a:defRPr>
            </a:lvl9pPr>
          </a:lstStyle>
          <a:p>
            <a:pPr eaLnBrk="1" hangingPunct="1">
              <a:spcBef>
                <a:spcPct val="50000"/>
              </a:spcBef>
            </a:pPr>
            <a:r>
              <a:rPr lang="en-GB" altLang="en-US" dirty="0">
                <a:solidFill>
                  <a:srgbClr val="CCECFF"/>
                </a:solidFill>
              </a:rPr>
              <a:t>Polymers are compounds consisting of large molecules containing chains of carbon atoms.  For example, take </a:t>
            </a:r>
            <a:r>
              <a:rPr lang="en-GB" altLang="en-US" dirty="0" err="1">
                <a:solidFill>
                  <a:srgbClr val="CCECFF"/>
                </a:solidFill>
              </a:rPr>
              <a:t>ethene</a:t>
            </a:r>
            <a:r>
              <a:rPr lang="en-GB" altLang="en-US" dirty="0">
                <a:solidFill>
                  <a:srgbClr val="CCECFF"/>
                </a:solidFill>
              </a:rPr>
              <a:t>:</a:t>
            </a:r>
          </a:p>
        </p:txBody>
      </p:sp>
      <p:sp>
        <p:nvSpPr>
          <p:cNvPr id="351250" name="Text Box 18"/>
          <p:cNvSpPr txBox="1">
            <a:spLocks noChangeArrowheads="1"/>
          </p:cNvSpPr>
          <p:nvPr/>
        </p:nvSpPr>
        <p:spPr bwMode="auto">
          <a:xfrm>
            <a:off x="0" y="2889250"/>
            <a:ext cx="718978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b="1">
                <a:solidFill>
                  <a:srgbClr val="99FFCC"/>
                </a:solidFill>
                <a:latin typeface="Comic Sans MS" charset="0"/>
                <a:ea typeface="ＭＳ Ｐゴシック" charset="0"/>
              </a:rPr>
              <a:t>Step 1: </a:t>
            </a:r>
            <a:r>
              <a:rPr lang="en-GB">
                <a:solidFill>
                  <a:srgbClr val="99FFCC"/>
                </a:solidFill>
                <a:latin typeface="Comic Sans MS" charset="0"/>
                <a:ea typeface="ＭＳ Ｐゴシック" charset="0"/>
              </a:rPr>
              <a:t>Break the double bond</a:t>
            </a:r>
            <a:endParaRPr lang="en-US">
              <a:solidFill>
                <a:srgbClr val="99FFCC"/>
              </a:solidFill>
              <a:latin typeface="Comic Sans MS" charset="0"/>
              <a:ea typeface="ＭＳ Ｐゴシック" charset="0"/>
            </a:endParaRPr>
          </a:p>
        </p:txBody>
      </p:sp>
      <p:grpSp>
        <p:nvGrpSpPr>
          <p:cNvPr id="351251" name="Group 19"/>
          <p:cNvGrpSpPr>
            <a:grpSpLocks/>
          </p:cNvGrpSpPr>
          <p:nvPr/>
        </p:nvGrpSpPr>
        <p:grpSpPr bwMode="auto">
          <a:xfrm>
            <a:off x="4806950" y="2522538"/>
            <a:ext cx="4183063" cy="1223962"/>
            <a:chOff x="3028" y="1589"/>
            <a:chExt cx="2635" cy="771"/>
          </a:xfrm>
        </p:grpSpPr>
        <p:grpSp>
          <p:nvGrpSpPr>
            <p:cNvPr id="94277" name="Group 20"/>
            <p:cNvGrpSpPr>
              <a:grpSpLocks/>
            </p:cNvGrpSpPr>
            <p:nvPr/>
          </p:nvGrpSpPr>
          <p:grpSpPr bwMode="auto">
            <a:xfrm>
              <a:off x="4463" y="1589"/>
              <a:ext cx="1200" cy="672"/>
              <a:chOff x="4463" y="1692"/>
              <a:chExt cx="1200" cy="672"/>
            </a:xfrm>
          </p:grpSpPr>
          <p:sp>
            <p:nvSpPr>
              <p:cNvPr id="351253" name="Line 21"/>
              <p:cNvSpPr>
                <a:spLocks noChangeShapeType="1"/>
              </p:cNvSpPr>
              <p:nvPr/>
            </p:nvSpPr>
            <p:spPr bwMode="auto">
              <a:xfrm>
                <a:off x="5279" y="1788"/>
                <a:ext cx="1" cy="576"/>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254" name="Line 22"/>
              <p:cNvSpPr>
                <a:spLocks noChangeShapeType="1"/>
              </p:cNvSpPr>
              <p:nvPr/>
            </p:nvSpPr>
            <p:spPr bwMode="auto">
              <a:xfrm>
                <a:off x="4847" y="1836"/>
                <a:ext cx="1" cy="528"/>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255" name="Line 23"/>
              <p:cNvSpPr>
                <a:spLocks noChangeShapeType="1"/>
              </p:cNvSpPr>
              <p:nvPr/>
            </p:nvSpPr>
            <p:spPr bwMode="auto">
              <a:xfrm>
                <a:off x="4559" y="2076"/>
                <a:ext cx="960" cy="1"/>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256" name="Oval 24"/>
              <p:cNvSpPr>
                <a:spLocks noChangeArrowheads="1"/>
              </p:cNvSpPr>
              <p:nvPr/>
            </p:nvSpPr>
            <p:spPr bwMode="auto">
              <a:xfrm>
                <a:off x="4703" y="1932"/>
                <a:ext cx="300" cy="300"/>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257" name="Oval 25"/>
              <p:cNvSpPr>
                <a:spLocks noChangeArrowheads="1"/>
              </p:cNvSpPr>
              <p:nvPr/>
            </p:nvSpPr>
            <p:spPr bwMode="auto">
              <a:xfrm>
                <a:off x="5135" y="1932"/>
                <a:ext cx="300" cy="300"/>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258" name="Oval 26"/>
              <p:cNvSpPr>
                <a:spLocks noChangeArrowheads="1"/>
              </p:cNvSpPr>
              <p:nvPr/>
            </p:nvSpPr>
            <p:spPr bwMode="auto">
              <a:xfrm>
                <a:off x="4463" y="1980"/>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259" name="Oval 27"/>
              <p:cNvSpPr>
                <a:spLocks noChangeArrowheads="1"/>
              </p:cNvSpPr>
              <p:nvPr/>
            </p:nvSpPr>
            <p:spPr bwMode="auto">
              <a:xfrm>
                <a:off x="5183" y="1692"/>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260" name="Oval 28"/>
              <p:cNvSpPr>
                <a:spLocks noChangeArrowheads="1"/>
              </p:cNvSpPr>
              <p:nvPr/>
            </p:nvSpPr>
            <p:spPr bwMode="auto">
              <a:xfrm>
                <a:off x="5471" y="1980"/>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261" name="Oval 29"/>
              <p:cNvSpPr>
                <a:spLocks noChangeArrowheads="1"/>
              </p:cNvSpPr>
              <p:nvPr/>
            </p:nvSpPr>
            <p:spPr bwMode="auto">
              <a:xfrm>
                <a:off x="4751" y="1692"/>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grpSp>
          <p:nvGrpSpPr>
            <p:cNvPr id="94278" name="Group 30"/>
            <p:cNvGrpSpPr>
              <a:grpSpLocks/>
            </p:cNvGrpSpPr>
            <p:nvPr/>
          </p:nvGrpSpPr>
          <p:grpSpPr bwMode="auto">
            <a:xfrm>
              <a:off x="3028" y="1629"/>
              <a:ext cx="1054" cy="731"/>
              <a:chOff x="3083" y="1701"/>
              <a:chExt cx="1054" cy="731"/>
            </a:xfrm>
          </p:grpSpPr>
          <p:sp>
            <p:nvSpPr>
              <p:cNvPr id="351263" name="Line 31"/>
              <p:cNvSpPr>
                <a:spLocks noChangeShapeType="1"/>
              </p:cNvSpPr>
              <p:nvPr/>
            </p:nvSpPr>
            <p:spPr bwMode="auto">
              <a:xfrm>
                <a:off x="3474" y="2115"/>
                <a:ext cx="407" cy="0"/>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264" name="Line 32"/>
              <p:cNvSpPr>
                <a:spLocks noChangeShapeType="1"/>
              </p:cNvSpPr>
              <p:nvPr/>
            </p:nvSpPr>
            <p:spPr bwMode="auto">
              <a:xfrm flipH="1">
                <a:off x="3896" y="1796"/>
                <a:ext cx="144" cy="230"/>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265" name="Line 33"/>
              <p:cNvSpPr>
                <a:spLocks noChangeShapeType="1"/>
              </p:cNvSpPr>
              <p:nvPr/>
            </p:nvSpPr>
            <p:spPr bwMode="auto">
              <a:xfrm flipV="1">
                <a:off x="3193" y="2098"/>
                <a:ext cx="184" cy="235"/>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266" name="Line 34"/>
              <p:cNvSpPr>
                <a:spLocks noChangeShapeType="1"/>
              </p:cNvSpPr>
              <p:nvPr/>
            </p:nvSpPr>
            <p:spPr bwMode="auto">
              <a:xfrm>
                <a:off x="3865" y="2094"/>
                <a:ext cx="165" cy="212"/>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267" name="Line 35"/>
              <p:cNvSpPr>
                <a:spLocks noChangeShapeType="1"/>
              </p:cNvSpPr>
              <p:nvPr/>
            </p:nvSpPr>
            <p:spPr bwMode="auto">
              <a:xfrm>
                <a:off x="3215" y="1803"/>
                <a:ext cx="208" cy="298"/>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268" name="Line 36"/>
              <p:cNvSpPr>
                <a:spLocks noChangeShapeType="1"/>
              </p:cNvSpPr>
              <p:nvPr/>
            </p:nvSpPr>
            <p:spPr bwMode="auto">
              <a:xfrm>
                <a:off x="3328" y="2030"/>
                <a:ext cx="578" cy="1"/>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269" name="Oval 37"/>
              <p:cNvSpPr>
                <a:spLocks noChangeArrowheads="1"/>
              </p:cNvSpPr>
              <p:nvPr/>
            </p:nvSpPr>
            <p:spPr bwMode="auto">
              <a:xfrm>
                <a:off x="3253" y="1923"/>
                <a:ext cx="300" cy="300"/>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270" name="Oval 38"/>
              <p:cNvSpPr>
                <a:spLocks noChangeArrowheads="1"/>
              </p:cNvSpPr>
              <p:nvPr/>
            </p:nvSpPr>
            <p:spPr bwMode="auto">
              <a:xfrm>
                <a:off x="3685" y="1923"/>
                <a:ext cx="300" cy="300"/>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271" name="Oval 39"/>
              <p:cNvSpPr>
                <a:spLocks noChangeArrowheads="1"/>
              </p:cNvSpPr>
              <p:nvPr/>
            </p:nvSpPr>
            <p:spPr bwMode="auto">
              <a:xfrm>
                <a:off x="3945" y="2235"/>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272" name="Oval 40"/>
              <p:cNvSpPr>
                <a:spLocks noChangeArrowheads="1"/>
              </p:cNvSpPr>
              <p:nvPr/>
            </p:nvSpPr>
            <p:spPr bwMode="auto">
              <a:xfrm>
                <a:off x="3083" y="2240"/>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273" name="Oval 41"/>
              <p:cNvSpPr>
                <a:spLocks noChangeArrowheads="1"/>
              </p:cNvSpPr>
              <p:nvPr/>
            </p:nvSpPr>
            <p:spPr bwMode="auto">
              <a:xfrm>
                <a:off x="3945" y="1707"/>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274" name="Oval 42"/>
              <p:cNvSpPr>
                <a:spLocks noChangeArrowheads="1"/>
              </p:cNvSpPr>
              <p:nvPr/>
            </p:nvSpPr>
            <p:spPr bwMode="auto">
              <a:xfrm>
                <a:off x="3095" y="1701"/>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
          <p:nvSpPr>
            <p:cNvPr id="351275" name="AutoShape 43"/>
            <p:cNvSpPr>
              <a:spLocks noChangeArrowheads="1"/>
            </p:cNvSpPr>
            <p:nvPr/>
          </p:nvSpPr>
          <p:spPr bwMode="auto">
            <a:xfrm>
              <a:off x="4129" y="1838"/>
              <a:ext cx="249" cy="273"/>
            </a:xfrm>
            <a:prstGeom prst="rightArrow">
              <a:avLst>
                <a:gd name="adj1" fmla="val 50185"/>
                <a:gd name="adj2" fmla="val 34537"/>
              </a:avLst>
            </a:prstGeom>
            <a:solidFill>
              <a:srgbClr val="FF00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
        <p:nvSpPr>
          <p:cNvPr id="351276" name="Text Box 44"/>
          <p:cNvSpPr txBox="1">
            <a:spLocks noChangeArrowheads="1"/>
          </p:cNvSpPr>
          <p:nvPr/>
        </p:nvSpPr>
        <p:spPr bwMode="auto">
          <a:xfrm>
            <a:off x="0" y="3992563"/>
            <a:ext cx="2424113" cy="1187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a:solidFill>
                  <a:srgbClr val="FF99FF"/>
                </a:solidFill>
                <a:latin typeface="Comic Sans MS" charset="0"/>
                <a:ea typeface="ＭＳ Ｐゴシック" charset="0"/>
              </a:rPr>
              <a:t>Step 2: Add the molecules together:</a:t>
            </a:r>
            <a:endParaRPr lang="en-US">
              <a:solidFill>
                <a:srgbClr val="FF99FF"/>
              </a:solidFill>
              <a:latin typeface="Comic Sans MS" charset="0"/>
              <a:ea typeface="ＭＳ Ｐゴシック" charset="0"/>
            </a:endParaRPr>
          </a:p>
        </p:txBody>
      </p:sp>
      <p:grpSp>
        <p:nvGrpSpPr>
          <p:cNvPr id="351277" name="Group 45"/>
          <p:cNvGrpSpPr>
            <a:grpSpLocks/>
          </p:cNvGrpSpPr>
          <p:nvPr/>
        </p:nvGrpSpPr>
        <p:grpSpPr bwMode="auto">
          <a:xfrm>
            <a:off x="2238375" y="3763963"/>
            <a:ext cx="6905625" cy="1470025"/>
            <a:chOff x="1410" y="2371"/>
            <a:chExt cx="4350" cy="926"/>
          </a:xfrm>
        </p:grpSpPr>
        <p:grpSp>
          <p:nvGrpSpPr>
            <p:cNvPr id="94237" name="Group 46"/>
            <p:cNvGrpSpPr>
              <a:grpSpLocks/>
            </p:cNvGrpSpPr>
            <p:nvPr/>
          </p:nvGrpSpPr>
          <p:grpSpPr bwMode="auto">
            <a:xfrm>
              <a:off x="4263" y="2615"/>
              <a:ext cx="1497" cy="673"/>
              <a:chOff x="2904" y="2561"/>
              <a:chExt cx="1724" cy="775"/>
            </a:xfrm>
          </p:grpSpPr>
          <p:sp>
            <p:nvSpPr>
              <p:cNvPr id="351279" name="Line 47"/>
              <p:cNvSpPr>
                <a:spLocks noChangeShapeType="1"/>
              </p:cNvSpPr>
              <p:nvPr/>
            </p:nvSpPr>
            <p:spPr bwMode="auto">
              <a:xfrm>
                <a:off x="4340" y="2701"/>
                <a:ext cx="1" cy="529"/>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280" name="Line 48"/>
              <p:cNvSpPr>
                <a:spLocks noChangeShapeType="1"/>
              </p:cNvSpPr>
              <p:nvPr/>
            </p:nvSpPr>
            <p:spPr bwMode="auto">
              <a:xfrm>
                <a:off x="3124" y="2687"/>
                <a:ext cx="1" cy="527"/>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281" name="Line 49"/>
              <p:cNvSpPr>
                <a:spLocks noChangeShapeType="1"/>
              </p:cNvSpPr>
              <p:nvPr/>
            </p:nvSpPr>
            <p:spPr bwMode="auto">
              <a:xfrm>
                <a:off x="3939" y="2657"/>
                <a:ext cx="1" cy="577"/>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282" name="Line 50"/>
              <p:cNvSpPr>
                <a:spLocks noChangeShapeType="1"/>
              </p:cNvSpPr>
              <p:nvPr/>
            </p:nvSpPr>
            <p:spPr bwMode="auto">
              <a:xfrm>
                <a:off x="3507" y="2705"/>
                <a:ext cx="0" cy="529"/>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283" name="Line 51"/>
              <p:cNvSpPr>
                <a:spLocks noChangeShapeType="1"/>
              </p:cNvSpPr>
              <p:nvPr/>
            </p:nvSpPr>
            <p:spPr bwMode="auto">
              <a:xfrm>
                <a:off x="2904" y="2944"/>
                <a:ext cx="1724" cy="0"/>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284" name="Oval 52"/>
              <p:cNvSpPr>
                <a:spLocks noChangeArrowheads="1"/>
              </p:cNvSpPr>
              <p:nvPr/>
            </p:nvSpPr>
            <p:spPr bwMode="auto">
              <a:xfrm>
                <a:off x="3364" y="2801"/>
                <a:ext cx="299" cy="304"/>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285" name="Oval 53"/>
              <p:cNvSpPr>
                <a:spLocks noChangeArrowheads="1"/>
              </p:cNvSpPr>
              <p:nvPr/>
            </p:nvSpPr>
            <p:spPr bwMode="auto">
              <a:xfrm>
                <a:off x="3795" y="2801"/>
                <a:ext cx="297" cy="304"/>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286" name="Oval 54"/>
              <p:cNvSpPr>
                <a:spLocks noChangeArrowheads="1"/>
              </p:cNvSpPr>
              <p:nvPr/>
            </p:nvSpPr>
            <p:spPr bwMode="auto">
              <a:xfrm>
                <a:off x="3843" y="3137"/>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287" name="Oval 55"/>
              <p:cNvSpPr>
                <a:spLocks noChangeArrowheads="1"/>
              </p:cNvSpPr>
              <p:nvPr/>
            </p:nvSpPr>
            <p:spPr bwMode="auto">
              <a:xfrm>
                <a:off x="3411" y="3137"/>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288" name="Oval 56"/>
              <p:cNvSpPr>
                <a:spLocks noChangeArrowheads="1"/>
              </p:cNvSpPr>
              <p:nvPr/>
            </p:nvSpPr>
            <p:spPr bwMode="auto">
              <a:xfrm>
                <a:off x="3843" y="2561"/>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289" name="Oval 57"/>
              <p:cNvSpPr>
                <a:spLocks noChangeArrowheads="1"/>
              </p:cNvSpPr>
              <p:nvPr/>
            </p:nvSpPr>
            <p:spPr bwMode="auto">
              <a:xfrm>
                <a:off x="3411" y="2561"/>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290" name="Oval 58"/>
              <p:cNvSpPr>
                <a:spLocks noChangeArrowheads="1"/>
              </p:cNvSpPr>
              <p:nvPr/>
            </p:nvSpPr>
            <p:spPr bwMode="auto">
              <a:xfrm>
                <a:off x="4183" y="2798"/>
                <a:ext cx="301" cy="298"/>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291" name="Oval 59"/>
              <p:cNvSpPr>
                <a:spLocks noChangeArrowheads="1"/>
              </p:cNvSpPr>
              <p:nvPr/>
            </p:nvSpPr>
            <p:spPr bwMode="auto">
              <a:xfrm>
                <a:off x="2974" y="2794"/>
                <a:ext cx="298" cy="303"/>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292" name="Oval 60"/>
              <p:cNvSpPr>
                <a:spLocks noChangeArrowheads="1"/>
              </p:cNvSpPr>
              <p:nvPr/>
            </p:nvSpPr>
            <p:spPr bwMode="auto">
              <a:xfrm>
                <a:off x="3025" y="2566"/>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293" name="Oval 61"/>
              <p:cNvSpPr>
                <a:spLocks noChangeArrowheads="1"/>
              </p:cNvSpPr>
              <p:nvPr/>
            </p:nvSpPr>
            <p:spPr bwMode="auto">
              <a:xfrm>
                <a:off x="4240" y="2563"/>
                <a:ext cx="192" cy="191"/>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294" name="Oval 62"/>
              <p:cNvSpPr>
                <a:spLocks noChangeArrowheads="1"/>
              </p:cNvSpPr>
              <p:nvPr/>
            </p:nvSpPr>
            <p:spPr bwMode="auto">
              <a:xfrm>
                <a:off x="4243" y="3143"/>
                <a:ext cx="191" cy="191"/>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295" name="Oval 63"/>
              <p:cNvSpPr>
                <a:spLocks noChangeArrowheads="1"/>
              </p:cNvSpPr>
              <p:nvPr/>
            </p:nvSpPr>
            <p:spPr bwMode="auto">
              <a:xfrm>
                <a:off x="3019" y="3144"/>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grpSp>
          <p:nvGrpSpPr>
            <p:cNvPr id="94238" name="Group 64"/>
            <p:cNvGrpSpPr>
              <a:grpSpLocks/>
            </p:cNvGrpSpPr>
            <p:nvPr/>
          </p:nvGrpSpPr>
          <p:grpSpPr bwMode="auto">
            <a:xfrm>
              <a:off x="1410" y="2371"/>
              <a:ext cx="1042" cy="584"/>
              <a:chOff x="4463" y="1692"/>
              <a:chExt cx="1200" cy="672"/>
            </a:xfrm>
          </p:grpSpPr>
          <p:sp>
            <p:nvSpPr>
              <p:cNvPr id="351297" name="Line 65"/>
              <p:cNvSpPr>
                <a:spLocks noChangeShapeType="1"/>
              </p:cNvSpPr>
              <p:nvPr/>
            </p:nvSpPr>
            <p:spPr bwMode="auto">
              <a:xfrm>
                <a:off x="5280" y="1788"/>
                <a:ext cx="0" cy="576"/>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298" name="Line 66"/>
              <p:cNvSpPr>
                <a:spLocks noChangeShapeType="1"/>
              </p:cNvSpPr>
              <p:nvPr/>
            </p:nvSpPr>
            <p:spPr bwMode="auto">
              <a:xfrm>
                <a:off x="4846" y="1836"/>
                <a:ext cx="0" cy="528"/>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299" name="Line 67"/>
              <p:cNvSpPr>
                <a:spLocks noChangeShapeType="1"/>
              </p:cNvSpPr>
              <p:nvPr/>
            </p:nvSpPr>
            <p:spPr bwMode="auto">
              <a:xfrm>
                <a:off x="4559" y="2076"/>
                <a:ext cx="960" cy="1"/>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300" name="Oval 68"/>
              <p:cNvSpPr>
                <a:spLocks noChangeArrowheads="1"/>
              </p:cNvSpPr>
              <p:nvPr/>
            </p:nvSpPr>
            <p:spPr bwMode="auto">
              <a:xfrm>
                <a:off x="4703" y="1932"/>
                <a:ext cx="304" cy="298"/>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301" name="Oval 69"/>
              <p:cNvSpPr>
                <a:spLocks noChangeArrowheads="1"/>
              </p:cNvSpPr>
              <p:nvPr/>
            </p:nvSpPr>
            <p:spPr bwMode="auto">
              <a:xfrm>
                <a:off x="5136" y="1932"/>
                <a:ext cx="299" cy="298"/>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302" name="Oval 70"/>
              <p:cNvSpPr>
                <a:spLocks noChangeArrowheads="1"/>
              </p:cNvSpPr>
              <p:nvPr/>
            </p:nvSpPr>
            <p:spPr bwMode="auto">
              <a:xfrm>
                <a:off x="4463" y="1980"/>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303" name="Oval 71"/>
              <p:cNvSpPr>
                <a:spLocks noChangeArrowheads="1"/>
              </p:cNvSpPr>
              <p:nvPr/>
            </p:nvSpPr>
            <p:spPr bwMode="auto">
              <a:xfrm>
                <a:off x="5183" y="1692"/>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304" name="Oval 72"/>
              <p:cNvSpPr>
                <a:spLocks noChangeArrowheads="1"/>
              </p:cNvSpPr>
              <p:nvPr/>
            </p:nvSpPr>
            <p:spPr bwMode="auto">
              <a:xfrm>
                <a:off x="5471" y="1980"/>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305" name="Oval 73"/>
              <p:cNvSpPr>
                <a:spLocks noChangeArrowheads="1"/>
              </p:cNvSpPr>
              <p:nvPr/>
            </p:nvSpPr>
            <p:spPr bwMode="auto">
              <a:xfrm>
                <a:off x="4751" y="1692"/>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grpSp>
          <p:nvGrpSpPr>
            <p:cNvPr id="94239" name="Group 74"/>
            <p:cNvGrpSpPr>
              <a:grpSpLocks/>
            </p:cNvGrpSpPr>
            <p:nvPr/>
          </p:nvGrpSpPr>
          <p:grpSpPr bwMode="auto">
            <a:xfrm>
              <a:off x="2647" y="2713"/>
              <a:ext cx="1042" cy="584"/>
              <a:chOff x="4463" y="1692"/>
              <a:chExt cx="1200" cy="672"/>
            </a:xfrm>
          </p:grpSpPr>
          <p:sp>
            <p:nvSpPr>
              <p:cNvPr id="351307" name="Line 75"/>
              <p:cNvSpPr>
                <a:spLocks noChangeShapeType="1"/>
              </p:cNvSpPr>
              <p:nvPr/>
            </p:nvSpPr>
            <p:spPr bwMode="auto">
              <a:xfrm>
                <a:off x="5280" y="1788"/>
                <a:ext cx="0" cy="576"/>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308" name="Line 76"/>
              <p:cNvSpPr>
                <a:spLocks noChangeShapeType="1"/>
              </p:cNvSpPr>
              <p:nvPr/>
            </p:nvSpPr>
            <p:spPr bwMode="auto">
              <a:xfrm>
                <a:off x="4846" y="1836"/>
                <a:ext cx="0" cy="528"/>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309" name="Line 77"/>
              <p:cNvSpPr>
                <a:spLocks noChangeShapeType="1"/>
              </p:cNvSpPr>
              <p:nvPr/>
            </p:nvSpPr>
            <p:spPr bwMode="auto">
              <a:xfrm>
                <a:off x="4559" y="2076"/>
                <a:ext cx="960" cy="1"/>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310" name="Oval 78"/>
              <p:cNvSpPr>
                <a:spLocks noChangeArrowheads="1"/>
              </p:cNvSpPr>
              <p:nvPr/>
            </p:nvSpPr>
            <p:spPr bwMode="auto">
              <a:xfrm>
                <a:off x="4703" y="1932"/>
                <a:ext cx="304" cy="298"/>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311" name="Oval 79"/>
              <p:cNvSpPr>
                <a:spLocks noChangeArrowheads="1"/>
              </p:cNvSpPr>
              <p:nvPr/>
            </p:nvSpPr>
            <p:spPr bwMode="auto">
              <a:xfrm>
                <a:off x="5136" y="1932"/>
                <a:ext cx="299" cy="298"/>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312" name="Oval 80"/>
              <p:cNvSpPr>
                <a:spLocks noChangeArrowheads="1"/>
              </p:cNvSpPr>
              <p:nvPr/>
            </p:nvSpPr>
            <p:spPr bwMode="auto">
              <a:xfrm>
                <a:off x="4463" y="1980"/>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313" name="Oval 81"/>
              <p:cNvSpPr>
                <a:spLocks noChangeArrowheads="1"/>
              </p:cNvSpPr>
              <p:nvPr/>
            </p:nvSpPr>
            <p:spPr bwMode="auto">
              <a:xfrm>
                <a:off x="5183" y="1692"/>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314" name="Oval 82"/>
              <p:cNvSpPr>
                <a:spLocks noChangeArrowheads="1"/>
              </p:cNvSpPr>
              <p:nvPr/>
            </p:nvSpPr>
            <p:spPr bwMode="auto">
              <a:xfrm>
                <a:off x="5471" y="1980"/>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315" name="Oval 83"/>
              <p:cNvSpPr>
                <a:spLocks noChangeArrowheads="1"/>
              </p:cNvSpPr>
              <p:nvPr/>
            </p:nvSpPr>
            <p:spPr bwMode="auto">
              <a:xfrm>
                <a:off x="4751" y="1692"/>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
          <p:nvSpPr>
            <p:cNvPr id="351316" name="AutoShape 84"/>
            <p:cNvSpPr>
              <a:spLocks noChangeArrowheads="1"/>
            </p:cNvSpPr>
            <p:nvPr/>
          </p:nvSpPr>
          <p:spPr bwMode="auto">
            <a:xfrm>
              <a:off x="3852" y="2823"/>
              <a:ext cx="249" cy="273"/>
            </a:xfrm>
            <a:prstGeom prst="rightArrow">
              <a:avLst>
                <a:gd name="adj1" fmla="val 50185"/>
                <a:gd name="adj2" fmla="val 34537"/>
              </a:avLst>
            </a:prstGeom>
            <a:solidFill>
              <a:srgbClr val="FF00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317" name="AutoShape 85"/>
            <p:cNvSpPr>
              <a:spLocks noChangeArrowheads="1"/>
            </p:cNvSpPr>
            <p:nvPr/>
          </p:nvSpPr>
          <p:spPr bwMode="auto">
            <a:xfrm>
              <a:off x="2407" y="2796"/>
              <a:ext cx="218" cy="218"/>
            </a:xfrm>
            <a:prstGeom prst="plus">
              <a:avLst>
                <a:gd name="adj" fmla="val 31444"/>
              </a:avLst>
            </a:prstGeom>
            <a:solidFill>
              <a:srgbClr val="FF00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grpSp>
        <p:nvGrpSpPr>
          <p:cNvPr id="351318" name="Group 86"/>
          <p:cNvGrpSpPr>
            <a:grpSpLocks/>
          </p:cNvGrpSpPr>
          <p:nvPr/>
        </p:nvGrpSpPr>
        <p:grpSpPr bwMode="auto">
          <a:xfrm>
            <a:off x="600075" y="5656265"/>
            <a:ext cx="8178800" cy="1068388"/>
            <a:chOff x="378" y="3563"/>
            <a:chExt cx="5152" cy="673"/>
          </a:xfrm>
        </p:grpSpPr>
        <p:grpSp>
          <p:nvGrpSpPr>
            <p:cNvPr id="94218" name="Group 87"/>
            <p:cNvGrpSpPr>
              <a:grpSpLocks/>
            </p:cNvGrpSpPr>
            <p:nvPr/>
          </p:nvGrpSpPr>
          <p:grpSpPr bwMode="auto">
            <a:xfrm>
              <a:off x="378" y="3563"/>
              <a:ext cx="1497" cy="673"/>
              <a:chOff x="2904" y="2561"/>
              <a:chExt cx="1724" cy="775"/>
            </a:xfrm>
          </p:grpSpPr>
          <p:sp>
            <p:nvSpPr>
              <p:cNvPr id="351320" name="Line 88"/>
              <p:cNvSpPr>
                <a:spLocks noChangeShapeType="1"/>
              </p:cNvSpPr>
              <p:nvPr/>
            </p:nvSpPr>
            <p:spPr bwMode="auto">
              <a:xfrm>
                <a:off x="4340" y="2701"/>
                <a:ext cx="1" cy="529"/>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321" name="Line 89"/>
              <p:cNvSpPr>
                <a:spLocks noChangeShapeType="1"/>
              </p:cNvSpPr>
              <p:nvPr/>
            </p:nvSpPr>
            <p:spPr bwMode="auto">
              <a:xfrm>
                <a:off x="3124" y="2687"/>
                <a:ext cx="1" cy="527"/>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322" name="Line 90"/>
              <p:cNvSpPr>
                <a:spLocks noChangeShapeType="1"/>
              </p:cNvSpPr>
              <p:nvPr/>
            </p:nvSpPr>
            <p:spPr bwMode="auto">
              <a:xfrm>
                <a:off x="3939" y="2657"/>
                <a:ext cx="1" cy="577"/>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323" name="Line 91"/>
              <p:cNvSpPr>
                <a:spLocks noChangeShapeType="1"/>
              </p:cNvSpPr>
              <p:nvPr/>
            </p:nvSpPr>
            <p:spPr bwMode="auto">
              <a:xfrm>
                <a:off x="3507" y="2705"/>
                <a:ext cx="0" cy="529"/>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324" name="Line 92"/>
              <p:cNvSpPr>
                <a:spLocks noChangeShapeType="1"/>
              </p:cNvSpPr>
              <p:nvPr/>
            </p:nvSpPr>
            <p:spPr bwMode="auto">
              <a:xfrm>
                <a:off x="2904" y="2944"/>
                <a:ext cx="1724" cy="0"/>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1325" name="Oval 93"/>
              <p:cNvSpPr>
                <a:spLocks noChangeArrowheads="1"/>
              </p:cNvSpPr>
              <p:nvPr/>
            </p:nvSpPr>
            <p:spPr bwMode="auto">
              <a:xfrm>
                <a:off x="3364" y="2801"/>
                <a:ext cx="299" cy="304"/>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326" name="Oval 94"/>
              <p:cNvSpPr>
                <a:spLocks noChangeArrowheads="1"/>
              </p:cNvSpPr>
              <p:nvPr/>
            </p:nvSpPr>
            <p:spPr bwMode="auto">
              <a:xfrm>
                <a:off x="3795" y="2801"/>
                <a:ext cx="297" cy="304"/>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327" name="Oval 95"/>
              <p:cNvSpPr>
                <a:spLocks noChangeArrowheads="1"/>
              </p:cNvSpPr>
              <p:nvPr/>
            </p:nvSpPr>
            <p:spPr bwMode="auto">
              <a:xfrm>
                <a:off x="3843" y="3137"/>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328" name="Oval 96"/>
              <p:cNvSpPr>
                <a:spLocks noChangeArrowheads="1"/>
              </p:cNvSpPr>
              <p:nvPr/>
            </p:nvSpPr>
            <p:spPr bwMode="auto">
              <a:xfrm>
                <a:off x="3411" y="3137"/>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329" name="Oval 97"/>
              <p:cNvSpPr>
                <a:spLocks noChangeArrowheads="1"/>
              </p:cNvSpPr>
              <p:nvPr/>
            </p:nvSpPr>
            <p:spPr bwMode="auto">
              <a:xfrm>
                <a:off x="3843" y="2561"/>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330" name="Oval 98"/>
              <p:cNvSpPr>
                <a:spLocks noChangeArrowheads="1"/>
              </p:cNvSpPr>
              <p:nvPr/>
            </p:nvSpPr>
            <p:spPr bwMode="auto">
              <a:xfrm>
                <a:off x="3411" y="2561"/>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331" name="Oval 99"/>
              <p:cNvSpPr>
                <a:spLocks noChangeArrowheads="1"/>
              </p:cNvSpPr>
              <p:nvPr/>
            </p:nvSpPr>
            <p:spPr bwMode="auto">
              <a:xfrm>
                <a:off x="4183" y="2798"/>
                <a:ext cx="301" cy="298"/>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332" name="Oval 100"/>
              <p:cNvSpPr>
                <a:spLocks noChangeArrowheads="1"/>
              </p:cNvSpPr>
              <p:nvPr/>
            </p:nvSpPr>
            <p:spPr bwMode="auto">
              <a:xfrm>
                <a:off x="2974" y="2794"/>
                <a:ext cx="298" cy="303"/>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333" name="Oval 101"/>
              <p:cNvSpPr>
                <a:spLocks noChangeArrowheads="1"/>
              </p:cNvSpPr>
              <p:nvPr/>
            </p:nvSpPr>
            <p:spPr bwMode="auto">
              <a:xfrm>
                <a:off x="3025" y="2566"/>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334" name="Oval 102"/>
              <p:cNvSpPr>
                <a:spLocks noChangeArrowheads="1"/>
              </p:cNvSpPr>
              <p:nvPr/>
            </p:nvSpPr>
            <p:spPr bwMode="auto">
              <a:xfrm>
                <a:off x="4240" y="2563"/>
                <a:ext cx="192" cy="191"/>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335" name="Oval 103"/>
              <p:cNvSpPr>
                <a:spLocks noChangeArrowheads="1"/>
              </p:cNvSpPr>
              <p:nvPr/>
            </p:nvSpPr>
            <p:spPr bwMode="auto">
              <a:xfrm>
                <a:off x="4243" y="3143"/>
                <a:ext cx="191" cy="191"/>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51336" name="Oval 104"/>
              <p:cNvSpPr>
                <a:spLocks noChangeArrowheads="1"/>
              </p:cNvSpPr>
              <p:nvPr/>
            </p:nvSpPr>
            <p:spPr bwMode="auto">
              <a:xfrm>
                <a:off x="3019" y="3144"/>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
          <p:nvSpPr>
            <p:cNvPr id="351337" name="Text Box 105"/>
            <p:cNvSpPr txBox="1">
              <a:spLocks noChangeArrowheads="1"/>
            </p:cNvSpPr>
            <p:nvPr/>
          </p:nvSpPr>
          <p:spPr bwMode="auto">
            <a:xfrm>
              <a:off x="2013" y="3587"/>
              <a:ext cx="3517" cy="523"/>
            </a:xfrm>
            <a:prstGeom prst="rect">
              <a:avLst/>
            </a:prstGeom>
            <a:noFill/>
            <a:ln w="25400">
              <a:solidFill>
                <a:srgbClr val="FF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GB" dirty="0">
                  <a:latin typeface="Comic Sans MS" charset="0"/>
                  <a:ea typeface="ＭＳ Ｐゴシック" charset="0"/>
                </a:rPr>
                <a:t>This molecule is called POLYETHENE – a common plastic. </a:t>
              </a:r>
              <a:endParaRPr lang="en-US" dirty="0">
                <a:latin typeface="Comic Sans MS" charset="0"/>
                <a:ea typeface="ＭＳ Ｐゴシック" charset="0"/>
              </a:endParaRPr>
            </a:p>
          </p:txBody>
        </p:sp>
      </p:grpSp>
    </p:spTree>
    <p:extLst>
      <p:ext uri="{BB962C8B-B14F-4D97-AF65-F5344CB8AC3E}">
        <p14:creationId xmlns:p14="http://schemas.microsoft.com/office/powerpoint/2010/main" val="6596811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1249"/>
                                        </p:tgtEl>
                                        <p:attrNameLst>
                                          <p:attrName>style.visibility</p:attrName>
                                        </p:attrNameLst>
                                      </p:cBhvr>
                                      <p:to>
                                        <p:strVal val="visible"/>
                                      </p:to>
                                    </p:set>
                                    <p:animEffect transition="in" filter="wipe(left)">
                                      <p:cBhvr>
                                        <p:cTn id="7" dur="500"/>
                                        <p:tgtEl>
                                          <p:spTgt spid="35124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351235"/>
                                        </p:tgtEl>
                                        <p:attrNameLst>
                                          <p:attrName>style.visibility</p:attrName>
                                        </p:attrNameLst>
                                      </p:cBhvr>
                                      <p:to>
                                        <p:strVal val="visible"/>
                                      </p:to>
                                    </p:set>
                                    <p:anim calcmode="lin" valueType="num">
                                      <p:cBhvr additive="base">
                                        <p:cTn id="12" dur="500" fill="hold"/>
                                        <p:tgtEl>
                                          <p:spTgt spid="351235"/>
                                        </p:tgtEl>
                                        <p:attrNameLst>
                                          <p:attrName>ppt_x</p:attrName>
                                        </p:attrNameLst>
                                      </p:cBhvr>
                                      <p:tavLst>
                                        <p:tav tm="0">
                                          <p:val>
                                            <p:strVal val="1+#ppt_w/2"/>
                                          </p:val>
                                        </p:tav>
                                        <p:tav tm="100000">
                                          <p:val>
                                            <p:strVal val="#ppt_x"/>
                                          </p:val>
                                        </p:tav>
                                      </p:tavLst>
                                    </p:anim>
                                    <p:anim calcmode="lin" valueType="num">
                                      <p:cBhvr additive="base">
                                        <p:cTn id="13" dur="500" fill="hold"/>
                                        <p:tgtEl>
                                          <p:spTgt spid="351235"/>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51250"/>
                                        </p:tgtEl>
                                        <p:attrNameLst>
                                          <p:attrName>style.visibility</p:attrName>
                                        </p:attrNameLst>
                                      </p:cBhvr>
                                      <p:to>
                                        <p:strVal val="visible"/>
                                      </p:to>
                                    </p:set>
                                    <p:animEffect transition="in" filter="wipe(left)">
                                      <p:cBhvr>
                                        <p:cTn id="18" dur="500"/>
                                        <p:tgtEl>
                                          <p:spTgt spid="35125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351251"/>
                                        </p:tgtEl>
                                        <p:attrNameLst>
                                          <p:attrName>style.visibility</p:attrName>
                                        </p:attrNameLst>
                                      </p:cBhvr>
                                      <p:to>
                                        <p:strVal val="visible"/>
                                      </p:to>
                                    </p:set>
                                    <p:animEffect transition="in" filter="wipe(left)">
                                      <p:cBhvr>
                                        <p:cTn id="23" dur="500"/>
                                        <p:tgtEl>
                                          <p:spTgt spid="35125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51276"/>
                                        </p:tgtEl>
                                        <p:attrNameLst>
                                          <p:attrName>style.visibility</p:attrName>
                                        </p:attrNameLst>
                                      </p:cBhvr>
                                      <p:to>
                                        <p:strVal val="visible"/>
                                      </p:to>
                                    </p:set>
                                    <p:animEffect transition="in" filter="wipe(left)">
                                      <p:cBhvr>
                                        <p:cTn id="28" dur="500"/>
                                        <p:tgtEl>
                                          <p:spTgt spid="35127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351277"/>
                                        </p:tgtEl>
                                        <p:attrNameLst>
                                          <p:attrName>style.visibility</p:attrName>
                                        </p:attrNameLst>
                                      </p:cBhvr>
                                      <p:to>
                                        <p:strVal val="visible"/>
                                      </p:to>
                                    </p:set>
                                    <p:animEffect transition="in" filter="wipe(left)">
                                      <p:cBhvr>
                                        <p:cTn id="33" dur="500"/>
                                        <p:tgtEl>
                                          <p:spTgt spid="35127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351318"/>
                                        </p:tgtEl>
                                        <p:attrNameLst>
                                          <p:attrName>style.visibility</p:attrName>
                                        </p:attrNameLst>
                                      </p:cBhvr>
                                      <p:to>
                                        <p:strVal val="visible"/>
                                      </p:to>
                                    </p:set>
                                    <p:animEffect transition="in" filter="wipe(up)">
                                      <p:cBhvr>
                                        <p:cTn id="38" dur="500"/>
                                        <p:tgtEl>
                                          <p:spTgt spid="351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49" grpId="0"/>
      <p:bldP spid="351250" grpId="0"/>
      <p:bldP spid="35127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4"/>
          <p:cNvSpPr>
            <a:spLocks noGrp="1" noChangeArrowheads="1"/>
          </p:cNvSpPr>
          <p:nvPr>
            <p:ph type="dt" sz="half" idx="10"/>
          </p:nvPr>
        </p:nvSpPr>
        <p:spPr>
          <a:ln/>
        </p:spPr>
        <p:txBody>
          <a:bodyPr/>
          <a:lstStyle/>
          <a:p>
            <a:fld id="{115260FE-8C07-409A-AF6E-960118D9B5C4}" type="datetime1">
              <a:rPr lang="en-GB" altLang="en-US"/>
              <a:pPr/>
              <a:t>02/06/2020</a:t>
            </a:fld>
            <a:endParaRPr lang="en-GB" altLang="en-US"/>
          </a:p>
        </p:txBody>
      </p:sp>
      <p:sp>
        <p:nvSpPr>
          <p:cNvPr id="77" name="Date Placeholder 2"/>
          <p:cNvSpPr txBox="1">
            <a:spLocks noGrp="1"/>
          </p:cNvSpPr>
          <p:nvPr/>
        </p:nvSpPr>
        <p:spPr bwMode="auto">
          <a:xfrm>
            <a:off x="7239000" y="0"/>
            <a:ext cx="1905000" cy="457200"/>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bg1"/>
                </a:solidFill>
                <a:latin typeface="Comic Sans MS" panose="030F0702030302020204" pitchFamily="66" charset="0"/>
                <a:ea typeface="MS PGothic" panose="020B0600070205080204" pitchFamily="34" charset="-128"/>
              </a:defRPr>
            </a:lvl1pPr>
            <a:lvl2pPr marL="742950" indent="-285750" eaLnBrk="0" hangingPunct="0">
              <a:defRPr sz="2400">
                <a:solidFill>
                  <a:schemeClr val="bg1"/>
                </a:solidFill>
                <a:latin typeface="Comic Sans MS" panose="030F0702030302020204" pitchFamily="66" charset="0"/>
                <a:ea typeface="MS PGothic" panose="020B0600070205080204" pitchFamily="34" charset="-128"/>
              </a:defRPr>
            </a:lvl2pPr>
            <a:lvl3pPr marL="1143000" indent="-228600" eaLnBrk="0" hangingPunct="0">
              <a:defRPr sz="2400">
                <a:solidFill>
                  <a:schemeClr val="bg1"/>
                </a:solidFill>
                <a:latin typeface="Comic Sans MS" panose="030F0702030302020204" pitchFamily="66" charset="0"/>
                <a:ea typeface="MS PGothic" panose="020B0600070205080204" pitchFamily="34" charset="-128"/>
              </a:defRPr>
            </a:lvl3pPr>
            <a:lvl4pPr marL="1600200" indent="-228600" eaLnBrk="0" hangingPunct="0">
              <a:defRPr sz="2400">
                <a:solidFill>
                  <a:schemeClr val="bg1"/>
                </a:solidFill>
                <a:latin typeface="Comic Sans MS" panose="030F0702030302020204" pitchFamily="66" charset="0"/>
                <a:ea typeface="MS PGothic" panose="020B0600070205080204" pitchFamily="34" charset="-128"/>
              </a:defRPr>
            </a:lvl4pPr>
            <a:lvl5pPr marL="2057400" indent="-228600" eaLnBrk="0" hangingPunct="0">
              <a:defRPr sz="2400">
                <a:solidFill>
                  <a:schemeClr val="bg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a:solidFill>
                  <a:schemeClr val="bg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a:solidFill>
                  <a:schemeClr val="bg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a:solidFill>
                  <a:schemeClr val="bg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a:solidFill>
                  <a:schemeClr val="bg1"/>
                </a:solidFill>
                <a:latin typeface="Comic Sans MS" panose="030F0702030302020204" pitchFamily="66" charset="0"/>
                <a:ea typeface="MS PGothic" panose="020B0600070205080204" pitchFamily="34" charset="-128"/>
              </a:defRPr>
            </a:lvl9pPr>
          </a:lstStyle>
          <a:p>
            <a:pPr algn="r" eaLnBrk="1" hangingPunct="1"/>
            <a:fld id="{138EA282-8AA6-4358-816B-F2B706AC4370}" type="datetime1">
              <a:rPr lang="en-GB" altLang="en-US" sz="1800">
                <a:solidFill>
                  <a:schemeClr val="folHlink"/>
                </a:solidFill>
              </a:rPr>
              <a:pPr algn="r" eaLnBrk="1" hangingPunct="1"/>
              <a:t>02/06/2020</a:t>
            </a:fld>
            <a:endParaRPr lang="en-GB" altLang="en-US" sz="1800">
              <a:solidFill>
                <a:schemeClr val="folHlink"/>
              </a:solidFill>
            </a:endParaRPr>
          </a:p>
        </p:txBody>
      </p:sp>
      <p:sp>
        <p:nvSpPr>
          <p:cNvPr id="348162" name="Rectangle 2"/>
          <p:cNvSpPr>
            <a:spLocks noGrp="1" noChangeArrowheads="1"/>
          </p:cNvSpPr>
          <p:nvPr>
            <p:ph type="title"/>
          </p:nvPr>
        </p:nvSpPr>
        <p:spPr/>
        <p:txBody>
          <a:bodyPr/>
          <a:lstStyle/>
          <a:p>
            <a:pPr eaLnBrk="1" hangingPunct="1"/>
            <a:r>
              <a:rPr lang="en-GB" altLang="en-US" dirty="0"/>
              <a:t>Polymers</a:t>
            </a:r>
          </a:p>
        </p:txBody>
      </p:sp>
      <p:sp>
        <p:nvSpPr>
          <p:cNvPr id="348163" name="Text Box 3"/>
          <p:cNvSpPr txBox="1">
            <a:spLocks noChangeArrowheads="1"/>
          </p:cNvSpPr>
          <p:nvPr/>
        </p:nvSpPr>
        <p:spPr bwMode="auto">
          <a:xfrm>
            <a:off x="0" y="663575"/>
            <a:ext cx="9144000"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sz="2400">
                <a:solidFill>
                  <a:schemeClr val="bg1"/>
                </a:solidFill>
                <a:latin typeface="Comic Sans MS" panose="030F0702030302020204" pitchFamily="66" charset="0"/>
                <a:ea typeface="MS PGothic" panose="020B0600070205080204" pitchFamily="34" charset="-128"/>
              </a:defRPr>
            </a:lvl1pPr>
            <a:lvl2pPr marL="742950" indent="-285750" eaLnBrk="0" hangingPunct="0">
              <a:defRPr sz="2400">
                <a:solidFill>
                  <a:schemeClr val="bg1"/>
                </a:solidFill>
                <a:latin typeface="Comic Sans MS" panose="030F0702030302020204" pitchFamily="66" charset="0"/>
                <a:ea typeface="MS PGothic" panose="020B0600070205080204" pitchFamily="34" charset="-128"/>
              </a:defRPr>
            </a:lvl2pPr>
            <a:lvl3pPr marL="1143000" indent="-228600" eaLnBrk="0" hangingPunct="0">
              <a:defRPr sz="2400">
                <a:solidFill>
                  <a:schemeClr val="bg1"/>
                </a:solidFill>
                <a:latin typeface="Comic Sans MS" panose="030F0702030302020204" pitchFamily="66" charset="0"/>
                <a:ea typeface="MS PGothic" panose="020B0600070205080204" pitchFamily="34" charset="-128"/>
              </a:defRPr>
            </a:lvl3pPr>
            <a:lvl4pPr marL="1600200" indent="-228600" eaLnBrk="0" hangingPunct="0">
              <a:defRPr sz="2400">
                <a:solidFill>
                  <a:schemeClr val="bg1"/>
                </a:solidFill>
                <a:latin typeface="Comic Sans MS" panose="030F0702030302020204" pitchFamily="66" charset="0"/>
                <a:ea typeface="MS PGothic" panose="020B0600070205080204" pitchFamily="34" charset="-128"/>
              </a:defRPr>
            </a:lvl4pPr>
            <a:lvl5pPr marL="2057400" indent="-228600" eaLnBrk="0" hangingPunct="0">
              <a:defRPr sz="2400">
                <a:solidFill>
                  <a:schemeClr val="bg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a:solidFill>
                  <a:schemeClr val="bg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a:solidFill>
                  <a:schemeClr val="bg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a:solidFill>
                  <a:schemeClr val="bg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a:solidFill>
                  <a:schemeClr val="bg1"/>
                </a:solidFill>
                <a:latin typeface="Comic Sans MS" panose="030F0702030302020204" pitchFamily="66" charset="0"/>
                <a:ea typeface="MS PGothic" panose="020B0600070205080204" pitchFamily="34" charset="-128"/>
              </a:defRPr>
            </a:lvl9pPr>
          </a:lstStyle>
          <a:p>
            <a:pPr eaLnBrk="1" hangingPunct="1">
              <a:spcBef>
                <a:spcPct val="50000"/>
              </a:spcBef>
            </a:pPr>
            <a:r>
              <a:rPr lang="en-GB" altLang="en-US" dirty="0">
                <a:solidFill>
                  <a:srgbClr val="99FF99"/>
                </a:solidFill>
              </a:rPr>
              <a:t>Polymers are compounds consisting of large molecules containing chains of carbon atoms.  For example:</a:t>
            </a:r>
          </a:p>
        </p:txBody>
      </p:sp>
      <p:grpSp>
        <p:nvGrpSpPr>
          <p:cNvPr id="348164" name="Group 4"/>
          <p:cNvGrpSpPr>
            <a:grpSpLocks/>
          </p:cNvGrpSpPr>
          <p:nvPr/>
        </p:nvGrpSpPr>
        <p:grpSpPr bwMode="auto">
          <a:xfrm>
            <a:off x="1428750" y="1676400"/>
            <a:ext cx="1905000" cy="1828800"/>
            <a:chOff x="567" y="1570"/>
            <a:chExt cx="1200" cy="1152"/>
          </a:xfrm>
        </p:grpSpPr>
        <p:grpSp>
          <p:nvGrpSpPr>
            <p:cNvPr id="91200" name="Group 5"/>
            <p:cNvGrpSpPr>
              <a:grpSpLocks/>
            </p:cNvGrpSpPr>
            <p:nvPr/>
          </p:nvGrpSpPr>
          <p:grpSpPr bwMode="auto">
            <a:xfrm>
              <a:off x="567" y="1570"/>
              <a:ext cx="1200" cy="768"/>
              <a:chOff x="567" y="1570"/>
              <a:chExt cx="1200" cy="768"/>
            </a:xfrm>
          </p:grpSpPr>
          <p:sp>
            <p:nvSpPr>
              <p:cNvPr id="348166" name="Line 6"/>
              <p:cNvSpPr>
                <a:spLocks noChangeShapeType="1"/>
              </p:cNvSpPr>
              <p:nvPr/>
            </p:nvSpPr>
            <p:spPr bwMode="auto">
              <a:xfrm>
                <a:off x="1383" y="1666"/>
                <a:ext cx="1" cy="576"/>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48167" name="Line 7"/>
              <p:cNvSpPr>
                <a:spLocks noChangeShapeType="1"/>
              </p:cNvSpPr>
              <p:nvPr/>
            </p:nvSpPr>
            <p:spPr bwMode="auto">
              <a:xfrm>
                <a:off x="951" y="1714"/>
                <a:ext cx="1" cy="528"/>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48168" name="Line 8"/>
              <p:cNvSpPr>
                <a:spLocks noChangeShapeType="1"/>
              </p:cNvSpPr>
              <p:nvPr/>
            </p:nvSpPr>
            <p:spPr bwMode="auto">
              <a:xfrm>
                <a:off x="663" y="1954"/>
                <a:ext cx="960" cy="1"/>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48169" name="Oval 9"/>
              <p:cNvSpPr>
                <a:spLocks noChangeArrowheads="1"/>
              </p:cNvSpPr>
              <p:nvPr/>
            </p:nvSpPr>
            <p:spPr bwMode="auto">
              <a:xfrm>
                <a:off x="807" y="1810"/>
                <a:ext cx="300" cy="300"/>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170" name="Oval 10"/>
              <p:cNvSpPr>
                <a:spLocks noChangeArrowheads="1"/>
              </p:cNvSpPr>
              <p:nvPr/>
            </p:nvSpPr>
            <p:spPr bwMode="auto">
              <a:xfrm>
                <a:off x="1239" y="1810"/>
                <a:ext cx="300" cy="300"/>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171" name="Oval 11"/>
              <p:cNvSpPr>
                <a:spLocks noChangeArrowheads="1"/>
              </p:cNvSpPr>
              <p:nvPr/>
            </p:nvSpPr>
            <p:spPr bwMode="auto">
              <a:xfrm>
                <a:off x="1287" y="2146"/>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172" name="Oval 12"/>
              <p:cNvSpPr>
                <a:spLocks noChangeArrowheads="1"/>
              </p:cNvSpPr>
              <p:nvPr/>
            </p:nvSpPr>
            <p:spPr bwMode="auto">
              <a:xfrm>
                <a:off x="567" y="1858"/>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173" name="Oval 13"/>
              <p:cNvSpPr>
                <a:spLocks noChangeArrowheads="1"/>
              </p:cNvSpPr>
              <p:nvPr/>
            </p:nvSpPr>
            <p:spPr bwMode="auto">
              <a:xfrm>
                <a:off x="855" y="2146"/>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174" name="Oval 14"/>
              <p:cNvSpPr>
                <a:spLocks noChangeArrowheads="1"/>
              </p:cNvSpPr>
              <p:nvPr/>
            </p:nvSpPr>
            <p:spPr bwMode="auto">
              <a:xfrm>
                <a:off x="1287" y="1570"/>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175" name="Oval 15"/>
              <p:cNvSpPr>
                <a:spLocks noChangeArrowheads="1"/>
              </p:cNvSpPr>
              <p:nvPr/>
            </p:nvSpPr>
            <p:spPr bwMode="auto">
              <a:xfrm>
                <a:off x="1575" y="1858"/>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176" name="Oval 16"/>
              <p:cNvSpPr>
                <a:spLocks noChangeArrowheads="1"/>
              </p:cNvSpPr>
              <p:nvPr/>
            </p:nvSpPr>
            <p:spPr bwMode="auto">
              <a:xfrm>
                <a:off x="855" y="1570"/>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
          <p:nvSpPr>
            <p:cNvPr id="348177" name="Text Box 17"/>
            <p:cNvSpPr txBox="1">
              <a:spLocks noChangeArrowheads="1"/>
            </p:cNvSpPr>
            <p:nvPr/>
          </p:nvSpPr>
          <p:spPr bwMode="auto">
            <a:xfrm>
              <a:off x="711" y="2434"/>
              <a:ext cx="912"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a:solidFill>
                    <a:srgbClr val="FF99FF"/>
                  </a:solidFill>
                  <a:latin typeface="Comic Sans MS" charset="0"/>
                  <a:ea typeface="ＭＳ Ｐゴシック" charset="0"/>
                </a:rPr>
                <a:t>Ethane</a:t>
              </a:r>
            </a:p>
          </p:txBody>
        </p:sp>
      </p:grpSp>
      <p:grpSp>
        <p:nvGrpSpPr>
          <p:cNvPr id="348178" name="Group 18"/>
          <p:cNvGrpSpPr>
            <a:grpSpLocks/>
          </p:cNvGrpSpPr>
          <p:nvPr/>
        </p:nvGrpSpPr>
        <p:grpSpPr bwMode="auto">
          <a:xfrm>
            <a:off x="5680075" y="1703388"/>
            <a:ext cx="1673225" cy="1800225"/>
            <a:chOff x="3669" y="1218"/>
            <a:chExt cx="1054" cy="1134"/>
          </a:xfrm>
        </p:grpSpPr>
        <p:sp>
          <p:nvSpPr>
            <p:cNvPr id="348179" name="Line 19"/>
            <p:cNvSpPr>
              <a:spLocks noChangeShapeType="1"/>
            </p:cNvSpPr>
            <p:nvPr/>
          </p:nvSpPr>
          <p:spPr bwMode="auto">
            <a:xfrm>
              <a:off x="4060" y="1632"/>
              <a:ext cx="407" cy="0"/>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48180" name="Line 20"/>
            <p:cNvSpPr>
              <a:spLocks noChangeShapeType="1"/>
            </p:cNvSpPr>
            <p:nvPr/>
          </p:nvSpPr>
          <p:spPr bwMode="auto">
            <a:xfrm flipH="1">
              <a:off x="4482" y="1313"/>
              <a:ext cx="144" cy="230"/>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48181" name="Line 21"/>
            <p:cNvSpPr>
              <a:spLocks noChangeShapeType="1"/>
            </p:cNvSpPr>
            <p:nvPr/>
          </p:nvSpPr>
          <p:spPr bwMode="auto">
            <a:xfrm flipV="1">
              <a:off x="3779" y="1615"/>
              <a:ext cx="184" cy="235"/>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48182" name="Line 22"/>
            <p:cNvSpPr>
              <a:spLocks noChangeShapeType="1"/>
            </p:cNvSpPr>
            <p:nvPr/>
          </p:nvSpPr>
          <p:spPr bwMode="auto">
            <a:xfrm>
              <a:off x="4451" y="1611"/>
              <a:ext cx="165" cy="212"/>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48183" name="Line 23"/>
            <p:cNvSpPr>
              <a:spLocks noChangeShapeType="1"/>
            </p:cNvSpPr>
            <p:nvPr/>
          </p:nvSpPr>
          <p:spPr bwMode="auto">
            <a:xfrm>
              <a:off x="3801" y="1320"/>
              <a:ext cx="208" cy="298"/>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48184" name="Line 24"/>
            <p:cNvSpPr>
              <a:spLocks noChangeShapeType="1"/>
            </p:cNvSpPr>
            <p:nvPr/>
          </p:nvSpPr>
          <p:spPr bwMode="auto">
            <a:xfrm>
              <a:off x="3914" y="1547"/>
              <a:ext cx="578" cy="1"/>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48185" name="Oval 25"/>
            <p:cNvSpPr>
              <a:spLocks noChangeArrowheads="1"/>
            </p:cNvSpPr>
            <p:nvPr/>
          </p:nvSpPr>
          <p:spPr bwMode="auto">
            <a:xfrm>
              <a:off x="3839" y="1440"/>
              <a:ext cx="300" cy="300"/>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186" name="Oval 26"/>
            <p:cNvSpPr>
              <a:spLocks noChangeArrowheads="1"/>
            </p:cNvSpPr>
            <p:nvPr/>
          </p:nvSpPr>
          <p:spPr bwMode="auto">
            <a:xfrm>
              <a:off x="4271" y="1440"/>
              <a:ext cx="300" cy="300"/>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187" name="Oval 27"/>
            <p:cNvSpPr>
              <a:spLocks noChangeArrowheads="1"/>
            </p:cNvSpPr>
            <p:nvPr/>
          </p:nvSpPr>
          <p:spPr bwMode="auto">
            <a:xfrm>
              <a:off x="4531" y="1752"/>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188" name="Oval 28"/>
            <p:cNvSpPr>
              <a:spLocks noChangeArrowheads="1"/>
            </p:cNvSpPr>
            <p:nvPr/>
          </p:nvSpPr>
          <p:spPr bwMode="auto">
            <a:xfrm>
              <a:off x="3669" y="1757"/>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189" name="Oval 29"/>
            <p:cNvSpPr>
              <a:spLocks noChangeArrowheads="1"/>
            </p:cNvSpPr>
            <p:nvPr/>
          </p:nvSpPr>
          <p:spPr bwMode="auto">
            <a:xfrm>
              <a:off x="4531" y="1224"/>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190" name="Oval 30"/>
            <p:cNvSpPr>
              <a:spLocks noChangeArrowheads="1"/>
            </p:cNvSpPr>
            <p:nvPr/>
          </p:nvSpPr>
          <p:spPr bwMode="auto">
            <a:xfrm>
              <a:off x="3681" y="1218"/>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191" name="Text Box 31"/>
            <p:cNvSpPr txBox="1">
              <a:spLocks noChangeArrowheads="1"/>
            </p:cNvSpPr>
            <p:nvPr/>
          </p:nvSpPr>
          <p:spPr bwMode="auto">
            <a:xfrm>
              <a:off x="3743" y="2064"/>
              <a:ext cx="912"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a:solidFill>
                    <a:srgbClr val="66CCFF"/>
                  </a:solidFill>
                  <a:latin typeface="Comic Sans MS" charset="0"/>
                  <a:ea typeface="ＭＳ Ｐゴシック" charset="0"/>
                </a:rPr>
                <a:t>Ethene</a:t>
              </a:r>
            </a:p>
          </p:txBody>
        </p:sp>
      </p:grpSp>
      <p:grpSp>
        <p:nvGrpSpPr>
          <p:cNvPr id="348192" name="Group 32"/>
          <p:cNvGrpSpPr>
            <a:grpSpLocks/>
          </p:cNvGrpSpPr>
          <p:nvPr/>
        </p:nvGrpSpPr>
        <p:grpSpPr bwMode="auto">
          <a:xfrm>
            <a:off x="817563" y="3671888"/>
            <a:ext cx="3205162" cy="1828800"/>
            <a:chOff x="2377" y="2082"/>
            <a:chExt cx="2019" cy="1152"/>
          </a:xfrm>
        </p:grpSpPr>
        <p:sp>
          <p:nvSpPr>
            <p:cNvPr id="348193" name="Line 33"/>
            <p:cNvSpPr>
              <a:spLocks noChangeShapeType="1"/>
            </p:cNvSpPr>
            <p:nvPr/>
          </p:nvSpPr>
          <p:spPr bwMode="auto">
            <a:xfrm>
              <a:off x="3988" y="2223"/>
              <a:ext cx="1" cy="528"/>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48194" name="Line 34"/>
            <p:cNvSpPr>
              <a:spLocks noChangeShapeType="1"/>
            </p:cNvSpPr>
            <p:nvPr/>
          </p:nvSpPr>
          <p:spPr bwMode="auto">
            <a:xfrm>
              <a:off x="2772" y="2207"/>
              <a:ext cx="1" cy="528"/>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48195" name="Line 35"/>
            <p:cNvSpPr>
              <a:spLocks noChangeShapeType="1"/>
            </p:cNvSpPr>
            <p:nvPr/>
          </p:nvSpPr>
          <p:spPr bwMode="auto">
            <a:xfrm>
              <a:off x="3587" y="2178"/>
              <a:ext cx="1" cy="576"/>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48196" name="Line 36"/>
            <p:cNvSpPr>
              <a:spLocks noChangeShapeType="1"/>
            </p:cNvSpPr>
            <p:nvPr/>
          </p:nvSpPr>
          <p:spPr bwMode="auto">
            <a:xfrm>
              <a:off x="3155" y="2226"/>
              <a:ext cx="1" cy="528"/>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48197" name="Line 37"/>
            <p:cNvSpPr>
              <a:spLocks noChangeShapeType="1"/>
            </p:cNvSpPr>
            <p:nvPr/>
          </p:nvSpPr>
          <p:spPr bwMode="auto">
            <a:xfrm>
              <a:off x="2552" y="2466"/>
              <a:ext cx="1724" cy="1"/>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48198" name="Oval 38"/>
            <p:cNvSpPr>
              <a:spLocks noChangeArrowheads="1"/>
            </p:cNvSpPr>
            <p:nvPr/>
          </p:nvSpPr>
          <p:spPr bwMode="auto">
            <a:xfrm>
              <a:off x="3011" y="2322"/>
              <a:ext cx="300" cy="300"/>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199" name="Oval 39"/>
            <p:cNvSpPr>
              <a:spLocks noChangeArrowheads="1"/>
            </p:cNvSpPr>
            <p:nvPr/>
          </p:nvSpPr>
          <p:spPr bwMode="auto">
            <a:xfrm>
              <a:off x="3443" y="2322"/>
              <a:ext cx="300" cy="300"/>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00" name="Oval 40"/>
            <p:cNvSpPr>
              <a:spLocks noChangeArrowheads="1"/>
            </p:cNvSpPr>
            <p:nvPr/>
          </p:nvSpPr>
          <p:spPr bwMode="auto">
            <a:xfrm>
              <a:off x="3491" y="2658"/>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01" name="Oval 41"/>
            <p:cNvSpPr>
              <a:spLocks noChangeArrowheads="1"/>
            </p:cNvSpPr>
            <p:nvPr/>
          </p:nvSpPr>
          <p:spPr bwMode="auto">
            <a:xfrm>
              <a:off x="2377" y="2370"/>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02" name="Oval 42"/>
            <p:cNvSpPr>
              <a:spLocks noChangeArrowheads="1"/>
            </p:cNvSpPr>
            <p:nvPr/>
          </p:nvSpPr>
          <p:spPr bwMode="auto">
            <a:xfrm>
              <a:off x="3059" y="2658"/>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03" name="Oval 43"/>
            <p:cNvSpPr>
              <a:spLocks noChangeArrowheads="1"/>
            </p:cNvSpPr>
            <p:nvPr/>
          </p:nvSpPr>
          <p:spPr bwMode="auto">
            <a:xfrm>
              <a:off x="3491" y="2082"/>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04" name="Oval 44"/>
            <p:cNvSpPr>
              <a:spLocks noChangeArrowheads="1"/>
            </p:cNvSpPr>
            <p:nvPr/>
          </p:nvSpPr>
          <p:spPr bwMode="auto">
            <a:xfrm>
              <a:off x="4204" y="2370"/>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05" name="Oval 45"/>
            <p:cNvSpPr>
              <a:spLocks noChangeArrowheads="1"/>
            </p:cNvSpPr>
            <p:nvPr/>
          </p:nvSpPr>
          <p:spPr bwMode="auto">
            <a:xfrm>
              <a:off x="3059" y="2082"/>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06" name="Text Box 46"/>
            <p:cNvSpPr txBox="1">
              <a:spLocks noChangeArrowheads="1"/>
            </p:cNvSpPr>
            <p:nvPr/>
          </p:nvSpPr>
          <p:spPr bwMode="auto">
            <a:xfrm>
              <a:off x="2915" y="2946"/>
              <a:ext cx="912"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a:solidFill>
                    <a:srgbClr val="FF99FF"/>
                  </a:solidFill>
                  <a:latin typeface="Comic Sans MS" charset="0"/>
                  <a:ea typeface="ＭＳ Ｐゴシック" charset="0"/>
                </a:rPr>
                <a:t>Butane</a:t>
              </a:r>
            </a:p>
          </p:txBody>
        </p:sp>
        <p:sp>
          <p:nvSpPr>
            <p:cNvPr id="348207" name="Oval 47"/>
            <p:cNvSpPr>
              <a:spLocks noChangeArrowheads="1"/>
            </p:cNvSpPr>
            <p:nvPr/>
          </p:nvSpPr>
          <p:spPr bwMode="auto">
            <a:xfrm>
              <a:off x="3832" y="2319"/>
              <a:ext cx="300" cy="300"/>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08" name="Oval 48"/>
            <p:cNvSpPr>
              <a:spLocks noChangeArrowheads="1"/>
            </p:cNvSpPr>
            <p:nvPr/>
          </p:nvSpPr>
          <p:spPr bwMode="auto">
            <a:xfrm>
              <a:off x="2622" y="2315"/>
              <a:ext cx="300" cy="300"/>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09" name="Oval 49"/>
            <p:cNvSpPr>
              <a:spLocks noChangeArrowheads="1"/>
            </p:cNvSpPr>
            <p:nvPr/>
          </p:nvSpPr>
          <p:spPr bwMode="auto">
            <a:xfrm>
              <a:off x="2673" y="2087"/>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10" name="Oval 50"/>
            <p:cNvSpPr>
              <a:spLocks noChangeArrowheads="1"/>
            </p:cNvSpPr>
            <p:nvPr/>
          </p:nvSpPr>
          <p:spPr bwMode="auto">
            <a:xfrm>
              <a:off x="3888" y="2084"/>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11" name="Oval 51"/>
            <p:cNvSpPr>
              <a:spLocks noChangeArrowheads="1"/>
            </p:cNvSpPr>
            <p:nvPr/>
          </p:nvSpPr>
          <p:spPr bwMode="auto">
            <a:xfrm>
              <a:off x="3891" y="2663"/>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12" name="Oval 52"/>
            <p:cNvSpPr>
              <a:spLocks noChangeArrowheads="1"/>
            </p:cNvSpPr>
            <p:nvPr/>
          </p:nvSpPr>
          <p:spPr bwMode="auto">
            <a:xfrm>
              <a:off x="2667" y="2665"/>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grpSp>
        <p:nvGrpSpPr>
          <p:cNvPr id="348213" name="Group 53"/>
          <p:cNvGrpSpPr>
            <a:grpSpLocks/>
          </p:cNvGrpSpPr>
          <p:nvPr/>
        </p:nvGrpSpPr>
        <p:grpSpPr bwMode="auto">
          <a:xfrm>
            <a:off x="4957763" y="3684588"/>
            <a:ext cx="3205162" cy="1825625"/>
            <a:chOff x="3123" y="2321"/>
            <a:chExt cx="2019" cy="1150"/>
          </a:xfrm>
        </p:grpSpPr>
        <p:sp>
          <p:nvSpPr>
            <p:cNvPr id="348214" name="Line 54"/>
            <p:cNvSpPr>
              <a:spLocks noChangeShapeType="1"/>
            </p:cNvSpPr>
            <p:nvPr/>
          </p:nvSpPr>
          <p:spPr bwMode="auto">
            <a:xfrm flipV="1">
              <a:off x="4422" y="2757"/>
              <a:ext cx="322" cy="0"/>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48215" name="Line 55"/>
            <p:cNvSpPr>
              <a:spLocks noChangeShapeType="1"/>
            </p:cNvSpPr>
            <p:nvPr/>
          </p:nvSpPr>
          <p:spPr bwMode="auto">
            <a:xfrm>
              <a:off x="4734" y="2652"/>
              <a:ext cx="1" cy="336"/>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48216" name="Line 56"/>
            <p:cNvSpPr>
              <a:spLocks noChangeShapeType="1"/>
            </p:cNvSpPr>
            <p:nvPr/>
          </p:nvSpPr>
          <p:spPr bwMode="auto">
            <a:xfrm>
              <a:off x="3518" y="2444"/>
              <a:ext cx="1" cy="528"/>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48217" name="Line 57"/>
            <p:cNvSpPr>
              <a:spLocks noChangeShapeType="1"/>
            </p:cNvSpPr>
            <p:nvPr/>
          </p:nvSpPr>
          <p:spPr bwMode="auto">
            <a:xfrm>
              <a:off x="4333" y="2687"/>
              <a:ext cx="1" cy="304"/>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48218" name="Line 58"/>
            <p:cNvSpPr>
              <a:spLocks noChangeShapeType="1"/>
            </p:cNvSpPr>
            <p:nvPr/>
          </p:nvSpPr>
          <p:spPr bwMode="auto">
            <a:xfrm>
              <a:off x="3900" y="2422"/>
              <a:ext cx="2" cy="569"/>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48219" name="Line 59"/>
            <p:cNvSpPr>
              <a:spLocks noChangeShapeType="1"/>
            </p:cNvSpPr>
            <p:nvPr/>
          </p:nvSpPr>
          <p:spPr bwMode="auto">
            <a:xfrm>
              <a:off x="3298" y="2703"/>
              <a:ext cx="1724" cy="1"/>
            </a:xfrm>
            <a:prstGeom prst="line">
              <a:avLst/>
            </a:prstGeom>
            <a:noFill/>
            <a:ln w="25400">
              <a:solidFill>
                <a:schemeClr val="bg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48220" name="Oval 60"/>
            <p:cNvSpPr>
              <a:spLocks noChangeArrowheads="1"/>
            </p:cNvSpPr>
            <p:nvPr/>
          </p:nvSpPr>
          <p:spPr bwMode="auto">
            <a:xfrm>
              <a:off x="3757" y="2559"/>
              <a:ext cx="300" cy="300"/>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21" name="Oval 61"/>
            <p:cNvSpPr>
              <a:spLocks noChangeArrowheads="1"/>
            </p:cNvSpPr>
            <p:nvPr/>
          </p:nvSpPr>
          <p:spPr bwMode="auto">
            <a:xfrm>
              <a:off x="4189" y="2559"/>
              <a:ext cx="300" cy="300"/>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22" name="Oval 62"/>
            <p:cNvSpPr>
              <a:spLocks noChangeArrowheads="1"/>
            </p:cNvSpPr>
            <p:nvPr/>
          </p:nvSpPr>
          <p:spPr bwMode="auto">
            <a:xfrm>
              <a:off x="4237" y="2895"/>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23" name="Oval 63"/>
            <p:cNvSpPr>
              <a:spLocks noChangeArrowheads="1"/>
            </p:cNvSpPr>
            <p:nvPr/>
          </p:nvSpPr>
          <p:spPr bwMode="auto">
            <a:xfrm>
              <a:off x="3123" y="2607"/>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24" name="Oval 64"/>
            <p:cNvSpPr>
              <a:spLocks noChangeArrowheads="1"/>
            </p:cNvSpPr>
            <p:nvPr/>
          </p:nvSpPr>
          <p:spPr bwMode="auto">
            <a:xfrm>
              <a:off x="3805" y="2895"/>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25" name="Oval 65"/>
            <p:cNvSpPr>
              <a:spLocks noChangeArrowheads="1"/>
            </p:cNvSpPr>
            <p:nvPr/>
          </p:nvSpPr>
          <p:spPr bwMode="auto">
            <a:xfrm>
              <a:off x="4950" y="2607"/>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26" name="Text Box 66"/>
            <p:cNvSpPr txBox="1">
              <a:spLocks noChangeArrowheads="1"/>
            </p:cNvSpPr>
            <p:nvPr/>
          </p:nvSpPr>
          <p:spPr bwMode="auto">
            <a:xfrm>
              <a:off x="3661" y="3183"/>
              <a:ext cx="912"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GB">
                  <a:solidFill>
                    <a:srgbClr val="66CCFF"/>
                  </a:solidFill>
                  <a:latin typeface="Comic Sans MS" charset="0"/>
                  <a:ea typeface="ＭＳ Ｐゴシック" charset="0"/>
                </a:rPr>
                <a:t>Butene</a:t>
              </a:r>
            </a:p>
          </p:txBody>
        </p:sp>
        <p:sp>
          <p:nvSpPr>
            <p:cNvPr id="348227" name="Oval 67"/>
            <p:cNvSpPr>
              <a:spLocks noChangeArrowheads="1"/>
            </p:cNvSpPr>
            <p:nvPr/>
          </p:nvSpPr>
          <p:spPr bwMode="auto">
            <a:xfrm>
              <a:off x="4578" y="2556"/>
              <a:ext cx="300" cy="300"/>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28" name="Oval 68"/>
            <p:cNvSpPr>
              <a:spLocks noChangeArrowheads="1"/>
            </p:cNvSpPr>
            <p:nvPr/>
          </p:nvSpPr>
          <p:spPr bwMode="auto">
            <a:xfrm>
              <a:off x="3368" y="2552"/>
              <a:ext cx="300" cy="300"/>
            </a:xfrm>
            <a:prstGeom prst="ellipse">
              <a:avLst/>
            </a:prstGeom>
            <a:gradFill rotWithShape="1">
              <a:gsLst>
                <a:gs pos="0">
                  <a:srgbClr val="99FF99"/>
                </a:gs>
                <a:gs pos="100000">
                  <a:srgbClr val="99FF99">
                    <a:gamma/>
                    <a:shade val="66275"/>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29" name="Oval 69"/>
            <p:cNvSpPr>
              <a:spLocks noChangeArrowheads="1"/>
            </p:cNvSpPr>
            <p:nvPr/>
          </p:nvSpPr>
          <p:spPr bwMode="auto">
            <a:xfrm>
              <a:off x="3419" y="2324"/>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30" name="Oval 70"/>
            <p:cNvSpPr>
              <a:spLocks noChangeArrowheads="1"/>
            </p:cNvSpPr>
            <p:nvPr/>
          </p:nvSpPr>
          <p:spPr bwMode="auto">
            <a:xfrm>
              <a:off x="3814" y="2321"/>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31" name="Oval 71"/>
            <p:cNvSpPr>
              <a:spLocks noChangeArrowheads="1"/>
            </p:cNvSpPr>
            <p:nvPr/>
          </p:nvSpPr>
          <p:spPr bwMode="auto">
            <a:xfrm>
              <a:off x="4637" y="2900"/>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48232" name="Oval 72"/>
            <p:cNvSpPr>
              <a:spLocks noChangeArrowheads="1"/>
            </p:cNvSpPr>
            <p:nvPr/>
          </p:nvSpPr>
          <p:spPr bwMode="auto">
            <a:xfrm>
              <a:off x="3413" y="2902"/>
              <a:ext cx="192" cy="192"/>
            </a:xfrm>
            <a:prstGeom prst="ellipse">
              <a:avLst/>
            </a:prstGeom>
            <a:gradFill rotWithShape="1">
              <a:gsLst>
                <a:gs pos="0">
                  <a:srgbClr val="FFFF00"/>
                </a:gs>
                <a:gs pos="100000">
                  <a:srgbClr val="FFFF00">
                    <a:gamma/>
                    <a:shade val="76471"/>
                    <a:invGamma/>
                  </a:srgbClr>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
        <p:nvSpPr>
          <p:cNvPr id="348233" name="Text Box 73"/>
          <p:cNvSpPr txBox="1">
            <a:spLocks noChangeArrowheads="1"/>
          </p:cNvSpPr>
          <p:nvPr/>
        </p:nvSpPr>
        <p:spPr bwMode="auto">
          <a:xfrm>
            <a:off x="0" y="5535613"/>
            <a:ext cx="9144000" cy="1200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sz="2400">
                <a:solidFill>
                  <a:schemeClr val="bg1"/>
                </a:solidFill>
                <a:latin typeface="Comic Sans MS" panose="030F0702030302020204" pitchFamily="66" charset="0"/>
                <a:ea typeface="MS PGothic" panose="020B0600070205080204" pitchFamily="34" charset="-128"/>
              </a:defRPr>
            </a:lvl1pPr>
            <a:lvl2pPr marL="742950" indent="-285750" eaLnBrk="0" hangingPunct="0">
              <a:defRPr sz="2400">
                <a:solidFill>
                  <a:schemeClr val="bg1"/>
                </a:solidFill>
                <a:latin typeface="Comic Sans MS" panose="030F0702030302020204" pitchFamily="66" charset="0"/>
                <a:ea typeface="MS PGothic" panose="020B0600070205080204" pitchFamily="34" charset="-128"/>
              </a:defRPr>
            </a:lvl2pPr>
            <a:lvl3pPr marL="1143000" indent="-228600" eaLnBrk="0" hangingPunct="0">
              <a:defRPr sz="2400">
                <a:solidFill>
                  <a:schemeClr val="bg1"/>
                </a:solidFill>
                <a:latin typeface="Comic Sans MS" panose="030F0702030302020204" pitchFamily="66" charset="0"/>
                <a:ea typeface="MS PGothic" panose="020B0600070205080204" pitchFamily="34" charset="-128"/>
              </a:defRPr>
            </a:lvl3pPr>
            <a:lvl4pPr marL="1600200" indent="-228600" eaLnBrk="0" hangingPunct="0">
              <a:defRPr sz="2400">
                <a:solidFill>
                  <a:schemeClr val="bg1"/>
                </a:solidFill>
                <a:latin typeface="Comic Sans MS" panose="030F0702030302020204" pitchFamily="66" charset="0"/>
                <a:ea typeface="MS PGothic" panose="020B0600070205080204" pitchFamily="34" charset="-128"/>
              </a:defRPr>
            </a:lvl4pPr>
            <a:lvl5pPr marL="2057400" indent="-228600" eaLnBrk="0" hangingPunct="0">
              <a:defRPr sz="2400">
                <a:solidFill>
                  <a:schemeClr val="bg1"/>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sz="2400">
                <a:solidFill>
                  <a:schemeClr val="bg1"/>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sz="2400">
                <a:solidFill>
                  <a:schemeClr val="bg1"/>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sz="2400">
                <a:solidFill>
                  <a:schemeClr val="bg1"/>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sz="2400">
                <a:solidFill>
                  <a:schemeClr val="bg1"/>
                </a:solidFill>
                <a:latin typeface="Comic Sans MS" panose="030F0702030302020204" pitchFamily="66" charset="0"/>
                <a:ea typeface="MS PGothic" panose="020B0600070205080204" pitchFamily="34" charset="-128"/>
              </a:defRPr>
            </a:lvl9pPr>
          </a:lstStyle>
          <a:p>
            <a:pPr eaLnBrk="1" hangingPunct="1">
              <a:spcBef>
                <a:spcPct val="50000"/>
              </a:spcBef>
            </a:pPr>
            <a:r>
              <a:rPr lang="en-GB" altLang="en-US">
                <a:solidFill>
                  <a:srgbClr val="FFCC99"/>
                </a:solidFill>
              </a:rPr>
              <a:t>This double bond means that alkenes have the potential to join with other molecules – this make them REACTIVE.  Alkenes turn bromine water colourless.</a:t>
            </a:r>
            <a:endParaRPr lang="en-US" altLang="en-US" baseline="-25000">
              <a:solidFill>
                <a:srgbClr val="FFCC99"/>
              </a:solidFill>
            </a:endParaRPr>
          </a:p>
        </p:txBody>
      </p:sp>
      <p:grpSp>
        <p:nvGrpSpPr>
          <p:cNvPr id="348234" name="Group 74"/>
          <p:cNvGrpSpPr>
            <a:grpSpLocks/>
          </p:cNvGrpSpPr>
          <p:nvPr/>
        </p:nvGrpSpPr>
        <p:grpSpPr bwMode="auto">
          <a:xfrm>
            <a:off x="180975" y="2176463"/>
            <a:ext cx="8734425" cy="2400300"/>
            <a:chOff x="114" y="1371"/>
            <a:chExt cx="5502" cy="1512"/>
          </a:xfrm>
        </p:grpSpPr>
        <p:sp>
          <p:nvSpPr>
            <p:cNvPr id="348235" name="Text Box 75"/>
            <p:cNvSpPr txBox="1">
              <a:spLocks noChangeArrowheads="1"/>
            </p:cNvSpPr>
            <p:nvPr/>
          </p:nvSpPr>
          <p:spPr bwMode="auto">
            <a:xfrm rot="-5400000">
              <a:off x="-477" y="1962"/>
              <a:ext cx="1510" cy="327"/>
            </a:xfrm>
            <a:prstGeom prst="rect">
              <a:avLst/>
            </a:prstGeom>
            <a:solidFill>
              <a:srgbClr val="FF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GB" sz="2800" dirty="0">
                  <a:latin typeface="Comic Sans MS" charset="0"/>
                  <a:ea typeface="ＭＳ Ｐゴシック" charset="0"/>
                </a:rPr>
                <a:t>ALKANES</a:t>
              </a:r>
              <a:endParaRPr lang="en-US" sz="2800" dirty="0">
                <a:latin typeface="Comic Sans MS" charset="0"/>
                <a:ea typeface="ＭＳ Ｐゴシック" charset="0"/>
              </a:endParaRPr>
            </a:p>
          </p:txBody>
        </p:sp>
        <p:sp>
          <p:nvSpPr>
            <p:cNvPr id="348236" name="Text Box 76"/>
            <p:cNvSpPr txBox="1">
              <a:spLocks noChangeArrowheads="1"/>
            </p:cNvSpPr>
            <p:nvPr/>
          </p:nvSpPr>
          <p:spPr bwMode="auto">
            <a:xfrm rot="-16200000">
              <a:off x="4697" y="1965"/>
              <a:ext cx="1510" cy="327"/>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GB" sz="2800">
                  <a:latin typeface="Comic Sans MS" charset="0"/>
                  <a:ea typeface="ＭＳ Ｐゴシック" charset="0"/>
                </a:rPr>
                <a:t>ALKENES</a:t>
              </a:r>
              <a:endParaRPr lang="en-US" sz="2800">
                <a:latin typeface="Comic Sans MS" charset="0"/>
                <a:ea typeface="ＭＳ Ｐゴシック" charset="0"/>
              </a:endParaRPr>
            </a:p>
          </p:txBody>
        </p:sp>
      </p:grpSp>
    </p:spTree>
    <p:extLst>
      <p:ext uri="{BB962C8B-B14F-4D97-AF65-F5344CB8AC3E}">
        <p14:creationId xmlns:p14="http://schemas.microsoft.com/office/powerpoint/2010/main" val="34638116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163"/>
                                        </p:tgtEl>
                                        <p:attrNameLst>
                                          <p:attrName>style.visibility</p:attrName>
                                        </p:attrNameLst>
                                      </p:cBhvr>
                                      <p:to>
                                        <p:strVal val="visible"/>
                                      </p:to>
                                    </p:set>
                                    <p:animEffect transition="in" filter="wipe(left)">
                                      <p:cBhvr>
                                        <p:cTn id="7" dur="500"/>
                                        <p:tgtEl>
                                          <p:spTgt spid="3481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48234"/>
                                        </p:tgtEl>
                                        <p:attrNameLst>
                                          <p:attrName>style.visibility</p:attrName>
                                        </p:attrNameLst>
                                      </p:cBhvr>
                                      <p:to>
                                        <p:strVal val="visible"/>
                                      </p:to>
                                    </p:set>
                                    <p:animEffect transition="in" filter="wipe(up)">
                                      <p:cBhvr>
                                        <p:cTn id="12" dur="500"/>
                                        <p:tgtEl>
                                          <p:spTgt spid="34823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348164"/>
                                        </p:tgtEl>
                                        <p:attrNameLst>
                                          <p:attrName>style.visibility</p:attrName>
                                        </p:attrNameLst>
                                      </p:cBhvr>
                                      <p:to>
                                        <p:strVal val="visible"/>
                                      </p:to>
                                    </p:set>
                                    <p:anim calcmode="lin" valueType="num">
                                      <p:cBhvr additive="base">
                                        <p:cTn id="17" dur="500" fill="hold"/>
                                        <p:tgtEl>
                                          <p:spTgt spid="348164"/>
                                        </p:tgtEl>
                                        <p:attrNameLst>
                                          <p:attrName>ppt_x</p:attrName>
                                        </p:attrNameLst>
                                      </p:cBhvr>
                                      <p:tavLst>
                                        <p:tav tm="0">
                                          <p:val>
                                            <p:strVal val="0-#ppt_w/2"/>
                                          </p:val>
                                        </p:tav>
                                        <p:tav tm="100000">
                                          <p:val>
                                            <p:strVal val="#ppt_x"/>
                                          </p:val>
                                        </p:tav>
                                      </p:tavLst>
                                    </p:anim>
                                    <p:anim calcmode="lin" valueType="num">
                                      <p:cBhvr additive="base">
                                        <p:cTn id="18" dur="500" fill="hold"/>
                                        <p:tgtEl>
                                          <p:spTgt spid="348164"/>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nodeType="clickEffect">
                                  <p:stCondLst>
                                    <p:cond delay="0"/>
                                  </p:stCondLst>
                                  <p:childTnLst>
                                    <p:set>
                                      <p:cBhvr>
                                        <p:cTn id="22" dur="1" fill="hold">
                                          <p:stCondLst>
                                            <p:cond delay="0"/>
                                          </p:stCondLst>
                                        </p:cTn>
                                        <p:tgtEl>
                                          <p:spTgt spid="348178"/>
                                        </p:tgtEl>
                                        <p:attrNameLst>
                                          <p:attrName>style.visibility</p:attrName>
                                        </p:attrNameLst>
                                      </p:cBhvr>
                                      <p:to>
                                        <p:strVal val="visible"/>
                                      </p:to>
                                    </p:set>
                                    <p:anim calcmode="lin" valueType="num">
                                      <p:cBhvr additive="base">
                                        <p:cTn id="23" dur="500" fill="hold"/>
                                        <p:tgtEl>
                                          <p:spTgt spid="348178"/>
                                        </p:tgtEl>
                                        <p:attrNameLst>
                                          <p:attrName>ppt_x</p:attrName>
                                        </p:attrNameLst>
                                      </p:cBhvr>
                                      <p:tavLst>
                                        <p:tav tm="0">
                                          <p:val>
                                            <p:strVal val="1+#ppt_w/2"/>
                                          </p:val>
                                        </p:tav>
                                        <p:tav tm="100000">
                                          <p:val>
                                            <p:strVal val="#ppt_x"/>
                                          </p:val>
                                        </p:tav>
                                      </p:tavLst>
                                    </p:anim>
                                    <p:anim calcmode="lin" valueType="num">
                                      <p:cBhvr additive="base">
                                        <p:cTn id="24" dur="500" fill="hold"/>
                                        <p:tgtEl>
                                          <p:spTgt spid="348178"/>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nodeType="clickEffect">
                                  <p:stCondLst>
                                    <p:cond delay="0"/>
                                  </p:stCondLst>
                                  <p:childTnLst>
                                    <p:set>
                                      <p:cBhvr>
                                        <p:cTn id="28" dur="1" fill="hold">
                                          <p:stCondLst>
                                            <p:cond delay="0"/>
                                          </p:stCondLst>
                                        </p:cTn>
                                        <p:tgtEl>
                                          <p:spTgt spid="348192"/>
                                        </p:tgtEl>
                                        <p:attrNameLst>
                                          <p:attrName>style.visibility</p:attrName>
                                        </p:attrNameLst>
                                      </p:cBhvr>
                                      <p:to>
                                        <p:strVal val="visible"/>
                                      </p:to>
                                    </p:set>
                                    <p:anim calcmode="lin" valueType="num">
                                      <p:cBhvr additive="base">
                                        <p:cTn id="29" dur="500" fill="hold"/>
                                        <p:tgtEl>
                                          <p:spTgt spid="348192"/>
                                        </p:tgtEl>
                                        <p:attrNameLst>
                                          <p:attrName>ppt_x</p:attrName>
                                        </p:attrNameLst>
                                      </p:cBhvr>
                                      <p:tavLst>
                                        <p:tav tm="0">
                                          <p:val>
                                            <p:strVal val="0-#ppt_w/2"/>
                                          </p:val>
                                        </p:tav>
                                        <p:tav tm="100000">
                                          <p:val>
                                            <p:strVal val="#ppt_x"/>
                                          </p:val>
                                        </p:tav>
                                      </p:tavLst>
                                    </p:anim>
                                    <p:anim calcmode="lin" valueType="num">
                                      <p:cBhvr additive="base">
                                        <p:cTn id="30" dur="500" fill="hold"/>
                                        <p:tgtEl>
                                          <p:spTgt spid="348192"/>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2" fill="hold" nodeType="clickEffect">
                                  <p:stCondLst>
                                    <p:cond delay="0"/>
                                  </p:stCondLst>
                                  <p:childTnLst>
                                    <p:set>
                                      <p:cBhvr>
                                        <p:cTn id="34" dur="1" fill="hold">
                                          <p:stCondLst>
                                            <p:cond delay="0"/>
                                          </p:stCondLst>
                                        </p:cTn>
                                        <p:tgtEl>
                                          <p:spTgt spid="348213"/>
                                        </p:tgtEl>
                                        <p:attrNameLst>
                                          <p:attrName>style.visibility</p:attrName>
                                        </p:attrNameLst>
                                      </p:cBhvr>
                                      <p:to>
                                        <p:strVal val="visible"/>
                                      </p:to>
                                    </p:set>
                                    <p:anim calcmode="lin" valueType="num">
                                      <p:cBhvr additive="base">
                                        <p:cTn id="35" dur="500" fill="hold"/>
                                        <p:tgtEl>
                                          <p:spTgt spid="348213"/>
                                        </p:tgtEl>
                                        <p:attrNameLst>
                                          <p:attrName>ppt_x</p:attrName>
                                        </p:attrNameLst>
                                      </p:cBhvr>
                                      <p:tavLst>
                                        <p:tav tm="0">
                                          <p:val>
                                            <p:strVal val="1+#ppt_w/2"/>
                                          </p:val>
                                        </p:tav>
                                        <p:tav tm="100000">
                                          <p:val>
                                            <p:strVal val="#ppt_x"/>
                                          </p:val>
                                        </p:tav>
                                      </p:tavLst>
                                    </p:anim>
                                    <p:anim calcmode="lin" valueType="num">
                                      <p:cBhvr additive="base">
                                        <p:cTn id="36" dur="500" fill="hold"/>
                                        <p:tgtEl>
                                          <p:spTgt spid="348213"/>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48233"/>
                                        </p:tgtEl>
                                        <p:attrNameLst>
                                          <p:attrName>style.visibility</p:attrName>
                                        </p:attrNameLst>
                                      </p:cBhvr>
                                      <p:to>
                                        <p:strVal val="visible"/>
                                      </p:to>
                                    </p:set>
                                    <p:animEffect transition="in" filter="wipe(left)">
                                      <p:cBhvr>
                                        <p:cTn id="41" dur="500"/>
                                        <p:tgtEl>
                                          <p:spTgt spid="3482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3" grpId="0" autoUpdateAnimBg="0"/>
      <p:bldP spid="34823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Date Placeholder 1"/>
          <p:cNvSpPr>
            <a:spLocks noGrp="1"/>
          </p:cNvSpPr>
          <p:nvPr>
            <p:ph type="dt" sz="quarter" idx="10"/>
          </p:nvPr>
        </p:nvSpPr>
        <p:spPr>
          <a:noFill/>
        </p:spPr>
        <p:txBody>
          <a:bodyP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fld id="{CACD394A-7246-4547-B1B9-5B634C879804}" type="datetime1">
              <a:rPr lang="en-GB" altLang="en-US" sz="1800" smtClean="0">
                <a:solidFill>
                  <a:schemeClr val="folHlink"/>
                </a:solidFill>
              </a:rPr>
              <a:pPr eaLnBrk="1" hangingPunct="1"/>
              <a:t>02/06/2020</a:t>
            </a:fld>
            <a:endParaRPr lang="en-GB" altLang="en-US" sz="1800">
              <a:solidFill>
                <a:schemeClr val="folHlink"/>
              </a:solidFill>
            </a:endParaRPr>
          </a:p>
        </p:txBody>
      </p:sp>
      <p:sp>
        <p:nvSpPr>
          <p:cNvPr id="62" name="Date Placeholder 3"/>
          <p:cNvSpPr txBox="1">
            <a:spLocks noGrp="1"/>
          </p:cNvSpPr>
          <p:nvPr/>
        </p:nvSpPr>
        <p:spPr bwMode="auto">
          <a:xfrm>
            <a:off x="7239000" y="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fontAlgn="base">
              <a:spcBef>
                <a:spcPct val="0"/>
              </a:spcBef>
              <a:spcAft>
                <a:spcPct val="0"/>
              </a:spcAft>
              <a:defRPr sz="2400">
                <a:solidFill>
                  <a:schemeClr val="tx1"/>
                </a:solidFill>
                <a:latin typeface="Times New Roman" pitchFamily="18" charset="0"/>
              </a:defRPr>
            </a:lvl6pPr>
            <a:lvl7pPr marL="2971800" indent="-228600" fontAlgn="base">
              <a:spcBef>
                <a:spcPct val="0"/>
              </a:spcBef>
              <a:spcAft>
                <a:spcPct val="0"/>
              </a:spcAft>
              <a:defRPr sz="2400">
                <a:solidFill>
                  <a:schemeClr val="tx1"/>
                </a:solidFill>
                <a:latin typeface="Times New Roman" pitchFamily="18" charset="0"/>
              </a:defRPr>
            </a:lvl7pPr>
            <a:lvl8pPr marL="3429000" indent="-228600" fontAlgn="base">
              <a:spcBef>
                <a:spcPct val="0"/>
              </a:spcBef>
              <a:spcAft>
                <a:spcPct val="0"/>
              </a:spcAft>
              <a:defRPr sz="2400">
                <a:solidFill>
                  <a:schemeClr val="tx1"/>
                </a:solidFill>
                <a:latin typeface="Times New Roman" pitchFamily="18" charset="0"/>
              </a:defRPr>
            </a:lvl8pPr>
            <a:lvl9pPr marL="3886200" indent="-228600" fontAlgn="base">
              <a:spcBef>
                <a:spcPct val="0"/>
              </a:spcBef>
              <a:spcAft>
                <a:spcPct val="0"/>
              </a:spcAft>
              <a:defRPr sz="2400">
                <a:solidFill>
                  <a:schemeClr val="tx1"/>
                </a:solidFill>
                <a:latin typeface="Times New Roman" pitchFamily="18" charset="0"/>
              </a:defRPr>
            </a:lvl9pPr>
          </a:lstStyle>
          <a:p>
            <a:pPr algn="r">
              <a:defRPr/>
            </a:pPr>
            <a:fld id="{A7B319DC-C885-4F46-91FD-2A928A48D6F9}" type="datetime1">
              <a:rPr lang="en-GB" sz="1800" smtClean="0">
                <a:solidFill>
                  <a:schemeClr val="folHlink"/>
                </a:solidFill>
                <a:latin typeface="Comic Sans MS" pitchFamily="66" charset="0"/>
                <a:ea typeface="MS PGothic" pitchFamily="34" charset="-128"/>
              </a:rPr>
              <a:pPr algn="r">
                <a:defRPr/>
              </a:pPr>
              <a:t>02/06/2020</a:t>
            </a:fld>
            <a:endParaRPr lang="en-GB" sz="1800">
              <a:solidFill>
                <a:schemeClr val="folHlink"/>
              </a:solidFill>
              <a:latin typeface="Comic Sans MS" pitchFamily="66" charset="0"/>
              <a:ea typeface="MS PGothic" pitchFamily="34" charset="-128"/>
            </a:endParaRPr>
          </a:p>
        </p:txBody>
      </p:sp>
      <p:sp>
        <p:nvSpPr>
          <p:cNvPr id="384002" name="Rectangle 2"/>
          <p:cNvSpPr>
            <a:spLocks noGrp="1" noChangeArrowheads="1"/>
          </p:cNvSpPr>
          <p:nvPr>
            <p:ph type="title" idx="4294967295"/>
          </p:nvPr>
        </p:nvSpPr>
        <p:spPr/>
        <p:txBody>
          <a:bodyPr/>
          <a:lstStyle/>
          <a:p>
            <a:pPr eaLnBrk="1" hangingPunct="1">
              <a:defRPr/>
            </a:pPr>
            <a:r>
              <a:rPr lang="cy-GB"/>
              <a:t>Metals and Alloys</a:t>
            </a:r>
            <a:endParaRPr lang="en-US"/>
          </a:p>
        </p:txBody>
      </p:sp>
      <p:grpSp>
        <p:nvGrpSpPr>
          <p:cNvPr id="384003" name="Group 3"/>
          <p:cNvGrpSpPr>
            <a:grpSpLocks/>
          </p:cNvGrpSpPr>
          <p:nvPr/>
        </p:nvGrpSpPr>
        <p:grpSpPr bwMode="auto">
          <a:xfrm>
            <a:off x="4356100" y="2060848"/>
            <a:ext cx="3779838" cy="936625"/>
            <a:chOff x="2744" y="663"/>
            <a:chExt cx="2381" cy="590"/>
          </a:xfrm>
        </p:grpSpPr>
        <p:sp>
          <p:nvSpPr>
            <p:cNvPr id="384004" name="Oval 4"/>
            <p:cNvSpPr>
              <a:spLocks noChangeArrowheads="1"/>
            </p:cNvSpPr>
            <p:nvPr/>
          </p:nvSpPr>
          <p:spPr bwMode="auto">
            <a:xfrm>
              <a:off x="2903" y="663"/>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05" name="Oval 5"/>
            <p:cNvSpPr>
              <a:spLocks noChangeArrowheads="1"/>
            </p:cNvSpPr>
            <p:nvPr/>
          </p:nvSpPr>
          <p:spPr bwMode="auto">
            <a:xfrm>
              <a:off x="3221" y="663"/>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06" name="Oval 6"/>
            <p:cNvSpPr>
              <a:spLocks noChangeArrowheads="1"/>
            </p:cNvSpPr>
            <p:nvPr/>
          </p:nvSpPr>
          <p:spPr bwMode="auto">
            <a:xfrm>
              <a:off x="3538" y="663"/>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07" name="Oval 7"/>
            <p:cNvSpPr>
              <a:spLocks noChangeArrowheads="1"/>
            </p:cNvSpPr>
            <p:nvPr/>
          </p:nvSpPr>
          <p:spPr bwMode="auto">
            <a:xfrm>
              <a:off x="3856" y="663"/>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08" name="Oval 8"/>
            <p:cNvSpPr>
              <a:spLocks noChangeArrowheads="1"/>
            </p:cNvSpPr>
            <p:nvPr/>
          </p:nvSpPr>
          <p:spPr bwMode="auto">
            <a:xfrm>
              <a:off x="4173" y="663"/>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09" name="Oval 9"/>
            <p:cNvSpPr>
              <a:spLocks noChangeArrowheads="1"/>
            </p:cNvSpPr>
            <p:nvPr/>
          </p:nvSpPr>
          <p:spPr bwMode="auto">
            <a:xfrm>
              <a:off x="4491" y="663"/>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10" name="Oval 10"/>
            <p:cNvSpPr>
              <a:spLocks noChangeArrowheads="1"/>
            </p:cNvSpPr>
            <p:nvPr/>
          </p:nvSpPr>
          <p:spPr bwMode="auto">
            <a:xfrm>
              <a:off x="4808" y="663"/>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11" name="Oval 11"/>
            <p:cNvSpPr>
              <a:spLocks noChangeArrowheads="1"/>
            </p:cNvSpPr>
            <p:nvPr/>
          </p:nvSpPr>
          <p:spPr bwMode="auto">
            <a:xfrm>
              <a:off x="2744" y="935"/>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12" name="Oval 12"/>
            <p:cNvSpPr>
              <a:spLocks noChangeArrowheads="1"/>
            </p:cNvSpPr>
            <p:nvPr/>
          </p:nvSpPr>
          <p:spPr bwMode="auto">
            <a:xfrm>
              <a:off x="3062" y="935"/>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13" name="Oval 13"/>
            <p:cNvSpPr>
              <a:spLocks noChangeArrowheads="1"/>
            </p:cNvSpPr>
            <p:nvPr/>
          </p:nvSpPr>
          <p:spPr bwMode="auto">
            <a:xfrm>
              <a:off x="3379" y="935"/>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14" name="Oval 14"/>
            <p:cNvSpPr>
              <a:spLocks noChangeArrowheads="1"/>
            </p:cNvSpPr>
            <p:nvPr/>
          </p:nvSpPr>
          <p:spPr bwMode="auto">
            <a:xfrm>
              <a:off x="3697" y="935"/>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15" name="Oval 15"/>
            <p:cNvSpPr>
              <a:spLocks noChangeArrowheads="1"/>
            </p:cNvSpPr>
            <p:nvPr/>
          </p:nvSpPr>
          <p:spPr bwMode="auto">
            <a:xfrm>
              <a:off x="4014" y="935"/>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16" name="Oval 16"/>
            <p:cNvSpPr>
              <a:spLocks noChangeArrowheads="1"/>
            </p:cNvSpPr>
            <p:nvPr/>
          </p:nvSpPr>
          <p:spPr bwMode="auto">
            <a:xfrm>
              <a:off x="4332" y="935"/>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17" name="Oval 17"/>
            <p:cNvSpPr>
              <a:spLocks noChangeArrowheads="1"/>
            </p:cNvSpPr>
            <p:nvPr/>
          </p:nvSpPr>
          <p:spPr bwMode="auto">
            <a:xfrm>
              <a:off x="4649" y="935"/>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grpSp>
        <p:nvGrpSpPr>
          <p:cNvPr id="384018" name="Group 18"/>
          <p:cNvGrpSpPr>
            <a:grpSpLocks/>
          </p:cNvGrpSpPr>
          <p:nvPr/>
        </p:nvGrpSpPr>
        <p:grpSpPr bwMode="auto">
          <a:xfrm>
            <a:off x="4356100" y="2924448"/>
            <a:ext cx="3779838" cy="938212"/>
            <a:chOff x="2744" y="1207"/>
            <a:chExt cx="2381" cy="591"/>
          </a:xfrm>
        </p:grpSpPr>
        <p:sp>
          <p:nvSpPr>
            <p:cNvPr id="384019" name="Oval 19"/>
            <p:cNvSpPr>
              <a:spLocks noChangeArrowheads="1"/>
            </p:cNvSpPr>
            <p:nvPr/>
          </p:nvSpPr>
          <p:spPr bwMode="auto">
            <a:xfrm>
              <a:off x="2903" y="1207"/>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20" name="Oval 20"/>
            <p:cNvSpPr>
              <a:spLocks noChangeArrowheads="1"/>
            </p:cNvSpPr>
            <p:nvPr/>
          </p:nvSpPr>
          <p:spPr bwMode="auto">
            <a:xfrm>
              <a:off x="3221" y="1207"/>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21" name="Oval 21"/>
            <p:cNvSpPr>
              <a:spLocks noChangeArrowheads="1"/>
            </p:cNvSpPr>
            <p:nvPr/>
          </p:nvSpPr>
          <p:spPr bwMode="auto">
            <a:xfrm>
              <a:off x="3538" y="1207"/>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22" name="Oval 22"/>
            <p:cNvSpPr>
              <a:spLocks noChangeArrowheads="1"/>
            </p:cNvSpPr>
            <p:nvPr/>
          </p:nvSpPr>
          <p:spPr bwMode="auto">
            <a:xfrm>
              <a:off x="3856" y="1207"/>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23" name="Oval 23"/>
            <p:cNvSpPr>
              <a:spLocks noChangeArrowheads="1"/>
            </p:cNvSpPr>
            <p:nvPr/>
          </p:nvSpPr>
          <p:spPr bwMode="auto">
            <a:xfrm>
              <a:off x="4173" y="1207"/>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24" name="Oval 24"/>
            <p:cNvSpPr>
              <a:spLocks noChangeArrowheads="1"/>
            </p:cNvSpPr>
            <p:nvPr/>
          </p:nvSpPr>
          <p:spPr bwMode="auto">
            <a:xfrm>
              <a:off x="4491" y="1207"/>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25" name="Oval 25"/>
            <p:cNvSpPr>
              <a:spLocks noChangeArrowheads="1"/>
            </p:cNvSpPr>
            <p:nvPr/>
          </p:nvSpPr>
          <p:spPr bwMode="auto">
            <a:xfrm>
              <a:off x="4808" y="1207"/>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26" name="Oval 26"/>
            <p:cNvSpPr>
              <a:spLocks noChangeArrowheads="1"/>
            </p:cNvSpPr>
            <p:nvPr/>
          </p:nvSpPr>
          <p:spPr bwMode="auto">
            <a:xfrm>
              <a:off x="2744" y="1480"/>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27" name="Oval 27"/>
            <p:cNvSpPr>
              <a:spLocks noChangeArrowheads="1"/>
            </p:cNvSpPr>
            <p:nvPr/>
          </p:nvSpPr>
          <p:spPr bwMode="auto">
            <a:xfrm>
              <a:off x="3062" y="1480"/>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28" name="Oval 28"/>
            <p:cNvSpPr>
              <a:spLocks noChangeArrowheads="1"/>
            </p:cNvSpPr>
            <p:nvPr/>
          </p:nvSpPr>
          <p:spPr bwMode="auto">
            <a:xfrm>
              <a:off x="3379" y="1480"/>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29" name="Oval 29"/>
            <p:cNvSpPr>
              <a:spLocks noChangeArrowheads="1"/>
            </p:cNvSpPr>
            <p:nvPr/>
          </p:nvSpPr>
          <p:spPr bwMode="auto">
            <a:xfrm>
              <a:off x="3697" y="1480"/>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30" name="Oval 30"/>
            <p:cNvSpPr>
              <a:spLocks noChangeArrowheads="1"/>
            </p:cNvSpPr>
            <p:nvPr/>
          </p:nvSpPr>
          <p:spPr bwMode="auto">
            <a:xfrm>
              <a:off x="4014" y="1480"/>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31" name="Oval 31"/>
            <p:cNvSpPr>
              <a:spLocks noChangeArrowheads="1"/>
            </p:cNvSpPr>
            <p:nvPr/>
          </p:nvSpPr>
          <p:spPr bwMode="auto">
            <a:xfrm>
              <a:off x="4332" y="1480"/>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32" name="Oval 32"/>
            <p:cNvSpPr>
              <a:spLocks noChangeArrowheads="1"/>
            </p:cNvSpPr>
            <p:nvPr/>
          </p:nvSpPr>
          <p:spPr bwMode="auto">
            <a:xfrm>
              <a:off x="4649" y="1480"/>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
        <p:nvSpPr>
          <p:cNvPr id="384033" name="Text Box 33"/>
          <p:cNvSpPr txBox="1">
            <a:spLocks noChangeArrowheads="1"/>
          </p:cNvSpPr>
          <p:nvPr/>
        </p:nvSpPr>
        <p:spPr bwMode="auto">
          <a:xfrm>
            <a:off x="0" y="2097360"/>
            <a:ext cx="3203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fontAlgn="base">
              <a:spcBef>
                <a:spcPct val="0"/>
              </a:spcBef>
              <a:spcAft>
                <a:spcPct val="0"/>
              </a:spcAft>
              <a:defRPr sz="2400">
                <a:solidFill>
                  <a:schemeClr val="tx1"/>
                </a:solidFill>
                <a:latin typeface="Times New Roman" pitchFamily="18" charset="0"/>
              </a:defRPr>
            </a:lvl6pPr>
            <a:lvl7pPr marL="2971800" indent="-228600" fontAlgn="base">
              <a:spcBef>
                <a:spcPct val="0"/>
              </a:spcBef>
              <a:spcAft>
                <a:spcPct val="0"/>
              </a:spcAft>
              <a:defRPr sz="2400">
                <a:solidFill>
                  <a:schemeClr val="tx1"/>
                </a:solidFill>
                <a:latin typeface="Times New Roman" pitchFamily="18" charset="0"/>
              </a:defRPr>
            </a:lvl7pPr>
            <a:lvl8pPr marL="3429000" indent="-228600" fontAlgn="base">
              <a:spcBef>
                <a:spcPct val="0"/>
              </a:spcBef>
              <a:spcAft>
                <a:spcPct val="0"/>
              </a:spcAft>
              <a:defRPr sz="2400">
                <a:solidFill>
                  <a:schemeClr val="tx1"/>
                </a:solidFill>
                <a:latin typeface="Times New Roman" pitchFamily="18" charset="0"/>
              </a:defRPr>
            </a:lvl8pPr>
            <a:lvl9pPr marL="3886200" indent="-228600" fontAlgn="base">
              <a:spcBef>
                <a:spcPct val="0"/>
              </a:spcBef>
              <a:spcAft>
                <a:spcPct val="0"/>
              </a:spcAft>
              <a:defRPr sz="2400">
                <a:solidFill>
                  <a:schemeClr val="tx1"/>
                </a:solidFill>
                <a:latin typeface="Times New Roman" pitchFamily="18" charset="0"/>
              </a:defRPr>
            </a:lvl9pPr>
          </a:lstStyle>
          <a:p>
            <a:pPr>
              <a:spcBef>
                <a:spcPct val="50000"/>
              </a:spcBef>
              <a:defRPr/>
            </a:pPr>
            <a:r>
              <a:rPr lang="cy-GB">
                <a:solidFill>
                  <a:srgbClr val="CCFFFF"/>
                </a:solidFill>
                <a:latin typeface="Comic Sans MS" pitchFamily="66" charset="0"/>
                <a:ea typeface="MS PGothic" pitchFamily="34" charset="-128"/>
              </a:rPr>
              <a:t>A pure metal:</a:t>
            </a:r>
            <a:endParaRPr lang="en-US">
              <a:solidFill>
                <a:srgbClr val="CCFFFF"/>
              </a:solidFill>
              <a:latin typeface="Comic Sans MS" pitchFamily="66" charset="0"/>
              <a:ea typeface="MS PGothic" pitchFamily="34" charset="-128"/>
            </a:endParaRPr>
          </a:p>
        </p:txBody>
      </p:sp>
      <p:sp>
        <p:nvSpPr>
          <p:cNvPr id="384034" name="AutoShape 34"/>
          <p:cNvSpPr>
            <a:spLocks noChangeArrowheads="1"/>
          </p:cNvSpPr>
          <p:nvPr/>
        </p:nvSpPr>
        <p:spPr bwMode="auto">
          <a:xfrm>
            <a:off x="3527425" y="2097360"/>
            <a:ext cx="684213" cy="755650"/>
          </a:xfrm>
          <a:prstGeom prst="rightArrow">
            <a:avLst>
              <a:gd name="adj1" fmla="val 50000"/>
              <a:gd name="adj2" fmla="val 25000"/>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35" name="Text Box 35"/>
          <p:cNvSpPr txBox="1">
            <a:spLocks noChangeArrowheads="1"/>
          </p:cNvSpPr>
          <p:nvPr/>
        </p:nvSpPr>
        <p:spPr bwMode="auto">
          <a:xfrm>
            <a:off x="0" y="4329385"/>
            <a:ext cx="320357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fontAlgn="base">
              <a:spcBef>
                <a:spcPct val="0"/>
              </a:spcBef>
              <a:spcAft>
                <a:spcPct val="0"/>
              </a:spcAft>
              <a:defRPr sz="2400">
                <a:solidFill>
                  <a:schemeClr val="tx1"/>
                </a:solidFill>
                <a:latin typeface="Times New Roman" pitchFamily="18" charset="0"/>
              </a:defRPr>
            </a:lvl6pPr>
            <a:lvl7pPr marL="2971800" indent="-228600" fontAlgn="base">
              <a:spcBef>
                <a:spcPct val="0"/>
              </a:spcBef>
              <a:spcAft>
                <a:spcPct val="0"/>
              </a:spcAft>
              <a:defRPr sz="2400">
                <a:solidFill>
                  <a:schemeClr val="tx1"/>
                </a:solidFill>
                <a:latin typeface="Times New Roman" pitchFamily="18" charset="0"/>
              </a:defRPr>
            </a:lvl7pPr>
            <a:lvl8pPr marL="3429000" indent="-228600" fontAlgn="base">
              <a:spcBef>
                <a:spcPct val="0"/>
              </a:spcBef>
              <a:spcAft>
                <a:spcPct val="0"/>
              </a:spcAft>
              <a:defRPr sz="2400">
                <a:solidFill>
                  <a:schemeClr val="tx1"/>
                </a:solidFill>
                <a:latin typeface="Times New Roman" pitchFamily="18" charset="0"/>
              </a:defRPr>
            </a:lvl8pPr>
            <a:lvl9pPr marL="3886200" indent="-228600" fontAlgn="base">
              <a:spcBef>
                <a:spcPct val="0"/>
              </a:spcBef>
              <a:spcAft>
                <a:spcPct val="0"/>
              </a:spcAft>
              <a:defRPr sz="2400">
                <a:solidFill>
                  <a:schemeClr val="tx1"/>
                </a:solidFill>
                <a:latin typeface="Times New Roman" pitchFamily="18" charset="0"/>
              </a:defRPr>
            </a:lvl9pPr>
          </a:lstStyle>
          <a:p>
            <a:pPr>
              <a:spcBef>
                <a:spcPct val="50000"/>
              </a:spcBef>
              <a:defRPr/>
            </a:pPr>
            <a:r>
              <a:rPr lang="cy-GB">
                <a:solidFill>
                  <a:srgbClr val="FFCC99"/>
                </a:solidFill>
                <a:latin typeface="Comic Sans MS" pitchFamily="66" charset="0"/>
                <a:ea typeface="MS PGothic" pitchFamily="34" charset="-128"/>
              </a:rPr>
              <a:t>An alloy is a mixture of metals that causes the metal to behave differently:</a:t>
            </a:r>
            <a:endParaRPr lang="en-US">
              <a:solidFill>
                <a:srgbClr val="FFCC99"/>
              </a:solidFill>
              <a:latin typeface="Comic Sans MS" pitchFamily="66" charset="0"/>
              <a:ea typeface="MS PGothic" pitchFamily="34" charset="-128"/>
            </a:endParaRPr>
          </a:p>
        </p:txBody>
      </p:sp>
      <p:grpSp>
        <p:nvGrpSpPr>
          <p:cNvPr id="145507" name="Group 99"/>
          <p:cNvGrpSpPr>
            <a:grpSpLocks/>
          </p:cNvGrpSpPr>
          <p:nvPr/>
        </p:nvGrpSpPr>
        <p:grpSpPr bwMode="auto">
          <a:xfrm>
            <a:off x="4356100" y="4257948"/>
            <a:ext cx="3779838" cy="1801812"/>
            <a:chOff x="2744" y="3067"/>
            <a:chExt cx="2381" cy="1135"/>
          </a:xfrm>
        </p:grpSpPr>
        <p:grpSp>
          <p:nvGrpSpPr>
            <p:cNvPr id="28684" name="Group 97"/>
            <p:cNvGrpSpPr>
              <a:grpSpLocks/>
            </p:cNvGrpSpPr>
            <p:nvPr/>
          </p:nvGrpSpPr>
          <p:grpSpPr bwMode="auto">
            <a:xfrm>
              <a:off x="2744" y="3067"/>
              <a:ext cx="2381" cy="590"/>
              <a:chOff x="2744" y="3067"/>
              <a:chExt cx="2381" cy="590"/>
            </a:xfrm>
          </p:grpSpPr>
          <p:sp>
            <p:nvSpPr>
              <p:cNvPr id="384037" name="Oval 37"/>
              <p:cNvSpPr>
                <a:spLocks noChangeArrowheads="1"/>
              </p:cNvSpPr>
              <p:nvPr/>
            </p:nvSpPr>
            <p:spPr bwMode="auto">
              <a:xfrm>
                <a:off x="2903" y="3067"/>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38" name="Oval 38"/>
              <p:cNvSpPr>
                <a:spLocks noChangeArrowheads="1"/>
              </p:cNvSpPr>
              <p:nvPr/>
            </p:nvSpPr>
            <p:spPr bwMode="auto">
              <a:xfrm>
                <a:off x="3221" y="3067"/>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39" name="Oval 39"/>
              <p:cNvSpPr>
                <a:spLocks noChangeArrowheads="1"/>
              </p:cNvSpPr>
              <p:nvPr/>
            </p:nvSpPr>
            <p:spPr bwMode="auto">
              <a:xfrm>
                <a:off x="3538" y="3067"/>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40" name="Oval 40"/>
              <p:cNvSpPr>
                <a:spLocks noChangeArrowheads="1"/>
              </p:cNvSpPr>
              <p:nvPr/>
            </p:nvSpPr>
            <p:spPr bwMode="auto">
              <a:xfrm>
                <a:off x="3856" y="3067"/>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41" name="Oval 41"/>
              <p:cNvSpPr>
                <a:spLocks noChangeArrowheads="1"/>
              </p:cNvSpPr>
              <p:nvPr/>
            </p:nvSpPr>
            <p:spPr bwMode="auto">
              <a:xfrm>
                <a:off x="4173" y="3067"/>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42" name="Oval 42"/>
              <p:cNvSpPr>
                <a:spLocks noChangeArrowheads="1"/>
              </p:cNvSpPr>
              <p:nvPr/>
            </p:nvSpPr>
            <p:spPr bwMode="auto">
              <a:xfrm>
                <a:off x="4491" y="3067"/>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43" name="Oval 43"/>
              <p:cNvSpPr>
                <a:spLocks noChangeArrowheads="1"/>
              </p:cNvSpPr>
              <p:nvPr/>
            </p:nvSpPr>
            <p:spPr bwMode="auto">
              <a:xfrm>
                <a:off x="4808" y="3067"/>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44" name="Oval 44"/>
              <p:cNvSpPr>
                <a:spLocks noChangeArrowheads="1"/>
              </p:cNvSpPr>
              <p:nvPr/>
            </p:nvSpPr>
            <p:spPr bwMode="auto">
              <a:xfrm>
                <a:off x="2744" y="3339"/>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45" name="Oval 45"/>
              <p:cNvSpPr>
                <a:spLocks noChangeArrowheads="1"/>
              </p:cNvSpPr>
              <p:nvPr/>
            </p:nvSpPr>
            <p:spPr bwMode="auto">
              <a:xfrm>
                <a:off x="3062" y="3339"/>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46" name="Oval 46"/>
              <p:cNvSpPr>
                <a:spLocks noChangeArrowheads="1"/>
              </p:cNvSpPr>
              <p:nvPr/>
            </p:nvSpPr>
            <p:spPr bwMode="auto">
              <a:xfrm>
                <a:off x="3379" y="3339"/>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47" name="Oval 47"/>
              <p:cNvSpPr>
                <a:spLocks noChangeArrowheads="1"/>
              </p:cNvSpPr>
              <p:nvPr/>
            </p:nvSpPr>
            <p:spPr bwMode="auto">
              <a:xfrm>
                <a:off x="4332" y="3339"/>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48" name="Oval 48"/>
              <p:cNvSpPr>
                <a:spLocks noChangeArrowheads="1"/>
              </p:cNvSpPr>
              <p:nvPr/>
            </p:nvSpPr>
            <p:spPr bwMode="auto">
              <a:xfrm>
                <a:off x="4649" y="3339"/>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grpSp>
          <p:nvGrpSpPr>
            <p:cNvPr id="28685" name="Group 98"/>
            <p:cNvGrpSpPr>
              <a:grpSpLocks/>
            </p:cNvGrpSpPr>
            <p:nvPr/>
          </p:nvGrpSpPr>
          <p:grpSpPr bwMode="auto">
            <a:xfrm>
              <a:off x="2744" y="3611"/>
              <a:ext cx="2381" cy="591"/>
              <a:chOff x="2744" y="3611"/>
              <a:chExt cx="2381" cy="591"/>
            </a:xfrm>
          </p:grpSpPr>
          <p:sp>
            <p:nvSpPr>
              <p:cNvPr id="384049" name="Oval 49"/>
              <p:cNvSpPr>
                <a:spLocks noChangeArrowheads="1"/>
              </p:cNvSpPr>
              <p:nvPr/>
            </p:nvSpPr>
            <p:spPr bwMode="auto">
              <a:xfrm>
                <a:off x="2903" y="3611"/>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50" name="Oval 50"/>
              <p:cNvSpPr>
                <a:spLocks noChangeArrowheads="1"/>
              </p:cNvSpPr>
              <p:nvPr/>
            </p:nvSpPr>
            <p:spPr bwMode="auto">
              <a:xfrm>
                <a:off x="3221" y="3611"/>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51" name="Oval 51"/>
              <p:cNvSpPr>
                <a:spLocks noChangeArrowheads="1"/>
              </p:cNvSpPr>
              <p:nvPr/>
            </p:nvSpPr>
            <p:spPr bwMode="auto">
              <a:xfrm>
                <a:off x="3538" y="3611"/>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52" name="Oval 52"/>
              <p:cNvSpPr>
                <a:spLocks noChangeArrowheads="1"/>
              </p:cNvSpPr>
              <p:nvPr/>
            </p:nvSpPr>
            <p:spPr bwMode="auto">
              <a:xfrm>
                <a:off x="4491" y="3611"/>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53" name="Oval 53"/>
              <p:cNvSpPr>
                <a:spLocks noChangeArrowheads="1"/>
              </p:cNvSpPr>
              <p:nvPr/>
            </p:nvSpPr>
            <p:spPr bwMode="auto">
              <a:xfrm>
                <a:off x="4808" y="3611"/>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54" name="Oval 54"/>
              <p:cNvSpPr>
                <a:spLocks noChangeArrowheads="1"/>
              </p:cNvSpPr>
              <p:nvPr/>
            </p:nvSpPr>
            <p:spPr bwMode="auto">
              <a:xfrm>
                <a:off x="2744" y="3884"/>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55" name="Oval 55"/>
              <p:cNvSpPr>
                <a:spLocks noChangeArrowheads="1"/>
              </p:cNvSpPr>
              <p:nvPr/>
            </p:nvSpPr>
            <p:spPr bwMode="auto">
              <a:xfrm>
                <a:off x="3062" y="3884"/>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56" name="Oval 56"/>
              <p:cNvSpPr>
                <a:spLocks noChangeArrowheads="1"/>
              </p:cNvSpPr>
              <p:nvPr/>
            </p:nvSpPr>
            <p:spPr bwMode="auto">
              <a:xfrm>
                <a:off x="3379" y="3884"/>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57" name="Oval 57"/>
              <p:cNvSpPr>
                <a:spLocks noChangeArrowheads="1"/>
              </p:cNvSpPr>
              <p:nvPr/>
            </p:nvSpPr>
            <p:spPr bwMode="auto">
              <a:xfrm>
                <a:off x="3697" y="3884"/>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58" name="Oval 58"/>
              <p:cNvSpPr>
                <a:spLocks noChangeArrowheads="1"/>
              </p:cNvSpPr>
              <p:nvPr/>
            </p:nvSpPr>
            <p:spPr bwMode="auto">
              <a:xfrm>
                <a:off x="4014" y="3884"/>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59" name="Oval 59"/>
              <p:cNvSpPr>
                <a:spLocks noChangeArrowheads="1"/>
              </p:cNvSpPr>
              <p:nvPr/>
            </p:nvSpPr>
            <p:spPr bwMode="auto">
              <a:xfrm>
                <a:off x="4332" y="3884"/>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384060" name="Oval 60"/>
              <p:cNvSpPr>
                <a:spLocks noChangeArrowheads="1"/>
              </p:cNvSpPr>
              <p:nvPr/>
            </p:nvSpPr>
            <p:spPr bwMode="auto">
              <a:xfrm>
                <a:off x="4649" y="3884"/>
                <a:ext cx="317" cy="318"/>
              </a:xfrm>
              <a:prstGeom prst="ellipse">
                <a:avLst/>
              </a:pr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
          <p:nvSpPr>
            <p:cNvPr id="384061" name="Oval 61"/>
            <p:cNvSpPr>
              <a:spLocks noChangeArrowheads="1"/>
            </p:cNvSpPr>
            <p:nvPr/>
          </p:nvSpPr>
          <p:spPr bwMode="auto">
            <a:xfrm>
              <a:off x="3833" y="3385"/>
              <a:ext cx="522" cy="522"/>
            </a:xfrm>
            <a:prstGeom prst="ellipse">
              <a:avLst/>
            </a:prstGeom>
            <a:gradFill rotWithShape="1">
              <a:gsLst>
                <a:gs pos="0">
                  <a:srgbClr val="FBE4AE"/>
                </a:gs>
                <a:gs pos="13000">
                  <a:srgbClr val="BD922A">
                    <a:alpha val="99740"/>
                  </a:srgbClr>
                </a:gs>
                <a:gs pos="21001">
                  <a:srgbClr val="BD922A">
                    <a:alpha val="99580"/>
                  </a:srgbClr>
                </a:gs>
                <a:gs pos="63000">
                  <a:srgbClr val="FBE4AE">
                    <a:alpha val="98740"/>
                  </a:srgbClr>
                </a:gs>
                <a:gs pos="67000">
                  <a:srgbClr val="BD922A">
                    <a:alpha val="98660"/>
                  </a:srgbClr>
                </a:gs>
                <a:gs pos="69000">
                  <a:srgbClr val="835E17">
                    <a:alpha val="98620"/>
                  </a:srgbClr>
                </a:gs>
                <a:gs pos="82001">
                  <a:srgbClr val="A28949">
                    <a:alpha val="98360"/>
                  </a:srgbClr>
                </a:gs>
                <a:gs pos="100000">
                  <a:srgbClr val="FAE3B7">
                    <a:alpha val="98000"/>
                  </a:srgbClr>
                </a:gs>
              </a:gsLst>
              <a:lin ang="1890000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grpSp>
      <p:sp>
        <p:nvSpPr>
          <p:cNvPr id="145504" name="Text Box 96"/>
          <p:cNvSpPr txBox="1">
            <a:spLocks noChangeArrowheads="1"/>
          </p:cNvSpPr>
          <p:nvPr/>
        </p:nvSpPr>
        <p:spPr bwMode="auto">
          <a:xfrm>
            <a:off x="0" y="836613"/>
            <a:ext cx="9144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anose="030F0702030302020204" pitchFamily="66" charset="0"/>
              </a:defRPr>
            </a:lvl1pPr>
            <a:lvl2pPr marL="742950" indent="-285750" eaLnBrk="0" hangingPunct="0">
              <a:defRPr sz="2400">
                <a:solidFill>
                  <a:schemeClr val="bg1"/>
                </a:solidFill>
                <a:latin typeface="Comic Sans MS" panose="030F0702030302020204" pitchFamily="66" charset="0"/>
              </a:defRPr>
            </a:lvl2pPr>
            <a:lvl3pPr marL="1143000" indent="-228600" eaLnBrk="0" hangingPunct="0">
              <a:defRPr sz="2400">
                <a:solidFill>
                  <a:schemeClr val="bg1"/>
                </a:solidFill>
                <a:latin typeface="Comic Sans MS" panose="030F0702030302020204" pitchFamily="66" charset="0"/>
              </a:defRPr>
            </a:lvl3pPr>
            <a:lvl4pPr marL="1600200" indent="-228600" eaLnBrk="0" hangingPunct="0">
              <a:defRPr sz="2400">
                <a:solidFill>
                  <a:schemeClr val="bg1"/>
                </a:solidFill>
                <a:latin typeface="Comic Sans MS" panose="030F0702030302020204" pitchFamily="66" charset="0"/>
              </a:defRPr>
            </a:lvl4pPr>
            <a:lvl5pPr marL="2057400" indent="-228600" eaLnBrk="0" hangingPunct="0">
              <a:defRPr sz="2400">
                <a:solidFill>
                  <a:schemeClr val="bg1"/>
                </a:solidFill>
                <a:latin typeface="Comic Sans MS" panose="030F0702030302020204" pitchFamily="66" charset="0"/>
              </a:defRPr>
            </a:lvl5pPr>
            <a:lvl6pPr marL="2514600" indent="-228600" eaLnBrk="0" fontAlgn="base" hangingPunct="0">
              <a:spcBef>
                <a:spcPct val="0"/>
              </a:spcBef>
              <a:spcAft>
                <a:spcPct val="0"/>
              </a:spcAft>
              <a:defRPr sz="2400">
                <a:solidFill>
                  <a:schemeClr val="bg1"/>
                </a:solidFill>
                <a:latin typeface="Comic Sans MS" panose="030F0702030302020204" pitchFamily="66" charset="0"/>
              </a:defRPr>
            </a:lvl6pPr>
            <a:lvl7pPr marL="2971800" indent="-228600" eaLnBrk="0" fontAlgn="base" hangingPunct="0">
              <a:spcBef>
                <a:spcPct val="0"/>
              </a:spcBef>
              <a:spcAft>
                <a:spcPct val="0"/>
              </a:spcAft>
              <a:defRPr sz="2400">
                <a:solidFill>
                  <a:schemeClr val="bg1"/>
                </a:solidFill>
                <a:latin typeface="Comic Sans MS" panose="030F0702030302020204" pitchFamily="66" charset="0"/>
              </a:defRPr>
            </a:lvl7pPr>
            <a:lvl8pPr marL="3429000" indent="-228600" eaLnBrk="0" fontAlgn="base" hangingPunct="0">
              <a:spcBef>
                <a:spcPct val="0"/>
              </a:spcBef>
              <a:spcAft>
                <a:spcPct val="0"/>
              </a:spcAft>
              <a:defRPr sz="2400">
                <a:solidFill>
                  <a:schemeClr val="bg1"/>
                </a:solidFill>
                <a:latin typeface="Comic Sans MS" panose="030F0702030302020204" pitchFamily="66" charset="0"/>
              </a:defRPr>
            </a:lvl8pPr>
            <a:lvl9pPr marL="3886200" indent="-228600" eaLnBrk="0" fontAlgn="base" hangingPunct="0">
              <a:spcBef>
                <a:spcPct val="0"/>
              </a:spcBef>
              <a:spcAft>
                <a:spcPct val="0"/>
              </a:spcAft>
              <a:defRPr sz="2400">
                <a:solidFill>
                  <a:schemeClr val="bg1"/>
                </a:solidFill>
                <a:latin typeface="Comic Sans MS" panose="030F0702030302020204" pitchFamily="66" charset="0"/>
              </a:defRPr>
            </a:lvl9pPr>
          </a:lstStyle>
          <a:p>
            <a:pPr eaLnBrk="1" hangingPunct="1">
              <a:spcBef>
                <a:spcPct val="50000"/>
              </a:spcBef>
            </a:pPr>
            <a:r>
              <a:rPr lang="en-GB" altLang="en-US" dirty="0">
                <a:solidFill>
                  <a:srgbClr val="FFCCFF"/>
                </a:solidFill>
              </a:rPr>
              <a:t>Metals are also easy to bend and malleable.  This is because the layers slide over each other:</a:t>
            </a:r>
          </a:p>
        </p:txBody>
      </p:sp>
    </p:spTree>
    <p:extLst>
      <p:ext uri="{BB962C8B-B14F-4D97-AF65-F5344CB8AC3E}">
        <p14:creationId xmlns:p14="http://schemas.microsoft.com/office/powerpoint/2010/main" val="25663653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5504"/>
                                        </p:tgtEl>
                                        <p:attrNameLst>
                                          <p:attrName>style.visibility</p:attrName>
                                        </p:attrNameLst>
                                      </p:cBhvr>
                                      <p:to>
                                        <p:strVal val="visible"/>
                                      </p:to>
                                    </p:set>
                                    <p:animEffect transition="in" filter="wipe(left)">
                                      <p:cBhvr>
                                        <p:cTn id="7" dur="500"/>
                                        <p:tgtEl>
                                          <p:spTgt spid="1455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4033"/>
                                        </p:tgtEl>
                                        <p:attrNameLst>
                                          <p:attrName>style.visibility</p:attrName>
                                        </p:attrNameLst>
                                      </p:cBhvr>
                                      <p:to>
                                        <p:strVal val="visible"/>
                                      </p:to>
                                    </p:set>
                                    <p:animEffect transition="in" filter="wipe(left)">
                                      <p:cBhvr>
                                        <p:cTn id="12" dur="500"/>
                                        <p:tgtEl>
                                          <p:spTgt spid="3840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84034"/>
                                        </p:tgtEl>
                                        <p:attrNameLst>
                                          <p:attrName>style.visibility</p:attrName>
                                        </p:attrNameLst>
                                      </p:cBhvr>
                                      <p:to>
                                        <p:strVal val="visible"/>
                                      </p:to>
                                    </p:set>
                                    <p:anim calcmode="lin" valueType="num">
                                      <p:cBhvr additive="base">
                                        <p:cTn id="17" dur="500" fill="hold"/>
                                        <p:tgtEl>
                                          <p:spTgt spid="384034"/>
                                        </p:tgtEl>
                                        <p:attrNameLst>
                                          <p:attrName>ppt_x</p:attrName>
                                        </p:attrNameLst>
                                      </p:cBhvr>
                                      <p:tavLst>
                                        <p:tav tm="0">
                                          <p:val>
                                            <p:strVal val="0-#ppt_w/2"/>
                                          </p:val>
                                        </p:tav>
                                        <p:tav tm="100000">
                                          <p:val>
                                            <p:strVal val="#ppt_x"/>
                                          </p:val>
                                        </p:tav>
                                      </p:tavLst>
                                    </p:anim>
                                    <p:anim calcmode="lin" valueType="num">
                                      <p:cBhvr additive="base">
                                        <p:cTn id="18" dur="500" fill="hold"/>
                                        <p:tgtEl>
                                          <p:spTgt spid="384034"/>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384003"/>
                                        </p:tgtEl>
                                        <p:attrNameLst>
                                          <p:attrName>style.visibility</p:attrName>
                                        </p:attrNameLst>
                                      </p:cBhvr>
                                      <p:to>
                                        <p:strVal val="visible"/>
                                      </p:to>
                                    </p:set>
                                    <p:animEffect transition="in" filter="wipe(left)">
                                      <p:cBhvr>
                                        <p:cTn id="23" dur="500"/>
                                        <p:tgtEl>
                                          <p:spTgt spid="384003"/>
                                        </p:tgtEl>
                                      </p:cBhvr>
                                    </p:animEffect>
                                  </p:childTnLst>
                                </p:cTn>
                              </p:par>
                              <p:par>
                                <p:cTn id="24" presetID="22" presetClass="entr" presetSubtype="8" fill="hold" nodeType="withEffect">
                                  <p:stCondLst>
                                    <p:cond delay="0"/>
                                  </p:stCondLst>
                                  <p:childTnLst>
                                    <p:set>
                                      <p:cBhvr>
                                        <p:cTn id="25" dur="1" fill="hold">
                                          <p:stCondLst>
                                            <p:cond delay="0"/>
                                          </p:stCondLst>
                                        </p:cTn>
                                        <p:tgtEl>
                                          <p:spTgt spid="384018"/>
                                        </p:tgtEl>
                                        <p:attrNameLst>
                                          <p:attrName>style.visibility</p:attrName>
                                        </p:attrNameLst>
                                      </p:cBhvr>
                                      <p:to>
                                        <p:strVal val="visible"/>
                                      </p:to>
                                    </p:set>
                                    <p:animEffect transition="in" filter="wipe(left)">
                                      <p:cBhvr>
                                        <p:cTn id="26" dur="500"/>
                                        <p:tgtEl>
                                          <p:spTgt spid="38401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0" presetClass="path" presetSubtype="0" accel="50000" decel="50000" fill="hold" nodeType="clickEffect">
                                  <p:stCondLst>
                                    <p:cond delay="0"/>
                                  </p:stCondLst>
                                  <p:childTnLst>
                                    <p:animMotion origin="layout" path="M 3.88889E-6 0 C 0.00139 -0.00532 0.00312 -0.00741 0.00781 -0.01042 C 0.0309 -0.00949 0.03698 -0.00995 0.05416 -0.00532 C 0.05711 -0.00093 0.05677 -0.00278 0.05677 0 " pathEditMode="relative" rAng="0" ptsTypes="AAAA">
                                      <p:cBhvr>
                                        <p:cTn id="30" dur="2000" fill="hold"/>
                                        <p:tgtEl>
                                          <p:spTgt spid="384003"/>
                                        </p:tgtEl>
                                        <p:attrNameLst>
                                          <p:attrName>ppt_x</p:attrName>
                                          <p:attrName>ppt_y</p:attrName>
                                        </p:attrNameLst>
                                      </p:cBhvr>
                                      <p:rCtr x="2830" y="-532"/>
                                    </p:animMotion>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84035"/>
                                        </p:tgtEl>
                                        <p:attrNameLst>
                                          <p:attrName>style.visibility</p:attrName>
                                        </p:attrNameLst>
                                      </p:cBhvr>
                                      <p:to>
                                        <p:strVal val="visible"/>
                                      </p:to>
                                    </p:set>
                                    <p:animEffect transition="in" filter="wipe(left)">
                                      <p:cBhvr>
                                        <p:cTn id="35" dur="500"/>
                                        <p:tgtEl>
                                          <p:spTgt spid="38403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45507"/>
                                        </p:tgtEl>
                                        <p:attrNameLst>
                                          <p:attrName>style.visibility</p:attrName>
                                        </p:attrNameLst>
                                      </p:cBhvr>
                                      <p:to>
                                        <p:strVal val="visible"/>
                                      </p:to>
                                    </p:set>
                                    <p:animEffect transition="in" filter="wipe(left)">
                                      <p:cBhvr>
                                        <p:cTn id="40" dur="500"/>
                                        <p:tgtEl>
                                          <p:spTgt spid="145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33" grpId="0"/>
      <p:bldP spid="384034" grpId="0" animBg="1"/>
      <p:bldP spid="384035" grpId="0"/>
      <p:bldP spid="14550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Calculations involving Masses</a:t>
            </a:r>
          </a:p>
        </p:txBody>
      </p:sp>
      <p:sp>
        <p:nvSpPr>
          <p:cNvPr id="3" name="Date Placeholder 2"/>
          <p:cNvSpPr>
            <a:spLocks noGrp="1"/>
          </p:cNvSpPr>
          <p:nvPr>
            <p:ph type="dt" sz="half" idx="10"/>
          </p:nvPr>
        </p:nvSpPr>
        <p:spPr/>
        <p:txBody>
          <a:bodyPr/>
          <a:lstStyle/>
          <a:p>
            <a:pPr>
              <a:defRPr/>
            </a:pPr>
            <a:fld id="{015E6D66-BACF-4A6D-9DB1-3B675C6F844B}" type="datetime1">
              <a:rPr lang="en-GB" smtClean="0"/>
              <a:pPr>
                <a:defRPr/>
              </a:pPr>
              <a:t>02/06/2020</a:t>
            </a:fld>
            <a:endParaRPr lang="en-GB"/>
          </a:p>
        </p:txBody>
      </p:sp>
    </p:spTree>
    <p:extLst>
      <p:ext uri="{BB962C8B-B14F-4D97-AF65-F5344CB8AC3E}">
        <p14:creationId xmlns:p14="http://schemas.microsoft.com/office/powerpoint/2010/main" val="31369046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Date Placeholder 3"/>
          <p:cNvSpPr>
            <a:spLocks noGrp="1"/>
          </p:cNvSpPr>
          <p:nvPr>
            <p:ph type="dt" sz="half" idx="10"/>
          </p:nvPr>
        </p:nvSpPr>
        <p:spPr/>
        <p:txBody>
          <a:bodyPr/>
          <a:lstStyle/>
          <a:p>
            <a:fld id="{EE294A29-EC63-432D-AD91-44C15DC33B55}" type="datetime1">
              <a:rPr lang="en-GB" altLang="en-US"/>
              <a:pPr/>
              <a:t>02/06/2020</a:t>
            </a:fld>
            <a:endParaRPr lang="en-GB" altLang="en-US"/>
          </a:p>
        </p:txBody>
      </p:sp>
      <p:sp>
        <p:nvSpPr>
          <p:cNvPr id="86018" name="Rectangle 2"/>
          <p:cNvSpPr>
            <a:spLocks noGrp="1" noChangeArrowheads="1"/>
          </p:cNvSpPr>
          <p:nvPr>
            <p:ph type="title"/>
          </p:nvPr>
        </p:nvSpPr>
        <p:spPr/>
        <p:txBody>
          <a:bodyPr/>
          <a:lstStyle/>
          <a:p>
            <a:r>
              <a:rPr lang="cy-GB" altLang="en-US" sz="3600"/>
              <a:t>Other ways of drawing covalent bonds</a:t>
            </a:r>
            <a:endParaRPr lang="en-US" altLang="en-US" sz="3600"/>
          </a:p>
        </p:txBody>
      </p:sp>
      <p:sp>
        <p:nvSpPr>
          <p:cNvPr id="86020" name="Text Box 4"/>
          <p:cNvSpPr txBox="1">
            <a:spLocks noChangeArrowheads="1"/>
          </p:cNvSpPr>
          <p:nvPr/>
        </p:nvSpPr>
        <p:spPr bwMode="auto">
          <a:xfrm>
            <a:off x="0" y="908050"/>
            <a:ext cx="5076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dirty="0">
                <a:solidFill>
                  <a:srgbClr val="CCECFF"/>
                </a:solidFill>
              </a:rPr>
              <a:t>Consider ammonia (NH</a:t>
            </a:r>
            <a:r>
              <a:rPr lang="en-GB" altLang="en-US" baseline="-25000" dirty="0">
                <a:solidFill>
                  <a:srgbClr val="CCECFF"/>
                </a:solidFill>
              </a:rPr>
              <a:t>3</a:t>
            </a:r>
            <a:r>
              <a:rPr lang="en-GB" altLang="en-US" dirty="0">
                <a:solidFill>
                  <a:srgbClr val="CCECFF"/>
                </a:solidFill>
              </a:rPr>
              <a:t>):</a:t>
            </a:r>
          </a:p>
        </p:txBody>
      </p:sp>
      <p:grpSp>
        <p:nvGrpSpPr>
          <p:cNvPr id="86021" name="Group 5"/>
          <p:cNvGrpSpPr>
            <a:grpSpLocks/>
          </p:cNvGrpSpPr>
          <p:nvPr/>
        </p:nvGrpSpPr>
        <p:grpSpPr bwMode="auto">
          <a:xfrm>
            <a:off x="1403648" y="1669256"/>
            <a:ext cx="2486025" cy="1771650"/>
            <a:chOff x="1049" y="2856"/>
            <a:chExt cx="1566" cy="1116"/>
          </a:xfrm>
        </p:grpSpPr>
        <p:sp>
          <p:nvSpPr>
            <p:cNvPr id="86022" name="Oval 6"/>
            <p:cNvSpPr>
              <a:spLocks noChangeArrowheads="1"/>
            </p:cNvSpPr>
            <p:nvPr/>
          </p:nvSpPr>
          <p:spPr bwMode="auto">
            <a:xfrm>
              <a:off x="1500" y="2892"/>
              <a:ext cx="660" cy="66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23" name="Oval 7"/>
            <p:cNvSpPr>
              <a:spLocks noChangeArrowheads="1"/>
            </p:cNvSpPr>
            <p:nvPr/>
          </p:nvSpPr>
          <p:spPr bwMode="auto">
            <a:xfrm>
              <a:off x="1049" y="2988"/>
              <a:ext cx="480" cy="48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24" name="Oval 8"/>
            <p:cNvSpPr>
              <a:spLocks noChangeArrowheads="1"/>
            </p:cNvSpPr>
            <p:nvPr/>
          </p:nvSpPr>
          <p:spPr bwMode="auto">
            <a:xfrm>
              <a:off x="1449" y="3078"/>
              <a:ext cx="86" cy="8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25" name="Oval 9"/>
            <p:cNvSpPr>
              <a:spLocks noChangeArrowheads="1"/>
            </p:cNvSpPr>
            <p:nvPr/>
          </p:nvSpPr>
          <p:spPr bwMode="auto">
            <a:xfrm flipH="1">
              <a:off x="2135" y="2976"/>
              <a:ext cx="480" cy="48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26" name="Oval 10"/>
            <p:cNvSpPr>
              <a:spLocks noChangeArrowheads="1"/>
            </p:cNvSpPr>
            <p:nvPr/>
          </p:nvSpPr>
          <p:spPr bwMode="auto">
            <a:xfrm flipH="1">
              <a:off x="2117" y="3078"/>
              <a:ext cx="86" cy="8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27" name="Text Box 11"/>
            <p:cNvSpPr txBox="1">
              <a:spLocks noChangeArrowheads="1"/>
            </p:cNvSpPr>
            <p:nvPr/>
          </p:nvSpPr>
          <p:spPr bwMode="auto">
            <a:xfrm>
              <a:off x="1104" y="3072"/>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66CCFF"/>
                  </a:solidFill>
                </a:rPr>
                <a:t>H</a:t>
              </a:r>
            </a:p>
          </p:txBody>
        </p:sp>
        <p:sp>
          <p:nvSpPr>
            <p:cNvPr id="86028" name="Text Box 12"/>
            <p:cNvSpPr txBox="1">
              <a:spLocks noChangeArrowheads="1"/>
            </p:cNvSpPr>
            <p:nvPr/>
          </p:nvSpPr>
          <p:spPr bwMode="auto">
            <a:xfrm>
              <a:off x="2208" y="3084"/>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66CCFF"/>
                  </a:solidFill>
                </a:rPr>
                <a:t>H</a:t>
              </a:r>
            </a:p>
          </p:txBody>
        </p:sp>
        <p:sp>
          <p:nvSpPr>
            <p:cNvPr id="86029" name="Text Box 13"/>
            <p:cNvSpPr txBox="1">
              <a:spLocks noChangeArrowheads="1"/>
            </p:cNvSpPr>
            <p:nvPr/>
          </p:nvSpPr>
          <p:spPr bwMode="auto">
            <a:xfrm>
              <a:off x="1668" y="309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FF9999"/>
                  </a:solidFill>
                </a:rPr>
                <a:t>N</a:t>
              </a:r>
            </a:p>
          </p:txBody>
        </p:sp>
        <p:sp>
          <p:nvSpPr>
            <p:cNvPr id="86030" name="Oval 14"/>
            <p:cNvSpPr>
              <a:spLocks noChangeArrowheads="1"/>
            </p:cNvSpPr>
            <p:nvPr/>
          </p:nvSpPr>
          <p:spPr bwMode="auto">
            <a:xfrm flipH="1">
              <a:off x="1595" y="3492"/>
              <a:ext cx="480" cy="480"/>
            </a:xfrm>
            <a:prstGeom prst="ellipse">
              <a:avLst/>
            </a:prstGeom>
            <a:noFill/>
            <a:ln w="254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31" name="Oval 15"/>
            <p:cNvSpPr>
              <a:spLocks noChangeArrowheads="1"/>
            </p:cNvSpPr>
            <p:nvPr/>
          </p:nvSpPr>
          <p:spPr bwMode="auto">
            <a:xfrm flipH="1">
              <a:off x="1889" y="3486"/>
              <a:ext cx="86" cy="8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32" name="Text Box 16"/>
            <p:cNvSpPr txBox="1">
              <a:spLocks noChangeArrowheads="1"/>
            </p:cNvSpPr>
            <p:nvPr/>
          </p:nvSpPr>
          <p:spPr bwMode="auto">
            <a:xfrm>
              <a:off x="1656" y="3576"/>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66CCFF"/>
                  </a:solidFill>
                </a:rPr>
                <a:t>H</a:t>
              </a:r>
            </a:p>
          </p:txBody>
        </p:sp>
        <p:sp>
          <p:nvSpPr>
            <p:cNvPr id="86033" name="AutoShape 17"/>
            <p:cNvSpPr>
              <a:spLocks noChangeArrowheads="1"/>
            </p:cNvSpPr>
            <p:nvPr/>
          </p:nvSpPr>
          <p:spPr bwMode="auto">
            <a:xfrm rot="8100000">
              <a:off x="1716" y="2856"/>
              <a:ext cx="120" cy="120"/>
            </a:xfrm>
            <a:prstGeom prst="plus">
              <a:avLst>
                <a:gd name="adj" fmla="val 35000"/>
              </a:avLst>
            </a:prstGeom>
            <a:solidFill>
              <a:srgbClr val="FF99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34" name="AutoShape 18"/>
            <p:cNvSpPr>
              <a:spLocks noChangeArrowheads="1"/>
            </p:cNvSpPr>
            <p:nvPr/>
          </p:nvSpPr>
          <p:spPr bwMode="auto">
            <a:xfrm rot="8100000">
              <a:off x="1704" y="3468"/>
              <a:ext cx="120" cy="120"/>
            </a:xfrm>
            <a:prstGeom prst="plus">
              <a:avLst>
                <a:gd name="adj" fmla="val 35000"/>
              </a:avLst>
            </a:prstGeom>
            <a:solidFill>
              <a:srgbClr val="FF99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35" name="AutoShape 19"/>
            <p:cNvSpPr>
              <a:spLocks noChangeArrowheads="1"/>
            </p:cNvSpPr>
            <p:nvPr/>
          </p:nvSpPr>
          <p:spPr bwMode="auto">
            <a:xfrm rot="8100000">
              <a:off x="1452" y="3216"/>
              <a:ext cx="120" cy="120"/>
            </a:xfrm>
            <a:prstGeom prst="plus">
              <a:avLst>
                <a:gd name="adj" fmla="val 35000"/>
              </a:avLst>
            </a:prstGeom>
            <a:solidFill>
              <a:srgbClr val="FF99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36" name="AutoShape 20"/>
            <p:cNvSpPr>
              <a:spLocks noChangeArrowheads="1"/>
            </p:cNvSpPr>
            <p:nvPr/>
          </p:nvSpPr>
          <p:spPr bwMode="auto">
            <a:xfrm rot="8100000">
              <a:off x="2100" y="3216"/>
              <a:ext cx="120" cy="120"/>
            </a:xfrm>
            <a:prstGeom prst="plus">
              <a:avLst>
                <a:gd name="adj" fmla="val 35000"/>
              </a:avLst>
            </a:prstGeom>
            <a:solidFill>
              <a:srgbClr val="FF99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37" name="AutoShape 21"/>
            <p:cNvSpPr>
              <a:spLocks noChangeArrowheads="1"/>
            </p:cNvSpPr>
            <p:nvPr/>
          </p:nvSpPr>
          <p:spPr bwMode="auto">
            <a:xfrm rot="8100000">
              <a:off x="1848" y="2856"/>
              <a:ext cx="120" cy="120"/>
            </a:xfrm>
            <a:prstGeom prst="plus">
              <a:avLst>
                <a:gd name="adj" fmla="val 35000"/>
              </a:avLst>
            </a:prstGeom>
            <a:solidFill>
              <a:srgbClr val="FF99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86038" name="Group 22"/>
          <p:cNvGrpSpPr>
            <a:grpSpLocks/>
          </p:cNvGrpSpPr>
          <p:nvPr/>
        </p:nvGrpSpPr>
        <p:grpSpPr bwMode="auto">
          <a:xfrm>
            <a:off x="5722145" y="1707357"/>
            <a:ext cx="2486025" cy="1771650"/>
            <a:chOff x="1049" y="2856"/>
            <a:chExt cx="1566" cy="1116"/>
          </a:xfrm>
        </p:grpSpPr>
        <p:sp>
          <p:nvSpPr>
            <p:cNvPr id="86039" name="Oval 23"/>
            <p:cNvSpPr>
              <a:spLocks noChangeArrowheads="1"/>
            </p:cNvSpPr>
            <p:nvPr/>
          </p:nvSpPr>
          <p:spPr bwMode="auto">
            <a:xfrm>
              <a:off x="1500" y="2892"/>
              <a:ext cx="660" cy="66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bg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40" name="Oval 24"/>
            <p:cNvSpPr>
              <a:spLocks noChangeArrowheads="1"/>
            </p:cNvSpPr>
            <p:nvPr/>
          </p:nvSpPr>
          <p:spPr bwMode="auto">
            <a:xfrm>
              <a:off x="1049" y="2988"/>
              <a:ext cx="480" cy="48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bg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41" name="Oval 25"/>
            <p:cNvSpPr>
              <a:spLocks noChangeArrowheads="1"/>
            </p:cNvSpPr>
            <p:nvPr/>
          </p:nvSpPr>
          <p:spPr bwMode="auto">
            <a:xfrm>
              <a:off x="1449" y="3078"/>
              <a:ext cx="86" cy="8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42" name="Oval 26"/>
            <p:cNvSpPr>
              <a:spLocks noChangeArrowheads="1"/>
            </p:cNvSpPr>
            <p:nvPr/>
          </p:nvSpPr>
          <p:spPr bwMode="auto">
            <a:xfrm flipH="1">
              <a:off x="2135" y="2976"/>
              <a:ext cx="480" cy="48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bg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43" name="Oval 27"/>
            <p:cNvSpPr>
              <a:spLocks noChangeArrowheads="1"/>
            </p:cNvSpPr>
            <p:nvPr/>
          </p:nvSpPr>
          <p:spPr bwMode="auto">
            <a:xfrm flipH="1">
              <a:off x="2117" y="3078"/>
              <a:ext cx="86" cy="8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44" name="Text Box 28"/>
            <p:cNvSpPr txBox="1">
              <a:spLocks noChangeArrowheads="1"/>
            </p:cNvSpPr>
            <p:nvPr/>
          </p:nvSpPr>
          <p:spPr bwMode="auto">
            <a:xfrm>
              <a:off x="1104" y="3072"/>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66CCFF"/>
                  </a:solidFill>
                </a:rPr>
                <a:t>H</a:t>
              </a:r>
            </a:p>
          </p:txBody>
        </p:sp>
        <p:sp>
          <p:nvSpPr>
            <p:cNvPr id="86045" name="Text Box 29"/>
            <p:cNvSpPr txBox="1">
              <a:spLocks noChangeArrowheads="1"/>
            </p:cNvSpPr>
            <p:nvPr/>
          </p:nvSpPr>
          <p:spPr bwMode="auto">
            <a:xfrm>
              <a:off x="2208" y="3084"/>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66CCFF"/>
                  </a:solidFill>
                </a:rPr>
                <a:t>H</a:t>
              </a:r>
            </a:p>
          </p:txBody>
        </p:sp>
        <p:sp>
          <p:nvSpPr>
            <p:cNvPr id="86046" name="Text Box 30"/>
            <p:cNvSpPr txBox="1">
              <a:spLocks noChangeArrowheads="1"/>
            </p:cNvSpPr>
            <p:nvPr/>
          </p:nvSpPr>
          <p:spPr bwMode="auto">
            <a:xfrm>
              <a:off x="1668" y="309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FF9999"/>
                  </a:solidFill>
                </a:rPr>
                <a:t>N</a:t>
              </a:r>
            </a:p>
          </p:txBody>
        </p:sp>
        <p:sp>
          <p:nvSpPr>
            <p:cNvPr id="86047" name="Oval 31"/>
            <p:cNvSpPr>
              <a:spLocks noChangeArrowheads="1"/>
            </p:cNvSpPr>
            <p:nvPr/>
          </p:nvSpPr>
          <p:spPr bwMode="auto">
            <a:xfrm flipH="1">
              <a:off x="1595" y="3492"/>
              <a:ext cx="480" cy="48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bg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48" name="Oval 32"/>
            <p:cNvSpPr>
              <a:spLocks noChangeArrowheads="1"/>
            </p:cNvSpPr>
            <p:nvPr/>
          </p:nvSpPr>
          <p:spPr bwMode="auto">
            <a:xfrm flipH="1">
              <a:off x="1889" y="3486"/>
              <a:ext cx="86" cy="86"/>
            </a:xfrm>
            <a:prstGeom prst="ellipse">
              <a:avLst/>
            </a:prstGeom>
            <a:solidFill>
              <a:srgbClr val="3366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49" name="Text Box 33"/>
            <p:cNvSpPr txBox="1">
              <a:spLocks noChangeArrowheads="1"/>
            </p:cNvSpPr>
            <p:nvPr/>
          </p:nvSpPr>
          <p:spPr bwMode="auto">
            <a:xfrm>
              <a:off x="1656" y="3576"/>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66CCFF"/>
                  </a:solidFill>
                </a:rPr>
                <a:t>H</a:t>
              </a:r>
            </a:p>
          </p:txBody>
        </p:sp>
        <p:sp>
          <p:nvSpPr>
            <p:cNvPr id="86050" name="AutoShape 34"/>
            <p:cNvSpPr>
              <a:spLocks noChangeArrowheads="1"/>
            </p:cNvSpPr>
            <p:nvPr/>
          </p:nvSpPr>
          <p:spPr bwMode="auto">
            <a:xfrm rot="8100000">
              <a:off x="1716" y="2856"/>
              <a:ext cx="120" cy="120"/>
            </a:xfrm>
            <a:prstGeom prst="plus">
              <a:avLst>
                <a:gd name="adj" fmla="val 35000"/>
              </a:avLst>
            </a:prstGeom>
            <a:solidFill>
              <a:srgbClr val="FF99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51" name="AutoShape 35"/>
            <p:cNvSpPr>
              <a:spLocks noChangeArrowheads="1"/>
            </p:cNvSpPr>
            <p:nvPr/>
          </p:nvSpPr>
          <p:spPr bwMode="auto">
            <a:xfrm rot="8100000">
              <a:off x="1704" y="3468"/>
              <a:ext cx="120" cy="120"/>
            </a:xfrm>
            <a:prstGeom prst="plus">
              <a:avLst>
                <a:gd name="adj" fmla="val 35000"/>
              </a:avLst>
            </a:prstGeom>
            <a:solidFill>
              <a:srgbClr val="FF99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52" name="AutoShape 36"/>
            <p:cNvSpPr>
              <a:spLocks noChangeArrowheads="1"/>
            </p:cNvSpPr>
            <p:nvPr/>
          </p:nvSpPr>
          <p:spPr bwMode="auto">
            <a:xfrm rot="8100000">
              <a:off x="1452" y="3216"/>
              <a:ext cx="120" cy="120"/>
            </a:xfrm>
            <a:prstGeom prst="plus">
              <a:avLst>
                <a:gd name="adj" fmla="val 35000"/>
              </a:avLst>
            </a:prstGeom>
            <a:solidFill>
              <a:srgbClr val="FF99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53" name="AutoShape 37"/>
            <p:cNvSpPr>
              <a:spLocks noChangeArrowheads="1"/>
            </p:cNvSpPr>
            <p:nvPr/>
          </p:nvSpPr>
          <p:spPr bwMode="auto">
            <a:xfrm rot="8100000">
              <a:off x="2100" y="3216"/>
              <a:ext cx="120" cy="120"/>
            </a:xfrm>
            <a:prstGeom prst="plus">
              <a:avLst>
                <a:gd name="adj" fmla="val 35000"/>
              </a:avLst>
            </a:prstGeom>
            <a:solidFill>
              <a:srgbClr val="FF99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54" name="AutoShape 38"/>
            <p:cNvSpPr>
              <a:spLocks noChangeArrowheads="1"/>
            </p:cNvSpPr>
            <p:nvPr/>
          </p:nvSpPr>
          <p:spPr bwMode="auto">
            <a:xfrm rot="8100000">
              <a:off x="1848" y="2856"/>
              <a:ext cx="120" cy="120"/>
            </a:xfrm>
            <a:prstGeom prst="plus">
              <a:avLst>
                <a:gd name="adj" fmla="val 35000"/>
              </a:avLst>
            </a:prstGeom>
            <a:solidFill>
              <a:srgbClr val="FF99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86075" name="Group 59"/>
          <p:cNvGrpSpPr>
            <a:grpSpLocks/>
          </p:cNvGrpSpPr>
          <p:nvPr/>
        </p:nvGrpSpPr>
        <p:grpSpPr bwMode="auto">
          <a:xfrm>
            <a:off x="1348086" y="3687763"/>
            <a:ext cx="2486025" cy="1714500"/>
            <a:chOff x="4105" y="2604"/>
            <a:chExt cx="1566" cy="1080"/>
          </a:xfrm>
        </p:grpSpPr>
        <p:sp>
          <p:nvSpPr>
            <p:cNvPr id="86056" name="Oval 40"/>
            <p:cNvSpPr>
              <a:spLocks noChangeArrowheads="1"/>
            </p:cNvSpPr>
            <p:nvPr/>
          </p:nvSpPr>
          <p:spPr bwMode="auto">
            <a:xfrm>
              <a:off x="4556" y="2604"/>
              <a:ext cx="660" cy="66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bg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57" name="Oval 41"/>
            <p:cNvSpPr>
              <a:spLocks noChangeArrowheads="1"/>
            </p:cNvSpPr>
            <p:nvPr/>
          </p:nvSpPr>
          <p:spPr bwMode="auto">
            <a:xfrm>
              <a:off x="4105" y="2700"/>
              <a:ext cx="480" cy="48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bg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59" name="Oval 43"/>
            <p:cNvSpPr>
              <a:spLocks noChangeArrowheads="1"/>
            </p:cNvSpPr>
            <p:nvPr/>
          </p:nvSpPr>
          <p:spPr bwMode="auto">
            <a:xfrm flipH="1">
              <a:off x="5191" y="2688"/>
              <a:ext cx="480" cy="48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bg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61" name="Text Box 45"/>
            <p:cNvSpPr txBox="1">
              <a:spLocks noChangeArrowheads="1"/>
            </p:cNvSpPr>
            <p:nvPr/>
          </p:nvSpPr>
          <p:spPr bwMode="auto">
            <a:xfrm>
              <a:off x="4160" y="2784"/>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66CCFF"/>
                  </a:solidFill>
                </a:rPr>
                <a:t>H</a:t>
              </a:r>
            </a:p>
          </p:txBody>
        </p:sp>
        <p:sp>
          <p:nvSpPr>
            <p:cNvPr id="86062" name="Text Box 46"/>
            <p:cNvSpPr txBox="1">
              <a:spLocks noChangeArrowheads="1"/>
            </p:cNvSpPr>
            <p:nvPr/>
          </p:nvSpPr>
          <p:spPr bwMode="auto">
            <a:xfrm>
              <a:off x="5264" y="2796"/>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66CCFF"/>
                  </a:solidFill>
                </a:rPr>
                <a:t>H</a:t>
              </a:r>
            </a:p>
          </p:txBody>
        </p:sp>
        <p:sp>
          <p:nvSpPr>
            <p:cNvPr id="86063" name="Text Box 47"/>
            <p:cNvSpPr txBox="1">
              <a:spLocks noChangeArrowheads="1"/>
            </p:cNvSpPr>
            <p:nvPr/>
          </p:nvSpPr>
          <p:spPr bwMode="auto">
            <a:xfrm>
              <a:off x="4724" y="280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FF9999"/>
                  </a:solidFill>
                </a:rPr>
                <a:t>N</a:t>
              </a:r>
            </a:p>
          </p:txBody>
        </p:sp>
        <p:sp>
          <p:nvSpPr>
            <p:cNvPr id="86064" name="Oval 48"/>
            <p:cNvSpPr>
              <a:spLocks noChangeArrowheads="1"/>
            </p:cNvSpPr>
            <p:nvPr/>
          </p:nvSpPr>
          <p:spPr bwMode="auto">
            <a:xfrm flipH="1">
              <a:off x="4651" y="3204"/>
              <a:ext cx="480" cy="48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bg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86066" name="Text Box 50"/>
            <p:cNvSpPr txBox="1">
              <a:spLocks noChangeArrowheads="1"/>
            </p:cNvSpPr>
            <p:nvPr/>
          </p:nvSpPr>
          <p:spPr bwMode="auto">
            <a:xfrm>
              <a:off x="4712" y="3288"/>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a:solidFill>
                    <a:srgbClr val="66CCFF"/>
                  </a:solidFill>
                </a:rPr>
                <a:t>H</a:t>
              </a:r>
            </a:p>
          </p:txBody>
        </p:sp>
        <p:sp>
          <p:nvSpPr>
            <p:cNvPr id="86072" name="Line 56"/>
            <p:cNvSpPr>
              <a:spLocks noChangeShapeType="1"/>
            </p:cNvSpPr>
            <p:nvPr/>
          </p:nvSpPr>
          <p:spPr bwMode="auto">
            <a:xfrm>
              <a:off x="4468" y="2931"/>
              <a:ext cx="317" cy="0"/>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6073" name="Line 57"/>
            <p:cNvSpPr>
              <a:spLocks noChangeShapeType="1"/>
            </p:cNvSpPr>
            <p:nvPr/>
          </p:nvSpPr>
          <p:spPr bwMode="auto">
            <a:xfrm>
              <a:off x="5012" y="2931"/>
              <a:ext cx="317" cy="0"/>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86074" name="Line 58"/>
            <p:cNvSpPr>
              <a:spLocks noChangeShapeType="1"/>
            </p:cNvSpPr>
            <p:nvPr/>
          </p:nvSpPr>
          <p:spPr bwMode="auto">
            <a:xfrm>
              <a:off x="4876" y="3067"/>
              <a:ext cx="0" cy="272"/>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86076" name="Text Box 60"/>
          <p:cNvSpPr txBox="1">
            <a:spLocks noChangeArrowheads="1"/>
          </p:cNvSpPr>
          <p:nvPr/>
        </p:nvSpPr>
        <p:spPr bwMode="auto">
          <a:xfrm>
            <a:off x="0" y="5622339"/>
            <a:ext cx="9144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dirty="0">
                <a:solidFill>
                  <a:srgbClr val="CCECFF"/>
                </a:solidFill>
              </a:rPr>
              <a:t>What are the limitations of each way of drawing these molecules?</a:t>
            </a:r>
          </a:p>
        </p:txBody>
      </p:sp>
      <p:grpSp>
        <p:nvGrpSpPr>
          <p:cNvPr id="7" name="Group 6"/>
          <p:cNvGrpSpPr/>
          <p:nvPr/>
        </p:nvGrpSpPr>
        <p:grpSpPr>
          <a:xfrm>
            <a:off x="5763417" y="3747293"/>
            <a:ext cx="2444753" cy="1674021"/>
            <a:chOff x="5076825" y="3722983"/>
            <a:chExt cx="2444753" cy="1674021"/>
          </a:xfrm>
        </p:grpSpPr>
        <p:cxnSp>
          <p:nvCxnSpPr>
            <p:cNvPr id="58" name="Straight Connector 57"/>
            <p:cNvCxnSpPr/>
            <p:nvPr/>
          </p:nvCxnSpPr>
          <p:spPr bwMode="auto">
            <a:xfrm flipV="1">
              <a:off x="6316631" y="4485483"/>
              <a:ext cx="0" cy="369094"/>
            </a:xfrm>
            <a:prstGeom prst="line">
              <a:avLst/>
            </a:prstGeom>
            <a:ln w="28575">
              <a:solidFill>
                <a:schemeClr val="bg1"/>
              </a:solidFill>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4" name="Straight Connector 3"/>
            <p:cNvCxnSpPr>
              <a:stCxn id="2" idx="6"/>
            </p:cNvCxnSpPr>
            <p:nvPr/>
          </p:nvCxnSpPr>
          <p:spPr bwMode="auto">
            <a:xfrm>
              <a:off x="5722145" y="4162823"/>
              <a:ext cx="1288817" cy="0"/>
            </a:xfrm>
            <a:prstGeom prst="line">
              <a:avLst/>
            </a:prstGeom>
            <a:ln w="28575">
              <a:solidFill>
                <a:schemeClr val="bg1"/>
              </a:solidFill>
              <a:headEnd type="none" w="med" len="med"/>
              <a:tailEnd type="none" w="med" len="med"/>
            </a:ln>
          </p:spPr>
          <p:style>
            <a:lnRef idx="1">
              <a:schemeClr val="accent3"/>
            </a:lnRef>
            <a:fillRef idx="0">
              <a:schemeClr val="accent3"/>
            </a:fillRef>
            <a:effectRef idx="0">
              <a:schemeClr val="accent3"/>
            </a:effectRef>
            <a:fontRef idx="minor">
              <a:schemeClr val="tx1"/>
            </a:fontRef>
          </p:style>
        </p:cxnSp>
        <p:sp>
          <p:nvSpPr>
            <p:cNvPr id="2" name="Oval 1"/>
            <p:cNvSpPr/>
            <p:nvPr/>
          </p:nvSpPr>
          <p:spPr bwMode="auto">
            <a:xfrm>
              <a:off x="5076825" y="3840163"/>
              <a:ext cx="645320" cy="645320"/>
            </a:xfrm>
            <a:prstGeom prst="ellipse">
              <a:avLst/>
            </a:prstGeom>
            <a:solidFill>
              <a:srgbClr val="00B0F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dirty="0">
                  <a:ln>
                    <a:noFill/>
                  </a:ln>
                  <a:solidFill>
                    <a:schemeClr val="bg1"/>
                  </a:solidFill>
                  <a:effectLst/>
                  <a:latin typeface="Comic Sans MS" panose="030F0702030302020204" pitchFamily="66" charset="0"/>
                </a:rPr>
                <a:t>H</a:t>
              </a:r>
            </a:p>
          </p:txBody>
        </p:sp>
        <p:sp>
          <p:nvSpPr>
            <p:cNvPr id="53" name="Oval 52"/>
            <p:cNvSpPr/>
            <p:nvPr/>
          </p:nvSpPr>
          <p:spPr bwMode="auto">
            <a:xfrm>
              <a:off x="6876258" y="3840163"/>
              <a:ext cx="645320" cy="645320"/>
            </a:xfrm>
            <a:prstGeom prst="ellipse">
              <a:avLst/>
            </a:prstGeom>
            <a:solidFill>
              <a:srgbClr val="00B0F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dirty="0">
                  <a:ln>
                    <a:noFill/>
                  </a:ln>
                  <a:solidFill>
                    <a:schemeClr val="bg1"/>
                  </a:solidFill>
                  <a:effectLst/>
                  <a:latin typeface="Comic Sans MS" panose="030F0702030302020204" pitchFamily="66" charset="0"/>
                </a:rPr>
                <a:t>H</a:t>
              </a:r>
            </a:p>
          </p:txBody>
        </p:sp>
        <p:sp>
          <p:nvSpPr>
            <p:cNvPr id="54" name="Oval 53"/>
            <p:cNvSpPr/>
            <p:nvPr/>
          </p:nvSpPr>
          <p:spPr bwMode="auto">
            <a:xfrm>
              <a:off x="5993971" y="4751684"/>
              <a:ext cx="645320" cy="645320"/>
            </a:xfrm>
            <a:prstGeom prst="ellipse">
              <a:avLst/>
            </a:prstGeom>
            <a:solidFill>
              <a:srgbClr val="00B0F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dirty="0">
                  <a:ln>
                    <a:noFill/>
                  </a:ln>
                  <a:solidFill>
                    <a:schemeClr val="bg1"/>
                  </a:solidFill>
                  <a:effectLst/>
                  <a:latin typeface="Comic Sans MS" panose="030F0702030302020204" pitchFamily="66" charset="0"/>
                </a:rPr>
                <a:t>H</a:t>
              </a:r>
            </a:p>
          </p:txBody>
        </p:sp>
        <p:sp>
          <p:nvSpPr>
            <p:cNvPr id="55" name="Oval 54"/>
            <p:cNvSpPr/>
            <p:nvPr/>
          </p:nvSpPr>
          <p:spPr bwMode="auto">
            <a:xfrm>
              <a:off x="5842001" y="3722983"/>
              <a:ext cx="914401" cy="914401"/>
            </a:xfrm>
            <a:prstGeom prst="ellipse">
              <a:avLst/>
            </a:prstGeom>
            <a:solidFill>
              <a:srgbClr val="FFCCCC"/>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dirty="0">
                  <a:ln>
                    <a:noFill/>
                  </a:ln>
                  <a:solidFill>
                    <a:schemeClr val="bg1"/>
                  </a:solidFill>
                  <a:effectLst/>
                  <a:latin typeface="Comic Sans MS" panose="030F0702030302020204" pitchFamily="66" charset="0"/>
                </a:rPr>
                <a:t>N</a:t>
              </a:r>
            </a:p>
          </p:txBody>
        </p:sp>
      </p:grpSp>
    </p:spTree>
    <p:extLst>
      <p:ext uri="{BB962C8B-B14F-4D97-AF65-F5344CB8AC3E}">
        <p14:creationId xmlns:p14="http://schemas.microsoft.com/office/powerpoint/2010/main" val="3576109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86021"/>
                                        </p:tgtEl>
                                        <p:attrNameLst>
                                          <p:attrName>style.visibility</p:attrName>
                                        </p:attrNameLst>
                                      </p:cBhvr>
                                      <p:to>
                                        <p:strVal val="visible"/>
                                      </p:to>
                                    </p:set>
                                    <p:animEffect transition="in" filter="wipe(up)">
                                      <p:cBhvr>
                                        <p:cTn id="7" dur="500"/>
                                        <p:tgtEl>
                                          <p:spTgt spid="860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6038"/>
                                        </p:tgtEl>
                                        <p:attrNameLst>
                                          <p:attrName>style.visibility</p:attrName>
                                        </p:attrNameLst>
                                      </p:cBhvr>
                                      <p:to>
                                        <p:strVal val="visible"/>
                                      </p:to>
                                    </p:set>
                                    <p:animEffect transition="in" filter="wipe(up)">
                                      <p:cBhvr>
                                        <p:cTn id="12" dur="500"/>
                                        <p:tgtEl>
                                          <p:spTgt spid="860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6075"/>
                                        </p:tgtEl>
                                        <p:attrNameLst>
                                          <p:attrName>style.visibility</p:attrName>
                                        </p:attrNameLst>
                                      </p:cBhvr>
                                      <p:to>
                                        <p:strVal val="visible"/>
                                      </p:to>
                                    </p:set>
                                    <p:animEffect transition="in" filter="wipe(up)">
                                      <p:cBhvr>
                                        <p:cTn id="17" dur="500"/>
                                        <p:tgtEl>
                                          <p:spTgt spid="860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6076"/>
                                        </p:tgtEl>
                                        <p:attrNameLst>
                                          <p:attrName>style.visibility</p:attrName>
                                        </p:attrNameLst>
                                      </p:cBhvr>
                                      <p:to>
                                        <p:strVal val="visible"/>
                                      </p:to>
                                    </p:set>
                                    <p:animEffect transition="in" filter="wipe(left)">
                                      <p:cBhvr>
                                        <p:cTn id="27" dur="500"/>
                                        <p:tgtEl>
                                          <p:spTgt spid="86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7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Date Placeholder 2"/>
          <p:cNvSpPr>
            <a:spLocks noGrp="1"/>
          </p:cNvSpPr>
          <p:nvPr>
            <p:ph type="dt" sz="half" idx="10"/>
          </p:nvPr>
        </p:nvSpPr>
        <p:spPr/>
        <p:txBody>
          <a:bodyPr/>
          <a:lstStyle/>
          <a:p>
            <a:fld id="{B379A960-8C64-458B-8E82-EAFFCF804BC4}" type="datetime1">
              <a:rPr lang="en-GB" altLang="en-US"/>
              <a:pPr/>
              <a:t>02/06/2020</a:t>
            </a:fld>
            <a:endParaRPr lang="en-GB" altLang="en-US"/>
          </a:p>
        </p:txBody>
      </p:sp>
      <p:graphicFrame>
        <p:nvGraphicFramePr>
          <p:cNvPr id="244738" name="Group 2"/>
          <p:cNvGraphicFramePr>
            <a:graphicFrameLocks noGrp="1"/>
          </p:cNvGraphicFramePr>
          <p:nvPr/>
        </p:nvGraphicFramePr>
        <p:xfrm>
          <a:off x="381000" y="2495550"/>
          <a:ext cx="8458200" cy="3160715"/>
        </p:xfrm>
        <a:graphic>
          <a:graphicData uri="http://schemas.openxmlformats.org/drawingml/2006/table">
            <a:tbl>
              <a:tblPr/>
              <a:tblGrid>
                <a:gridCol w="469900">
                  <a:extLst>
                    <a:ext uri="{9D8B030D-6E8A-4147-A177-3AD203B41FA5}">
                      <a16:colId xmlns:a16="http://schemas.microsoft.com/office/drawing/2014/main" val="20000"/>
                    </a:ext>
                  </a:extLst>
                </a:gridCol>
                <a:gridCol w="469900">
                  <a:extLst>
                    <a:ext uri="{9D8B030D-6E8A-4147-A177-3AD203B41FA5}">
                      <a16:colId xmlns:a16="http://schemas.microsoft.com/office/drawing/2014/main" val="20001"/>
                    </a:ext>
                  </a:extLst>
                </a:gridCol>
                <a:gridCol w="469900">
                  <a:extLst>
                    <a:ext uri="{9D8B030D-6E8A-4147-A177-3AD203B41FA5}">
                      <a16:colId xmlns:a16="http://schemas.microsoft.com/office/drawing/2014/main" val="20002"/>
                    </a:ext>
                  </a:extLst>
                </a:gridCol>
                <a:gridCol w="469900">
                  <a:extLst>
                    <a:ext uri="{9D8B030D-6E8A-4147-A177-3AD203B41FA5}">
                      <a16:colId xmlns:a16="http://schemas.microsoft.com/office/drawing/2014/main" val="20003"/>
                    </a:ext>
                  </a:extLst>
                </a:gridCol>
                <a:gridCol w="469900">
                  <a:extLst>
                    <a:ext uri="{9D8B030D-6E8A-4147-A177-3AD203B41FA5}">
                      <a16:colId xmlns:a16="http://schemas.microsoft.com/office/drawing/2014/main" val="20004"/>
                    </a:ext>
                  </a:extLst>
                </a:gridCol>
                <a:gridCol w="469900">
                  <a:extLst>
                    <a:ext uri="{9D8B030D-6E8A-4147-A177-3AD203B41FA5}">
                      <a16:colId xmlns:a16="http://schemas.microsoft.com/office/drawing/2014/main" val="20005"/>
                    </a:ext>
                  </a:extLst>
                </a:gridCol>
                <a:gridCol w="469900">
                  <a:extLst>
                    <a:ext uri="{9D8B030D-6E8A-4147-A177-3AD203B41FA5}">
                      <a16:colId xmlns:a16="http://schemas.microsoft.com/office/drawing/2014/main" val="20006"/>
                    </a:ext>
                  </a:extLst>
                </a:gridCol>
                <a:gridCol w="469900">
                  <a:extLst>
                    <a:ext uri="{9D8B030D-6E8A-4147-A177-3AD203B41FA5}">
                      <a16:colId xmlns:a16="http://schemas.microsoft.com/office/drawing/2014/main" val="20007"/>
                    </a:ext>
                  </a:extLst>
                </a:gridCol>
                <a:gridCol w="469900">
                  <a:extLst>
                    <a:ext uri="{9D8B030D-6E8A-4147-A177-3AD203B41FA5}">
                      <a16:colId xmlns:a16="http://schemas.microsoft.com/office/drawing/2014/main" val="20008"/>
                    </a:ext>
                  </a:extLst>
                </a:gridCol>
                <a:gridCol w="469900">
                  <a:extLst>
                    <a:ext uri="{9D8B030D-6E8A-4147-A177-3AD203B41FA5}">
                      <a16:colId xmlns:a16="http://schemas.microsoft.com/office/drawing/2014/main" val="20009"/>
                    </a:ext>
                  </a:extLst>
                </a:gridCol>
                <a:gridCol w="469900">
                  <a:extLst>
                    <a:ext uri="{9D8B030D-6E8A-4147-A177-3AD203B41FA5}">
                      <a16:colId xmlns:a16="http://schemas.microsoft.com/office/drawing/2014/main" val="20010"/>
                    </a:ext>
                  </a:extLst>
                </a:gridCol>
                <a:gridCol w="469900">
                  <a:extLst>
                    <a:ext uri="{9D8B030D-6E8A-4147-A177-3AD203B41FA5}">
                      <a16:colId xmlns:a16="http://schemas.microsoft.com/office/drawing/2014/main" val="20011"/>
                    </a:ext>
                  </a:extLst>
                </a:gridCol>
                <a:gridCol w="469900">
                  <a:extLst>
                    <a:ext uri="{9D8B030D-6E8A-4147-A177-3AD203B41FA5}">
                      <a16:colId xmlns:a16="http://schemas.microsoft.com/office/drawing/2014/main" val="20012"/>
                    </a:ext>
                  </a:extLst>
                </a:gridCol>
                <a:gridCol w="469900">
                  <a:extLst>
                    <a:ext uri="{9D8B030D-6E8A-4147-A177-3AD203B41FA5}">
                      <a16:colId xmlns:a16="http://schemas.microsoft.com/office/drawing/2014/main" val="20013"/>
                    </a:ext>
                  </a:extLst>
                </a:gridCol>
                <a:gridCol w="469900">
                  <a:extLst>
                    <a:ext uri="{9D8B030D-6E8A-4147-A177-3AD203B41FA5}">
                      <a16:colId xmlns:a16="http://schemas.microsoft.com/office/drawing/2014/main" val="20014"/>
                    </a:ext>
                  </a:extLst>
                </a:gridCol>
                <a:gridCol w="469900">
                  <a:extLst>
                    <a:ext uri="{9D8B030D-6E8A-4147-A177-3AD203B41FA5}">
                      <a16:colId xmlns:a16="http://schemas.microsoft.com/office/drawing/2014/main" val="20015"/>
                    </a:ext>
                  </a:extLst>
                </a:gridCol>
                <a:gridCol w="469900">
                  <a:extLst>
                    <a:ext uri="{9D8B030D-6E8A-4147-A177-3AD203B41FA5}">
                      <a16:colId xmlns:a16="http://schemas.microsoft.com/office/drawing/2014/main" val="20016"/>
                    </a:ext>
                  </a:extLst>
                </a:gridCol>
                <a:gridCol w="469900">
                  <a:extLst>
                    <a:ext uri="{9D8B030D-6E8A-4147-A177-3AD203B41FA5}">
                      <a16:colId xmlns:a16="http://schemas.microsoft.com/office/drawing/2014/main" val="20017"/>
                    </a:ext>
                  </a:extLst>
                </a:gridCol>
              </a:tblGrid>
              <a:tr h="446088">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cap="flat">
                      <a:noFill/>
                    </a:lnL>
                    <a:lnR>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a:noFill/>
                    </a:lnL>
                    <a:lnR>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a:noFill/>
                    </a:lnL>
                    <a:lnR>
                      <a:noFill/>
                    </a:lnR>
                    <a:lnT cap="flat">
                      <a:noFill/>
                    </a:lnT>
                    <a:lnB>
                      <a:noFill/>
                    </a:lnB>
                    <a:lnTlToBr>
                      <a:noFill/>
                    </a:lnTlToBr>
                    <a:lnBlToTr>
                      <a:noFill/>
                    </a:lnBlToTr>
                    <a:no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a:noFill/>
                    </a:lnL>
                    <a:lnR w="12700" cap="flat" cmpd="sng" algn="ctr">
                      <a:solidFill>
                        <a:schemeClr val="bg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H</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He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0"/>
                  </a:ext>
                </a:extLst>
              </a:tr>
              <a:tr h="487363">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Li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Be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B</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C</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N</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O</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F</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Ne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1"/>
                  </a:ext>
                </a:extLst>
              </a:tr>
              <a:tr h="441325">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Na</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Mg</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Al</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Si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P</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S</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Cl</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Ar</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2"/>
                  </a:ext>
                </a:extLst>
              </a:tr>
              <a:tr h="447675">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K</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Ca</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Fe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Ni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Cu</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Zn</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Br</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Kr</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3"/>
                  </a:ext>
                </a:extLst>
              </a:tr>
              <a:tr h="446088">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Ag</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I</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Xe</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4"/>
                  </a:ext>
                </a:extLst>
              </a:tr>
              <a:tr h="446088">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Pt</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Au</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1400" b="1" i="0" u="none" strike="noStrike" cap="none" normalizeH="0" baseline="0">
                          <a:ln>
                            <a:noFill/>
                          </a:ln>
                          <a:solidFill>
                            <a:schemeClr val="tx1"/>
                          </a:solidFill>
                          <a:effectLst/>
                          <a:latin typeface="Comic Sans MS" panose="030F0702030302020204" pitchFamily="66" charset="0"/>
                        </a:rPr>
                        <a:t>Hg</a:t>
                      </a: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5"/>
                  </a:ext>
                </a:extLst>
              </a:tr>
              <a:tr h="446088">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defRPr sz="2000">
                          <a:solidFill>
                            <a:schemeClr val="bg1"/>
                          </a:solidFill>
                          <a:latin typeface="Comic Sans MS" panose="030F0702030302020204" pitchFamily="66" charset="0"/>
                        </a:defRPr>
                      </a:lvl1pPr>
                      <a:lvl2pPr>
                        <a:spcBef>
                          <a:spcPct val="20000"/>
                        </a:spcBef>
                        <a:defRPr sz="2000">
                          <a:solidFill>
                            <a:schemeClr val="bg1"/>
                          </a:solidFill>
                          <a:latin typeface="Comic Sans MS" panose="030F0702030302020204" pitchFamily="66" charset="0"/>
                        </a:defRPr>
                      </a:lvl2pPr>
                      <a:lvl3pPr>
                        <a:spcBef>
                          <a:spcPct val="20000"/>
                        </a:spcBef>
                        <a:defRPr sz="2000">
                          <a:solidFill>
                            <a:schemeClr val="bg1"/>
                          </a:solidFill>
                          <a:latin typeface="Comic Sans MS" panose="030F0702030302020204" pitchFamily="66" charset="0"/>
                        </a:defRPr>
                      </a:lvl3pPr>
                      <a:lvl4pPr>
                        <a:spcBef>
                          <a:spcPct val="20000"/>
                        </a:spcBef>
                        <a:defRPr sz="2000">
                          <a:solidFill>
                            <a:schemeClr val="bg1"/>
                          </a:solidFill>
                          <a:latin typeface="Comic Sans MS" panose="030F0702030302020204" pitchFamily="66" charset="0"/>
                        </a:defRPr>
                      </a:lvl4pPr>
                      <a:lvl5pPr>
                        <a:spcBef>
                          <a:spcPct val="20000"/>
                        </a:spcBef>
                        <a:defRPr sz="2000">
                          <a:solidFill>
                            <a:schemeClr val="bg1"/>
                          </a:solidFill>
                          <a:latin typeface="Comic Sans MS" panose="030F0702030302020204" pitchFamily="66" charset="0"/>
                        </a:defRPr>
                      </a:lvl5pPr>
                      <a:lvl6pPr fontAlgn="base">
                        <a:spcBef>
                          <a:spcPct val="20000"/>
                        </a:spcBef>
                        <a:spcAft>
                          <a:spcPct val="0"/>
                        </a:spcAft>
                        <a:defRPr sz="2000">
                          <a:solidFill>
                            <a:schemeClr val="bg1"/>
                          </a:solidFill>
                          <a:latin typeface="Comic Sans MS" panose="030F0702030302020204" pitchFamily="66" charset="0"/>
                        </a:defRPr>
                      </a:lvl6pPr>
                      <a:lvl7pPr fontAlgn="base">
                        <a:spcBef>
                          <a:spcPct val="20000"/>
                        </a:spcBef>
                        <a:spcAft>
                          <a:spcPct val="0"/>
                        </a:spcAft>
                        <a:defRPr sz="2000">
                          <a:solidFill>
                            <a:schemeClr val="bg1"/>
                          </a:solidFill>
                          <a:latin typeface="Comic Sans MS" panose="030F0702030302020204" pitchFamily="66" charset="0"/>
                        </a:defRPr>
                      </a:lvl7pPr>
                      <a:lvl8pPr fontAlgn="base">
                        <a:spcBef>
                          <a:spcPct val="20000"/>
                        </a:spcBef>
                        <a:spcAft>
                          <a:spcPct val="0"/>
                        </a:spcAft>
                        <a:defRPr sz="2000">
                          <a:solidFill>
                            <a:schemeClr val="bg1"/>
                          </a:solidFill>
                          <a:latin typeface="Comic Sans MS" panose="030F0702030302020204" pitchFamily="66" charset="0"/>
                        </a:defRPr>
                      </a:lvl8pPr>
                      <a:lvl9pPr fontAlgn="base">
                        <a:spcBef>
                          <a:spcPct val="20000"/>
                        </a:spcBef>
                        <a:spcAft>
                          <a:spcPct val="0"/>
                        </a:spcAft>
                        <a:defRPr sz="2000">
                          <a:solidFill>
                            <a:schemeClr val="bg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Comic Sans MS" panose="030F0702030302020204" pitchFamily="66"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6"/>
                  </a:ext>
                </a:extLst>
              </a:tr>
            </a:tbl>
          </a:graphicData>
        </a:graphic>
      </p:graphicFrame>
      <p:pic>
        <p:nvPicPr>
          <p:cNvPr id="244942" name="Picture 206" descr="Mendeleev"/>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1150" y="342900"/>
            <a:ext cx="1212850" cy="1981200"/>
          </a:xfrm>
          <a:prstGeom prst="rect">
            <a:avLst/>
          </a:prstGeom>
          <a:noFill/>
          <a:extLst>
            <a:ext uri="{909E8E84-426E-40DD-AFC4-6F175D3DCCD1}">
              <a14:hiddenFill xmlns:a14="http://schemas.microsoft.com/office/drawing/2010/main">
                <a:solidFill>
                  <a:srgbClr val="FFFFFF"/>
                </a:solidFill>
              </a14:hiddenFill>
            </a:ext>
          </a:extLst>
        </p:spPr>
      </p:pic>
      <p:sp>
        <p:nvSpPr>
          <p:cNvPr id="244943" name="Rectangle 207"/>
          <p:cNvSpPr>
            <a:spLocks noGrp="1" noChangeArrowheads="1"/>
          </p:cNvSpPr>
          <p:nvPr>
            <p:ph type="title"/>
          </p:nvPr>
        </p:nvSpPr>
        <p:spPr/>
        <p:txBody>
          <a:bodyPr/>
          <a:lstStyle/>
          <a:p>
            <a:r>
              <a:rPr lang="en-GB" altLang="en-US" dirty="0"/>
              <a:t>Metals vs Non-metals</a:t>
            </a:r>
          </a:p>
        </p:txBody>
      </p:sp>
      <p:sp>
        <p:nvSpPr>
          <p:cNvPr id="244944" name="AutoShape 208"/>
          <p:cNvSpPr>
            <a:spLocks noChangeArrowheads="1"/>
          </p:cNvSpPr>
          <p:nvPr/>
        </p:nvSpPr>
        <p:spPr bwMode="auto">
          <a:xfrm>
            <a:off x="4493" y="777066"/>
            <a:ext cx="7429500" cy="533400"/>
          </a:xfrm>
          <a:prstGeom prst="wedgeRoundRectCallout">
            <a:avLst>
              <a:gd name="adj1" fmla="val 61347"/>
              <a:gd name="adj2" fmla="val -40398"/>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GB" altLang="en-US" dirty="0">
                <a:solidFill>
                  <a:schemeClr val="tx1"/>
                </a:solidFill>
              </a:rPr>
              <a:t>Recall that most of the elements are metals:</a:t>
            </a:r>
          </a:p>
        </p:txBody>
      </p:sp>
      <p:grpSp>
        <p:nvGrpSpPr>
          <p:cNvPr id="244945" name="Group 209"/>
          <p:cNvGrpSpPr>
            <a:grpSpLocks/>
          </p:cNvGrpSpPr>
          <p:nvPr/>
        </p:nvGrpSpPr>
        <p:grpSpPr bwMode="auto">
          <a:xfrm>
            <a:off x="504825" y="1398589"/>
            <a:ext cx="5168900" cy="2949578"/>
            <a:chOff x="318" y="881"/>
            <a:chExt cx="3256" cy="1858"/>
          </a:xfrm>
        </p:grpSpPr>
        <p:sp>
          <p:nvSpPr>
            <p:cNvPr id="244946" name="AutoShape 210"/>
            <p:cNvSpPr>
              <a:spLocks noChangeArrowheads="1"/>
            </p:cNvSpPr>
            <p:nvPr/>
          </p:nvSpPr>
          <p:spPr bwMode="auto">
            <a:xfrm rot="10505199">
              <a:off x="1912" y="1905"/>
              <a:ext cx="276" cy="834"/>
            </a:xfrm>
            <a:prstGeom prst="upArrow">
              <a:avLst>
                <a:gd name="adj1" fmla="val 50000"/>
                <a:gd name="adj2" fmla="val 75543"/>
              </a:avLst>
            </a:prstGeom>
            <a:solidFill>
              <a:srgbClr val="CC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000"/>
            </a:p>
          </p:txBody>
        </p:sp>
        <p:sp>
          <p:nvSpPr>
            <p:cNvPr id="244947" name="Text Box 211"/>
            <p:cNvSpPr txBox="1">
              <a:spLocks noChangeArrowheads="1"/>
            </p:cNvSpPr>
            <p:nvPr/>
          </p:nvSpPr>
          <p:spPr bwMode="auto">
            <a:xfrm>
              <a:off x="318" y="881"/>
              <a:ext cx="3256" cy="1124"/>
            </a:xfrm>
            <a:prstGeom prst="rect">
              <a:avLst/>
            </a:prstGeom>
            <a:solidFill>
              <a:srgbClr val="CC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altLang="en-US" sz="2000" dirty="0"/>
                <a:t>These elements are metals – they:</a:t>
              </a:r>
            </a:p>
            <a:p>
              <a:pPr marL="457200" indent="-457200">
                <a:spcBef>
                  <a:spcPct val="50000"/>
                </a:spcBef>
                <a:buAutoNum type="arabicParenR"/>
              </a:pPr>
              <a:r>
                <a:rPr lang="en-GB" altLang="en-US" sz="2000" dirty="0"/>
                <a:t>Have high melting points</a:t>
              </a:r>
            </a:p>
            <a:p>
              <a:pPr marL="457200" indent="-457200">
                <a:spcBef>
                  <a:spcPct val="50000"/>
                </a:spcBef>
                <a:buAutoNum type="arabicParenR"/>
              </a:pPr>
              <a:r>
                <a:rPr lang="en-GB" altLang="en-US" sz="2000" dirty="0"/>
                <a:t>Can conduct electricity</a:t>
              </a:r>
            </a:p>
            <a:p>
              <a:pPr marL="457200" indent="-457200">
                <a:spcBef>
                  <a:spcPct val="50000"/>
                </a:spcBef>
                <a:buAutoNum type="arabicParenR"/>
              </a:pPr>
              <a:r>
                <a:rPr lang="en-GB" altLang="en-US" sz="2000" dirty="0"/>
                <a:t>Are dense</a:t>
              </a:r>
            </a:p>
          </p:txBody>
        </p:sp>
      </p:grpSp>
      <p:grpSp>
        <p:nvGrpSpPr>
          <p:cNvPr id="244948" name="Group 212"/>
          <p:cNvGrpSpPr>
            <a:grpSpLocks/>
          </p:cNvGrpSpPr>
          <p:nvPr/>
        </p:nvGrpSpPr>
        <p:grpSpPr bwMode="auto">
          <a:xfrm>
            <a:off x="5869783" y="1751979"/>
            <a:ext cx="2692401" cy="1746251"/>
            <a:chOff x="4125" y="1877"/>
            <a:chExt cx="1696" cy="1100"/>
          </a:xfrm>
        </p:grpSpPr>
        <p:sp>
          <p:nvSpPr>
            <p:cNvPr id="244949" name="AutoShape 213"/>
            <p:cNvSpPr>
              <a:spLocks noChangeArrowheads="1"/>
            </p:cNvSpPr>
            <p:nvPr/>
          </p:nvSpPr>
          <p:spPr bwMode="auto">
            <a:xfrm rot="12867005">
              <a:off x="4539" y="2323"/>
              <a:ext cx="276" cy="654"/>
            </a:xfrm>
            <a:prstGeom prst="upArrow">
              <a:avLst>
                <a:gd name="adj1" fmla="val 50000"/>
                <a:gd name="adj2" fmla="val 120562"/>
              </a:avLst>
            </a:prstGeom>
            <a:solidFill>
              <a:srgbClr val="33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000"/>
            </a:p>
          </p:txBody>
        </p:sp>
        <p:sp>
          <p:nvSpPr>
            <p:cNvPr id="244950" name="Text Box 214"/>
            <p:cNvSpPr txBox="1">
              <a:spLocks noChangeArrowheads="1"/>
            </p:cNvSpPr>
            <p:nvPr/>
          </p:nvSpPr>
          <p:spPr bwMode="auto">
            <a:xfrm>
              <a:off x="4125" y="1877"/>
              <a:ext cx="1696" cy="640"/>
            </a:xfrm>
            <a:prstGeom prst="rect">
              <a:avLst/>
            </a:prstGeom>
            <a:solidFill>
              <a:srgbClr val="3399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a:t>This line divides metals from non-metals</a:t>
              </a:r>
            </a:p>
          </p:txBody>
        </p:sp>
      </p:grpSp>
      <p:grpSp>
        <p:nvGrpSpPr>
          <p:cNvPr id="244954" name="Group 218"/>
          <p:cNvGrpSpPr>
            <a:grpSpLocks/>
          </p:cNvGrpSpPr>
          <p:nvPr/>
        </p:nvGrpSpPr>
        <p:grpSpPr bwMode="auto">
          <a:xfrm>
            <a:off x="6019800" y="3429000"/>
            <a:ext cx="1879600" cy="1782763"/>
            <a:chOff x="3792" y="2160"/>
            <a:chExt cx="1184" cy="1123"/>
          </a:xfrm>
        </p:grpSpPr>
        <p:sp>
          <p:nvSpPr>
            <p:cNvPr id="244955" name="Line 219"/>
            <p:cNvSpPr>
              <a:spLocks noChangeShapeType="1"/>
            </p:cNvSpPr>
            <p:nvPr/>
          </p:nvSpPr>
          <p:spPr bwMode="auto">
            <a:xfrm>
              <a:off x="3792" y="2160"/>
              <a:ext cx="2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4956" name="Line 220"/>
            <p:cNvSpPr>
              <a:spLocks noChangeShapeType="1"/>
            </p:cNvSpPr>
            <p:nvPr/>
          </p:nvSpPr>
          <p:spPr bwMode="auto">
            <a:xfrm>
              <a:off x="4088" y="2438"/>
              <a:ext cx="2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4957" name="Line 221"/>
            <p:cNvSpPr>
              <a:spLocks noChangeShapeType="1"/>
            </p:cNvSpPr>
            <p:nvPr/>
          </p:nvSpPr>
          <p:spPr bwMode="auto">
            <a:xfrm>
              <a:off x="4384" y="2720"/>
              <a:ext cx="2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4958" name="Line 222"/>
            <p:cNvSpPr>
              <a:spLocks noChangeShapeType="1"/>
            </p:cNvSpPr>
            <p:nvPr/>
          </p:nvSpPr>
          <p:spPr bwMode="auto">
            <a:xfrm>
              <a:off x="4680" y="3001"/>
              <a:ext cx="29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4959" name="Line 223"/>
            <p:cNvSpPr>
              <a:spLocks noChangeShapeType="1"/>
            </p:cNvSpPr>
            <p:nvPr/>
          </p:nvSpPr>
          <p:spPr bwMode="auto">
            <a:xfrm>
              <a:off x="4088" y="2160"/>
              <a:ext cx="0" cy="278"/>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4960" name="Line 224"/>
            <p:cNvSpPr>
              <a:spLocks noChangeShapeType="1"/>
            </p:cNvSpPr>
            <p:nvPr/>
          </p:nvSpPr>
          <p:spPr bwMode="auto">
            <a:xfrm>
              <a:off x="4384" y="2447"/>
              <a:ext cx="0" cy="278"/>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4961" name="Line 225"/>
            <p:cNvSpPr>
              <a:spLocks noChangeShapeType="1"/>
            </p:cNvSpPr>
            <p:nvPr/>
          </p:nvSpPr>
          <p:spPr bwMode="auto">
            <a:xfrm>
              <a:off x="4680" y="2723"/>
              <a:ext cx="0" cy="278"/>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4962" name="Line 226"/>
            <p:cNvSpPr>
              <a:spLocks noChangeShapeType="1"/>
            </p:cNvSpPr>
            <p:nvPr/>
          </p:nvSpPr>
          <p:spPr bwMode="auto">
            <a:xfrm>
              <a:off x="4976" y="3005"/>
              <a:ext cx="0" cy="278"/>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244951" name="Group 215"/>
          <p:cNvGrpSpPr>
            <a:grpSpLocks/>
          </p:cNvGrpSpPr>
          <p:nvPr/>
        </p:nvGrpSpPr>
        <p:grpSpPr bwMode="auto">
          <a:xfrm>
            <a:off x="3486151" y="4230686"/>
            <a:ext cx="5618163" cy="2539998"/>
            <a:chOff x="2196" y="2665"/>
            <a:chExt cx="3539" cy="1600"/>
          </a:xfrm>
        </p:grpSpPr>
        <p:sp>
          <p:nvSpPr>
            <p:cNvPr id="244952" name="AutoShape 216"/>
            <p:cNvSpPr>
              <a:spLocks noChangeArrowheads="1"/>
            </p:cNvSpPr>
            <p:nvPr/>
          </p:nvSpPr>
          <p:spPr bwMode="auto">
            <a:xfrm>
              <a:off x="5131" y="2665"/>
              <a:ext cx="276" cy="1224"/>
            </a:xfrm>
            <a:prstGeom prst="upArrow">
              <a:avLst>
                <a:gd name="adj1" fmla="val 50000"/>
                <a:gd name="adj2" fmla="val 110870"/>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2000"/>
            </a:p>
          </p:txBody>
        </p:sp>
        <p:sp>
          <p:nvSpPr>
            <p:cNvPr id="244953" name="Text Box 217"/>
            <p:cNvSpPr txBox="1">
              <a:spLocks noChangeArrowheads="1"/>
            </p:cNvSpPr>
            <p:nvPr/>
          </p:nvSpPr>
          <p:spPr bwMode="auto">
            <a:xfrm>
              <a:off x="2196" y="3141"/>
              <a:ext cx="3539" cy="1124"/>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altLang="en-US" sz="2000" dirty="0"/>
                <a:t>These elements are non-metals – they:</a:t>
              </a:r>
            </a:p>
            <a:p>
              <a:pPr marL="457200" indent="-457200">
                <a:spcBef>
                  <a:spcPct val="50000"/>
                </a:spcBef>
                <a:buAutoNum type="arabicParenR"/>
              </a:pPr>
              <a:r>
                <a:rPr lang="en-GB" altLang="en-US" sz="2000" dirty="0"/>
                <a:t>Have low melting and boiling points</a:t>
              </a:r>
            </a:p>
            <a:p>
              <a:pPr marL="457200" indent="-457200">
                <a:spcBef>
                  <a:spcPct val="50000"/>
                </a:spcBef>
                <a:buAutoNum type="arabicParenR"/>
              </a:pPr>
              <a:r>
                <a:rPr lang="en-GB" altLang="en-US" sz="2000" dirty="0"/>
                <a:t>Don’t conduct electricity</a:t>
              </a:r>
            </a:p>
            <a:p>
              <a:pPr marL="457200" indent="-457200">
                <a:spcBef>
                  <a:spcPct val="50000"/>
                </a:spcBef>
                <a:buAutoNum type="arabicParenR"/>
              </a:pPr>
              <a:r>
                <a:rPr lang="en-GB" altLang="en-US" sz="2000" dirty="0"/>
                <a:t>Are not very dense</a:t>
              </a:r>
            </a:p>
          </p:txBody>
        </p:sp>
      </p:grpSp>
    </p:spTree>
    <p:extLst>
      <p:ext uri="{BB962C8B-B14F-4D97-AF65-F5344CB8AC3E}">
        <p14:creationId xmlns:p14="http://schemas.microsoft.com/office/powerpoint/2010/main" val="3449807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244944"/>
                                        </p:tgtEl>
                                        <p:attrNameLst>
                                          <p:attrName>style.visibility</p:attrName>
                                        </p:attrNameLst>
                                      </p:cBhvr>
                                      <p:to>
                                        <p:strVal val="visible"/>
                                      </p:to>
                                    </p:set>
                                    <p:animEffect transition="in" filter="wipe(right)">
                                      <p:cBhvr>
                                        <p:cTn id="7" dur="500"/>
                                        <p:tgtEl>
                                          <p:spTgt spid="2449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244954"/>
                                        </p:tgtEl>
                                        <p:attrNameLst>
                                          <p:attrName>style.visibility</p:attrName>
                                        </p:attrNameLst>
                                      </p:cBhvr>
                                      <p:to>
                                        <p:strVal val="visible"/>
                                      </p:to>
                                    </p:set>
                                    <p:animEffect transition="in" filter="strips(downRight)">
                                      <p:cBhvr>
                                        <p:cTn id="12" dur="500"/>
                                        <p:tgtEl>
                                          <p:spTgt spid="2449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44948"/>
                                        </p:tgtEl>
                                        <p:attrNameLst>
                                          <p:attrName>style.visibility</p:attrName>
                                        </p:attrNameLst>
                                      </p:cBhvr>
                                      <p:to>
                                        <p:strVal val="visible"/>
                                      </p:to>
                                    </p:set>
                                    <p:animEffect transition="in" filter="wipe(down)">
                                      <p:cBhvr>
                                        <p:cTn id="17" dur="500"/>
                                        <p:tgtEl>
                                          <p:spTgt spid="2449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nodeType="clickEffect">
                                  <p:stCondLst>
                                    <p:cond delay="0"/>
                                  </p:stCondLst>
                                  <p:childTnLst>
                                    <p:set>
                                      <p:cBhvr>
                                        <p:cTn id="21" dur="1" fill="hold">
                                          <p:stCondLst>
                                            <p:cond delay="0"/>
                                          </p:stCondLst>
                                        </p:cTn>
                                        <p:tgtEl>
                                          <p:spTgt spid="244945"/>
                                        </p:tgtEl>
                                        <p:attrNameLst>
                                          <p:attrName>style.visibility</p:attrName>
                                        </p:attrNameLst>
                                      </p:cBhvr>
                                      <p:to>
                                        <p:strVal val="visible"/>
                                      </p:to>
                                    </p:set>
                                    <p:anim calcmode="lin" valueType="num">
                                      <p:cBhvr additive="base">
                                        <p:cTn id="22" dur="500" fill="hold"/>
                                        <p:tgtEl>
                                          <p:spTgt spid="244945"/>
                                        </p:tgtEl>
                                        <p:attrNameLst>
                                          <p:attrName>ppt_x</p:attrName>
                                        </p:attrNameLst>
                                      </p:cBhvr>
                                      <p:tavLst>
                                        <p:tav tm="0">
                                          <p:val>
                                            <p:strVal val="0-#ppt_w/2"/>
                                          </p:val>
                                        </p:tav>
                                        <p:tav tm="100000">
                                          <p:val>
                                            <p:strVal val="#ppt_x"/>
                                          </p:val>
                                        </p:tav>
                                      </p:tavLst>
                                    </p:anim>
                                    <p:anim calcmode="lin" valueType="num">
                                      <p:cBhvr additive="base">
                                        <p:cTn id="23" dur="500" fill="hold"/>
                                        <p:tgtEl>
                                          <p:spTgt spid="244945"/>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nodeType="clickEffect">
                                  <p:stCondLst>
                                    <p:cond delay="0"/>
                                  </p:stCondLst>
                                  <p:childTnLst>
                                    <p:set>
                                      <p:cBhvr>
                                        <p:cTn id="27" dur="1" fill="hold">
                                          <p:stCondLst>
                                            <p:cond delay="0"/>
                                          </p:stCondLst>
                                        </p:cTn>
                                        <p:tgtEl>
                                          <p:spTgt spid="244951"/>
                                        </p:tgtEl>
                                        <p:attrNameLst>
                                          <p:attrName>style.visibility</p:attrName>
                                        </p:attrNameLst>
                                      </p:cBhvr>
                                      <p:to>
                                        <p:strVal val="visible"/>
                                      </p:to>
                                    </p:set>
                                    <p:animEffect transition="in" filter="wipe(down)">
                                      <p:cBhvr>
                                        <p:cTn id="28" dur="500"/>
                                        <p:tgtEl>
                                          <p:spTgt spid="2449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944" grpId="0" animBg="1"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Date Placeholder 2"/>
          <p:cNvSpPr>
            <a:spLocks noGrp="1"/>
          </p:cNvSpPr>
          <p:nvPr>
            <p:ph type="dt" sz="quarter" idx="10"/>
          </p:nvPr>
        </p:nvSpPr>
        <p:spPr>
          <a:noFill/>
        </p:spPr>
        <p:txBody>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fld id="{F19C1C95-AEF9-4E59-AE6F-6D6B99C0623D}" type="datetime1">
              <a:rPr lang="en-GB" sz="1800" smtClean="0">
                <a:solidFill>
                  <a:schemeClr val="folHlink"/>
                </a:solidFill>
              </a:rPr>
              <a:pPr eaLnBrk="1" hangingPunct="1"/>
              <a:t>02/06/2020</a:t>
            </a:fld>
            <a:endParaRPr lang="en-GB" sz="1800">
              <a:solidFill>
                <a:schemeClr val="folHlink"/>
              </a:solidFill>
            </a:endParaRPr>
          </a:p>
        </p:txBody>
      </p:sp>
      <p:sp>
        <p:nvSpPr>
          <p:cNvPr id="93186" name="Rectangle 2"/>
          <p:cNvSpPr>
            <a:spLocks noGrp="1" noChangeArrowheads="1"/>
          </p:cNvSpPr>
          <p:nvPr>
            <p:ph type="title"/>
          </p:nvPr>
        </p:nvSpPr>
        <p:spPr>
          <a:xfrm>
            <a:off x="0" y="0"/>
            <a:ext cx="9144000" cy="660400"/>
          </a:xfrm>
        </p:spPr>
        <p:txBody>
          <a:bodyPr/>
          <a:lstStyle/>
          <a:p>
            <a:pPr eaLnBrk="1" hangingPunct="1">
              <a:defRPr/>
            </a:pPr>
            <a:r>
              <a:rPr lang="en-GB"/>
              <a:t>Relative formula mass, M</a:t>
            </a:r>
            <a:r>
              <a:rPr lang="en-GB" baseline="-25000"/>
              <a:t>r</a:t>
            </a:r>
          </a:p>
        </p:txBody>
      </p:sp>
      <p:sp>
        <p:nvSpPr>
          <p:cNvPr id="93187" name="Text Box 3"/>
          <p:cNvSpPr txBox="1">
            <a:spLocks noChangeArrowheads="1"/>
          </p:cNvSpPr>
          <p:nvPr/>
        </p:nvSpPr>
        <p:spPr bwMode="auto">
          <a:xfrm>
            <a:off x="611188" y="836613"/>
            <a:ext cx="824388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sz="2000">
                <a:solidFill>
                  <a:srgbClr val="CCFFCC"/>
                </a:solidFill>
              </a:rPr>
              <a:t>The </a:t>
            </a:r>
            <a:r>
              <a:rPr lang="en-GB" sz="2000" i="1">
                <a:solidFill>
                  <a:srgbClr val="CCFFCC"/>
                </a:solidFill>
              </a:rPr>
              <a:t>relative formula mass</a:t>
            </a:r>
            <a:r>
              <a:rPr lang="en-GB" sz="2000">
                <a:solidFill>
                  <a:srgbClr val="CCFFCC"/>
                </a:solidFill>
              </a:rPr>
              <a:t> of a compound is the relative atomic masses of all the elements in the compound added together.</a:t>
            </a:r>
          </a:p>
        </p:txBody>
      </p:sp>
      <p:grpSp>
        <p:nvGrpSpPr>
          <p:cNvPr id="93188" name="Group 4"/>
          <p:cNvGrpSpPr>
            <a:grpSpLocks/>
          </p:cNvGrpSpPr>
          <p:nvPr/>
        </p:nvGrpSpPr>
        <p:grpSpPr bwMode="auto">
          <a:xfrm>
            <a:off x="2209800" y="2057400"/>
            <a:ext cx="1409700" cy="1066800"/>
            <a:chOff x="3936" y="3396"/>
            <a:chExt cx="888" cy="672"/>
          </a:xfrm>
        </p:grpSpPr>
        <p:sp>
          <p:nvSpPr>
            <p:cNvPr id="44049" name="Line 5"/>
            <p:cNvSpPr>
              <a:spLocks noChangeShapeType="1"/>
            </p:cNvSpPr>
            <p:nvPr/>
          </p:nvSpPr>
          <p:spPr bwMode="auto">
            <a:xfrm>
              <a:off x="4428" y="3684"/>
              <a:ext cx="276" cy="264"/>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4050" name="Line 6"/>
            <p:cNvSpPr>
              <a:spLocks noChangeShapeType="1"/>
            </p:cNvSpPr>
            <p:nvPr/>
          </p:nvSpPr>
          <p:spPr bwMode="auto">
            <a:xfrm flipV="1">
              <a:off x="4032" y="3660"/>
              <a:ext cx="252" cy="288"/>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4051" name="Oval 7"/>
            <p:cNvSpPr>
              <a:spLocks noChangeArrowheads="1"/>
            </p:cNvSpPr>
            <p:nvPr/>
          </p:nvSpPr>
          <p:spPr bwMode="auto">
            <a:xfrm>
              <a:off x="4584" y="3828"/>
              <a:ext cx="240" cy="240"/>
            </a:xfrm>
            <a:prstGeom prst="ellipse">
              <a:avLst/>
            </a:prstGeom>
            <a:solidFill>
              <a:schemeClr val="accent1"/>
            </a:solidFill>
            <a:ln>
              <a:noFill/>
            </a:ln>
            <a:effectLst/>
            <a:extLst>
              <a:ext uri="{91240B29-F687-4F45-9708-019B960494DF}">
                <a14:hiddenLine xmlns:a14="http://schemas.microsoft.com/office/drawing/2010/main" w="38100">
                  <a:solidFill>
                    <a:schemeClr val="bg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52" name="Oval 8"/>
            <p:cNvSpPr>
              <a:spLocks noChangeArrowheads="1"/>
            </p:cNvSpPr>
            <p:nvPr/>
          </p:nvSpPr>
          <p:spPr bwMode="auto">
            <a:xfrm>
              <a:off x="3936" y="3804"/>
              <a:ext cx="240" cy="240"/>
            </a:xfrm>
            <a:prstGeom prst="ellipse">
              <a:avLst/>
            </a:prstGeom>
            <a:solidFill>
              <a:schemeClr val="accent1"/>
            </a:solidFill>
            <a:ln>
              <a:noFill/>
            </a:ln>
            <a:effectLst/>
            <a:extLst>
              <a:ext uri="{91240B29-F687-4F45-9708-019B960494DF}">
                <a14:hiddenLine xmlns:a14="http://schemas.microsoft.com/office/drawing/2010/main" w="38100">
                  <a:solidFill>
                    <a:schemeClr val="bg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53" name="Oval 9"/>
            <p:cNvSpPr>
              <a:spLocks noChangeArrowheads="1"/>
            </p:cNvSpPr>
            <p:nvPr/>
          </p:nvSpPr>
          <p:spPr bwMode="auto">
            <a:xfrm>
              <a:off x="4164" y="3396"/>
              <a:ext cx="420" cy="420"/>
            </a:xfrm>
            <a:prstGeom prst="ellipse">
              <a:avLst/>
            </a:prstGeom>
            <a:solidFill>
              <a:srgbClr val="FF99CC"/>
            </a:solidFill>
            <a:ln>
              <a:noFill/>
            </a:ln>
            <a:effectLst/>
            <a:extLst>
              <a:ext uri="{91240B29-F687-4F45-9708-019B960494DF}">
                <a14:hiddenLine xmlns:a14="http://schemas.microsoft.com/office/drawing/2010/main" w="38100">
                  <a:solidFill>
                    <a:schemeClr val="bg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93194" name="Text Box 10"/>
          <p:cNvSpPr txBox="1">
            <a:spLocks noChangeArrowheads="1"/>
          </p:cNvSpPr>
          <p:nvPr/>
        </p:nvSpPr>
        <p:spPr bwMode="auto">
          <a:xfrm>
            <a:off x="381000" y="1981200"/>
            <a:ext cx="213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sz="2000"/>
              <a:t>E.g. water H</a:t>
            </a:r>
            <a:r>
              <a:rPr lang="en-GB" sz="2000" baseline="-25000"/>
              <a:t>2</a:t>
            </a:r>
            <a:r>
              <a:rPr lang="en-GB" sz="2000"/>
              <a:t>O:</a:t>
            </a:r>
          </a:p>
        </p:txBody>
      </p:sp>
      <p:sp>
        <p:nvSpPr>
          <p:cNvPr id="93195" name="Text Box 11"/>
          <p:cNvSpPr txBox="1">
            <a:spLocks noChangeArrowheads="1"/>
          </p:cNvSpPr>
          <p:nvPr/>
        </p:nvSpPr>
        <p:spPr bwMode="auto">
          <a:xfrm>
            <a:off x="304800" y="3429000"/>
            <a:ext cx="8534400" cy="396875"/>
          </a:xfrm>
          <a:prstGeom prst="rect">
            <a:avLst/>
          </a:prstGeom>
          <a:solidFill>
            <a:srgbClr val="A50021"/>
          </a:solidFill>
          <a:ln>
            <a:noFill/>
          </a:ln>
          <a:effectLst/>
          <a:extLs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algn="ctr" eaLnBrk="1" hangingPunct="1">
              <a:spcBef>
                <a:spcPct val="50000"/>
              </a:spcBef>
            </a:pPr>
            <a:r>
              <a:rPr lang="en-GB" sz="2000" b="1" i="1"/>
              <a:t>Therefore M</a:t>
            </a:r>
            <a:r>
              <a:rPr lang="en-GB" sz="2000" b="1" i="1" baseline="-25000"/>
              <a:t>r</a:t>
            </a:r>
            <a:r>
              <a:rPr lang="en-GB" sz="2000" b="1" i="1"/>
              <a:t> for water = 16 + (2x1) = 18</a:t>
            </a:r>
          </a:p>
        </p:txBody>
      </p:sp>
      <p:sp>
        <p:nvSpPr>
          <p:cNvPr id="93196" name="Text Box 12"/>
          <p:cNvSpPr txBox="1">
            <a:spLocks noChangeArrowheads="1"/>
          </p:cNvSpPr>
          <p:nvPr/>
        </p:nvSpPr>
        <p:spPr bwMode="auto">
          <a:xfrm>
            <a:off x="304800" y="4114800"/>
            <a:ext cx="8610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sz="2000" b="1" i="1">
                <a:solidFill>
                  <a:srgbClr val="66FF99"/>
                </a:solidFill>
              </a:rPr>
              <a:t>Work out M</a:t>
            </a:r>
            <a:r>
              <a:rPr lang="en-GB" sz="2000" b="1" i="1" baseline="-25000">
                <a:solidFill>
                  <a:srgbClr val="66FF99"/>
                </a:solidFill>
              </a:rPr>
              <a:t>r</a:t>
            </a:r>
            <a:r>
              <a:rPr lang="en-GB" sz="2000" b="1" i="1">
                <a:solidFill>
                  <a:srgbClr val="66FF99"/>
                </a:solidFill>
              </a:rPr>
              <a:t> for the following compounds:</a:t>
            </a:r>
          </a:p>
        </p:txBody>
      </p:sp>
      <p:sp>
        <p:nvSpPr>
          <p:cNvPr id="93197" name="Text Box 13"/>
          <p:cNvSpPr txBox="1">
            <a:spLocks noChangeArrowheads="1"/>
          </p:cNvSpPr>
          <p:nvPr/>
        </p:nvSpPr>
        <p:spPr bwMode="auto">
          <a:xfrm>
            <a:off x="304800" y="4632325"/>
            <a:ext cx="4419600" cy="222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buFontTx/>
              <a:buAutoNum type="arabicParenR"/>
            </a:pPr>
            <a:r>
              <a:rPr lang="en-GB" sz="2000"/>
              <a:t>HCl</a:t>
            </a:r>
          </a:p>
          <a:p>
            <a:pPr eaLnBrk="1" hangingPunct="1">
              <a:spcBef>
                <a:spcPct val="50000"/>
              </a:spcBef>
              <a:buFontTx/>
              <a:buAutoNum type="arabicParenR"/>
            </a:pPr>
            <a:r>
              <a:rPr lang="en-GB" sz="2000">
                <a:solidFill>
                  <a:srgbClr val="66FF99"/>
                </a:solidFill>
              </a:rPr>
              <a:t>NaOH</a:t>
            </a:r>
          </a:p>
          <a:p>
            <a:pPr eaLnBrk="1" hangingPunct="1">
              <a:spcBef>
                <a:spcPct val="50000"/>
              </a:spcBef>
              <a:buFontTx/>
              <a:buAutoNum type="arabicParenR"/>
            </a:pPr>
            <a:r>
              <a:rPr lang="en-GB" sz="2000"/>
              <a:t>MgCl</a:t>
            </a:r>
            <a:r>
              <a:rPr lang="en-GB" sz="2000" baseline="-25000"/>
              <a:t>2</a:t>
            </a:r>
          </a:p>
          <a:p>
            <a:pPr eaLnBrk="1" hangingPunct="1">
              <a:spcBef>
                <a:spcPct val="50000"/>
              </a:spcBef>
              <a:buFontTx/>
              <a:buAutoNum type="arabicParenR"/>
            </a:pPr>
            <a:r>
              <a:rPr lang="en-GB" sz="2000">
                <a:solidFill>
                  <a:srgbClr val="66FF99"/>
                </a:solidFill>
              </a:rPr>
              <a:t>H</a:t>
            </a:r>
            <a:r>
              <a:rPr lang="en-GB" sz="2000" baseline="-25000">
                <a:solidFill>
                  <a:srgbClr val="66FF99"/>
                </a:solidFill>
              </a:rPr>
              <a:t>2</a:t>
            </a:r>
            <a:r>
              <a:rPr lang="en-GB" sz="2000">
                <a:solidFill>
                  <a:srgbClr val="66FF99"/>
                </a:solidFill>
              </a:rPr>
              <a:t>SO</a:t>
            </a:r>
            <a:r>
              <a:rPr lang="en-GB" sz="2000" baseline="-25000">
                <a:solidFill>
                  <a:srgbClr val="66FF99"/>
                </a:solidFill>
              </a:rPr>
              <a:t>4</a:t>
            </a:r>
          </a:p>
          <a:p>
            <a:pPr eaLnBrk="1" hangingPunct="1">
              <a:spcBef>
                <a:spcPct val="50000"/>
              </a:spcBef>
              <a:buFontTx/>
              <a:buAutoNum type="arabicParenR"/>
            </a:pPr>
            <a:r>
              <a:rPr lang="en-GB" sz="2000"/>
              <a:t>K</a:t>
            </a:r>
            <a:r>
              <a:rPr lang="en-GB" sz="2000" baseline="-25000"/>
              <a:t>2</a:t>
            </a:r>
            <a:r>
              <a:rPr lang="en-GB" sz="2000"/>
              <a:t>CO</a:t>
            </a:r>
            <a:r>
              <a:rPr lang="en-GB" sz="2000" baseline="-25000"/>
              <a:t>3</a:t>
            </a:r>
          </a:p>
        </p:txBody>
      </p:sp>
      <p:sp>
        <p:nvSpPr>
          <p:cNvPr id="93198" name="Text Box 14"/>
          <p:cNvSpPr txBox="1">
            <a:spLocks noChangeArrowheads="1"/>
          </p:cNvSpPr>
          <p:nvPr/>
        </p:nvSpPr>
        <p:spPr bwMode="auto">
          <a:xfrm>
            <a:off x="2209800" y="4632325"/>
            <a:ext cx="6477000" cy="222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sz="2000"/>
              <a:t>H=1, Cl=35 so M</a:t>
            </a:r>
            <a:r>
              <a:rPr lang="en-GB" sz="2000" baseline="-25000"/>
              <a:t>r</a:t>
            </a:r>
            <a:r>
              <a:rPr lang="en-GB" sz="2000"/>
              <a:t> = 36</a:t>
            </a:r>
          </a:p>
          <a:p>
            <a:pPr eaLnBrk="1" hangingPunct="1">
              <a:spcBef>
                <a:spcPct val="50000"/>
              </a:spcBef>
            </a:pPr>
            <a:r>
              <a:rPr lang="en-GB" sz="2000">
                <a:solidFill>
                  <a:srgbClr val="66FF99"/>
                </a:solidFill>
              </a:rPr>
              <a:t>Na=23, O=16, H=1 so M</a:t>
            </a:r>
            <a:r>
              <a:rPr lang="en-GB" sz="2000" baseline="-25000">
                <a:solidFill>
                  <a:srgbClr val="66FF99"/>
                </a:solidFill>
              </a:rPr>
              <a:t>r</a:t>
            </a:r>
            <a:r>
              <a:rPr lang="en-GB" sz="2000">
                <a:solidFill>
                  <a:srgbClr val="66FF99"/>
                </a:solidFill>
              </a:rPr>
              <a:t> = 40</a:t>
            </a:r>
          </a:p>
          <a:p>
            <a:pPr eaLnBrk="1" hangingPunct="1">
              <a:spcBef>
                <a:spcPct val="50000"/>
              </a:spcBef>
            </a:pPr>
            <a:r>
              <a:rPr lang="en-GB" sz="2000"/>
              <a:t>Mg=24, Cl=35 so M</a:t>
            </a:r>
            <a:r>
              <a:rPr lang="en-GB" sz="2000" baseline="-25000"/>
              <a:t>r</a:t>
            </a:r>
            <a:r>
              <a:rPr lang="en-GB" sz="2000"/>
              <a:t> = 24+(2x35) = 94</a:t>
            </a:r>
          </a:p>
          <a:p>
            <a:pPr eaLnBrk="1" hangingPunct="1">
              <a:spcBef>
                <a:spcPct val="50000"/>
              </a:spcBef>
            </a:pPr>
            <a:r>
              <a:rPr lang="en-GB" sz="2000">
                <a:solidFill>
                  <a:srgbClr val="66FF99"/>
                </a:solidFill>
              </a:rPr>
              <a:t>H=1, S=32, O=16 so M</a:t>
            </a:r>
            <a:r>
              <a:rPr lang="en-GB" sz="2000" baseline="-25000">
                <a:solidFill>
                  <a:srgbClr val="66FF99"/>
                </a:solidFill>
              </a:rPr>
              <a:t>r</a:t>
            </a:r>
            <a:r>
              <a:rPr lang="en-GB" sz="2000">
                <a:solidFill>
                  <a:srgbClr val="66FF99"/>
                </a:solidFill>
              </a:rPr>
              <a:t> = (2x1)+32+(4x16) = 98</a:t>
            </a:r>
          </a:p>
          <a:p>
            <a:pPr eaLnBrk="1" hangingPunct="1">
              <a:spcBef>
                <a:spcPct val="50000"/>
              </a:spcBef>
            </a:pPr>
            <a:r>
              <a:rPr lang="en-GB" sz="2000"/>
              <a:t>K=39, C=12, O=16 so M</a:t>
            </a:r>
            <a:r>
              <a:rPr lang="en-GB" sz="2000" baseline="-25000"/>
              <a:t>r</a:t>
            </a:r>
            <a:r>
              <a:rPr lang="en-GB" sz="2000"/>
              <a:t> = (2x39)+12+(3x16) = 138</a:t>
            </a:r>
          </a:p>
        </p:txBody>
      </p:sp>
      <p:grpSp>
        <p:nvGrpSpPr>
          <p:cNvPr id="93199" name="Group 15"/>
          <p:cNvGrpSpPr>
            <a:grpSpLocks/>
          </p:cNvGrpSpPr>
          <p:nvPr/>
        </p:nvGrpSpPr>
        <p:grpSpPr bwMode="auto">
          <a:xfrm>
            <a:off x="3352800" y="1828800"/>
            <a:ext cx="5486400" cy="434975"/>
            <a:chOff x="2112" y="1152"/>
            <a:chExt cx="3456" cy="274"/>
          </a:xfrm>
        </p:grpSpPr>
        <p:sp>
          <p:nvSpPr>
            <p:cNvPr id="44047" name="Text Box 16"/>
            <p:cNvSpPr txBox="1">
              <a:spLocks noChangeArrowheads="1"/>
            </p:cNvSpPr>
            <p:nvPr/>
          </p:nvSpPr>
          <p:spPr bwMode="auto">
            <a:xfrm>
              <a:off x="2640" y="1152"/>
              <a:ext cx="2928" cy="274"/>
            </a:xfrm>
            <a:prstGeom prst="rect">
              <a:avLst/>
            </a:prstGeom>
            <a:noFill/>
            <a:ln w="38100">
              <a:solidFill>
                <a:srgbClr val="FF99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algn="ctr" eaLnBrk="1" hangingPunct="1">
                <a:spcBef>
                  <a:spcPct val="50000"/>
                </a:spcBef>
              </a:pPr>
              <a:r>
                <a:rPr lang="en-GB" sz="2000"/>
                <a:t>Relative atomic mass of O = 16</a:t>
              </a:r>
            </a:p>
          </p:txBody>
        </p:sp>
        <p:sp>
          <p:nvSpPr>
            <p:cNvPr id="44048" name="Line 17"/>
            <p:cNvSpPr>
              <a:spLocks noChangeShapeType="1"/>
            </p:cNvSpPr>
            <p:nvPr/>
          </p:nvSpPr>
          <p:spPr bwMode="auto">
            <a:xfrm flipH="1">
              <a:off x="2112" y="1296"/>
              <a:ext cx="528" cy="96"/>
            </a:xfrm>
            <a:prstGeom prst="line">
              <a:avLst/>
            </a:prstGeom>
            <a:noFill/>
            <a:ln w="38100">
              <a:solidFill>
                <a:srgbClr val="FF99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93202" name="Group 18"/>
          <p:cNvGrpSpPr>
            <a:grpSpLocks/>
          </p:cNvGrpSpPr>
          <p:nvPr/>
        </p:nvGrpSpPr>
        <p:grpSpPr bwMode="auto">
          <a:xfrm>
            <a:off x="3733800" y="2667000"/>
            <a:ext cx="5181600" cy="434975"/>
            <a:chOff x="2352" y="1680"/>
            <a:chExt cx="3264" cy="274"/>
          </a:xfrm>
        </p:grpSpPr>
        <p:sp>
          <p:nvSpPr>
            <p:cNvPr id="44045" name="Text Box 19"/>
            <p:cNvSpPr txBox="1">
              <a:spLocks noChangeArrowheads="1"/>
            </p:cNvSpPr>
            <p:nvPr/>
          </p:nvSpPr>
          <p:spPr bwMode="auto">
            <a:xfrm>
              <a:off x="2640" y="1680"/>
              <a:ext cx="2976" cy="274"/>
            </a:xfrm>
            <a:prstGeom prst="rect">
              <a:avLst/>
            </a:prstGeom>
            <a:noFill/>
            <a:ln w="381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algn="ctr" eaLnBrk="1" hangingPunct="1">
                <a:spcBef>
                  <a:spcPct val="50000"/>
                </a:spcBef>
              </a:pPr>
              <a:r>
                <a:rPr lang="en-GB" sz="2000"/>
                <a:t>Relative atomic mass of H = 1</a:t>
              </a:r>
            </a:p>
          </p:txBody>
        </p:sp>
        <p:sp>
          <p:nvSpPr>
            <p:cNvPr id="44046" name="Line 20"/>
            <p:cNvSpPr>
              <a:spLocks noChangeShapeType="1"/>
            </p:cNvSpPr>
            <p:nvPr/>
          </p:nvSpPr>
          <p:spPr bwMode="auto">
            <a:xfrm flipH="1">
              <a:off x="2352" y="1824"/>
              <a:ext cx="288" cy="0"/>
            </a:xfrm>
            <a:prstGeom prst="line">
              <a:avLst/>
            </a:prstGeom>
            <a:noFill/>
            <a:ln w="38100">
              <a:solidFill>
                <a:srgbClr val="00FF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Tree>
    <p:extLst>
      <p:ext uri="{BB962C8B-B14F-4D97-AF65-F5344CB8AC3E}">
        <p14:creationId xmlns:p14="http://schemas.microsoft.com/office/powerpoint/2010/main" val="26539335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187"/>
                                        </p:tgtEl>
                                        <p:attrNameLst>
                                          <p:attrName>style.visibility</p:attrName>
                                        </p:attrNameLst>
                                      </p:cBhvr>
                                      <p:to>
                                        <p:strVal val="visible"/>
                                      </p:to>
                                    </p:set>
                                    <p:animEffect transition="in" filter="wipe(left)">
                                      <p:cBhvr>
                                        <p:cTn id="7" dur="500"/>
                                        <p:tgtEl>
                                          <p:spTgt spid="931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194"/>
                                        </p:tgtEl>
                                        <p:attrNameLst>
                                          <p:attrName>style.visibility</p:attrName>
                                        </p:attrNameLst>
                                      </p:cBhvr>
                                      <p:to>
                                        <p:strVal val="visible"/>
                                      </p:to>
                                    </p:set>
                                    <p:animEffect transition="in" filter="wipe(left)">
                                      <p:cBhvr>
                                        <p:cTn id="12" dur="500"/>
                                        <p:tgtEl>
                                          <p:spTgt spid="931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93188"/>
                                        </p:tgtEl>
                                        <p:attrNameLst>
                                          <p:attrName>style.visibility</p:attrName>
                                        </p:attrNameLst>
                                      </p:cBhvr>
                                      <p:to>
                                        <p:strVal val="visible"/>
                                      </p:to>
                                    </p:set>
                                    <p:anim calcmode="lin" valueType="num">
                                      <p:cBhvr additive="base">
                                        <p:cTn id="17" dur="500" fill="hold"/>
                                        <p:tgtEl>
                                          <p:spTgt spid="93188"/>
                                        </p:tgtEl>
                                        <p:attrNameLst>
                                          <p:attrName>ppt_x</p:attrName>
                                        </p:attrNameLst>
                                      </p:cBhvr>
                                      <p:tavLst>
                                        <p:tav tm="0">
                                          <p:val>
                                            <p:strVal val="0-#ppt_w/2"/>
                                          </p:val>
                                        </p:tav>
                                        <p:tav tm="100000">
                                          <p:val>
                                            <p:strVal val="#ppt_x"/>
                                          </p:val>
                                        </p:tav>
                                      </p:tavLst>
                                    </p:anim>
                                    <p:anim calcmode="lin" valueType="num">
                                      <p:cBhvr additive="base">
                                        <p:cTn id="18" dur="500" fill="hold"/>
                                        <p:tgtEl>
                                          <p:spTgt spid="93188"/>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93199"/>
                                        </p:tgtEl>
                                        <p:attrNameLst>
                                          <p:attrName>style.visibility</p:attrName>
                                        </p:attrNameLst>
                                      </p:cBhvr>
                                      <p:to>
                                        <p:strVal val="visible"/>
                                      </p:to>
                                    </p:set>
                                    <p:animEffect transition="in" filter="wipe(left)">
                                      <p:cBhvr>
                                        <p:cTn id="23" dur="500"/>
                                        <p:tgtEl>
                                          <p:spTgt spid="9319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93202"/>
                                        </p:tgtEl>
                                        <p:attrNameLst>
                                          <p:attrName>style.visibility</p:attrName>
                                        </p:attrNameLst>
                                      </p:cBhvr>
                                      <p:to>
                                        <p:strVal val="visible"/>
                                      </p:to>
                                    </p:set>
                                    <p:animEffect transition="in" filter="wipe(left)">
                                      <p:cBhvr>
                                        <p:cTn id="28" dur="500"/>
                                        <p:tgtEl>
                                          <p:spTgt spid="9320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93195"/>
                                        </p:tgtEl>
                                        <p:attrNameLst>
                                          <p:attrName>style.visibility</p:attrName>
                                        </p:attrNameLst>
                                      </p:cBhvr>
                                      <p:to>
                                        <p:strVal val="visible"/>
                                      </p:to>
                                    </p:set>
                                    <p:animEffect transition="in" filter="wipe(left)">
                                      <p:cBhvr>
                                        <p:cTn id="33" dur="500"/>
                                        <p:tgtEl>
                                          <p:spTgt spid="9319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93196"/>
                                        </p:tgtEl>
                                        <p:attrNameLst>
                                          <p:attrName>style.visibility</p:attrName>
                                        </p:attrNameLst>
                                      </p:cBhvr>
                                      <p:to>
                                        <p:strVal val="visible"/>
                                      </p:to>
                                    </p:set>
                                    <p:animEffect transition="in" filter="wipe(left)">
                                      <p:cBhvr>
                                        <p:cTn id="38" dur="500"/>
                                        <p:tgtEl>
                                          <p:spTgt spid="9319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93197"/>
                                        </p:tgtEl>
                                        <p:attrNameLst>
                                          <p:attrName>style.visibility</p:attrName>
                                        </p:attrNameLst>
                                      </p:cBhvr>
                                      <p:to>
                                        <p:strVal val="visible"/>
                                      </p:to>
                                    </p:set>
                                    <p:animEffect transition="in" filter="wipe(up)">
                                      <p:cBhvr>
                                        <p:cTn id="43" dur="500"/>
                                        <p:tgtEl>
                                          <p:spTgt spid="9319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93198">
                                            <p:txEl>
                                              <p:pRg st="0" end="0"/>
                                            </p:txEl>
                                          </p:spTgt>
                                        </p:tgtEl>
                                        <p:attrNameLst>
                                          <p:attrName>style.visibility</p:attrName>
                                        </p:attrNameLst>
                                      </p:cBhvr>
                                      <p:to>
                                        <p:strVal val="visible"/>
                                      </p:to>
                                    </p:set>
                                    <p:animEffect transition="in" filter="wipe(up)">
                                      <p:cBhvr>
                                        <p:cTn id="48" dur="500"/>
                                        <p:tgtEl>
                                          <p:spTgt spid="93198">
                                            <p:txEl>
                                              <p:pRg st="0" end="0"/>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93198">
                                            <p:txEl>
                                              <p:pRg st="1" end="1"/>
                                            </p:txEl>
                                          </p:spTgt>
                                        </p:tgtEl>
                                        <p:attrNameLst>
                                          <p:attrName>style.visibility</p:attrName>
                                        </p:attrNameLst>
                                      </p:cBhvr>
                                      <p:to>
                                        <p:strVal val="visible"/>
                                      </p:to>
                                    </p:set>
                                    <p:animEffect transition="in" filter="wipe(up)">
                                      <p:cBhvr>
                                        <p:cTn id="53" dur="500"/>
                                        <p:tgtEl>
                                          <p:spTgt spid="93198">
                                            <p:txEl>
                                              <p:pRg st="1" end="1"/>
                                            </p:txEl>
                                          </p:spTgt>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93198">
                                            <p:txEl>
                                              <p:pRg st="2" end="2"/>
                                            </p:txEl>
                                          </p:spTgt>
                                        </p:tgtEl>
                                        <p:attrNameLst>
                                          <p:attrName>style.visibility</p:attrName>
                                        </p:attrNameLst>
                                      </p:cBhvr>
                                      <p:to>
                                        <p:strVal val="visible"/>
                                      </p:to>
                                    </p:set>
                                    <p:animEffect transition="in" filter="wipe(up)">
                                      <p:cBhvr>
                                        <p:cTn id="58" dur="500"/>
                                        <p:tgtEl>
                                          <p:spTgt spid="93198">
                                            <p:txEl>
                                              <p:pRg st="2" end="2"/>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1" fill="hold" grpId="0" nodeType="clickEffect">
                                  <p:stCondLst>
                                    <p:cond delay="0"/>
                                  </p:stCondLst>
                                  <p:childTnLst>
                                    <p:set>
                                      <p:cBhvr>
                                        <p:cTn id="62" dur="1" fill="hold">
                                          <p:stCondLst>
                                            <p:cond delay="0"/>
                                          </p:stCondLst>
                                        </p:cTn>
                                        <p:tgtEl>
                                          <p:spTgt spid="93198">
                                            <p:txEl>
                                              <p:pRg st="3" end="3"/>
                                            </p:txEl>
                                          </p:spTgt>
                                        </p:tgtEl>
                                        <p:attrNameLst>
                                          <p:attrName>style.visibility</p:attrName>
                                        </p:attrNameLst>
                                      </p:cBhvr>
                                      <p:to>
                                        <p:strVal val="visible"/>
                                      </p:to>
                                    </p:set>
                                    <p:animEffect transition="in" filter="wipe(up)">
                                      <p:cBhvr>
                                        <p:cTn id="63" dur="500"/>
                                        <p:tgtEl>
                                          <p:spTgt spid="93198">
                                            <p:txEl>
                                              <p:pRg st="3" end="3"/>
                                            </p:txEl>
                                          </p:spTgt>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93198">
                                            <p:txEl>
                                              <p:pRg st="4" end="4"/>
                                            </p:txEl>
                                          </p:spTgt>
                                        </p:tgtEl>
                                        <p:attrNameLst>
                                          <p:attrName>style.visibility</p:attrName>
                                        </p:attrNameLst>
                                      </p:cBhvr>
                                      <p:to>
                                        <p:strVal val="visible"/>
                                      </p:to>
                                    </p:set>
                                    <p:animEffect transition="in" filter="wipe(up)">
                                      <p:cBhvr>
                                        <p:cTn id="68" dur="500"/>
                                        <p:tgtEl>
                                          <p:spTgt spid="9319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autoUpdateAnimBg="0"/>
      <p:bldP spid="93194" grpId="0" autoUpdateAnimBg="0"/>
      <p:bldP spid="93195" grpId="0" animBg="1" autoUpdateAnimBg="0"/>
      <p:bldP spid="93196" grpId="0" autoUpdateAnimBg="0"/>
      <p:bldP spid="93197" grpId="0" autoUpdateAnimBg="0"/>
      <p:bldP spid="93198" grpId="0" build="p"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2"/>
          <p:cNvSpPr>
            <a:spLocks noGrp="1"/>
          </p:cNvSpPr>
          <p:nvPr>
            <p:ph type="dt" sz="half" idx="10"/>
          </p:nvPr>
        </p:nvSpPr>
        <p:spPr/>
        <p:txBody>
          <a:bodyPr/>
          <a:lstStyle/>
          <a:p>
            <a:fld id="{BD0D50ED-B16D-4F3F-94C8-64F285C4F3AA}" type="datetime1">
              <a:rPr lang="en-GB" altLang="en-US"/>
              <a:pPr/>
              <a:t>02/06/2020</a:t>
            </a:fld>
            <a:endParaRPr lang="en-GB" altLang="en-US"/>
          </a:p>
        </p:txBody>
      </p:sp>
      <p:sp>
        <p:nvSpPr>
          <p:cNvPr id="167938" name="Rectangle 2"/>
          <p:cNvSpPr>
            <a:spLocks noGrp="1" noChangeArrowheads="1"/>
          </p:cNvSpPr>
          <p:nvPr>
            <p:ph type="title"/>
          </p:nvPr>
        </p:nvSpPr>
        <p:spPr>
          <a:xfrm>
            <a:off x="0" y="0"/>
            <a:ext cx="9144000" cy="620713"/>
          </a:xfrm>
        </p:spPr>
        <p:txBody>
          <a:bodyPr/>
          <a:lstStyle/>
          <a:p>
            <a:r>
              <a:rPr lang="en-GB" altLang="en-US"/>
              <a:t>Empirical formulae</a:t>
            </a:r>
          </a:p>
        </p:txBody>
      </p:sp>
      <p:sp>
        <p:nvSpPr>
          <p:cNvPr id="167939" name="Text Box 3"/>
          <p:cNvSpPr txBox="1">
            <a:spLocks noChangeArrowheads="1"/>
          </p:cNvSpPr>
          <p:nvPr/>
        </p:nvSpPr>
        <p:spPr bwMode="auto">
          <a:xfrm>
            <a:off x="0" y="620713"/>
            <a:ext cx="91440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i="1">
                <a:solidFill>
                  <a:srgbClr val="CCCCFF"/>
                </a:solidFill>
              </a:rPr>
              <a:t>Empirical formulae is simply a way of showing how many atoms are in a molecule (like a chemical formula).  For example, CaO, CaCO</a:t>
            </a:r>
            <a:r>
              <a:rPr lang="en-GB" altLang="en-US" sz="2000" i="1" baseline="-25000">
                <a:solidFill>
                  <a:srgbClr val="CCCCFF"/>
                </a:solidFill>
              </a:rPr>
              <a:t>3</a:t>
            </a:r>
            <a:r>
              <a:rPr lang="en-GB" altLang="en-US" sz="2000" i="1">
                <a:solidFill>
                  <a:srgbClr val="CCCCFF"/>
                </a:solidFill>
              </a:rPr>
              <a:t>, H</a:t>
            </a:r>
            <a:r>
              <a:rPr lang="en-GB" altLang="en-US" sz="2000" i="1" baseline="-25000">
                <a:solidFill>
                  <a:srgbClr val="CCCCFF"/>
                </a:solidFill>
              </a:rPr>
              <a:t>2</a:t>
            </a:r>
            <a:r>
              <a:rPr lang="en-GB" altLang="en-US" sz="2000" i="1">
                <a:solidFill>
                  <a:srgbClr val="CCCCFF"/>
                </a:solidFill>
              </a:rPr>
              <a:t>0 and KMnO</a:t>
            </a:r>
            <a:r>
              <a:rPr lang="en-GB" altLang="en-US" sz="2000" i="1" baseline="-25000">
                <a:solidFill>
                  <a:srgbClr val="CCCCFF"/>
                </a:solidFill>
              </a:rPr>
              <a:t>4</a:t>
            </a:r>
            <a:r>
              <a:rPr lang="en-GB" altLang="en-US" sz="2000" i="1">
                <a:solidFill>
                  <a:srgbClr val="CCCCFF"/>
                </a:solidFill>
              </a:rPr>
              <a:t> are all empirical formulae.  Here’s how to work them out:</a:t>
            </a:r>
          </a:p>
        </p:txBody>
      </p:sp>
      <p:sp>
        <p:nvSpPr>
          <p:cNvPr id="167940" name="Text Box 4"/>
          <p:cNvSpPr txBox="1">
            <a:spLocks noChangeArrowheads="1"/>
          </p:cNvSpPr>
          <p:nvPr/>
        </p:nvSpPr>
        <p:spPr bwMode="auto">
          <a:xfrm>
            <a:off x="1692275" y="1844675"/>
            <a:ext cx="5791200" cy="1196975"/>
          </a:xfrm>
          <a:prstGeom prst="rect">
            <a:avLst/>
          </a:prstGeom>
          <a:noFill/>
          <a:ln w="38100">
            <a:solidFill>
              <a:srgbClr val="CC0000"/>
            </a:solidFill>
            <a:miter lim="800000"/>
            <a:headEnd/>
            <a:tailEnd/>
          </a:ln>
          <a:effectLst/>
          <a:extLst>
            <a:ext uri="{909E8E84-426E-40DD-AFC4-6F175D3DCCD1}">
              <a14:hiddenFill xmlns:a14="http://schemas.microsoft.com/office/drawing/2010/main">
                <a:solidFill>
                  <a:srgbClr val="99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2000" b="1" i="1"/>
              <a:t>A classic exam question:</a:t>
            </a:r>
          </a:p>
          <a:p>
            <a:pPr algn="ctr">
              <a:spcBef>
                <a:spcPct val="50000"/>
              </a:spcBef>
            </a:pPr>
            <a:r>
              <a:rPr lang="en-GB" altLang="en-US" sz="2000"/>
              <a:t> Find the simplest formula of 2.24g of iron reacting with 0.96g of oxygen.</a:t>
            </a:r>
          </a:p>
        </p:txBody>
      </p:sp>
      <p:sp>
        <p:nvSpPr>
          <p:cNvPr id="167941" name="Text Box 5"/>
          <p:cNvSpPr txBox="1">
            <a:spLocks noChangeArrowheads="1"/>
          </p:cNvSpPr>
          <p:nvPr/>
        </p:nvSpPr>
        <p:spPr bwMode="auto">
          <a:xfrm>
            <a:off x="228600" y="3260725"/>
            <a:ext cx="8686800" cy="359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2000" b="1">
                <a:solidFill>
                  <a:srgbClr val="99FF66"/>
                </a:solidFill>
              </a:rPr>
              <a:t>Step 1:</a:t>
            </a:r>
            <a:r>
              <a:rPr lang="en-GB" altLang="en-US" sz="2000">
                <a:solidFill>
                  <a:srgbClr val="99FF66"/>
                </a:solidFill>
              </a:rPr>
              <a:t> Divide both masses by the relative atomic mass:</a:t>
            </a:r>
          </a:p>
          <a:p>
            <a:pPr algn="ctr">
              <a:spcBef>
                <a:spcPct val="50000"/>
              </a:spcBef>
            </a:pPr>
            <a:r>
              <a:rPr lang="en-GB" altLang="en-US" sz="2000" i="1">
                <a:solidFill>
                  <a:srgbClr val="99FF66"/>
                </a:solidFill>
              </a:rPr>
              <a:t>For iron 2.24/56 = 0.04		For oxygen 0.96/16 = 0.06</a:t>
            </a:r>
          </a:p>
          <a:p>
            <a:pPr>
              <a:spcBef>
                <a:spcPct val="50000"/>
              </a:spcBef>
            </a:pPr>
            <a:endParaRPr lang="en-GB" altLang="en-US" sz="2000"/>
          </a:p>
          <a:p>
            <a:pPr>
              <a:spcBef>
                <a:spcPct val="50000"/>
              </a:spcBef>
            </a:pPr>
            <a:r>
              <a:rPr lang="en-GB" altLang="en-US" sz="2000" b="1">
                <a:solidFill>
                  <a:srgbClr val="FFCCCC"/>
                </a:solidFill>
              </a:rPr>
              <a:t>Step 2:</a:t>
            </a:r>
            <a:r>
              <a:rPr lang="en-GB" altLang="en-US" sz="2000">
                <a:solidFill>
                  <a:srgbClr val="FFCCCC"/>
                </a:solidFill>
              </a:rPr>
              <a:t> Write this as a ratio and simplify:</a:t>
            </a:r>
          </a:p>
          <a:p>
            <a:pPr algn="ctr">
              <a:spcBef>
                <a:spcPct val="50000"/>
              </a:spcBef>
            </a:pPr>
            <a:r>
              <a:rPr lang="en-GB" altLang="en-US" sz="2000" i="1">
                <a:solidFill>
                  <a:srgbClr val="FFCCCC"/>
                </a:solidFill>
              </a:rPr>
              <a:t>0.04:0.06 is equivalent to 2:3</a:t>
            </a:r>
          </a:p>
          <a:p>
            <a:pPr>
              <a:spcBef>
                <a:spcPct val="50000"/>
              </a:spcBef>
            </a:pPr>
            <a:endParaRPr lang="en-GB" altLang="en-US" sz="2000" i="1">
              <a:solidFill>
                <a:srgbClr val="FFCCCC"/>
              </a:solidFill>
            </a:endParaRPr>
          </a:p>
          <a:p>
            <a:pPr>
              <a:spcBef>
                <a:spcPct val="50000"/>
              </a:spcBef>
            </a:pPr>
            <a:r>
              <a:rPr lang="en-GB" altLang="en-US" sz="2000" b="1">
                <a:solidFill>
                  <a:srgbClr val="FFFF66"/>
                </a:solidFill>
              </a:rPr>
              <a:t>Step 3:</a:t>
            </a:r>
            <a:r>
              <a:rPr lang="en-GB" altLang="en-US" sz="2000">
                <a:solidFill>
                  <a:srgbClr val="FFFF66"/>
                </a:solidFill>
              </a:rPr>
              <a:t> Write the formula:</a:t>
            </a:r>
          </a:p>
          <a:p>
            <a:pPr algn="ctr">
              <a:spcBef>
                <a:spcPct val="50000"/>
              </a:spcBef>
            </a:pPr>
            <a:r>
              <a:rPr lang="en-GB" altLang="en-US" sz="2000" i="1">
                <a:solidFill>
                  <a:srgbClr val="FFFF66"/>
                </a:solidFill>
              </a:rPr>
              <a:t>2 iron atoms for 3 oxygen atoms means the formula is </a:t>
            </a:r>
            <a:r>
              <a:rPr lang="en-GB" altLang="en-US" sz="2000" i="1" u="sng">
                <a:solidFill>
                  <a:srgbClr val="FFFF66"/>
                </a:solidFill>
              </a:rPr>
              <a:t>Fe</a:t>
            </a:r>
            <a:r>
              <a:rPr lang="en-GB" altLang="en-US" sz="2000" i="1" u="sng" baseline="-25000">
                <a:solidFill>
                  <a:srgbClr val="FFFF66"/>
                </a:solidFill>
              </a:rPr>
              <a:t>2</a:t>
            </a:r>
            <a:r>
              <a:rPr lang="en-GB" altLang="en-US" sz="2000" i="1" u="sng">
                <a:solidFill>
                  <a:srgbClr val="FFFF66"/>
                </a:solidFill>
              </a:rPr>
              <a:t>O</a:t>
            </a:r>
            <a:r>
              <a:rPr lang="en-GB" altLang="en-US" sz="2000" i="1" u="sng" baseline="-25000">
                <a:solidFill>
                  <a:srgbClr val="FFFF66"/>
                </a:solidFill>
              </a:rPr>
              <a:t>3</a:t>
            </a:r>
          </a:p>
        </p:txBody>
      </p:sp>
    </p:spTree>
    <p:extLst>
      <p:ext uri="{BB962C8B-B14F-4D97-AF65-F5344CB8AC3E}">
        <p14:creationId xmlns:p14="http://schemas.microsoft.com/office/powerpoint/2010/main" val="38781218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7939"/>
                                        </p:tgtEl>
                                        <p:attrNameLst>
                                          <p:attrName>style.visibility</p:attrName>
                                        </p:attrNameLst>
                                      </p:cBhvr>
                                      <p:to>
                                        <p:strVal val="visible"/>
                                      </p:to>
                                    </p:set>
                                    <p:animEffect transition="in" filter="wipe(left)">
                                      <p:cBhvr>
                                        <p:cTn id="7" dur="500"/>
                                        <p:tgtEl>
                                          <p:spTgt spid="1679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67940">
                                            <p:bg/>
                                          </p:spTgt>
                                        </p:tgtEl>
                                        <p:attrNameLst>
                                          <p:attrName>style.visibility</p:attrName>
                                        </p:attrNameLst>
                                      </p:cBhvr>
                                      <p:to>
                                        <p:strVal val="visible"/>
                                      </p:to>
                                    </p:set>
                                    <p:anim calcmode="lin" valueType="num">
                                      <p:cBhvr additive="base">
                                        <p:cTn id="12" dur="500" fill="hold"/>
                                        <p:tgtEl>
                                          <p:spTgt spid="167940">
                                            <p:bg/>
                                          </p:spTgt>
                                        </p:tgtEl>
                                        <p:attrNameLst>
                                          <p:attrName>ppt_x</p:attrName>
                                        </p:attrNameLst>
                                      </p:cBhvr>
                                      <p:tavLst>
                                        <p:tav tm="0">
                                          <p:val>
                                            <p:strVal val="0-#ppt_w/2"/>
                                          </p:val>
                                        </p:tav>
                                        <p:tav tm="100000">
                                          <p:val>
                                            <p:strVal val="#ppt_x"/>
                                          </p:val>
                                        </p:tav>
                                      </p:tavLst>
                                    </p:anim>
                                    <p:anim calcmode="lin" valueType="num">
                                      <p:cBhvr additive="base">
                                        <p:cTn id="13" dur="500" fill="hold"/>
                                        <p:tgtEl>
                                          <p:spTgt spid="167940">
                                            <p:bg/>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67940">
                                            <p:txEl>
                                              <p:pRg st="0" end="0"/>
                                            </p:txEl>
                                          </p:spTgt>
                                        </p:tgtEl>
                                        <p:attrNameLst>
                                          <p:attrName>style.visibility</p:attrName>
                                        </p:attrNameLst>
                                      </p:cBhvr>
                                      <p:to>
                                        <p:strVal val="visible"/>
                                      </p:to>
                                    </p:set>
                                    <p:anim calcmode="lin" valueType="num">
                                      <p:cBhvr additive="base">
                                        <p:cTn id="18" dur="500" fill="hold"/>
                                        <p:tgtEl>
                                          <p:spTgt spid="167940">
                                            <p:txEl>
                                              <p:pRg st="0" end="0"/>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6794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67940">
                                            <p:txEl>
                                              <p:pRg st="1" end="1"/>
                                            </p:txEl>
                                          </p:spTgt>
                                        </p:tgtEl>
                                        <p:attrNameLst>
                                          <p:attrName>style.visibility</p:attrName>
                                        </p:attrNameLst>
                                      </p:cBhvr>
                                      <p:to>
                                        <p:strVal val="visible"/>
                                      </p:to>
                                    </p:set>
                                    <p:anim calcmode="lin" valueType="num">
                                      <p:cBhvr additive="base">
                                        <p:cTn id="24" dur="500" fill="hold"/>
                                        <p:tgtEl>
                                          <p:spTgt spid="167940">
                                            <p:txEl>
                                              <p:pRg st="1" end="1"/>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16794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67941">
                                            <p:txEl>
                                              <p:pRg st="0" end="0"/>
                                            </p:txEl>
                                          </p:spTgt>
                                        </p:tgtEl>
                                        <p:attrNameLst>
                                          <p:attrName>style.visibility</p:attrName>
                                        </p:attrNameLst>
                                      </p:cBhvr>
                                      <p:to>
                                        <p:strVal val="visible"/>
                                      </p:to>
                                    </p:set>
                                    <p:animEffect transition="in" filter="wipe(left)">
                                      <p:cBhvr>
                                        <p:cTn id="30" dur="500"/>
                                        <p:tgtEl>
                                          <p:spTgt spid="167941">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67941">
                                            <p:txEl>
                                              <p:pRg st="1" end="1"/>
                                            </p:txEl>
                                          </p:spTgt>
                                        </p:tgtEl>
                                        <p:attrNameLst>
                                          <p:attrName>style.visibility</p:attrName>
                                        </p:attrNameLst>
                                      </p:cBhvr>
                                      <p:to>
                                        <p:strVal val="visible"/>
                                      </p:to>
                                    </p:set>
                                    <p:animEffect transition="in" filter="wipe(left)">
                                      <p:cBhvr>
                                        <p:cTn id="35" dur="500"/>
                                        <p:tgtEl>
                                          <p:spTgt spid="167941">
                                            <p:txEl>
                                              <p:pRg st="1" end="1"/>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67941">
                                            <p:txEl>
                                              <p:pRg st="3" end="3"/>
                                            </p:txEl>
                                          </p:spTgt>
                                        </p:tgtEl>
                                        <p:attrNameLst>
                                          <p:attrName>style.visibility</p:attrName>
                                        </p:attrNameLst>
                                      </p:cBhvr>
                                      <p:to>
                                        <p:strVal val="visible"/>
                                      </p:to>
                                    </p:set>
                                    <p:animEffect transition="in" filter="wipe(left)">
                                      <p:cBhvr>
                                        <p:cTn id="40" dur="500"/>
                                        <p:tgtEl>
                                          <p:spTgt spid="167941">
                                            <p:txEl>
                                              <p:pRg st="3" end="3"/>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67941">
                                            <p:txEl>
                                              <p:pRg st="4" end="4"/>
                                            </p:txEl>
                                          </p:spTgt>
                                        </p:tgtEl>
                                        <p:attrNameLst>
                                          <p:attrName>style.visibility</p:attrName>
                                        </p:attrNameLst>
                                      </p:cBhvr>
                                      <p:to>
                                        <p:strVal val="visible"/>
                                      </p:to>
                                    </p:set>
                                    <p:animEffect transition="in" filter="wipe(left)">
                                      <p:cBhvr>
                                        <p:cTn id="45" dur="500"/>
                                        <p:tgtEl>
                                          <p:spTgt spid="167941">
                                            <p:txEl>
                                              <p:pRg st="4" end="4"/>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67941">
                                            <p:txEl>
                                              <p:pRg st="6" end="6"/>
                                            </p:txEl>
                                          </p:spTgt>
                                        </p:tgtEl>
                                        <p:attrNameLst>
                                          <p:attrName>style.visibility</p:attrName>
                                        </p:attrNameLst>
                                      </p:cBhvr>
                                      <p:to>
                                        <p:strVal val="visible"/>
                                      </p:to>
                                    </p:set>
                                    <p:animEffect transition="in" filter="wipe(left)">
                                      <p:cBhvr>
                                        <p:cTn id="50" dur="500"/>
                                        <p:tgtEl>
                                          <p:spTgt spid="167941">
                                            <p:txEl>
                                              <p:pRg st="6" end="6"/>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67941">
                                            <p:txEl>
                                              <p:pRg st="7" end="7"/>
                                            </p:txEl>
                                          </p:spTgt>
                                        </p:tgtEl>
                                        <p:attrNameLst>
                                          <p:attrName>style.visibility</p:attrName>
                                        </p:attrNameLst>
                                      </p:cBhvr>
                                      <p:to>
                                        <p:strVal val="visible"/>
                                      </p:to>
                                    </p:set>
                                    <p:animEffect transition="in" filter="wipe(left)">
                                      <p:cBhvr>
                                        <p:cTn id="55" dur="500"/>
                                        <p:tgtEl>
                                          <p:spTgt spid="16794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autoUpdateAnimBg="0"/>
      <p:bldP spid="167940" grpId="0" build="p" animBg="1" autoUpdateAnimBg="0"/>
      <p:bldP spid="167941" grpId="0" build="p"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2"/>
          <p:cNvSpPr>
            <a:spLocks noGrp="1"/>
          </p:cNvSpPr>
          <p:nvPr>
            <p:ph type="dt" sz="half" idx="10"/>
          </p:nvPr>
        </p:nvSpPr>
        <p:spPr/>
        <p:txBody>
          <a:bodyPr/>
          <a:lstStyle/>
          <a:p>
            <a:fld id="{CD1BCB94-1DC4-4FDE-B5EE-D70BDE74F467}" type="datetime1">
              <a:rPr lang="en-GB" altLang="en-US"/>
              <a:pPr/>
              <a:t>02/06/2020</a:t>
            </a:fld>
            <a:endParaRPr lang="en-GB" altLang="en-US"/>
          </a:p>
        </p:txBody>
      </p:sp>
      <p:sp>
        <p:nvSpPr>
          <p:cNvPr id="168962" name="Rectangle 2"/>
          <p:cNvSpPr>
            <a:spLocks noGrp="1" noChangeArrowheads="1"/>
          </p:cNvSpPr>
          <p:nvPr>
            <p:ph type="title"/>
          </p:nvPr>
        </p:nvSpPr>
        <p:spPr/>
        <p:txBody>
          <a:bodyPr/>
          <a:lstStyle/>
          <a:p>
            <a:r>
              <a:rPr lang="en-GB" altLang="en-US"/>
              <a:t>Example questions</a:t>
            </a:r>
          </a:p>
        </p:txBody>
      </p:sp>
      <p:sp>
        <p:nvSpPr>
          <p:cNvPr id="168963" name="Text Box 3"/>
          <p:cNvSpPr txBox="1">
            <a:spLocks noChangeArrowheads="1"/>
          </p:cNvSpPr>
          <p:nvPr/>
        </p:nvSpPr>
        <p:spPr bwMode="auto">
          <a:xfrm>
            <a:off x="228600" y="1219200"/>
            <a:ext cx="8686800" cy="483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a:spcBef>
                <a:spcPct val="50000"/>
              </a:spcBef>
              <a:buFontTx/>
              <a:buAutoNum type="arabicParenR"/>
            </a:pPr>
            <a:r>
              <a:rPr lang="en-GB" altLang="en-US">
                <a:solidFill>
                  <a:srgbClr val="CCECFF"/>
                </a:solidFill>
                <a:latin typeface="Comic Sans MS" panose="030F0702030302020204" pitchFamily="66" charset="0"/>
              </a:rPr>
              <a:t>Find the empirical formula of magnesium oxide which contains 48g of magnesium and 32g of oxygen.</a:t>
            </a:r>
          </a:p>
          <a:p>
            <a:pPr>
              <a:spcBef>
                <a:spcPct val="50000"/>
              </a:spcBef>
              <a:buFontTx/>
              <a:buAutoNum type="arabicParenR"/>
            </a:pPr>
            <a:endParaRPr lang="en-GB" altLang="en-US">
              <a:solidFill>
                <a:srgbClr val="CCECFF"/>
              </a:solidFill>
              <a:latin typeface="Comic Sans MS" panose="030F0702030302020204" pitchFamily="66" charset="0"/>
            </a:endParaRPr>
          </a:p>
          <a:p>
            <a:pPr>
              <a:spcBef>
                <a:spcPct val="50000"/>
              </a:spcBef>
              <a:buFontTx/>
              <a:buAutoNum type="arabicParenR"/>
            </a:pPr>
            <a:endParaRPr lang="en-GB" altLang="en-US">
              <a:solidFill>
                <a:schemeClr val="bg1"/>
              </a:solidFill>
              <a:latin typeface="Comic Sans MS" panose="030F0702030302020204" pitchFamily="66" charset="0"/>
            </a:endParaRPr>
          </a:p>
          <a:p>
            <a:pPr>
              <a:spcBef>
                <a:spcPct val="50000"/>
              </a:spcBef>
              <a:buFontTx/>
              <a:buAutoNum type="arabicParenR"/>
            </a:pPr>
            <a:r>
              <a:rPr lang="en-GB" altLang="en-US">
                <a:solidFill>
                  <a:schemeClr val="bg1"/>
                </a:solidFill>
                <a:latin typeface="Comic Sans MS" panose="030F0702030302020204" pitchFamily="66" charset="0"/>
              </a:rPr>
              <a:t>Find the empirical formula of a compound that contains 42g of nitrogen and 9g of hydrogen.</a:t>
            </a:r>
          </a:p>
          <a:p>
            <a:pPr>
              <a:spcBef>
                <a:spcPct val="50000"/>
              </a:spcBef>
              <a:buFontTx/>
              <a:buAutoNum type="arabicParenR"/>
            </a:pPr>
            <a:endParaRPr lang="en-GB" altLang="en-US">
              <a:solidFill>
                <a:schemeClr val="bg1"/>
              </a:solidFill>
              <a:latin typeface="Comic Sans MS" panose="030F0702030302020204" pitchFamily="66" charset="0"/>
            </a:endParaRPr>
          </a:p>
          <a:p>
            <a:pPr>
              <a:spcBef>
                <a:spcPct val="50000"/>
              </a:spcBef>
              <a:buFontTx/>
              <a:buAutoNum type="arabicParenR"/>
            </a:pPr>
            <a:endParaRPr lang="en-GB" altLang="en-US">
              <a:solidFill>
                <a:schemeClr val="bg1"/>
              </a:solidFill>
              <a:latin typeface="Comic Sans MS" panose="030F0702030302020204" pitchFamily="66" charset="0"/>
            </a:endParaRPr>
          </a:p>
          <a:p>
            <a:pPr>
              <a:spcBef>
                <a:spcPct val="50000"/>
              </a:spcBef>
              <a:buFontTx/>
              <a:buAutoNum type="arabicParenR"/>
            </a:pPr>
            <a:r>
              <a:rPr lang="en-GB" altLang="en-US">
                <a:solidFill>
                  <a:srgbClr val="CCECFF"/>
                </a:solidFill>
                <a:latin typeface="Comic Sans MS" panose="030F0702030302020204" pitchFamily="66" charset="0"/>
              </a:rPr>
              <a:t>Find the empirical formula of a compound containing 20g of calcium, 6g of carbon and 24g of oxygen.</a:t>
            </a:r>
          </a:p>
        </p:txBody>
      </p:sp>
      <p:sp>
        <p:nvSpPr>
          <p:cNvPr id="168964" name="Text Box 4"/>
          <p:cNvSpPr txBox="1">
            <a:spLocks noChangeArrowheads="1"/>
          </p:cNvSpPr>
          <p:nvPr/>
        </p:nvSpPr>
        <p:spPr bwMode="auto">
          <a:xfrm>
            <a:off x="7740650" y="2205038"/>
            <a:ext cx="1258888" cy="396875"/>
          </a:xfrm>
          <a:prstGeom prst="rect">
            <a:avLst/>
          </a:prstGeom>
          <a:solidFill>
            <a:srgbClr val="990000"/>
          </a:solidFill>
          <a:ln>
            <a:noFill/>
          </a:ln>
          <a:effectLst/>
          <a:extLs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2000"/>
              <a:t>MgO</a:t>
            </a:r>
          </a:p>
        </p:txBody>
      </p:sp>
      <p:sp>
        <p:nvSpPr>
          <p:cNvPr id="168965" name="Text Box 5"/>
          <p:cNvSpPr txBox="1">
            <a:spLocks noChangeArrowheads="1"/>
          </p:cNvSpPr>
          <p:nvPr/>
        </p:nvSpPr>
        <p:spPr bwMode="auto">
          <a:xfrm>
            <a:off x="7740650" y="4221163"/>
            <a:ext cx="1258888" cy="396875"/>
          </a:xfrm>
          <a:prstGeom prst="rect">
            <a:avLst/>
          </a:prstGeom>
          <a:solidFill>
            <a:srgbClr val="990000"/>
          </a:solidFill>
          <a:ln>
            <a:noFill/>
          </a:ln>
          <a:effectLst/>
          <a:extLs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2000"/>
              <a:t>NH</a:t>
            </a:r>
            <a:r>
              <a:rPr lang="en-GB" altLang="en-US" sz="2000" baseline="-25000"/>
              <a:t>3</a:t>
            </a:r>
          </a:p>
        </p:txBody>
      </p:sp>
      <p:sp>
        <p:nvSpPr>
          <p:cNvPr id="168966" name="Text Box 6"/>
          <p:cNvSpPr txBox="1">
            <a:spLocks noChangeArrowheads="1"/>
          </p:cNvSpPr>
          <p:nvPr/>
        </p:nvSpPr>
        <p:spPr bwMode="auto">
          <a:xfrm>
            <a:off x="7740650" y="6021388"/>
            <a:ext cx="1258888" cy="396875"/>
          </a:xfrm>
          <a:prstGeom prst="rect">
            <a:avLst/>
          </a:prstGeom>
          <a:solidFill>
            <a:srgbClr val="990000"/>
          </a:solidFill>
          <a:ln>
            <a:noFill/>
          </a:ln>
          <a:effectLst/>
          <a:extLs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2000"/>
              <a:t>CaCO</a:t>
            </a:r>
            <a:r>
              <a:rPr lang="en-GB" altLang="en-US" sz="2000" baseline="-25000"/>
              <a:t>3</a:t>
            </a:r>
          </a:p>
        </p:txBody>
      </p:sp>
    </p:spTree>
    <p:extLst>
      <p:ext uri="{BB962C8B-B14F-4D97-AF65-F5344CB8AC3E}">
        <p14:creationId xmlns:p14="http://schemas.microsoft.com/office/powerpoint/2010/main" val="39482156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8964"/>
                                        </p:tgtEl>
                                        <p:attrNameLst>
                                          <p:attrName>style.visibility</p:attrName>
                                        </p:attrNameLst>
                                      </p:cBhvr>
                                      <p:to>
                                        <p:strVal val="visible"/>
                                      </p:to>
                                    </p:set>
                                    <p:animEffect transition="in" filter="wipe(left)">
                                      <p:cBhvr>
                                        <p:cTn id="7" dur="500"/>
                                        <p:tgtEl>
                                          <p:spTgt spid="1689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8965"/>
                                        </p:tgtEl>
                                        <p:attrNameLst>
                                          <p:attrName>style.visibility</p:attrName>
                                        </p:attrNameLst>
                                      </p:cBhvr>
                                      <p:to>
                                        <p:strVal val="visible"/>
                                      </p:to>
                                    </p:set>
                                    <p:animEffect transition="in" filter="wipe(left)">
                                      <p:cBhvr>
                                        <p:cTn id="12" dur="500"/>
                                        <p:tgtEl>
                                          <p:spTgt spid="16896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8966"/>
                                        </p:tgtEl>
                                        <p:attrNameLst>
                                          <p:attrName>style.visibility</p:attrName>
                                        </p:attrNameLst>
                                      </p:cBhvr>
                                      <p:to>
                                        <p:strVal val="visible"/>
                                      </p:to>
                                    </p:set>
                                    <p:animEffect transition="in" filter="wipe(left)">
                                      <p:cBhvr>
                                        <p:cTn id="17" dur="500"/>
                                        <p:tgtEl>
                                          <p:spTgt spid="1689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4" grpId="0" animBg="1"/>
      <p:bldP spid="168965" grpId="0" animBg="1"/>
      <p:bldP spid="168966"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Determining Empirical Formulae</a:t>
            </a:r>
          </a:p>
        </p:txBody>
      </p:sp>
      <p:sp>
        <p:nvSpPr>
          <p:cNvPr id="3" name="Date Placeholder 2"/>
          <p:cNvSpPr>
            <a:spLocks noGrp="1"/>
          </p:cNvSpPr>
          <p:nvPr>
            <p:ph type="dt" sz="half" idx="10"/>
          </p:nvPr>
        </p:nvSpPr>
        <p:spPr/>
        <p:txBody>
          <a:bodyPr/>
          <a:lstStyle/>
          <a:p>
            <a:pPr>
              <a:defRPr/>
            </a:pPr>
            <a:fld id="{015E6D66-BACF-4A6D-9DB1-3B675C6F844B}" type="datetime1">
              <a:rPr lang="en-GB" smtClean="0"/>
              <a:pPr>
                <a:defRPr/>
              </a:pPr>
              <a:t>02/06/2020</a:t>
            </a:fld>
            <a:endParaRPr lang="en-GB"/>
          </a:p>
        </p:txBody>
      </p:sp>
      <p:pic>
        <p:nvPicPr>
          <p:cNvPr id="5" name="Picture 5" descr="magnesium_burning-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040" y="1052736"/>
            <a:ext cx="4014515" cy="535348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467544" y="1772816"/>
            <a:ext cx="4176464" cy="1569660"/>
          </a:xfrm>
          <a:prstGeom prst="rect">
            <a:avLst/>
          </a:prstGeom>
          <a:solidFill>
            <a:srgbClr val="C00000"/>
          </a:solidFill>
        </p:spPr>
        <p:txBody>
          <a:bodyPr wrap="square" rtlCol="0">
            <a:spAutoFit/>
          </a:bodyPr>
          <a:lstStyle/>
          <a:p>
            <a:r>
              <a:rPr lang="en-GB" dirty="0"/>
              <a:t>Q. How could you use this experiment to deduce the empirical formula of magnesium oxide?</a:t>
            </a:r>
          </a:p>
        </p:txBody>
      </p:sp>
    </p:spTree>
    <p:extLst>
      <p:ext uri="{BB962C8B-B14F-4D97-AF65-F5344CB8AC3E}">
        <p14:creationId xmlns:p14="http://schemas.microsoft.com/office/powerpoint/2010/main" val="17756535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ate Placeholder 3"/>
          <p:cNvSpPr>
            <a:spLocks noGrp="1"/>
          </p:cNvSpPr>
          <p:nvPr>
            <p:ph type="dt" sz="half" idx="10"/>
          </p:nvPr>
        </p:nvSpPr>
        <p:spPr/>
        <p:txBody>
          <a:bodyPr/>
          <a:lstStyle/>
          <a:p>
            <a:fld id="{F766DDF6-ACBF-4C84-916C-9E68C4FB259C}" type="datetime1">
              <a:rPr lang="en-GB"/>
              <a:pPr/>
              <a:t>02/06/2020</a:t>
            </a:fld>
            <a:endParaRPr lang="en-GB"/>
          </a:p>
        </p:txBody>
      </p:sp>
      <p:sp>
        <p:nvSpPr>
          <p:cNvPr id="270338" name="Rectangle 2"/>
          <p:cNvSpPr>
            <a:spLocks noGrp="1" noChangeArrowheads="1"/>
          </p:cNvSpPr>
          <p:nvPr>
            <p:ph type="title"/>
          </p:nvPr>
        </p:nvSpPr>
        <p:spPr>
          <a:xfrm>
            <a:off x="0" y="14988"/>
            <a:ext cx="9144000" cy="762000"/>
          </a:xfrm>
        </p:spPr>
        <p:txBody>
          <a:bodyPr/>
          <a:lstStyle/>
          <a:p>
            <a:r>
              <a:rPr lang="en-GB" sz="3600" dirty="0"/>
              <a:t>An example of Conservation of Mass</a:t>
            </a:r>
          </a:p>
        </p:txBody>
      </p:sp>
      <p:sp>
        <p:nvSpPr>
          <p:cNvPr id="270344" name="Text Box 8"/>
          <p:cNvSpPr txBox="1">
            <a:spLocks noChangeArrowheads="1"/>
          </p:cNvSpPr>
          <p:nvPr/>
        </p:nvSpPr>
        <p:spPr bwMode="auto">
          <a:xfrm>
            <a:off x="0" y="689070"/>
            <a:ext cx="914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sz="2000" dirty="0">
                <a:solidFill>
                  <a:srgbClr val="CCFFFF"/>
                </a:solidFill>
              </a:rPr>
              <a:t>Here’s a classic experiment where magnesium is burned in a crucible:</a:t>
            </a:r>
          </a:p>
        </p:txBody>
      </p:sp>
      <p:grpSp>
        <p:nvGrpSpPr>
          <p:cNvPr id="270348" name="Group 12"/>
          <p:cNvGrpSpPr>
            <a:grpSpLocks/>
          </p:cNvGrpSpPr>
          <p:nvPr/>
        </p:nvGrpSpPr>
        <p:grpSpPr bwMode="auto">
          <a:xfrm>
            <a:off x="0" y="1484313"/>
            <a:ext cx="2771775" cy="4606925"/>
            <a:chOff x="0" y="935"/>
            <a:chExt cx="1746" cy="2902"/>
          </a:xfrm>
        </p:grpSpPr>
        <p:pic>
          <p:nvPicPr>
            <p:cNvPr id="270341" name="Picture 5" descr="magnesium_burning-0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35"/>
              <a:ext cx="1667" cy="2223"/>
            </a:xfrm>
            <a:prstGeom prst="rect">
              <a:avLst/>
            </a:prstGeom>
            <a:noFill/>
            <a:extLst>
              <a:ext uri="{909E8E84-426E-40DD-AFC4-6F175D3DCCD1}">
                <a14:hiddenFill xmlns:a14="http://schemas.microsoft.com/office/drawing/2010/main">
                  <a:solidFill>
                    <a:srgbClr val="FFFFFF"/>
                  </a:solidFill>
                </a14:hiddenFill>
              </a:ext>
            </a:extLst>
          </p:spPr>
        </p:pic>
        <p:sp>
          <p:nvSpPr>
            <p:cNvPr id="270345" name="Text Box 9"/>
            <p:cNvSpPr txBox="1">
              <a:spLocks noChangeArrowheads="1"/>
            </p:cNvSpPr>
            <p:nvPr/>
          </p:nvSpPr>
          <p:spPr bwMode="auto">
            <a:xfrm>
              <a:off x="0" y="3203"/>
              <a:ext cx="1746"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solidFill>
                    <a:srgbClr val="FFCCCC"/>
                  </a:solidFill>
                </a:rPr>
                <a:t>Mass of magnesium and crucible before burning = 78.25g</a:t>
              </a:r>
            </a:p>
          </p:txBody>
        </p:sp>
      </p:grpSp>
      <p:grpSp>
        <p:nvGrpSpPr>
          <p:cNvPr id="270349" name="Group 13"/>
          <p:cNvGrpSpPr>
            <a:grpSpLocks/>
          </p:cNvGrpSpPr>
          <p:nvPr/>
        </p:nvGrpSpPr>
        <p:grpSpPr bwMode="auto">
          <a:xfrm>
            <a:off x="5334000" y="1412875"/>
            <a:ext cx="3810000" cy="3959225"/>
            <a:chOff x="3360" y="890"/>
            <a:chExt cx="2400" cy="2494"/>
          </a:xfrm>
        </p:grpSpPr>
        <p:pic>
          <p:nvPicPr>
            <p:cNvPr id="270343" name="Picture 7" descr="magnesium_burning-0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0" y="890"/>
              <a:ext cx="2400" cy="1800"/>
            </a:xfrm>
            <a:prstGeom prst="rect">
              <a:avLst/>
            </a:prstGeom>
            <a:noFill/>
            <a:extLst>
              <a:ext uri="{909E8E84-426E-40DD-AFC4-6F175D3DCCD1}">
                <a14:hiddenFill xmlns:a14="http://schemas.microsoft.com/office/drawing/2010/main">
                  <a:solidFill>
                    <a:srgbClr val="FFFFFF"/>
                  </a:solidFill>
                </a14:hiddenFill>
              </a:ext>
            </a:extLst>
          </p:spPr>
        </p:pic>
        <p:sp>
          <p:nvSpPr>
            <p:cNvPr id="270346" name="Text Box 10"/>
            <p:cNvSpPr txBox="1">
              <a:spLocks noChangeArrowheads="1"/>
            </p:cNvSpPr>
            <p:nvPr/>
          </p:nvSpPr>
          <p:spPr bwMode="auto">
            <a:xfrm>
              <a:off x="3379" y="2750"/>
              <a:ext cx="2381"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solidFill>
                    <a:srgbClr val="FFFF99"/>
                  </a:solidFill>
                </a:rPr>
                <a:t>Mass of magnesium and crucible after burning = 78.56g</a:t>
              </a:r>
            </a:p>
          </p:txBody>
        </p:sp>
      </p:grpSp>
      <p:sp>
        <p:nvSpPr>
          <p:cNvPr id="270347" name="Text Box 11"/>
          <p:cNvSpPr txBox="1">
            <a:spLocks noChangeArrowheads="1"/>
          </p:cNvSpPr>
          <p:nvPr/>
        </p:nvSpPr>
        <p:spPr bwMode="auto">
          <a:xfrm>
            <a:off x="2843213" y="5680075"/>
            <a:ext cx="6156325" cy="822325"/>
          </a:xfrm>
          <a:prstGeom prst="rect">
            <a:avLst/>
          </a:prstGeom>
          <a:solidFill>
            <a:srgbClr val="CC0000"/>
          </a:solidFill>
          <a:ln>
            <a:noFill/>
          </a:ln>
          <a:effectLst/>
          <a:extLs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sz="2400"/>
              <a:t>Mass is always conserved in any reaction, so where did this extra mass come from?</a:t>
            </a:r>
          </a:p>
        </p:txBody>
      </p:sp>
      <p:grpSp>
        <p:nvGrpSpPr>
          <p:cNvPr id="270352" name="Group 16"/>
          <p:cNvGrpSpPr>
            <a:grpSpLocks/>
          </p:cNvGrpSpPr>
          <p:nvPr/>
        </p:nvGrpSpPr>
        <p:grpSpPr bwMode="auto">
          <a:xfrm>
            <a:off x="2771775" y="2852738"/>
            <a:ext cx="2411413" cy="396875"/>
            <a:chOff x="1746" y="1797"/>
            <a:chExt cx="1519" cy="250"/>
          </a:xfrm>
        </p:grpSpPr>
        <p:sp>
          <p:nvSpPr>
            <p:cNvPr id="270350" name="Text Box 14"/>
            <p:cNvSpPr txBox="1">
              <a:spLocks noChangeArrowheads="1"/>
            </p:cNvSpPr>
            <p:nvPr/>
          </p:nvSpPr>
          <p:spPr bwMode="auto">
            <a:xfrm>
              <a:off x="1746" y="1797"/>
              <a:ext cx="1519" cy="250"/>
            </a:xfrm>
            <a:prstGeom prst="rect">
              <a:avLst/>
            </a:prstGeom>
            <a:solidFill>
              <a:srgbClr val="CC0000"/>
            </a:solidFill>
            <a:ln>
              <a:noFill/>
            </a:ln>
            <a:effectLst/>
            <a:extLs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sz="2000" dirty="0"/>
                <a:t>2Mg + O</a:t>
              </a:r>
              <a:r>
                <a:rPr lang="en-GB" sz="2000" baseline="-25000" dirty="0"/>
                <a:t>2</a:t>
              </a:r>
              <a:r>
                <a:rPr lang="en-GB" sz="2000" dirty="0"/>
                <a:t>    2MgO</a:t>
              </a:r>
            </a:p>
          </p:txBody>
        </p:sp>
        <p:sp>
          <p:nvSpPr>
            <p:cNvPr id="270351" name="Line 15"/>
            <p:cNvSpPr>
              <a:spLocks noChangeShapeType="1"/>
            </p:cNvSpPr>
            <p:nvPr/>
          </p:nvSpPr>
          <p:spPr bwMode="auto">
            <a:xfrm>
              <a:off x="2562" y="1933"/>
              <a:ext cx="137" cy="0"/>
            </a:xfrm>
            <a:prstGeom prst="line">
              <a:avLst/>
            </a:prstGeom>
            <a:noFill/>
            <a:ln w="254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000"/>
            </a:p>
          </p:txBody>
        </p:sp>
      </p:grpSp>
    </p:spTree>
    <p:extLst>
      <p:ext uri="{BB962C8B-B14F-4D97-AF65-F5344CB8AC3E}">
        <p14:creationId xmlns:p14="http://schemas.microsoft.com/office/powerpoint/2010/main" val="38762612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70348"/>
                                        </p:tgtEl>
                                        <p:attrNameLst>
                                          <p:attrName>style.visibility</p:attrName>
                                        </p:attrNameLst>
                                      </p:cBhvr>
                                      <p:to>
                                        <p:strVal val="visible"/>
                                      </p:to>
                                    </p:set>
                                    <p:animEffect transition="in" filter="wipe(up)">
                                      <p:cBhvr>
                                        <p:cTn id="7" dur="500"/>
                                        <p:tgtEl>
                                          <p:spTgt spid="2703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70349"/>
                                        </p:tgtEl>
                                        <p:attrNameLst>
                                          <p:attrName>style.visibility</p:attrName>
                                        </p:attrNameLst>
                                      </p:cBhvr>
                                      <p:to>
                                        <p:strVal val="visible"/>
                                      </p:to>
                                    </p:set>
                                    <p:animEffect transition="in" filter="wipe(up)">
                                      <p:cBhvr>
                                        <p:cTn id="12" dur="500"/>
                                        <p:tgtEl>
                                          <p:spTgt spid="27034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0347"/>
                                        </p:tgtEl>
                                        <p:attrNameLst>
                                          <p:attrName>style.visibility</p:attrName>
                                        </p:attrNameLst>
                                      </p:cBhvr>
                                      <p:to>
                                        <p:strVal val="visible"/>
                                      </p:to>
                                    </p:set>
                                    <p:animEffect transition="in" filter="wipe(left)">
                                      <p:cBhvr>
                                        <p:cTn id="17" dur="500"/>
                                        <p:tgtEl>
                                          <p:spTgt spid="2703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70352"/>
                                        </p:tgtEl>
                                        <p:attrNameLst>
                                          <p:attrName>style.visibility</p:attrName>
                                        </p:attrNameLst>
                                      </p:cBhvr>
                                      <p:to>
                                        <p:strVal val="visible"/>
                                      </p:to>
                                    </p:set>
                                    <p:animEffect transition="in" filter="wipe(left)">
                                      <p:cBhvr>
                                        <p:cTn id="22" dur="500"/>
                                        <p:tgtEl>
                                          <p:spTgt spid="270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47"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Questions</a:t>
            </a:r>
          </a:p>
        </p:txBody>
      </p:sp>
      <p:sp>
        <p:nvSpPr>
          <p:cNvPr id="4" name="Date Placeholder 3"/>
          <p:cNvSpPr>
            <a:spLocks noGrp="1"/>
          </p:cNvSpPr>
          <p:nvPr>
            <p:ph type="dt" sz="half" idx="10"/>
          </p:nvPr>
        </p:nvSpPr>
        <p:spPr/>
        <p:txBody>
          <a:bodyPr/>
          <a:lstStyle/>
          <a:p>
            <a:fld id="{0C35B285-9B1D-41E2-B79C-C169D833EC11}" type="datetime1">
              <a:rPr lang="en-GB" altLang="en-US" smtClean="0"/>
              <a:pPr/>
              <a:t>02/06/2020</a:t>
            </a:fld>
            <a:endParaRPr lang="en-GB" altLang="en-US"/>
          </a:p>
        </p:txBody>
      </p:sp>
      <p:sp>
        <p:nvSpPr>
          <p:cNvPr id="5" name="TextBox 4"/>
          <p:cNvSpPr txBox="1"/>
          <p:nvPr/>
        </p:nvSpPr>
        <p:spPr>
          <a:xfrm>
            <a:off x="0" y="980728"/>
            <a:ext cx="9144000" cy="1200329"/>
          </a:xfrm>
          <a:prstGeom prst="rect">
            <a:avLst/>
          </a:prstGeom>
          <a:noFill/>
        </p:spPr>
        <p:txBody>
          <a:bodyPr wrap="square" rtlCol="0">
            <a:spAutoFit/>
          </a:bodyPr>
          <a:lstStyle/>
          <a:p>
            <a:r>
              <a:rPr lang="en-GB" dirty="0">
                <a:solidFill>
                  <a:srgbClr val="CCECFF"/>
                </a:solidFill>
              </a:rPr>
              <a:t>For each of the following reactions, state whether or not the mass of the total system should go up or down and explain your answer:</a:t>
            </a:r>
          </a:p>
        </p:txBody>
      </p:sp>
      <p:sp>
        <p:nvSpPr>
          <p:cNvPr id="6" name="TextBox 5"/>
          <p:cNvSpPr txBox="1"/>
          <p:nvPr/>
        </p:nvSpPr>
        <p:spPr>
          <a:xfrm>
            <a:off x="0" y="2420888"/>
            <a:ext cx="9144000" cy="1200329"/>
          </a:xfrm>
          <a:prstGeom prst="rect">
            <a:avLst/>
          </a:prstGeom>
          <a:solidFill>
            <a:srgbClr val="C00000"/>
          </a:solidFill>
        </p:spPr>
        <p:txBody>
          <a:bodyPr wrap="square" rtlCol="0">
            <a:spAutoFit/>
          </a:bodyPr>
          <a:lstStyle/>
          <a:p>
            <a:pPr marL="457200" indent="-457200">
              <a:buAutoNum type="arabicParenR"/>
            </a:pPr>
            <a:r>
              <a:rPr lang="en-GB" dirty="0"/>
              <a:t>Iron + oxygen                 iron oxide</a:t>
            </a:r>
          </a:p>
          <a:p>
            <a:pPr marL="457200" indent="-457200">
              <a:buAutoNum type="arabicParenR"/>
            </a:pPr>
            <a:endParaRPr lang="en-GB" dirty="0"/>
          </a:p>
          <a:p>
            <a:pPr marL="457200" indent="-457200">
              <a:buAutoNum type="arabicParenR"/>
            </a:pPr>
            <a:r>
              <a:rPr lang="en-GB" dirty="0"/>
              <a:t>Copper carbonate                copper oxide + carbon dioxide</a:t>
            </a:r>
          </a:p>
        </p:txBody>
      </p:sp>
      <p:sp>
        <p:nvSpPr>
          <p:cNvPr id="7" name="TextBox 6"/>
          <p:cNvSpPr txBox="1"/>
          <p:nvPr/>
        </p:nvSpPr>
        <p:spPr>
          <a:xfrm>
            <a:off x="0" y="4005064"/>
            <a:ext cx="9144000" cy="830997"/>
          </a:xfrm>
          <a:prstGeom prst="rect">
            <a:avLst/>
          </a:prstGeom>
          <a:noFill/>
        </p:spPr>
        <p:txBody>
          <a:bodyPr wrap="square" rtlCol="0">
            <a:spAutoFit/>
          </a:bodyPr>
          <a:lstStyle/>
          <a:p>
            <a:r>
              <a:rPr lang="en-GB" dirty="0">
                <a:solidFill>
                  <a:srgbClr val="CCECFF"/>
                </a:solidFill>
              </a:rPr>
              <a:t>For higher tier, write a balanced equation for each reaction, given that iron oxide is Fe</a:t>
            </a:r>
            <a:r>
              <a:rPr lang="en-GB" baseline="-25000" dirty="0">
                <a:solidFill>
                  <a:srgbClr val="CCECFF"/>
                </a:solidFill>
              </a:rPr>
              <a:t>2</a:t>
            </a:r>
            <a:r>
              <a:rPr lang="en-GB" dirty="0">
                <a:solidFill>
                  <a:srgbClr val="CCECFF"/>
                </a:solidFill>
              </a:rPr>
              <a:t>O</a:t>
            </a:r>
            <a:r>
              <a:rPr lang="en-GB" baseline="-25000" dirty="0">
                <a:solidFill>
                  <a:srgbClr val="CCECFF"/>
                </a:solidFill>
              </a:rPr>
              <a:t>3</a:t>
            </a:r>
            <a:r>
              <a:rPr lang="en-GB" dirty="0">
                <a:solidFill>
                  <a:srgbClr val="CCECFF"/>
                </a:solidFill>
              </a:rPr>
              <a:t> and copper carbonate is CaCO</a:t>
            </a:r>
            <a:r>
              <a:rPr lang="en-GB" baseline="-25000" dirty="0">
                <a:solidFill>
                  <a:srgbClr val="CCECFF"/>
                </a:solidFill>
              </a:rPr>
              <a:t>3</a:t>
            </a:r>
            <a:r>
              <a:rPr lang="en-GB" dirty="0">
                <a:solidFill>
                  <a:srgbClr val="CCECFF"/>
                </a:solidFill>
              </a:rPr>
              <a:t>.</a:t>
            </a:r>
          </a:p>
        </p:txBody>
      </p:sp>
      <p:cxnSp>
        <p:nvCxnSpPr>
          <p:cNvPr id="9" name="Straight Arrow Connector 8"/>
          <p:cNvCxnSpPr/>
          <p:nvPr/>
        </p:nvCxnSpPr>
        <p:spPr bwMode="auto">
          <a:xfrm>
            <a:off x="2843808" y="2636912"/>
            <a:ext cx="1080120" cy="0"/>
          </a:xfrm>
          <a:prstGeom prst="straightConnector1">
            <a:avLst/>
          </a:prstGeom>
          <a:solidFill>
            <a:schemeClr val="accent1"/>
          </a:solidFill>
          <a:ln w="25400"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Straight Arrow Connector 9"/>
          <p:cNvCxnSpPr/>
          <p:nvPr/>
        </p:nvCxnSpPr>
        <p:spPr bwMode="auto">
          <a:xfrm>
            <a:off x="3203848" y="3429000"/>
            <a:ext cx="1080120" cy="0"/>
          </a:xfrm>
          <a:prstGeom prst="straightConnector1">
            <a:avLst/>
          </a:prstGeom>
          <a:solidFill>
            <a:schemeClr val="accent1"/>
          </a:solidFill>
          <a:ln w="25400"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659141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Date Placeholder 2"/>
          <p:cNvSpPr>
            <a:spLocks noGrp="1"/>
          </p:cNvSpPr>
          <p:nvPr>
            <p:ph type="dt" sz="quarter" idx="10"/>
          </p:nvPr>
        </p:nvSpPr>
        <p:spPr>
          <a:noFill/>
        </p:spPr>
        <p:txBody>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fld id="{FF2AF556-E4BA-409D-83AC-44993E61CC33}" type="datetime1">
              <a:rPr lang="en-GB" sz="1800" smtClean="0">
                <a:solidFill>
                  <a:schemeClr val="folHlink"/>
                </a:solidFill>
              </a:rPr>
              <a:pPr eaLnBrk="1" hangingPunct="1"/>
              <a:t>02/06/2020</a:t>
            </a:fld>
            <a:endParaRPr lang="en-GB" sz="1800">
              <a:solidFill>
                <a:schemeClr val="folHlink"/>
              </a:solidFill>
            </a:endParaRPr>
          </a:p>
        </p:txBody>
      </p:sp>
      <p:sp>
        <p:nvSpPr>
          <p:cNvPr id="97282" name="Rectangle 2"/>
          <p:cNvSpPr>
            <a:spLocks noGrp="1" noChangeArrowheads="1"/>
          </p:cNvSpPr>
          <p:nvPr>
            <p:ph type="title"/>
          </p:nvPr>
        </p:nvSpPr>
        <p:spPr>
          <a:xfrm>
            <a:off x="0" y="0"/>
            <a:ext cx="9144000" cy="558800"/>
          </a:xfrm>
        </p:spPr>
        <p:txBody>
          <a:bodyPr/>
          <a:lstStyle/>
          <a:p>
            <a:pPr eaLnBrk="1" hangingPunct="1">
              <a:defRPr/>
            </a:pPr>
            <a:r>
              <a:rPr lang="en-GB" sz="4000"/>
              <a:t>Calculating the mass of a product</a:t>
            </a:r>
          </a:p>
        </p:txBody>
      </p:sp>
      <p:sp>
        <p:nvSpPr>
          <p:cNvPr id="97283" name="Text Box 3"/>
          <p:cNvSpPr txBox="1">
            <a:spLocks noChangeArrowheads="1"/>
          </p:cNvSpPr>
          <p:nvPr/>
        </p:nvSpPr>
        <p:spPr bwMode="auto">
          <a:xfrm>
            <a:off x="228600" y="915988"/>
            <a:ext cx="8686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i="1">
                <a:solidFill>
                  <a:srgbClr val="99FFCC"/>
                </a:solidFill>
              </a:rPr>
              <a:t>E.g. what mass of magnesium oxide is produced when 60g of magnesium is burned in air?</a:t>
            </a:r>
          </a:p>
        </p:txBody>
      </p:sp>
      <p:grpSp>
        <p:nvGrpSpPr>
          <p:cNvPr id="97284" name="Group 4"/>
          <p:cNvGrpSpPr>
            <a:grpSpLocks/>
          </p:cNvGrpSpPr>
          <p:nvPr/>
        </p:nvGrpSpPr>
        <p:grpSpPr bwMode="auto">
          <a:xfrm>
            <a:off x="228600" y="2362200"/>
            <a:ext cx="8686800" cy="1311275"/>
            <a:chOff x="144" y="1488"/>
            <a:chExt cx="5472" cy="826"/>
          </a:xfrm>
        </p:grpSpPr>
        <p:sp>
          <p:nvSpPr>
            <p:cNvPr id="54284" name="Text Box 5"/>
            <p:cNvSpPr txBox="1">
              <a:spLocks noChangeArrowheads="1"/>
            </p:cNvSpPr>
            <p:nvPr/>
          </p:nvSpPr>
          <p:spPr bwMode="auto">
            <a:xfrm>
              <a:off x="144" y="1488"/>
              <a:ext cx="5472" cy="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sz="2000" b="1">
                  <a:solidFill>
                    <a:schemeClr val="hlink"/>
                  </a:solidFill>
                </a:rPr>
                <a:t>Step 1: READ the equation:</a:t>
              </a:r>
            </a:p>
            <a:p>
              <a:pPr algn="ctr" eaLnBrk="1" hangingPunct="1">
                <a:spcBef>
                  <a:spcPct val="50000"/>
                </a:spcBef>
              </a:pPr>
              <a:r>
                <a:rPr lang="en-GB" sz="2000"/>
                <a:t>2Mg + O</a:t>
              </a:r>
              <a:r>
                <a:rPr lang="en-GB" sz="2000" baseline="-25000"/>
                <a:t>2</a:t>
              </a:r>
              <a:r>
                <a:rPr lang="en-GB" sz="2000"/>
                <a:t>       	 2MgO</a:t>
              </a:r>
            </a:p>
            <a:p>
              <a:pPr eaLnBrk="1" hangingPunct="1">
                <a:spcBef>
                  <a:spcPct val="50000"/>
                </a:spcBef>
              </a:pPr>
              <a:endParaRPr lang="en-GB" sz="2000"/>
            </a:p>
          </p:txBody>
        </p:sp>
        <p:sp>
          <p:nvSpPr>
            <p:cNvPr id="54285" name="Line 6"/>
            <p:cNvSpPr>
              <a:spLocks noChangeShapeType="1"/>
            </p:cNvSpPr>
            <p:nvPr/>
          </p:nvSpPr>
          <p:spPr bwMode="auto">
            <a:xfrm>
              <a:off x="2784" y="1920"/>
              <a:ext cx="432"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97287" name="Group 7"/>
          <p:cNvGrpSpPr>
            <a:grpSpLocks/>
          </p:cNvGrpSpPr>
          <p:nvPr/>
        </p:nvGrpSpPr>
        <p:grpSpPr bwMode="auto">
          <a:xfrm>
            <a:off x="4343400" y="1981200"/>
            <a:ext cx="4800600" cy="2057400"/>
            <a:chOff x="2736" y="1248"/>
            <a:chExt cx="3024" cy="1296"/>
          </a:xfrm>
        </p:grpSpPr>
        <p:sp>
          <p:nvSpPr>
            <p:cNvPr id="54281" name="Text Box 8"/>
            <p:cNvSpPr txBox="1">
              <a:spLocks noChangeArrowheads="1"/>
            </p:cNvSpPr>
            <p:nvPr/>
          </p:nvSpPr>
          <p:spPr bwMode="auto">
            <a:xfrm>
              <a:off x="4272" y="1248"/>
              <a:ext cx="1488" cy="826"/>
            </a:xfrm>
            <a:prstGeom prst="rect">
              <a:avLst/>
            </a:prstGeom>
            <a:solidFill>
              <a:srgbClr val="A50021"/>
            </a:solidFill>
            <a:ln>
              <a:noFill/>
            </a:ln>
            <a:effectLst/>
            <a:extLs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algn="ctr" eaLnBrk="1" hangingPunct="1">
                <a:spcBef>
                  <a:spcPct val="50000"/>
                </a:spcBef>
              </a:pPr>
              <a:r>
                <a:rPr lang="en-GB" sz="2000"/>
                <a:t>IGNORE the oxygen in step 2 – the question doesn’t ask for it</a:t>
              </a:r>
            </a:p>
          </p:txBody>
        </p:sp>
        <p:sp>
          <p:nvSpPr>
            <p:cNvPr id="54282" name="Freeform 9"/>
            <p:cNvSpPr>
              <a:spLocks/>
            </p:cNvSpPr>
            <p:nvPr/>
          </p:nvSpPr>
          <p:spPr bwMode="auto">
            <a:xfrm>
              <a:off x="2736" y="1320"/>
              <a:ext cx="1584" cy="456"/>
            </a:xfrm>
            <a:custGeom>
              <a:avLst/>
              <a:gdLst>
                <a:gd name="T0" fmla="*/ 1584 w 1584"/>
                <a:gd name="T1" fmla="*/ 24 h 456"/>
                <a:gd name="T2" fmla="*/ 912 w 1584"/>
                <a:gd name="T3" fmla="*/ 72 h 456"/>
                <a:gd name="T4" fmla="*/ 0 w 1584"/>
                <a:gd name="T5" fmla="*/ 456 h 456"/>
                <a:gd name="T6" fmla="*/ 0 60000 65536"/>
                <a:gd name="T7" fmla="*/ 0 60000 65536"/>
                <a:gd name="T8" fmla="*/ 0 60000 65536"/>
              </a:gdLst>
              <a:ahLst/>
              <a:cxnLst>
                <a:cxn ang="T6">
                  <a:pos x="T0" y="T1"/>
                </a:cxn>
                <a:cxn ang="T7">
                  <a:pos x="T2" y="T3"/>
                </a:cxn>
                <a:cxn ang="T8">
                  <a:pos x="T4" y="T5"/>
                </a:cxn>
              </a:cxnLst>
              <a:rect l="0" t="0" r="r" b="b"/>
              <a:pathLst>
                <a:path w="1584" h="456">
                  <a:moveTo>
                    <a:pt x="1584" y="24"/>
                  </a:moveTo>
                  <a:cubicBezTo>
                    <a:pt x="1380" y="12"/>
                    <a:pt x="1176" y="0"/>
                    <a:pt x="912" y="72"/>
                  </a:cubicBezTo>
                  <a:cubicBezTo>
                    <a:pt x="648" y="144"/>
                    <a:pt x="324" y="300"/>
                    <a:pt x="0" y="456"/>
                  </a:cubicBezTo>
                </a:path>
              </a:pathLst>
            </a:custGeom>
            <a:noFill/>
            <a:ln w="63500" cap="flat" cmpd="sng">
              <a:solidFill>
                <a:srgbClr val="990000"/>
              </a:solidFill>
              <a:prstDash val="solid"/>
              <a:round/>
              <a:headEnd type="none" w="med" len="me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4283" name="Freeform 10"/>
            <p:cNvSpPr>
              <a:spLocks/>
            </p:cNvSpPr>
            <p:nvPr/>
          </p:nvSpPr>
          <p:spPr bwMode="auto">
            <a:xfrm>
              <a:off x="4560" y="2016"/>
              <a:ext cx="632" cy="528"/>
            </a:xfrm>
            <a:custGeom>
              <a:avLst/>
              <a:gdLst>
                <a:gd name="T0" fmla="*/ 624 w 632"/>
                <a:gd name="T1" fmla="*/ 0 h 528"/>
                <a:gd name="T2" fmla="*/ 528 w 632"/>
                <a:gd name="T3" fmla="*/ 240 h 528"/>
                <a:gd name="T4" fmla="*/ 0 w 632"/>
                <a:gd name="T5" fmla="*/ 528 h 528"/>
                <a:gd name="T6" fmla="*/ 0 60000 65536"/>
                <a:gd name="T7" fmla="*/ 0 60000 65536"/>
                <a:gd name="T8" fmla="*/ 0 60000 65536"/>
              </a:gdLst>
              <a:ahLst/>
              <a:cxnLst>
                <a:cxn ang="T6">
                  <a:pos x="T0" y="T1"/>
                </a:cxn>
                <a:cxn ang="T7">
                  <a:pos x="T2" y="T3"/>
                </a:cxn>
                <a:cxn ang="T8">
                  <a:pos x="T4" y="T5"/>
                </a:cxn>
              </a:cxnLst>
              <a:rect l="0" t="0" r="r" b="b"/>
              <a:pathLst>
                <a:path w="632" h="528">
                  <a:moveTo>
                    <a:pt x="624" y="0"/>
                  </a:moveTo>
                  <a:cubicBezTo>
                    <a:pt x="628" y="76"/>
                    <a:pt x="632" y="152"/>
                    <a:pt x="528" y="240"/>
                  </a:cubicBezTo>
                  <a:cubicBezTo>
                    <a:pt x="424" y="328"/>
                    <a:pt x="212" y="428"/>
                    <a:pt x="0" y="528"/>
                  </a:cubicBezTo>
                </a:path>
              </a:pathLst>
            </a:custGeom>
            <a:noFill/>
            <a:ln w="63500" cap="flat" cmpd="sng">
              <a:solidFill>
                <a:srgbClr val="990000"/>
              </a:solidFill>
              <a:prstDash val="solid"/>
              <a:round/>
              <a:headEnd type="none" w="med" len="me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97291" name="Text Box 11"/>
          <p:cNvSpPr txBox="1">
            <a:spLocks noChangeArrowheads="1"/>
          </p:cNvSpPr>
          <p:nvPr/>
        </p:nvSpPr>
        <p:spPr bwMode="auto">
          <a:xfrm>
            <a:off x="228600" y="4953000"/>
            <a:ext cx="8686800"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sz="2000" b="1">
                <a:solidFill>
                  <a:schemeClr val="hlink"/>
                </a:solidFill>
              </a:rPr>
              <a:t>Step 3: LEARN and APPLY the following 3 points:</a:t>
            </a:r>
          </a:p>
          <a:p>
            <a:pPr algn="ctr" eaLnBrk="1" hangingPunct="1">
              <a:spcBef>
                <a:spcPct val="50000"/>
              </a:spcBef>
              <a:buFontTx/>
              <a:buAutoNum type="arabicParenR"/>
            </a:pPr>
            <a:r>
              <a:rPr lang="en-GB" sz="2000"/>
              <a:t>48g of Mg makes 80g of MgO</a:t>
            </a:r>
          </a:p>
          <a:p>
            <a:pPr algn="ctr" eaLnBrk="1" hangingPunct="1">
              <a:spcBef>
                <a:spcPct val="50000"/>
              </a:spcBef>
              <a:buFontTx/>
              <a:buAutoNum type="arabicParenR"/>
            </a:pPr>
            <a:r>
              <a:rPr lang="en-GB" sz="2000"/>
              <a:t>1g of Mg makes 80/48 = 1.66g of MgO</a:t>
            </a:r>
          </a:p>
          <a:p>
            <a:pPr algn="ctr" eaLnBrk="1" hangingPunct="1">
              <a:spcBef>
                <a:spcPct val="50000"/>
              </a:spcBef>
              <a:buFontTx/>
              <a:buAutoNum type="arabicParenR"/>
            </a:pPr>
            <a:r>
              <a:rPr lang="en-GB" sz="2000"/>
              <a:t>60g of Mg makes 1.66 x 60 = 100g of MgO</a:t>
            </a:r>
            <a:endParaRPr lang="en-GB"/>
          </a:p>
        </p:txBody>
      </p:sp>
      <p:sp>
        <p:nvSpPr>
          <p:cNvPr id="97292" name="Text Box 12"/>
          <p:cNvSpPr txBox="1">
            <a:spLocks noChangeArrowheads="1"/>
          </p:cNvSpPr>
          <p:nvPr/>
        </p:nvSpPr>
        <p:spPr bwMode="auto">
          <a:xfrm>
            <a:off x="228600" y="3733800"/>
            <a:ext cx="8915400" cy="140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sz="2000" b="1">
                <a:solidFill>
                  <a:schemeClr val="hlink"/>
                </a:solidFill>
              </a:rPr>
              <a:t>Step 2: WORK OUT the relative formula masses (M</a:t>
            </a:r>
            <a:r>
              <a:rPr lang="en-GB" sz="2000" b="1" baseline="-25000">
                <a:solidFill>
                  <a:schemeClr val="hlink"/>
                </a:solidFill>
              </a:rPr>
              <a:t>r</a:t>
            </a:r>
            <a:r>
              <a:rPr lang="en-GB" sz="2000" b="1">
                <a:solidFill>
                  <a:schemeClr val="hlink"/>
                </a:solidFill>
              </a:rPr>
              <a:t>):</a:t>
            </a:r>
          </a:p>
          <a:p>
            <a:pPr algn="ctr" eaLnBrk="1" hangingPunct="1">
              <a:spcBef>
                <a:spcPct val="50000"/>
              </a:spcBef>
            </a:pPr>
            <a:r>
              <a:rPr lang="en-GB" sz="2000"/>
              <a:t>2Mg = 2 x 24 = 48       	 2MgO = 2 x (24+16) = 80</a:t>
            </a:r>
          </a:p>
          <a:p>
            <a:pPr eaLnBrk="1" hangingPunct="1">
              <a:spcBef>
                <a:spcPct val="50000"/>
              </a:spcBef>
            </a:pPr>
            <a:endParaRPr lang="en-GB"/>
          </a:p>
        </p:txBody>
      </p:sp>
    </p:spTree>
    <p:extLst>
      <p:ext uri="{BB962C8B-B14F-4D97-AF65-F5344CB8AC3E}">
        <p14:creationId xmlns:p14="http://schemas.microsoft.com/office/powerpoint/2010/main" val="37893745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7283"/>
                                        </p:tgtEl>
                                        <p:attrNameLst>
                                          <p:attrName>style.visibility</p:attrName>
                                        </p:attrNameLst>
                                      </p:cBhvr>
                                      <p:to>
                                        <p:strVal val="visible"/>
                                      </p:to>
                                    </p:set>
                                    <p:animEffect transition="in" filter="wipe(left)">
                                      <p:cBhvr>
                                        <p:cTn id="7" dur="500"/>
                                        <p:tgtEl>
                                          <p:spTgt spid="972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7284"/>
                                        </p:tgtEl>
                                        <p:attrNameLst>
                                          <p:attrName>style.visibility</p:attrName>
                                        </p:attrNameLst>
                                      </p:cBhvr>
                                      <p:to>
                                        <p:strVal val="visible"/>
                                      </p:to>
                                    </p:set>
                                    <p:animEffect transition="in" filter="wipe(left)">
                                      <p:cBhvr>
                                        <p:cTn id="12" dur="500"/>
                                        <p:tgtEl>
                                          <p:spTgt spid="9728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7292">
                                            <p:txEl>
                                              <p:pRg st="0" end="0"/>
                                            </p:txEl>
                                          </p:spTgt>
                                        </p:tgtEl>
                                        <p:attrNameLst>
                                          <p:attrName>style.visibility</p:attrName>
                                        </p:attrNameLst>
                                      </p:cBhvr>
                                      <p:to>
                                        <p:strVal val="visible"/>
                                      </p:to>
                                    </p:set>
                                    <p:animEffect transition="in" filter="wipe(left)">
                                      <p:cBhvr>
                                        <p:cTn id="17" dur="500"/>
                                        <p:tgtEl>
                                          <p:spTgt spid="97292">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7292">
                                            <p:txEl>
                                              <p:pRg st="1" end="1"/>
                                            </p:txEl>
                                          </p:spTgt>
                                        </p:tgtEl>
                                        <p:attrNameLst>
                                          <p:attrName>style.visibility</p:attrName>
                                        </p:attrNameLst>
                                      </p:cBhvr>
                                      <p:to>
                                        <p:strVal val="visible"/>
                                      </p:to>
                                    </p:set>
                                    <p:animEffect transition="in" filter="wipe(left)">
                                      <p:cBhvr>
                                        <p:cTn id="22" dur="500"/>
                                        <p:tgtEl>
                                          <p:spTgt spid="97292">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nodeType="clickEffect">
                                  <p:stCondLst>
                                    <p:cond delay="0"/>
                                  </p:stCondLst>
                                  <p:childTnLst>
                                    <p:set>
                                      <p:cBhvr>
                                        <p:cTn id="26" dur="1" fill="hold">
                                          <p:stCondLst>
                                            <p:cond delay="0"/>
                                          </p:stCondLst>
                                        </p:cTn>
                                        <p:tgtEl>
                                          <p:spTgt spid="97287"/>
                                        </p:tgtEl>
                                        <p:attrNameLst>
                                          <p:attrName>style.visibility</p:attrName>
                                        </p:attrNameLst>
                                      </p:cBhvr>
                                      <p:to>
                                        <p:strVal val="visible"/>
                                      </p:to>
                                    </p:set>
                                    <p:anim calcmode="lin" valueType="num">
                                      <p:cBhvr additive="base">
                                        <p:cTn id="27" dur="500" fill="hold"/>
                                        <p:tgtEl>
                                          <p:spTgt spid="97287"/>
                                        </p:tgtEl>
                                        <p:attrNameLst>
                                          <p:attrName>ppt_x</p:attrName>
                                        </p:attrNameLst>
                                      </p:cBhvr>
                                      <p:tavLst>
                                        <p:tav tm="0">
                                          <p:val>
                                            <p:strVal val="1+#ppt_w/2"/>
                                          </p:val>
                                        </p:tav>
                                        <p:tav tm="100000">
                                          <p:val>
                                            <p:strVal val="#ppt_x"/>
                                          </p:val>
                                        </p:tav>
                                      </p:tavLst>
                                    </p:anim>
                                    <p:anim calcmode="lin" valueType="num">
                                      <p:cBhvr additive="base">
                                        <p:cTn id="28" dur="500" fill="hold"/>
                                        <p:tgtEl>
                                          <p:spTgt spid="97287"/>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97291">
                                            <p:txEl>
                                              <p:pRg st="0" end="0"/>
                                            </p:txEl>
                                          </p:spTgt>
                                        </p:tgtEl>
                                        <p:attrNameLst>
                                          <p:attrName>style.visibility</p:attrName>
                                        </p:attrNameLst>
                                      </p:cBhvr>
                                      <p:to>
                                        <p:strVal val="visible"/>
                                      </p:to>
                                    </p:set>
                                    <p:animEffect transition="in" filter="wipe(left)">
                                      <p:cBhvr>
                                        <p:cTn id="33" dur="500"/>
                                        <p:tgtEl>
                                          <p:spTgt spid="97291">
                                            <p:txEl>
                                              <p:pRg st="0" end="0"/>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97291">
                                            <p:txEl>
                                              <p:pRg st="1" end="1"/>
                                            </p:txEl>
                                          </p:spTgt>
                                        </p:tgtEl>
                                        <p:attrNameLst>
                                          <p:attrName>style.visibility</p:attrName>
                                        </p:attrNameLst>
                                      </p:cBhvr>
                                      <p:to>
                                        <p:strVal val="visible"/>
                                      </p:to>
                                    </p:set>
                                    <p:animEffect transition="in" filter="wipe(left)">
                                      <p:cBhvr>
                                        <p:cTn id="38" dur="500"/>
                                        <p:tgtEl>
                                          <p:spTgt spid="97291">
                                            <p:txEl>
                                              <p:pRg st="1" end="1"/>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97291">
                                            <p:txEl>
                                              <p:pRg st="2" end="2"/>
                                            </p:txEl>
                                          </p:spTgt>
                                        </p:tgtEl>
                                        <p:attrNameLst>
                                          <p:attrName>style.visibility</p:attrName>
                                        </p:attrNameLst>
                                      </p:cBhvr>
                                      <p:to>
                                        <p:strVal val="visible"/>
                                      </p:to>
                                    </p:set>
                                    <p:animEffect transition="in" filter="wipe(left)">
                                      <p:cBhvr>
                                        <p:cTn id="43" dur="500"/>
                                        <p:tgtEl>
                                          <p:spTgt spid="97291">
                                            <p:txEl>
                                              <p:pRg st="2" end="2"/>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97291">
                                            <p:txEl>
                                              <p:pRg st="3" end="3"/>
                                            </p:txEl>
                                          </p:spTgt>
                                        </p:tgtEl>
                                        <p:attrNameLst>
                                          <p:attrName>style.visibility</p:attrName>
                                        </p:attrNameLst>
                                      </p:cBhvr>
                                      <p:to>
                                        <p:strVal val="visible"/>
                                      </p:to>
                                    </p:set>
                                    <p:animEffect transition="in" filter="wipe(left)">
                                      <p:cBhvr>
                                        <p:cTn id="48" dur="500"/>
                                        <p:tgtEl>
                                          <p:spTgt spid="972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autoUpdateAnimBg="0"/>
      <p:bldP spid="97291" grpId="0" build="p" autoUpdateAnimBg="0"/>
      <p:bldP spid="97292" grpId="0" build="p"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2"/>
          <p:cNvSpPr>
            <a:spLocks noGrp="1"/>
          </p:cNvSpPr>
          <p:nvPr>
            <p:ph type="dt" sz="quarter" idx="10"/>
          </p:nvPr>
        </p:nvSpPr>
        <p:spPr>
          <a:noFill/>
        </p:spPr>
        <p:txBody>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fld id="{0ECFBCBF-C040-4A07-8602-E30F4A3C4884}" type="datetime1">
              <a:rPr lang="en-GB" sz="1800" smtClean="0">
                <a:solidFill>
                  <a:schemeClr val="folHlink"/>
                </a:solidFill>
              </a:rPr>
              <a:pPr eaLnBrk="1" hangingPunct="1"/>
              <a:t>02/06/2020</a:t>
            </a:fld>
            <a:endParaRPr lang="en-GB" sz="1800">
              <a:solidFill>
                <a:schemeClr val="folHlink"/>
              </a:solidFill>
            </a:endParaRPr>
          </a:p>
        </p:txBody>
      </p:sp>
      <p:sp>
        <p:nvSpPr>
          <p:cNvPr id="98306" name="Text Box 2"/>
          <p:cNvSpPr txBox="1">
            <a:spLocks noChangeArrowheads="1"/>
          </p:cNvSpPr>
          <p:nvPr/>
        </p:nvSpPr>
        <p:spPr bwMode="auto">
          <a:xfrm>
            <a:off x="76200" y="1268413"/>
            <a:ext cx="8915400"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bg1"/>
                </a:solidFill>
                <a:latin typeface="Comic Sans MS" pitchFamily="66" charset="0"/>
              </a:defRPr>
            </a:lvl1pPr>
            <a:lvl2pPr marL="914400" indent="-45720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sz="2000"/>
              <a:t>	</a:t>
            </a:r>
            <a:r>
              <a:rPr lang="en-GB" sz="2000" i="1">
                <a:solidFill>
                  <a:srgbClr val="FFFF99"/>
                </a:solidFill>
              </a:rPr>
              <a:t>Work out M</a:t>
            </a:r>
            <a:r>
              <a:rPr lang="en-GB" sz="2000" i="1" baseline="-25000">
                <a:solidFill>
                  <a:srgbClr val="FFFF99"/>
                </a:solidFill>
              </a:rPr>
              <a:t>r</a:t>
            </a:r>
            <a:r>
              <a:rPr lang="en-GB" sz="2000" i="1">
                <a:solidFill>
                  <a:srgbClr val="FFFF99"/>
                </a:solidFill>
              </a:rPr>
              <a:t>:    2H</a:t>
            </a:r>
            <a:r>
              <a:rPr lang="en-GB" sz="2000" i="1" baseline="-25000">
                <a:solidFill>
                  <a:srgbClr val="FFFF99"/>
                </a:solidFill>
              </a:rPr>
              <a:t>2</a:t>
            </a:r>
            <a:r>
              <a:rPr lang="en-GB" sz="2000" i="1">
                <a:solidFill>
                  <a:srgbClr val="FFFF99"/>
                </a:solidFill>
              </a:rPr>
              <a:t>O = 2 x ((2x1)+16) = 36              2H</a:t>
            </a:r>
            <a:r>
              <a:rPr lang="en-GB" sz="2000" i="1" baseline="-25000">
                <a:solidFill>
                  <a:srgbClr val="FFFF99"/>
                </a:solidFill>
              </a:rPr>
              <a:t>2</a:t>
            </a:r>
            <a:r>
              <a:rPr lang="en-GB" sz="2000" i="1">
                <a:solidFill>
                  <a:srgbClr val="FFFF99"/>
                </a:solidFill>
              </a:rPr>
              <a:t> = 2x2 = 4</a:t>
            </a:r>
          </a:p>
          <a:p>
            <a:pPr lvl="1" eaLnBrk="1" hangingPunct="1">
              <a:spcBef>
                <a:spcPct val="50000"/>
              </a:spcBef>
              <a:buFontTx/>
              <a:buAutoNum type="arabicPeriod"/>
            </a:pPr>
            <a:r>
              <a:rPr lang="en-GB" sz="2000"/>
              <a:t>36g of water produces 4g of hydrogen</a:t>
            </a:r>
          </a:p>
          <a:p>
            <a:pPr lvl="1" eaLnBrk="1" hangingPunct="1">
              <a:spcBef>
                <a:spcPct val="50000"/>
              </a:spcBef>
              <a:buFontTx/>
              <a:buAutoNum type="arabicPeriod"/>
            </a:pPr>
            <a:r>
              <a:rPr lang="en-GB" sz="2000"/>
              <a:t>So 1g of water produces 4/36 = 0.11g of hydrogen</a:t>
            </a:r>
          </a:p>
          <a:p>
            <a:pPr lvl="1" eaLnBrk="1" hangingPunct="1">
              <a:spcBef>
                <a:spcPct val="50000"/>
              </a:spcBef>
              <a:buFontTx/>
              <a:buAutoNum type="arabicPeriod"/>
            </a:pPr>
            <a:r>
              <a:rPr lang="en-GB" sz="2000"/>
              <a:t>6g of water will produce (4/36) x 6 = </a:t>
            </a:r>
            <a:r>
              <a:rPr lang="en-GB" sz="2000" b="1" u="sng"/>
              <a:t>0.66g of hydrogen</a:t>
            </a:r>
          </a:p>
        </p:txBody>
      </p:sp>
      <p:sp>
        <p:nvSpPr>
          <p:cNvPr id="98307" name="Text Box 3"/>
          <p:cNvSpPr txBox="1">
            <a:spLocks noChangeArrowheads="1"/>
          </p:cNvSpPr>
          <p:nvPr/>
        </p:nvSpPr>
        <p:spPr bwMode="auto">
          <a:xfrm>
            <a:off x="76200" y="4051300"/>
            <a:ext cx="8991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400">
                <a:solidFill>
                  <a:schemeClr val="bg1"/>
                </a:solidFill>
                <a:latin typeface="Comic Sans MS" pitchFamily="66" charset="0"/>
              </a:defRPr>
            </a:lvl1pPr>
            <a:lvl2pPr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lvl="1" eaLnBrk="1" hangingPunct="1">
              <a:spcBef>
                <a:spcPct val="50000"/>
              </a:spcBef>
            </a:pPr>
            <a:r>
              <a:rPr lang="en-GB" sz="2000" i="1">
                <a:solidFill>
                  <a:srgbClr val="FFFF99"/>
                </a:solidFill>
              </a:rPr>
              <a:t>M</a:t>
            </a:r>
            <a:r>
              <a:rPr lang="en-GB" sz="2000" i="1" baseline="-25000">
                <a:solidFill>
                  <a:srgbClr val="FFFF99"/>
                </a:solidFill>
              </a:rPr>
              <a:t>r</a:t>
            </a:r>
            <a:r>
              <a:rPr lang="en-GB" sz="2000" i="1">
                <a:solidFill>
                  <a:srgbClr val="FFFF99"/>
                </a:solidFill>
              </a:rPr>
              <a:t>: 2Ca = 2x40 = 80                                 2CaO = 2 x (40+16) = 112</a:t>
            </a:r>
          </a:p>
          <a:p>
            <a:pPr lvl="1" eaLnBrk="1" hangingPunct="1">
              <a:spcBef>
                <a:spcPct val="50000"/>
              </a:spcBef>
            </a:pPr>
            <a:r>
              <a:rPr lang="en-GB" sz="2000"/>
              <a:t>80g produces 112g so 10g produces (112/80) x 10 =</a:t>
            </a:r>
            <a:r>
              <a:rPr lang="en-GB" sz="2000" b="1"/>
              <a:t> </a:t>
            </a:r>
            <a:r>
              <a:rPr lang="en-GB" sz="2000" b="1" u="sng"/>
              <a:t>14g of CaO</a:t>
            </a:r>
          </a:p>
        </p:txBody>
      </p:sp>
      <p:sp>
        <p:nvSpPr>
          <p:cNvPr id="98308" name="Text Box 4"/>
          <p:cNvSpPr txBox="1">
            <a:spLocks noChangeArrowheads="1"/>
          </p:cNvSpPr>
          <p:nvPr/>
        </p:nvSpPr>
        <p:spPr bwMode="auto">
          <a:xfrm>
            <a:off x="76200" y="6019800"/>
            <a:ext cx="8991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algn="ctr" eaLnBrk="1" hangingPunct="1">
              <a:spcBef>
                <a:spcPct val="50000"/>
              </a:spcBef>
            </a:pPr>
            <a:r>
              <a:rPr lang="en-GB" sz="2000" i="1">
                <a:solidFill>
                  <a:srgbClr val="FFFF99"/>
                </a:solidFill>
              </a:rPr>
              <a:t>M</a:t>
            </a:r>
            <a:r>
              <a:rPr lang="en-GB" sz="2000" i="1" baseline="-25000">
                <a:solidFill>
                  <a:srgbClr val="FFFF99"/>
                </a:solidFill>
              </a:rPr>
              <a:t>r</a:t>
            </a:r>
            <a:r>
              <a:rPr lang="en-GB" sz="2000" i="1">
                <a:solidFill>
                  <a:srgbClr val="FFFF99"/>
                </a:solidFill>
              </a:rPr>
              <a:t>:  2Al</a:t>
            </a:r>
            <a:r>
              <a:rPr lang="en-GB" sz="2000" i="1" baseline="-25000">
                <a:solidFill>
                  <a:srgbClr val="FFFF99"/>
                </a:solidFill>
              </a:rPr>
              <a:t>2</a:t>
            </a:r>
            <a:r>
              <a:rPr lang="en-GB" sz="2000" i="1">
                <a:solidFill>
                  <a:srgbClr val="FFFF99"/>
                </a:solidFill>
              </a:rPr>
              <a:t>O</a:t>
            </a:r>
            <a:r>
              <a:rPr lang="en-GB" sz="2000" i="1" baseline="-25000">
                <a:solidFill>
                  <a:srgbClr val="FFFF99"/>
                </a:solidFill>
              </a:rPr>
              <a:t>3</a:t>
            </a:r>
            <a:r>
              <a:rPr lang="en-GB" sz="2000" i="1">
                <a:solidFill>
                  <a:srgbClr val="FFFF99"/>
                </a:solidFill>
              </a:rPr>
              <a:t> = 2x((2x27)+(3x16)) = 204        4Al = 4x27 = 108</a:t>
            </a:r>
          </a:p>
          <a:p>
            <a:pPr eaLnBrk="1" hangingPunct="1">
              <a:spcBef>
                <a:spcPct val="50000"/>
              </a:spcBef>
            </a:pPr>
            <a:r>
              <a:rPr lang="en-GB" sz="2000"/>
              <a:t>204g produces 108g so 100g produces (108/204) x 100 =</a:t>
            </a:r>
            <a:r>
              <a:rPr lang="en-GB" sz="2000" b="1"/>
              <a:t> </a:t>
            </a:r>
            <a:r>
              <a:rPr lang="en-GB" sz="2000" b="1" u="sng"/>
              <a:t>52.9g of Al</a:t>
            </a:r>
            <a:r>
              <a:rPr lang="en-GB" sz="2000" b="1" u="sng" baseline="-25000"/>
              <a:t>2</a:t>
            </a:r>
            <a:r>
              <a:rPr lang="en-GB" sz="2000" b="1" u="sng"/>
              <a:t>O</a:t>
            </a:r>
            <a:r>
              <a:rPr lang="en-GB" sz="2000" b="1" u="sng" baseline="-25000"/>
              <a:t>3</a:t>
            </a:r>
          </a:p>
        </p:txBody>
      </p:sp>
      <p:grpSp>
        <p:nvGrpSpPr>
          <p:cNvPr id="98309" name="Group 5"/>
          <p:cNvGrpSpPr>
            <a:grpSpLocks/>
          </p:cNvGrpSpPr>
          <p:nvPr/>
        </p:nvGrpSpPr>
        <p:grpSpPr bwMode="auto">
          <a:xfrm>
            <a:off x="0" y="0"/>
            <a:ext cx="9144000" cy="1311275"/>
            <a:chOff x="0" y="0"/>
            <a:chExt cx="5760" cy="826"/>
          </a:xfrm>
        </p:grpSpPr>
        <p:sp>
          <p:nvSpPr>
            <p:cNvPr id="55309" name="Text Box 6"/>
            <p:cNvSpPr txBox="1">
              <a:spLocks noChangeArrowheads="1"/>
            </p:cNvSpPr>
            <p:nvPr/>
          </p:nvSpPr>
          <p:spPr bwMode="auto">
            <a:xfrm>
              <a:off x="0" y="0"/>
              <a:ext cx="5760" cy="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buFontTx/>
                <a:buAutoNum type="arabicParenR"/>
              </a:pPr>
              <a:r>
                <a:rPr lang="en-GB" sz="2000">
                  <a:solidFill>
                    <a:schemeClr val="hlink"/>
                  </a:solidFill>
                </a:rPr>
                <a:t>When water is electrolysed it breaks down into hydrogen and oxygen:</a:t>
              </a:r>
            </a:p>
            <a:p>
              <a:pPr algn="ctr" eaLnBrk="1" hangingPunct="1">
                <a:spcBef>
                  <a:spcPct val="50000"/>
                </a:spcBef>
              </a:pPr>
              <a:r>
                <a:rPr lang="en-GB" sz="2000">
                  <a:solidFill>
                    <a:srgbClr val="99FFCC"/>
                  </a:solidFill>
                </a:rPr>
                <a:t>2H</a:t>
              </a:r>
              <a:r>
                <a:rPr lang="en-GB" sz="2000" baseline="-25000">
                  <a:solidFill>
                    <a:srgbClr val="99FFCC"/>
                  </a:solidFill>
                </a:rPr>
                <a:t>2</a:t>
              </a:r>
              <a:r>
                <a:rPr lang="en-GB" sz="2000">
                  <a:solidFill>
                    <a:srgbClr val="99FFCC"/>
                  </a:solidFill>
                </a:rPr>
                <a:t>O                  2H</a:t>
              </a:r>
              <a:r>
                <a:rPr lang="en-GB" sz="2000" baseline="-25000">
                  <a:solidFill>
                    <a:srgbClr val="99FFCC"/>
                  </a:solidFill>
                </a:rPr>
                <a:t>2</a:t>
              </a:r>
              <a:r>
                <a:rPr lang="en-GB" sz="2000">
                  <a:solidFill>
                    <a:srgbClr val="99FFCC"/>
                  </a:solidFill>
                </a:rPr>
                <a:t> + O</a:t>
              </a:r>
              <a:r>
                <a:rPr lang="en-GB" sz="2000" baseline="-25000">
                  <a:solidFill>
                    <a:srgbClr val="99FFCC"/>
                  </a:solidFill>
                </a:rPr>
                <a:t>2</a:t>
              </a:r>
            </a:p>
            <a:p>
              <a:pPr eaLnBrk="1" hangingPunct="1">
                <a:spcBef>
                  <a:spcPct val="50000"/>
                </a:spcBef>
              </a:pPr>
              <a:r>
                <a:rPr lang="en-GB" sz="2000">
                  <a:solidFill>
                    <a:schemeClr val="hlink"/>
                  </a:solidFill>
                </a:rPr>
                <a:t>What mass of hydrogen is produced by the electrolysis of 6g of water?</a:t>
              </a:r>
            </a:p>
          </p:txBody>
        </p:sp>
        <p:sp>
          <p:nvSpPr>
            <p:cNvPr id="55310" name="Line 7"/>
            <p:cNvSpPr>
              <a:spLocks noChangeShapeType="1"/>
            </p:cNvSpPr>
            <p:nvPr/>
          </p:nvSpPr>
          <p:spPr bwMode="auto">
            <a:xfrm>
              <a:off x="2400" y="384"/>
              <a:ext cx="720" cy="0"/>
            </a:xfrm>
            <a:prstGeom prst="line">
              <a:avLst/>
            </a:prstGeom>
            <a:noFill/>
            <a:ln w="38100">
              <a:solidFill>
                <a:srgbClr val="99FF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98312" name="Group 8"/>
          <p:cNvGrpSpPr>
            <a:grpSpLocks/>
          </p:cNvGrpSpPr>
          <p:nvPr/>
        </p:nvGrpSpPr>
        <p:grpSpPr bwMode="auto">
          <a:xfrm>
            <a:off x="0" y="5181600"/>
            <a:ext cx="9144000" cy="854075"/>
            <a:chOff x="0" y="3264"/>
            <a:chExt cx="5760" cy="538"/>
          </a:xfrm>
        </p:grpSpPr>
        <p:sp>
          <p:nvSpPr>
            <p:cNvPr id="55307" name="Text Box 9"/>
            <p:cNvSpPr txBox="1">
              <a:spLocks noChangeArrowheads="1"/>
            </p:cNvSpPr>
            <p:nvPr/>
          </p:nvSpPr>
          <p:spPr bwMode="auto">
            <a:xfrm>
              <a:off x="0" y="3264"/>
              <a:ext cx="5760"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sz="2000">
                  <a:solidFill>
                    <a:schemeClr val="hlink"/>
                  </a:solidFill>
                </a:rPr>
                <a:t>3)  What mass of aluminium is produced from 100g of aluminium oxide?</a:t>
              </a:r>
            </a:p>
            <a:p>
              <a:pPr algn="ctr" eaLnBrk="1" hangingPunct="1">
                <a:spcBef>
                  <a:spcPct val="50000"/>
                </a:spcBef>
              </a:pPr>
              <a:r>
                <a:rPr lang="en-GB" sz="2000">
                  <a:solidFill>
                    <a:srgbClr val="99FFCC"/>
                  </a:solidFill>
                </a:rPr>
                <a:t>2Al</a:t>
              </a:r>
              <a:r>
                <a:rPr lang="en-GB" sz="2000" baseline="-25000">
                  <a:solidFill>
                    <a:srgbClr val="99FFCC"/>
                  </a:solidFill>
                </a:rPr>
                <a:t>2</a:t>
              </a:r>
              <a:r>
                <a:rPr lang="en-GB" sz="2000">
                  <a:solidFill>
                    <a:srgbClr val="99FFCC"/>
                  </a:solidFill>
                </a:rPr>
                <a:t>O</a:t>
              </a:r>
              <a:r>
                <a:rPr lang="en-GB" sz="2000" baseline="-25000">
                  <a:solidFill>
                    <a:srgbClr val="99FFCC"/>
                  </a:solidFill>
                </a:rPr>
                <a:t>3       </a:t>
              </a:r>
              <a:r>
                <a:rPr lang="en-GB" sz="2000">
                  <a:solidFill>
                    <a:srgbClr val="99FFCC"/>
                  </a:solidFill>
                </a:rPr>
                <a:t>              4Al + 3O</a:t>
              </a:r>
              <a:r>
                <a:rPr lang="en-GB" sz="2000" baseline="-25000">
                  <a:solidFill>
                    <a:srgbClr val="99FFCC"/>
                  </a:solidFill>
                </a:rPr>
                <a:t>2</a:t>
              </a:r>
            </a:p>
          </p:txBody>
        </p:sp>
        <p:sp>
          <p:nvSpPr>
            <p:cNvPr id="55308" name="Line 10"/>
            <p:cNvSpPr>
              <a:spLocks noChangeShapeType="1"/>
            </p:cNvSpPr>
            <p:nvPr/>
          </p:nvSpPr>
          <p:spPr bwMode="auto">
            <a:xfrm>
              <a:off x="2400" y="3648"/>
              <a:ext cx="720" cy="0"/>
            </a:xfrm>
            <a:prstGeom prst="line">
              <a:avLst/>
            </a:prstGeom>
            <a:noFill/>
            <a:ln w="38100">
              <a:solidFill>
                <a:srgbClr val="99FF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98315" name="Group 11"/>
          <p:cNvGrpSpPr>
            <a:grpSpLocks/>
          </p:cNvGrpSpPr>
          <p:nvPr/>
        </p:nvGrpSpPr>
        <p:grpSpPr bwMode="auto">
          <a:xfrm>
            <a:off x="0" y="3213100"/>
            <a:ext cx="9144000" cy="854075"/>
            <a:chOff x="0" y="1920"/>
            <a:chExt cx="5760" cy="538"/>
          </a:xfrm>
        </p:grpSpPr>
        <p:sp>
          <p:nvSpPr>
            <p:cNvPr id="55305" name="Text Box 12"/>
            <p:cNvSpPr txBox="1">
              <a:spLocks noChangeArrowheads="1"/>
            </p:cNvSpPr>
            <p:nvPr/>
          </p:nvSpPr>
          <p:spPr bwMode="auto">
            <a:xfrm>
              <a:off x="0" y="1920"/>
              <a:ext cx="5760"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sz="2000">
                  <a:solidFill>
                    <a:schemeClr val="hlink"/>
                  </a:solidFill>
                </a:rPr>
                <a:t>2)  What mass of calcium oxide is produced when 10g of calcium burns?</a:t>
              </a:r>
            </a:p>
            <a:p>
              <a:pPr algn="ctr" eaLnBrk="1" hangingPunct="1">
                <a:spcBef>
                  <a:spcPct val="50000"/>
                </a:spcBef>
              </a:pPr>
              <a:r>
                <a:rPr lang="en-GB" sz="2000">
                  <a:solidFill>
                    <a:srgbClr val="99FFCC"/>
                  </a:solidFill>
                </a:rPr>
                <a:t>2Ca + O</a:t>
              </a:r>
              <a:r>
                <a:rPr lang="en-GB" sz="2000" baseline="-25000">
                  <a:solidFill>
                    <a:srgbClr val="99FFCC"/>
                  </a:solidFill>
                </a:rPr>
                <a:t>2     </a:t>
              </a:r>
              <a:r>
                <a:rPr lang="en-GB" sz="2000">
                  <a:solidFill>
                    <a:srgbClr val="99FFCC"/>
                  </a:solidFill>
                </a:rPr>
                <a:t>                 2CaO</a:t>
              </a:r>
            </a:p>
          </p:txBody>
        </p:sp>
        <p:sp>
          <p:nvSpPr>
            <p:cNvPr id="55306" name="Line 13"/>
            <p:cNvSpPr>
              <a:spLocks noChangeShapeType="1"/>
            </p:cNvSpPr>
            <p:nvPr/>
          </p:nvSpPr>
          <p:spPr bwMode="auto">
            <a:xfrm>
              <a:off x="2688" y="2304"/>
              <a:ext cx="720" cy="0"/>
            </a:xfrm>
            <a:prstGeom prst="line">
              <a:avLst/>
            </a:prstGeom>
            <a:noFill/>
            <a:ln w="38100">
              <a:solidFill>
                <a:srgbClr val="99FF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Tree>
    <p:extLst>
      <p:ext uri="{BB962C8B-B14F-4D97-AF65-F5344CB8AC3E}">
        <p14:creationId xmlns:p14="http://schemas.microsoft.com/office/powerpoint/2010/main" val="25801029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8309"/>
                                        </p:tgtEl>
                                        <p:attrNameLst>
                                          <p:attrName>style.visibility</p:attrName>
                                        </p:attrNameLst>
                                      </p:cBhvr>
                                      <p:to>
                                        <p:strVal val="visible"/>
                                      </p:to>
                                    </p:set>
                                    <p:animEffect transition="in" filter="wipe(left)">
                                      <p:cBhvr>
                                        <p:cTn id="7" dur="500"/>
                                        <p:tgtEl>
                                          <p:spTgt spid="98309"/>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8315"/>
                                        </p:tgtEl>
                                        <p:attrNameLst>
                                          <p:attrName>style.visibility</p:attrName>
                                        </p:attrNameLst>
                                      </p:cBhvr>
                                      <p:to>
                                        <p:strVal val="visible"/>
                                      </p:to>
                                    </p:set>
                                    <p:animEffect transition="in" filter="wipe(left)">
                                      <p:cBhvr>
                                        <p:cTn id="11" dur="500"/>
                                        <p:tgtEl>
                                          <p:spTgt spid="98315"/>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98312"/>
                                        </p:tgtEl>
                                        <p:attrNameLst>
                                          <p:attrName>style.visibility</p:attrName>
                                        </p:attrNameLst>
                                      </p:cBhvr>
                                      <p:to>
                                        <p:strVal val="visible"/>
                                      </p:to>
                                    </p:set>
                                    <p:animEffect transition="in" filter="wipe(left)">
                                      <p:cBhvr>
                                        <p:cTn id="15" dur="500"/>
                                        <p:tgtEl>
                                          <p:spTgt spid="9831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98306">
                                            <p:txEl>
                                              <p:pRg st="0" end="0"/>
                                            </p:txEl>
                                          </p:spTgt>
                                        </p:tgtEl>
                                        <p:attrNameLst>
                                          <p:attrName>style.visibility</p:attrName>
                                        </p:attrNameLst>
                                      </p:cBhvr>
                                      <p:to>
                                        <p:strVal val="visible"/>
                                      </p:to>
                                    </p:set>
                                    <p:animEffect transition="in" filter="wipe(up)">
                                      <p:cBhvr>
                                        <p:cTn id="20" dur="500"/>
                                        <p:tgtEl>
                                          <p:spTgt spid="98306">
                                            <p:txEl>
                                              <p:pRg st="0" end="0"/>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98306">
                                            <p:txEl>
                                              <p:pRg st="1" end="1"/>
                                            </p:txEl>
                                          </p:spTgt>
                                        </p:tgtEl>
                                        <p:attrNameLst>
                                          <p:attrName>style.visibility</p:attrName>
                                        </p:attrNameLst>
                                      </p:cBhvr>
                                      <p:to>
                                        <p:strVal val="visible"/>
                                      </p:to>
                                    </p:set>
                                    <p:animEffect transition="in" filter="wipe(up)">
                                      <p:cBhvr>
                                        <p:cTn id="25" dur="500"/>
                                        <p:tgtEl>
                                          <p:spTgt spid="98306">
                                            <p:txEl>
                                              <p:pRg st="1" end="1"/>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98306">
                                            <p:txEl>
                                              <p:pRg st="2" end="2"/>
                                            </p:txEl>
                                          </p:spTgt>
                                        </p:tgtEl>
                                        <p:attrNameLst>
                                          <p:attrName>style.visibility</p:attrName>
                                        </p:attrNameLst>
                                      </p:cBhvr>
                                      <p:to>
                                        <p:strVal val="visible"/>
                                      </p:to>
                                    </p:set>
                                    <p:animEffect transition="in" filter="wipe(up)">
                                      <p:cBhvr>
                                        <p:cTn id="30" dur="500"/>
                                        <p:tgtEl>
                                          <p:spTgt spid="98306">
                                            <p:txEl>
                                              <p:pRg st="2" end="2"/>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98306">
                                            <p:txEl>
                                              <p:pRg st="3" end="3"/>
                                            </p:txEl>
                                          </p:spTgt>
                                        </p:tgtEl>
                                        <p:attrNameLst>
                                          <p:attrName>style.visibility</p:attrName>
                                        </p:attrNameLst>
                                      </p:cBhvr>
                                      <p:to>
                                        <p:strVal val="visible"/>
                                      </p:to>
                                    </p:set>
                                    <p:animEffect transition="in" filter="wipe(up)">
                                      <p:cBhvr>
                                        <p:cTn id="35" dur="500"/>
                                        <p:tgtEl>
                                          <p:spTgt spid="98306">
                                            <p:txEl>
                                              <p:pRg st="3" end="3"/>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98307">
                                            <p:txEl>
                                              <p:pRg st="0" end="0"/>
                                            </p:txEl>
                                          </p:spTgt>
                                        </p:tgtEl>
                                        <p:attrNameLst>
                                          <p:attrName>style.visibility</p:attrName>
                                        </p:attrNameLst>
                                      </p:cBhvr>
                                      <p:to>
                                        <p:strVal val="visible"/>
                                      </p:to>
                                    </p:set>
                                    <p:animEffect transition="in" filter="wipe(up)">
                                      <p:cBhvr>
                                        <p:cTn id="40" dur="500"/>
                                        <p:tgtEl>
                                          <p:spTgt spid="98307">
                                            <p:txEl>
                                              <p:pRg st="0" end="0"/>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98307">
                                            <p:txEl>
                                              <p:pRg st="1" end="1"/>
                                            </p:txEl>
                                          </p:spTgt>
                                        </p:tgtEl>
                                        <p:attrNameLst>
                                          <p:attrName>style.visibility</p:attrName>
                                        </p:attrNameLst>
                                      </p:cBhvr>
                                      <p:to>
                                        <p:strVal val="visible"/>
                                      </p:to>
                                    </p:set>
                                    <p:animEffect transition="in" filter="wipe(up)">
                                      <p:cBhvr>
                                        <p:cTn id="45" dur="500"/>
                                        <p:tgtEl>
                                          <p:spTgt spid="98307">
                                            <p:txEl>
                                              <p:pRg st="1" end="1"/>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98308">
                                            <p:txEl>
                                              <p:pRg st="0" end="0"/>
                                            </p:txEl>
                                          </p:spTgt>
                                        </p:tgtEl>
                                        <p:attrNameLst>
                                          <p:attrName>style.visibility</p:attrName>
                                        </p:attrNameLst>
                                      </p:cBhvr>
                                      <p:to>
                                        <p:strVal val="visible"/>
                                      </p:to>
                                    </p:set>
                                    <p:animEffect transition="in" filter="wipe(up)">
                                      <p:cBhvr>
                                        <p:cTn id="50" dur="500"/>
                                        <p:tgtEl>
                                          <p:spTgt spid="98308">
                                            <p:txEl>
                                              <p:pRg st="0" end="0"/>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98308">
                                            <p:txEl>
                                              <p:pRg st="1" end="1"/>
                                            </p:txEl>
                                          </p:spTgt>
                                        </p:tgtEl>
                                        <p:attrNameLst>
                                          <p:attrName>style.visibility</p:attrName>
                                        </p:attrNameLst>
                                      </p:cBhvr>
                                      <p:to>
                                        <p:strVal val="visible"/>
                                      </p:to>
                                    </p:set>
                                    <p:animEffect transition="in" filter="wipe(up)">
                                      <p:cBhvr>
                                        <p:cTn id="55" dur="500"/>
                                        <p:tgtEl>
                                          <p:spTgt spid="9830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 grpId="0" build="p" autoUpdateAnimBg="0"/>
      <p:bldP spid="98307" grpId="0" build="p" autoUpdateAnimBg="0"/>
      <p:bldP spid="98308" grpId="0" build="p"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Date Placeholder 3"/>
          <p:cNvSpPr>
            <a:spLocks noGrp="1"/>
          </p:cNvSpPr>
          <p:nvPr>
            <p:ph type="dt" sz="quarter" idx="10"/>
          </p:nvPr>
        </p:nvSpPr>
        <p:spPr>
          <a:noFill/>
        </p:spPr>
        <p:txBody>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eaLnBrk="1" hangingPunct="1"/>
            <a:fld id="{9196B874-BE02-4D37-8DD5-F88AC9D50E64}" type="datetime1">
              <a:rPr lang="en-GB" sz="1800" smtClean="0">
                <a:solidFill>
                  <a:schemeClr val="folHlink"/>
                </a:solidFill>
              </a:rPr>
              <a:pPr eaLnBrk="1" hangingPunct="1"/>
              <a:t>02/06/2020</a:t>
            </a:fld>
            <a:endParaRPr lang="en-GB" sz="1800">
              <a:solidFill>
                <a:schemeClr val="folHlink"/>
              </a:solidFill>
            </a:endParaRPr>
          </a:p>
        </p:txBody>
      </p:sp>
      <p:sp>
        <p:nvSpPr>
          <p:cNvPr id="236546" name="Rectangle 2"/>
          <p:cNvSpPr>
            <a:spLocks noGrp="1" noChangeArrowheads="1"/>
          </p:cNvSpPr>
          <p:nvPr>
            <p:ph type="title"/>
          </p:nvPr>
        </p:nvSpPr>
        <p:spPr/>
        <p:txBody>
          <a:bodyPr/>
          <a:lstStyle/>
          <a:p>
            <a:pPr eaLnBrk="1" hangingPunct="1">
              <a:defRPr/>
            </a:pPr>
            <a:r>
              <a:rPr lang="en-GB"/>
              <a:t>A note about volume…</a:t>
            </a:r>
          </a:p>
        </p:txBody>
      </p:sp>
      <p:sp>
        <p:nvSpPr>
          <p:cNvPr id="18436" name="Text Box 4"/>
          <p:cNvSpPr txBox="1">
            <a:spLocks noChangeArrowheads="1"/>
          </p:cNvSpPr>
          <p:nvPr/>
        </p:nvSpPr>
        <p:spPr bwMode="auto">
          <a:xfrm>
            <a:off x="0" y="908050"/>
            <a:ext cx="9144000" cy="8223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algn="l" eaLnBrk="1" hangingPunct="1">
              <a:spcBef>
                <a:spcPct val="50000"/>
              </a:spcBef>
            </a:pPr>
            <a:r>
              <a:rPr lang="en-GB">
                <a:solidFill>
                  <a:srgbClr val="CCECFF"/>
                </a:solidFill>
              </a:rPr>
              <a:t>The two most commonly used units of volume in chemistry are the cm</a:t>
            </a:r>
            <a:r>
              <a:rPr lang="en-GB" baseline="30000">
                <a:solidFill>
                  <a:srgbClr val="CCECFF"/>
                </a:solidFill>
              </a:rPr>
              <a:t>3</a:t>
            </a:r>
            <a:r>
              <a:rPr lang="en-GB">
                <a:solidFill>
                  <a:srgbClr val="CCECFF"/>
                </a:solidFill>
              </a:rPr>
              <a:t> and the dm</a:t>
            </a:r>
            <a:r>
              <a:rPr lang="en-GB" baseline="30000">
                <a:solidFill>
                  <a:srgbClr val="CCECFF"/>
                </a:solidFill>
              </a:rPr>
              <a:t>3</a:t>
            </a:r>
            <a:r>
              <a:rPr lang="en-GB">
                <a:solidFill>
                  <a:srgbClr val="CCECFF"/>
                </a:solidFill>
              </a:rPr>
              <a:t>:</a:t>
            </a:r>
          </a:p>
        </p:txBody>
      </p:sp>
      <p:grpSp>
        <p:nvGrpSpPr>
          <p:cNvPr id="18437" name="Group 3666"/>
          <p:cNvGrpSpPr>
            <a:grpSpLocks/>
          </p:cNvGrpSpPr>
          <p:nvPr/>
        </p:nvGrpSpPr>
        <p:grpSpPr bwMode="auto">
          <a:xfrm>
            <a:off x="185738" y="2663825"/>
            <a:ext cx="2427287" cy="850900"/>
            <a:chOff x="117" y="1678"/>
            <a:chExt cx="1529" cy="536"/>
          </a:xfrm>
        </p:grpSpPr>
        <p:sp>
          <p:nvSpPr>
            <p:cNvPr id="19452" name="AutoShape 5"/>
            <p:cNvSpPr>
              <a:spLocks noChangeArrowheads="1"/>
            </p:cNvSpPr>
            <p:nvPr/>
          </p:nvSpPr>
          <p:spPr bwMode="auto">
            <a:xfrm>
              <a:off x="812" y="1678"/>
              <a:ext cx="136" cy="136"/>
            </a:xfrm>
            <a:prstGeom prst="cube">
              <a:avLst>
                <a:gd name="adj" fmla="val 25000"/>
              </a:avLst>
            </a:prstGeom>
            <a:solidFill>
              <a:schemeClr val="bg1"/>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53" name="Text Box 3663"/>
            <p:cNvSpPr txBox="1">
              <a:spLocks noChangeArrowheads="1"/>
            </p:cNvSpPr>
            <p:nvPr/>
          </p:nvSpPr>
          <p:spPr bwMode="auto">
            <a:xfrm>
              <a:off x="117" y="1926"/>
              <a:ext cx="1529"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a:t>1cm</a:t>
              </a:r>
              <a:r>
                <a:rPr lang="en-GB" baseline="30000"/>
                <a:t>3</a:t>
              </a:r>
            </a:p>
          </p:txBody>
        </p:sp>
      </p:grpSp>
      <p:grpSp>
        <p:nvGrpSpPr>
          <p:cNvPr id="18438" name="Group 3667"/>
          <p:cNvGrpSpPr>
            <a:grpSpLocks/>
          </p:cNvGrpSpPr>
          <p:nvPr/>
        </p:nvGrpSpPr>
        <p:grpSpPr bwMode="auto">
          <a:xfrm>
            <a:off x="4878388" y="1889125"/>
            <a:ext cx="2720975" cy="2517775"/>
            <a:chOff x="3073" y="1190"/>
            <a:chExt cx="1714" cy="1586"/>
          </a:xfrm>
        </p:grpSpPr>
        <p:grpSp>
          <p:nvGrpSpPr>
            <p:cNvPr id="18440" name="Group 3662"/>
            <p:cNvGrpSpPr>
              <a:grpSpLocks/>
            </p:cNvGrpSpPr>
            <p:nvPr/>
          </p:nvGrpSpPr>
          <p:grpSpPr bwMode="auto">
            <a:xfrm>
              <a:off x="3434" y="1190"/>
              <a:ext cx="1171" cy="1220"/>
              <a:chOff x="2934" y="1752"/>
              <a:chExt cx="1171" cy="1220"/>
            </a:xfrm>
          </p:grpSpPr>
          <p:grpSp>
            <p:nvGrpSpPr>
              <p:cNvPr id="18442" name="Group 126"/>
              <p:cNvGrpSpPr>
                <a:grpSpLocks/>
              </p:cNvGrpSpPr>
              <p:nvPr/>
            </p:nvGrpSpPr>
            <p:grpSpPr bwMode="auto">
              <a:xfrm>
                <a:off x="3243" y="1752"/>
                <a:ext cx="862" cy="952"/>
                <a:chOff x="3243" y="1752"/>
                <a:chExt cx="862" cy="952"/>
              </a:xfrm>
            </p:grpSpPr>
            <p:sp>
              <p:nvSpPr>
                <p:cNvPr id="19352" name="AutoShape 6"/>
                <p:cNvSpPr>
                  <a:spLocks noChangeArrowheads="1"/>
                </p:cNvSpPr>
                <p:nvPr/>
              </p:nvSpPr>
              <p:spPr bwMode="auto">
                <a:xfrm>
                  <a:off x="3243"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53" name="AutoShape 7"/>
                <p:cNvSpPr>
                  <a:spLocks noChangeArrowheads="1"/>
                </p:cNvSpPr>
                <p:nvPr/>
              </p:nvSpPr>
              <p:spPr bwMode="auto">
                <a:xfrm>
                  <a:off x="3243"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54" name="AutoShape 8"/>
                <p:cNvSpPr>
                  <a:spLocks noChangeArrowheads="1"/>
                </p:cNvSpPr>
                <p:nvPr/>
              </p:nvSpPr>
              <p:spPr bwMode="auto">
                <a:xfrm>
                  <a:off x="3243"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55" name="AutoShape 9"/>
                <p:cNvSpPr>
                  <a:spLocks noChangeArrowheads="1"/>
                </p:cNvSpPr>
                <p:nvPr/>
              </p:nvSpPr>
              <p:spPr bwMode="auto">
                <a:xfrm>
                  <a:off x="3243"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56" name="AutoShape 10"/>
                <p:cNvSpPr>
                  <a:spLocks noChangeArrowheads="1"/>
                </p:cNvSpPr>
                <p:nvPr/>
              </p:nvSpPr>
              <p:spPr bwMode="auto">
                <a:xfrm>
                  <a:off x="3243"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57" name="AutoShape 13"/>
                <p:cNvSpPr>
                  <a:spLocks noChangeArrowheads="1"/>
                </p:cNvSpPr>
                <p:nvPr/>
              </p:nvSpPr>
              <p:spPr bwMode="auto">
                <a:xfrm>
                  <a:off x="3243"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58" name="AutoShape 11"/>
                <p:cNvSpPr>
                  <a:spLocks noChangeArrowheads="1"/>
                </p:cNvSpPr>
                <p:nvPr/>
              </p:nvSpPr>
              <p:spPr bwMode="auto">
                <a:xfrm>
                  <a:off x="3243"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59" name="AutoShape 12"/>
                <p:cNvSpPr>
                  <a:spLocks noChangeArrowheads="1"/>
                </p:cNvSpPr>
                <p:nvPr/>
              </p:nvSpPr>
              <p:spPr bwMode="auto">
                <a:xfrm>
                  <a:off x="3243"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60" name="AutoShape 14"/>
                <p:cNvSpPr>
                  <a:spLocks noChangeArrowheads="1"/>
                </p:cNvSpPr>
                <p:nvPr/>
              </p:nvSpPr>
              <p:spPr bwMode="auto">
                <a:xfrm>
                  <a:off x="3243"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61" name="AutoShape 15"/>
                <p:cNvSpPr>
                  <a:spLocks noChangeArrowheads="1"/>
                </p:cNvSpPr>
                <p:nvPr/>
              </p:nvSpPr>
              <p:spPr bwMode="auto">
                <a:xfrm>
                  <a:off x="3243"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62" name="AutoShape 16"/>
                <p:cNvSpPr>
                  <a:spLocks noChangeArrowheads="1"/>
                </p:cNvSpPr>
                <p:nvPr/>
              </p:nvSpPr>
              <p:spPr bwMode="auto">
                <a:xfrm>
                  <a:off x="3334"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63" name="AutoShape 17"/>
                <p:cNvSpPr>
                  <a:spLocks noChangeArrowheads="1"/>
                </p:cNvSpPr>
                <p:nvPr/>
              </p:nvSpPr>
              <p:spPr bwMode="auto">
                <a:xfrm>
                  <a:off x="3334"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64" name="AutoShape 18"/>
                <p:cNvSpPr>
                  <a:spLocks noChangeArrowheads="1"/>
                </p:cNvSpPr>
                <p:nvPr/>
              </p:nvSpPr>
              <p:spPr bwMode="auto">
                <a:xfrm>
                  <a:off x="3334"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65" name="AutoShape 19"/>
                <p:cNvSpPr>
                  <a:spLocks noChangeArrowheads="1"/>
                </p:cNvSpPr>
                <p:nvPr/>
              </p:nvSpPr>
              <p:spPr bwMode="auto">
                <a:xfrm>
                  <a:off x="3334"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66" name="AutoShape 20"/>
                <p:cNvSpPr>
                  <a:spLocks noChangeArrowheads="1"/>
                </p:cNvSpPr>
                <p:nvPr/>
              </p:nvSpPr>
              <p:spPr bwMode="auto">
                <a:xfrm>
                  <a:off x="3334"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67" name="AutoShape 21"/>
                <p:cNvSpPr>
                  <a:spLocks noChangeArrowheads="1"/>
                </p:cNvSpPr>
                <p:nvPr/>
              </p:nvSpPr>
              <p:spPr bwMode="auto">
                <a:xfrm>
                  <a:off x="3334"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68" name="AutoShape 22"/>
                <p:cNvSpPr>
                  <a:spLocks noChangeArrowheads="1"/>
                </p:cNvSpPr>
                <p:nvPr/>
              </p:nvSpPr>
              <p:spPr bwMode="auto">
                <a:xfrm>
                  <a:off x="3334"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69" name="AutoShape 23"/>
                <p:cNvSpPr>
                  <a:spLocks noChangeArrowheads="1"/>
                </p:cNvSpPr>
                <p:nvPr/>
              </p:nvSpPr>
              <p:spPr bwMode="auto">
                <a:xfrm>
                  <a:off x="3334"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70" name="AutoShape 24"/>
                <p:cNvSpPr>
                  <a:spLocks noChangeArrowheads="1"/>
                </p:cNvSpPr>
                <p:nvPr/>
              </p:nvSpPr>
              <p:spPr bwMode="auto">
                <a:xfrm>
                  <a:off x="3334"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71" name="AutoShape 25"/>
                <p:cNvSpPr>
                  <a:spLocks noChangeArrowheads="1"/>
                </p:cNvSpPr>
                <p:nvPr/>
              </p:nvSpPr>
              <p:spPr bwMode="auto">
                <a:xfrm>
                  <a:off x="3334"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72" name="AutoShape 26"/>
                <p:cNvSpPr>
                  <a:spLocks noChangeArrowheads="1"/>
                </p:cNvSpPr>
                <p:nvPr/>
              </p:nvSpPr>
              <p:spPr bwMode="auto">
                <a:xfrm>
                  <a:off x="3424"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73" name="AutoShape 27"/>
                <p:cNvSpPr>
                  <a:spLocks noChangeArrowheads="1"/>
                </p:cNvSpPr>
                <p:nvPr/>
              </p:nvSpPr>
              <p:spPr bwMode="auto">
                <a:xfrm>
                  <a:off x="3424"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74" name="AutoShape 28"/>
                <p:cNvSpPr>
                  <a:spLocks noChangeArrowheads="1"/>
                </p:cNvSpPr>
                <p:nvPr/>
              </p:nvSpPr>
              <p:spPr bwMode="auto">
                <a:xfrm>
                  <a:off x="3424"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75" name="AutoShape 29"/>
                <p:cNvSpPr>
                  <a:spLocks noChangeArrowheads="1"/>
                </p:cNvSpPr>
                <p:nvPr/>
              </p:nvSpPr>
              <p:spPr bwMode="auto">
                <a:xfrm>
                  <a:off x="3424"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76" name="AutoShape 30"/>
                <p:cNvSpPr>
                  <a:spLocks noChangeArrowheads="1"/>
                </p:cNvSpPr>
                <p:nvPr/>
              </p:nvSpPr>
              <p:spPr bwMode="auto">
                <a:xfrm>
                  <a:off x="3424"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77" name="AutoShape 31"/>
                <p:cNvSpPr>
                  <a:spLocks noChangeArrowheads="1"/>
                </p:cNvSpPr>
                <p:nvPr/>
              </p:nvSpPr>
              <p:spPr bwMode="auto">
                <a:xfrm>
                  <a:off x="3424"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78" name="AutoShape 32"/>
                <p:cNvSpPr>
                  <a:spLocks noChangeArrowheads="1"/>
                </p:cNvSpPr>
                <p:nvPr/>
              </p:nvSpPr>
              <p:spPr bwMode="auto">
                <a:xfrm>
                  <a:off x="3424"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79" name="AutoShape 33"/>
                <p:cNvSpPr>
                  <a:spLocks noChangeArrowheads="1"/>
                </p:cNvSpPr>
                <p:nvPr/>
              </p:nvSpPr>
              <p:spPr bwMode="auto">
                <a:xfrm>
                  <a:off x="3424"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80" name="AutoShape 34"/>
                <p:cNvSpPr>
                  <a:spLocks noChangeArrowheads="1"/>
                </p:cNvSpPr>
                <p:nvPr/>
              </p:nvSpPr>
              <p:spPr bwMode="auto">
                <a:xfrm>
                  <a:off x="3424"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81" name="AutoShape 35"/>
                <p:cNvSpPr>
                  <a:spLocks noChangeArrowheads="1"/>
                </p:cNvSpPr>
                <p:nvPr/>
              </p:nvSpPr>
              <p:spPr bwMode="auto">
                <a:xfrm>
                  <a:off x="3424"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82" name="AutoShape 36"/>
                <p:cNvSpPr>
                  <a:spLocks noChangeArrowheads="1"/>
                </p:cNvSpPr>
                <p:nvPr/>
              </p:nvSpPr>
              <p:spPr bwMode="auto">
                <a:xfrm>
                  <a:off x="3515"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83" name="AutoShape 37"/>
                <p:cNvSpPr>
                  <a:spLocks noChangeArrowheads="1"/>
                </p:cNvSpPr>
                <p:nvPr/>
              </p:nvSpPr>
              <p:spPr bwMode="auto">
                <a:xfrm>
                  <a:off x="3515"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84" name="AutoShape 38"/>
                <p:cNvSpPr>
                  <a:spLocks noChangeArrowheads="1"/>
                </p:cNvSpPr>
                <p:nvPr/>
              </p:nvSpPr>
              <p:spPr bwMode="auto">
                <a:xfrm>
                  <a:off x="3515"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85" name="AutoShape 39"/>
                <p:cNvSpPr>
                  <a:spLocks noChangeArrowheads="1"/>
                </p:cNvSpPr>
                <p:nvPr/>
              </p:nvSpPr>
              <p:spPr bwMode="auto">
                <a:xfrm>
                  <a:off x="3515"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86" name="AutoShape 40"/>
                <p:cNvSpPr>
                  <a:spLocks noChangeArrowheads="1"/>
                </p:cNvSpPr>
                <p:nvPr/>
              </p:nvSpPr>
              <p:spPr bwMode="auto">
                <a:xfrm>
                  <a:off x="3515"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87" name="AutoShape 41"/>
                <p:cNvSpPr>
                  <a:spLocks noChangeArrowheads="1"/>
                </p:cNvSpPr>
                <p:nvPr/>
              </p:nvSpPr>
              <p:spPr bwMode="auto">
                <a:xfrm>
                  <a:off x="3515"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88" name="AutoShape 42"/>
                <p:cNvSpPr>
                  <a:spLocks noChangeArrowheads="1"/>
                </p:cNvSpPr>
                <p:nvPr/>
              </p:nvSpPr>
              <p:spPr bwMode="auto">
                <a:xfrm>
                  <a:off x="3515"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89" name="AutoShape 43"/>
                <p:cNvSpPr>
                  <a:spLocks noChangeArrowheads="1"/>
                </p:cNvSpPr>
                <p:nvPr/>
              </p:nvSpPr>
              <p:spPr bwMode="auto">
                <a:xfrm>
                  <a:off x="3515"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90" name="AutoShape 44"/>
                <p:cNvSpPr>
                  <a:spLocks noChangeArrowheads="1"/>
                </p:cNvSpPr>
                <p:nvPr/>
              </p:nvSpPr>
              <p:spPr bwMode="auto">
                <a:xfrm>
                  <a:off x="3515"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91" name="AutoShape 45"/>
                <p:cNvSpPr>
                  <a:spLocks noChangeArrowheads="1"/>
                </p:cNvSpPr>
                <p:nvPr/>
              </p:nvSpPr>
              <p:spPr bwMode="auto">
                <a:xfrm>
                  <a:off x="3515"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92" name="AutoShape 46"/>
                <p:cNvSpPr>
                  <a:spLocks noChangeArrowheads="1"/>
                </p:cNvSpPr>
                <p:nvPr/>
              </p:nvSpPr>
              <p:spPr bwMode="auto">
                <a:xfrm>
                  <a:off x="3606"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93" name="AutoShape 47"/>
                <p:cNvSpPr>
                  <a:spLocks noChangeArrowheads="1"/>
                </p:cNvSpPr>
                <p:nvPr/>
              </p:nvSpPr>
              <p:spPr bwMode="auto">
                <a:xfrm>
                  <a:off x="3606"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94" name="AutoShape 48"/>
                <p:cNvSpPr>
                  <a:spLocks noChangeArrowheads="1"/>
                </p:cNvSpPr>
                <p:nvPr/>
              </p:nvSpPr>
              <p:spPr bwMode="auto">
                <a:xfrm>
                  <a:off x="3606"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95" name="AutoShape 49"/>
                <p:cNvSpPr>
                  <a:spLocks noChangeArrowheads="1"/>
                </p:cNvSpPr>
                <p:nvPr/>
              </p:nvSpPr>
              <p:spPr bwMode="auto">
                <a:xfrm>
                  <a:off x="3606"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96" name="AutoShape 50"/>
                <p:cNvSpPr>
                  <a:spLocks noChangeArrowheads="1"/>
                </p:cNvSpPr>
                <p:nvPr/>
              </p:nvSpPr>
              <p:spPr bwMode="auto">
                <a:xfrm>
                  <a:off x="3606"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97" name="AutoShape 51"/>
                <p:cNvSpPr>
                  <a:spLocks noChangeArrowheads="1"/>
                </p:cNvSpPr>
                <p:nvPr/>
              </p:nvSpPr>
              <p:spPr bwMode="auto">
                <a:xfrm>
                  <a:off x="3606"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98" name="AutoShape 52"/>
                <p:cNvSpPr>
                  <a:spLocks noChangeArrowheads="1"/>
                </p:cNvSpPr>
                <p:nvPr/>
              </p:nvSpPr>
              <p:spPr bwMode="auto">
                <a:xfrm>
                  <a:off x="3606"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99" name="AutoShape 53"/>
                <p:cNvSpPr>
                  <a:spLocks noChangeArrowheads="1"/>
                </p:cNvSpPr>
                <p:nvPr/>
              </p:nvSpPr>
              <p:spPr bwMode="auto">
                <a:xfrm>
                  <a:off x="3606"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00" name="AutoShape 54"/>
                <p:cNvSpPr>
                  <a:spLocks noChangeArrowheads="1"/>
                </p:cNvSpPr>
                <p:nvPr/>
              </p:nvSpPr>
              <p:spPr bwMode="auto">
                <a:xfrm>
                  <a:off x="3606"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01" name="AutoShape 55"/>
                <p:cNvSpPr>
                  <a:spLocks noChangeArrowheads="1"/>
                </p:cNvSpPr>
                <p:nvPr/>
              </p:nvSpPr>
              <p:spPr bwMode="auto">
                <a:xfrm>
                  <a:off x="3606"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02" name="AutoShape 56"/>
                <p:cNvSpPr>
                  <a:spLocks noChangeArrowheads="1"/>
                </p:cNvSpPr>
                <p:nvPr/>
              </p:nvSpPr>
              <p:spPr bwMode="auto">
                <a:xfrm>
                  <a:off x="3697"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03" name="AutoShape 57"/>
                <p:cNvSpPr>
                  <a:spLocks noChangeArrowheads="1"/>
                </p:cNvSpPr>
                <p:nvPr/>
              </p:nvSpPr>
              <p:spPr bwMode="auto">
                <a:xfrm>
                  <a:off x="3697"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04" name="AutoShape 58"/>
                <p:cNvSpPr>
                  <a:spLocks noChangeArrowheads="1"/>
                </p:cNvSpPr>
                <p:nvPr/>
              </p:nvSpPr>
              <p:spPr bwMode="auto">
                <a:xfrm>
                  <a:off x="3697"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05" name="AutoShape 59"/>
                <p:cNvSpPr>
                  <a:spLocks noChangeArrowheads="1"/>
                </p:cNvSpPr>
                <p:nvPr/>
              </p:nvSpPr>
              <p:spPr bwMode="auto">
                <a:xfrm>
                  <a:off x="3697"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06" name="AutoShape 60"/>
                <p:cNvSpPr>
                  <a:spLocks noChangeArrowheads="1"/>
                </p:cNvSpPr>
                <p:nvPr/>
              </p:nvSpPr>
              <p:spPr bwMode="auto">
                <a:xfrm>
                  <a:off x="3697"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07" name="AutoShape 61"/>
                <p:cNvSpPr>
                  <a:spLocks noChangeArrowheads="1"/>
                </p:cNvSpPr>
                <p:nvPr/>
              </p:nvSpPr>
              <p:spPr bwMode="auto">
                <a:xfrm>
                  <a:off x="3697"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08" name="AutoShape 62"/>
                <p:cNvSpPr>
                  <a:spLocks noChangeArrowheads="1"/>
                </p:cNvSpPr>
                <p:nvPr/>
              </p:nvSpPr>
              <p:spPr bwMode="auto">
                <a:xfrm>
                  <a:off x="3697"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09" name="AutoShape 63"/>
                <p:cNvSpPr>
                  <a:spLocks noChangeArrowheads="1"/>
                </p:cNvSpPr>
                <p:nvPr/>
              </p:nvSpPr>
              <p:spPr bwMode="auto">
                <a:xfrm>
                  <a:off x="3697"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10" name="AutoShape 64"/>
                <p:cNvSpPr>
                  <a:spLocks noChangeArrowheads="1"/>
                </p:cNvSpPr>
                <p:nvPr/>
              </p:nvSpPr>
              <p:spPr bwMode="auto">
                <a:xfrm>
                  <a:off x="3697"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11" name="AutoShape 65"/>
                <p:cNvSpPr>
                  <a:spLocks noChangeArrowheads="1"/>
                </p:cNvSpPr>
                <p:nvPr/>
              </p:nvSpPr>
              <p:spPr bwMode="auto">
                <a:xfrm>
                  <a:off x="3697"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12" name="AutoShape 66"/>
                <p:cNvSpPr>
                  <a:spLocks noChangeArrowheads="1"/>
                </p:cNvSpPr>
                <p:nvPr/>
              </p:nvSpPr>
              <p:spPr bwMode="auto">
                <a:xfrm>
                  <a:off x="3787"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13" name="AutoShape 67"/>
                <p:cNvSpPr>
                  <a:spLocks noChangeArrowheads="1"/>
                </p:cNvSpPr>
                <p:nvPr/>
              </p:nvSpPr>
              <p:spPr bwMode="auto">
                <a:xfrm>
                  <a:off x="3787"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14" name="AutoShape 68"/>
                <p:cNvSpPr>
                  <a:spLocks noChangeArrowheads="1"/>
                </p:cNvSpPr>
                <p:nvPr/>
              </p:nvSpPr>
              <p:spPr bwMode="auto">
                <a:xfrm>
                  <a:off x="3787"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15" name="AutoShape 69"/>
                <p:cNvSpPr>
                  <a:spLocks noChangeArrowheads="1"/>
                </p:cNvSpPr>
                <p:nvPr/>
              </p:nvSpPr>
              <p:spPr bwMode="auto">
                <a:xfrm>
                  <a:off x="3787"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16" name="AutoShape 70"/>
                <p:cNvSpPr>
                  <a:spLocks noChangeArrowheads="1"/>
                </p:cNvSpPr>
                <p:nvPr/>
              </p:nvSpPr>
              <p:spPr bwMode="auto">
                <a:xfrm>
                  <a:off x="3787"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17" name="AutoShape 71"/>
                <p:cNvSpPr>
                  <a:spLocks noChangeArrowheads="1"/>
                </p:cNvSpPr>
                <p:nvPr/>
              </p:nvSpPr>
              <p:spPr bwMode="auto">
                <a:xfrm>
                  <a:off x="3787"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18" name="AutoShape 72"/>
                <p:cNvSpPr>
                  <a:spLocks noChangeArrowheads="1"/>
                </p:cNvSpPr>
                <p:nvPr/>
              </p:nvSpPr>
              <p:spPr bwMode="auto">
                <a:xfrm>
                  <a:off x="3787"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19" name="AutoShape 73"/>
                <p:cNvSpPr>
                  <a:spLocks noChangeArrowheads="1"/>
                </p:cNvSpPr>
                <p:nvPr/>
              </p:nvSpPr>
              <p:spPr bwMode="auto">
                <a:xfrm>
                  <a:off x="3787"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20" name="AutoShape 74"/>
                <p:cNvSpPr>
                  <a:spLocks noChangeArrowheads="1"/>
                </p:cNvSpPr>
                <p:nvPr/>
              </p:nvSpPr>
              <p:spPr bwMode="auto">
                <a:xfrm>
                  <a:off x="3787"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21" name="AutoShape 75"/>
                <p:cNvSpPr>
                  <a:spLocks noChangeArrowheads="1"/>
                </p:cNvSpPr>
                <p:nvPr/>
              </p:nvSpPr>
              <p:spPr bwMode="auto">
                <a:xfrm>
                  <a:off x="3787"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22" name="AutoShape 76"/>
                <p:cNvSpPr>
                  <a:spLocks noChangeArrowheads="1"/>
                </p:cNvSpPr>
                <p:nvPr/>
              </p:nvSpPr>
              <p:spPr bwMode="auto">
                <a:xfrm>
                  <a:off x="3878"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23" name="AutoShape 77"/>
                <p:cNvSpPr>
                  <a:spLocks noChangeArrowheads="1"/>
                </p:cNvSpPr>
                <p:nvPr/>
              </p:nvSpPr>
              <p:spPr bwMode="auto">
                <a:xfrm>
                  <a:off x="3878"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24" name="AutoShape 78"/>
                <p:cNvSpPr>
                  <a:spLocks noChangeArrowheads="1"/>
                </p:cNvSpPr>
                <p:nvPr/>
              </p:nvSpPr>
              <p:spPr bwMode="auto">
                <a:xfrm>
                  <a:off x="3878"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25" name="AutoShape 79"/>
                <p:cNvSpPr>
                  <a:spLocks noChangeArrowheads="1"/>
                </p:cNvSpPr>
                <p:nvPr/>
              </p:nvSpPr>
              <p:spPr bwMode="auto">
                <a:xfrm>
                  <a:off x="3878"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26" name="AutoShape 80"/>
                <p:cNvSpPr>
                  <a:spLocks noChangeArrowheads="1"/>
                </p:cNvSpPr>
                <p:nvPr/>
              </p:nvSpPr>
              <p:spPr bwMode="auto">
                <a:xfrm>
                  <a:off x="3878"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27" name="AutoShape 81"/>
                <p:cNvSpPr>
                  <a:spLocks noChangeArrowheads="1"/>
                </p:cNvSpPr>
                <p:nvPr/>
              </p:nvSpPr>
              <p:spPr bwMode="auto">
                <a:xfrm>
                  <a:off x="3878"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28" name="AutoShape 82"/>
                <p:cNvSpPr>
                  <a:spLocks noChangeArrowheads="1"/>
                </p:cNvSpPr>
                <p:nvPr/>
              </p:nvSpPr>
              <p:spPr bwMode="auto">
                <a:xfrm>
                  <a:off x="3878"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29" name="AutoShape 83"/>
                <p:cNvSpPr>
                  <a:spLocks noChangeArrowheads="1"/>
                </p:cNvSpPr>
                <p:nvPr/>
              </p:nvSpPr>
              <p:spPr bwMode="auto">
                <a:xfrm>
                  <a:off x="3878"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30" name="AutoShape 84"/>
                <p:cNvSpPr>
                  <a:spLocks noChangeArrowheads="1"/>
                </p:cNvSpPr>
                <p:nvPr/>
              </p:nvSpPr>
              <p:spPr bwMode="auto">
                <a:xfrm>
                  <a:off x="3878"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31" name="AutoShape 85"/>
                <p:cNvSpPr>
                  <a:spLocks noChangeArrowheads="1"/>
                </p:cNvSpPr>
                <p:nvPr/>
              </p:nvSpPr>
              <p:spPr bwMode="auto">
                <a:xfrm>
                  <a:off x="3878"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32" name="AutoShape 86"/>
                <p:cNvSpPr>
                  <a:spLocks noChangeArrowheads="1"/>
                </p:cNvSpPr>
                <p:nvPr/>
              </p:nvSpPr>
              <p:spPr bwMode="auto">
                <a:xfrm>
                  <a:off x="3878"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33" name="AutoShape 87"/>
                <p:cNvSpPr>
                  <a:spLocks noChangeArrowheads="1"/>
                </p:cNvSpPr>
                <p:nvPr/>
              </p:nvSpPr>
              <p:spPr bwMode="auto">
                <a:xfrm>
                  <a:off x="3878"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34" name="AutoShape 88"/>
                <p:cNvSpPr>
                  <a:spLocks noChangeArrowheads="1"/>
                </p:cNvSpPr>
                <p:nvPr/>
              </p:nvSpPr>
              <p:spPr bwMode="auto">
                <a:xfrm>
                  <a:off x="3878"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35" name="AutoShape 89"/>
                <p:cNvSpPr>
                  <a:spLocks noChangeArrowheads="1"/>
                </p:cNvSpPr>
                <p:nvPr/>
              </p:nvSpPr>
              <p:spPr bwMode="auto">
                <a:xfrm>
                  <a:off x="3878"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36" name="AutoShape 90"/>
                <p:cNvSpPr>
                  <a:spLocks noChangeArrowheads="1"/>
                </p:cNvSpPr>
                <p:nvPr/>
              </p:nvSpPr>
              <p:spPr bwMode="auto">
                <a:xfrm>
                  <a:off x="3878"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37" name="AutoShape 91"/>
                <p:cNvSpPr>
                  <a:spLocks noChangeArrowheads="1"/>
                </p:cNvSpPr>
                <p:nvPr/>
              </p:nvSpPr>
              <p:spPr bwMode="auto">
                <a:xfrm>
                  <a:off x="3878"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38" name="AutoShape 92"/>
                <p:cNvSpPr>
                  <a:spLocks noChangeArrowheads="1"/>
                </p:cNvSpPr>
                <p:nvPr/>
              </p:nvSpPr>
              <p:spPr bwMode="auto">
                <a:xfrm>
                  <a:off x="3878"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39" name="AutoShape 93"/>
                <p:cNvSpPr>
                  <a:spLocks noChangeArrowheads="1"/>
                </p:cNvSpPr>
                <p:nvPr/>
              </p:nvSpPr>
              <p:spPr bwMode="auto">
                <a:xfrm>
                  <a:off x="3878"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40" name="AutoShape 94"/>
                <p:cNvSpPr>
                  <a:spLocks noChangeArrowheads="1"/>
                </p:cNvSpPr>
                <p:nvPr/>
              </p:nvSpPr>
              <p:spPr bwMode="auto">
                <a:xfrm>
                  <a:off x="3878"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41" name="AutoShape 95"/>
                <p:cNvSpPr>
                  <a:spLocks noChangeArrowheads="1"/>
                </p:cNvSpPr>
                <p:nvPr/>
              </p:nvSpPr>
              <p:spPr bwMode="auto">
                <a:xfrm>
                  <a:off x="3878"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42" name="AutoShape 96"/>
                <p:cNvSpPr>
                  <a:spLocks noChangeArrowheads="1"/>
                </p:cNvSpPr>
                <p:nvPr/>
              </p:nvSpPr>
              <p:spPr bwMode="auto">
                <a:xfrm>
                  <a:off x="3969"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43" name="AutoShape 97"/>
                <p:cNvSpPr>
                  <a:spLocks noChangeArrowheads="1"/>
                </p:cNvSpPr>
                <p:nvPr/>
              </p:nvSpPr>
              <p:spPr bwMode="auto">
                <a:xfrm>
                  <a:off x="3969"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44" name="AutoShape 98"/>
                <p:cNvSpPr>
                  <a:spLocks noChangeArrowheads="1"/>
                </p:cNvSpPr>
                <p:nvPr/>
              </p:nvSpPr>
              <p:spPr bwMode="auto">
                <a:xfrm>
                  <a:off x="3969"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45" name="AutoShape 99"/>
                <p:cNvSpPr>
                  <a:spLocks noChangeArrowheads="1"/>
                </p:cNvSpPr>
                <p:nvPr/>
              </p:nvSpPr>
              <p:spPr bwMode="auto">
                <a:xfrm>
                  <a:off x="3969"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46" name="AutoShape 100"/>
                <p:cNvSpPr>
                  <a:spLocks noChangeArrowheads="1"/>
                </p:cNvSpPr>
                <p:nvPr/>
              </p:nvSpPr>
              <p:spPr bwMode="auto">
                <a:xfrm>
                  <a:off x="3969"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47" name="AutoShape 101"/>
                <p:cNvSpPr>
                  <a:spLocks noChangeArrowheads="1"/>
                </p:cNvSpPr>
                <p:nvPr/>
              </p:nvSpPr>
              <p:spPr bwMode="auto">
                <a:xfrm>
                  <a:off x="3969"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48" name="AutoShape 102"/>
                <p:cNvSpPr>
                  <a:spLocks noChangeArrowheads="1"/>
                </p:cNvSpPr>
                <p:nvPr/>
              </p:nvSpPr>
              <p:spPr bwMode="auto">
                <a:xfrm>
                  <a:off x="3969"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49" name="AutoShape 103"/>
                <p:cNvSpPr>
                  <a:spLocks noChangeArrowheads="1"/>
                </p:cNvSpPr>
                <p:nvPr/>
              </p:nvSpPr>
              <p:spPr bwMode="auto">
                <a:xfrm>
                  <a:off x="3969"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50" name="AutoShape 104"/>
                <p:cNvSpPr>
                  <a:spLocks noChangeArrowheads="1"/>
                </p:cNvSpPr>
                <p:nvPr/>
              </p:nvSpPr>
              <p:spPr bwMode="auto">
                <a:xfrm>
                  <a:off x="3969"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51" name="AutoShape 105"/>
                <p:cNvSpPr>
                  <a:spLocks noChangeArrowheads="1"/>
                </p:cNvSpPr>
                <p:nvPr/>
              </p:nvSpPr>
              <p:spPr bwMode="auto">
                <a:xfrm>
                  <a:off x="3969"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8443" name="Group 430"/>
              <p:cNvGrpSpPr>
                <a:grpSpLocks/>
              </p:cNvGrpSpPr>
              <p:nvPr/>
            </p:nvGrpSpPr>
            <p:grpSpPr bwMode="auto">
              <a:xfrm>
                <a:off x="3208" y="1780"/>
                <a:ext cx="862" cy="952"/>
                <a:chOff x="3243" y="1752"/>
                <a:chExt cx="862" cy="952"/>
              </a:xfrm>
            </p:grpSpPr>
            <p:sp>
              <p:nvSpPr>
                <p:cNvPr id="19252" name="AutoShape 431"/>
                <p:cNvSpPr>
                  <a:spLocks noChangeArrowheads="1"/>
                </p:cNvSpPr>
                <p:nvPr/>
              </p:nvSpPr>
              <p:spPr bwMode="auto">
                <a:xfrm>
                  <a:off x="3243"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53" name="AutoShape 432"/>
                <p:cNvSpPr>
                  <a:spLocks noChangeArrowheads="1"/>
                </p:cNvSpPr>
                <p:nvPr/>
              </p:nvSpPr>
              <p:spPr bwMode="auto">
                <a:xfrm>
                  <a:off x="3243"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54" name="AutoShape 433"/>
                <p:cNvSpPr>
                  <a:spLocks noChangeArrowheads="1"/>
                </p:cNvSpPr>
                <p:nvPr/>
              </p:nvSpPr>
              <p:spPr bwMode="auto">
                <a:xfrm>
                  <a:off x="3243"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55" name="AutoShape 434"/>
                <p:cNvSpPr>
                  <a:spLocks noChangeArrowheads="1"/>
                </p:cNvSpPr>
                <p:nvPr/>
              </p:nvSpPr>
              <p:spPr bwMode="auto">
                <a:xfrm>
                  <a:off x="3243"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56" name="AutoShape 435"/>
                <p:cNvSpPr>
                  <a:spLocks noChangeArrowheads="1"/>
                </p:cNvSpPr>
                <p:nvPr/>
              </p:nvSpPr>
              <p:spPr bwMode="auto">
                <a:xfrm>
                  <a:off x="3243"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57" name="AutoShape 436"/>
                <p:cNvSpPr>
                  <a:spLocks noChangeArrowheads="1"/>
                </p:cNvSpPr>
                <p:nvPr/>
              </p:nvSpPr>
              <p:spPr bwMode="auto">
                <a:xfrm>
                  <a:off x="3243"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58" name="AutoShape 437"/>
                <p:cNvSpPr>
                  <a:spLocks noChangeArrowheads="1"/>
                </p:cNvSpPr>
                <p:nvPr/>
              </p:nvSpPr>
              <p:spPr bwMode="auto">
                <a:xfrm>
                  <a:off x="3243"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59" name="AutoShape 438"/>
                <p:cNvSpPr>
                  <a:spLocks noChangeArrowheads="1"/>
                </p:cNvSpPr>
                <p:nvPr/>
              </p:nvSpPr>
              <p:spPr bwMode="auto">
                <a:xfrm>
                  <a:off x="3243"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60" name="AutoShape 439"/>
                <p:cNvSpPr>
                  <a:spLocks noChangeArrowheads="1"/>
                </p:cNvSpPr>
                <p:nvPr/>
              </p:nvSpPr>
              <p:spPr bwMode="auto">
                <a:xfrm>
                  <a:off x="3243"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61" name="AutoShape 440"/>
                <p:cNvSpPr>
                  <a:spLocks noChangeArrowheads="1"/>
                </p:cNvSpPr>
                <p:nvPr/>
              </p:nvSpPr>
              <p:spPr bwMode="auto">
                <a:xfrm>
                  <a:off x="3243"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62" name="AutoShape 441"/>
                <p:cNvSpPr>
                  <a:spLocks noChangeArrowheads="1"/>
                </p:cNvSpPr>
                <p:nvPr/>
              </p:nvSpPr>
              <p:spPr bwMode="auto">
                <a:xfrm>
                  <a:off x="3334"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63" name="AutoShape 442"/>
                <p:cNvSpPr>
                  <a:spLocks noChangeArrowheads="1"/>
                </p:cNvSpPr>
                <p:nvPr/>
              </p:nvSpPr>
              <p:spPr bwMode="auto">
                <a:xfrm>
                  <a:off x="3334"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64" name="AutoShape 443"/>
                <p:cNvSpPr>
                  <a:spLocks noChangeArrowheads="1"/>
                </p:cNvSpPr>
                <p:nvPr/>
              </p:nvSpPr>
              <p:spPr bwMode="auto">
                <a:xfrm>
                  <a:off x="3334"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65" name="AutoShape 444"/>
                <p:cNvSpPr>
                  <a:spLocks noChangeArrowheads="1"/>
                </p:cNvSpPr>
                <p:nvPr/>
              </p:nvSpPr>
              <p:spPr bwMode="auto">
                <a:xfrm>
                  <a:off x="3334"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66" name="AutoShape 445"/>
                <p:cNvSpPr>
                  <a:spLocks noChangeArrowheads="1"/>
                </p:cNvSpPr>
                <p:nvPr/>
              </p:nvSpPr>
              <p:spPr bwMode="auto">
                <a:xfrm>
                  <a:off x="3334"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67" name="AutoShape 446"/>
                <p:cNvSpPr>
                  <a:spLocks noChangeArrowheads="1"/>
                </p:cNvSpPr>
                <p:nvPr/>
              </p:nvSpPr>
              <p:spPr bwMode="auto">
                <a:xfrm>
                  <a:off x="3334"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68" name="AutoShape 447"/>
                <p:cNvSpPr>
                  <a:spLocks noChangeArrowheads="1"/>
                </p:cNvSpPr>
                <p:nvPr/>
              </p:nvSpPr>
              <p:spPr bwMode="auto">
                <a:xfrm>
                  <a:off x="3334"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69" name="AutoShape 448"/>
                <p:cNvSpPr>
                  <a:spLocks noChangeArrowheads="1"/>
                </p:cNvSpPr>
                <p:nvPr/>
              </p:nvSpPr>
              <p:spPr bwMode="auto">
                <a:xfrm>
                  <a:off x="3334"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70" name="AutoShape 449"/>
                <p:cNvSpPr>
                  <a:spLocks noChangeArrowheads="1"/>
                </p:cNvSpPr>
                <p:nvPr/>
              </p:nvSpPr>
              <p:spPr bwMode="auto">
                <a:xfrm>
                  <a:off x="3334"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71" name="AutoShape 450"/>
                <p:cNvSpPr>
                  <a:spLocks noChangeArrowheads="1"/>
                </p:cNvSpPr>
                <p:nvPr/>
              </p:nvSpPr>
              <p:spPr bwMode="auto">
                <a:xfrm>
                  <a:off x="3334"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72" name="AutoShape 451"/>
                <p:cNvSpPr>
                  <a:spLocks noChangeArrowheads="1"/>
                </p:cNvSpPr>
                <p:nvPr/>
              </p:nvSpPr>
              <p:spPr bwMode="auto">
                <a:xfrm>
                  <a:off x="3424"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73" name="AutoShape 452"/>
                <p:cNvSpPr>
                  <a:spLocks noChangeArrowheads="1"/>
                </p:cNvSpPr>
                <p:nvPr/>
              </p:nvSpPr>
              <p:spPr bwMode="auto">
                <a:xfrm>
                  <a:off x="3424"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74" name="AutoShape 453"/>
                <p:cNvSpPr>
                  <a:spLocks noChangeArrowheads="1"/>
                </p:cNvSpPr>
                <p:nvPr/>
              </p:nvSpPr>
              <p:spPr bwMode="auto">
                <a:xfrm>
                  <a:off x="3424"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75" name="AutoShape 454"/>
                <p:cNvSpPr>
                  <a:spLocks noChangeArrowheads="1"/>
                </p:cNvSpPr>
                <p:nvPr/>
              </p:nvSpPr>
              <p:spPr bwMode="auto">
                <a:xfrm>
                  <a:off x="3424"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76" name="AutoShape 455"/>
                <p:cNvSpPr>
                  <a:spLocks noChangeArrowheads="1"/>
                </p:cNvSpPr>
                <p:nvPr/>
              </p:nvSpPr>
              <p:spPr bwMode="auto">
                <a:xfrm>
                  <a:off x="3424"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77" name="AutoShape 456"/>
                <p:cNvSpPr>
                  <a:spLocks noChangeArrowheads="1"/>
                </p:cNvSpPr>
                <p:nvPr/>
              </p:nvSpPr>
              <p:spPr bwMode="auto">
                <a:xfrm>
                  <a:off x="3424"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78" name="AutoShape 457"/>
                <p:cNvSpPr>
                  <a:spLocks noChangeArrowheads="1"/>
                </p:cNvSpPr>
                <p:nvPr/>
              </p:nvSpPr>
              <p:spPr bwMode="auto">
                <a:xfrm>
                  <a:off x="3424"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79" name="AutoShape 458"/>
                <p:cNvSpPr>
                  <a:spLocks noChangeArrowheads="1"/>
                </p:cNvSpPr>
                <p:nvPr/>
              </p:nvSpPr>
              <p:spPr bwMode="auto">
                <a:xfrm>
                  <a:off x="3424"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80" name="AutoShape 459"/>
                <p:cNvSpPr>
                  <a:spLocks noChangeArrowheads="1"/>
                </p:cNvSpPr>
                <p:nvPr/>
              </p:nvSpPr>
              <p:spPr bwMode="auto">
                <a:xfrm>
                  <a:off x="3424"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81" name="AutoShape 460"/>
                <p:cNvSpPr>
                  <a:spLocks noChangeArrowheads="1"/>
                </p:cNvSpPr>
                <p:nvPr/>
              </p:nvSpPr>
              <p:spPr bwMode="auto">
                <a:xfrm>
                  <a:off x="3424"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82" name="AutoShape 461"/>
                <p:cNvSpPr>
                  <a:spLocks noChangeArrowheads="1"/>
                </p:cNvSpPr>
                <p:nvPr/>
              </p:nvSpPr>
              <p:spPr bwMode="auto">
                <a:xfrm>
                  <a:off x="3515"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83" name="AutoShape 462"/>
                <p:cNvSpPr>
                  <a:spLocks noChangeArrowheads="1"/>
                </p:cNvSpPr>
                <p:nvPr/>
              </p:nvSpPr>
              <p:spPr bwMode="auto">
                <a:xfrm>
                  <a:off x="3515"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84" name="AutoShape 463"/>
                <p:cNvSpPr>
                  <a:spLocks noChangeArrowheads="1"/>
                </p:cNvSpPr>
                <p:nvPr/>
              </p:nvSpPr>
              <p:spPr bwMode="auto">
                <a:xfrm>
                  <a:off x="3515"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85" name="AutoShape 464"/>
                <p:cNvSpPr>
                  <a:spLocks noChangeArrowheads="1"/>
                </p:cNvSpPr>
                <p:nvPr/>
              </p:nvSpPr>
              <p:spPr bwMode="auto">
                <a:xfrm>
                  <a:off x="3515"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86" name="AutoShape 465"/>
                <p:cNvSpPr>
                  <a:spLocks noChangeArrowheads="1"/>
                </p:cNvSpPr>
                <p:nvPr/>
              </p:nvSpPr>
              <p:spPr bwMode="auto">
                <a:xfrm>
                  <a:off x="3515"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87" name="AutoShape 466"/>
                <p:cNvSpPr>
                  <a:spLocks noChangeArrowheads="1"/>
                </p:cNvSpPr>
                <p:nvPr/>
              </p:nvSpPr>
              <p:spPr bwMode="auto">
                <a:xfrm>
                  <a:off x="3515"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88" name="AutoShape 467"/>
                <p:cNvSpPr>
                  <a:spLocks noChangeArrowheads="1"/>
                </p:cNvSpPr>
                <p:nvPr/>
              </p:nvSpPr>
              <p:spPr bwMode="auto">
                <a:xfrm>
                  <a:off x="3515"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89" name="AutoShape 468"/>
                <p:cNvSpPr>
                  <a:spLocks noChangeArrowheads="1"/>
                </p:cNvSpPr>
                <p:nvPr/>
              </p:nvSpPr>
              <p:spPr bwMode="auto">
                <a:xfrm>
                  <a:off x="3515"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90" name="AutoShape 469"/>
                <p:cNvSpPr>
                  <a:spLocks noChangeArrowheads="1"/>
                </p:cNvSpPr>
                <p:nvPr/>
              </p:nvSpPr>
              <p:spPr bwMode="auto">
                <a:xfrm>
                  <a:off x="3515"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91" name="AutoShape 470"/>
                <p:cNvSpPr>
                  <a:spLocks noChangeArrowheads="1"/>
                </p:cNvSpPr>
                <p:nvPr/>
              </p:nvSpPr>
              <p:spPr bwMode="auto">
                <a:xfrm>
                  <a:off x="3515"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92" name="AutoShape 471"/>
                <p:cNvSpPr>
                  <a:spLocks noChangeArrowheads="1"/>
                </p:cNvSpPr>
                <p:nvPr/>
              </p:nvSpPr>
              <p:spPr bwMode="auto">
                <a:xfrm>
                  <a:off x="3606"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93" name="AutoShape 472"/>
                <p:cNvSpPr>
                  <a:spLocks noChangeArrowheads="1"/>
                </p:cNvSpPr>
                <p:nvPr/>
              </p:nvSpPr>
              <p:spPr bwMode="auto">
                <a:xfrm>
                  <a:off x="3606"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94" name="AutoShape 473"/>
                <p:cNvSpPr>
                  <a:spLocks noChangeArrowheads="1"/>
                </p:cNvSpPr>
                <p:nvPr/>
              </p:nvSpPr>
              <p:spPr bwMode="auto">
                <a:xfrm>
                  <a:off x="3606"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95" name="AutoShape 474"/>
                <p:cNvSpPr>
                  <a:spLocks noChangeArrowheads="1"/>
                </p:cNvSpPr>
                <p:nvPr/>
              </p:nvSpPr>
              <p:spPr bwMode="auto">
                <a:xfrm>
                  <a:off x="3606"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96" name="AutoShape 475"/>
                <p:cNvSpPr>
                  <a:spLocks noChangeArrowheads="1"/>
                </p:cNvSpPr>
                <p:nvPr/>
              </p:nvSpPr>
              <p:spPr bwMode="auto">
                <a:xfrm>
                  <a:off x="3606"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97" name="AutoShape 476"/>
                <p:cNvSpPr>
                  <a:spLocks noChangeArrowheads="1"/>
                </p:cNvSpPr>
                <p:nvPr/>
              </p:nvSpPr>
              <p:spPr bwMode="auto">
                <a:xfrm>
                  <a:off x="3606"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98" name="AutoShape 477"/>
                <p:cNvSpPr>
                  <a:spLocks noChangeArrowheads="1"/>
                </p:cNvSpPr>
                <p:nvPr/>
              </p:nvSpPr>
              <p:spPr bwMode="auto">
                <a:xfrm>
                  <a:off x="3606"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99" name="AutoShape 478"/>
                <p:cNvSpPr>
                  <a:spLocks noChangeArrowheads="1"/>
                </p:cNvSpPr>
                <p:nvPr/>
              </p:nvSpPr>
              <p:spPr bwMode="auto">
                <a:xfrm>
                  <a:off x="3606"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00" name="AutoShape 479"/>
                <p:cNvSpPr>
                  <a:spLocks noChangeArrowheads="1"/>
                </p:cNvSpPr>
                <p:nvPr/>
              </p:nvSpPr>
              <p:spPr bwMode="auto">
                <a:xfrm>
                  <a:off x="3606"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01" name="AutoShape 480"/>
                <p:cNvSpPr>
                  <a:spLocks noChangeArrowheads="1"/>
                </p:cNvSpPr>
                <p:nvPr/>
              </p:nvSpPr>
              <p:spPr bwMode="auto">
                <a:xfrm>
                  <a:off x="3606"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02" name="AutoShape 481"/>
                <p:cNvSpPr>
                  <a:spLocks noChangeArrowheads="1"/>
                </p:cNvSpPr>
                <p:nvPr/>
              </p:nvSpPr>
              <p:spPr bwMode="auto">
                <a:xfrm>
                  <a:off x="3697"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03" name="AutoShape 482"/>
                <p:cNvSpPr>
                  <a:spLocks noChangeArrowheads="1"/>
                </p:cNvSpPr>
                <p:nvPr/>
              </p:nvSpPr>
              <p:spPr bwMode="auto">
                <a:xfrm>
                  <a:off x="3697"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04" name="AutoShape 483"/>
                <p:cNvSpPr>
                  <a:spLocks noChangeArrowheads="1"/>
                </p:cNvSpPr>
                <p:nvPr/>
              </p:nvSpPr>
              <p:spPr bwMode="auto">
                <a:xfrm>
                  <a:off x="3697"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05" name="AutoShape 484"/>
                <p:cNvSpPr>
                  <a:spLocks noChangeArrowheads="1"/>
                </p:cNvSpPr>
                <p:nvPr/>
              </p:nvSpPr>
              <p:spPr bwMode="auto">
                <a:xfrm>
                  <a:off x="3697"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06" name="AutoShape 485"/>
                <p:cNvSpPr>
                  <a:spLocks noChangeArrowheads="1"/>
                </p:cNvSpPr>
                <p:nvPr/>
              </p:nvSpPr>
              <p:spPr bwMode="auto">
                <a:xfrm>
                  <a:off x="3697"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07" name="AutoShape 486"/>
                <p:cNvSpPr>
                  <a:spLocks noChangeArrowheads="1"/>
                </p:cNvSpPr>
                <p:nvPr/>
              </p:nvSpPr>
              <p:spPr bwMode="auto">
                <a:xfrm>
                  <a:off x="3697"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08" name="AutoShape 487"/>
                <p:cNvSpPr>
                  <a:spLocks noChangeArrowheads="1"/>
                </p:cNvSpPr>
                <p:nvPr/>
              </p:nvSpPr>
              <p:spPr bwMode="auto">
                <a:xfrm>
                  <a:off x="3697"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09" name="AutoShape 488"/>
                <p:cNvSpPr>
                  <a:spLocks noChangeArrowheads="1"/>
                </p:cNvSpPr>
                <p:nvPr/>
              </p:nvSpPr>
              <p:spPr bwMode="auto">
                <a:xfrm>
                  <a:off x="3697"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10" name="AutoShape 489"/>
                <p:cNvSpPr>
                  <a:spLocks noChangeArrowheads="1"/>
                </p:cNvSpPr>
                <p:nvPr/>
              </p:nvSpPr>
              <p:spPr bwMode="auto">
                <a:xfrm>
                  <a:off x="3697"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11" name="AutoShape 490"/>
                <p:cNvSpPr>
                  <a:spLocks noChangeArrowheads="1"/>
                </p:cNvSpPr>
                <p:nvPr/>
              </p:nvSpPr>
              <p:spPr bwMode="auto">
                <a:xfrm>
                  <a:off x="3697"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12" name="AutoShape 491"/>
                <p:cNvSpPr>
                  <a:spLocks noChangeArrowheads="1"/>
                </p:cNvSpPr>
                <p:nvPr/>
              </p:nvSpPr>
              <p:spPr bwMode="auto">
                <a:xfrm>
                  <a:off x="3787"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13" name="AutoShape 492"/>
                <p:cNvSpPr>
                  <a:spLocks noChangeArrowheads="1"/>
                </p:cNvSpPr>
                <p:nvPr/>
              </p:nvSpPr>
              <p:spPr bwMode="auto">
                <a:xfrm>
                  <a:off x="3787"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14" name="AutoShape 493"/>
                <p:cNvSpPr>
                  <a:spLocks noChangeArrowheads="1"/>
                </p:cNvSpPr>
                <p:nvPr/>
              </p:nvSpPr>
              <p:spPr bwMode="auto">
                <a:xfrm>
                  <a:off x="3787"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15" name="AutoShape 494"/>
                <p:cNvSpPr>
                  <a:spLocks noChangeArrowheads="1"/>
                </p:cNvSpPr>
                <p:nvPr/>
              </p:nvSpPr>
              <p:spPr bwMode="auto">
                <a:xfrm>
                  <a:off x="3787"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16" name="AutoShape 495"/>
                <p:cNvSpPr>
                  <a:spLocks noChangeArrowheads="1"/>
                </p:cNvSpPr>
                <p:nvPr/>
              </p:nvSpPr>
              <p:spPr bwMode="auto">
                <a:xfrm>
                  <a:off x="3787"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17" name="AutoShape 496"/>
                <p:cNvSpPr>
                  <a:spLocks noChangeArrowheads="1"/>
                </p:cNvSpPr>
                <p:nvPr/>
              </p:nvSpPr>
              <p:spPr bwMode="auto">
                <a:xfrm>
                  <a:off x="3787"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18" name="AutoShape 497"/>
                <p:cNvSpPr>
                  <a:spLocks noChangeArrowheads="1"/>
                </p:cNvSpPr>
                <p:nvPr/>
              </p:nvSpPr>
              <p:spPr bwMode="auto">
                <a:xfrm>
                  <a:off x="3787"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19" name="AutoShape 498"/>
                <p:cNvSpPr>
                  <a:spLocks noChangeArrowheads="1"/>
                </p:cNvSpPr>
                <p:nvPr/>
              </p:nvSpPr>
              <p:spPr bwMode="auto">
                <a:xfrm>
                  <a:off x="3787"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20" name="AutoShape 499"/>
                <p:cNvSpPr>
                  <a:spLocks noChangeArrowheads="1"/>
                </p:cNvSpPr>
                <p:nvPr/>
              </p:nvSpPr>
              <p:spPr bwMode="auto">
                <a:xfrm>
                  <a:off x="3787"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21" name="AutoShape 500"/>
                <p:cNvSpPr>
                  <a:spLocks noChangeArrowheads="1"/>
                </p:cNvSpPr>
                <p:nvPr/>
              </p:nvSpPr>
              <p:spPr bwMode="auto">
                <a:xfrm>
                  <a:off x="3787"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22" name="AutoShape 501"/>
                <p:cNvSpPr>
                  <a:spLocks noChangeArrowheads="1"/>
                </p:cNvSpPr>
                <p:nvPr/>
              </p:nvSpPr>
              <p:spPr bwMode="auto">
                <a:xfrm>
                  <a:off x="3878"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23" name="AutoShape 502"/>
                <p:cNvSpPr>
                  <a:spLocks noChangeArrowheads="1"/>
                </p:cNvSpPr>
                <p:nvPr/>
              </p:nvSpPr>
              <p:spPr bwMode="auto">
                <a:xfrm>
                  <a:off x="3878"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24" name="AutoShape 503"/>
                <p:cNvSpPr>
                  <a:spLocks noChangeArrowheads="1"/>
                </p:cNvSpPr>
                <p:nvPr/>
              </p:nvSpPr>
              <p:spPr bwMode="auto">
                <a:xfrm>
                  <a:off x="3878"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25" name="AutoShape 504"/>
                <p:cNvSpPr>
                  <a:spLocks noChangeArrowheads="1"/>
                </p:cNvSpPr>
                <p:nvPr/>
              </p:nvSpPr>
              <p:spPr bwMode="auto">
                <a:xfrm>
                  <a:off x="3878"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26" name="AutoShape 505"/>
                <p:cNvSpPr>
                  <a:spLocks noChangeArrowheads="1"/>
                </p:cNvSpPr>
                <p:nvPr/>
              </p:nvSpPr>
              <p:spPr bwMode="auto">
                <a:xfrm>
                  <a:off x="3878"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27" name="AutoShape 506"/>
                <p:cNvSpPr>
                  <a:spLocks noChangeArrowheads="1"/>
                </p:cNvSpPr>
                <p:nvPr/>
              </p:nvSpPr>
              <p:spPr bwMode="auto">
                <a:xfrm>
                  <a:off x="3878"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28" name="AutoShape 507"/>
                <p:cNvSpPr>
                  <a:spLocks noChangeArrowheads="1"/>
                </p:cNvSpPr>
                <p:nvPr/>
              </p:nvSpPr>
              <p:spPr bwMode="auto">
                <a:xfrm>
                  <a:off x="3878"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29" name="AutoShape 508"/>
                <p:cNvSpPr>
                  <a:spLocks noChangeArrowheads="1"/>
                </p:cNvSpPr>
                <p:nvPr/>
              </p:nvSpPr>
              <p:spPr bwMode="auto">
                <a:xfrm>
                  <a:off x="3878"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30" name="AutoShape 509"/>
                <p:cNvSpPr>
                  <a:spLocks noChangeArrowheads="1"/>
                </p:cNvSpPr>
                <p:nvPr/>
              </p:nvSpPr>
              <p:spPr bwMode="auto">
                <a:xfrm>
                  <a:off x="3878"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31" name="AutoShape 510"/>
                <p:cNvSpPr>
                  <a:spLocks noChangeArrowheads="1"/>
                </p:cNvSpPr>
                <p:nvPr/>
              </p:nvSpPr>
              <p:spPr bwMode="auto">
                <a:xfrm>
                  <a:off x="3878"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32" name="AutoShape 511"/>
                <p:cNvSpPr>
                  <a:spLocks noChangeArrowheads="1"/>
                </p:cNvSpPr>
                <p:nvPr/>
              </p:nvSpPr>
              <p:spPr bwMode="auto">
                <a:xfrm>
                  <a:off x="3878"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33" name="AutoShape 512"/>
                <p:cNvSpPr>
                  <a:spLocks noChangeArrowheads="1"/>
                </p:cNvSpPr>
                <p:nvPr/>
              </p:nvSpPr>
              <p:spPr bwMode="auto">
                <a:xfrm>
                  <a:off x="3878"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34" name="AutoShape 513"/>
                <p:cNvSpPr>
                  <a:spLocks noChangeArrowheads="1"/>
                </p:cNvSpPr>
                <p:nvPr/>
              </p:nvSpPr>
              <p:spPr bwMode="auto">
                <a:xfrm>
                  <a:off x="3878"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35" name="AutoShape 514"/>
                <p:cNvSpPr>
                  <a:spLocks noChangeArrowheads="1"/>
                </p:cNvSpPr>
                <p:nvPr/>
              </p:nvSpPr>
              <p:spPr bwMode="auto">
                <a:xfrm>
                  <a:off x="3878"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36" name="AutoShape 515"/>
                <p:cNvSpPr>
                  <a:spLocks noChangeArrowheads="1"/>
                </p:cNvSpPr>
                <p:nvPr/>
              </p:nvSpPr>
              <p:spPr bwMode="auto">
                <a:xfrm>
                  <a:off x="3878"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37" name="AutoShape 516"/>
                <p:cNvSpPr>
                  <a:spLocks noChangeArrowheads="1"/>
                </p:cNvSpPr>
                <p:nvPr/>
              </p:nvSpPr>
              <p:spPr bwMode="auto">
                <a:xfrm>
                  <a:off x="3878"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38" name="AutoShape 517"/>
                <p:cNvSpPr>
                  <a:spLocks noChangeArrowheads="1"/>
                </p:cNvSpPr>
                <p:nvPr/>
              </p:nvSpPr>
              <p:spPr bwMode="auto">
                <a:xfrm>
                  <a:off x="3878"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39" name="AutoShape 518"/>
                <p:cNvSpPr>
                  <a:spLocks noChangeArrowheads="1"/>
                </p:cNvSpPr>
                <p:nvPr/>
              </p:nvSpPr>
              <p:spPr bwMode="auto">
                <a:xfrm>
                  <a:off x="3878"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40" name="AutoShape 519"/>
                <p:cNvSpPr>
                  <a:spLocks noChangeArrowheads="1"/>
                </p:cNvSpPr>
                <p:nvPr/>
              </p:nvSpPr>
              <p:spPr bwMode="auto">
                <a:xfrm>
                  <a:off x="3878"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41" name="AutoShape 520"/>
                <p:cNvSpPr>
                  <a:spLocks noChangeArrowheads="1"/>
                </p:cNvSpPr>
                <p:nvPr/>
              </p:nvSpPr>
              <p:spPr bwMode="auto">
                <a:xfrm>
                  <a:off x="3878"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42" name="AutoShape 521"/>
                <p:cNvSpPr>
                  <a:spLocks noChangeArrowheads="1"/>
                </p:cNvSpPr>
                <p:nvPr/>
              </p:nvSpPr>
              <p:spPr bwMode="auto">
                <a:xfrm>
                  <a:off x="3969"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43" name="AutoShape 522"/>
                <p:cNvSpPr>
                  <a:spLocks noChangeArrowheads="1"/>
                </p:cNvSpPr>
                <p:nvPr/>
              </p:nvSpPr>
              <p:spPr bwMode="auto">
                <a:xfrm>
                  <a:off x="3969"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44" name="AutoShape 523"/>
                <p:cNvSpPr>
                  <a:spLocks noChangeArrowheads="1"/>
                </p:cNvSpPr>
                <p:nvPr/>
              </p:nvSpPr>
              <p:spPr bwMode="auto">
                <a:xfrm>
                  <a:off x="3969"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45" name="AutoShape 524"/>
                <p:cNvSpPr>
                  <a:spLocks noChangeArrowheads="1"/>
                </p:cNvSpPr>
                <p:nvPr/>
              </p:nvSpPr>
              <p:spPr bwMode="auto">
                <a:xfrm>
                  <a:off x="3969"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46" name="AutoShape 525"/>
                <p:cNvSpPr>
                  <a:spLocks noChangeArrowheads="1"/>
                </p:cNvSpPr>
                <p:nvPr/>
              </p:nvSpPr>
              <p:spPr bwMode="auto">
                <a:xfrm>
                  <a:off x="3969"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47" name="AutoShape 526"/>
                <p:cNvSpPr>
                  <a:spLocks noChangeArrowheads="1"/>
                </p:cNvSpPr>
                <p:nvPr/>
              </p:nvSpPr>
              <p:spPr bwMode="auto">
                <a:xfrm>
                  <a:off x="3969"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48" name="AutoShape 527"/>
                <p:cNvSpPr>
                  <a:spLocks noChangeArrowheads="1"/>
                </p:cNvSpPr>
                <p:nvPr/>
              </p:nvSpPr>
              <p:spPr bwMode="auto">
                <a:xfrm>
                  <a:off x="3969"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49" name="AutoShape 528"/>
                <p:cNvSpPr>
                  <a:spLocks noChangeArrowheads="1"/>
                </p:cNvSpPr>
                <p:nvPr/>
              </p:nvSpPr>
              <p:spPr bwMode="auto">
                <a:xfrm>
                  <a:off x="3969"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50" name="AutoShape 529"/>
                <p:cNvSpPr>
                  <a:spLocks noChangeArrowheads="1"/>
                </p:cNvSpPr>
                <p:nvPr/>
              </p:nvSpPr>
              <p:spPr bwMode="auto">
                <a:xfrm>
                  <a:off x="3969"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351" name="AutoShape 530"/>
                <p:cNvSpPr>
                  <a:spLocks noChangeArrowheads="1"/>
                </p:cNvSpPr>
                <p:nvPr/>
              </p:nvSpPr>
              <p:spPr bwMode="auto">
                <a:xfrm>
                  <a:off x="3969"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8444" name="Group 834"/>
              <p:cNvGrpSpPr>
                <a:grpSpLocks/>
              </p:cNvGrpSpPr>
              <p:nvPr/>
            </p:nvGrpSpPr>
            <p:grpSpPr bwMode="auto">
              <a:xfrm>
                <a:off x="3174" y="1814"/>
                <a:ext cx="862" cy="952"/>
                <a:chOff x="3243" y="1752"/>
                <a:chExt cx="862" cy="952"/>
              </a:xfrm>
            </p:grpSpPr>
            <p:sp>
              <p:nvSpPr>
                <p:cNvPr id="19152" name="AutoShape 835"/>
                <p:cNvSpPr>
                  <a:spLocks noChangeArrowheads="1"/>
                </p:cNvSpPr>
                <p:nvPr/>
              </p:nvSpPr>
              <p:spPr bwMode="auto">
                <a:xfrm>
                  <a:off x="3243"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53" name="AutoShape 836"/>
                <p:cNvSpPr>
                  <a:spLocks noChangeArrowheads="1"/>
                </p:cNvSpPr>
                <p:nvPr/>
              </p:nvSpPr>
              <p:spPr bwMode="auto">
                <a:xfrm>
                  <a:off x="3243"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54" name="AutoShape 837"/>
                <p:cNvSpPr>
                  <a:spLocks noChangeArrowheads="1"/>
                </p:cNvSpPr>
                <p:nvPr/>
              </p:nvSpPr>
              <p:spPr bwMode="auto">
                <a:xfrm>
                  <a:off x="3243"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55" name="AutoShape 838"/>
                <p:cNvSpPr>
                  <a:spLocks noChangeArrowheads="1"/>
                </p:cNvSpPr>
                <p:nvPr/>
              </p:nvSpPr>
              <p:spPr bwMode="auto">
                <a:xfrm>
                  <a:off x="3243"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56" name="AutoShape 839"/>
                <p:cNvSpPr>
                  <a:spLocks noChangeArrowheads="1"/>
                </p:cNvSpPr>
                <p:nvPr/>
              </p:nvSpPr>
              <p:spPr bwMode="auto">
                <a:xfrm>
                  <a:off x="3243"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57" name="AutoShape 840"/>
                <p:cNvSpPr>
                  <a:spLocks noChangeArrowheads="1"/>
                </p:cNvSpPr>
                <p:nvPr/>
              </p:nvSpPr>
              <p:spPr bwMode="auto">
                <a:xfrm>
                  <a:off x="3243"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58" name="AutoShape 841"/>
                <p:cNvSpPr>
                  <a:spLocks noChangeArrowheads="1"/>
                </p:cNvSpPr>
                <p:nvPr/>
              </p:nvSpPr>
              <p:spPr bwMode="auto">
                <a:xfrm>
                  <a:off x="3243"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59" name="AutoShape 842"/>
                <p:cNvSpPr>
                  <a:spLocks noChangeArrowheads="1"/>
                </p:cNvSpPr>
                <p:nvPr/>
              </p:nvSpPr>
              <p:spPr bwMode="auto">
                <a:xfrm>
                  <a:off x="3243"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60" name="AutoShape 843"/>
                <p:cNvSpPr>
                  <a:spLocks noChangeArrowheads="1"/>
                </p:cNvSpPr>
                <p:nvPr/>
              </p:nvSpPr>
              <p:spPr bwMode="auto">
                <a:xfrm>
                  <a:off x="3243"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61" name="AutoShape 844"/>
                <p:cNvSpPr>
                  <a:spLocks noChangeArrowheads="1"/>
                </p:cNvSpPr>
                <p:nvPr/>
              </p:nvSpPr>
              <p:spPr bwMode="auto">
                <a:xfrm>
                  <a:off x="3243"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62" name="AutoShape 845"/>
                <p:cNvSpPr>
                  <a:spLocks noChangeArrowheads="1"/>
                </p:cNvSpPr>
                <p:nvPr/>
              </p:nvSpPr>
              <p:spPr bwMode="auto">
                <a:xfrm>
                  <a:off x="3334"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63" name="AutoShape 846"/>
                <p:cNvSpPr>
                  <a:spLocks noChangeArrowheads="1"/>
                </p:cNvSpPr>
                <p:nvPr/>
              </p:nvSpPr>
              <p:spPr bwMode="auto">
                <a:xfrm>
                  <a:off x="3334"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64" name="AutoShape 847"/>
                <p:cNvSpPr>
                  <a:spLocks noChangeArrowheads="1"/>
                </p:cNvSpPr>
                <p:nvPr/>
              </p:nvSpPr>
              <p:spPr bwMode="auto">
                <a:xfrm>
                  <a:off x="3334"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65" name="AutoShape 848"/>
                <p:cNvSpPr>
                  <a:spLocks noChangeArrowheads="1"/>
                </p:cNvSpPr>
                <p:nvPr/>
              </p:nvSpPr>
              <p:spPr bwMode="auto">
                <a:xfrm>
                  <a:off x="3334"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66" name="AutoShape 849"/>
                <p:cNvSpPr>
                  <a:spLocks noChangeArrowheads="1"/>
                </p:cNvSpPr>
                <p:nvPr/>
              </p:nvSpPr>
              <p:spPr bwMode="auto">
                <a:xfrm>
                  <a:off x="3334"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67" name="AutoShape 850"/>
                <p:cNvSpPr>
                  <a:spLocks noChangeArrowheads="1"/>
                </p:cNvSpPr>
                <p:nvPr/>
              </p:nvSpPr>
              <p:spPr bwMode="auto">
                <a:xfrm>
                  <a:off x="3334"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68" name="AutoShape 851"/>
                <p:cNvSpPr>
                  <a:spLocks noChangeArrowheads="1"/>
                </p:cNvSpPr>
                <p:nvPr/>
              </p:nvSpPr>
              <p:spPr bwMode="auto">
                <a:xfrm>
                  <a:off x="3334"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69" name="AutoShape 852"/>
                <p:cNvSpPr>
                  <a:spLocks noChangeArrowheads="1"/>
                </p:cNvSpPr>
                <p:nvPr/>
              </p:nvSpPr>
              <p:spPr bwMode="auto">
                <a:xfrm>
                  <a:off x="3334"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70" name="AutoShape 853"/>
                <p:cNvSpPr>
                  <a:spLocks noChangeArrowheads="1"/>
                </p:cNvSpPr>
                <p:nvPr/>
              </p:nvSpPr>
              <p:spPr bwMode="auto">
                <a:xfrm>
                  <a:off x="3334"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71" name="AutoShape 854"/>
                <p:cNvSpPr>
                  <a:spLocks noChangeArrowheads="1"/>
                </p:cNvSpPr>
                <p:nvPr/>
              </p:nvSpPr>
              <p:spPr bwMode="auto">
                <a:xfrm>
                  <a:off x="3334"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72" name="AutoShape 855"/>
                <p:cNvSpPr>
                  <a:spLocks noChangeArrowheads="1"/>
                </p:cNvSpPr>
                <p:nvPr/>
              </p:nvSpPr>
              <p:spPr bwMode="auto">
                <a:xfrm>
                  <a:off x="3424"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73" name="AutoShape 856"/>
                <p:cNvSpPr>
                  <a:spLocks noChangeArrowheads="1"/>
                </p:cNvSpPr>
                <p:nvPr/>
              </p:nvSpPr>
              <p:spPr bwMode="auto">
                <a:xfrm>
                  <a:off x="3424"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74" name="AutoShape 857"/>
                <p:cNvSpPr>
                  <a:spLocks noChangeArrowheads="1"/>
                </p:cNvSpPr>
                <p:nvPr/>
              </p:nvSpPr>
              <p:spPr bwMode="auto">
                <a:xfrm>
                  <a:off x="3424"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75" name="AutoShape 858"/>
                <p:cNvSpPr>
                  <a:spLocks noChangeArrowheads="1"/>
                </p:cNvSpPr>
                <p:nvPr/>
              </p:nvSpPr>
              <p:spPr bwMode="auto">
                <a:xfrm>
                  <a:off x="3424"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76" name="AutoShape 859"/>
                <p:cNvSpPr>
                  <a:spLocks noChangeArrowheads="1"/>
                </p:cNvSpPr>
                <p:nvPr/>
              </p:nvSpPr>
              <p:spPr bwMode="auto">
                <a:xfrm>
                  <a:off x="3424"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77" name="AutoShape 860"/>
                <p:cNvSpPr>
                  <a:spLocks noChangeArrowheads="1"/>
                </p:cNvSpPr>
                <p:nvPr/>
              </p:nvSpPr>
              <p:spPr bwMode="auto">
                <a:xfrm>
                  <a:off x="3424"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78" name="AutoShape 861"/>
                <p:cNvSpPr>
                  <a:spLocks noChangeArrowheads="1"/>
                </p:cNvSpPr>
                <p:nvPr/>
              </p:nvSpPr>
              <p:spPr bwMode="auto">
                <a:xfrm>
                  <a:off x="3424"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79" name="AutoShape 862"/>
                <p:cNvSpPr>
                  <a:spLocks noChangeArrowheads="1"/>
                </p:cNvSpPr>
                <p:nvPr/>
              </p:nvSpPr>
              <p:spPr bwMode="auto">
                <a:xfrm>
                  <a:off x="3424"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80" name="AutoShape 863"/>
                <p:cNvSpPr>
                  <a:spLocks noChangeArrowheads="1"/>
                </p:cNvSpPr>
                <p:nvPr/>
              </p:nvSpPr>
              <p:spPr bwMode="auto">
                <a:xfrm>
                  <a:off x="3424"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81" name="AutoShape 864"/>
                <p:cNvSpPr>
                  <a:spLocks noChangeArrowheads="1"/>
                </p:cNvSpPr>
                <p:nvPr/>
              </p:nvSpPr>
              <p:spPr bwMode="auto">
                <a:xfrm>
                  <a:off x="3424"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82" name="AutoShape 865"/>
                <p:cNvSpPr>
                  <a:spLocks noChangeArrowheads="1"/>
                </p:cNvSpPr>
                <p:nvPr/>
              </p:nvSpPr>
              <p:spPr bwMode="auto">
                <a:xfrm>
                  <a:off x="3515"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83" name="AutoShape 866"/>
                <p:cNvSpPr>
                  <a:spLocks noChangeArrowheads="1"/>
                </p:cNvSpPr>
                <p:nvPr/>
              </p:nvSpPr>
              <p:spPr bwMode="auto">
                <a:xfrm>
                  <a:off x="3515"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84" name="AutoShape 867"/>
                <p:cNvSpPr>
                  <a:spLocks noChangeArrowheads="1"/>
                </p:cNvSpPr>
                <p:nvPr/>
              </p:nvSpPr>
              <p:spPr bwMode="auto">
                <a:xfrm>
                  <a:off x="3515"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85" name="AutoShape 868"/>
                <p:cNvSpPr>
                  <a:spLocks noChangeArrowheads="1"/>
                </p:cNvSpPr>
                <p:nvPr/>
              </p:nvSpPr>
              <p:spPr bwMode="auto">
                <a:xfrm>
                  <a:off x="3515"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86" name="AutoShape 869"/>
                <p:cNvSpPr>
                  <a:spLocks noChangeArrowheads="1"/>
                </p:cNvSpPr>
                <p:nvPr/>
              </p:nvSpPr>
              <p:spPr bwMode="auto">
                <a:xfrm>
                  <a:off x="3515"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87" name="AutoShape 870"/>
                <p:cNvSpPr>
                  <a:spLocks noChangeArrowheads="1"/>
                </p:cNvSpPr>
                <p:nvPr/>
              </p:nvSpPr>
              <p:spPr bwMode="auto">
                <a:xfrm>
                  <a:off x="3515"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88" name="AutoShape 871"/>
                <p:cNvSpPr>
                  <a:spLocks noChangeArrowheads="1"/>
                </p:cNvSpPr>
                <p:nvPr/>
              </p:nvSpPr>
              <p:spPr bwMode="auto">
                <a:xfrm>
                  <a:off x="3515"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89" name="AutoShape 872"/>
                <p:cNvSpPr>
                  <a:spLocks noChangeArrowheads="1"/>
                </p:cNvSpPr>
                <p:nvPr/>
              </p:nvSpPr>
              <p:spPr bwMode="auto">
                <a:xfrm>
                  <a:off x="3515"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90" name="AutoShape 873"/>
                <p:cNvSpPr>
                  <a:spLocks noChangeArrowheads="1"/>
                </p:cNvSpPr>
                <p:nvPr/>
              </p:nvSpPr>
              <p:spPr bwMode="auto">
                <a:xfrm>
                  <a:off x="3515"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91" name="AutoShape 874"/>
                <p:cNvSpPr>
                  <a:spLocks noChangeArrowheads="1"/>
                </p:cNvSpPr>
                <p:nvPr/>
              </p:nvSpPr>
              <p:spPr bwMode="auto">
                <a:xfrm>
                  <a:off x="3515"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92" name="AutoShape 875"/>
                <p:cNvSpPr>
                  <a:spLocks noChangeArrowheads="1"/>
                </p:cNvSpPr>
                <p:nvPr/>
              </p:nvSpPr>
              <p:spPr bwMode="auto">
                <a:xfrm>
                  <a:off x="3606"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93" name="AutoShape 876"/>
                <p:cNvSpPr>
                  <a:spLocks noChangeArrowheads="1"/>
                </p:cNvSpPr>
                <p:nvPr/>
              </p:nvSpPr>
              <p:spPr bwMode="auto">
                <a:xfrm>
                  <a:off x="3606"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94" name="AutoShape 877"/>
                <p:cNvSpPr>
                  <a:spLocks noChangeArrowheads="1"/>
                </p:cNvSpPr>
                <p:nvPr/>
              </p:nvSpPr>
              <p:spPr bwMode="auto">
                <a:xfrm>
                  <a:off x="3606"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95" name="AutoShape 878"/>
                <p:cNvSpPr>
                  <a:spLocks noChangeArrowheads="1"/>
                </p:cNvSpPr>
                <p:nvPr/>
              </p:nvSpPr>
              <p:spPr bwMode="auto">
                <a:xfrm>
                  <a:off x="3606"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96" name="AutoShape 879"/>
                <p:cNvSpPr>
                  <a:spLocks noChangeArrowheads="1"/>
                </p:cNvSpPr>
                <p:nvPr/>
              </p:nvSpPr>
              <p:spPr bwMode="auto">
                <a:xfrm>
                  <a:off x="3606"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97" name="AutoShape 880"/>
                <p:cNvSpPr>
                  <a:spLocks noChangeArrowheads="1"/>
                </p:cNvSpPr>
                <p:nvPr/>
              </p:nvSpPr>
              <p:spPr bwMode="auto">
                <a:xfrm>
                  <a:off x="3606"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98" name="AutoShape 881"/>
                <p:cNvSpPr>
                  <a:spLocks noChangeArrowheads="1"/>
                </p:cNvSpPr>
                <p:nvPr/>
              </p:nvSpPr>
              <p:spPr bwMode="auto">
                <a:xfrm>
                  <a:off x="3606"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99" name="AutoShape 882"/>
                <p:cNvSpPr>
                  <a:spLocks noChangeArrowheads="1"/>
                </p:cNvSpPr>
                <p:nvPr/>
              </p:nvSpPr>
              <p:spPr bwMode="auto">
                <a:xfrm>
                  <a:off x="3606"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00" name="AutoShape 883"/>
                <p:cNvSpPr>
                  <a:spLocks noChangeArrowheads="1"/>
                </p:cNvSpPr>
                <p:nvPr/>
              </p:nvSpPr>
              <p:spPr bwMode="auto">
                <a:xfrm>
                  <a:off x="3606"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01" name="AutoShape 884"/>
                <p:cNvSpPr>
                  <a:spLocks noChangeArrowheads="1"/>
                </p:cNvSpPr>
                <p:nvPr/>
              </p:nvSpPr>
              <p:spPr bwMode="auto">
                <a:xfrm>
                  <a:off x="3606"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02" name="AutoShape 885"/>
                <p:cNvSpPr>
                  <a:spLocks noChangeArrowheads="1"/>
                </p:cNvSpPr>
                <p:nvPr/>
              </p:nvSpPr>
              <p:spPr bwMode="auto">
                <a:xfrm>
                  <a:off x="3697"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03" name="AutoShape 886"/>
                <p:cNvSpPr>
                  <a:spLocks noChangeArrowheads="1"/>
                </p:cNvSpPr>
                <p:nvPr/>
              </p:nvSpPr>
              <p:spPr bwMode="auto">
                <a:xfrm>
                  <a:off x="3697"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04" name="AutoShape 887"/>
                <p:cNvSpPr>
                  <a:spLocks noChangeArrowheads="1"/>
                </p:cNvSpPr>
                <p:nvPr/>
              </p:nvSpPr>
              <p:spPr bwMode="auto">
                <a:xfrm>
                  <a:off x="3697"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05" name="AutoShape 888"/>
                <p:cNvSpPr>
                  <a:spLocks noChangeArrowheads="1"/>
                </p:cNvSpPr>
                <p:nvPr/>
              </p:nvSpPr>
              <p:spPr bwMode="auto">
                <a:xfrm>
                  <a:off x="3697"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06" name="AutoShape 889"/>
                <p:cNvSpPr>
                  <a:spLocks noChangeArrowheads="1"/>
                </p:cNvSpPr>
                <p:nvPr/>
              </p:nvSpPr>
              <p:spPr bwMode="auto">
                <a:xfrm>
                  <a:off x="3697"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07" name="AutoShape 890"/>
                <p:cNvSpPr>
                  <a:spLocks noChangeArrowheads="1"/>
                </p:cNvSpPr>
                <p:nvPr/>
              </p:nvSpPr>
              <p:spPr bwMode="auto">
                <a:xfrm>
                  <a:off x="3697"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08" name="AutoShape 891"/>
                <p:cNvSpPr>
                  <a:spLocks noChangeArrowheads="1"/>
                </p:cNvSpPr>
                <p:nvPr/>
              </p:nvSpPr>
              <p:spPr bwMode="auto">
                <a:xfrm>
                  <a:off x="3697"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09" name="AutoShape 892"/>
                <p:cNvSpPr>
                  <a:spLocks noChangeArrowheads="1"/>
                </p:cNvSpPr>
                <p:nvPr/>
              </p:nvSpPr>
              <p:spPr bwMode="auto">
                <a:xfrm>
                  <a:off x="3697"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10" name="AutoShape 893"/>
                <p:cNvSpPr>
                  <a:spLocks noChangeArrowheads="1"/>
                </p:cNvSpPr>
                <p:nvPr/>
              </p:nvSpPr>
              <p:spPr bwMode="auto">
                <a:xfrm>
                  <a:off x="3697"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11" name="AutoShape 894"/>
                <p:cNvSpPr>
                  <a:spLocks noChangeArrowheads="1"/>
                </p:cNvSpPr>
                <p:nvPr/>
              </p:nvSpPr>
              <p:spPr bwMode="auto">
                <a:xfrm>
                  <a:off x="3697"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12" name="AutoShape 895"/>
                <p:cNvSpPr>
                  <a:spLocks noChangeArrowheads="1"/>
                </p:cNvSpPr>
                <p:nvPr/>
              </p:nvSpPr>
              <p:spPr bwMode="auto">
                <a:xfrm>
                  <a:off x="3787"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13" name="AutoShape 896"/>
                <p:cNvSpPr>
                  <a:spLocks noChangeArrowheads="1"/>
                </p:cNvSpPr>
                <p:nvPr/>
              </p:nvSpPr>
              <p:spPr bwMode="auto">
                <a:xfrm>
                  <a:off x="3787"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14" name="AutoShape 897"/>
                <p:cNvSpPr>
                  <a:spLocks noChangeArrowheads="1"/>
                </p:cNvSpPr>
                <p:nvPr/>
              </p:nvSpPr>
              <p:spPr bwMode="auto">
                <a:xfrm>
                  <a:off x="3787"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15" name="AutoShape 898"/>
                <p:cNvSpPr>
                  <a:spLocks noChangeArrowheads="1"/>
                </p:cNvSpPr>
                <p:nvPr/>
              </p:nvSpPr>
              <p:spPr bwMode="auto">
                <a:xfrm>
                  <a:off x="3787"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16" name="AutoShape 899"/>
                <p:cNvSpPr>
                  <a:spLocks noChangeArrowheads="1"/>
                </p:cNvSpPr>
                <p:nvPr/>
              </p:nvSpPr>
              <p:spPr bwMode="auto">
                <a:xfrm>
                  <a:off x="3787"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17" name="AutoShape 900"/>
                <p:cNvSpPr>
                  <a:spLocks noChangeArrowheads="1"/>
                </p:cNvSpPr>
                <p:nvPr/>
              </p:nvSpPr>
              <p:spPr bwMode="auto">
                <a:xfrm>
                  <a:off x="3787"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18" name="AutoShape 901"/>
                <p:cNvSpPr>
                  <a:spLocks noChangeArrowheads="1"/>
                </p:cNvSpPr>
                <p:nvPr/>
              </p:nvSpPr>
              <p:spPr bwMode="auto">
                <a:xfrm>
                  <a:off x="3787"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19" name="AutoShape 902"/>
                <p:cNvSpPr>
                  <a:spLocks noChangeArrowheads="1"/>
                </p:cNvSpPr>
                <p:nvPr/>
              </p:nvSpPr>
              <p:spPr bwMode="auto">
                <a:xfrm>
                  <a:off x="3787"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20" name="AutoShape 903"/>
                <p:cNvSpPr>
                  <a:spLocks noChangeArrowheads="1"/>
                </p:cNvSpPr>
                <p:nvPr/>
              </p:nvSpPr>
              <p:spPr bwMode="auto">
                <a:xfrm>
                  <a:off x="3787"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21" name="AutoShape 904"/>
                <p:cNvSpPr>
                  <a:spLocks noChangeArrowheads="1"/>
                </p:cNvSpPr>
                <p:nvPr/>
              </p:nvSpPr>
              <p:spPr bwMode="auto">
                <a:xfrm>
                  <a:off x="3787"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22" name="AutoShape 905"/>
                <p:cNvSpPr>
                  <a:spLocks noChangeArrowheads="1"/>
                </p:cNvSpPr>
                <p:nvPr/>
              </p:nvSpPr>
              <p:spPr bwMode="auto">
                <a:xfrm>
                  <a:off x="3878"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23" name="AutoShape 906"/>
                <p:cNvSpPr>
                  <a:spLocks noChangeArrowheads="1"/>
                </p:cNvSpPr>
                <p:nvPr/>
              </p:nvSpPr>
              <p:spPr bwMode="auto">
                <a:xfrm>
                  <a:off x="3878"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24" name="AutoShape 907"/>
                <p:cNvSpPr>
                  <a:spLocks noChangeArrowheads="1"/>
                </p:cNvSpPr>
                <p:nvPr/>
              </p:nvSpPr>
              <p:spPr bwMode="auto">
                <a:xfrm>
                  <a:off x="3878"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25" name="AutoShape 908"/>
                <p:cNvSpPr>
                  <a:spLocks noChangeArrowheads="1"/>
                </p:cNvSpPr>
                <p:nvPr/>
              </p:nvSpPr>
              <p:spPr bwMode="auto">
                <a:xfrm>
                  <a:off x="3878"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26" name="AutoShape 909"/>
                <p:cNvSpPr>
                  <a:spLocks noChangeArrowheads="1"/>
                </p:cNvSpPr>
                <p:nvPr/>
              </p:nvSpPr>
              <p:spPr bwMode="auto">
                <a:xfrm>
                  <a:off x="3878"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27" name="AutoShape 910"/>
                <p:cNvSpPr>
                  <a:spLocks noChangeArrowheads="1"/>
                </p:cNvSpPr>
                <p:nvPr/>
              </p:nvSpPr>
              <p:spPr bwMode="auto">
                <a:xfrm>
                  <a:off x="3878"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28" name="AutoShape 911"/>
                <p:cNvSpPr>
                  <a:spLocks noChangeArrowheads="1"/>
                </p:cNvSpPr>
                <p:nvPr/>
              </p:nvSpPr>
              <p:spPr bwMode="auto">
                <a:xfrm>
                  <a:off x="3878"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29" name="AutoShape 912"/>
                <p:cNvSpPr>
                  <a:spLocks noChangeArrowheads="1"/>
                </p:cNvSpPr>
                <p:nvPr/>
              </p:nvSpPr>
              <p:spPr bwMode="auto">
                <a:xfrm>
                  <a:off x="3878"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30" name="AutoShape 913"/>
                <p:cNvSpPr>
                  <a:spLocks noChangeArrowheads="1"/>
                </p:cNvSpPr>
                <p:nvPr/>
              </p:nvSpPr>
              <p:spPr bwMode="auto">
                <a:xfrm>
                  <a:off x="3878"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31" name="AutoShape 914"/>
                <p:cNvSpPr>
                  <a:spLocks noChangeArrowheads="1"/>
                </p:cNvSpPr>
                <p:nvPr/>
              </p:nvSpPr>
              <p:spPr bwMode="auto">
                <a:xfrm>
                  <a:off x="3878"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32" name="AutoShape 915"/>
                <p:cNvSpPr>
                  <a:spLocks noChangeArrowheads="1"/>
                </p:cNvSpPr>
                <p:nvPr/>
              </p:nvSpPr>
              <p:spPr bwMode="auto">
                <a:xfrm>
                  <a:off x="3878"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33" name="AutoShape 916"/>
                <p:cNvSpPr>
                  <a:spLocks noChangeArrowheads="1"/>
                </p:cNvSpPr>
                <p:nvPr/>
              </p:nvSpPr>
              <p:spPr bwMode="auto">
                <a:xfrm>
                  <a:off x="3878"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34" name="AutoShape 917"/>
                <p:cNvSpPr>
                  <a:spLocks noChangeArrowheads="1"/>
                </p:cNvSpPr>
                <p:nvPr/>
              </p:nvSpPr>
              <p:spPr bwMode="auto">
                <a:xfrm>
                  <a:off x="3878"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35" name="AutoShape 918"/>
                <p:cNvSpPr>
                  <a:spLocks noChangeArrowheads="1"/>
                </p:cNvSpPr>
                <p:nvPr/>
              </p:nvSpPr>
              <p:spPr bwMode="auto">
                <a:xfrm>
                  <a:off x="3878"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36" name="AutoShape 919"/>
                <p:cNvSpPr>
                  <a:spLocks noChangeArrowheads="1"/>
                </p:cNvSpPr>
                <p:nvPr/>
              </p:nvSpPr>
              <p:spPr bwMode="auto">
                <a:xfrm>
                  <a:off x="3878"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37" name="AutoShape 920"/>
                <p:cNvSpPr>
                  <a:spLocks noChangeArrowheads="1"/>
                </p:cNvSpPr>
                <p:nvPr/>
              </p:nvSpPr>
              <p:spPr bwMode="auto">
                <a:xfrm>
                  <a:off x="3878"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38" name="AutoShape 921"/>
                <p:cNvSpPr>
                  <a:spLocks noChangeArrowheads="1"/>
                </p:cNvSpPr>
                <p:nvPr/>
              </p:nvSpPr>
              <p:spPr bwMode="auto">
                <a:xfrm>
                  <a:off x="3878"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39" name="AutoShape 922"/>
                <p:cNvSpPr>
                  <a:spLocks noChangeArrowheads="1"/>
                </p:cNvSpPr>
                <p:nvPr/>
              </p:nvSpPr>
              <p:spPr bwMode="auto">
                <a:xfrm>
                  <a:off x="3878"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40" name="AutoShape 923"/>
                <p:cNvSpPr>
                  <a:spLocks noChangeArrowheads="1"/>
                </p:cNvSpPr>
                <p:nvPr/>
              </p:nvSpPr>
              <p:spPr bwMode="auto">
                <a:xfrm>
                  <a:off x="3878"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41" name="AutoShape 924"/>
                <p:cNvSpPr>
                  <a:spLocks noChangeArrowheads="1"/>
                </p:cNvSpPr>
                <p:nvPr/>
              </p:nvSpPr>
              <p:spPr bwMode="auto">
                <a:xfrm>
                  <a:off x="3878"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42" name="AutoShape 925"/>
                <p:cNvSpPr>
                  <a:spLocks noChangeArrowheads="1"/>
                </p:cNvSpPr>
                <p:nvPr/>
              </p:nvSpPr>
              <p:spPr bwMode="auto">
                <a:xfrm>
                  <a:off x="3969"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43" name="AutoShape 926"/>
                <p:cNvSpPr>
                  <a:spLocks noChangeArrowheads="1"/>
                </p:cNvSpPr>
                <p:nvPr/>
              </p:nvSpPr>
              <p:spPr bwMode="auto">
                <a:xfrm>
                  <a:off x="3969"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44" name="AutoShape 927"/>
                <p:cNvSpPr>
                  <a:spLocks noChangeArrowheads="1"/>
                </p:cNvSpPr>
                <p:nvPr/>
              </p:nvSpPr>
              <p:spPr bwMode="auto">
                <a:xfrm>
                  <a:off x="3969"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45" name="AutoShape 928"/>
                <p:cNvSpPr>
                  <a:spLocks noChangeArrowheads="1"/>
                </p:cNvSpPr>
                <p:nvPr/>
              </p:nvSpPr>
              <p:spPr bwMode="auto">
                <a:xfrm>
                  <a:off x="3969"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46" name="AutoShape 929"/>
                <p:cNvSpPr>
                  <a:spLocks noChangeArrowheads="1"/>
                </p:cNvSpPr>
                <p:nvPr/>
              </p:nvSpPr>
              <p:spPr bwMode="auto">
                <a:xfrm>
                  <a:off x="3969"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47" name="AutoShape 930"/>
                <p:cNvSpPr>
                  <a:spLocks noChangeArrowheads="1"/>
                </p:cNvSpPr>
                <p:nvPr/>
              </p:nvSpPr>
              <p:spPr bwMode="auto">
                <a:xfrm>
                  <a:off x="3969"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48" name="AutoShape 931"/>
                <p:cNvSpPr>
                  <a:spLocks noChangeArrowheads="1"/>
                </p:cNvSpPr>
                <p:nvPr/>
              </p:nvSpPr>
              <p:spPr bwMode="auto">
                <a:xfrm>
                  <a:off x="3969"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49" name="AutoShape 932"/>
                <p:cNvSpPr>
                  <a:spLocks noChangeArrowheads="1"/>
                </p:cNvSpPr>
                <p:nvPr/>
              </p:nvSpPr>
              <p:spPr bwMode="auto">
                <a:xfrm>
                  <a:off x="3969"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50" name="AutoShape 933"/>
                <p:cNvSpPr>
                  <a:spLocks noChangeArrowheads="1"/>
                </p:cNvSpPr>
                <p:nvPr/>
              </p:nvSpPr>
              <p:spPr bwMode="auto">
                <a:xfrm>
                  <a:off x="3969"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251" name="AutoShape 934"/>
                <p:cNvSpPr>
                  <a:spLocks noChangeArrowheads="1"/>
                </p:cNvSpPr>
                <p:nvPr/>
              </p:nvSpPr>
              <p:spPr bwMode="auto">
                <a:xfrm>
                  <a:off x="3969"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8445" name="Group 935"/>
              <p:cNvGrpSpPr>
                <a:grpSpLocks/>
              </p:cNvGrpSpPr>
              <p:nvPr/>
            </p:nvGrpSpPr>
            <p:grpSpPr bwMode="auto">
              <a:xfrm>
                <a:off x="3139" y="1842"/>
                <a:ext cx="862" cy="952"/>
                <a:chOff x="3243" y="1752"/>
                <a:chExt cx="862" cy="952"/>
              </a:xfrm>
            </p:grpSpPr>
            <p:sp>
              <p:nvSpPr>
                <p:cNvPr id="19052" name="AutoShape 936"/>
                <p:cNvSpPr>
                  <a:spLocks noChangeArrowheads="1"/>
                </p:cNvSpPr>
                <p:nvPr/>
              </p:nvSpPr>
              <p:spPr bwMode="auto">
                <a:xfrm>
                  <a:off x="3243"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53" name="AutoShape 937"/>
                <p:cNvSpPr>
                  <a:spLocks noChangeArrowheads="1"/>
                </p:cNvSpPr>
                <p:nvPr/>
              </p:nvSpPr>
              <p:spPr bwMode="auto">
                <a:xfrm>
                  <a:off x="3243"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54" name="AutoShape 938"/>
                <p:cNvSpPr>
                  <a:spLocks noChangeArrowheads="1"/>
                </p:cNvSpPr>
                <p:nvPr/>
              </p:nvSpPr>
              <p:spPr bwMode="auto">
                <a:xfrm>
                  <a:off x="3243"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55" name="AutoShape 939"/>
                <p:cNvSpPr>
                  <a:spLocks noChangeArrowheads="1"/>
                </p:cNvSpPr>
                <p:nvPr/>
              </p:nvSpPr>
              <p:spPr bwMode="auto">
                <a:xfrm>
                  <a:off x="3243"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56" name="AutoShape 940"/>
                <p:cNvSpPr>
                  <a:spLocks noChangeArrowheads="1"/>
                </p:cNvSpPr>
                <p:nvPr/>
              </p:nvSpPr>
              <p:spPr bwMode="auto">
                <a:xfrm>
                  <a:off x="3243"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57" name="AutoShape 941"/>
                <p:cNvSpPr>
                  <a:spLocks noChangeArrowheads="1"/>
                </p:cNvSpPr>
                <p:nvPr/>
              </p:nvSpPr>
              <p:spPr bwMode="auto">
                <a:xfrm>
                  <a:off x="3243"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58" name="AutoShape 942"/>
                <p:cNvSpPr>
                  <a:spLocks noChangeArrowheads="1"/>
                </p:cNvSpPr>
                <p:nvPr/>
              </p:nvSpPr>
              <p:spPr bwMode="auto">
                <a:xfrm>
                  <a:off x="3243"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59" name="AutoShape 943"/>
                <p:cNvSpPr>
                  <a:spLocks noChangeArrowheads="1"/>
                </p:cNvSpPr>
                <p:nvPr/>
              </p:nvSpPr>
              <p:spPr bwMode="auto">
                <a:xfrm>
                  <a:off x="3243"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60" name="AutoShape 944"/>
                <p:cNvSpPr>
                  <a:spLocks noChangeArrowheads="1"/>
                </p:cNvSpPr>
                <p:nvPr/>
              </p:nvSpPr>
              <p:spPr bwMode="auto">
                <a:xfrm>
                  <a:off x="3243"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61" name="AutoShape 945"/>
                <p:cNvSpPr>
                  <a:spLocks noChangeArrowheads="1"/>
                </p:cNvSpPr>
                <p:nvPr/>
              </p:nvSpPr>
              <p:spPr bwMode="auto">
                <a:xfrm>
                  <a:off x="3243"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62" name="AutoShape 946"/>
                <p:cNvSpPr>
                  <a:spLocks noChangeArrowheads="1"/>
                </p:cNvSpPr>
                <p:nvPr/>
              </p:nvSpPr>
              <p:spPr bwMode="auto">
                <a:xfrm>
                  <a:off x="3334"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63" name="AutoShape 947"/>
                <p:cNvSpPr>
                  <a:spLocks noChangeArrowheads="1"/>
                </p:cNvSpPr>
                <p:nvPr/>
              </p:nvSpPr>
              <p:spPr bwMode="auto">
                <a:xfrm>
                  <a:off x="3334"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64" name="AutoShape 948"/>
                <p:cNvSpPr>
                  <a:spLocks noChangeArrowheads="1"/>
                </p:cNvSpPr>
                <p:nvPr/>
              </p:nvSpPr>
              <p:spPr bwMode="auto">
                <a:xfrm>
                  <a:off x="3334"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65" name="AutoShape 949"/>
                <p:cNvSpPr>
                  <a:spLocks noChangeArrowheads="1"/>
                </p:cNvSpPr>
                <p:nvPr/>
              </p:nvSpPr>
              <p:spPr bwMode="auto">
                <a:xfrm>
                  <a:off x="3334"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66" name="AutoShape 950"/>
                <p:cNvSpPr>
                  <a:spLocks noChangeArrowheads="1"/>
                </p:cNvSpPr>
                <p:nvPr/>
              </p:nvSpPr>
              <p:spPr bwMode="auto">
                <a:xfrm>
                  <a:off x="3334"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67" name="AutoShape 951"/>
                <p:cNvSpPr>
                  <a:spLocks noChangeArrowheads="1"/>
                </p:cNvSpPr>
                <p:nvPr/>
              </p:nvSpPr>
              <p:spPr bwMode="auto">
                <a:xfrm>
                  <a:off x="3334"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68" name="AutoShape 952"/>
                <p:cNvSpPr>
                  <a:spLocks noChangeArrowheads="1"/>
                </p:cNvSpPr>
                <p:nvPr/>
              </p:nvSpPr>
              <p:spPr bwMode="auto">
                <a:xfrm>
                  <a:off x="3334"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69" name="AutoShape 953"/>
                <p:cNvSpPr>
                  <a:spLocks noChangeArrowheads="1"/>
                </p:cNvSpPr>
                <p:nvPr/>
              </p:nvSpPr>
              <p:spPr bwMode="auto">
                <a:xfrm>
                  <a:off x="3334"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70" name="AutoShape 954"/>
                <p:cNvSpPr>
                  <a:spLocks noChangeArrowheads="1"/>
                </p:cNvSpPr>
                <p:nvPr/>
              </p:nvSpPr>
              <p:spPr bwMode="auto">
                <a:xfrm>
                  <a:off x="3334"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71" name="AutoShape 955"/>
                <p:cNvSpPr>
                  <a:spLocks noChangeArrowheads="1"/>
                </p:cNvSpPr>
                <p:nvPr/>
              </p:nvSpPr>
              <p:spPr bwMode="auto">
                <a:xfrm>
                  <a:off x="3334"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72" name="AutoShape 956"/>
                <p:cNvSpPr>
                  <a:spLocks noChangeArrowheads="1"/>
                </p:cNvSpPr>
                <p:nvPr/>
              </p:nvSpPr>
              <p:spPr bwMode="auto">
                <a:xfrm>
                  <a:off x="3424"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73" name="AutoShape 957"/>
                <p:cNvSpPr>
                  <a:spLocks noChangeArrowheads="1"/>
                </p:cNvSpPr>
                <p:nvPr/>
              </p:nvSpPr>
              <p:spPr bwMode="auto">
                <a:xfrm>
                  <a:off x="3424"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74" name="AutoShape 958"/>
                <p:cNvSpPr>
                  <a:spLocks noChangeArrowheads="1"/>
                </p:cNvSpPr>
                <p:nvPr/>
              </p:nvSpPr>
              <p:spPr bwMode="auto">
                <a:xfrm>
                  <a:off x="3424"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75" name="AutoShape 959"/>
                <p:cNvSpPr>
                  <a:spLocks noChangeArrowheads="1"/>
                </p:cNvSpPr>
                <p:nvPr/>
              </p:nvSpPr>
              <p:spPr bwMode="auto">
                <a:xfrm>
                  <a:off x="3424"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76" name="AutoShape 960"/>
                <p:cNvSpPr>
                  <a:spLocks noChangeArrowheads="1"/>
                </p:cNvSpPr>
                <p:nvPr/>
              </p:nvSpPr>
              <p:spPr bwMode="auto">
                <a:xfrm>
                  <a:off x="3424"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77" name="AutoShape 961"/>
                <p:cNvSpPr>
                  <a:spLocks noChangeArrowheads="1"/>
                </p:cNvSpPr>
                <p:nvPr/>
              </p:nvSpPr>
              <p:spPr bwMode="auto">
                <a:xfrm>
                  <a:off x="3424"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78" name="AutoShape 962"/>
                <p:cNvSpPr>
                  <a:spLocks noChangeArrowheads="1"/>
                </p:cNvSpPr>
                <p:nvPr/>
              </p:nvSpPr>
              <p:spPr bwMode="auto">
                <a:xfrm>
                  <a:off x="3424"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79" name="AutoShape 963"/>
                <p:cNvSpPr>
                  <a:spLocks noChangeArrowheads="1"/>
                </p:cNvSpPr>
                <p:nvPr/>
              </p:nvSpPr>
              <p:spPr bwMode="auto">
                <a:xfrm>
                  <a:off x="3424"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80" name="AutoShape 964"/>
                <p:cNvSpPr>
                  <a:spLocks noChangeArrowheads="1"/>
                </p:cNvSpPr>
                <p:nvPr/>
              </p:nvSpPr>
              <p:spPr bwMode="auto">
                <a:xfrm>
                  <a:off x="3424"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81" name="AutoShape 965"/>
                <p:cNvSpPr>
                  <a:spLocks noChangeArrowheads="1"/>
                </p:cNvSpPr>
                <p:nvPr/>
              </p:nvSpPr>
              <p:spPr bwMode="auto">
                <a:xfrm>
                  <a:off x="3424"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82" name="AutoShape 966"/>
                <p:cNvSpPr>
                  <a:spLocks noChangeArrowheads="1"/>
                </p:cNvSpPr>
                <p:nvPr/>
              </p:nvSpPr>
              <p:spPr bwMode="auto">
                <a:xfrm>
                  <a:off x="3515"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83" name="AutoShape 967"/>
                <p:cNvSpPr>
                  <a:spLocks noChangeArrowheads="1"/>
                </p:cNvSpPr>
                <p:nvPr/>
              </p:nvSpPr>
              <p:spPr bwMode="auto">
                <a:xfrm>
                  <a:off x="3515"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84" name="AutoShape 968"/>
                <p:cNvSpPr>
                  <a:spLocks noChangeArrowheads="1"/>
                </p:cNvSpPr>
                <p:nvPr/>
              </p:nvSpPr>
              <p:spPr bwMode="auto">
                <a:xfrm>
                  <a:off x="3515"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85" name="AutoShape 969"/>
                <p:cNvSpPr>
                  <a:spLocks noChangeArrowheads="1"/>
                </p:cNvSpPr>
                <p:nvPr/>
              </p:nvSpPr>
              <p:spPr bwMode="auto">
                <a:xfrm>
                  <a:off x="3515"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86" name="AutoShape 970"/>
                <p:cNvSpPr>
                  <a:spLocks noChangeArrowheads="1"/>
                </p:cNvSpPr>
                <p:nvPr/>
              </p:nvSpPr>
              <p:spPr bwMode="auto">
                <a:xfrm>
                  <a:off x="3515"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87" name="AutoShape 971"/>
                <p:cNvSpPr>
                  <a:spLocks noChangeArrowheads="1"/>
                </p:cNvSpPr>
                <p:nvPr/>
              </p:nvSpPr>
              <p:spPr bwMode="auto">
                <a:xfrm>
                  <a:off x="3515"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88" name="AutoShape 972"/>
                <p:cNvSpPr>
                  <a:spLocks noChangeArrowheads="1"/>
                </p:cNvSpPr>
                <p:nvPr/>
              </p:nvSpPr>
              <p:spPr bwMode="auto">
                <a:xfrm>
                  <a:off x="3515"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89" name="AutoShape 973"/>
                <p:cNvSpPr>
                  <a:spLocks noChangeArrowheads="1"/>
                </p:cNvSpPr>
                <p:nvPr/>
              </p:nvSpPr>
              <p:spPr bwMode="auto">
                <a:xfrm>
                  <a:off x="3515"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90" name="AutoShape 974"/>
                <p:cNvSpPr>
                  <a:spLocks noChangeArrowheads="1"/>
                </p:cNvSpPr>
                <p:nvPr/>
              </p:nvSpPr>
              <p:spPr bwMode="auto">
                <a:xfrm>
                  <a:off x="3515"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91" name="AutoShape 975"/>
                <p:cNvSpPr>
                  <a:spLocks noChangeArrowheads="1"/>
                </p:cNvSpPr>
                <p:nvPr/>
              </p:nvSpPr>
              <p:spPr bwMode="auto">
                <a:xfrm>
                  <a:off x="3515"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92" name="AutoShape 976"/>
                <p:cNvSpPr>
                  <a:spLocks noChangeArrowheads="1"/>
                </p:cNvSpPr>
                <p:nvPr/>
              </p:nvSpPr>
              <p:spPr bwMode="auto">
                <a:xfrm>
                  <a:off x="3606"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93" name="AutoShape 977"/>
                <p:cNvSpPr>
                  <a:spLocks noChangeArrowheads="1"/>
                </p:cNvSpPr>
                <p:nvPr/>
              </p:nvSpPr>
              <p:spPr bwMode="auto">
                <a:xfrm>
                  <a:off x="3606"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94" name="AutoShape 978"/>
                <p:cNvSpPr>
                  <a:spLocks noChangeArrowheads="1"/>
                </p:cNvSpPr>
                <p:nvPr/>
              </p:nvSpPr>
              <p:spPr bwMode="auto">
                <a:xfrm>
                  <a:off x="3606"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95" name="AutoShape 979"/>
                <p:cNvSpPr>
                  <a:spLocks noChangeArrowheads="1"/>
                </p:cNvSpPr>
                <p:nvPr/>
              </p:nvSpPr>
              <p:spPr bwMode="auto">
                <a:xfrm>
                  <a:off x="3606"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96" name="AutoShape 980"/>
                <p:cNvSpPr>
                  <a:spLocks noChangeArrowheads="1"/>
                </p:cNvSpPr>
                <p:nvPr/>
              </p:nvSpPr>
              <p:spPr bwMode="auto">
                <a:xfrm>
                  <a:off x="3606"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97" name="AutoShape 981"/>
                <p:cNvSpPr>
                  <a:spLocks noChangeArrowheads="1"/>
                </p:cNvSpPr>
                <p:nvPr/>
              </p:nvSpPr>
              <p:spPr bwMode="auto">
                <a:xfrm>
                  <a:off x="3606"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98" name="AutoShape 982"/>
                <p:cNvSpPr>
                  <a:spLocks noChangeArrowheads="1"/>
                </p:cNvSpPr>
                <p:nvPr/>
              </p:nvSpPr>
              <p:spPr bwMode="auto">
                <a:xfrm>
                  <a:off x="3606"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99" name="AutoShape 983"/>
                <p:cNvSpPr>
                  <a:spLocks noChangeArrowheads="1"/>
                </p:cNvSpPr>
                <p:nvPr/>
              </p:nvSpPr>
              <p:spPr bwMode="auto">
                <a:xfrm>
                  <a:off x="3606"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00" name="AutoShape 984"/>
                <p:cNvSpPr>
                  <a:spLocks noChangeArrowheads="1"/>
                </p:cNvSpPr>
                <p:nvPr/>
              </p:nvSpPr>
              <p:spPr bwMode="auto">
                <a:xfrm>
                  <a:off x="3606"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01" name="AutoShape 985"/>
                <p:cNvSpPr>
                  <a:spLocks noChangeArrowheads="1"/>
                </p:cNvSpPr>
                <p:nvPr/>
              </p:nvSpPr>
              <p:spPr bwMode="auto">
                <a:xfrm>
                  <a:off x="3606"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02" name="AutoShape 986"/>
                <p:cNvSpPr>
                  <a:spLocks noChangeArrowheads="1"/>
                </p:cNvSpPr>
                <p:nvPr/>
              </p:nvSpPr>
              <p:spPr bwMode="auto">
                <a:xfrm>
                  <a:off x="3697"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03" name="AutoShape 987"/>
                <p:cNvSpPr>
                  <a:spLocks noChangeArrowheads="1"/>
                </p:cNvSpPr>
                <p:nvPr/>
              </p:nvSpPr>
              <p:spPr bwMode="auto">
                <a:xfrm>
                  <a:off x="3697"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04" name="AutoShape 988"/>
                <p:cNvSpPr>
                  <a:spLocks noChangeArrowheads="1"/>
                </p:cNvSpPr>
                <p:nvPr/>
              </p:nvSpPr>
              <p:spPr bwMode="auto">
                <a:xfrm>
                  <a:off x="3697"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05" name="AutoShape 989"/>
                <p:cNvSpPr>
                  <a:spLocks noChangeArrowheads="1"/>
                </p:cNvSpPr>
                <p:nvPr/>
              </p:nvSpPr>
              <p:spPr bwMode="auto">
                <a:xfrm>
                  <a:off x="3697"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06" name="AutoShape 990"/>
                <p:cNvSpPr>
                  <a:spLocks noChangeArrowheads="1"/>
                </p:cNvSpPr>
                <p:nvPr/>
              </p:nvSpPr>
              <p:spPr bwMode="auto">
                <a:xfrm>
                  <a:off x="3697"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07" name="AutoShape 991"/>
                <p:cNvSpPr>
                  <a:spLocks noChangeArrowheads="1"/>
                </p:cNvSpPr>
                <p:nvPr/>
              </p:nvSpPr>
              <p:spPr bwMode="auto">
                <a:xfrm>
                  <a:off x="3697"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08" name="AutoShape 992"/>
                <p:cNvSpPr>
                  <a:spLocks noChangeArrowheads="1"/>
                </p:cNvSpPr>
                <p:nvPr/>
              </p:nvSpPr>
              <p:spPr bwMode="auto">
                <a:xfrm>
                  <a:off x="3697"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09" name="AutoShape 993"/>
                <p:cNvSpPr>
                  <a:spLocks noChangeArrowheads="1"/>
                </p:cNvSpPr>
                <p:nvPr/>
              </p:nvSpPr>
              <p:spPr bwMode="auto">
                <a:xfrm>
                  <a:off x="3697"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10" name="AutoShape 994"/>
                <p:cNvSpPr>
                  <a:spLocks noChangeArrowheads="1"/>
                </p:cNvSpPr>
                <p:nvPr/>
              </p:nvSpPr>
              <p:spPr bwMode="auto">
                <a:xfrm>
                  <a:off x="3697"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11" name="AutoShape 995"/>
                <p:cNvSpPr>
                  <a:spLocks noChangeArrowheads="1"/>
                </p:cNvSpPr>
                <p:nvPr/>
              </p:nvSpPr>
              <p:spPr bwMode="auto">
                <a:xfrm>
                  <a:off x="3697"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12" name="AutoShape 996"/>
                <p:cNvSpPr>
                  <a:spLocks noChangeArrowheads="1"/>
                </p:cNvSpPr>
                <p:nvPr/>
              </p:nvSpPr>
              <p:spPr bwMode="auto">
                <a:xfrm>
                  <a:off x="3787"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13" name="AutoShape 997"/>
                <p:cNvSpPr>
                  <a:spLocks noChangeArrowheads="1"/>
                </p:cNvSpPr>
                <p:nvPr/>
              </p:nvSpPr>
              <p:spPr bwMode="auto">
                <a:xfrm>
                  <a:off x="3787"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14" name="AutoShape 998"/>
                <p:cNvSpPr>
                  <a:spLocks noChangeArrowheads="1"/>
                </p:cNvSpPr>
                <p:nvPr/>
              </p:nvSpPr>
              <p:spPr bwMode="auto">
                <a:xfrm>
                  <a:off x="3787"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15" name="AutoShape 999"/>
                <p:cNvSpPr>
                  <a:spLocks noChangeArrowheads="1"/>
                </p:cNvSpPr>
                <p:nvPr/>
              </p:nvSpPr>
              <p:spPr bwMode="auto">
                <a:xfrm>
                  <a:off x="3787"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16" name="AutoShape 1000"/>
                <p:cNvSpPr>
                  <a:spLocks noChangeArrowheads="1"/>
                </p:cNvSpPr>
                <p:nvPr/>
              </p:nvSpPr>
              <p:spPr bwMode="auto">
                <a:xfrm>
                  <a:off x="3787"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17" name="AutoShape 1001"/>
                <p:cNvSpPr>
                  <a:spLocks noChangeArrowheads="1"/>
                </p:cNvSpPr>
                <p:nvPr/>
              </p:nvSpPr>
              <p:spPr bwMode="auto">
                <a:xfrm>
                  <a:off x="3787"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18" name="AutoShape 1002"/>
                <p:cNvSpPr>
                  <a:spLocks noChangeArrowheads="1"/>
                </p:cNvSpPr>
                <p:nvPr/>
              </p:nvSpPr>
              <p:spPr bwMode="auto">
                <a:xfrm>
                  <a:off x="3787"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19" name="AutoShape 1003"/>
                <p:cNvSpPr>
                  <a:spLocks noChangeArrowheads="1"/>
                </p:cNvSpPr>
                <p:nvPr/>
              </p:nvSpPr>
              <p:spPr bwMode="auto">
                <a:xfrm>
                  <a:off x="3787"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20" name="AutoShape 1004"/>
                <p:cNvSpPr>
                  <a:spLocks noChangeArrowheads="1"/>
                </p:cNvSpPr>
                <p:nvPr/>
              </p:nvSpPr>
              <p:spPr bwMode="auto">
                <a:xfrm>
                  <a:off x="3787"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21" name="AutoShape 1005"/>
                <p:cNvSpPr>
                  <a:spLocks noChangeArrowheads="1"/>
                </p:cNvSpPr>
                <p:nvPr/>
              </p:nvSpPr>
              <p:spPr bwMode="auto">
                <a:xfrm>
                  <a:off x="3787"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22" name="AutoShape 1006"/>
                <p:cNvSpPr>
                  <a:spLocks noChangeArrowheads="1"/>
                </p:cNvSpPr>
                <p:nvPr/>
              </p:nvSpPr>
              <p:spPr bwMode="auto">
                <a:xfrm>
                  <a:off x="3878"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23" name="AutoShape 1007"/>
                <p:cNvSpPr>
                  <a:spLocks noChangeArrowheads="1"/>
                </p:cNvSpPr>
                <p:nvPr/>
              </p:nvSpPr>
              <p:spPr bwMode="auto">
                <a:xfrm>
                  <a:off x="3878"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24" name="AutoShape 1008"/>
                <p:cNvSpPr>
                  <a:spLocks noChangeArrowheads="1"/>
                </p:cNvSpPr>
                <p:nvPr/>
              </p:nvSpPr>
              <p:spPr bwMode="auto">
                <a:xfrm>
                  <a:off x="3878"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25" name="AutoShape 1009"/>
                <p:cNvSpPr>
                  <a:spLocks noChangeArrowheads="1"/>
                </p:cNvSpPr>
                <p:nvPr/>
              </p:nvSpPr>
              <p:spPr bwMode="auto">
                <a:xfrm>
                  <a:off x="3878"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26" name="AutoShape 1010"/>
                <p:cNvSpPr>
                  <a:spLocks noChangeArrowheads="1"/>
                </p:cNvSpPr>
                <p:nvPr/>
              </p:nvSpPr>
              <p:spPr bwMode="auto">
                <a:xfrm>
                  <a:off x="3878"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27" name="AutoShape 1011"/>
                <p:cNvSpPr>
                  <a:spLocks noChangeArrowheads="1"/>
                </p:cNvSpPr>
                <p:nvPr/>
              </p:nvSpPr>
              <p:spPr bwMode="auto">
                <a:xfrm>
                  <a:off x="3878"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28" name="AutoShape 1012"/>
                <p:cNvSpPr>
                  <a:spLocks noChangeArrowheads="1"/>
                </p:cNvSpPr>
                <p:nvPr/>
              </p:nvSpPr>
              <p:spPr bwMode="auto">
                <a:xfrm>
                  <a:off x="3878"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29" name="AutoShape 1013"/>
                <p:cNvSpPr>
                  <a:spLocks noChangeArrowheads="1"/>
                </p:cNvSpPr>
                <p:nvPr/>
              </p:nvSpPr>
              <p:spPr bwMode="auto">
                <a:xfrm>
                  <a:off x="3878"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30" name="AutoShape 1014"/>
                <p:cNvSpPr>
                  <a:spLocks noChangeArrowheads="1"/>
                </p:cNvSpPr>
                <p:nvPr/>
              </p:nvSpPr>
              <p:spPr bwMode="auto">
                <a:xfrm>
                  <a:off x="3878"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31" name="AutoShape 1015"/>
                <p:cNvSpPr>
                  <a:spLocks noChangeArrowheads="1"/>
                </p:cNvSpPr>
                <p:nvPr/>
              </p:nvSpPr>
              <p:spPr bwMode="auto">
                <a:xfrm>
                  <a:off x="3878"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32" name="AutoShape 1016"/>
                <p:cNvSpPr>
                  <a:spLocks noChangeArrowheads="1"/>
                </p:cNvSpPr>
                <p:nvPr/>
              </p:nvSpPr>
              <p:spPr bwMode="auto">
                <a:xfrm>
                  <a:off x="3878"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33" name="AutoShape 1017"/>
                <p:cNvSpPr>
                  <a:spLocks noChangeArrowheads="1"/>
                </p:cNvSpPr>
                <p:nvPr/>
              </p:nvSpPr>
              <p:spPr bwMode="auto">
                <a:xfrm>
                  <a:off x="3878"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34" name="AutoShape 1018"/>
                <p:cNvSpPr>
                  <a:spLocks noChangeArrowheads="1"/>
                </p:cNvSpPr>
                <p:nvPr/>
              </p:nvSpPr>
              <p:spPr bwMode="auto">
                <a:xfrm>
                  <a:off x="3878"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35" name="AutoShape 1019"/>
                <p:cNvSpPr>
                  <a:spLocks noChangeArrowheads="1"/>
                </p:cNvSpPr>
                <p:nvPr/>
              </p:nvSpPr>
              <p:spPr bwMode="auto">
                <a:xfrm>
                  <a:off x="3878"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36" name="AutoShape 1020"/>
                <p:cNvSpPr>
                  <a:spLocks noChangeArrowheads="1"/>
                </p:cNvSpPr>
                <p:nvPr/>
              </p:nvSpPr>
              <p:spPr bwMode="auto">
                <a:xfrm>
                  <a:off x="3878"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37" name="AutoShape 1021"/>
                <p:cNvSpPr>
                  <a:spLocks noChangeArrowheads="1"/>
                </p:cNvSpPr>
                <p:nvPr/>
              </p:nvSpPr>
              <p:spPr bwMode="auto">
                <a:xfrm>
                  <a:off x="3878"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38" name="AutoShape 1022"/>
                <p:cNvSpPr>
                  <a:spLocks noChangeArrowheads="1"/>
                </p:cNvSpPr>
                <p:nvPr/>
              </p:nvSpPr>
              <p:spPr bwMode="auto">
                <a:xfrm>
                  <a:off x="3878"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39" name="AutoShape 1023"/>
                <p:cNvSpPr>
                  <a:spLocks noChangeArrowheads="1"/>
                </p:cNvSpPr>
                <p:nvPr/>
              </p:nvSpPr>
              <p:spPr bwMode="auto">
                <a:xfrm>
                  <a:off x="3878"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40" name="AutoShape 1024"/>
                <p:cNvSpPr>
                  <a:spLocks noChangeArrowheads="1"/>
                </p:cNvSpPr>
                <p:nvPr/>
              </p:nvSpPr>
              <p:spPr bwMode="auto">
                <a:xfrm>
                  <a:off x="3878"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41" name="AutoShape 1025"/>
                <p:cNvSpPr>
                  <a:spLocks noChangeArrowheads="1"/>
                </p:cNvSpPr>
                <p:nvPr/>
              </p:nvSpPr>
              <p:spPr bwMode="auto">
                <a:xfrm>
                  <a:off x="3878"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42" name="AutoShape 1026"/>
                <p:cNvSpPr>
                  <a:spLocks noChangeArrowheads="1"/>
                </p:cNvSpPr>
                <p:nvPr/>
              </p:nvSpPr>
              <p:spPr bwMode="auto">
                <a:xfrm>
                  <a:off x="3969"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43" name="AutoShape 1027"/>
                <p:cNvSpPr>
                  <a:spLocks noChangeArrowheads="1"/>
                </p:cNvSpPr>
                <p:nvPr/>
              </p:nvSpPr>
              <p:spPr bwMode="auto">
                <a:xfrm>
                  <a:off x="3969"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44" name="AutoShape 1028"/>
                <p:cNvSpPr>
                  <a:spLocks noChangeArrowheads="1"/>
                </p:cNvSpPr>
                <p:nvPr/>
              </p:nvSpPr>
              <p:spPr bwMode="auto">
                <a:xfrm>
                  <a:off x="3969"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45" name="AutoShape 1029"/>
                <p:cNvSpPr>
                  <a:spLocks noChangeArrowheads="1"/>
                </p:cNvSpPr>
                <p:nvPr/>
              </p:nvSpPr>
              <p:spPr bwMode="auto">
                <a:xfrm>
                  <a:off x="3969"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46" name="AutoShape 1030"/>
                <p:cNvSpPr>
                  <a:spLocks noChangeArrowheads="1"/>
                </p:cNvSpPr>
                <p:nvPr/>
              </p:nvSpPr>
              <p:spPr bwMode="auto">
                <a:xfrm>
                  <a:off x="3969"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47" name="AutoShape 1031"/>
                <p:cNvSpPr>
                  <a:spLocks noChangeArrowheads="1"/>
                </p:cNvSpPr>
                <p:nvPr/>
              </p:nvSpPr>
              <p:spPr bwMode="auto">
                <a:xfrm>
                  <a:off x="3969"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48" name="AutoShape 1032"/>
                <p:cNvSpPr>
                  <a:spLocks noChangeArrowheads="1"/>
                </p:cNvSpPr>
                <p:nvPr/>
              </p:nvSpPr>
              <p:spPr bwMode="auto">
                <a:xfrm>
                  <a:off x="3969"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49" name="AutoShape 1033"/>
                <p:cNvSpPr>
                  <a:spLocks noChangeArrowheads="1"/>
                </p:cNvSpPr>
                <p:nvPr/>
              </p:nvSpPr>
              <p:spPr bwMode="auto">
                <a:xfrm>
                  <a:off x="3969"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50" name="AutoShape 1034"/>
                <p:cNvSpPr>
                  <a:spLocks noChangeArrowheads="1"/>
                </p:cNvSpPr>
                <p:nvPr/>
              </p:nvSpPr>
              <p:spPr bwMode="auto">
                <a:xfrm>
                  <a:off x="3969"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151" name="AutoShape 1035"/>
                <p:cNvSpPr>
                  <a:spLocks noChangeArrowheads="1"/>
                </p:cNvSpPr>
                <p:nvPr/>
              </p:nvSpPr>
              <p:spPr bwMode="auto">
                <a:xfrm>
                  <a:off x="3969"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8446" name="Group 3056"/>
              <p:cNvGrpSpPr>
                <a:grpSpLocks/>
              </p:cNvGrpSpPr>
              <p:nvPr/>
            </p:nvGrpSpPr>
            <p:grpSpPr bwMode="auto">
              <a:xfrm>
                <a:off x="3106" y="1875"/>
                <a:ext cx="862" cy="952"/>
                <a:chOff x="3243" y="1752"/>
                <a:chExt cx="862" cy="952"/>
              </a:xfrm>
            </p:grpSpPr>
            <p:sp>
              <p:nvSpPr>
                <p:cNvPr id="18952" name="AutoShape 3057"/>
                <p:cNvSpPr>
                  <a:spLocks noChangeArrowheads="1"/>
                </p:cNvSpPr>
                <p:nvPr/>
              </p:nvSpPr>
              <p:spPr bwMode="auto">
                <a:xfrm>
                  <a:off x="3243"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53" name="AutoShape 3058"/>
                <p:cNvSpPr>
                  <a:spLocks noChangeArrowheads="1"/>
                </p:cNvSpPr>
                <p:nvPr/>
              </p:nvSpPr>
              <p:spPr bwMode="auto">
                <a:xfrm>
                  <a:off x="3243"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54" name="AutoShape 3059"/>
                <p:cNvSpPr>
                  <a:spLocks noChangeArrowheads="1"/>
                </p:cNvSpPr>
                <p:nvPr/>
              </p:nvSpPr>
              <p:spPr bwMode="auto">
                <a:xfrm>
                  <a:off x="3243"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55" name="AutoShape 3060"/>
                <p:cNvSpPr>
                  <a:spLocks noChangeArrowheads="1"/>
                </p:cNvSpPr>
                <p:nvPr/>
              </p:nvSpPr>
              <p:spPr bwMode="auto">
                <a:xfrm>
                  <a:off x="3243"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56" name="AutoShape 3061"/>
                <p:cNvSpPr>
                  <a:spLocks noChangeArrowheads="1"/>
                </p:cNvSpPr>
                <p:nvPr/>
              </p:nvSpPr>
              <p:spPr bwMode="auto">
                <a:xfrm>
                  <a:off x="3243"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57" name="AutoShape 3062"/>
                <p:cNvSpPr>
                  <a:spLocks noChangeArrowheads="1"/>
                </p:cNvSpPr>
                <p:nvPr/>
              </p:nvSpPr>
              <p:spPr bwMode="auto">
                <a:xfrm>
                  <a:off x="3243"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58" name="AutoShape 3063"/>
                <p:cNvSpPr>
                  <a:spLocks noChangeArrowheads="1"/>
                </p:cNvSpPr>
                <p:nvPr/>
              </p:nvSpPr>
              <p:spPr bwMode="auto">
                <a:xfrm>
                  <a:off x="3243"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59" name="AutoShape 3064"/>
                <p:cNvSpPr>
                  <a:spLocks noChangeArrowheads="1"/>
                </p:cNvSpPr>
                <p:nvPr/>
              </p:nvSpPr>
              <p:spPr bwMode="auto">
                <a:xfrm>
                  <a:off x="3243"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60" name="AutoShape 3065"/>
                <p:cNvSpPr>
                  <a:spLocks noChangeArrowheads="1"/>
                </p:cNvSpPr>
                <p:nvPr/>
              </p:nvSpPr>
              <p:spPr bwMode="auto">
                <a:xfrm>
                  <a:off x="3243"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61" name="AutoShape 3066"/>
                <p:cNvSpPr>
                  <a:spLocks noChangeArrowheads="1"/>
                </p:cNvSpPr>
                <p:nvPr/>
              </p:nvSpPr>
              <p:spPr bwMode="auto">
                <a:xfrm>
                  <a:off x="3243"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62" name="AutoShape 3067"/>
                <p:cNvSpPr>
                  <a:spLocks noChangeArrowheads="1"/>
                </p:cNvSpPr>
                <p:nvPr/>
              </p:nvSpPr>
              <p:spPr bwMode="auto">
                <a:xfrm>
                  <a:off x="3334"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63" name="AutoShape 3068"/>
                <p:cNvSpPr>
                  <a:spLocks noChangeArrowheads="1"/>
                </p:cNvSpPr>
                <p:nvPr/>
              </p:nvSpPr>
              <p:spPr bwMode="auto">
                <a:xfrm>
                  <a:off x="3334"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64" name="AutoShape 3069"/>
                <p:cNvSpPr>
                  <a:spLocks noChangeArrowheads="1"/>
                </p:cNvSpPr>
                <p:nvPr/>
              </p:nvSpPr>
              <p:spPr bwMode="auto">
                <a:xfrm>
                  <a:off x="3334"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65" name="AutoShape 3070"/>
                <p:cNvSpPr>
                  <a:spLocks noChangeArrowheads="1"/>
                </p:cNvSpPr>
                <p:nvPr/>
              </p:nvSpPr>
              <p:spPr bwMode="auto">
                <a:xfrm>
                  <a:off x="3334"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66" name="AutoShape 3071"/>
                <p:cNvSpPr>
                  <a:spLocks noChangeArrowheads="1"/>
                </p:cNvSpPr>
                <p:nvPr/>
              </p:nvSpPr>
              <p:spPr bwMode="auto">
                <a:xfrm>
                  <a:off x="3334"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67" name="AutoShape 3072"/>
                <p:cNvSpPr>
                  <a:spLocks noChangeArrowheads="1"/>
                </p:cNvSpPr>
                <p:nvPr/>
              </p:nvSpPr>
              <p:spPr bwMode="auto">
                <a:xfrm>
                  <a:off x="3334"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68" name="AutoShape 3073"/>
                <p:cNvSpPr>
                  <a:spLocks noChangeArrowheads="1"/>
                </p:cNvSpPr>
                <p:nvPr/>
              </p:nvSpPr>
              <p:spPr bwMode="auto">
                <a:xfrm>
                  <a:off x="3334"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69" name="AutoShape 3074"/>
                <p:cNvSpPr>
                  <a:spLocks noChangeArrowheads="1"/>
                </p:cNvSpPr>
                <p:nvPr/>
              </p:nvSpPr>
              <p:spPr bwMode="auto">
                <a:xfrm>
                  <a:off x="3334"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70" name="AutoShape 3075"/>
                <p:cNvSpPr>
                  <a:spLocks noChangeArrowheads="1"/>
                </p:cNvSpPr>
                <p:nvPr/>
              </p:nvSpPr>
              <p:spPr bwMode="auto">
                <a:xfrm>
                  <a:off x="3334"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71" name="AutoShape 3076"/>
                <p:cNvSpPr>
                  <a:spLocks noChangeArrowheads="1"/>
                </p:cNvSpPr>
                <p:nvPr/>
              </p:nvSpPr>
              <p:spPr bwMode="auto">
                <a:xfrm>
                  <a:off x="3334"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72" name="AutoShape 3077"/>
                <p:cNvSpPr>
                  <a:spLocks noChangeArrowheads="1"/>
                </p:cNvSpPr>
                <p:nvPr/>
              </p:nvSpPr>
              <p:spPr bwMode="auto">
                <a:xfrm>
                  <a:off x="3424"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73" name="AutoShape 3078"/>
                <p:cNvSpPr>
                  <a:spLocks noChangeArrowheads="1"/>
                </p:cNvSpPr>
                <p:nvPr/>
              </p:nvSpPr>
              <p:spPr bwMode="auto">
                <a:xfrm>
                  <a:off x="3424"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74" name="AutoShape 3079"/>
                <p:cNvSpPr>
                  <a:spLocks noChangeArrowheads="1"/>
                </p:cNvSpPr>
                <p:nvPr/>
              </p:nvSpPr>
              <p:spPr bwMode="auto">
                <a:xfrm>
                  <a:off x="3424"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75" name="AutoShape 3080"/>
                <p:cNvSpPr>
                  <a:spLocks noChangeArrowheads="1"/>
                </p:cNvSpPr>
                <p:nvPr/>
              </p:nvSpPr>
              <p:spPr bwMode="auto">
                <a:xfrm>
                  <a:off x="3424"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76" name="AutoShape 3081"/>
                <p:cNvSpPr>
                  <a:spLocks noChangeArrowheads="1"/>
                </p:cNvSpPr>
                <p:nvPr/>
              </p:nvSpPr>
              <p:spPr bwMode="auto">
                <a:xfrm>
                  <a:off x="3424"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77" name="AutoShape 3082"/>
                <p:cNvSpPr>
                  <a:spLocks noChangeArrowheads="1"/>
                </p:cNvSpPr>
                <p:nvPr/>
              </p:nvSpPr>
              <p:spPr bwMode="auto">
                <a:xfrm>
                  <a:off x="3424"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78" name="AutoShape 3083"/>
                <p:cNvSpPr>
                  <a:spLocks noChangeArrowheads="1"/>
                </p:cNvSpPr>
                <p:nvPr/>
              </p:nvSpPr>
              <p:spPr bwMode="auto">
                <a:xfrm>
                  <a:off x="3424"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79" name="AutoShape 3084"/>
                <p:cNvSpPr>
                  <a:spLocks noChangeArrowheads="1"/>
                </p:cNvSpPr>
                <p:nvPr/>
              </p:nvSpPr>
              <p:spPr bwMode="auto">
                <a:xfrm>
                  <a:off x="3424"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80" name="AutoShape 3085"/>
                <p:cNvSpPr>
                  <a:spLocks noChangeArrowheads="1"/>
                </p:cNvSpPr>
                <p:nvPr/>
              </p:nvSpPr>
              <p:spPr bwMode="auto">
                <a:xfrm>
                  <a:off x="3424"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81" name="AutoShape 3086"/>
                <p:cNvSpPr>
                  <a:spLocks noChangeArrowheads="1"/>
                </p:cNvSpPr>
                <p:nvPr/>
              </p:nvSpPr>
              <p:spPr bwMode="auto">
                <a:xfrm>
                  <a:off x="3424"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82" name="AutoShape 3087"/>
                <p:cNvSpPr>
                  <a:spLocks noChangeArrowheads="1"/>
                </p:cNvSpPr>
                <p:nvPr/>
              </p:nvSpPr>
              <p:spPr bwMode="auto">
                <a:xfrm>
                  <a:off x="3515"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83" name="AutoShape 3088"/>
                <p:cNvSpPr>
                  <a:spLocks noChangeArrowheads="1"/>
                </p:cNvSpPr>
                <p:nvPr/>
              </p:nvSpPr>
              <p:spPr bwMode="auto">
                <a:xfrm>
                  <a:off x="3515"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84" name="AutoShape 3089"/>
                <p:cNvSpPr>
                  <a:spLocks noChangeArrowheads="1"/>
                </p:cNvSpPr>
                <p:nvPr/>
              </p:nvSpPr>
              <p:spPr bwMode="auto">
                <a:xfrm>
                  <a:off x="3515"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85" name="AutoShape 3090"/>
                <p:cNvSpPr>
                  <a:spLocks noChangeArrowheads="1"/>
                </p:cNvSpPr>
                <p:nvPr/>
              </p:nvSpPr>
              <p:spPr bwMode="auto">
                <a:xfrm>
                  <a:off x="3515"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86" name="AutoShape 3091"/>
                <p:cNvSpPr>
                  <a:spLocks noChangeArrowheads="1"/>
                </p:cNvSpPr>
                <p:nvPr/>
              </p:nvSpPr>
              <p:spPr bwMode="auto">
                <a:xfrm>
                  <a:off x="3515"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87" name="AutoShape 3092"/>
                <p:cNvSpPr>
                  <a:spLocks noChangeArrowheads="1"/>
                </p:cNvSpPr>
                <p:nvPr/>
              </p:nvSpPr>
              <p:spPr bwMode="auto">
                <a:xfrm>
                  <a:off x="3515"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88" name="AutoShape 3093"/>
                <p:cNvSpPr>
                  <a:spLocks noChangeArrowheads="1"/>
                </p:cNvSpPr>
                <p:nvPr/>
              </p:nvSpPr>
              <p:spPr bwMode="auto">
                <a:xfrm>
                  <a:off x="3515"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89" name="AutoShape 3094"/>
                <p:cNvSpPr>
                  <a:spLocks noChangeArrowheads="1"/>
                </p:cNvSpPr>
                <p:nvPr/>
              </p:nvSpPr>
              <p:spPr bwMode="auto">
                <a:xfrm>
                  <a:off x="3515"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90" name="AutoShape 3095"/>
                <p:cNvSpPr>
                  <a:spLocks noChangeArrowheads="1"/>
                </p:cNvSpPr>
                <p:nvPr/>
              </p:nvSpPr>
              <p:spPr bwMode="auto">
                <a:xfrm>
                  <a:off x="3515"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91" name="AutoShape 3096"/>
                <p:cNvSpPr>
                  <a:spLocks noChangeArrowheads="1"/>
                </p:cNvSpPr>
                <p:nvPr/>
              </p:nvSpPr>
              <p:spPr bwMode="auto">
                <a:xfrm>
                  <a:off x="3515"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92" name="AutoShape 3097"/>
                <p:cNvSpPr>
                  <a:spLocks noChangeArrowheads="1"/>
                </p:cNvSpPr>
                <p:nvPr/>
              </p:nvSpPr>
              <p:spPr bwMode="auto">
                <a:xfrm>
                  <a:off x="3606"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93" name="AutoShape 3098"/>
                <p:cNvSpPr>
                  <a:spLocks noChangeArrowheads="1"/>
                </p:cNvSpPr>
                <p:nvPr/>
              </p:nvSpPr>
              <p:spPr bwMode="auto">
                <a:xfrm>
                  <a:off x="3606"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94" name="AutoShape 3099"/>
                <p:cNvSpPr>
                  <a:spLocks noChangeArrowheads="1"/>
                </p:cNvSpPr>
                <p:nvPr/>
              </p:nvSpPr>
              <p:spPr bwMode="auto">
                <a:xfrm>
                  <a:off x="3606"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95" name="AutoShape 3100"/>
                <p:cNvSpPr>
                  <a:spLocks noChangeArrowheads="1"/>
                </p:cNvSpPr>
                <p:nvPr/>
              </p:nvSpPr>
              <p:spPr bwMode="auto">
                <a:xfrm>
                  <a:off x="3606"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96" name="AutoShape 3101"/>
                <p:cNvSpPr>
                  <a:spLocks noChangeArrowheads="1"/>
                </p:cNvSpPr>
                <p:nvPr/>
              </p:nvSpPr>
              <p:spPr bwMode="auto">
                <a:xfrm>
                  <a:off x="3606"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97" name="AutoShape 3102"/>
                <p:cNvSpPr>
                  <a:spLocks noChangeArrowheads="1"/>
                </p:cNvSpPr>
                <p:nvPr/>
              </p:nvSpPr>
              <p:spPr bwMode="auto">
                <a:xfrm>
                  <a:off x="3606"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98" name="AutoShape 3103"/>
                <p:cNvSpPr>
                  <a:spLocks noChangeArrowheads="1"/>
                </p:cNvSpPr>
                <p:nvPr/>
              </p:nvSpPr>
              <p:spPr bwMode="auto">
                <a:xfrm>
                  <a:off x="3606"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99" name="AutoShape 3104"/>
                <p:cNvSpPr>
                  <a:spLocks noChangeArrowheads="1"/>
                </p:cNvSpPr>
                <p:nvPr/>
              </p:nvSpPr>
              <p:spPr bwMode="auto">
                <a:xfrm>
                  <a:off x="3606"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00" name="AutoShape 3105"/>
                <p:cNvSpPr>
                  <a:spLocks noChangeArrowheads="1"/>
                </p:cNvSpPr>
                <p:nvPr/>
              </p:nvSpPr>
              <p:spPr bwMode="auto">
                <a:xfrm>
                  <a:off x="3606"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01" name="AutoShape 3106"/>
                <p:cNvSpPr>
                  <a:spLocks noChangeArrowheads="1"/>
                </p:cNvSpPr>
                <p:nvPr/>
              </p:nvSpPr>
              <p:spPr bwMode="auto">
                <a:xfrm>
                  <a:off x="3606"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02" name="AutoShape 3107"/>
                <p:cNvSpPr>
                  <a:spLocks noChangeArrowheads="1"/>
                </p:cNvSpPr>
                <p:nvPr/>
              </p:nvSpPr>
              <p:spPr bwMode="auto">
                <a:xfrm>
                  <a:off x="3697"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03" name="AutoShape 3108"/>
                <p:cNvSpPr>
                  <a:spLocks noChangeArrowheads="1"/>
                </p:cNvSpPr>
                <p:nvPr/>
              </p:nvSpPr>
              <p:spPr bwMode="auto">
                <a:xfrm>
                  <a:off x="3697"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04" name="AutoShape 3109"/>
                <p:cNvSpPr>
                  <a:spLocks noChangeArrowheads="1"/>
                </p:cNvSpPr>
                <p:nvPr/>
              </p:nvSpPr>
              <p:spPr bwMode="auto">
                <a:xfrm>
                  <a:off x="3697"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05" name="AutoShape 3110"/>
                <p:cNvSpPr>
                  <a:spLocks noChangeArrowheads="1"/>
                </p:cNvSpPr>
                <p:nvPr/>
              </p:nvSpPr>
              <p:spPr bwMode="auto">
                <a:xfrm>
                  <a:off x="3697"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06" name="AutoShape 3111"/>
                <p:cNvSpPr>
                  <a:spLocks noChangeArrowheads="1"/>
                </p:cNvSpPr>
                <p:nvPr/>
              </p:nvSpPr>
              <p:spPr bwMode="auto">
                <a:xfrm>
                  <a:off x="3697"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07" name="AutoShape 3112"/>
                <p:cNvSpPr>
                  <a:spLocks noChangeArrowheads="1"/>
                </p:cNvSpPr>
                <p:nvPr/>
              </p:nvSpPr>
              <p:spPr bwMode="auto">
                <a:xfrm>
                  <a:off x="3697"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08" name="AutoShape 3113"/>
                <p:cNvSpPr>
                  <a:spLocks noChangeArrowheads="1"/>
                </p:cNvSpPr>
                <p:nvPr/>
              </p:nvSpPr>
              <p:spPr bwMode="auto">
                <a:xfrm>
                  <a:off x="3697"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09" name="AutoShape 3114"/>
                <p:cNvSpPr>
                  <a:spLocks noChangeArrowheads="1"/>
                </p:cNvSpPr>
                <p:nvPr/>
              </p:nvSpPr>
              <p:spPr bwMode="auto">
                <a:xfrm>
                  <a:off x="3697"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10" name="AutoShape 3115"/>
                <p:cNvSpPr>
                  <a:spLocks noChangeArrowheads="1"/>
                </p:cNvSpPr>
                <p:nvPr/>
              </p:nvSpPr>
              <p:spPr bwMode="auto">
                <a:xfrm>
                  <a:off x="3697"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11" name="AutoShape 3116"/>
                <p:cNvSpPr>
                  <a:spLocks noChangeArrowheads="1"/>
                </p:cNvSpPr>
                <p:nvPr/>
              </p:nvSpPr>
              <p:spPr bwMode="auto">
                <a:xfrm>
                  <a:off x="3697"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12" name="AutoShape 3117"/>
                <p:cNvSpPr>
                  <a:spLocks noChangeArrowheads="1"/>
                </p:cNvSpPr>
                <p:nvPr/>
              </p:nvSpPr>
              <p:spPr bwMode="auto">
                <a:xfrm>
                  <a:off x="3787"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13" name="AutoShape 3118"/>
                <p:cNvSpPr>
                  <a:spLocks noChangeArrowheads="1"/>
                </p:cNvSpPr>
                <p:nvPr/>
              </p:nvSpPr>
              <p:spPr bwMode="auto">
                <a:xfrm>
                  <a:off x="3787"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14" name="AutoShape 3119"/>
                <p:cNvSpPr>
                  <a:spLocks noChangeArrowheads="1"/>
                </p:cNvSpPr>
                <p:nvPr/>
              </p:nvSpPr>
              <p:spPr bwMode="auto">
                <a:xfrm>
                  <a:off x="3787"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15" name="AutoShape 3120"/>
                <p:cNvSpPr>
                  <a:spLocks noChangeArrowheads="1"/>
                </p:cNvSpPr>
                <p:nvPr/>
              </p:nvSpPr>
              <p:spPr bwMode="auto">
                <a:xfrm>
                  <a:off x="3787"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16" name="AutoShape 3121"/>
                <p:cNvSpPr>
                  <a:spLocks noChangeArrowheads="1"/>
                </p:cNvSpPr>
                <p:nvPr/>
              </p:nvSpPr>
              <p:spPr bwMode="auto">
                <a:xfrm>
                  <a:off x="3787"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17" name="AutoShape 3122"/>
                <p:cNvSpPr>
                  <a:spLocks noChangeArrowheads="1"/>
                </p:cNvSpPr>
                <p:nvPr/>
              </p:nvSpPr>
              <p:spPr bwMode="auto">
                <a:xfrm>
                  <a:off x="3787"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18" name="AutoShape 3123"/>
                <p:cNvSpPr>
                  <a:spLocks noChangeArrowheads="1"/>
                </p:cNvSpPr>
                <p:nvPr/>
              </p:nvSpPr>
              <p:spPr bwMode="auto">
                <a:xfrm>
                  <a:off x="3787"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19" name="AutoShape 3124"/>
                <p:cNvSpPr>
                  <a:spLocks noChangeArrowheads="1"/>
                </p:cNvSpPr>
                <p:nvPr/>
              </p:nvSpPr>
              <p:spPr bwMode="auto">
                <a:xfrm>
                  <a:off x="3787"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20" name="AutoShape 3125"/>
                <p:cNvSpPr>
                  <a:spLocks noChangeArrowheads="1"/>
                </p:cNvSpPr>
                <p:nvPr/>
              </p:nvSpPr>
              <p:spPr bwMode="auto">
                <a:xfrm>
                  <a:off x="3787"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21" name="AutoShape 3126"/>
                <p:cNvSpPr>
                  <a:spLocks noChangeArrowheads="1"/>
                </p:cNvSpPr>
                <p:nvPr/>
              </p:nvSpPr>
              <p:spPr bwMode="auto">
                <a:xfrm>
                  <a:off x="3787"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22" name="AutoShape 3127"/>
                <p:cNvSpPr>
                  <a:spLocks noChangeArrowheads="1"/>
                </p:cNvSpPr>
                <p:nvPr/>
              </p:nvSpPr>
              <p:spPr bwMode="auto">
                <a:xfrm>
                  <a:off x="3878"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23" name="AutoShape 3128"/>
                <p:cNvSpPr>
                  <a:spLocks noChangeArrowheads="1"/>
                </p:cNvSpPr>
                <p:nvPr/>
              </p:nvSpPr>
              <p:spPr bwMode="auto">
                <a:xfrm>
                  <a:off x="3878"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24" name="AutoShape 3129"/>
                <p:cNvSpPr>
                  <a:spLocks noChangeArrowheads="1"/>
                </p:cNvSpPr>
                <p:nvPr/>
              </p:nvSpPr>
              <p:spPr bwMode="auto">
                <a:xfrm>
                  <a:off x="3878"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25" name="AutoShape 3130"/>
                <p:cNvSpPr>
                  <a:spLocks noChangeArrowheads="1"/>
                </p:cNvSpPr>
                <p:nvPr/>
              </p:nvSpPr>
              <p:spPr bwMode="auto">
                <a:xfrm>
                  <a:off x="3878"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26" name="AutoShape 3131"/>
                <p:cNvSpPr>
                  <a:spLocks noChangeArrowheads="1"/>
                </p:cNvSpPr>
                <p:nvPr/>
              </p:nvSpPr>
              <p:spPr bwMode="auto">
                <a:xfrm>
                  <a:off x="3878"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27" name="AutoShape 3132"/>
                <p:cNvSpPr>
                  <a:spLocks noChangeArrowheads="1"/>
                </p:cNvSpPr>
                <p:nvPr/>
              </p:nvSpPr>
              <p:spPr bwMode="auto">
                <a:xfrm>
                  <a:off x="3878"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28" name="AutoShape 3133"/>
                <p:cNvSpPr>
                  <a:spLocks noChangeArrowheads="1"/>
                </p:cNvSpPr>
                <p:nvPr/>
              </p:nvSpPr>
              <p:spPr bwMode="auto">
                <a:xfrm>
                  <a:off x="3878"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29" name="AutoShape 3134"/>
                <p:cNvSpPr>
                  <a:spLocks noChangeArrowheads="1"/>
                </p:cNvSpPr>
                <p:nvPr/>
              </p:nvSpPr>
              <p:spPr bwMode="auto">
                <a:xfrm>
                  <a:off x="3878"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30" name="AutoShape 3135"/>
                <p:cNvSpPr>
                  <a:spLocks noChangeArrowheads="1"/>
                </p:cNvSpPr>
                <p:nvPr/>
              </p:nvSpPr>
              <p:spPr bwMode="auto">
                <a:xfrm>
                  <a:off x="3878"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31" name="AutoShape 3136"/>
                <p:cNvSpPr>
                  <a:spLocks noChangeArrowheads="1"/>
                </p:cNvSpPr>
                <p:nvPr/>
              </p:nvSpPr>
              <p:spPr bwMode="auto">
                <a:xfrm>
                  <a:off x="3878"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32" name="AutoShape 3137"/>
                <p:cNvSpPr>
                  <a:spLocks noChangeArrowheads="1"/>
                </p:cNvSpPr>
                <p:nvPr/>
              </p:nvSpPr>
              <p:spPr bwMode="auto">
                <a:xfrm>
                  <a:off x="3878"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33" name="AutoShape 3138"/>
                <p:cNvSpPr>
                  <a:spLocks noChangeArrowheads="1"/>
                </p:cNvSpPr>
                <p:nvPr/>
              </p:nvSpPr>
              <p:spPr bwMode="auto">
                <a:xfrm>
                  <a:off x="3878"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34" name="AutoShape 3139"/>
                <p:cNvSpPr>
                  <a:spLocks noChangeArrowheads="1"/>
                </p:cNvSpPr>
                <p:nvPr/>
              </p:nvSpPr>
              <p:spPr bwMode="auto">
                <a:xfrm>
                  <a:off x="3878"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35" name="AutoShape 3140"/>
                <p:cNvSpPr>
                  <a:spLocks noChangeArrowheads="1"/>
                </p:cNvSpPr>
                <p:nvPr/>
              </p:nvSpPr>
              <p:spPr bwMode="auto">
                <a:xfrm>
                  <a:off x="3878"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36" name="AutoShape 3141"/>
                <p:cNvSpPr>
                  <a:spLocks noChangeArrowheads="1"/>
                </p:cNvSpPr>
                <p:nvPr/>
              </p:nvSpPr>
              <p:spPr bwMode="auto">
                <a:xfrm>
                  <a:off x="3878"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37" name="AutoShape 3142"/>
                <p:cNvSpPr>
                  <a:spLocks noChangeArrowheads="1"/>
                </p:cNvSpPr>
                <p:nvPr/>
              </p:nvSpPr>
              <p:spPr bwMode="auto">
                <a:xfrm>
                  <a:off x="3878"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38" name="AutoShape 3143"/>
                <p:cNvSpPr>
                  <a:spLocks noChangeArrowheads="1"/>
                </p:cNvSpPr>
                <p:nvPr/>
              </p:nvSpPr>
              <p:spPr bwMode="auto">
                <a:xfrm>
                  <a:off x="3878"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39" name="AutoShape 3144"/>
                <p:cNvSpPr>
                  <a:spLocks noChangeArrowheads="1"/>
                </p:cNvSpPr>
                <p:nvPr/>
              </p:nvSpPr>
              <p:spPr bwMode="auto">
                <a:xfrm>
                  <a:off x="3878"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40" name="AutoShape 3145"/>
                <p:cNvSpPr>
                  <a:spLocks noChangeArrowheads="1"/>
                </p:cNvSpPr>
                <p:nvPr/>
              </p:nvSpPr>
              <p:spPr bwMode="auto">
                <a:xfrm>
                  <a:off x="3878"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41" name="AutoShape 3146"/>
                <p:cNvSpPr>
                  <a:spLocks noChangeArrowheads="1"/>
                </p:cNvSpPr>
                <p:nvPr/>
              </p:nvSpPr>
              <p:spPr bwMode="auto">
                <a:xfrm>
                  <a:off x="3878"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42" name="AutoShape 3147"/>
                <p:cNvSpPr>
                  <a:spLocks noChangeArrowheads="1"/>
                </p:cNvSpPr>
                <p:nvPr/>
              </p:nvSpPr>
              <p:spPr bwMode="auto">
                <a:xfrm>
                  <a:off x="3969"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43" name="AutoShape 3148"/>
                <p:cNvSpPr>
                  <a:spLocks noChangeArrowheads="1"/>
                </p:cNvSpPr>
                <p:nvPr/>
              </p:nvSpPr>
              <p:spPr bwMode="auto">
                <a:xfrm>
                  <a:off x="3969"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44" name="AutoShape 3149"/>
                <p:cNvSpPr>
                  <a:spLocks noChangeArrowheads="1"/>
                </p:cNvSpPr>
                <p:nvPr/>
              </p:nvSpPr>
              <p:spPr bwMode="auto">
                <a:xfrm>
                  <a:off x="3969"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45" name="AutoShape 3150"/>
                <p:cNvSpPr>
                  <a:spLocks noChangeArrowheads="1"/>
                </p:cNvSpPr>
                <p:nvPr/>
              </p:nvSpPr>
              <p:spPr bwMode="auto">
                <a:xfrm>
                  <a:off x="3969"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46" name="AutoShape 3151"/>
                <p:cNvSpPr>
                  <a:spLocks noChangeArrowheads="1"/>
                </p:cNvSpPr>
                <p:nvPr/>
              </p:nvSpPr>
              <p:spPr bwMode="auto">
                <a:xfrm>
                  <a:off x="3969"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47" name="AutoShape 3152"/>
                <p:cNvSpPr>
                  <a:spLocks noChangeArrowheads="1"/>
                </p:cNvSpPr>
                <p:nvPr/>
              </p:nvSpPr>
              <p:spPr bwMode="auto">
                <a:xfrm>
                  <a:off x="3969"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48" name="AutoShape 3153"/>
                <p:cNvSpPr>
                  <a:spLocks noChangeArrowheads="1"/>
                </p:cNvSpPr>
                <p:nvPr/>
              </p:nvSpPr>
              <p:spPr bwMode="auto">
                <a:xfrm>
                  <a:off x="3969"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49" name="AutoShape 3154"/>
                <p:cNvSpPr>
                  <a:spLocks noChangeArrowheads="1"/>
                </p:cNvSpPr>
                <p:nvPr/>
              </p:nvSpPr>
              <p:spPr bwMode="auto">
                <a:xfrm>
                  <a:off x="3969"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50" name="AutoShape 3155"/>
                <p:cNvSpPr>
                  <a:spLocks noChangeArrowheads="1"/>
                </p:cNvSpPr>
                <p:nvPr/>
              </p:nvSpPr>
              <p:spPr bwMode="auto">
                <a:xfrm>
                  <a:off x="3969"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051" name="AutoShape 3156"/>
                <p:cNvSpPr>
                  <a:spLocks noChangeArrowheads="1"/>
                </p:cNvSpPr>
                <p:nvPr/>
              </p:nvSpPr>
              <p:spPr bwMode="auto">
                <a:xfrm>
                  <a:off x="3969"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8447" name="Group 3157"/>
              <p:cNvGrpSpPr>
                <a:grpSpLocks/>
              </p:cNvGrpSpPr>
              <p:nvPr/>
            </p:nvGrpSpPr>
            <p:grpSpPr bwMode="auto">
              <a:xfrm>
                <a:off x="3071" y="1903"/>
                <a:ext cx="862" cy="952"/>
                <a:chOff x="3243" y="1752"/>
                <a:chExt cx="862" cy="952"/>
              </a:xfrm>
            </p:grpSpPr>
            <p:sp>
              <p:nvSpPr>
                <p:cNvPr id="18852" name="AutoShape 3158"/>
                <p:cNvSpPr>
                  <a:spLocks noChangeArrowheads="1"/>
                </p:cNvSpPr>
                <p:nvPr/>
              </p:nvSpPr>
              <p:spPr bwMode="auto">
                <a:xfrm>
                  <a:off x="3243"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53" name="AutoShape 3159"/>
                <p:cNvSpPr>
                  <a:spLocks noChangeArrowheads="1"/>
                </p:cNvSpPr>
                <p:nvPr/>
              </p:nvSpPr>
              <p:spPr bwMode="auto">
                <a:xfrm>
                  <a:off x="3243"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54" name="AutoShape 3160"/>
                <p:cNvSpPr>
                  <a:spLocks noChangeArrowheads="1"/>
                </p:cNvSpPr>
                <p:nvPr/>
              </p:nvSpPr>
              <p:spPr bwMode="auto">
                <a:xfrm>
                  <a:off x="3243"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55" name="AutoShape 3161"/>
                <p:cNvSpPr>
                  <a:spLocks noChangeArrowheads="1"/>
                </p:cNvSpPr>
                <p:nvPr/>
              </p:nvSpPr>
              <p:spPr bwMode="auto">
                <a:xfrm>
                  <a:off x="3243"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56" name="AutoShape 3162"/>
                <p:cNvSpPr>
                  <a:spLocks noChangeArrowheads="1"/>
                </p:cNvSpPr>
                <p:nvPr/>
              </p:nvSpPr>
              <p:spPr bwMode="auto">
                <a:xfrm>
                  <a:off x="3243"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57" name="AutoShape 3163"/>
                <p:cNvSpPr>
                  <a:spLocks noChangeArrowheads="1"/>
                </p:cNvSpPr>
                <p:nvPr/>
              </p:nvSpPr>
              <p:spPr bwMode="auto">
                <a:xfrm>
                  <a:off x="3243"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58" name="AutoShape 3164"/>
                <p:cNvSpPr>
                  <a:spLocks noChangeArrowheads="1"/>
                </p:cNvSpPr>
                <p:nvPr/>
              </p:nvSpPr>
              <p:spPr bwMode="auto">
                <a:xfrm>
                  <a:off x="3243"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59" name="AutoShape 3165"/>
                <p:cNvSpPr>
                  <a:spLocks noChangeArrowheads="1"/>
                </p:cNvSpPr>
                <p:nvPr/>
              </p:nvSpPr>
              <p:spPr bwMode="auto">
                <a:xfrm>
                  <a:off x="3243"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60" name="AutoShape 3166"/>
                <p:cNvSpPr>
                  <a:spLocks noChangeArrowheads="1"/>
                </p:cNvSpPr>
                <p:nvPr/>
              </p:nvSpPr>
              <p:spPr bwMode="auto">
                <a:xfrm>
                  <a:off x="3243"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61" name="AutoShape 3167"/>
                <p:cNvSpPr>
                  <a:spLocks noChangeArrowheads="1"/>
                </p:cNvSpPr>
                <p:nvPr/>
              </p:nvSpPr>
              <p:spPr bwMode="auto">
                <a:xfrm>
                  <a:off x="3243"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62" name="AutoShape 3168"/>
                <p:cNvSpPr>
                  <a:spLocks noChangeArrowheads="1"/>
                </p:cNvSpPr>
                <p:nvPr/>
              </p:nvSpPr>
              <p:spPr bwMode="auto">
                <a:xfrm>
                  <a:off x="3334"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63" name="AutoShape 3169"/>
                <p:cNvSpPr>
                  <a:spLocks noChangeArrowheads="1"/>
                </p:cNvSpPr>
                <p:nvPr/>
              </p:nvSpPr>
              <p:spPr bwMode="auto">
                <a:xfrm>
                  <a:off x="3334"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64" name="AutoShape 3170"/>
                <p:cNvSpPr>
                  <a:spLocks noChangeArrowheads="1"/>
                </p:cNvSpPr>
                <p:nvPr/>
              </p:nvSpPr>
              <p:spPr bwMode="auto">
                <a:xfrm>
                  <a:off x="3334"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65" name="AutoShape 3171"/>
                <p:cNvSpPr>
                  <a:spLocks noChangeArrowheads="1"/>
                </p:cNvSpPr>
                <p:nvPr/>
              </p:nvSpPr>
              <p:spPr bwMode="auto">
                <a:xfrm>
                  <a:off x="3334"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66" name="AutoShape 3172"/>
                <p:cNvSpPr>
                  <a:spLocks noChangeArrowheads="1"/>
                </p:cNvSpPr>
                <p:nvPr/>
              </p:nvSpPr>
              <p:spPr bwMode="auto">
                <a:xfrm>
                  <a:off x="3334"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67" name="AutoShape 3173"/>
                <p:cNvSpPr>
                  <a:spLocks noChangeArrowheads="1"/>
                </p:cNvSpPr>
                <p:nvPr/>
              </p:nvSpPr>
              <p:spPr bwMode="auto">
                <a:xfrm>
                  <a:off x="3334"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68" name="AutoShape 3174"/>
                <p:cNvSpPr>
                  <a:spLocks noChangeArrowheads="1"/>
                </p:cNvSpPr>
                <p:nvPr/>
              </p:nvSpPr>
              <p:spPr bwMode="auto">
                <a:xfrm>
                  <a:off x="3334"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69" name="AutoShape 3175"/>
                <p:cNvSpPr>
                  <a:spLocks noChangeArrowheads="1"/>
                </p:cNvSpPr>
                <p:nvPr/>
              </p:nvSpPr>
              <p:spPr bwMode="auto">
                <a:xfrm>
                  <a:off x="3334"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70" name="AutoShape 3176"/>
                <p:cNvSpPr>
                  <a:spLocks noChangeArrowheads="1"/>
                </p:cNvSpPr>
                <p:nvPr/>
              </p:nvSpPr>
              <p:spPr bwMode="auto">
                <a:xfrm>
                  <a:off x="3334"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71" name="AutoShape 3177"/>
                <p:cNvSpPr>
                  <a:spLocks noChangeArrowheads="1"/>
                </p:cNvSpPr>
                <p:nvPr/>
              </p:nvSpPr>
              <p:spPr bwMode="auto">
                <a:xfrm>
                  <a:off x="3334"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72" name="AutoShape 3178"/>
                <p:cNvSpPr>
                  <a:spLocks noChangeArrowheads="1"/>
                </p:cNvSpPr>
                <p:nvPr/>
              </p:nvSpPr>
              <p:spPr bwMode="auto">
                <a:xfrm>
                  <a:off x="3424"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73" name="AutoShape 3179"/>
                <p:cNvSpPr>
                  <a:spLocks noChangeArrowheads="1"/>
                </p:cNvSpPr>
                <p:nvPr/>
              </p:nvSpPr>
              <p:spPr bwMode="auto">
                <a:xfrm>
                  <a:off x="3424"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74" name="AutoShape 3180"/>
                <p:cNvSpPr>
                  <a:spLocks noChangeArrowheads="1"/>
                </p:cNvSpPr>
                <p:nvPr/>
              </p:nvSpPr>
              <p:spPr bwMode="auto">
                <a:xfrm>
                  <a:off x="3424"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75" name="AutoShape 3181"/>
                <p:cNvSpPr>
                  <a:spLocks noChangeArrowheads="1"/>
                </p:cNvSpPr>
                <p:nvPr/>
              </p:nvSpPr>
              <p:spPr bwMode="auto">
                <a:xfrm>
                  <a:off x="3424"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76" name="AutoShape 3182"/>
                <p:cNvSpPr>
                  <a:spLocks noChangeArrowheads="1"/>
                </p:cNvSpPr>
                <p:nvPr/>
              </p:nvSpPr>
              <p:spPr bwMode="auto">
                <a:xfrm>
                  <a:off x="3424"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77" name="AutoShape 3183"/>
                <p:cNvSpPr>
                  <a:spLocks noChangeArrowheads="1"/>
                </p:cNvSpPr>
                <p:nvPr/>
              </p:nvSpPr>
              <p:spPr bwMode="auto">
                <a:xfrm>
                  <a:off x="3424"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78" name="AutoShape 3184"/>
                <p:cNvSpPr>
                  <a:spLocks noChangeArrowheads="1"/>
                </p:cNvSpPr>
                <p:nvPr/>
              </p:nvSpPr>
              <p:spPr bwMode="auto">
                <a:xfrm>
                  <a:off x="3424"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79" name="AutoShape 3185"/>
                <p:cNvSpPr>
                  <a:spLocks noChangeArrowheads="1"/>
                </p:cNvSpPr>
                <p:nvPr/>
              </p:nvSpPr>
              <p:spPr bwMode="auto">
                <a:xfrm>
                  <a:off x="3424"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80" name="AutoShape 3186"/>
                <p:cNvSpPr>
                  <a:spLocks noChangeArrowheads="1"/>
                </p:cNvSpPr>
                <p:nvPr/>
              </p:nvSpPr>
              <p:spPr bwMode="auto">
                <a:xfrm>
                  <a:off x="3424"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81" name="AutoShape 3187"/>
                <p:cNvSpPr>
                  <a:spLocks noChangeArrowheads="1"/>
                </p:cNvSpPr>
                <p:nvPr/>
              </p:nvSpPr>
              <p:spPr bwMode="auto">
                <a:xfrm>
                  <a:off x="3424"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82" name="AutoShape 3188"/>
                <p:cNvSpPr>
                  <a:spLocks noChangeArrowheads="1"/>
                </p:cNvSpPr>
                <p:nvPr/>
              </p:nvSpPr>
              <p:spPr bwMode="auto">
                <a:xfrm>
                  <a:off x="3515"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83" name="AutoShape 3189"/>
                <p:cNvSpPr>
                  <a:spLocks noChangeArrowheads="1"/>
                </p:cNvSpPr>
                <p:nvPr/>
              </p:nvSpPr>
              <p:spPr bwMode="auto">
                <a:xfrm>
                  <a:off x="3515"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84" name="AutoShape 3190"/>
                <p:cNvSpPr>
                  <a:spLocks noChangeArrowheads="1"/>
                </p:cNvSpPr>
                <p:nvPr/>
              </p:nvSpPr>
              <p:spPr bwMode="auto">
                <a:xfrm>
                  <a:off x="3515"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85" name="AutoShape 3191"/>
                <p:cNvSpPr>
                  <a:spLocks noChangeArrowheads="1"/>
                </p:cNvSpPr>
                <p:nvPr/>
              </p:nvSpPr>
              <p:spPr bwMode="auto">
                <a:xfrm>
                  <a:off x="3515"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86" name="AutoShape 3192"/>
                <p:cNvSpPr>
                  <a:spLocks noChangeArrowheads="1"/>
                </p:cNvSpPr>
                <p:nvPr/>
              </p:nvSpPr>
              <p:spPr bwMode="auto">
                <a:xfrm>
                  <a:off x="3515"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87" name="AutoShape 3193"/>
                <p:cNvSpPr>
                  <a:spLocks noChangeArrowheads="1"/>
                </p:cNvSpPr>
                <p:nvPr/>
              </p:nvSpPr>
              <p:spPr bwMode="auto">
                <a:xfrm>
                  <a:off x="3515"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88" name="AutoShape 3194"/>
                <p:cNvSpPr>
                  <a:spLocks noChangeArrowheads="1"/>
                </p:cNvSpPr>
                <p:nvPr/>
              </p:nvSpPr>
              <p:spPr bwMode="auto">
                <a:xfrm>
                  <a:off x="3515"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89" name="AutoShape 3195"/>
                <p:cNvSpPr>
                  <a:spLocks noChangeArrowheads="1"/>
                </p:cNvSpPr>
                <p:nvPr/>
              </p:nvSpPr>
              <p:spPr bwMode="auto">
                <a:xfrm>
                  <a:off x="3515"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90" name="AutoShape 3196"/>
                <p:cNvSpPr>
                  <a:spLocks noChangeArrowheads="1"/>
                </p:cNvSpPr>
                <p:nvPr/>
              </p:nvSpPr>
              <p:spPr bwMode="auto">
                <a:xfrm>
                  <a:off x="3515"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91" name="AutoShape 3197"/>
                <p:cNvSpPr>
                  <a:spLocks noChangeArrowheads="1"/>
                </p:cNvSpPr>
                <p:nvPr/>
              </p:nvSpPr>
              <p:spPr bwMode="auto">
                <a:xfrm>
                  <a:off x="3515"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92" name="AutoShape 3198"/>
                <p:cNvSpPr>
                  <a:spLocks noChangeArrowheads="1"/>
                </p:cNvSpPr>
                <p:nvPr/>
              </p:nvSpPr>
              <p:spPr bwMode="auto">
                <a:xfrm>
                  <a:off x="3606"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93" name="AutoShape 3199"/>
                <p:cNvSpPr>
                  <a:spLocks noChangeArrowheads="1"/>
                </p:cNvSpPr>
                <p:nvPr/>
              </p:nvSpPr>
              <p:spPr bwMode="auto">
                <a:xfrm>
                  <a:off x="3606"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94" name="AutoShape 3200"/>
                <p:cNvSpPr>
                  <a:spLocks noChangeArrowheads="1"/>
                </p:cNvSpPr>
                <p:nvPr/>
              </p:nvSpPr>
              <p:spPr bwMode="auto">
                <a:xfrm>
                  <a:off x="3606"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95" name="AutoShape 3201"/>
                <p:cNvSpPr>
                  <a:spLocks noChangeArrowheads="1"/>
                </p:cNvSpPr>
                <p:nvPr/>
              </p:nvSpPr>
              <p:spPr bwMode="auto">
                <a:xfrm>
                  <a:off x="3606"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96" name="AutoShape 3202"/>
                <p:cNvSpPr>
                  <a:spLocks noChangeArrowheads="1"/>
                </p:cNvSpPr>
                <p:nvPr/>
              </p:nvSpPr>
              <p:spPr bwMode="auto">
                <a:xfrm>
                  <a:off x="3606"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97" name="AutoShape 3203"/>
                <p:cNvSpPr>
                  <a:spLocks noChangeArrowheads="1"/>
                </p:cNvSpPr>
                <p:nvPr/>
              </p:nvSpPr>
              <p:spPr bwMode="auto">
                <a:xfrm>
                  <a:off x="3606"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98" name="AutoShape 3204"/>
                <p:cNvSpPr>
                  <a:spLocks noChangeArrowheads="1"/>
                </p:cNvSpPr>
                <p:nvPr/>
              </p:nvSpPr>
              <p:spPr bwMode="auto">
                <a:xfrm>
                  <a:off x="3606"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99" name="AutoShape 3205"/>
                <p:cNvSpPr>
                  <a:spLocks noChangeArrowheads="1"/>
                </p:cNvSpPr>
                <p:nvPr/>
              </p:nvSpPr>
              <p:spPr bwMode="auto">
                <a:xfrm>
                  <a:off x="3606"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00" name="AutoShape 3206"/>
                <p:cNvSpPr>
                  <a:spLocks noChangeArrowheads="1"/>
                </p:cNvSpPr>
                <p:nvPr/>
              </p:nvSpPr>
              <p:spPr bwMode="auto">
                <a:xfrm>
                  <a:off x="3606"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01" name="AutoShape 3207"/>
                <p:cNvSpPr>
                  <a:spLocks noChangeArrowheads="1"/>
                </p:cNvSpPr>
                <p:nvPr/>
              </p:nvSpPr>
              <p:spPr bwMode="auto">
                <a:xfrm>
                  <a:off x="3606"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02" name="AutoShape 3208"/>
                <p:cNvSpPr>
                  <a:spLocks noChangeArrowheads="1"/>
                </p:cNvSpPr>
                <p:nvPr/>
              </p:nvSpPr>
              <p:spPr bwMode="auto">
                <a:xfrm>
                  <a:off x="3697"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03" name="AutoShape 3209"/>
                <p:cNvSpPr>
                  <a:spLocks noChangeArrowheads="1"/>
                </p:cNvSpPr>
                <p:nvPr/>
              </p:nvSpPr>
              <p:spPr bwMode="auto">
                <a:xfrm>
                  <a:off x="3697"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04" name="AutoShape 3210"/>
                <p:cNvSpPr>
                  <a:spLocks noChangeArrowheads="1"/>
                </p:cNvSpPr>
                <p:nvPr/>
              </p:nvSpPr>
              <p:spPr bwMode="auto">
                <a:xfrm>
                  <a:off x="3697"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05" name="AutoShape 3211"/>
                <p:cNvSpPr>
                  <a:spLocks noChangeArrowheads="1"/>
                </p:cNvSpPr>
                <p:nvPr/>
              </p:nvSpPr>
              <p:spPr bwMode="auto">
                <a:xfrm>
                  <a:off x="3697"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06" name="AutoShape 3212"/>
                <p:cNvSpPr>
                  <a:spLocks noChangeArrowheads="1"/>
                </p:cNvSpPr>
                <p:nvPr/>
              </p:nvSpPr>
              <p:spPr bwMode="auto">
                <a:xfrm>
                  <a:off x="3697"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07" name="AutoShape 3213"/>
                <p:cNvSpPr>
                  <a:spLocks noChangeArrowheads="1"/>
                </p:cNvSpPr>
                <p:nvPr/>
              </p:nvSpPr>
              <p:spPr bwMode="auto">
                <a:xfrm>
                  <a:off x="3697"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08" name="AutoShape 3214"/>
                <p:cNvSpPr>
                  <a:spLocks noChangeArrowheads="1"/>
                </p:cNvSpPr>
                <p:nvPr/>
              </p:nvSpPr>
              <p:spPr bwMode="auto">
                <a:xfrm>
                  <a:off x="3697"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09" name="AutoShape 3215"/>
                <p:cNvSpPr>
                  <a:spLocks noChangeArrowheads="1"/>
                </p:cNvSpPr>
                <p:nvPr/>
              </p:nvSpPr>
              <p:spPr bwMode="auto">
                <a:xfrm>
                  <a:off x="3697"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10" name="AutoShape 3216"/>
                <p:cNvSpPr>
                  <a:spLocks noChangeArrowheads="1"/>
                </p:cNvSpPr>
                <p:nvPr/>
              </p:nvSpPr>
              <p:spPr bwMode="auto">
                <a:xfrm>
                  <a:off x="3697"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11" name="AutoShape 3217"/>
                <p:cNvSpPr>
                  <a:spLocks noChangeArrowheads="1"/>
                </p:cNvSpPr>
                <p:nvPr/>
              </p:nvSpPr>
              <p:spPr bwMode="auto">
                <a:xfrm>
                  <a:off x="3697"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12" name="AutoShape 3218"/>
                <p:cNvSpPr>
                  <a:spLocks noChangeArrowheads="1"/>
                </p:cNvSpPr>
                <p:nvPr/>
              </p:nvSpPr>
              <p:spPr bwMode="auto">
                <a:xfrm>
                  <a:off x="3787"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13" name="AutoShape 3219"/>
                <p:cNvSpPr>
                  <a:spLocks noChangeArrowheads="1"/>
                </p:cNvSpPr>
                <p:nvPr/>
              </p:nvSpPr>
              <p:spPr bwMode="auto">
                <a:xfrm>
                  <a:off x="3787"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14" name="AutoShape 3220"/>
                <p:cNvSpPr>
                  <a:spLocks noChangeArrowheads="1"/>
                </p:cNvSpPr>
                <p:nvPr/>
              </p:nvSpPr>
              <p:spPr bwMode="auto">
                <a:xfrm>
                  <a:off x="3787"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15" name="AutoShape 3221"/>
                <p:cNvSpPr>
                  <a:spLocks noChangeArrowheads="1"/>
                </p:cNvSpPr>
                <p:nvPr/>
              </p:nvSpPr>
              <p:spPr bwMode="auto">
                <a:xfrm>
                  <a:off x="3787"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16" name="AutoShape 3222"/>
                <p:cNvSpPr>
                  <a:spLocks noChangeArrowheads="1"/>
                </p:cNvSpPr>
                <p:nvPr/>
              </p:nvSpPr>
              <p:spPr bwMode="auto">
                <a:xfrm>
                  <a:off x="3787"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17" name="AutoShape 3223"/>
                <p:cNvSpPr>
                  <a:spLocks noChangeArrowheads="1"/>
                </p:cNvSpPr>
                <p:nvPr/>
              </p:nvSpPr>
              <p:spPr bwMode="auto">
                <a:xfrm>
                  <a:off x="3787"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18" name="AutoShape 3224"/>
                <p:cNvSpPr>
                  <a:spLocks noChangeArrowheads="1"/>
                </p:cNvSpPr>
                <p:nvPr/>
              </p:nvSpPr>
              <p:spPr bwMode="auto">
                <a:xfrm>
                  <a:off x="3787"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19" name="AutoShape 3225"/>
                <p:cNvSpPr>
                  <a:spLocks noChangeArrowheads="1"/>
                </p:cNvSpPr>
                <p:nvPr/>
              </p:nvSpPr>
              <p:spPr bwMode="auto">
                <a:xfrm>
                  <a:off x="3787"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20" name="AutoShape 3226"/>
                <p:cNvSpPr>
                  <a:spLocks noChangeArrowheads="1"/>
                </p:cNvSpPr>
                <p:nvPr/>
              </p:nvSpPr>
              <p:spPr bwMode="auto">
                <a:xfrm>
                  <a:off x="3787"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21" name="AutoShape 3227"/>
                <p:cNvSpPr>
                  <a:spLocks noChangeArrowheads="1"/>
                </p:cNvSpPr>
                <p:nvPr/>
              </p:nvSpPr>
              <p:spPr bwMode="auto">
                <a:xfrm>
                  <a:off x="3787"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22" name="AutoShape 3228"/>
                <p:cNvSpPr>
                  <a:spLocks noChangeArrowheads="1"/>
                </p:cNvSpPr>
                <p:nvPr/>
              </p:nvSpPr>
              <p:spPr bwMode="auto">
                <a:xfrm>
                  <a:off x="3878"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23" name="AutoShape 3229"/>
                <p:cNvSpPr>
                  <a:spLocks noChangeArrowheads="1"/>
                </p:cNvSpPr>
                <p:nvPr/>
              </p:nvSpPr>
              <p:spPr bwMode="auto">
                <a:xfrm>
                  <a:off x="3878"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24" name="AutoShape 3230"/>
                <p:cNvSpPr>
                  <a:spLocks noChangeArrowheads="1"/>
                </p:cNvSpPr>
                <p:nvPr/>
              </p:nvSpPr>
              <p:spPr bwMode="auto">
                <a:xfrm>
                  <a:off x="3878"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25" name="AutoShape 3231"/>
                <p:cNvSpPr>
                  <a:spLocks noChangeArrowheads="1"/>
                </p:cNvSpPr>
                <p:nvPr/>
              </p:nvSpPr>
              <p:spPr bwMode="auto">
                <a:xfrm>
                  <a:off x="3878"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26" name="AutoShape 3232"/>
                <p:cNvSpPr>
                  <a:spLocks noChangeArrowheads="1"/>
                </p:cNvSpPr>
                <p:nvPr/>
              </p:nvSpPr>
              <p:spPr bwMode="auto">
                <a:xfrm>
                  <a:off x="3878"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27" name="AutoShape 3233"/>
                <p:cNvSpPr>
                  <a:spLocks noChangeArrowheads="1"/>
                </p:cNvSpPr>
                <p:nvPr/>
              </p:nvSpPr>
              <p:spPr bwMode="auto">
                <a:xfrm>
                  <a:off x="3878"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28" name="AutoShape 3234"/>
                <p:cNvSpPr>
                  <a:spLocks noChangeArrowheads="1"/>
                </p:cNvSpPr>
                <p:nvPr/>
              </p:nvSpPr>
              <p:spPr bwMode="auto">
                <a:xfrm>
                  <a:off x="3878"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29" name="AutoShape 3235"/>
                <p:cNvSpPr>
                  <a:spLocks noChangeArrowheads="1"/>
                </p:cNvSpPr>
                <p:nvPr/>
              </p:nvSpPr>
              <p:spPr bwMode="auto">
                <a:xfrm>
                  <a:off x="3878"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30" name="AutoShape 3236"/>
                <p:cNvSpPr>
                  <a:spLocks noChangeArrowheads="1"/>
                </p:cNvSpPr>
                <p:nvPr/>
              </p:nvSpPr>
              <p:spPr bwMode="auto">
                <a:xfrm>
                  <a:off x="3878"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31" name="AutoShape 3237"/>
                <p:cNvSpPr>
                  <a:spLocks noChangeArrowheads="1"/>
                </p:cNvSpPr>
                <p:nvPr/>
              </p:nvSpPr>
              <p:spPr bwMode="auto">
                <a:xfrm>
                  <a:off x="3878"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32" name="AutoShape 3238"/>
                <p:cNvSpPr>
                  <a:spLocks noChangeArrowheads="1"/>
                </p:cNvSpPr>
                <p:nvPr/>
              </p:nvSpPr>
              <p:spPr bwMode="auto">
                <a:xfrm>
                  <a:off x="3878"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33" name="AutoShape 3239"/>
                <p:cNvSpPr>
                  <a:spLocks noChangeArrowheads="1"/>
                </p:cNvSpPr>
                <p:nvPr/>
              </p:nvSpPr>
              <p:spPr bwMode="auto">
                <a:xfrm>
                  <a:off x="3878"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34" name="AutoShape 3240"/>
                <p:cNvSpPr>
                  <a:spLocks noChangeArrowheads="1"/>
                </p:cNvSpPr>
                <p:nvPr/>
              </p:nvSpPr>
              <p:spPr bwMode="auto">
                <a:xfrm>
                  <a:off x="3878"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35" name="AutoShape 3241"/>
                <p:cNvSpPr>
                  <a:spLocks noChangeArrowheads="1"/>
                </p:cNvSpPr>
                <p:nvPr/>
              </p:nvSpPr>
              <p:spPr bwMode="auto">
                <a:xfrm>
                  <a:off x="3878"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36" name="AutoShape 3242"/>
                <p:cNvSpPr>
                  <a:spLocks noChangeArrowheads="1"/>
                </p:cNvSpPr>
                <p:nvPr/>
              </p:nvSpPr>
              <p:spPr bwMode="auto">
                <a:xfrm>
                  <a:off x="3878"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37" name="AutoShape 3243"/>
                <p:cNvSpPr>
                  <a:spLocks noChangeArrowheads="1"/>
                </p:cNvSpPr>
                <p:nvPr/>
              </p:nvSpPr>
              <p:spPr bwMode="auto">
                <a:xfrm>
                  <a:off x="3878"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38" name="AutoShape 3244"/>
                <p:cNvSpPr>
                  <a:spLocks noChangeArrowheads="1"/>
                </p:cNvSpPr>
                <p:nvPr/>
              </p:nvSpPr>
              <p:spPr bwMode="auto">
                <a:xfrm>
                  <a:off x="3878"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39" name="AutoShape 3245"/>
                <p:cNvSpPr>
                  <a:spLocks noChangeArrowheads="1"/>
                </p:cNvSpPr>
                <p:nvPr/>
              </p:nvSpPr>
              <p:spPr bwMode="auto">
                <a:xfrm>
                  <a:off x="3878"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40" name="AutoShape 3246"/>
                <p:cNvSpPr>
                  <a:spLocks noChangeArrowheads="1"/>
                </p:cNvSpPr>
                <p:nvPr/>
              </p:nvSpPr>
              <p:spPr bwMode="auto">
                <a:xfrm>
                  <a:off x="3878"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41" name="AutoShape 3247"/>
                <p:cNvSpPr>
                  <a:spLocks noChangeArrowheads="1"/>
                </p:cNvSpPr>
                <p:nvPr/>
              </p:nvSpPr>
              <p:spPr bwMode="auto">
                <a:xfrm>
                  <a:off x="3878"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42" name="AutoShape 3248"/>
                <p:cNvSpPr>
                  <a:spLocks noChangeArrowheads="1"/>
                </p:cNvSpPr>
                <p:nvPr/>
              </p:nvSpPr>
              <p:spPr bwMode="auto">
                <a:xfrm>
                  <a:off x="3969"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43" name="AutoShape 3249"/>
                <p:cNvSpPr>
                  <a:spLocks noChangeArrowheads="1"/>
                </p:cNvSpPr>
                <p:nvPr/>
              </p:nvSpPr>
              <p:spPr bwMode="auto">
                <a:xfrm>
                  <a:off x="3969"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44" name="AutoShape 3250"/>
                <p:cNvSpPr>
                  <a:spLocks noChangeArrowheads="1"/>
                </p:cNvSpPr>
                <p:nvPr/>
              </p:nvSpPr>
              <p:spPr bwMode="auto">
                <a:xfrm>
                  <a:off x="3969"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45" name="AutoShape 3251"/>
                <p:cNvSpPr>
                  <a:spLocks noChangeArrowheads="1"/>
                </p:cNvSpPr>
                <p:nvPr/>
              </p:nvSpPr>
              <p:spPr bwMode="auto">
                <a:xfrm>
                  <a:off x="3969"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46" name="AutoShape 3252"/>
                <p:cNvSpPr>
                  <a:spLocks noChangeArrowheads="1"/>
                </p:cNvSpPr>
                <p:nvPr/>
              </p:nvSpPr>
              <p:spPr bwMode="auto">
                <a:xfrm>
                  <a:off x="3969"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47" name="AutoShape 3253"/>
                <p:cNvSpPr>
                  <a:spLocks noChangeArrowheads="1"/>
                </p:cNvSpPr>
                <p:nvPr/>
              </p:nvSpPr>
              <p:spPr bwMode="auto">
                <a:xfrm>
                  <a:off x="3969"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48" name="AutoShape 3254"/>
                <p:cNvSpPr>
                  <a:spLocks noChangeArrowheads="1"/>
                </p:cNvSpPr>
                <p:nvPr/>
              </p:nvSpPr>
              <p:spPr bwMode="auto">
                <a:xfrm>
                  <a:off x="3969"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49" name="AutoShape 3255"/>
                <p:cNvSpPr>
                  <a:spLocks noChangeArrowheads="1"/>
                </p:cNvSpPr>
                <p:nvPr/>
              </p:nvSpPr>
              <p:spPr bwMode="auto">
                <a:xfrm>
                  <a:off x="3969"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50" name="AutoShape 3256"/>
                <p:cNvSpPr>
                  <a:spLocks noChangeArrowheads="1"/>
                </p:cNvSpPr>
                <p:nvPr/>
              </p:nvSpPr>
              <p:spPr bwMode="auto">
                <a:xfrm>
                  <a:off x="3969"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951" name="AutoShape 3257"/>
                <p:cNvSpPr>
                  <a:spLocks noChangeArrowheads="1"/>
                </p:cNvSpPr>
                <p:nvPr/>
              </p:nvSpPr>
              <p:spPr bwMode="auto">
                <a:xfrm>
                  <a:off x="3969"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8448" name="Group 3258"/>
              <p:cNvGrpSpPr>
                <a:grpSpLocks/>
              </p:cNvGrpSpPr>
              <p:nvPr/>
            </p:nvGrpSpPr>
            <p:grpSpPr bwMode="auto">
              <a:xfrm>
                <a:off x="3037" y="1937"/>
                <a:ext cx="862" cy="952"/>
                <a:chOff x="3243" y="1752"/>
                <a:chExt cx="862" cy="952"/>
              </a:xfrm>
            </p:grpSpPr>
            <p:sp>
              <p:nvSpPr>
                <p:cNvPr id="18752" name="AutoShape 3259"/>
                <p:cNvSpPr>
                  <a:spLocks noChangeArrowheads="1"/>
                </p:cNvSpPr>
                <p:nvPr/>
              </p:nvSpPr>
              <p:spPr bwMode="auto">
                <a:xfrm>
                  <a:off x="3243"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53" name="AutoShape 3260"/>
                <p:cNvSpPr>
                  <a:spLocks noChangeArrowheads="1"/>
                </p:cNvSpPr>
                <p:nvPr/>
              </p:nvSpPr>
              <p:spPr bwMode="auto">
                <a:xfrm>
                  <a:off x="3243"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54" name="AutoShape 3261"/>
                <p:cNvSpPr>
                  <a:spLocks noChangeArrowheads="1"/>
                </p:cNvSpPr>
                <p:nvPr/>
              </p:nvSpPr>
              <p:spPr bwMode="auto">
                <a:xfrm>
                  <a:off x="3243"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55" name="AutoShape 3262"/>
                <p:cNvSpPr>
                  <a:spLocks noChangeArrowheads="1"/>
                </p:cNvSpPr>
                <p:nvPr/>
              </p:nvSpPr>
              <p:spPr bwMode="auto">
                <a:xfrm>
                  <a:off x="3243"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56" name="AutoShape 3263"/>
                <p:cNvSpPr>
                  <a:spLocks noChangeArrowheads="1"/>
                </p:cNvSpPr>
                <p:nvPr/>
              </p:nvSpPr>
              <p:spPr bwMode="auto">
                <a:xfrm>
                  <a:off x="3243"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57" name="AutoShape 3264"/>
                <p:cNvSpPr>
                  <a:spLocks noChangeArrowheads="1"/>
                </p:cNvSpPr>
                <p:nvPr/>
              </p:nvSpPr>
              <p:spPr bwMode="auto">
                <a:xfrm>
                  <a:off x="3243"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58" name="AutoShape 3265"/>
                <p:cNvSpPr>
                  <a:spLocks noChangeArrowheads="1"/>
                </p:cNvSpPr>
                <p:nvPr/>
              </p:nvSpPr>
              <p:spPr bwMode="auto">
                <a:xfrm>
                  <a:off x="3243"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59" name="AutoShape 3266"/>
                <p:cNvSpPr>
                  <a:spLocks noChangeArrowheads="1"/>
                </p:cNvSpPr>
                <p:nvPr/>
              </p:nvSpPr>
              <p:spPr bwMode="auto">
                <a:xfrm>
                  <a:off x="3243"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60" name="AutoShape 3267"/>
                <p:cNvSpPr>
                  <a:spLocks noChangeArrowheads="1"/>
                </p:cNvSpPr>
                <p:nvPr/>
              </p:nvSpPr>
              <p:spPr bwMode="auto">
                <a:xfrm>
                  <a:off x="3243"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61" name="AutoShape 3268"/>
                <p:cNvSpPr>
                  <a:spLocks noChangeArrowheads="1"/>
                </p:cNvSpPr>
                <p:nvPr/>
              </p:nvSpPr>
              <p:spPr bwMode="auto">
                <a:xfrm>
                  <a:off x="3243"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62" name="AutoShape 3269"/>
                <p:cNvSpPr>
                  <a:spLocks noChangeArrowheads="1"/>
                </p:cNvSpPr>
                <p:nvPr/>
              </p:nvSpPr>
              <p:spPr bwMode="auto">
                <a:xfrm>
                  <a:off x="3334"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63" name="AutoShape 3270"/>
                <p:cNvSpPr>
                  <a:spLocks noChangeArrowheads="1"/>
                </p:cNvSpPr>
                <p:nvPr/>
              </p:nvSpPr>
              <p:spPr bwMode="auto">
                <a:xfrm>
                  <a:off x="3334"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64" name="AutoShape 3271"/>
                <p:cNvSpPr>
                  <a:spLocks noChangeArrowheads="1"/>
                </p:cNvSpPr>
                <p:nvPr/>
              </p:nvSpPr>
              <p:spPr bwMode="auto">
                <a:xfrm>
                  <a:off x="3334"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65" name="AutoShape 3272"/>
                <p:cNvSpPr>
                  <a:spLocks noChangeArrowheads="1"/>
                </p:cNvSpPr>
                <p:nvPr/>
              </p:nvSpPr>
              <p:spPr bwMode="auto">
                <a:xfrm>
                  <a:off x="3334"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66" name="AutoShape 3273"/>
                <p:cNvSpPr>
                  <a:spLocks noChangeArrowheads="1"/>
                </p:cNvSpPr>
                <p:nvPr/>
              </p:nvSpPr>
              <p:spPr bwMode="auto">
                <a:xfrm>
                  <a:off x="3334"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67" name="AutoShape 3274"/>
                <p:cNvSpPr>
                  <a:spLocks noChangeArrowheads="1"/>
                </p:cNvSpPr>
                <p:nvPr/>
              </p:nvSpPr>
              <p:spPr bwMode="auto">
                <a:xfrm>
                  <a:off x="3334"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68" name="AutoShape 3275"/>
                <p:cNvSpPr>
                  <a:spLocks noChangeArrowheads="1"/>
                </p:cNvSpPr>
                <p:nvPr/>
              </p:nvSpPr>
              <p:spPr bwMode="auto">
                <a:xfrm>
                  <a:off x="3334"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69" name="AutoShape 3276"/>
                <p:cNvSpPr>
                  <a:spLocks noChangeArrowheads="1"/>
                </p:cNvSpPr>
                <p:nvPr/>
              </p:nvSpPr>
              <p:spPr bwMode="auto">
                <a:xfrm>
                  <a:off x="3334"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70" name="AutoShape 3277"/>
                <p:cNvSpPr>
                  <a:spLocks noChangeArrowheads="1"/>
                </p:cNvSpPr>
                <p:nvPr/>
              </p:nvSpPr>
              <p:spPr bwMode="auto">
                <a:xfrm>
                  <a:off x="3334"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71" name="AutoShape 3278"/>
                <p:cNvSpPr>
                  <a:spLocks noChangeArrowheads="1"/>
                </p:cNvSpPr>
                <p:nvPr/>
              </p:nvSpPr>
              <p:spPr bwMode="auto">
                <a:xfrm>
                  <a:off x="3334"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72" name="AutoShape 3279"/>
                <p:cNvSpPr>
                  <a:spLocks noChangeArrowheads="1"/>
                </p:cNvSpPr>
                <p:nvPr/>
              </p:nvSpPr>
              <p:spPr bwMode="auto">
                <a:xfrm>
                  <a:off x="3424"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73" name="AutoShape 3280"/>
                <p:cNvSpPr>
                  <a:spLocks noChangeArrowheads="1"/>
                </p:cNvSpPr>
                <p:nvPr/>
              </p:nvSpPr>
              <p:spPr bwMode="auto">
                <a:xfrm>
                  <a:off x="3424"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74" name="AutoShape 3281"/>
                <p:cNvSpPr>
                  <a:spLocks noChangeArrowheads="1"/>
                </p:cNvSpPr>
                <p:nvPr/>
              </p:nvSpPr>
              <p:spPr bwMode="auto">
                <a:xfrm>
                  <a:off x="3424"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75" name="AutoShape 3282"/>
                <p:cNvSpPr>
                  <a:spLocks noChangeArrowheads="1"/>
                </p:cNvSpPr>
                <p:nvPr/>
              </p:nvSpPr>
              <p:spPr bwMode="auto">
                <a:xfrm>
                  <a:off x="3424"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76" name="AutoShape 3283"/>
                <p:cNvSpPr>
                  <a:spLocks noChangeArrowheads="1"/>
                </p:cNvSpPr>
                <p:nvPr/>
              </p:nvSpPr>
              <p:spPr bwMode="auto">
                <a:xfrm>
                  <a:off x="3424"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77" name="AutoShape 3284"/>
                <p:cNvSpPr>
                  <a:spLocks noChangeArrowheads="1"/>
                </p:cNvSpPr>
                <p:nvPr/>
              </p:nvSpPr>
              <p:spPr bwMode="auto">
                <a:xfrm>
                  <a:off x="3424"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78" name="AutoShape 3285"/>
                <p:cNvSpPr>
                  <a:spLocks noChangeArrowheads="1"/>
                </p:cNvSpPr>
                <p:nvPr/>
              </p:nvSpPr>
              <p:spPr bwMode="auto">
                <a:xfrm>
                  <a:off x="3424"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79" name="AutoShape 3286"/>
                <p:cNvSpPr>
                  <a:spLocks noChangeArrowheads="1"/>
                </p:cNvSpPr>
                <p:nvPr/>
              </p:nvSpPr>
              <p:spPr bwMode="auto">
                <a:xfrm>
                  <a:off x="3424"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80" name="AutoShape 3287"/>
                <p:cNvSpPr>
                  <a:spLocks noChangeArrowheads="1"/>
                </p:cNvSpPr>
                <p:nvPr/>
              </p:nvSpPr>
              <p:spPr bwMode="auto">
                <a:xfrm>
                  <a:off x="3424"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81" name="AutoShape 3288"/>
                <p:cNvSpPr>
                  <a:spLocks noChangeArrowheads="1"/>
                </p:cNvSpPr>
                <p:nvPr/>
              </p:nvSpPr>
              <p:spPr bwMode="auto">
                <a:xfrm>
                  <a:off x="3424"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82" name="AutoShape 3289"/>
                <p:cNvSpPr>
                  <a:spLocks noChangeArrowheads="1"/>
                </p:cNvSpPr>
                <p:nvPr/>
              </p:nvSpPr>
              <p:spPr bwMode="auto">
                <a:xfrm>
                  <a:off x="3515"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83" name="AutoShape 3290"/>
                <p:cNvSpPr>
                  <a:spLocks noChangeArrowheads="1"/>
                </p:cNvSpPr>
                <p:nvPr/>
              </p:nvSpPr>
              <p:spPr bwMode="auto">
                <a:xfrm>
                  <a:off x="3515"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84" name="AutoShape 3291"/>
                <p:cNvSpPr>
                  <a:spLocks noChangeArrowheads="1"/>
                </p:cNvSpPr>
                <p:nvPr/>
              </p:nvSpPr>
              <p:spPr bwMode="auto">
                <a:xfrm>
                  <a:off x="3515"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85" name="AutoShape 3292"/>
                <p:cNvSpPr>
                  <a:spLocks noChangeArrowheads="1"/>
                </p:cNvSpPr>
                <p:nvPr/>
              </p:nvSpPr>
              <p:spPr bwMode="auto">
                <a:xfrm>
                  <a:off x="3515"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86" name="AutoShape 3293"/>
                <p:cNvSpPr>
                  <a:spLocks noChangeArrowheads="1"/>
                </p:cNvSpPr>
                <p:nvPr/>
              </p:nvSpPr>
              <p:spPr bwMode="auto">
                <a:xfrm>
                  <a:off x="3515"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87" name="AutoShape 3294"/>
                <p:cNvSpPr>
                  <a:spLocks noChangeArrowheads="1"/>
                </p:cNvSpPr>
                <p:nvPr/>
              </p:nvSpPr>
              <p:spPr bwMode="auto">
                <a:xfrm>
                  <a:off x="3515"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88" name="AutoShape 3295"/>
                <p:cNvSpPr>
                  <a:spLocks noChangeArrowheads="1"/>
                </p:cNvSpPr>
                <p:nvPr/>
              </p:nvSpPr>
              <p:spPr bwMode="auto">
                <a:xfrm>
                  <a:off x="3515"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89" name="AutoShape 3296"/>
                <p:cNvSpPr>
                  <a:spLocks noChangeArrowheads="1"/>
                </p:cNvSpPr>
                <p:nvPr/>
              </p:nvSpPr>
              <p:spPr bwMode="auto">
                <a:xfrm>
                  <a:off x="3515"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90" name="AutoShape 3297"/>
                <p:cNvSpPr>
                  <a:spLocks noChangeArrowheads="1"/>
                </p:cNvSpPr>
                <p:nvPr/>
              </p:nvSpPr>
              <p:spPr bwMode="auto">
                <a:xfrm>
                  <a:off x="3515"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91" name="AutoShape 3298"/>
                <p:cNvSpPr>
                  <a:spLocks noChangeArrowheads="1"/>
                </p:cNvSpPr>
                <p:nvPr/>
              </p:nvSpPr>
              <p:spPr bwMode="auto">
                <a:xfrm>
                  <a:off x="3515"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92" name="AutoShape 3299"/>
                <p:cNvSpPr>
                  <a:spLocks noChangeArrowheads="1"/>
                </p:cNvSpPr>
                <p:nvPr/>
              </p:nvSpPr>
              <p:spPr bwMode="auto">
                <a:xfrm>
                  <a:off x="3606"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93" name="AutoShape 3300"/>
                <p:cNvSpPr>
                  <a:spLocks noChangeArrowheads="1"/>
                </p:cNvSpPr>
                <p:nvPr/>
              </p:nvSpPr>
              <p:spPr bwMode="auto">
                <a:xfrm>
                  <a:off x="3606"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94" name="AutoShape 3301"/>
                <p:cNvSpPr>
                  <a:spLocks noChangeArrowheads="1"/>
                </p:cNvSpPr>
                <p:nvPr/>
              </p:nvSpPr>
              <p:spPr bwMode="auto">
                <a:xfrm>
                  <a:off x="3606"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95" name="AutoShape 3302"/>
                <p:cNvSpPr>
                  <a:spLocks noChangeArrowheads="1"/>
                </p:cNvSpPr>
                <p:nvPr/>
              </p:nvSpPr>
              <p:spPr bwMode="auto">
                <a:xfrm>
                  <a:off x="3606"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96" name="AutoShape 3303"/>
                <p:cNvSpPr>
                  <a:spLocks noChangeArrowheads="1"/>
                </p:cNvSpPr>
                <p:nvPr/>
              </p:nvSpPr>
              <p:spPr bwMode="auto">
                <a:xfrm>
                  <a:off x="3606"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97" name="AutoShape 3304"/>
                <p:cNvSpPr>
                  <a:spLocks noChangeArrowheads="1"/>
                </p:cNvSpPr>
                <p:nvPr/>
              </p:nvSpPr>
              <p:spPr bwMode="auto">
                <a:xfrm>
                  <a:off x="3606"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98" name="AutoShape 3305"/>
                <p:cNvSpPr>
                  <a:spLocks noChangeArrowheads="1"/>
                </p:cNvSpPr>
                <p:nvPr/>
              </p:nvSpPr>
              <p:spPr bwMode="auto">
                <a:xfrm>
                  <a:off x="3606"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99" name="AutoShape 3306"/>
                <p:cNvSpPr>
                  <a:spLocks noChangeArrowheads="1"/>
                </p:cNvSpPr>
                <p:nvPr/>
              </p:nvSpPr>
              <p:spPr bwMode="auto">
                <a:xfrm>
                  <a:off x="3606"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00" name="AutoShape 3307"/>
                <p:cNvSpPr>
                  <a:spLocks noChangeArrowheads="1"/>
                </p:cNvSpPr>
                <p:nvPr/>
              </p:nvSpPr>
              <p:spPr bwMode="auto">
                <a:xfrm>
                  <a:off x="3606"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01" name="AutoShape 3308"/>
                <p:cNvSpPr>
                  <a:spLocks noChangeArrowheads="1"/>
                </p:cNvSpPr>
                <p:nvPr/>
              </p:nvSpPr>
              <p:spPr bwMode="auto">
                <a:xfrm>
                  <a:off x="3606"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02" name="AutoShape 3309"/>
                <p:cNvSpPr>
                  <a:spLocks noChangeArrowheads="1"/>
                </p:cNvSpPr>
                <p:nvPr/>
              </p:nvSpPr>
              <p:spPr bwMode="auto">
                <a:xfrm>
                  <a:off x="3697"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03" name="AutoShape 3310"/>
                <p:cNvSpPr>
                  <a:spLocks noChangeArrowheads="1"/>
                </p:cNvSpPr>
                <p:nvPr/>
              </p:nvSpPr>
              <p:spPr bwMode="auto">
                <a:xfrm>
                  <a:off x="3697"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04" name="AutoShape 3311"/>
                <p:cNvSpPr>
                  <a:spLocks noChangeArrowheads="1"/>
                </p:cNvSpPr>
                <p:nvPr/>
              </p:nvSpPr>
              <p:spPr bwMode="auto">
                <a:xfrm>
                  <a:off x="3697"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05" name="AutoShape 3312"/>
                <p:cNvSpPr>
                  <a:spLocks noChangeArrowheads="1"/>
                </p:cNvSpPr>
                <p:nvPr/>
              </p:nvSpPr>
              <p:spPr bwMode="auto">
                <a:xfrm>
                  <a:off x="3697"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06" name="AutoShape 3313"/>
                <p:cNvSpPr>
                  <a:spLocks noChangeArrowheads="1"/>
                </p:cNvSpPr>
                <p:nvPr/>
              </p:nvSpPr>
              <p:spPr bwMode="auto">
                <a:xfrm>
                  <a:off x="3697"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07" name="AutoShape 3314"/>
                <p:cNvSpPr>
                  <a:spLocks noChangeArrowheads="1"/>
                </p:cNvSpPr>
                <p:nvPr/>
              </p:nvSpPr>
              <p:spPr bwMode="auto">
                <a:xfrm>
                  <a:off x="3697"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08" name="AutoShape 3315"/>
                <p:cNvSpPr>
                  <a:spLocks noChangeArrowheads="1"/>
                </p:cNvSpPr>
                <p:nvPr/>
              </p:nvSpPr>
              <p:spPr bwMode="auto">
                <a:xfrm>
                  <a:off x="3697"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09" name="AutoShape 3316"/>
                <p:cNvSpPr>
                  <a:spLocks noChangeArrowheads="1"/>
                </p:cNvSpPr>
                <p:nvPr/>
              </p:nvSpPr>
              <p:spPr bwMode="auto">
                <a:xfrm>
                  <a:off x="3697"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10" name="AutoShape 3317"/>
                <p:cNvSpPr>
                  <a:spLocks noChangeArrowheads="1"/>
                </p:cNvSpPr>
                <p:nvPr/>
              </p:nvSpPr>
              <p:spPr bwMode="auto">
                <a:xfrm>
                  <a:off x="3697"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11" name="AutoShape 3318"/>
                <p:cNvSpPr>
                  <a:spLocks noChangeArrowheads="1"/>
                </p:cNvSpPr>
                <p:nvPr/>
              </p:nvSpPr>
              <p:spPr bwMode="auto">
                <a:xfrm>
                  <a:off x="3697"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12" name="AutoShape 3319"/>
                <p:cNvSpPr>
                  <a:spLocks noChangeArrowheads="1"/>
                </p:cNvSpPr>
                <p:nvPr/>
              </p:nvSpPr>
              <p:spPr bwMode="auto">
                <a:xfrm>
                  <a:off x="3787"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13" name="AutoShape 3320"/>
                <p:cNvSpPr>
                  <a:spLocks noChangeArrowheads="1"/>
                </p:cNvSpPr>
                <p:nvPr/>
              </p:nvSpPr>
              <p:spPr bwMode="auto">
                <a:xfrm>
                  <a:off x="3787"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14" name="AutoShape 3321"/>
                <p:cNvSpPr>
                  <a:spLocks noChangeArrowheads="1"/>
                </p:cNvSpPr>
                <p:nvPr/>
              </p:nvSpPr>
              <p:spPr bwMode="auto">
                <a:xfrm>
                  <a:off x="3787"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15" name="AutoShape 3322"/>
                <p:cNvSpPr>
                  <a:spLocks noChangeArrowheads="1"/>
                </p:cNvSpPr>
                <p:nvPr/>
              </p:nvSpPr>
              <p:spPr bwMode="auto">
                <a:xfrm>
                  <a:off x="3787"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16" name="AutoShape 3323"/>
                <p:cNvSpPr>
                  <a:spLocks noChangeArrowheads="1"/>
                </p:cNvSpPr>
                <p:nvPr/>
              </p:nvSpPr>
              <p:spPr bwMode="auto">
                <a:xfrm>
                  <a:off x="3787"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17" name="AutoShape 3324"/>
                <p:cNvSpPr>
                  <a:spLocks noChangeArrowheads="1"/>
                </p:cNvSpPr>
                <p:nvPr/>
              </p:nvSpPr>
              <p:spPr bwMode="auto">
                <a:xfrm>
                  <a:off x="3787"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18" name="AutoShape 3325"/>
                <p:cNvSpPr>
                  <a:spLocks noChangeArrowheads="1"/>
                </p:cNvSpPr>
                <p:nvPr/>
              </p:nvSpPr>
              <p:spPr bwMode="auto">
                <a:xfrm>
                  <a:off x="3787"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19" name="AutoShape 3326"/>
                <p:cNvSpPr>
                  <a:spLocks noChangeArrowheads="1"/>
                </p:cNvSpPr>
                <p:nvPr/>
              </p:nvSpPr>
              <p:spPr bwMode="auto">
                <a:xfrm>
                  <a:off x="3787"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20" name="AutoShape 3327"/>
                <p:cNvSpPr>
                  <a:spLocks noChangeArrowheads="1"/>
                </p:cNvSpPr>
                <p:nvPr/>
              </p:nvSpPr>
              <p:spPr bwMode="auto">
                <a:xfrm>
                  <a:off x="3787"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21" name="AutoShape 3328"/>
                <p:cNvSpPr>
                  <a:spLocks noChangeArrowheads="1"/>
                </p:cNvSpPr>
                <p:nvPr/>
              </p:nvSpPr>
              <p:spPr bwMode="auto">
                <a:xfrm>
                  <a:off x="3787"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22" name="AutoShape 3329"/>
                <p:cNvSpPr>
                  <a:spLocks noChangeArrowheads="1"/>
                </p:cNvSpPr>
                <p:nvPr/>
              </p:nvSpPr>
              <p:spPr bwMode="auto">
                <a:xfrm>
                  <a:off x="3878"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23" name="AutoShape 3330"/>
                <p:cNvSpPr>
                  <a:spLocks noChangeArrowheads="1"/>
                </p:cNvSpPr>
                <p:nvPr/>
              </p:nvSpPr>
              <p:spPr bwMode="auto">
                <a:xfrm>
                  <a:off x="3878"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24" name="AutoShape 3331"/>
                <p:cNvSpPr>
                  <a:spLocks noChangeArrowheads="1"/>
                </p:cNvSpPr>
                <p:nvPr/>
              </p:nvSpPr>
              <p:spPr bwMode="auto">
                <a:xfrm>
                  <a:off x="3878"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25" name="AutoShape 3332"/>
                <p:cNvSpPr>
                  <a:spLocks noChangeArrowheads="1"/>
                </p:cNvSpPr>
                <p:nvPr/>
              </p:nvSpPr>
              <p:spPr bwMode="auto">
                <a:xfrm>
                  <a:off x="3878"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26" name="AutoShape 3333"/>
                <p:cNvSpPr>
                  <a:spLocks noChangeArrowheads="1"/>
                </p:cNvSpPr>
                <p:nvPr/>
              </p:nvSpPr>
              <p:spPr bwMode="auto">
                <a:xfrm>
                  <a:off x="3878"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27" name="AutoShape 3334"/>
                <p:cNvSpPr>
                  <a:spLocks noChangeArrowheads="1"/>
                </p:cNvSpPr>
                <p:nvPr/>
              </p:nvSpPr>
              <p:spPr bwMode="auto">
                <a:xfrm>
                  <a:off x="3878"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28" name="AutoShape 3335"/>
                <p:cNvSpPr>
                  <a:spLocks noChangeArrowheads="1"/>
                </p:cNvSpPr>
                <p:nvPr/>
              </p:nvSpPr>
              <p:spPr bwMode="auto">
                <a:xfrm>
                  <a:off x="3878"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29" name="AutoShape 3336"/>
                <p:cNvSpPr>
                  <a:spLocks noChangeArrowheads="1"/>
                </p:cNvSpPr>
                <p:nvPr/>
              </p:nvSpPr>
              <p:spPr bwMode="auto">
                <a:xfrm>
                  <a:off x="3878"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30" name="AutoShape 3337"/>
                <p:cNvSpPr>
                  <a:spLocks noChangeArrowheads="1"/>
                </p:cNvSpPr>
                <p:nvPr/>
              </p:nvSpPr>
              <p:spPr bwMode="auto">
                <a:xfrm>
                  <a:off x="3878"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31" name="AutoShape 3338"/>
                <p:cNvSpPr>
                  <a:spLocks noChangeArrowheads="1"/>
                </p:cNvSpPr>
                <p:nvPr/>
              </p:nvSpPr>
              <p:spPr bwMode="auto">
                <a:xfrm>
                  <a:off x="3878"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32" name="AutoShape 3339"/>
                <p:cNvSpPr>
                  <a:spLocks noChangeArrowheads="1"/>
                </p:cNvSpPr>
                <p:nvPr/>
              </p:nvSpPr>
              <p:spPr bwMode="auto">
                <a:xfrm>
                  <a:off x="3878"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33" name="AutoShape 3340"/>
                <p:cNvSpPr>
                  <a:spLocks noChangeArrowheads="1"/>
                </p:cNvSpPr>
                <p:nvPr/>
              </p:nvSpPr>
              <p:spPr bwMode="auto">
                <a:xfrm>
                  <a:off x="3878"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34" name="AutoShape 3341"/>
                <p:cNvSpPr>
                  <a:spLocks noChangeArrowheads="1"/>
                </p:cNvSpPr>
                <p:nvPr/>
              </p:nvSpPr>
              <p:spPr bwMode="auto">
                <a:xfrm>
                  <a:off x="3878"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35" name="AutoShape 3342"/>
                <p:cNvSpPr>
                  <a:spLocks noChangeArrowheads="1"/>
                </p:cNvSpPr>
                <p:nvPr/>
              </p:nvSpPr>
              <p:spPr bwMode="auto">
                <a:xfrm>
                  <a:off x="3878"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36" name="AutoShape 3343"/>
                <p:cNvSpPr>
                  <a:spLocks noChangeArrowheads="1"/>
                </p:cNvSpPr>
                <p:nvPr/>
              </p:nvSpPr>
              <p:spPr bwMode="auto">
                <a:xfrm>
                  <a:off x="3878"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37" name="AutoShape 3344"/>
                <p:cNvSpPr>
                  <a:spLocks noChangeArrowheads="1"/>
                </p:cNvSpPr>
                <p:nvPr/>
              </p:nvSpPr>
              <p:spPr bwMode="auto">
                <a:xfrm>
                  <a:off x="3878"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38" name="AutoShape 3345"/>
                <p:cNvSpPr>
                  <a:spLocks noChangeArrowheads="1"/>
                </p:cNvSpPr>
                <p:nvPr/>
              </p:nvSpPr>
              <p:spPr bwMode="auto">
                <a:xfrm>
                  <a:off x="3878"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39" name="AutoShape 3346"/>
                <p:cNvSpPr>
                  <a:spLocks noChangeArrowheads="1"/>
                </p:cNvSpPr>
                <p:nvPr/>
              </p:nvSpPr>
              <p:spPr bwMode="auto">
                <a:xfrm>
                  <a:off x="3878"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40" name="AutoShape 3347"/>
                <p:cNvSpPr>
                  <a:spLocks noChangeArrowheads="1"/>
                </p:cNvSpPr>
                <p:nvPr/>
              </p:nvSpPr>
              <p:spPr bwMode="auto">
                <a:xfrm>
                  <a:off x="3878"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41" name="AutoShape 3348"/>
                <p:cNvSpPr>
                  <a:spLocks noChangeArrowheads="1"/>
                </p:cNvSpPr>
                <p:nvPr/>
              </p:nvSpPr>
              <p:spPr bwMode="auto">
                <a:xfrm>
                  <a:off x="3878"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42" name="AutoShape 3349"/>
                <p:cNvSpPr>
                  <a:spLocks noChangeArrowheads="1"/>
                </p:cNvSpPr>
                <p:nvPr/>
              </p:nvSpPr>
              <p:spPr bwMode="auto">
                <a:xfrm>
                  <a:off x="3969"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43" name="AutoShape 3350"/>
                <p:cNvSpPr>
                  <a:spLocks noChangeArrowheads="1"/>
                </p:cNvSpPr>
                <p:nvPr/>
              </p:nvSpPr>
              <p:spPr bwMode="auto">
                <a:xfrm>
                  <a:off x="3969"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44" name="AutoShape 3351"/>
                <p:cNvSpPr>
                  <a:spLocks noChangeArrowheads="1"/>
                </p:cNvSpPr>
                <p:nvPr/>
              </p:nvSpPr>
              <p:spPr bwMode="auto">
                <a:xfrm>
                  <a:off x="3969"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45" name="AutoShape 3352"/>
                <p:cNvSpPr>
                  <a:spLocks noChangeArrowheads="1"/>
                </p:cNvSpPr>
                <p:nvPr/>
              </p:nvSpPr>
              <p:spPr bwMode="auto">
                <a:xfrm>
                  <a:off x="3969"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46" name="AutoShape 3353"/>
                <p:cNvSpPr>
                  <a:spLocks noChangeArrowheads="1"/>
                </p:cNvSpPr>
                <p:nvPr/>
              </p:nvSpPr>
              <p:spPr bwMode="auto">
                <a:xfrm>
                  <a:off x="3969"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47" name="AutoShape 3354"/>
                <p:cNvSpPr>
                  <a:spLocks noChangeArrowheads="1"/>
                </p:cNvSpPr>
                <p:nvPr/>
              </p:nvSpPr>
              <p:spPr bwMode="auto">
                <a:xfrm>
                  <a:off x="3969"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48" name="AutoShape 3355"/>
                <p:cNvSpPr>
                  <a:spLocks noChangeArrowheads="1"/>
                </p:cNvSpPr>
                <p:nvPr/>
              </p:nvSpPr>
              <p:spPr bwMode="auto">
                <a:xfrm>
                  <a:off x="3969"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49" name="AutoShape 3356"/>
                <p:cNvSpPr>
                  <a:spLocks noChangeArrowheads="1"/>
                </p:cNvSpPr>
                <p:nvPr/>
              </p:nvSpPr>
              <p:spPr bwMode="auto">
                <a:xfrm>
                  <a:off x="3969"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50" name="AutoShape 3357"/>
                <p:cNvSpPr>
                  <a:spLocks noChangeArrowheads="1"/>
                </p:cNvSpPr>
                <p:nvPr/>
              </p:nvSpPr>
              <p:spPr bwMode="auto">
                <a:xfrm>
                  <a:off x="3969"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851" name="AutoShape 3358"/>
                <p:cNvSpPr>
                  <a:spLocks noChangeArrowheads="1"/>
                </p:cNvSpPr>
                <p:nvPr/>
              </p:nvSpPr>
              <p:spPr bwMode="auto">
                <a:xfrm>
                  <a:off x="3969"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8449" name="Group 3359"/>
              <p:cNvGrpSpPr>
                <a:grpSpLocks/>
              </p:cNvGrpSpPr>
              <p:nvPr/>
            </p:nvGrpSpPr>
            <p:grpSpPr bwMode="auto">
              <a:xfrm>
                <a:off x="3002" y="1965"/>
                <a:ext cx="862" cy="952"/>
                <a:chOff x="3243" y="1752"/>
                <a:chExt cx="862" cy="952"/>
              </a:xfrm>
            </p:grpSpPr>
            <p:sp>
              <p:nvSpPr>
                <p:cNvPr id="18652" name="AutoShape 3360"/>
                <p:cNvSpPr>
                  <a:spLocks noChangeArrowheads="1"/>
                </p:cNvSpPr>
                <p:nvPr/>
              </p:nvSpPr>
              <p:spPr bwMode="auto">
                <a:xfrm>
                  <a:off x="3243"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53" name="AutoShape 3361"/>
                <p:cNvSpPr>
                  <a:spLocks noChangeArrowheads="1"/>
                </p:cNvSpPr>
                <p:nvPr/>
              </p:nvSpPr>
              <p:spPr bwMode="auto">
                <a:xfrm>
                  <a:off x="3243"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54" name="AutoShape 3362"/>
                <p:cNvSpPr>
                  <a:spLocks noChangeArrowheads="1"/>
                </p:cNvSpPr>
                <p:nvPr/>
              </p:nvSpPr>
              <p:spPr bwMode="auto">
                <a:xfrm>
                  <a:off x="3243"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55" name="AutoShape 3363"/>
                <p:cNvSpPr>
                  <a:spLocks noChangeArrowheads="1"/>
                </p:cNvSpPr>
                <p:nvPr/>
              </p:nvSpPr>
              <p:spPr bwMode="auto">
                <a:xfrm>
                  <a:off x="3243"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56" name="AutoShape 3364"/>
                <p:cNvSpPr>
                  <a:spLocks noChangeArrowheads="1"/>
                </p:cNvSpPr>
                <p:nvPr/>
              </p:nvSpPr>
              <p:spPr bwMode="auto">
                <a:xfrm>
                  <a:off x="3243"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57" name="AutoShape 3365"/>
                <p:cNvSpPr>
                  <a:spLocks noChangeArrowheads="1"/>
                </p:cNvSpPr>
                <p:nvPr/>
              </p:nvSpPr>
              <p:spPr bwMode="auto">
                <a:xfrm>
                  <a:off x="3243"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58" name="AutoShape 3366"/>
                <p:cNvSpPr>
                  <a:spLocks noChangeArrowheads="1"/>
                </p:cNvSpPr>
                <p:nvPr/>
              </p:nvSpPr>
              <p:spPr bwMode="auto">
                <a:xfrm>
                  <a:off x="3243"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59" name="AutoShape 3367"/>
                <p:cNvSpPr>
                  <a:spLocks noChangeArrowheads="1"/>
                </p:cNvSpPr>
                <p:nvPr/>
              </p:nvSpPr>
              <p:spPr bwMode="auto">
                <a:xfrm>
                  <a:off x="3243"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60" name="AutoShape 3368"/>
                <p:cNvSpPr>
                  <a:spLocks noChangeArrowheads="1"/>
                </p:cNvSpPr>
                <p:nvPr/>
              </p:nvSpPr>
              <p:spPr bwMode="auto">
                <a:xfrm>
                  <a:off x="3243"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61" name="AutoShape 3369"/>
                <p:cNvSpPr>
                  <a:spLocks noChangeArrowheads="1"/>
                </p:cNvSpPr>
                <p:nvPr/>
              </p:nvSpPr>
              <p:spPr bwMode="auto">
                <a:xfrm>
                  <a:off x="3243"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62" name="AutoShape 3370"/>
                <p:cNvSpPr>
                  <a:spLocks noChangeArrowheads="1"/>
                </p:cNvSpPr>
                <p:nvPr/>
              </p:nvSpPr>
              <p:spPr bwMode="auto">
                <a:xfrm>
                  <a:off x="3334"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63" name="AutoShape 3371"/>
                <p:cNvSpPr>
                  <a:spLocks noChangeArrowheads="1"/>
                </p:cNvSpPr>
                <p:nvPr/>
              </p:nvSpPr>
              <p:spPr bwMode="auto">
                <a:xfrm>
                  <a:off x="3334"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64" name="AutoShape 3372"/>
                <p:cNvSpPr>
                  <a:spLocks noChangeArrowheads="1"/>
                </p:cNvSpPr>
                <p:nvPr/>
              </p:nvSpPr>
              <p:spPr bwMode="auto">
                <a:xfrm>
                  <a:off x="3334"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65" name="AutoShape 3373"/>
                <p:cNvSpPr>
                  <a:spLocks noChangeArrowheads="1"/>
                </p:cNvSpPr>
                <p:nvPr/>
              </p:nvSpPr>
              <p:spPr bwMode="auto">
                <a:xfrm>
                  <a:off x="3334"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66" name="AutoShape 3374"/>
                <p:cNvSpPr>
                  <a:spLocks noChangeArrowheads="1"/>
                </p:cNvSpPr>
                <p:nvPr/>
              </p:nvSpPr>
              <p:spPr bwMode="auto">
                <a:xfrm>
                  <a:off x="3334"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67" name="AutoShape 3375"/>
                <p:cNvSpPr>
                  <a:spLocks noChangeArrowheads="1"/>
                </p:cNvSpPr>
                <p:nvPr/>
              </p:nvSpPr>
              <p:spPr bwMode="auto">
                <a:xfrm>
                  <a:off x="3334"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68" name="AutoShape 3376"/>
                <p:cNvSpPr>
                  <a:spLocks noChangeArrowheads="1"/>
                </p:cNvSpPr>
                <p:nvPr/>
              </p:nvSpPr>
              <p:spPr bwMode="auto">
                <a:xfrm>
                  <a:off x="3334"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69" name="AutoShape 3377"/>
                <p:cNvSpPr>
                  <a:spLocks noChangeArrowheads="1"/>
                </p:cNvSpPr>
                <p:nvPr/>
              </p:nvSpPr>
              <p:spPr bwMode="auto">
                <a:xfrm>
                  <a:off x="3334"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70" name="AutoShape 3378"/>
                <p:cNvSpPr>
                  <a:spLocks noChangeArrowheads="1"/>
                </p:cNvSpPr>
                <p:nvPr/>
              </p:nvSpPr>
              <p:spPr bwMode="auto">
                <a:xfrm>
                  <a:off x="3334"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71" name="AutoShape 3379"/>
                <p:cNvSpPr>
                  <a:spLocks noChangeArrowheads="1"/>
                </p:cNvSpPr>
                <p:nvPr/>
              </p:nvSpPr>
              <p:spPr bwMode="auto">
                <a:xfrm>
                  <a:off x="3334"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72" name="AutoShape 3380"/>
                <p:cNvSpPr>
                  <a:spLocks noChangeArrowheads="1"/>
                </p:cNvSpPr>
                <p:nvPr/>
              </p:nvSpPr>
              <p:spPr bwMode="auto">
                <a:xfrm>
                  <a:off x="3424"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73" name="AutoShape 3381"/>
                <p:cNvSpPr>
                  <a:spLocks noChangeArrowheads="1"/>
                </p:cNvSpPr>
                <p:nvPr/>
              </p:nvSpPr>
              <p:spPr bwMode="auto">
                <a:xfrm>
                  <a:off x="3424"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74" name="AutoShape 3382"/>
                <p:cNvSpPr>
                  <a:spLocks noChangeArrowheads="1"/>
                </p:cNvSpPr>
                <p:nvPr/>
              </p:nvSpPr>
              <p:spPr bwMode="auto">
                <a:xfrm>
                  <a:off x="3424"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75" name="AutoShape 3383"/>
                <p:cNvSpPr>
                  <a:spLocks noChangeArrowheads="1"/>
                </p:cNvSpPr>
                <p:nvPr/>
              </p:nvSpPr>
              <p:spPr bwMode="auto">
                <a:xfrm>
                  <a:off x="3424"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76" name="AutoShape 3384"/>
                <p:cNvSpPr>
                  <a:spLocks noChangeArrowheads="1"/>
                </p:cNvSpPr>
                <p:nvPr/>
              </p:nvSpPr>
              <p:spPr bwMode="auto">
                <a:xfrm>
                  <a:off x="3424"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77" name="AutoShape 3385"/>
                <p:cNvSpPr>
                  <a:spLocks noChangeArrowheads="1"/>
                </p:cNvSpPr>
                <p:nvPr/>
              </p:nvSpPr>
              <p:spPr bwMode="auto">
                <a:xfrm>
                  <a:off x="3424"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78" name="AutoShape 3386"/>
                <p:cNvSpPr>
                  <a:spLocks noChangeArrowheads="1"/>
                </p:cNvSpPr>
                <p:nvPr/>
              </p:nvSpPr>
              <p:spPr bwMode="auto">
                <a:xfrm>
                  <a:off x="3424"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79" name="AutoShape 3387"/>
                <p:cNvSpPr>
                  <a:spLocks noChangeArrowheads="1"/>
                </p:cNvSpPr>
                <p:nvPr/>
              </p:nvSpPr>
              <p:spPr bwMode="auto">
                <a:xfrm>
                  <a:off x="3424"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80" name="AutoShape 3388"/>
                <p:cNvSpPr>
                  <a:spLocks noChangeArrowheads="1"/>
                </p:cNvSpPr>
                <p:nvPr/>
              </p:nvSpPr>
              <p:spPr bwMode="auto">
                <a:xfrm>
                  <a:off x="3424"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81" name="AutoShape 3389"/>
                <p:cNvSpPr>
                  <a:spLocks noChangeArrowheads="1"/>
                </p:cNvSpPr>
                <p:nvPr/>
              </p:nvSpPr>
              <p:spPr bwMode="auto">
                <a:xfrm>
                  <a:off x="3424"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82" name="AutoShape 3390"/>
                <p:cNvSpPr>
                  <a:spLocks noChangeArrowheads="1"/>
                </p:cNvSpPr>
                <p:nvPr/>
              </p:nvSpPr>
              <p:spPr bwMode="auto">
                <a:xfrm>
                  <a:off x="3515"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83" name="AutoShape 3391"/>
                <p:cNvSpPr>
                  <a:spLocks noChangeArrowheads="1"/>
                </p:cNvSpPr>
                <p:nvPr/>
              </p:nvSpPr>
              <p:spPr bwMode="auto">
                <a:xfrm>
                  <a:off x="3515"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84" name="AutoShape 3392"/>
                <p:cNvSpPr>
                  <a:spLocks noChangeArrowheads="1"/>
                </p:cNvSpPr>
                <p:nvPr/>
              </p:nvSpPr>
              <p:spPr bwMode="auto">
                <a:xfrm>
                  <a:off x="3515"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85" name="AutoShape 3393"/>
                <p:cNvSpPr>
                  <a:spLocks noChangeArrowheads="1"/>
                </p:cNvSpPr>
                <p:nvPr/>
              </p:nvSpPr>
              <p:spPr bwMode="auto">
                <a:xfrm>
                  <a:off x="3515"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86" name="AutoShape 3394"/>
                <p:cNvSpPr>
                  <a:spLocks noChangeArrowheads="1"/>
                </p:cNvSpPr>
                <p:nvPr/>
              </p:nvSpPr>
              <p:spPr bwMode="auto">
                <a:xfrm>
                  <a:off x="3515"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87" name="AutoShape 3395"/>
                <p:cNvSpPr>
                  <a:spLocks noChangeArrowheads="1"/>
                </p:cNvSpPr>
                <p:nvPr/>
              </p:nvSpPr>
              <p:spPr bwMode="auto">
                <a:xfrm>
                  <a:off x="3515"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88" name="AutoShape 3396"/>
                <p:cNvSpPr>
                  <a:spLocks noChangeArrowheads="1"/>
                </p:cNvSpPr>
                <p:nvPr/>
              </p:nvSpPr>
              <p:spPr bwMode="auto">
                <a:xfrm>
                  <a:off x="3515"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89" name="AutoShape 3397"/>
                <p:cNvSpPr>
                  <a:spLocks noChangeArrowheads="1"/>
                </p:cNvSpPr>
                <p:nvPr/>
              </p:nvSpPr>
              <p:spPr bwMode="auto">
                <a:xfrm>
                  <a:off x="3515"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90" name="AutoShape 3398"/>
                <p:cNvSpPr>
                  <a:spLocks noChangeArrowheads="1"/>
                </p:cNvSpPr>
                <p:nvPr/>
              </p:nvSpPr>
              <p:spPr bwMode="auto">
                <a:xfrm>
                  <a:off x="3515"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91" name="AutoShape 3399"/>
                <p:cNvSpPr>
                  <a:spLocks noChangeArrowheads="1"/>
                </p:cNvSpPr>
                <p:nvPr/>
              </p:nvSpPr>
              <p:spPr bwMode="auto">
                <a:xfrm>
                  <a:off x="3515"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92" name="AutoShape 3400"/>
                <p:cNvSpPr>
                  <a:spLocks noChangeArrowheads="1"/>
                </p:cNvSpPr>
                <p:nvPr/>
              </p:nvSpPr>
              <p:spPr bwMode="auto">
                <a:xfrm>
                  <a:off x="3606"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93" name="AutoShape 3401"/>
                <p:cNvSpPr>
                  <a:spLocks noChangeArrowheads="1"/>
                </p:cNvSpPr>
                <p:nvPr/>
              </p:nvSpPr>
              <p:spPr bwMode="auto">
                <a:xfrm>
                  <a:off x="3606"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94" name="AutoShape 3402"/>
                <p:cNvSpPr>
                  <a:spLocks noChangeArrowheads="1"/>
                </p:cNvSpPr>
                <p:nvPr/>
              </p:nvSpPr>
              <p:spPr bwMode="auto">
                <a:xfrm>
                  <a:off x="3606"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95" name="AutoShape 3403"/>
                <p:cNvSpPr>
                  <a:spLocks noChangeArrowheads="1"/>
                </p:cNvSpPr>
                <p:nvPr/>
              </p:nvSpPr>
              <p:spPr bwMode="auto">
                <a:xfrm>
                  <a:off x="3606"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96" name="AutoShape 3404"/>
                <p:cNvSpPr>
                  <a:spLocks noChangeArrowheads="1"/>
                </p:cNvSpPr>
                <p:nvPr/>
              </p:nvSpPr>
              <p:spPr bwMode="auto">
                <a:xfrm>
                  <a:off x="3606"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97" name="AutoShape 3405"/>
                <p:cNvSpPr>
                  <a:spLocks noChangeArrowheads="1"/>
                </p:cNvSpPr>
                <p:nvPr/>
              </p:nvSpPr>
              <p:spPr bwMode="auto">
                <a:xfrm>
                  <a:off x="3606"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98" name="AutoShape 3406"/>
                <p:cNvSpPr>
                  <a:spLocks noChangeArrowheads="1"/>
                </p:cNvSpPr>
                <p:nvPr/>
              </p:nvSpPr>
              <p:spPr bwMode="auto">
                <a:xfrm>
                  <a:off x="3606"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99" name="AutoShape 3407"/>
                <p:cNvSpPr>
                  <a:spLocks noChangeArrowheads="1"/>
                </p:cNvSpPr>
                <p:nvPr/>
              </p:nvSpPr>
              <p:spPr bwMode="auto">
                <a:xfrm>
                  <a:off x="3606"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00" name="AutoShape 3408"/>
                <p:cNvSpPr>
                  <a:spLocks noChangeArrowheads="1"/>
                </p:cNvSpPr>
                <p:nvPr/>
              </p:nvSpPr>
              <p:spPr bwMode="auto">
                <a:xfrm>
                  <a:off x="3606"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01" name="AutoShape 3409"/>
                <p:cNvSpPr>
                  <a:spLocks noChangeArrowheads="1"/>
                </p:cNvSpPr>
                <p:nvPr/>
              </p:nvSpPr>
              <p:spPr bwMode="auto">
                <a:xfrm>
                  <a:off x="3606"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02" name="AutoShape 3410"/>
                <p:cNvSpPr>
                  <a:spLocks noChangeArrowheads="1"/>
                </p:cNvSpPr>
                <p:nvPr/>
              </p:nvSpPr>
              <p:spPr bwMode="auto">
                <a:xfrm>
                  <a:off x="3697"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03" name="AutoShape 3411"/>
                <p:cNvSpPr>
                  <a:spLocks noChangeArrowheads="1"/>
                </p:cNvSpPr>
                <p:nvPr/>
              </p:nvSpPr>
              <p:spPr bwMode="auto">
                <a:xfrm>
                  <a:off x="3697"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04" name="AutoShape 3412"/>
                <p:cNvSpPr>
                  <a:spLocks noChangeArrowheads="1"/>
                </p:cNvSpPr>
                <p:nvPr/>
              </p:nvSpPr>
              <p:spPr bwMode="auto">
                <a:xfrm>
                  <a:off x="3697"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05" name="AutoShape 3413"/>
                <p:cNvSpPr>
                  <a:spLocks noChangeArrowheads="1"/>
                </p:cNvSpPr>
                <p:nvPr/>
              </p:nvSpPr>
              <p:spPr bwMode="auto">
                <a:xfrm>
                  <a:off x="3697"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06" name="AutoShape 3414"/>
                <p:cNvSpPr>
                  <a:spLocks noChangeArrowheads="1"/>
                </p:cNvSpPr>
                <p:nvPr/>
              </p:nvSpPr>
              <p:spPr bwMode="auto">
                <a:xfrm>
                  <a:off x="3697"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07" name="AutoShape 3415"/>
                <p:cNvSpPr>
                  <a:spLocks noChangeArrowheads="1"/>
                </p:cNvSpPr>
                <p:nvPr/>
              </p:nvSpPr>
              <p:spPr bwMode="auto">
                <a:xfrm>
                  <a:off x="3697"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08" name="AutoShape 3416"/>
                <p:cNvSpPr>
                  <a:spLocks noChangeArrowheads="1"/>
                </p:cNvSpPr>
                <p:nvPr/>
              </p:nvSpPr>
              <p:spPr bwMode="auto">
                <a:xfrm>
                  <a:off x="3697"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09" name="AutoShape 3417"/>
                <p:cNvSpPr>
                  <a:spLocks noChangeArrowheads="1"/>
                </p:cNvSpPr>
                <p:nvPr/>
              </p:nvSpPr>
              <p:spPr bwMode="auto">
                <a:xfrm>
                  <a:off x="3697"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10" name="AutoShape 3418"/>
                <p:cNvSpPr>
                  <a:spLocks noChangeArrowheads="1"/>
                </p:cNvSpPr>
                <p:nvPr/>
              </p:nvSpPr>
              <p:spPr bwMode="auto">
                <a:xfrm>
                  <a:off x="3697"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11" name="AutoShape 3419"/>
                <p:cNvSpPr>
                  <a:spLocks noChangeArrowheads="1"/>
                </p:cNvSpPr>
                <p:nvPr/>
              </p:nvSpPr>
              <p:spPr bwMode="auto">
                <a:xfrm>
                  <a:off x="3697"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12" name="AutoShape 3420"/>
                <p:cNvSpPr>
                  <a:spLocks noChangeArrowheads="1"/>
                </p:cNvSpPr>
                <p:nvPr/>
              </p:nvSpPr>
              <p:spPr bwMode="auto">
                <a:xfrm>
                  <a:off x="3787"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13" name="AutoShape 3421"/>
                <p:cNvSpPr>
                  <a:spLocks noChangeArrowheads="1"/>
                </p:cNvSpPr>
                <p:nvPr/>
              </p:nvSpPr>
              <p:spPr bwMode="auto">
                <a:xfrm>
                  <a:off x="3787"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14" name="AutoShape 3422"/>
                <p:cNvSpPr>
                  <a:spLocks noChangeArrowheads="1"/>
                </p:cNvSpPr>
                <p:nvPr/>
              </p:nvSpPr>
              <p:spPr bwMode="auto">
                <a:xfrm>
                  <a:off x="3787"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15" name="AutoShape 3423"/>
                <p:cNvSpPr>
                  <a:spLocks noChangeArrowheads="1"/>
                </p:cNvSpPr>
                <p:nvPr/>
              </p:nvSpPr>
              <p:spPr bwMode="auto">
                <a:xfrm>
                  <a:off x="3787"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16" name="AutoShape 3424"/>
                <p:cNvSpPr>
                  <a:spLocks noChangeArrowheads="1"/>
                </p:cNvSpPr>
                <p:nvPr/>
              </p:nvSpPr>
              <p:spPr bwMode="auto">
                <a:xfrm>
                  <a:off x="3787"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17" name="AutoShape 3425"/>
                <p:cNvSpPr>
                  <a:spLocks noChangeArrowheads="1"/>
                </p:cNvSpPr>
                <p:nvPr/>
              </p:nvSpPr>
              <p:spPr bwMode="auto">
                <a:xfrm>
                  <a:off x="3787"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18" name="AutoShape 3426"/>
                <p:cNvSpPr>
                  <a:spLocks noChangeArrowheads="1"/>
                </p:cNvSpPr>
                <p:nvPr/>
              </p:nvSpPr>
              <p:spPr bwMode="auto">
                <a:xfrm>
                  <a:off x="3787"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19" name="AutoShape 3427"/>
                <p:cNvSpPr>
                  <a:spLocks noChangeArrowheads="1"/>
                </p:cNvSpPr>
                <p:nvPr/>
              </p:nvSpPr>
              <p:spPr bwMode="auto">
                <a:xfrm>
                  <a:off x="3787"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20" name="AutoShape 3428"/>
                <p:cNvSpPr>
                  <a:spLocks noChangeArrowheads="1"/>
                </p:cNvSpPr>
                <p:nvPr/>
              </p:nvSpPr>
              <p:spPr bwMode="auto">
                <a:xfrm>
                  <a:off x="3787"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21" name="AutoShape 3429"/>
                <p:cNvSpPr>
                  <a:spLocks noChangeArrowheads="1"/>
                </p:cNvSpPr>
                <p:nvPr/>
              </p:nvSpPr>
              <p:spPr bwMode="auto">
                <a:xfrm>
                  <a:off x="3787"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22" name="AutoShape 3430"/>
                <p:cNvSpPr>
                  <a:spLocks noChangeArrowheads="1"/>
                </p:cNvSpPr>
                <p:nvPr/>
              </p:nvSpPr>
              <p:spPr bwMode="auto">
                <a:xfrm>
                  <a:off x="3878"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23" name="AutoShape 3431"/>
                <p:cNvSpPr>
                  <a:spLocks noChangeArrowheads="1"/>
                </p:cNvSpPr>
                <p:nvPr/>
              </p:nvSpPr>
              <p:spPr bwMode="auto">
                <a:xfrm>
                  <a:off x="3878"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24" name="AutoShape 3432"/>
                <p:cNvSpPr>
                  <a:spLocks noChangeArrowheads="1"/>
                </p:cNvSpPr>
                <p:nvPr/>
              </p:nvSpPr>
              <p:spPr bwMode="auto">
                <a:xfrm>
                  <a:off x="3878"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25" name="AutoShape 3433"/>
                <p:cNvSpPr>
                  <a:spLocks noChangeArrowheads="1"/>
                </p:cNvSpPr>
                <p:nvPr/>
              </p:nvSpPr>
              <p:spPr bwMode="auto">
                <a:xfrm>
                  <a:off x="3878"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26" name="AutoShape 3434"/>
                <p:cNvSpPr>
                  <a:spLocks noChangeArrowheads="1"/>
                </p:cNvSpPr>
                <p:nvPr/>
              </p:nvSpPr>
              <p:spPr bwMode="auto">
                <a:xfrm>
                  <a:off x="3878"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27" name="AutoShape 3435"/>
                <p:cNvSpPr>
                  <a:spLocks noChangeArrowheads="1"/>
                </p:cNvSpPr>
                <p:nvPr/>
              </p:nvSpPr>
              <p:spPr bwMode="auto">
                <a:xfrm>
                  <a:off x="3878"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28" name="AutoShape 3436"/>
                <p:cNvSpPr>
                  <a:spLocks noChangeArrowheads="1"/>
                </p:cNvSpPr>
                <p:nvPr/>
              </p:nvSpPr>
              <p:spPr bwMode="auto">
                <a:xfrm>
                  <a:off x="3878"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29" name="AutoShape 3437"/>
                <p:cNvSpPr>
                  <a:spLocks noChangeArrowheads="1"/>
                </p:cNvSpPr>
                <p:nvPr/>
              </p:nvSpPr>
              <p:spPr bwMode="auto">
                <a:xfrm>
                  <a:off x="3878"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30" name="AutoShape 3438"/>
                <p:cNvSpPr>
                  <a:spLocks noChangeArrowheads="1"/>
                </p:cNvSpPr>
                <p:nvPr/>
              </p:nvSpPr>
              <p:spPr bwMode="auto">
                <a:xfrm>
                  <a:off x="3878"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31" name="AutoShape 3439"/>
                <p:cNvSpPr>
                  <a:spLocks noChangeArrowheads="1"/>
                </p:cNvSpPr>
                <p:nvPr/>
              </p:nvSpPr>
              <p:spPr bwMode="auto">
                <a:xfrm>
                  <a:off x="3878"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32" name="AutoShape 3440"/>
                <p:cNvSpPr>
                  <a:spLocks noChangeArrowheads="1"/>
                </p:cNvSpPr>
                <p:nvPr/>
              </p:nvSpPr>
              <p:spPr bwMode="auto">
                <a:xfrm>
                  <a:off x="3878"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33" name="AutoShape 3441"/>
                <p:cNvSpPr>
                  <a:spLocks noChangeArrowheads="1"/>
                </p:cNvSpPr>
                <p:nvPr/>
              </p:nvSpPr>
              <p:spPr bwMode="auto">
                <a:xfrm>
                  <a:off x="3878"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34" name="AutoShape 3442"/>
                <p:cNvSpPr>
                  <a:spLocks noChangeArrowheads="1"/>
                </p:cNvSpPr>
                <p:nvPr/>
              </p:nvSpPr>
              <p:spPr bwMode="auto">
                <a:xfrm>
                  <a:off x="3878"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35" name="AutoShape 3443"/>
                <p:cNvSpPr>
                  <a:spLocks noChangeArrowheads="1"/>
                </p:cNvSpPr>
                <p:nvPr/>
              </p:nvSpPr>
              <p:spPr bwMode="auto">
                <a:xfrm>
                  <a:off x="3878"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36" name="AutoShape 3444"/>
                <p:cNvSpPr>
                  <a:spLocks noChangeArrowheads="1"/>
                </p:cNvSpPr>
                <p:nvPr/>
              </p:nvSpPr>
              <p:spPr bwMode="auto">
                <a:xfrm>
                  <a:off x="3878"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37" name="AutoShape 3445"/>
                <p:cNvSpPr>
                  <a:spLocks noChangeArrowheads="1"/>
                </p:cNvSpPr>
                <p:nvPr/>
              </p:nvSpPr>
              <p:spPr bwMode="auto">
                <a:xfrm>
                  <a:off x="3878"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38" name="AutoShape 3446"/>
                <p:cNvSpPr>
                  <a:spLocks noChangeArrowheads="1"/>
                </p:cNvSpPr>
                <p:nvPr/>
              </p:nvSpPr>
              <p:spPr bwMode="auto">
                <a:xfrm>
                  <a:off x="3878"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39" name="AutoShape 3447"/>
                <p:cNvSpPr>
                  <a:spLocks noChangeArrowheads="1"/>
                </p:cNvSpPr>
                <p:nvPr/>
              </p:nvSpPr>
              <p:spPr bwMode="auto">
                <a:xfrm>
                  <a:off x="3878"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0" name="AutoShape 3448"/>
                <p:cNvSpPr>
                  <a:spLocks noChangeArrowheads="1"/>
                </p:cNvSpPr>
                <p:nvPr/>
              </p:nvSpPr>
              <p:spPr bwMode="auto">
                <a:xfrm>
                  <a:off x="3878"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1" name="AutoShape 3449"/>
                <p:cNvSpPr>
                  <a:spLocks noChangeArrowheads="1"/>
                </p:cNvSpPr>
                <p:nvPr/>
              </p:nvSpPr>
              <p:spPr bwMode="auto">
                <a:xfrm>
                  <a:off x="3878"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2" name="AutoShape 3450"/>
                <p:cNvSpPr>
                  <a:spLocks noChangeArrowheads="1"/>
                </p:cNvSpPr>
                <p:nvPr/>
              </p:nvSpPr>
              <p:spPr bwMode="auto">
                <a:xfrm>
                  <a:off x="3969"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3" name="AutoShape 3451"/>
                <p:cNvSpPr>
                  <a:spLocks noChangeArrowheads="1"/>
                </p:cNvSpPr>
                <p:nvPr/>
              </p:nvSpPr>
              <p:spPr bwMode="auto">
                <a:xfrm>
                  <a:off x="3969"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4" name="AutoShape 3452"/>
                <p:cNvSpPr>
                  <a:spLocks noChangeArrowheads="1"/>
                </p:cNvSpPr>
                <p:nvPr/>
              </p:nvSpPr>
              <p:spPr bwMode="auto">
                <a:xfrm>
                  <a:off x="3969"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5" name="AutoShape 3453"/>
                <p:cNvSpPr>
                  <a:spLocks noChangeArrowheads="1"/>
                </p:cNvSpPr>
                <p:nvPr/>
              </p:nvSpPr>
              <p:spPr bwMode="auto">
                <a:xfrm>
                  <a:off x="3969"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6" name="AutoShape 3454"/>
                <p:cNvSpPr>
                  <a:spLocks noChangeArrowheads="1"/>
                </p:cNvSpPr>
                <p:nvPr/>
              </p:nvSpPr>
              <p:spPr bwMode="auto">
                <a:xfrm>
                  <a:off x="3969"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7" name="AutoShape 3455"/>
                <p:cNvSpPr>
                  <a:spLocks noChangeArrowheads="1"/>
                </p:cNvSpPr>
                <p:nvPr/>
              </p:nvSpPr>
              <p:spPr bwMode="auto">
                <a:xfrm>
                  <a:off x="3969"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8" name="AutoShape 3456"/>
                <p:cNvSpPr>
                  <a:spLocks noChangeArrowheads="1"/>
                </p:cNvSpPr>
                <p:nvPr/>
              </p:nvSpPr>
              <p:spPr bwMode="auto">
                <a:xfrm>
                  <a:off x="3969"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49" name="AutoShape 3457"/>
                <p:cNvSpPr>
                  <a:spLocks noChangeArrowheads="1"/>
                </p:cNvSpPr>
                <p:nvPr/>
              </p:nvSpPr>
              <p:spPr bwMode="auto">
                <a:xfrm>
                  <a:off x="3969"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50" name="AutoShape 3458"/>
                <p:cNvSpPr>
                  <a:spLocks noChangeArrowheads="1"/>
                </p:cNvSpPr>
                <p:nvPr/>
              </p:nvSpPr>
              <p:spPr bwMode="auto">
                <a:xfrm>
                  <a:off x="3969"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751" name="AutoShape 3459"/>
                <p:cNvSpPr>
                  <a:spLocks noChangeArrowheads="1"/>
                </p:cNvSpPr>
                <p:nvPr/>
              </p:nvSpPr>
              <p:spPr bwMode="auto">
                <a:xfrm>
                  <a:off x="3969"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8450" name="Group 3460"/>
              <p:cNvGrpSpPr>
                <a:grpSpLocks/>
              </p:cNvGrpSpPr>
              <p:nvPr/>
            </p:nvGrpSpPr>
            <p:grpSpPr bwMode="auto">
              <a:xfrm>
                <a:off x="2969" y="1992"/>
                <a:ext cx="862" cy="952"/>
                <a:chOff x="3243" y="1752"/>
                <a:chExt cx="862" cy="952"/>
              </a:xfrm>
            </p:grpSpPr>
            <p:sp>
              <p:nvSpPr>
                <p:cNvPr id="18552" name="AutoShape 3461"/>
                <p:cNvSpPr>
                  <a:spLocks noChangeArrowheads="1"/>
                </p:cNvSpPr>
                <p:nvPr/>
              </p:nvSpPr>
              <p:spPr bwMode="auto">
                <a:xfrm>
                  <a:off x="3243"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53" name="AutoShape 3462"/>
                <p:cNvSpPr>
                  <a:spLocks noChangeArrowheads="1"/>
                </p:cNvSpPr>
                <p:nvPr/>
              </p:nvSpPr>
              <p:spPr bwMode="auto">
                <a:xfrm>
                  <a:off x="3243"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54" name="AutoShape 3463"/>
                <p:cNvSpPr>
                  <a:spLocks noChangeArrowheads="1"/>
                </p:cNvSpPr>
                <p:nvPr/>
              </p:nvSpPr>
              <p:spPr bwMode="auto">
                <a:xfrm>
                  <a:off x="3243"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55" name="AutoShape 3464"/>
                <p:cNvSpPr>
                  <a:spLocks noChangeArrowheads="1"/>
                </p:cNvSpPr>
                <p:nvPr/>
              </p:nvSpPr>
              <p:spPr bwMode="auto">
                <a:xfrm>
                  <a:off x="3243"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56" name="AutoShape 3465"/>
                <p:cNvSpPr>
                  <a:spLocks noChangeArrowheads="1"/>
                </p:cNvSpPr>
                <p:nvPr/>
              </p:nvSpPr>
              <p:spPr bwMode="auto">
                <a:xfrm>
                  <a:off x="3243"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57" name="AutoShape 3466"/>
                <p:cNvSpPr>
                  <a:spLocks noChangeArrowheads="1"/>
                </p:cNvSpPr>
                <p:nvPr/>
              </p:nvSpPr>
              <p:spPr bwMode="auto">
                <a:xfrm>
                  <a:off x="3243"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58" name="AutoShape 3467"/>
                <p:cNvSpPr>
                  <a:spLocks noChangeArrowheads="1"/>
                </p:cNvSpPr>
                <p:nvPr/>
              </p:nvSpPr>
              <p:spPr bwMode="auto">
                <a:xfrm>
                  <a:off x="3243"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59" name="AutoShape 3468"/>
                <p:cNvSpPr>
                  <a:spLocks noChangeArrowheads="1"/>
                </p:cNvSpPr>
                <p:nvPr/>
              </p:nvSpPr>
              <p:spPr bwMode="auto">
                <a:xfrm>
                  <a:off x="3243"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60" name="AutoShape 3469"/>
                <p:cNvSpPr>
                  <a:spLocks noChangeArrowheads="1"/>
                </p:cNvSpPr>
                <p:nvPr/>
              </p:nvSpPr>
              <p:spPr bwMode="auto">
                <a:xfrm>
                  <a:off x="3243"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61" name="AutoShape 3470"/>
                <p:cNvSpPr>
                  <a:spLocks noChangeArrowheads="1"/>
                </p:cNvSpPr>
                <p:nvPr/>
              </p:nvSpPr>
              <p:spPr bwMode="auto">
                <a:xfrm>
                  <a:off x="3243"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62" name="AutoShape 3471"/>
                <p:cNvSpPr>
                  <a:spLocks noChangeArrowheads="1"/>
                </p:cNvSpPr>
                <p:nvPr/>
              </p:nvSpPr>
              <p:spPr bwMode="auto">
                <a:xfrm>
                  <a:off x="3334"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63" name="AutoShape 3472"/>
                <p:cNvSpPr>
                  <a:spLocks noChangeArrowheads="1"/>
                </p:cNvSpPr>
                <p:nvPr/>
              </p:nvSpPr>
              <p:spPr bwMode="auto">
                <a:xfrm>
                  <a:off x="3334"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64" name="AutoShape 3473"/>
                <p:cNvSpPr>
                  <a:spLocks noChangeArrowheads="1"/>
                </p:cNvSpPr>
                <p:nvPr/>
              </p:nvSpPr>
              <p:spPr bwMode="auto">
                <a:xfrm>
                  <a:off x="3334"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65" name="AutoShape 3474"/>
                <p:cNvSpPr>
                  <a:spLocks noChangeArrowheads="1"/>
                </p:cNvSpPr>
                <p:nvPr/>
              </p:nvSpPr>
              <p:spPr bwMode="auto">
                <a:xfrm>
                  <a:off x="3334"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66" name="AutoShape 3475"/>
                <p:cNvSpPr>
                  <a:spLocks noChangeArrowheads="1"/>
                </p:cNvSpPr>
                <p:nvPr/>
              </p:nvSpPr>
              <p:spPr bwMode="auto">
                <a:xfrm>
                  <a:off x="3334"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67" name="AutoShape 3476"/>
                <p:cNvSpPr>
                  <a:spLocks noChangeArrowheads="1"/>
                </p:cNvSpPr>
                <p:nvPr/>
              </p:nvSpPr>
              <p:spPr bwMode="auto">
                <a:xfrm>
                  <a:off x="3334"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68" name="AutoShape 3477"/>
                <p:cNvSpPr>
                  <a:spLocks noChangeArrowheads="1"/>
                </p:cNvSpPr>
                <p:nvPr/>
              </p:nvSpPr>
              <p:spPr bwMode="auto">
                <a:xfrm>
                  <a:off x="3334"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69" name="AutoShape 3478"/>
                <p:cNvSpPr>
                  <a:spLocks noChangeArrowheads="1"/>
                </p:cNvSpPr>
                <p:nvPr/>
              </p:nvSpPr>
              <p:spPr bwMode="auto">
                <a:xfrm>
                  <a:off x="3334"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70" name="AutoShape 3479"/>
                <p:cNvSpPr>
                  <a:spLocks noChangeArrowheads="1"/>
                </p:cNvSpPr>
                <p:nvPr/>
              </p:nvSpPr>
              <p:spPr bwMode="auto">
                <a:xfrm>
                  <a:off x="3334"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71" name="AutoShape 3480"/>
                <p:cNvSpPr>
                  <a:spLocks noChangeArrowheads="1"/>
                </p:cNvSpPr>
                <p:nvPr/>
              </p:nvSpPr>
              <p:spPr bwMode="auto">
                <a:xfrm>
                  <a:off x="3334"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72" name="AutoShape 3481"/>
                <p:cNvSpPr>
                  <a:spLocks noChangeArrowheads="1"/>
                </p:cNvSpPr>
                <p:nvPr/>
              </p:nvSpPr>
              <p:spPr bwMode="auto">
                <a:xfrm>
                  <a:off x="3424"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73" name="AutoShape 3482"/>
                <p:cNvSpPr>
                  <a:spLocks noChangeArrowheads="1"/>
                </p:cNvSpPr>
                <p:nvPr/>
              </p:nvSpPr>
              <p:spPr bwMode="auto">
                <a:xfrm>
                  <a:off x="3424"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74" name="AutoShape 3483"/>
                <p:cNvSpPr>
                  <a:spLocks noChangeArrowheads="1"/>
                </p:cNvSpPr>
                <p:nvPr/>
              </p:nvSpPr>
              <p:spPr bwMode="auto">
                <a:xfrm>
                  <a:off x="3424"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75" name="AutoShape 3484"/>
                <p:cNvSpPr>
                  <a:spLocks noChangeArrowheads="1"/>
                </p:cNvSpPr>
                <p:nvPr/>
              </p:nvSpPr>
              <p:spPr bwMode="auto">
                <a:xfrm>
                  <a:off x="3424"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76" name="AutoShape 3485"/>
                <p:cNvSpPr>
                  <a:spLocks noChangeArrowheads="1"/>
                </p:cNvSpPr>
                <p:nvPr/>
              </p:nvSpPr>
              <p:spPr bwMode="auto">
                <a:xfrm>
                  <a:off x="3424"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77" name="AutoShape 3486"/>
                <p:cNvSpPr>
                  <a:spLocks noChangeArrowheads="1"/>
                </p:cNvSpPr>
                <p:nvPr/>
              </p:nvSpPr>
              <p:spPr bwMode="auto">
                <a:xfrm>
                  <a:off x="3424"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78" name="AutoShape 3487"/>
                <p:cNvSpPr>
                  <a:spLocks noChangeArrowheads="1"/>
                </p:cNvSpPr>
                <p:nvPr/>
              </p:nvSpPr>
              <p:spPr bwMode="auto">
                <a:xfrm>
                  <a:off x="3424"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79" name="AutoShape 3488"/>
                <p:cNvSpPr>
                  <a:spLocks noChangeArrowheads="1"/>
                </p:cNvSpPr>
                <p:nvPr/>
              </p:nvSpPr>
              <p:spPr bwMode="auto">
                <a:xfrm>
                  <a:off x="3424"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80" name="AutoShape 3489"/>
                <p:cNvSpPr>
                  <a:spLocks noChangeArrowheads="1"/>
                </p:cNvSpPr>
                <p:nvPr/>
              </p:nvSpPr>
              <p:spPr bwMode="auto">
                <a:xfrm>
                  <a:off x="3424"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81" name="AutoShape 3490"/>
                <p:cNvSpPr>
                  <a:spLocks noChangeArrowheads="1"/>
                </p:cNvSpPr>
                <p:nvPr/>
              </p:nvSpPr>
              <p:spPr bwMode="auto">
                <a:xfrm>
                  <a:off x="3424"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82" name="AutoShape 3491"/>
                <p:cNvSpPr>
                  <a:spLocks noChangeArrowheads="1"/>
                </p:cNvSpPr>
                <p:nvPr/>
              </p:nvSpPr>
              <p:spPr bwMode="auto">
                <a:xfrm>
                  <a:off x="3515"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83" name="AutoShape 3492"/>
                <p:cNvSpPr>
                  <a:spLocks noChangeArrowheads="1"/>
                </p:cNvSpPr>
                <p:nvPr/>
              </p:nvSpPr>
              <p:spPr bwMode="auto">
                <a:xfrm>
                  <a:off x="3515"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84" name="AutoShape 3493"/>
                <p:cNvSpPr>
                  <a:spLocks noChangeArrowheads="1"/>
                </p:cNvSpPr>
                <p:nvPr/>
              </p:nvSpPr>
              <p:spPr bwMode="auto">
                <a:xfrm>
                  <a:off x="3515"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85" name="AutoShape 3494"/>
                <p:cNvSpPr>
                  <a:spLocks noChangeArrowheads="1"/>
                </p:cNvSpPr>
                <p:nvPr/>
              </p:nvSpPr>
              <p:spPr bwMode="auto">
                <a:xfrm>
                  <a:off x="3515"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86" name="AutoShape 3495"/>
                <p:cNvSpPr>
                  <a:spLocks noChangeArrowheads="1"/>
                </p:cNvSpPr>
                <p:nvPr/>
              </p:nvSpPr>
              <p:spPr bwMode="auto">
                <a:xfrm>
                  <a:off x="3515"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87" name="AutoShape 3496"/>
                <p:cNvSpPr>
                  <a:spLocks noChangeArrowheads="1"/>
                </p:cNvSpPr>
                <p:nvPr/>
              </p:nvSpPr>
              <p:spPr bwMode="auto">
                <a:xfrm>
                  <a:off x="3515"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88" name="AutoShape 3497"/>
                <p:cNvSpPr>
                  <a:spLocks noChangeArrowheads="1"/>
                </p:cNvSpPr>
                <p:nvPr/>
              </p:nvSpPr>
              <p:spPr bwMode="auto">
                <a:xfrm>
                  <a:off x="3515"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89" name="AutoShape 3498"/>
                <p:cNvSpPr>
                  <a:spLocks noChangeArrowheads="1"/>
                </p:cNvSpPr>
                <p:nvPr/>
              </p:nvSpPr>
              <p:spPr bwMode="auto">
                <a:xfrm>
                  <a:off x="3515"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90" name="AutoShape 3499"/>
                <p:cNvSpPr>
                  <a:spLocks noChangeArrowheads="1"/>
                </p:cNvSpPr>
                <p:nvPr/>
              </p:nvSpPr>
              <p:spPr bwMode="auto">
                <a:xfrm>
                  <a:off x="3515"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91" name="AutoShape 3500"/>
                <p:cNvSpPr>
                  <a:spLocks noChangeArrowheads="1"/>
                </p:cNvSpPr>
                <p:nvPr/>
              </p:nvSpPr>
              <p:spPr bwMode="auto">
                <a:xfrm>
                  <a:off x="3515"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92" name="AutoShape 3501"/>
                <p:cNvSpPr>
                  <a:spLocks noChangeArrowheads="1"/>
                </p:cNvSpPr>
                <p:nvPr/>
              </p:nvSpPr>
              <p:spPr bwMode="auto">
                <a:xfrm>
                  <a:off x="3606"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93" name="AutoShape 3502"/>
                <p:cNvSpPr>
                  <a:spLocks noChangeArrowheads="1"/>
                </p:cNvSpPr>
                <p:nvPr/>
              </p:nvSpPr>
              <p:spPr bwMode="auto">
                <a:xfrm>
                  <a:off x="3606"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94" name="AutoShape 3503"/>
                <p:cNvSpPr>
                  <a:spLocks noChangeArrowheads="1"/>
                </p:cNvSpPr>
                <p:nvPr/>
              </p:nvSpPr>
              <p:spPr bwMode="auto">
                <a:xfrm>
                  <a:off x="3606"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95" name="AutoShape 3504"/>
                <p:cNvSpPr>
                  <a:spLocks noChangeArrowheads="1"/>
                </p:cNvSpPr>
                <p:nvPr/>
              </p:nvSpPr>
              <p:spPr bwMode="auto">
                <a:xfrm>
                  <a:off x="3606"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96" name="AutoShape 3505"/>
                <p:cNvSpPr>
                  <a:spLocks noChangeArrowheads="1"/>
                </p:cNvSpPr>
                <p:nvPr/>
              </p:nvSpPr>
              <p:spPr bwMode="auto">
                <a:xfrm>
                  <a:off x="3606"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97" name="AutoShape 3506"/>
                <p:cNvSpPr>
                  <a:spLocks noChangeArrowheads="1"/>
                </p:cNvSpPr>
                <p:nvPr/>
              </p:nvSpPr>
              <p:spPr bwMode="auto">
                <a:xfrm>
                  <a:off x="3606"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98" name="AutoShape 3507"/>
                <p:cNvSpPr>
                  <a:spLocks noChangeArrowheads="1"/>
                </p:cNvSpPr>
                <p:nvPr/>
              </p:nvSpPr>
              <p:spPr bwMode="auto">
                <a:xfrm>
                  <a:off x="3606"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99" name="AutoShape 3508"/>
                <p:cNvSpPr>
                  <a:spLocks noChangeArrowheads="1"/>
                </p:cNvSpPr>
                <p:nvPr/>
              </p:nvSpPr>
              <p:spPr bwMode="auto">
                <a:xfrm>
                  <a:off x="3606"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00" name="AutoShape 3509"/>
                <p:cNvSpPr>
                  <a:spLocks noChangeArrowheads="1"/>
                </p:cNvSpPr>
                <p:nvPr/>
              </p:nvSpPr>
              <p:spPr bwMode="auto">
                <a:xfrm>
                  <a:off x="3606"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01" name="AutoShape 3510"/>
                <p:cNvSpPr>
                  <a:spLocks noChangeArrowheads="1"/>
                </p:cNvSpPr>
                <p:nvPr/>
              </p:nvSpPr>
              <p:spPr bwMode="auto">
                <a:xfrm>
                  <a:off x="3606"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02" name="AutoShape 3511"/>
                <p:cNvSpPr>
                  <a:spLocks noChangeArrowheads="1"/>
                </p:cNvSpPr>
                <p:nvPr/>
              </p:nvSpPr>
              <p:spPr bwMode="auto">
                <a:xfrm>
                  <a:off x="3697"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03" name="AutoShape 3512"/>
                <p:cNvSpPr>
                  <a:spLocks noChangeArrowheads="1"/>
                </p:cNvSpPr>
                <p:nvPr/>
              </p:nvSpPr>
              <p:spPr bwMode="auto">
                <a:xfrm>
                  <a:off x="3697"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04" name="AutoShape 3513"/>
                <p:cNvSpPr>
                  <a:spLocks noChangeArrowheads="1"/>
                </p:cNvSpPr>
                <p:nvPr/>
              </p:nvSpPr>
              <p:spPr bwMode="auto">
                <a:xfrm>
                  <a:off x="3697"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05" name="AutoShape 3514"/>
                <p:cNvSpPr>
                  <a:spLocks noChangeArrowheads="1"/>
                </p:cNvSpPr>
                <p:nvPr/>
              </p:nvSpPr>
              <p:spPr bwMode="auto">
                <a:xfrm>
                  <a:off x="3697"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06" name="AutoShape 3515"/>
                <p:cNvSpPr>
                  <a:spLocks noChangeArrowheads="1"/>
                </p:cNvSpPr>
                <p:nvPr/>
              </p:nvSpPr>
              <p:spPr bwMode="auto">
                <a:xfrm>
                  <a:off x="3697"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07" name="AutoShape 3516"/>
                <p:cNvSpPr>
                  <a:spLocks noChangeArrowheads="1"/>
                </p:cNvSpPr>
                <p:nvPr/>
              </p:nvSpPr>
              <p:spPr bwMode="auto">
                <a:xfrm>
                  <a:off x="3697"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08" name="AutoShape 3517"/>
                <p:cNvSpPr>
                  <a:spLocks noChangeArrowheads="1"/>
                </p:cNvSpPr>
                <p:nvPr/>
              </p:nvSpPr>
              <p:spPr bwMode="auto">
                <a:xfrm>
                  <a:off x="3697"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09" name="AutoShape 3518"/>
                <p:cNvSpPr>
                  <a:spLocks noChangeArrowheads="1"/>
                </p:cNvSpPr>
                <p:nvPr/>
              </p:nvSpPr>
              <p:spPr bwMode="auto">
                <a:xfrm>
                  <a:off x="3697"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10" name="AutoShape 3519"/>
                <p:cNvSpPr>
                  <a:spLocks noChangeArrowheads="1"/>
                </p:cNvSpPr>
                <p:nvPr/>
              </p:nvSpPr>
              <p:spPr bwMode="auto">
                <a:xfrm>
                  <a:off x="3697"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11" name="AutoShape 3520"/>
                <p:cNvSpPr>
                  <a:spLocks noChangeArrowheads="1"/>
                </p:cNvSpPr>
                <p:nvPr/>
              </p:nvSpPr>
              <p:spPr bwMode="auto">
                <a:xfrm>
                  <a:off x="3697"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12" name="AutoShape 3521"/>
                <p:cNvSpPr>
                  <a:spLocks noChangeArrowheads="1"/>
                </p:cNvSpPr>
                <p:nvPr/>
              </p:nvSpPr>
              <p:spPr bwMode="auto">
                <a:xfrm>
                  <a:off x="3787"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13" name="AutoShape 3522"/>
                <p:cNvSpPr>
                  <a:spLocks noChangeArrowheads="1"/>
                </p:cNvSpPr>
                <p:nvPr/>
              </p:nvSpPr>
              <p:spPr bwMode="auto">
                <a:xfrm>
                  <a:off x="3787"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14" name="AutoShape 3523"/>
                <p:cNvSpPr>
                  <a:spLocks noChangeArrowheads="1"/>
                </p:cNvSpPr>
                <p:nvPr/>
              </p:nvSpPr>
              <p:spPr bwMode="auto">
                <a:xfrm>
                  <a:off x="3787"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15" name="AutoShape 3524"/>
                <p:cNvSpPr>
                  <a:spLocks noChangeArrowheads="1"/>
                </p:cNvSpPr>
                <p:nvPr/>
              </p:nvSpPr>
              <p:spPr bwMode="auto">
                <a:xfrm>
                  <a:off x="3787"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16" name="AutoShape 3525"/>
                <p:cNvSpPr>
                  <a:spLocks noChangeArrowheads="1"/>
                </p:cNvSpPr>
                <p:nvPr/>
              </p:nvSpPr>
              <p:spPr bwMode="auto">
                <a:xfrm>
                  <a:off x="3787"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17" name="AutoShape 3526"/>
                <p:cNvSpPr>
                  <a:spLocks noChangeArrowheads="1"/>
                </p:cNvSpPr>
                <p:nvPr/>
              </p:nvSpPr>
              <p:spPr bwMode="auto">
                <a:xfrm>
                  <a:off x="3787"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18" name="AutoShape 3527"/>
                <p:cNvSpPr>
                  <a:spLocks noChangeArrowheads="1"/>
                </p:cNvSpPr>
                <p:nvPr/>
              </p:nvSpPr>
              <p:spPr bwMode="auto">
                <a:xfrm>
                  <a:off x="3787"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19" name="AutoShape 3528"/>
                <p:cNvSpPr>
                  <a:spLocks noChangeArrowheads="1"/>
                </p:cNvSpPr>
                <p:nvPr/>
              </p:nvSpPr>
              <p:spPr bwMode="auto">
                <a:xfrm>
                  <a:off x="3787"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20" name="AutoShape 3529"/>
                <p:cNvSpPr>
                  <a:spLocks noChangeArrowheads="1"/>
                </p:cNvSpPr>
                <p:nvPr/>
              </p:nvSpPr>
              <p:spPr bwMode="auto">
                <a:xfrm>
                  <a:off x="3787"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21" name="AutoShape 3530"/>
                <p:cNvSpPr>
                  <a:spLocks noChangeArrowheads="1"/>
                </p:cNvSpPr>
                <p:nvPr/>
              </p:nvSpPr>
              <p:spPr bwMode="auto">
                <a:xfrm>
                  <a:off x="3787"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22" name="AutoShape 3531"/>
                <p:cNvSpPr>
                  <a:spLocks noChangeArrowheads="1"/>
                </p:cNvSpPr>
                <p:nvPr/>
              </p:nvSpPr>
              <p:spPr bwMode="auto">
                <a:xfrm>
                  <a:off x="3878"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23" name="AutoShape 3532"/>
                <p:cNvSpPr>
                  <a:spLocks noChangeArrowheads="1"/>
                </p:cNvSpPr>
                <p:nvPr/>
              </p:nvSpPr>
              <p:spPr bwMode="auto">
                <a:xfrm>
                  <a:off x="3878"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24" name="AutoShape 3533"/>
                <p:cNvSpPr>
                  <a:spLocks noChangeArrowheads="1"/>
                </p:cNvSpPr>
                <p:nvPr/>
              </p:nvSpPr>
              <p:spPr bwMode="auto">
                <a:xfrm>
                  <a:off x="3878"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25" name="AutoShape 3534"/>
                <p:cNvSpPr>
                  <a:spLocks noChangeArrowheads="1"/>
                </p:cNvSpPr>
                <p:nvPr/>
              </p:nvSpPr>
              <p:spPr bwMode="auto">
                <a:xfrm>
                  <a:off x="3878"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26" name="AutoShape 3535"/>
                <p:cNvSpPr>
                  <a:spLocks noChangeArrowheads="1"/>
                </p:cNvSpPr>
                <p:nvPr/>
              </p:nvSpPr>
              <p:spPr bwMode="auto">
                <a:xfrm>
                  <a:off x="3878"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27" name="AutoShape 3536"/>
                <p:cNvSpPr>
                  <a:spLocks noChangeArrowheads="1"/>
                </p:cNvSpPr>
                <p:nvPr/>
              </p:nvSpPr>
              <p:spPr bwMode="auto">
                <a:xfrm>
                  <a:off x="3878"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28" name="AutoShape 3537"/>
                <p:cNvSpPr>
                  <a:spLocks noChangeArrowheads="1"/>
                </p:cNvSpPr>
                <p:nvPr/>
              </p:nvSpPr>
              <p:spPr bwMode="auto">
                <a:xfrm>
                  <a:off x="3878"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29" name="AutoShape 3538"/>
                <p:cNvSpPr>
                  <a:spLocks noChangeArrowheads="1"/>
                </p:cNvSpPr>
                <p:nvPr/>
              </p:nvSpPr>
              <p:spPr bwMode="auto">
                <a:xfrm>
                  <a:off x="3878"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30" name="AutoShape 3539"/>
                <p:cNvSpPr>
                  <a:spLocks noChangeArrowheads="1"/>
                </p:cNvSpPr>
                <p:nvPr/>
              </p:nvSpPr>
              <p:spPr bwMode="auto">
                <a:xfrm>
                  <a:off x="3878"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31" name="AutoShape 3540"/>
                <p:cNvSpPr>
                  <a:spLocks noChangeArrowheads="1"/>
                </p:cNvSpPr>
                <p:nvPr/>
              </p:nvSpPr>
              <p:spPr bwMode="auto">
                <a:xfrm>
                  <a:off x="3878"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32" name="AutoShape 3541"/>
                <p:cNvSpPr>
                  <a:spLocks noChangeArrowheads="1"/>
                </p:cNvSpPr>
                <p:nvPr/>
              </p:nvSpPr>
              <p:spPr bwMode="auto">
                <a:xfrm>
                  <a:off x="3878"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33" name="AutoShape 3542"/>
                <p:cNvSpPr>
                  <a:spLocks noChangeArrowheads="1"/>
                </p:cNvSpPr>
                <p:nvPr/>
              </p:nvSpPr>
              <p:spPr bwMode="auto">
                <a:xfrm>
                  <a:off x="3878"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34" name="AutoShape 3543"/>
                <p:cNvSpPr>
                  <a:spLocks noChangeArrowheads="1"/>
                </p:cNvSpPr>
                <p:nvPr/>
              </p:nvSpPr>
              <p:spPr bwMode="auto">
                <a:xfrm>
                  <a:off x="3878"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35" name="AutoShape 3544"/>
                <p:cNvSpPr>
                  <a:spLocks noChangeArrowheads="1"/>
                </p:cNvSpPr>
                <p:nvPr/>
              </p:nvSpPr>
              <p:spPr bwMode="auto">
                <a:xfrm>
                  <a:off x="3878"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36" name="AutoShape 3545"/>
                <p:cNvSpPr>
                  <a:spLocks noChangeArrowheads="1"/>
                </p:cNvSpPr>
                <p:nvPr/>
              </p:nvSpPr>
              <p:spPr bwMode="auto">
                <a:xfrm>
                  <a:off x="3878"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37" name="AutoShape 3546"/>
                <p:cNvSpPr>
                  <a:spLocks noChangeArrowheads="1"/>
                </p:cNvSpPr>
                <p:nvPr/>
              </p:nvSpPr>
              <p:spPr bwMode="auto">
                <a:xfrm>
                  <a:off x="3878"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38" name="AutoShape 3547"/>
                <p:cNvSpPr>
                  <a:spLocks noChangeArrowheads="1"/>
                </p:cNvSpPr>
                <p:nvPr/>
              </p:nvSpPr>
              <p:spPr bwMode="auto">
                <a:xfrm>
                  <a:off x="3878"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39" name="AutoShape 3548"/>
                <p:cNvSpPr>
                  <a:spLocks noChangeArrowheads="1"/>
                </p:cNvSpPr>
                <p:nvPr/>
              </p:nvSpPr>
              <p:spPr bwMode="auto">
                <a:xfrm>
                  <a:off x="3878"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40" name="AutoShape 3549"/>
                <p:cNvSpPr>
                  <a:spLocks noChangeArrowheads="1"/>
                </p:cNvSpPr>
                <p:nvPr/>
              </p:nvSpPr>
              <p:spPr bwMode="auto">
                <a:xfrm>
                  <a:off x="3878"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41" name="AutoShape 3550"/>
                <p:cNvSpPr>
                  <a:spLocks noChangeArrowheads="1"/>
                </p:cNvSpPr>
                <p:nvPr/>
              </p:nvSpPr>
              <p:spPr bwMode="auto">
                <a:xfrm>
                  <a:off x="3878"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42" name="AutoShape 3551"/>
                <p:cNvSpPr>
                  <a:spLocks noChangeArrowheads="1"/>
                </p:cNvSpPr>
                <p:nvPr/>
              </p:nvSpPr>
              <p:spPr bwMode="auto">
                <a:xfrm>
                  <a:off x="3969"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43" name="AutoShape 3552"/>
                <p:cNvSpPr>
                  <a:spLocks noChangeArrowheads="1"/>
                </p:cNvSpPr>
                <p:nvPr/>
              </p:nvSpPr>
              <p:spPr bwMode="auto">
                <a:xfrm>
                  <a:off x="3969"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44" name="AutoShape 3553"/>
                <p:cNvSpPr>
                  <a:spLocks noChangeArrowheads="1"/>
                </p:cNvSpPr>
                <p:nvPr/>
              </p:nvSpPr>
              <p:spPr bwMode="auto">
                <a:xfrm>
                  <a:off x="3969"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45" name="AutoShape 3554"/>
                <p:cNvSpPr>
                  <a:spLocks noChangeArrowheads="1"/>
                </p:cNvSpPr>
                <p:nvPr/>
              </p:nvSpPr>
              <p:spPr bwMode="auto">
                <a:xfrm>
                  <a:off x="3969"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46" name="AutoShape 3555"/>
                <p:cNvSpPr>
                  <a:spLocks noChangeArrowheads="1"/>
                </p:cNvSpPr>
                <p:nvPr/>
              </p:nvSpPr>
              <p:spPr bwMode="auto">
                <a:xfrm>
                  <a:off x="3969"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47" name="AutoShape 3556"/>
                <p:cNvSpPr>
                  <a:spLocks noChangeArrowheads="1"/>
                </p:cNvSpPr>
                <p:nvPr/>
              </p:nvSpPr>
              <p:spPr bwMode="auto">
                <a:xfrm>
                  <a:off x="3969"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48" name="AutoShape 3557"/>
                <p:cNvSpPr>
                  <a:spLocks noChangeArrowheads="1"/>
                </p:cNvSpPr>
                <p:nvPr/>
              </p:nvSpPr>
              <p:spPr bwMode="auto">
                <a:xfrm>
                  <a:off x="3969"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49" name="AutoShape 3558"/>
                <p:cNvSpPr>
                  <a:spLocks noChangeArrowheads="1"/>
                </p:cNvSpPr>
                <p:nvPr/>
              </p:nvSpPr>
              <p:spPr bwMode="auto">
                <a:xfrm>
                  <a:off x="3969"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50" name="AutoShape 3559"/>
                <p:cNvSpPr>
                  <a:spLocks noChangeArrowheads="1"/>
                </p:cNvSpPr>
                <p:nvPr/>
              </p:nvSpPr>
              <p:spPr bwMode="auto">
                <a:xfrm>
                  <a:off x="3969"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651" name="AutoShape 3560"/>
                <p:cNvSpPr>
                  <a:spLocks noChangeArrowheads="1"/>
                </p:cNvSpPr>
                <p:nvPr/>
              </p:nvSpPr>
              <p:spPr bwMode="auto">
                <a:xfrm>
                  <a:off x="3969"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8451" name="Group 3561"/>
              <p:cNvGrpSpPr>
                <a:grpSpLocks/>
              </p:cNvGrpSpPr>
              <p:nvPr/>
            </p:nvGrpSpPr>
            <p:grpSpPr bwMode="auto">
              <a:xfrm>
                <a:off x="2934" y="2020"/>
                <a:ext cx="862" cy="952"/>
                <a:chOff x="3243" y="1752"/>
                <a:chExt cx="862" cy="952"/>
              </a:xfrm>
            </p:grpSpPr>
            <p:sp>
              <p:nvSpPr>
                <p:cNvPr id="18452" name="AutoShape 3562"/>
                <p:cNvSpPr>
                  <a:spLocks noChangeArrowheads="1"/>
                </p:cNvSpPr>
                <p:nvPr/>
              </p:nvSpPr>
              <p:spPr bwMode="auto">
                <a:xfrm>
                  <a:off x="3243"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3" name="AutoShape 3563"/>
                <p:cNvSpPr>
                  <a:spLocks noChangeArrowheads="1"/>
                </p:cNvSpPr>
                <p:nvPr/>
              </p:nvSpPr>
              <p:spPr bwMode="auto">
                <a:xfrm>
                  <a:off x="3243"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4" name="AutoShape 3564"/>
                <p:cNvSpPr>
                  <a:spLocks noChangeArrowheads="1"/>
                </p:cNvSpPr>
                <p:nvPr/>
              </p:nvSpPr>
              <p:spPr bwMode="auto">
                <a:xfrm>
                  <a:off x="3243"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5" name="AutoShape 3565"/>
                <p:cNvSpPr>
                  <a:spLocks noChangeArrowheads="1"/>
                </p:cNvSpPr>
                <p:nvPr/>
              </p:nvSpPr>
              <p:spPr bwMode="auto">
                <a:xfrm>
                  <a:off x="3243"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6" name="AutoShape 3566"/>
                <p:cNvSpPr>
                  <a:spLocks noChangeArrowheads="1"/>
                </p:cNvSpPr>
                <p:nvPr/>
              </p:nvSpPr>
              <p:spPr bwMode="auto">
                <a:xfrm>
                  <a:off x="3243"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7" name="AutoShape 3567"/>
                <p:cNvSpPr>
                  <a:spLocks noChangeArrowheads="1"/>
                </p:cNvSpPr>
                <p:nvPr/>
              </p:nvSpPr>
              <p:spPr bwMode="auto">
                <a:xfrm>
                  <a:off x="3243"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8" name="AutoShape 3568"/>
                <p:cNvSpPr>
                  <a:spLocks noChangeArrowheads="1"/>
                </p:cNvSpPr>
                <p:nvPr/>
              </p:nvSpPr>
              <p:spPr bwMode="auto">
                <a:xfrm>
                  <a:off x="3243"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9" name="AutoShape 3569"/>
                <p:cNvSpPr>
                  <a:spLocks noChangeArrowheads="1"/>
                </p:cNvSpPr>
                <p:nvPr/>
              </p:nvSpPr>
              <p:spPr bwMode="auto">
                <a:xfrm>
                  <a:off x="3243"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0" name="AutoShape 3570"/>
                <p:cNvSpPr>
                  <a:spLocks noChangeArrowheads="1"/>
                </p:cNvSpPr>
                <p:nvPr/>
              </p:nvSpPr>
              <p:spPr bwMode="auto">
                <a:xfrm>
                  <a:off x="3243"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1" name="AutoShape 3571"/>
                <p:cNvSpPr>
                  <a:spLocks noChangeArrowheads="1"/>
                </p:cNvSpPr>
                <p:nvPr/>
              </p:nvSpPr>
              <p:spPr bwMode="auto">
                <a:xfrm>
                  <a:off x="3243"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2" name="AutoShape 3572"/>
                <p:cNvSpPr>
                  <a:spLocks noChangeArrowheads="1"/>
                </p:cNvSpPr>
                <p:nvPr/>
              </p:nvSpPr>
              <p:spPr bwMode="auto">
                <a:xfrm>
                  <a:off x="3334"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3" name="AutoShape 3573"/>
                <p:cNvSpPr>
                  <a:spLocks noChangeArrowheads="1"/>
                </p:cNvSpPr>
                <p:nvPr/>
              </p:nvSpPr>
              <p:spPr bwMode="auto">
                <a:xfrm>
                  <a:off x="3334"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4" name="AutoShape 3574"/>
                <p:cNvSpPr>
                  <a:spLocks noChangeArrowheads="1"/>
                </p:cNvSpPr>
                <p:nvPr/>
              </p:nvSpPr>
              <p:spPr bwMode="auto">
                <a:xfrm>
                  <a:off x="3334"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5" name="AutoShape 3575"/>
                <p:cNvSpPr>
                  <a:spLocks noChangeArrowheads="1"/>
                </p:cNvSpPr>
                <p:nvPr/>
              </p:nvSpPr>
              <p:spPr bwMode="auto">
                <a:xfrm>
                  <a:off x="3334"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6" name="AutoShape 3576"/>
                <p:cNvSpPr>
                  <a:spLocks noChangeArrowheads="1"/>
                </p:cNvSpPr>
                <p:nvPr/>
              </p:nvSpPr>
              <p:spPr bwMode="auto">
                <a:xfrm>
                  <a:off x="3334"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7" name="AutoShape 3577"/>
                <p:cNvSpPr>
                  <a:spLocks noChangeArrowheads="1"/>
                </p:cNvSpPr>
                <p:nvPr/>
              </p:nvSpPr>
              <p:spPr bwMode="auto">
                <a:xfrm>
                  <a:off x="3334"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8" name="AutoShape 3578"/>
                <p:cNvSpPr>
                  <a:spLocks noChangeArrowheads="1"/>
                </p:cNvSpPr>
                <p:nvPr/>
              </p:nvSpPr>
              <p:spPr bwMode="auto">
                <a:xfrm>
                  <a:off x="3334"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9" name="AutoShape 3579"/>
                <p:cNvSpPr>
                  <a:spLocks noChangeArrowheads="1"/>
                </p:cNvSpPr>
                <p:nvPr/>
              </p:nvSpPr>
              <p:spPr bwMode="auto">
                <a:xfrm>
                  <a:off x="3334"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0" name="AutoShape 3580"/>
                <p:cNvSpPr>
                  <a:spLocks noChangeArrowheads="1"/>
                </p:cNvSpPr>
                <p:nvPr/>
              </p:nvSpPr>
              <p:spPr bwMode="auto">
                <a:xfrm>
                  <a:off x="3334"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1" name="AutoShape 3581"/>
                <p:cNvSpPr>
                  <a:spLocks noChangeArrowheads="1"/>
                </p:cNvSpPr>
                <p:nvPr/>
              </p:nvSpPr>
              <p:spPr bwMode="auto">
                <a:xfrm>
                  <a:off x="3334"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2" name="AutoShape 3582"/>
                <p:cNvSpPr>
                  <a:spLocks noChangeArrowheads="1"/>
                </p:cNvSpPr>
                <p:nvPr/>
              </p:nvSpPr>
              <p:spPr bwMode="auto">
                <a:xfrm>
                  <a:off x="3424"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3" name="AutoShape 3583"/>
                <p:cNvSpPr>
                  <a:spLocks noChangeArrowheads="1"/>
                </p:cNvSpPr>
                <p:nvPr/>
              </p:nvSpPr>
              <p:spPr bwMode="auto">
                <a:xfrm>
                  <a:off x="3424"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4" name="AutoShape 3584"/>
                <p:cNvSpPr>
                  <a:spLocks noChangeArrowheads="1"/>
                </p:cNvSpPr>
                <p:nvPr/>
              </p:nvSpPr>
              <p:spPr bwMode="auto">
                <a:xfrm>
                  <a:off x="3424"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5" name="AutoShape 3585"/>
                <p:cNvSpPr>
                  <a:spLocks noChangeArrowheads="1"/>
                </p:cNvSpPr>
                <p:nvPr/>
              </p:nvSpPr>
              <p:spPr bwMode="auto">
                <a:xfrm>
                  <a:off x="3424"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6" name="AutoShape 3586"/>
                <p:cNvSpPr>
                  <a:spLocks noChangeArrowheads="1"/>
                </p:cNvSpPr>
                <p:nvPr/>
              </p:nvSpPr>
              <p:spPr bwMode="auto">
                <a:xfrm>
                  <a:off x="3424"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7" name="AutoShape 3587"/>
                <p:cNvSpPr>
                  <a:spLocks noChangeArrowheads="1"/>
                </p:cNvSpPr>
                <p:nvPr/>
              </p:nvSpPr>
              <p:spPr bwMode="auto">
                <a:xfrm>
                  <a:off x="3424"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8" name="AutoShape 3588"/>
                <p:cNvSpPr>
                  <a:spLocks noChangeArrowheads="1"/>
                </p:cNvSpPr>
                <p:nvPr/>
              </p:nvSpPr>
              <p:spPr bwMode="auto">
                <a:xfrm>
                  <a:off x="3424"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9" name="AutoShape 3589"/>
                <p:cNvSpPr>
                  <a:spLocks noChangeArrowheads="1"/>
                </p:cNvSpPr>
                <p:nvPr/>
              </p:nvSpPr>
              <p:spPr bwMode="auto">
                <a:xfrm>
                  <a:off x="3424"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0" name="AutoShape 3590"/>
                <p:cNvSpPr>
                  <a:spLocks noChangeArrowheads="1"/>
                </p:cNvSpPr>
                <p:nvPr/>
              </p:nvSpPr>
              <p:spPr bwMode="auto">
                <a:xfrm>
                  <a:off x="3424"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1" name="AutoShape 3591"/>
                <p:cNvSpPr>
                  <a:spLocks noChangeArrowheads="1"/>
                </p:cNvSpPr>
                <p:nvPr/>
              </p:nvSpPr>
              <p:spPr bwMode="auto">
                <a:xfrm>
                  <a:off x="3424"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2" name="AutoShape 3592"/>
                <p:cNvSpPr>
                  <a:spLocks noChangeArrowheads="1"/>
                </p:cNvSpPr>
                <p:nvPr/>
              </p:nvSpPr>
              <p:spPr bwMode="auto">
                <a:xfrm>
                  <a:off x="3515"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3" name="AutoShape 3593"/>
                <p:cNvSpPr>
                  <a:spLocks noChangeArrowheads="1"/>
                </p:cNvSpPr>
                <p:nvPr/>
              </p:nvSpPr>
              <p:spPr bwMode="auto">
                <a:xfrm>
                  <a:off x="3515"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4" name="AutoShape 3594"/>
                <p:cNvSpPr>
                  <a:spLocks noChangeArrowheads="1"/>
                </p:cNvSpPr>
                <p:nvPr/>
              </p:nvSpPr>
              <p:spPr bwMode="auto">
                <a:xfrm>
                  <a:off x="3515"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5" name="AutoShape 3595"/>
                <p:cNvSpPr>
                  <a:spLocks noChangeArrowheads="1"/>
                </p:cNvSpPr>
                <p:nvPr/>
              </p:nvSpPr>
              <p:spPr bwMode="auto">
                <a:xfrm>
                  <a:off x="3515"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6" name="AutoShape 3596"/>
                <p:cNvSpPr>
                  <a:spLocks noChangeArrowheads="1"/>
                </p:cNvSpPr>
                <p:nvPr/>
              </p:nvSpPr>
              <p:spPr bwMode="auto">
                <a:xfrm>
                  <a:off x="3515"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7" name="AutoShape 3597"/>
                <p:cNvSpPr>
                  <a:spLocks noChangeArrowheads="1"/>
                </p:cNvSpPr>
                <p:nvPr/>
              </p:nvSpPr>
              <p:spPr bwMode="auto">
                <a:xfrm>
                  <a:off x="3515"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8" name="AutoShape 3598"/>
                <p:cNvSpPr>
                  <a:spLocks noChangeArrowheads="1"/>
                </p:cNvSpPr>
                <p:nvPr/>
              </p:nvSpPr>
              <p:spPr bwMode="auto">
                <a:xfrm>
                  <a:off x="3515"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9" name="AutoShape 3599"/>
                <p:cNvSpPr>
                  <a:spLocks noChangeArrowheads="1"/>
                </p:cNvSpPr>
                <p:nvPr/>
              </p:nvSpPr>
              <p:spPr bwMode="auto">
                <a:xfrm>
                  <a:off x="3515"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90" name="AutoShape 3600"/>
                <p:cNvSpPr>
                  <a:spLocks noChangeArrowheads="1"/>
                </p:cNvSpPr>
                <p:nvPr/>
              </p:nvSpPr>
              <p:spPr bwMode="auto">
                <a:xfrm>
                  <a:off x="3515"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91" name="AutoShape 3601"/>
                <p:cNvSpPr>
                  <a:spLocks noChangeArrowheads="1"/>
                </p:cNvSpPr>
                <p:nvPr/>
              </p:nvSpPr>
              <p:spPr bwMode="auto">
                <a:xfrm>
                  <a:off x="3515"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92" name="AutoShape 3602"/>
                <p:cNvSpPr>
                  <a:spLocks noChangeArrowheads="1"/>
                </p:cNvSpPr>
                <p:nvPr/>
              </p:nvSpPr>
              <p:spPr bwMode="auto">
                <a:xfrm>
                  <a:off x="3606"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93" name="AutoShape 3603"/>
                <p:cNvSpPr>
                  <a:spLocks noChangeArrowheads="1"/>
                </p:cNvSpPr>
                <p:nvPr/>
              </p:nvSpPr>
              <p:spPr bwMode="auto">
                <a:xfrm>
                  <a:off x="3606"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94" name="AutoShape 3604"/>
                <p:cNvSpPr>
                  <a:spLocks noChangeArrowheads="1"/>
                </p:cNvSpPr>
                <p:nvPr/>
              </p:nvSpPr>
              <p:spPr bwMode="auto">
                <a:xfrm>
                  <a:off x="3606"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95" name="AutoShape 3605"/>
                <p:cNvSpPr>
                  <a:spLocks noChangeArrowheads="1"/>
                </p:cNvSpPr>
                <p:nvPr/>
              </p:nvSpPr>
              <p:spPr bwMode="auto">
                <a:xfrm>
                  <a:off x="3606"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96" name="AutoShape 3606"/>
                <p:cNvSpPr>
                  <a:spLocks noChangeArrowheads="1"/>
                </p:cNvSpPr>
                <p:nvPr/>
              </p:nvSpPr>
              <p:spPr bwMode="auto">
                <a:xfrm>
                  <a:off x="3606"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97" name="AutoShape 3607"/>
                <p:cNvSpPr>
                  <a:spLocks noChangeArrowheads="1"/>
                </p:cNvSpPr>
                <p:nvPr/>
              </p:nvSpPr>
              <p:spPr bwMode="auto">
                <a:xfrm>
                  <a:off x="3606"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98" name="AutoShape 3608"/>
                <p:cNvSpPr>
                  <a:spLocks noChangeArrowheads="1"/>
                </p:cNvSpPr>
                <p:nvPr/>
              </p:nvSpPr>
              <p:spPr bwMode="auto">
                <a:xfrm>
                  <a:off x="3606"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99" name="AutoShape 3609"/>
                <p:cNvSpPr>
                  <a:spLocks noChangeArrowheads="1"/>
                </p:cNvSpPr>
                <p:nvPr/>
              </p:nvSpPr>
              <p:spPr bwMode="auto">
                <a:xfrm>
                  <a:off x="3606"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0" name="AutoShape 3610"/>
                <p:cNvSpPr>
                  <a:spLocks noChangeArrowheads="1"/>
                </p:cNvSpPr>
                <p:nvPr/>
              </p:nvSpPr>
              <p:spPr bwMode="auto">
                <a:xfrm>
                  <a:off x="3606"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1" name="AutoShape 3611"/>
                <p:cNvSpPr>
                  <a:spLocks noChangeArrowheads="1"/>
                </p:cNvSpPr>
                <p:nvPr/>
              </p:nvSpPr>
              <p:spPr bwMode="auto">
                <a:xfrm>
                  <a:off x="3606"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2" name="AutoShape 3612"/>
                <p:cNvSpPr>
                  <a:spLocks noChangeArrowheads="1"/>
                </p:cNvSpPr>
                <p:nvPr/>
              </p:nvSpPr>
              <p:spPr bwMode="auto">
                <a:xfrm>
                  <a:off x="3697"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3" name="AutoShape 3613"/>
                <p:cNvSpPr>
                  <a:spLocks noChangeArrowheads="1"/>
                </p:cNvSpPr>
                <p:nvPr/>
              </p:nvSpPr>
              <p:spPr bwMode="auto">
                <a:xfrm>
                  <a:off x="3697"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4" name="AutoShape 3614"/>
                <p:cNvSpPr>
                  <a:spLocks noChangeArrowheads="1"/>
                </p:cNvSpPr>
                <p:nvPr/>
              </p:nvSpPr>
              <p:spPr bwMode="auto">
                <a:xfrm>
                  <a:off x="3697"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5" name="AutoShape 3615"/>
                <p:cNvSpPr>
                  <a:spLocks noChangeArrowheads="1"/>
                </p:cNvSpPr>
                <p:nvPr/>
              </p:nvSpPr>
              <p:spPr bwMode="auto">
                <a:xfrm>
                  <a:off x="3697"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6" name="AutoShape 3616"/>
                <p:cNvSpPr>
                  <a:spLocks noChangeArrowheads="1"/>
                </p:cNvSpPr>
                <p:nvPr/>
              </p:nvSpPr>
              <p:spPr bwMode="auto">
                <a:xfrm>
                  <a:off x="3697"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7" name="AutoShape 3617"/>
                <p:cNvSpPr>
                  <a:spLocks noChangeArrowheads="1"/>
                </p:cNvSpPr>
                <p:nvPr/>
              </p:nvSpPr>
              <p:spPr bwMode="auto">
                <a:xfrm>
                  <a:off x="3697"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8" name="AutoShape 3618"/>
                <p:cNvSpPr>
                  <a:spLocks noChangeArrowheads="1"/>
                </p:cNvSpPr>
                <p:nvPr/>
              </p:nvSpPr>
              <p:spPr bwMode="auto">
                <a:xfrm>
                  <a:off x="3697"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9" name="AutoShape 3619"/>
                <p:cNvSpPr>
                  <a:spLocks noChangeArrowheads="1"/>
                </p:cNvSpPr>
                <p:nvPr/>
              </p:nvSpPr>
              <p:spPr bwMode="auto">
                <a:xfrm>
                  <a:off x="3697"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10" name="AutoShape 3620"/>
                <p:cNvSpPr>
                  <a:spLocks noChangeArrowheads="1"/>
                </p:cNvSpPr>
                <p:nvPr/>
              </p:nvSpPr>
              <p:spPr bwMode="auto">
                <a:xfrm>
                  <a:off x="3697"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11" name="AutoShape 3621"/>
                <p:cNvSpPr>
                  <a:spLocks noChangeArrowheads="1"/>
                </p:cNvSpPr>
                <p:nvPr/>
              </p:nvSpPr>
              <p:spPr bwMode="auto">
                <a:xfrm>
                  <a:off x="3697"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12" name="AutoShape 3622"/>
                <p:cNvSpPr>
                  <a:spLocks noChangeArrowheads="1"/>
                </p:cNvSpPr>
                <p:nvPr/>
              </p:nvSpPr>
              <p:spPr bwMode="auto">
                <a:xfrm>
                  <a:off x="3787"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13" name="AutoShape 3623"/>
                <p:cNvSpPr>
                  <a:spLocks noChangeArrowheads="1"/>
                </p:cNvSpPr>
                <p:nvPr/>
              </p:nvSpPr>
              <p:spPr bwMode="auto">
                <a:xfrm>
                  <a:off x="3787"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14" name="AutoShape 3624"/>
                <p:cNvSpPr>
                  <a:spLocks noChangeArrowheads="1"/>
                </p:cNvSpPr>
                <p:nvPr/>
              </p:nvSpPr>
              <p:spPr bwMode="auto">
                <a:xfrm>
                  <a:off x="3787"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15" name="AutoShape 3625"/>
                <p:cNvSpPr>
                  <a:spLocks noChangeArrowheads="1"/>
                </p:cNvSpPr>
                <p:nvPr/>
              </p:nvSpPr>
              <p:spPr bwMode="auto">
                <a:xfrm>
                  <a:off x="3787"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16" name="AutoShape 3626"/>
                <p:cNvSpPr>
                  <a:spLocks noChangeArrowheads="1"/>
                </p:cNvSpPr>
                <p:nvPr/>
              </p:nvSpPr>
              <p:spPr bwMode="auto">
                <a:xfrm>
                  <a:off x="3787"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17" name="AutoShape 3627"/>
                <p:cNvSpPr>
                  <a:spLocks noChangeArrowheads="1"/>
                </p:cNvSpPr>
                <p:nvPr/>
              </p:nvSpPr>
              <p:spPr bwMode="auto">
                <a:xfrm>
                  <a:off x="3787"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18" name="AutoShape 3628"/>
                <p:cNvSpPr>
                  <a:spLocks noChangeArrowheads="1"/>
                </p:cNvSpPr>
                <p:nvPr/>
              </p:nvSpPr>
              <p:spPr bwMode="auto">
                <a:xfrm>
                  <a:off x="3787"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19" name="AutoShape 3629"/>
                <p:cNvSpPr>
                  <a:spLocks noChangeArrowheads="1"/>
                </p:cNvSpPr>
                <p:nvPr/>
              </p:nvSpPr>
              <p:spPr bwMode="auto">
                <a:xfrm>
                  <a:off x="3787"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20" name="AutoShape 3630"/>
                <p:cNvSpPr>
                  <a:spLocks noChangeArrowheads="1"/>
                </p:cNvSpPr>
                <p:nvPr/>
              </p:nvSpPr>
              <p:spPr bwMode="auto">
                <a:xfrm>
                  <a:off x="3787"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21" name="AutoShape 3631"/>
                <p:cNvSpPr>
                  <a:spLocks noChangeArrowheads="1"/>
                </p:cNvSpPr>
                <p:nvPr/>
              </p:nvSpPr>
              <p:spPr bwMode="auto">
                <a:xfrm>
                  <a:off x="3787"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22" name="AutoShape 3632"/>
                <p:cNvSpPr>
                  <a:spLocks noChangeArrowheads="1"/>
                </p:cNvSpPr>
                <p:nvPr/>
              </p:nvSpPr>
              <p:spPr bwMode="auto">
                <a:xfrm>
                  <a:off x="3878"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23" name="AutoShape 3633"/>
                <p:cNvSpPr>
                  <a:spLocks noChangeArrowheads="1"/>
                </p:cNvSpPr>
                <p:nvPr/>
              </p:nvSpPr>
              <p:spPr bwMode="auto">
                <a:xfrm>
                  <a:off x="3878"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24" name="AutoShape 3634"/>
                <p:cNvSpPr>
                  <a:spLocks noChangeArrowheads="1"/>
                </p:cNvSpPr>
                <p:nvPr/>
              </p:nvSpPr>
              <p:spPr bwMode="auto">
                <a:xfrm>
                  <a:off x="3878"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25" name="AutoShape 3635"/>
                <p:cNvSpPr>
                  <a:spLocks noChangeArrowheads="1"/>
                </p:cNvSpPr>
                <p:nvPr/>
              </p:nvSpPr>
              <p:spPr bwMode="auto">
                <a:xfrm>
                  <a:off x="3878"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26" name="AutoShape 3636"/>
                <p:cNvSpPr>
                  <a:spLocks noChangeArrowheads="1"/>
                </p:cNvSpPr>
                <p:nvPr/>
              </p:nvSpPr>
              <p:spPr bwMode="auto">
                <a:xfrm>
                  <a:off x="3878"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27" name="AutoShape 3637"/>
                <p:cNvSpPr>
                  <a:spLocks noChangeArrowheads="1"/>
                </p:cNvSpPr>
                <p:nvPr/>
              </p:nvSpPr>
              <p:spPr bwMode="auto">
                <a:xfrm>
                  <a:off x="3878"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28" name="AutoShape 3638"/>
                <p:cNvSpPr>
                  <a:spLocks noChangeArrowheads="1"/>
                </p:cNvSpPr>
                <p:nvPr/>
              </p:nvSpPr>
              <p:spPr bwMode="auto">
                <a:xfrm>
                  <a:off x="3878"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29" name="AutoShape 3639"/>
                <p:cNvSpPr>
                  <a:spLocks noChangeArrowheads="1"/>
                </p:cNvSpPr>
                <p:nvPr/>
              </p:nvSpPr>
              <p:spPr bwMode="auto">
                <a:xfrm>
                  <a:off x="3878"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30" name="AutoShape 3640"/>
                <p:cNvSpPr>
                  <a:spLocks noChangeArrowheads="1"/>
                </p:cNvSpPr>
                <p:nvPr/>
              </p:nvSpPr>
              <p:spPr bwMode="auto">
                <a:xfrm>
                  <a:off x="3878"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31" name="AutoShape 3641"/>
                <p:cNvSpPr>
                  <a:spLocks noChangeArrowheads="1"/>
                </p:cNvSpPr>
                <p:nvPr/>
              </p:nvSpPr>
              <p:spPr bwMode="auto">
                <a:xfrm>
                  <a:off x="3878"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32" name="AutoShape 3642"/>
                <p:cNvSpPr>
                  <a:spLocks noChangeArrowheads="1"/>
                </p:cNvSpPr>
                <p:nvPr/>
              </p:nvSpPr>
              <p:spPr bwMode="auto">
                <a:xfrm>
                  <a:off x="3878"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33" name="AutoShape 3643"/>
                <p:cNvSpPr>
                  <a:spLocks noChangeArrowheads="1"/>
                </p:cNvSpPr>
                <p:nvPr/>
              </p:nvSpPr>
              <p:spPr bwMode="auto">
                <a:xfrm>
                  <a:off x="3878"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34" name="AutoShape 3644"/>
                <p:cNvSpPr>
                  <a:spLocks noChangeArrowheads="1"/>
                </p:cNvSpPr>
                <p:nvPr/>
              </p:nvSpPr>
              <p:spPr bwMode="auto">
                <a:xfrm>
                  <a:off x="3878"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35" name="AutoShape 3645"/>
                <p:cNvSpPr>
                  <a:spLocks noChangeArrowheads="1"/>
                </p:cNvSpPr>
                <p:nvPr/>
              </p:nvSpPr>
              <p:spPr bwMode="auto">
                <a:xfrm>
                  <a:off x="3878"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36" name="AutoShape 3646"/>
                <p:cNvSpPr>
                  <a:spLocks noChangeArrowheads="1"/>
                </p:cNvSpPr>
                <p:nvPr/>
              </p:nvSpPr>
              <p:spPr bwMode="auto">
                <a:xfrm>
                  <a:off x="3878"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37" name="AutoShape 3647"/>
                <p:cNvSpPr>
                  <a:spLocks noChangeArrowheads="1"/>
                </p:cNvSpPr>
                <p:nvPr/>
              </p:nvSpPr>
              <p:spPr bwMode="auto">
                <a:xfrm>
                  <a:off x="3878"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38" name="AutoShape 3648"/>
                <p:cNvSpPr>
                  <a:spLocks noChangeArrowheads="1"/>
                </p:cNvSpPr>
                <p:nvPr/>
              </p:nvSpPr>
              <p:spPr bwMode="auto">
                <a:xfrm>
                  <a:off x="3878"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39" name="AutoShape 3649"/>
                <p:cNvSpPr>
                  <a:spLocks noChangeArrowheads="1"/>
                </p:cNvSpPr>
                <p:nvPr/>
              </p:nvSpPr>
              <p:spPr bwMode="auto">
                <a:xfrm>
                  <a:off x="3878"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40" name="AutoShape 3650"/>
                <p:cNvSpPr>
                  <a:spLocks noChangeArrowheads="1"/>
                </p:cNvSpPr>
                <p:nvPr/>
              </p:nvSpPr>
              <p:spPr bwMode="auto">
                <a:xfrm>
                  <a:off x="3878"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41" name="AutoShape 3651"/>
                <p:cNvSpPr>
                  <a:spLocks noChangeArrowheads="1"/>
                </p:cNvSpPr>
                <p:nvPr/>
              </p:nvSpPr>
              <p:spPr bwMode="auto">
                <a:xfrm>
                  <a:off x="3878"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42" name="AutoShape 3652"/>
                <p:cNvSpPr>
                  <a:spLocks noChangeArrowheads="1"/>
                </p:cNvSpPr>
                <p:nvPr/>
              </p:nvSpPr>
              <p:spPr bwMode="auto">
                <a:xfrm>
                  <a:off x="3969" y="256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43" name="AutoShape 3653"/>
                <p:cNvSpPr>
                  <a:spLocks noChangeArrowheads="1"/>
                </p:cNvSpPr>
                <p:nvPr/>
              </p:nvSpPr>
              <p:spPr bwMode="auto">
                <a:xfrm>
                  <a:off x="3969" y="2478"/>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44" name="AutoShape 3654"/>
                <p:cNvSpPr>
                  <a:spLocks noChangeArrowheads="1"/>
                </p:cNvSpPr>
                <p:nvPr/>
              </p:nvSpPr>
              <p:spPr bwMode="auto">
                <a:xfrm>
                  <a:off x="3969" y="238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45" name="AutoShape 3655"/>
                <p:cNvSpPr>
                  <a:spLocks noChangeArrowheads="1"/>
                </p:cNvSpPr>
                <p:nvPr/>
              </p:nvSpPr>
              <p:spPr bwMode="auto">
                <a:xfrm>
                  <a:off x="3969" y="2296"/>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46" name="AutoShape 3656"/>
                <p:cNvSpPr>
                  <a:spLocks noChangeArrowheads="1"/>
                </p:cNvSpPr>
                <p:nvPr/>
              </p:nvSpPr>
              <p:spPr bwMode="auto">
                <a:xfrm>
                  <a:off x="3969" y="220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47" name="AutoShape 3657"/>
                <p:cNvSpPr>
                  <a:spLocks noChangeArrowheads="1"/>
                </p:cNvSpPr>
                <p:nvPr/>
              </p:nvSpPr>
              <p:spPr bwMode="auto">
                <a:xfrm>
                  <a:off x="3969" y="2115"/>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48" name="AutoShape 3658"/>
                <p:cNvSpPr>
                  <a:spLocks noChangeArrowheads="1"/>
                </p:cNvSpPr>
                <p:nvPr/>
              </p:nvSpPr>
              <p:spPr bwMode="auto">
                <a:xfrm>
                  <a:off x="3969" y="202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49" name="AutoShape 3659"/>
                <p:cNvSpPr>
                  <a:spLocks noChangeArrowheads="1"/>
                </p:cNvSpPr>
                <p:nvPr/>
              </p:nvSpPr>
              <p:spPr bwMode="auto">
                <a:xfrm>
                  <a:off x="3969" y="1933"/>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50" name="AutoShape 3660"/>
                <p:cNvSpPr>
                  <a:spLocks noChangeArrowheads="1"/>
                </p:cNvSpPr>
                <p:nvPr/>
              </p:nvSpPr>
              <p:spPr bwMode="auto">
                <a:xfrm>
                  <a:off x="3969" y="184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51" name="AutoShape 3661"/>
                <p:cNvSpPr>
                  <a:spLocks noChangeArrowheads="1"/>
                </p:cNvSpPr>
                <p:nvPr/>
              </p:nvSpPr>
              <p:spPr bwMode="auto">
                <a:xfrm>
                  <a:off x="3969" y="1752"/>
                  <a:ext cx="136" cy="136"/>
                </a:xfrm>
                <a:prstGeom prst="cube">
                  <a:avLst>
                    <a:gd name="adj" fmla="val 25000"/>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18441" name="Text Box 3664"/>
            <p:cNvSpPr txBox="1">
              <a:spLocks noChangeArrowheads="1"/>
            </p:cNvSpPr>
            <p:nvPr/>
          </p:nvSpPr>
          <p:spPr bwMode="auto">
            <a:xfrm>
              <a:off x="3073" y="2488"/>
              <a:ext cx="1714"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a:t>1dm</a:t>
              </a:r>
              <a:r>
                <a:rPr lang="en-GB" baseline="30000"/>
                <a:t>3</a:t>
              </a:r>
              <a:r>
                <a:rPr lang="en-GB"/>
                <a:t> (= 1000cm</a:t>
              </a:r>
              <a:r>
                <a:rPr lang="en-GB" baseline="30000"/>
                <a:t>3</a:t>
              </a:r>
              <a:r>
                <a:rPr lang="en-GB"/>
                <a:t>)</a:t>
              </a:r>
            </a:p>
          </p:txBody>
        </p:sp>
      </p:grpSp>
      <p:sp>
        <p:nvSpPr>
          <p:cNvPr id="240209" name="Text Box 3665"/>
          <p:cNvSpPr txBox="1">
            <a:spLocks noChangeArrowheads="1"/>
          </p:cNvSpPr>
          <p:nvPr/>
        </p:nvSpPr>
        <p:spPr bwMode="auto">
          <a:xfrm>
            <a:off x="0" y="4659313"/>
            <a:ext cx="9144000" cy="21002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algn="l" eaLnBrk="1" hangingPunct="1">
              <a:spcBef>
                <a:spcPct val="50000"/>
              </a:spcBef>
              <a:buFontTx/>
              <a:buAutoNum type="arabicParenR"/>
            </a:pPr>
            <a:r>
              <a:rPr lang="en-GB">
                <a:solidFill>
                  <a:srgbClr val="FFCCCC"/>
                </a:solidFill>
              </a:rPr>
              <a:t>Convert 1250cm</a:t>
            </a:r>
            <a:r>
              <a:rPr lang="en-GB" baseline="30000">
                <a:solidFill>
                  <a:srgbClr val="FFCCCC"/>
                </a:solidFill>
              </a:rPr>
              <a:t>3</a:t>
            </a:r>
            <a:r>
              <a:rPr lang="en-GB">
                <a:solidFill>
                  <a:srgbClr val="FFCCCC"/>
                </a:solidFill>
              </a:rPr>
              <a:t> into dm</a:t>
            </a:r>
            <a:r>
              <a:rPr lang="en-GB" baseline="30000">
                <a:solidFill>
                  <a:srgbClr val="FFCCCC"/>
                </a:solidFill>
              </a:rPr>
              <a:t>3</a:t>
            </a:r>
          </a:p>
          <a:p>
            <a:pPr algn="l" eaLnBrk="1" hangingPunct="1">
              <a:spcBef>
                <a:spcPct val="50000"/>
              </a:spcBef>
              <a:buFontTx/>
              <a:buAutoNum type="arabicParenR"/>
            </a:pPr>
            <a:r>
              <a:rPr lang="en-GB"/>
              <a:t>Convert 1cm</a:t>
            </a:r>
            <a:r>
              <a:rPr lang="en-GB" baseline="30000"/>
              <a:t>3</a:t>
            </a:r>
            <a:r>
              <a:rPr lang="en-GB"/>
              <a:t> into dm</a:t>
            </a:r>
            <a:r>
              <a:rPr lang="en-GB" baseline="30000"/>
              <a:t>3</a:t>
            </a:r>
          </a:p>
          <a:p>
            <a:pPr algn="l" eaLnBrk="1" hangingPunct="1">
              <a:spcBef>
                <a:spcPct val="50000"/>
              </a:spcBef>
              <a:buFontTx/>
              <a:buAutoNum type="arabicParenR"/>
            </a:pPr>
            <a:r>
              <a:rPr lang="en-GB">
                <a:solidFill>
                  <a:srgbClr val="FFCCCC"/>
                </a:solidFill>
              </a:rPr>
              <a:t>Convert 0.056dm</a:t>
            </a:r>
            <a:r>
              <a:rPr lang="en-GB" baseline="30000">
                <a:solidFill>
                  <a:srgbClr val="FFCCCC"/>
                </a:solidFill>
              </a:rPr>
              <a:t>3</a:t>
            </a:r>
            <a:r>
              <a:rPr lang="en-GB">
                <a:solidFill>
                  <a:srgbClr val="FFCCCC"/>
                </a:solidFill>
              </a:rPr>
              <a:t> into cm</a:t>
            </a:r>
            <a:r>
              <a:rPr lang="en-GB" baseline="30000">
                <a:solidFill>
                  <a:srgbClr val="FFCCCC"/>
                </a:solidFill>
              </a:rPr>
              <a:t>3</a:t>
            </a:r>
          </a:p>
          <a:p>
            <a:pPr algn="l" eaLnBrk="1" hangingPunct="1">
              <a:spcBef>
                <a:spcPct val="50000"/>
              </a:spcBef>
              <a:buFontTx/>
              <a:buAutoNum type="arabicParenR"/>
            </a:pPr>
            <a:r>
              <a:rPr lang="en-GB"/>
              <a:t>Convert 1.28dm</a:t>
            </a:r>
            <a:r>
              <a:rPr lang="en-GB" baseline="30000"/>
              <a:t>3</a:t>
            </a:r>
            <a:r>
              <a:rPr lang="en-GB"/>
              <a:t> into cm</a:t>
            </a:r>
            <a:r>
              <a:rPr lang="en-GB" baseline="30000"/>
              <a:t>3</a:t>
            </a:r>
          </a:p>
        </p:txBody>
      </p:sp>
    </p:spTree>
    <p:extLst>
      <p:ext uri="{BB962C8B-B14F-4D97-AF65-F5344CB8AC3E}">
        <p14:creationId xmlns:p14="http://schemas.microsoft.com/office/powerpoint/2010/main" val="3661028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0209"/>
                                        </p:tgtEl>
                                        <p:attrNameLst>
                                          <p:attrName>style.visibility</p:attrName>
                                        </p:attrNameLst>
                                      </p:cBhvr>
                                      <p:to>
                                        <p:strVal val="visible"/>
                                      </p:to>
                                    </p:set>
                                    <p:animEffect transition="in" filter="wipe(left)">
                                      <p:cBhvr>
                                        <p:cTn id="7" dur="500"/>
                                        <p:tgtEl>
                                          <p:spTgt spid="240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209"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Date Placeholder 3"/>
          <p:cNvSpPr>
            <a:spLocks noGrp="1"/>
          </p:cNvSpPr>
          <p:nvPr>
            <p:ph type="dt" sz="quarter" idx="10"/>
          </p:nvPr>
        </p:nvSpPr>
        <p:spPr>
          <a:noFill/>
        </p:spPr>
        <p:txBody>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fld id="{ED8A8688-1E60-4584-AA43-E126EFD69072}" type="datetime1">
              <a:rPr lang="en-GB" sz="1800" smtClean="0">
                <a:solidFill>
                  <a:schemeClr val="folHlink"/>
                </a:solidFill>
              </a:rPr>
              <a:pPr eaLnBrk="1" hangingPunct="1"/>
              <a:t>02/06/2020</a:t>
            </a:fld>
            <a:endParaRPr lang="en-GB" sz="1800">
              <a:solidFill>
                <a:schemeClr val="folHlink"/>
              </a:solidFill>
            </a:endParaRPr>
          </a:p>
        </p:txBody>
      </p:sp>
      <p:sp>
        <p:nvSpPr>
          <p:cNvPr id="108546" name="Rectangle 2"/>
          <p:cNvSpPr>
            <a:spLocks noGrp="1" noChangeArrowheads="1"/>
          </p:cNvSpPr>
          <p:nvPr>
            <p:ph type="title"/>
          </p:nvPr>
        </p:nvSpPr>
        <p:spPr/>
        <p:txBody>
          <a:bodyPr/>
          <a:lstStyle/>
          <a:p>
            <a:pPr eaLnBrk="1" hangingPunct="1">
              <a:defRPr/>
            </a:pPr>
            <a:r>
              <a:rPr lang="cy-GB" sz="4000" dirty="0"/>
              <a:t>A “Mole” in numbers (higher only)</a:t>
            </a:r>
            <a:endParaRPr lang="en-US" sz="4000" dirty="0"/>
          </a:p>
        </p:txBody>
      </p:sp>
      <p:sp>
        <p:nvSpPr>
          <p:cNvPr id="45060" name="Text Box 4"/>
          <p:cNvSpPr txBox="1">
            <a:spLocks noChangeArrowheads="1"/>
          </p:cNvSpPr>
          <p:nvPr/>
        </p:nvSpPr>
        <p:spPr bwMode="auto">
          <a:xfrm>
            <a:off x="0" y="752475"/>
            <a:ext cx="6588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cy-GB" b="1" dirty="0">
                <a:solidFill>
                  <a:srgbClr val="FFCCCC"/>
                </a:solidFill>
              </a:rPr>
              <a:t>Definition:</a:t>
            </a:r>
            <a:endParaRPr lang="en-US" b="1" dirty="0">
              <a:solidFill>
                <a:srgbClr val="FFCCCC"/>
              </a:solidFill>
            </a:endParaRPr>
          </a:p>
        </p:txBody>
      </p:sp>
      <p:sp>
        <p:nvSpPr>
          <p:cNvPr id="108549" name="Text Box 5"/>
          <p:cNvSpPr txBox="1">
            <a:spLocks noChangeArrowheads="1"/>
          </p:cNvSpPr>
          <p:nvPr/>
        </p:nvSpPr>
        <p:spPr bwMode="auto">
          <a:xfrm>
            <a:off x="1116013" y="1544564"/>
            <a:ext cx="6911975" cy="847725"/>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algn="ctr" eaLnBrk="1" hangingPunct="1">
              <a:spcBef>
                <a:spcPct val="50000"/>
              </a:spcBef>
            </a:pPr>
            <a:r>
              <a:rPr lang="cy-GB" dirty="0"/>
              <a:t>A mole of a substance is the relative formula mass of that substance in grams,</a:t>
            </a:r>
            <a:endParaRPr lang="en-US" dirty="0"/>
          </a:p>
        </p:txBody>
      </p:sp>
      <p:sp>
        <p:nvSpPr>
          <p:cNvPr id="108550" name="Text Box 6"/>
          <p:cNvSpPr txBox="1">
            <a:spLocks noChangeArrowheads="1"/>
          </p:cNvSpPr>
          <p:nvPr/>
        </p:nvSpPr>
        <p:spPr bwMode="auto">
          <a:xfrm>
            <a:off x="0" y="262426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cy-GB">
                <a:solidFill>
                  <a:srgbClr val="CCFFCC"/>
                </a:solidFill>
              </a:rPr>
              <a:t>For example, 12g of carbon would be 1 mole of carbon...</a:t>
            </a:r>
            <a:endParaRPr lang="en-US">
              <a:solidFill>
                <a:srgbClr val="CCFFCC"/>
              </a:solidFill>
            </a:endParaRPr>
          </a:p>
        </p:txBody>
      </p:sp>
      <p:sp>
        <p:nvSpPr>
          <p:cNvPr id="108551" name="Text Box 7"/>
          <p:cNvSpPr txBox="1">
            <a:spLocks noChangeArrowheads="1"/>
          </p:cNvSpPr>
          <p:nvPr/>
        </p:nvSpPr>
        <p:spPr bwMode="auto">
          <a:xfrm>
            <a:off x="-7663" y="3187824"/>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cy-GB" dirty="0">
                <a:solidFill>
                  <a:srgbClr val="CCFFCC"/>
                </a:solidFill>
              </a:rPr>
              <a:t>...and 44g of carbon dioxide (CO</a:t>
            </a:r>
            <a:r>
              <a:rPr lang="cy-GB" baseline="-25000" dirty="0">
                <a:solidFill>
                  <a:srgbClr val="CCFFCC"/>
                </a:solidFill>
              </a:rPr>
              <a:t>2</a:t>
            </a:r>
            <a:r>
              <a:rPr lang="cy-GB" dirty="0">
                <a:solidFill>
                  <a:srgbClr val="CCFFCC"/>
                </a:solidFill>
              </a:rPr>
              <a:t>) would be 1 mole etc...</a:t>
            </a:r>
            <a:endParaRPr lang="en-US" dirty="0">
              <a:solidFill>
                <a:srgbClr val="CCFFCC"/>
              </a:solidFill>
            </a:endParaRPr>
          </a:p>
        </p:txBody>
      </p:sp>
      <p:sp>
        <p:nvSpPr>
          <p:cNvPr id="2" name="TextBox 1"/>
          <p:cNvSpPr txBox="1"/>
          <p:nvPr/>
        </p:nvSpPr>
        <p:spPr>
          <a:xfrm>
            <a:off x="11701" y="4005064"/>
            <a:ext cx="9136337" cy="2554545"/>
          </a:xfrm>
          <a:prstGeom prst="rect">
            <a:avLst/>
          </a:prstGeom>
          <a:noFill/>
        </p:spPr>
        <p:txBody>
          <a:bodyPr wrap="square" rtlCol="0">
            <a:spAutoFit/>
          </a:bodyPr>
          <a:lstStyle/>
          <a:p>
            <a:pPr>
              <a:spcBef>
                <a:spcPts val="1200"/>
              </a:spcBef>
            </a:pPr>
            <a:r>
              <a:rPr lang="en-GB" dirty="0">
                <a:solidFill>
                  <a:srgbClr val="CCECFF"/>
                </a:solidFill>
              </a:rPr>
              <a:t>Q. How many moles are the following?</a:t>
            </a:r>
          </a:p>
          <a:p>
            <a:pPr marL="457200" indent="-457200">
              <a:spcBef>
                <a:spcPts val="1200"/>
              </a:spcBef>
              <a:buFont typeface="+mj-lt"/>
              <a:buAutoNum type="arabicPeriod"/>
            </a:pPr>
            <a:r>
              <a:rPr lang="en-GB" dirty="0"/>
              <a:t>23g of sodium</a:t>
            </a:r>
          </a:p>
          <a:p>
            <a:pPr marL="457200" indent="-457200">
              <a:spcBef>
                <a:spcPts val="1200"/>
              </a:spcBef>
              <a:buFont typeface="+mj-lt"/>
              <a:buAutoNum type="arabicPeriod"/>
            </a:pPr>
            <a:r>
              <a:rPr lang="en-GB" dirty="0">
                <a:solidFill>
                  <a:srgbClr val="CCECFF"/>
                </a:solidFill>
              </a:rPr>
              <a:t>48g of magnesium</a:t>
            </a:r>
          </a:p>
          <a:p>
            <a:pPr marL="457200" indent="-457200">
              <a:spcBef>
                <a:spcPts val="1200"/>
              </a:spcBef>
              <a:buFont typeface="+mj-lt"/>
              <a:buAutoNum type="arabicPeriod"/>
            </a:pPr>
            <a:r>
              <a:rPr lang="en-GB" dirty="0"/>
              <a:t>36g of carbon</a:t>
            </a:r>
          </a:p>
          <a:p>
            <a:pPr marL="457200" indent="-457200">
              <a:spcBef>
                <a:spcPts val="1200"/>
              </a:spcBef>
              <a:buFont typeface="+mj-lt"/>
              <a:buAutoNum type="arabicPeriod"/>
            </a:pPr>
            <a:r>
              <a:rPr lang="en-GB" dirty="0">
                <a:solidFill>
                  <a:srgbClr val="CCECFF"/>
                </a:solidFill>
              </a:rPr>
              <a:t>28g of iron</a:t>
            </a:r>
          </a:p>
        </p:txBody>
      </p:sp>
      <p:sp>
        <p:nvSpPr>
          <p:cNvPr id="3" name="TextBox 2"/>
          <p:cNvSpPr txBox="1"/>
          <p:nvPr/>
        </p:nvSpPr>
        <p:spPr>
          <a:xfrm>
            <a:off x="6588125" y="4509120"/>
            <a:ext cx="1656184" cy="461665"/>
          </a:xfrm>
          <a:prstGeom prst="rect">
            <a:avLst/>
          </a:prstGeom>
          <a:solidFill>
            <a:srgbClr val="C00000"/>
          </a:solidFill>
        </p:spPr>
        <p:txBody>
          <a:bodyPr wrap="square" rtlCol="0">
            <a:spAutoFit/>
          </a:bodyPr>
          <a:lstStyle/>
          <a:p>
            <a:pPr algn="ctr"/>
            <a:r>
              <a:rPr lang="en-GB" dirty="0"/>
              <a:t>1 </a:t>
            </a:r>
            <a:r>
              <a:rPr lang="en-GB" dirty="0" err="1"/>
              <a:t>mol</a:t>
            </a:r>
            <a:endParaRPr lang="en-GB" dirty="0"/>
          </a:p>
        </p:txBody>
      </p:sp>
      <p:sp>
        <p:nvSpPr>
          <p:cNvPr id="10" name="TextBox 9"/>
          <p:cNvSpPr txBox="1"/>
          <p:nvPr/>
        </p:nvSpPr>
        <p:spPr>
          <a:xfrm>
            <a:off x="6588125" y="5051503"/>
            <a:ext cx="1656184" cy="461665"/>
          </a:xfrm>
          <a:prstGeom prst="rect">
            <a:avLst/>
          </a:prstGeom>
          <a:solidFill>
            <a:srgbClr val="C00000"/>
          </a:solidFill>
        </p:spPr>
        <p:txBody>
          <a:bodyPr wrap="square" rtlCol="0">
            <a:spAutoFit/>
          </a:bodyPr>
          <a:lstStyle/>
          <a:p>
            <a:pPr algn="ctr"/>
            <a:r>
              <a:rPr lang="en-GB" dirty="0"/>
              <a:t>2 </a:t>
            </a:r>
            <a:r>
              <a:rPr lang="en-GB" dirty="0" err="1"/>
              <a:t>mol</a:t>
            </a:r>
            <a:endParaRPr lang="en-GB" dirty="0"/>
          </a:p>
        </p:txBody>
      </p:sp>
      <p:sp>
        <p:nvSpPr>
          <p:cNvPr id="11" name="TextBox 10"/>
          <p:cNvSpPr txBox="1"/>
          <p:nvPr/>
        </p:nvSpPr>
        <p:spPr>
          <a:xfrm>
            <a:off x="6588125" y="5589240"/>
            <a:ext cx="1656184" cy="461665"/>
          </a:xfrm>
          <a:prstGeom prst="rect">
            <a:avLst/>
          </a:prstGeom>
          <a:solidFill>
            <a:srgbClr val="C00000"/>
          </a:solidFill>
        </p:spPr>
        <p:txBody>
          <a:bodyPr wrap="square" rtlCol="0">
            <a:spAutoFit/>
          </a:bodyPr>
          <a:lstStyle/>
          <a:p>
            <a:pPr algn="ctr"/>
            <a:r>
              <a:rPr lang="en-GB" dirty="0"/>
              <a:t>3 </a:t>
            </a:r>
            <a:r>
              <a:rPr lang="en-GB" dirty="0" err="1"/>
              <a:t>mol</a:t>
            </a:r>
            <a:endParaRPr lang="en-GB" dirty="0"/>
          </a:p>
        </p:txBody>
      </p:sp>
      <p:sp>
        <p:nvSpPr>
          <p:cNvPr id="12" name="TextBox 11"/>
          <p:cNvSpPr txBox="1"/>
          <p:nvPr/>
        </p:nvSpPr>
        <p:spPr>
          <a:xfrm>
            <a:off x="6588125" y="6135687"/>
            <a:ext cx="1656184" cy="461665"/>
          </a:xfrm>
          <a:prstGeom prst="rect">
            <a:avLst/>
          </a:prstGeom>
          <a:solidFill>
            <a:srgbClr val="C00000"/>
          </a:solidFill>
        </p:spPr>
        <p:txBody>
          <a:bodyPr wrap="square" rtlCol="0">
            <a:spAutoFit/>
          </a:bodyPr>
          <a:lstStyle/>
          <a:p>
            <a:pPr algn="ctr"/>
            <a:r>
              <a:rPr lang="en-GB" dirty="0"/>
              <a:t>0.5 </a:t>
            </a:r>
            <a:r>
              <a:rPr lang="en-GB" dirty="0" err="1"/>
              <a:t>mol</a:t>
            </a:r>
            <a:endParaRPr lang="en-GB" dirty="0"/>
          </a:p>
        </p:txBody>
      </p:sp>
    </p:spTree>
    <p:extLst>
      <p:ext uri="{BB962C8B-B14F-4D97-AF65-F5344CB8AC3E}">
        <p14:creationId xmlns:p14="http://schemas.microsoft.com/office/powerpoint/2010/main" val="26691008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8549"/>
                                        </p:tgtEl>
                                        <p:attrNameLst>
                                          <p:attrName>style.visibility</p:attrName>
                                        </p:attrNameLst>
                                      </p:cBhvr>
                                      <p:to>
                                        <p:strVal val="visible"/>
                                      </p:to>
                                    </p:set>
                                    <p:animEffect transition="in" filter="wipe(left)">
                                      <p:cBhvr>
                                        <p:cTn id="7" dur="500"/>
                                        <p:tgtEl>
                                          <p:spTgt spid="1085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8550"/>
                                        </p:tgtEl>
                                        <p:attrNameLst>
                                          <p:attrName>style.visibility</p:attrName>
                                        </p:attrNameLst>
                                      </p:cBhvr>
                                      <p:to>
                                        <p:strVal val="visible"/>
                                      </p:to>
                                    </p:set>
                                    <p:animEffect transition="in" filter="wipe(left)">
                                      <p:cBhvr>
                                        <p:cTn id="12" dur="500"/>
                                        <p:tgtEl>
                                          <p:spTgt spid="1085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8551"/>
                                        </p:tgtEl>
                                        <p:attrNameLst>
                                          <p:attrName>style.visibility</p:attrName>
                                        </p:attrNameLst>
                                      </p:cBhvr>
                                      <p:to>
                                        <p:strVal val="visible"/>
                                      </p:to>
                                    </p:set>
                                    <p:animEffect transition="in" filter="wipe(left)">
                                      <p:cBhvr>
                                        <p:cTn id="17" dur="500"/>
                                        <p:tgtEl>
                                          <p:spTgt spid="10855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9" grpId="0" animBg="1"/>
      <p:bldP spid="108550" grpId="0"/>
      <p:bldP spid="108551" grpId="0"/>
      <p:bldP spid="2" grpId="0"/>
      <p:bldP spid="3" grpId="0" animBg="1"/>
      <p:bldP spid="10" grpId="0" animBg="1"/>
      <p:bldP spid="11" grpId="0" animBg="1"/>
      <p:bldP spid="12"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Date Placeholder 3"/>
          <p:cNvSpPr>
            <a:spLocks noGrp="1"/>
          </p:cNvSpPr>
          <p:nvPr>
            <p:ph type="dt" sz="quarter" idx="10"/>
          </p:nvPr>
        </p:nvSpPr>
        <p:spPr>
          <a:noFill/>
        </p:spPr>
        <p:txBody>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fld id="{ED8A8688-1E60-4584-AA43-E126EFD69072}" type="datetime1">
              <a:rPr lang="en-GB" sz="1800" smtClean="0">
                <a:solidFill>
                  <a:schemeClr val="folHlink"/>
                </a:solidFill>
              </a:rPr>
              <a:pPr eaLnBrk="1" hangingPunct="1"/>
              <a:t>02/06/2020</a:t>
            </a:fld>
            <a:endParaRPr lang="en-GB" sz="1800">
              <a:solidFill>
                <a:schemeClr val="folHlink"/>
              </a:solidFill>
            </a:endParaRPr>
          </a:p>
        </p:txBody>
      </p:sp>
      <p:sp>
        <p:nvSpPr>
          <p:cNvPr id="108546" name="Rectangle 2"/>
          <p:cNvSpPr>
            <a:spLocks noGrp="1" noChangeArrowheads="1"/>
          </p:cNvSpPr>
          <p:nvPr>
            <p:ph type="title"/>
          </p:nvPr>
        </p:nvSpPr>
        <p:spPr/>
        <p:txBody>
          <a:bodyPr/>
          <a:lstStyle/>
          <a:p>
            <a:pPr eaLnBrk="1" hangingPunct="1">
              <a:defRPr/>
            </a:pPr>
            <a:r>
              <a:rPr lang="cy-GB" dirty="0"/>
              <a:t>A “Mole” (higher only)</a:t>
            </a:r>
            <a:endParaRPr lang="en-US" dirty="0"/>
          </a:p>
        </p:txBody>
      </p:sp>
      <p:sp>
        <p:nvSpPr>
          <p:cNvPr id="45060" name="Text Box 4"/>
          <p:cNvSpPr txBox="1">
            <a:spLocks noChangeArrowheads="1"/>
          </p:cNvSpPr>
          <p:nvPr/>
        </p:nvSpPr>
        <p:spPr bwMode="auto">
          <a:xfrm>
            <a:off x="0" y="752475"/>
            <a:ext cx="6588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cy-GB" b="1" dirty="0">
                <a:solidFill>
                  <a:srgbClr val="FFCCCC"/>
                </a:solidFill>
              </a:rPr>
              <a:t>Definition:</a:t>
            </a:r>
            <a:endParaRPr lang="en-US" b="1" dirty="0">
              <a:solidFill>
                <a:srgbClr val="FFCCCC"/>
              </a:solidFill>
            </a:endParaRPr>
          </a:p>
        </p:txBody>
      </p:sp>
      <p:sp>
        <p:nvSpPr>
          <p:cNvPr id="108549" name="Text Box 5"/>
          <p:cNvSpPr txBox="1">
            <a:spLocks noChangeArrowheads="1"/>
          </p:cNvSpPr>
          <p:nvPr/>
        </p:nvSpPr>
        <p:spPr bwMode="auto">
          <a:xfrm>
            <a:off x="251520" y="1292766"/>
            <a:ext cx="8640960" cy="1384995"/>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algn="ctr" eaLnBrk="1" hangingPunct="1">
              <a:spcBef>
                <a:spcPct val="50000"/>
              </a:spcBef>
            </a:pPr>
            <a:r>
              <a:rPr lang="cy-GB" dirty="0"/>
              <a:t>A mole of a substance ALWAYS contains the same number of molecules/ions/particles/atoms:</a:t>
            </a:r>
          </a:p>
          <a:p>
            <a:pPr algn="ctr" eaLnBrk="1" hangingPunct="1">
              <a:spcBef>
                <a:spcPct val="50000"/>
              </a:spcBef>
            </a:pPr>
            <a:r>
              <a:rPr lang="cy-GB" dirty="0"/>
              <a:t>Avogadro’s Constant: 1 mole = 6.02x10</a:t>
            </a:r>
            <a:r>
              <a:rPr lang="cy-GB" baseline="30000" dirty="0"/>
              <a:t>23</a:t>
            </a:r>
            <a:r>
              <a:rPr lang="cy-GB" dirty="0"/>
              <a:t> molecules</a:t>
            </a:r>
          </a:p>
        </p:txBody>
      </p:sp>
      <p:sp>
        <p:nvSpPr>
          <p:cNvPr id="2" name="TextBox 1"/>
          <p:cNvSpPr txBox="1"/>
          <p:nvPr/>
        </p:nvSpPr>
        <p:spPr>
          <a:xfrm>
            <a:off x="11701" y="3254668"/>
            <a:ext cx="9136337" cy="2554545"/>
          </a:xfrm>
          <a:prstGeom prst="rect">
            <a:avLst/>
          </a:prstGeom>
          <a:noFill/>
        </p:spPr>
        <p:txBody>
          <a:bodyPr wrap="square" rtlCol="0">
            <a:spAutoFit/>
          </a:bodyPr>
          <a:lstStyle/>
          <a:p>
            <a:pPr>
              <a:spcBef>
                <a:spcPts val="1200"/>
              </a:spcBef>
            </a:pPr>
            <a:r>
              <a:rPr lang="en-GB" dirty="0">
                <a:solidFill>
                  <a:srgbClr val="CCFFCC"/>
                </a:solidFill>
              </a:rPr>
              <a:t>Q. How many moles are the following?</a:t>
            </a:r>
          </a:p>
          <a:p>
            <a:pPr marL="457200" indent="-457200">
              <a:spcBef>
                <a:spcPts val="1200"/>
              </a:spcBef>
              <a:buFont typeface="+mj-lt"/>
              <a:buAutoNum type="arabicPeriod"/>
            </a:pPr>
            <a:r>
              <a:rPr lang="en-GB" dirty="0"/>
              <a:t>How many molecules are in 2 moles of carbon?</a:t>
            </a:r>
          </a:p>
          <a:p>
            <a:pPr marL="457200" indent="-457200">
              <a:spcBef>
                <a:spcPts val="1200"/>
              </a:spcBef>
              <a:buFont typeface="+mj-lt"/>
              <a:buAutoNum type="arabicPeriod"/>
            </a:pPr>
            <a:r>
              <a:rPr lang="en-GB" dirty="0">
                <a:solidFill>
                  <a:srgbClr val="CCFFCC"/>
                </a:solidFill>
              </a:rPr>
              <a:t>What about 2 moles of magnesium?</a:t>
            </a:r>
          </a:p>
          <a:p>
            <a:pPr marL="457200" indent="-457200">
              <a:spcBef>
                <a:spcPts val="1200"/>
              </a:spcBef>
              <a:buFont typeface="+mj-lt"/>
              <a:buAutoNum type="arabicPeriod"/>
            </a:pPr>
            <a:r>
              <a:rPr lang="en-GB" dirty="0"/>
              <a:t>How many molecules are in 46g of sodium?</a:t>
            </a:r>
          </a:p>
          <a:p>
            <a:pPr marL="457200" indent="-457200">
              <a:spcBef>
                <a:spcPts val="1200"/>
              </a:spcBef>
              <a:buFont typeface="+mj-lt"/>
              <a:buAutoNum type="arabicPeriod"/>
            </a:pPr>
            <a:r>
              <a:rPr lang="en-GB" dirty="0">
                <a:solidFill>
                  <a:srgbClr val="CCFFCC"/>
                </a:solidFill>
              </a:rPr>
              <a:t>How many molecules are in 23g of iron?</a:t>
            </a:r>
          </a:p>
        </p:txBody>
      </p:sp>
      <p:sp>
        <p:nvSpPr>
          <p:cNvPr id="3" name="TextBox 2"/>
          <p:cNvSpPr txBox="1"/>
          <p:nvPr/>
        </p:nvSpPr>
        <p:spPr>
          <a:xfrm>
            <a:off x="7668344" y="3758724"/>
            <a:ext cx="1475655" cy="400110"/>
          </a:xfrm>
          <a:prstGeom prst="rect">
            <a:avLst/>
          </a:prstGeom>
          <a:solidFill>
            <a:srgbClr val="C00000"/>
          </a:solidFill>
        </p:spPr>
        <p:txBody>
          <a:bodyPr wrap="square" rtlCol="0">
            <a:spAutoFit/>
          </a:bodyPr>
          <a:lstStyle/>
          <a:p>
            <a:pPr algn="ctr"/>
            <a:r>
              <a:rPr lang="en-GB" sz="2000" dirty="0"/>
              <a:t>1.2x10</a:t>
            </a:r>
            <a:r>
              <a:rPr lang="en-GB" sz="2000" baseline="30000" dirty="0"/>
              <a:t>24</a:t>
            </a:r>
            <a:endParaRPr lang="en-GB" sz="2000" dirty="0"/>
          </a:p>
        </p:txBody>
      </p:sp>
      <p:sp>
        <p:nvSpPr>
          <p:cNvPr id="10" name="TextBox 9"/>
          <p:cNvSpPr txBox="1"/>
          <p:nvPr/>
        </p:nvSpPr>
        <p:spPr>
          <a:xfrm>
            <a:off x="7668344" y="4301107"/>
            <a:ext cx="1475655" cy="400110"/>
          </a:xfrm>
          <a:prstGeom prst="rect">
            <a:avLst/>
          </a:prstGeom>
          <a:solidFill>
            <a:srgbClr val="C00000"/>
          </a:solidFill>
        </p:spPr>
        <p:txBody>
          <a:bodyPr wrap="square" rtlCol="0">
            <a:spAutoFit/>
          </a:bodyPr>
          <a:lstStyle/>
          <a:p>
            <a:pPr algn="ctr"/>
            <a:r>
              <a:rPr lang="en-GB" sz="2000" dirty="0"/>
              <a:t>1.2x10</a:t>
            </a:r>
            <a:r>
              <a:rPr lang="en-GB" sz="2000" baseline="30000" dirty="0"/>
              <a:t>24</a:t>
            </a:r>
            <a:endParaRPr lang="en-GB" sz="2000" dirty="0"/>
          </a:p>
        </p:txBody>
      </p:sp>
      <p:sp>
        <p:nvSpPr>
          <p:cNvPr id="11" name="TextBox 10"/>
          <p:cNvSpPr txBox="1"/>
          <p:nvPr/>
        </p:nvSpPr>
        <p:spPr>
          <a:xfrm>
            <a:off x="7668344" y="4838844"/>
            <a:ext cx="1475655" cy="400110"/>
          </a:xfrm>
          <a:prstGeom prst="rect">
            <a:avLst/>
          </a:prstGeom>
          <a:solidFill>
            <a:srgbClr val="C00000"/>
          </a:solidFill>
        </p:spPr>
        <p:txBody>
          <a:bodyPr wrap="square" rtlCol="0">
            <a:spAutoFit/>
          </a:bodyPr>
          <a:lstStyle/>
          <a:p>
            <a:pPr algn="ctr"/>
            <a:r>
              <a:rPr lang="en-GB" sz="2000" dirty="0"/>
              <a:t>1.2x10</a:t>
            </a:r>
            <a:r>
              <a:rPr lang="en-GB" sz="2000" baseline="30000" dirty="0"/>
              <a:t>24</a:t>
            </a:r>
            <a:endParaRPr lang="en-GB" sz="2000" dirty="0"/>
          </a:p>
        </p:txBody>
      </p:sp>
      <p:sp>
        <p:nvSpPr>
          <p:cNvPr id="12" name="TextBox 11"/>
          <p:cNvSpPr txBox="1"/>
          <p:nvPr/>
        </p:nvSpPr>
        <p:spPr>
          <a:xfrm>
            <a:off x="7668344" y="5385291"/>
            <a:ext cx="1475655" cy="400110"/>
          </a:xfrm>
          <a:prstGeom prst="rect">
            <a:avLst/>
          </a:prstGeom>
          <a:solidFill>
            <a:srgbClr val="C00000"/>
          </a:solidFill>
        </p:spPr>
        <p:txBody>
          <a:bodyPr wrap="square" rtlCol="0">
            <a:spAutoFit/>
          </a:bodyPr>
          <a:lstStyle/>
          <a:p>
            <a:pPr algn="ctr"/>
            <a:r>
              <a:rPr lang="en-GB" sz="2000" dirty="0"/>
              <a:t>3.0x10</a:t>
            </a:r>
            <a:r>
              <a:rPr lang="en-GB" sz="2000" baseline="30000" dirty="0"/>
              <a:t>23</a:t>
            </a:r>
            <a:endParaRPr lang="en-GB" sz="2000" dirty="0"/>
          </a:p>
        </p:txBody>
      </p:sp>
    </p:spTree>
    <p:extLst>
      <p:ext uri="{BB962C8B-B14F-4D97-AF65-F5344CB8AC3E}">
        <p14:creationId xmlns:p14="http://schemas.microsoft.com/office/powerpoint/2010/main" val="31584688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8549"/>
                                        </p:tgtEl>
                                        <p:attrNameLst>
                                          <p:attrName>style.visibility</p:attrName>
                                        </p:attrNameLst>
                                      </p:cBhvr>
                                      <p:to>
                                        <p:strVal val="visible"/>
                                      </p:to>
                                    </p:set>
                                    <p:animEffect transition="in" filter="wipe(left)">
                                      <p:cBhvr>
                                        <p:cTn id="7" dur="500"/>
                                        <p:tgtEl>
                                          <p:spTgt spid="1085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9" grpId="0" animBg="1"/>
      <p:bldP spid="2" grpId="0"/>
      <p:bldP spid="3" grpId="0" animBg="1"/>
      <p:bldP spid="10" grpId="0" animBg="1"/>
      <p:bldP spid="11" grpId="0" animBg="1"/>
      <p:bldP spid="1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Date Placeholder 3"/>
          <p:cNvSpPr>
            <a:spLocks noGrp="1"/>
          </p:cNvSpPr>
          <p:nvPr>
            <p:ph type="dt" sz="quarter" idx="10"/>
          </p:nvPr>
        </p:nvSpPr>
        <p:spPr>
          <a:noFill/>
        </p:spPr>
        <p:txBody>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eaLnBrk="1" hangingPunct="1"/>
            <a:fld id="{62B7A80A-5DB7-4F3D-BC9E-D85F98F24035}" type="datetime1">
              <a:rPr lang="en-GB" sz="1800" smtClean="0">
                <a:solidFill>
                  <a:schemeClr val="folHlink"/>
                </a:solidFill>
              </a:rPr>
              <a:pPr eaLnBrk="1" hangingPunct="1"/>
              <a:t>02/06/2020</a:t>
            </a:fld>
            <a:endParaRPr lang="en-GB" sz="1800">
              <a:solidFill>
                <a:schemeClr val="folHlink"/>
              </a:solidFill>
            </a:endParaRPr>
          </a:p>
        </p:txBody>
      </p:sp>
      <p:sp>
        <p:nvSpPr>
          <p:cNvPr id="220162" name="Rectangle 2"/>
          <p:cNvSpPr>
            <a:spLocks noGrp="1" noChangeArrowheads="1"/>
          </p:cNvSpPr>
          <p:nvPr>
            <p:ph type="title"/>
          </p:nvPr>
        </p:nvSpPr>
        <p:spPr/>
        <p:txBody>
          <a:bodyPr/>
          <a:lstStyle/>
          <a:p>
            <a:pPr eaLnBrk="1" hangingPunct="1">
              <a:defRPr/>
            </a:pPr>
            <a:r>
              <a:rPr lang="en-GB" dirty="0"/>
              <a:t>Molar Calculations (higher only)</a:t>
            </a:r>
          </a:p>
        </p:txBody>
      </p:sp>
      <p:grpSp>
        <p:nvGrpSpPr>
          <p:cNvPr id="220163" name="Group 3"/>
          <p:cNvGrpSpPr>
            <a:grpSpLocks/>
          </p:cNvGrpSpPr>
          <p:nvPr/>
        </p:nvGrpSpPr>
        <p:grpSpPr bwMode="auto">
          <a:xfrm>
            <a:off x="0" y="1125538"/>
            <a:ext cx="9144000" cy="1439862"/>
            <a:chOff x="0" y="709"/>
            <a:chExt cx="5760" cy="907"/>
          </a:xfrm>
        </p:grpSpPr>
        <p:sp>
          <p:nvSpPr>
            <p:cNvPr id="6150" name="Rectangle 4"/>
            <p:cNvSpPr>
              <a:spLocks noChangeArrowheads="1"/>
            </p:cNvSpPr>
            <p:nvPr/>
          </p:nvSpPr>
          <p:spPr bwMode="auto">
            <a:xfrm>
              <a:off x="0" y="709"/>
              <a:ext cx="5760" cy="907"/>
            </a:xfrm>
            <a:prstGeom prst="rect">
              <a:avLst/>
            </a:prstGeom>
            <a:solidFill>
              <a:srgbClr val="000080"/>
            </a:solidFill>
            <a:ln>
              <a:noFill/>
            </a:ln>
            <a:effectLst/>
            <a:extLs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1" name="Text Box 5"/>
            <p:cNvSpPr txBox="1">
              <a:spLocks noChangeArrowheads="1"/>
            </p:cNvSpPr>
            <p:nvPr/>
          </p:nvSpPr>
          <p:spPr bwMode="auto">
            <a:xfrm>
              <a:off x="476" y="845"/>
              <a:ext cx="154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algn="l" eaLnBrk="1" hangingPunct="1">
                <a:spcBef>
                  <a:spcPct val="50000"/>
                </a:spcBef>
              </a:pPr>
              <a:r>
                <a:rPr lang="en-GB">
                  <a:solidFill>
                    <a:srgbClr val="FF99FF"/>
                  </a:solidFill>
                  <a:cs typeface="Arial" charset="0"/>
                </a:rPr>
                <a:t>No. of moles</a:t>
              </a:r>
              <a:r>
                <a:rPr lang="en-GB">
                  <a:cs typeface="Arial" charset="0"/>
                </a:rPr>
                <a:t> = </a:t>
              </a:r>
            </a:p>
          </p:txBody>
        </p:sp>
        <p:sp>
          <p:nvSpPr>
            <p:cNvPr id="6152" name="Text Box 6"/>
            <p:cNvSpPr txBox="1">
              <a:spLocks noChangeArrowheads="1"/>
            </p:cNvSpPr>
            <p:nvPr/>
          </p:nvSpPr>
          <p:spPr bwMode="auto">
            <a:xfrm>
              <a:off x="2064" y="800"/>
              <a:ext cx="14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dirty="0">
                  <a:solidFill>
                    <a:srgbClr val="FFFF66"/>
                  </a:solidFill>
                  <a:cs typeface="Arial" charset="0"/>
                </a:rPr>
                <a:t>   Mass (g)</a:t>
              </a:r>
            </a:p>
          </p:txBody>
        </p:sp>
        <p:sp>
          <p:nvSpPr>
            <p:cNvPr id="6153" name="Text Box 7"/>
            <p:cNvSpPr txBox="1">
              <a:spLocks noChangeArrowheads="1"/>
            </p:cNvSpPr>
            <p:nvPr/>
          </p:nvSpPr>
          <p:spPr bwMode="auto">
            <a:xfrm>
              <a:off x="1882" y="1163"/>
              <a:ext cx="18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a:solidFill>
                    <a:srgbClr val="99FFCC"/>
                  </a:solidFill>
                  <a:cs typeface="Arial" charset="0"/>
                </a:rPr>
                <a:t>Molar mass (g/mol)</a:t>
              </a:r>
            </a:p>
          </p:txBody>
        </p:sp>
        <p:sp>
          <p:nvSpPr>
            <p:cNvPr id="6154" name="Line 8"/>
            <p:cNvSpPr>
              <a:spLocks noChangeShapeType="1"/>
            </p:cNvSpPr>
            <p:nvPr/>
          </p:nvSpPr>
          <p:spPr bwMode="auto">
            <a:xfrm>
              <a:off x="2154" y="1117"/>
              <a:ext cx="1180" cy="0"/>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nvGrpSpPr>
            <p:cNvPr id="6155" name="Group 9"/>
            <p:cNvGrpSpPr>
              <a:grpSpLocks/>
            </p:cNvGrpSpPr>
            <p:nvPr/>
          </p:nvGrpSpPr>
          <p:grpSpPr bwMode="auto">
            <a:xfrm>
              <a:off x="4241" y="800"/>
              <a:ext cx="840" cy="651"/>
              <a:chOff x="3787" y="754"/>
              <a:chExt cx="840" cy="651"/>
            </a:xfrm>
          </p:grpSpPr>
          <p:sp>
            <p:nvSpPr>
              <p:cNvPr id="6156" name="Text Box 10"/>
              <p:cNvSpPr txBox="1">
                <a:spLocks noChangeArrowheads="1"/>
              </p:cNvSpPr>
              <p:nvPr/>
            </p:nvSpPr>
            <p:spPr bwMode="auto">
              <a:xfrm>
                <a:off x="3787" y="799"/>
                <a:ext cx="52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algn="l" eaLnBrk="1" hangingPunct="1">
                  <a:spcBef>
                    <a:spcPct val="50000"/>
                  </a:spcBef>
                </a:pPr>
                <a:r>
                  <a:rPr lang="en-GB">
                    <a:solidFill>
                      <a:srgbClr val="FF99FF"/>
                    </a:solidFill>
                    <a:cs typeface="Arial" charset="0"/>
                  </a:rPr>
                  <a:t>N</a:t>
                </a:r>
                <a:r>
                  <a:rPr lang="en-GB">
                    <a:cs typeface="Arial" charset="0"/>
                  </a:rPr>
                  <a:t> = </a:t>
                </a:r>
              </a:p>
            </p:txBody>
          </p:sp>
          <p:sp>
            <p:nvSpPr>
              <p:cNvPr id="6157" name="Text Box 11"/>
              <p:cNvSpPr txBox="1">
                <a:spLocks noChangeArrowheads="1"/>
              </p:cNvSpPr>
              <p:nvPr/>
            </p:nvSpPr>
            <p:spPr bwMode="auto">
              <a:xfrm>
                <a:off x="4082" y="754"/>
                <a:ext cx="44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dirty="0">
                    <a:solidFill>
                      <a:srgbClr val="FFFF66"/>
                    </a:solidFill>
                    <a:cs typeface="Arial" charset="0"/>
                  </a:rPr>
                  <a:t> m</a:t>
                </a:r>
              </a:p>
            </p:txBody>
          </p:sp>
          <p:sp>
            <p:nvSpPr>
              <p:cNvPr id="6158" name="Text Box 12"/>
              <p:cNvSpPr txBox="1">
                <a:spLocks noChangeArrowheads="1"/>
              </p:cNvSpPr>
              <p:nvPr/>
            </p:nvSpPr>
            <p:spPr bwMode="auto">
              <a:xfrm>
                <a:off x="4059" y="1117"/>
                <a:ext cx="5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dirty="0">
                    <a:solidFill>
                      <a:srgbClr val="99FFCC"/>
                    </a:solidFill>
                    <a:cs typeface="Arial" charset="0"/>
                  </a:rPr>
                  <a:t> M</a:t>
                </a:r>
              </a:p>
            </p:txBody>
          </p:sp>
          <p:sp>
            <p:nvSpPr>
              <p:cNvPr id="6159" name="Line 13"/>
              <p:cNvSpPr>
                <a:spLocks noChangeShapeType="1"/>
              </p:cNvSpPr>
              <p:nvPr/>
            </p:nvSpPr>
            <p:spPr bwMode="auto">
              <a:xfrm>
                <a:off x="4172" y="1071"/>
                <a:ext cx="250" cy="0"/>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sp>
        <p:nvSpPr>
          <p:cNvPr id="220174" name="Text Box 14"/>
          <p:cNvSpPr txBox="1">
            <a:spLocks noChangeArrowheads="1"/>
          </p:cNvSpPr>
          <p:nvPr/>
        </p:nvSpPr>
        <p:spPr bwMode="auto">
          <a:xfrm>
            <a:off x="0" y="3068638"/>
            <a:ext cx="7542213" cy="36009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algn="l" eaLnBrk="1" hangingPunct="1">
              <a:spcBef>
                <a:spcPct val="50000"/>
              </a:spcBef>
            </a:pPr>
            <a:r>
              <a:rPr lang="en-GB" dirty="0">
                <a:solidFill>
                  <a:srgbClr val="99FFCC"/>
                </a:solidFill>
                <a:cs typeface="Arial" charset="0"/>
              </a:rPr>
              <a:t>Some example questions:</a:t>
            </a:r>
          </a:p>
          <a:p>
            <a:pPr algn="l" eaLnBrk="1" hangingPunct="1">
              <a:spcBef>
                <a:spcPct val="50000"/>
              </a:spcBef>
              <a:buFontTx/>
              <a:buAutoNum type="arabicParenR"/>
            </a:pPr>
            <a:r>
              <a:rPr lang="en-GB" dirty="0">
                <a:cs typeface="Arial" charset="0"/>
              </a:rPr>
              <a:t>Calculate the mass of 4 </a:t>
            </a:r>
            <a:r>
              <a:rPr lang="en-GB" dirty="0" err="1">
                <a:cs typeface="Arial" charset="0"/>
              </a:rPr>
              <a:t>mol</a:t>
            </a:r>
            <a:r>
              <a:rPr lang="en-GB" dirty="0">
                <a:cs typeface="Arial" charset="0"/>
              </a:rPr>
              <a:t> of lithium</a:t>
            </a:r>
          </a:p>
          <a:p>
            <a:pPr algn="l" eaLnBrk="1" hangingPunct="1">
              <a:spcBef>
                <a:spcPct val="50000"/>
              </a:spcBef>
              <a:buFontTx/>
              <a:buAutoNum type="arabicParenR"/>
            </a:pPr>
            <a:r>
              <a:rPr lang="en-GB" dirty="0">
                <a:solidFill>
                  <a:srgbClr val="99FFCC"/>
                </a:solidFill>
                <a:cs typeface="Arial" charset="0"/>
              </a:rPr>
              <a:t>Calculate the mass of 2 </a:t>
            </a:r>
            <a:r>
              <a:rPr lang="en-GB" dirty="0" err="1">
                <a:solidFill>
                  <a:srgbClr val="99FFCC"/>
                </a:solidFill>
                <a:cs typeface="Arial" charset="0"/>
              </a:rPr>
              <a:t>mol</a:t>
            </a:r>
            <a:r>
              <a:rPr lang="en-GB" dirty="0">
                <a:solidFill>
                  <a:srgbClr val="99FFCC"/>
                </a:solidFill>
                <a:cs typeface="Arial" charset="0"/>
              </a:rPr>
              <a:t> of sodium</a:t>
            </a:r>
          </a:p>
          <a:p>
            <a:pPr algn="l" eaLnBrk="1" hangingPunct="1">
              <a:spcBef>
                <a:spcPct val="50000"/>
              </a:spcBef>
              <a:buFontTx/>
              <a:buAutoNum type="arabicParenR"/>
            </a:pPr>
            <a:r>
              <a:rPr lang="en-GB" dirty="0">
                <a:cs typeface="Arial" charset="0"/>
              </a:rPr>
              <a:t>Calculate the number of moles in 36g of carbon</a:t>
            </a:r>
          </a:p>
          <a:p>
            <a:pPr algn="l" eaLnBrk="1" hangingPunct="1">
              <a:spcBef>
                <a:spcPct val="50000"/>
              </a:spcBef>
              <a:buFontTx/>
              <a:buAutoNum type="arabicParenR"/>
            </a:pPr>
            <a:r>
              <a:rPr lang="en-GB" dirty="0">
                <a:solidFill>
                  <a:srgbClr val="99FFCC"/>
                </a:solidFill>
                <a:cs typeface="Arial" charset="0"/>
              </a:rPr>
              <a:t>Calculate the number of moles in 88g of carbon dioxide</a:t>
            </a:r>
          </a:p>
          <a:p>
            <a:pPr algn="l" eaLnBrk="1" hangingPunct="1">
              <a:spcBef>
                <a:spcPct val="50000"/>
              </a:spcBef>
              <a:buFontTx/>
              <a:buAutoNum type="arabicParenR"/>
            </a:pPr>
            <a:r>
              <a:rPr lang="en-GB" dirty="0">
                <a:cs typeface="Arial" charset="0"/>
              </a:rPr>
              <a:t>Calculate the number of moles in 27g of water</a:t>
            </a:r>
          </a:p>
        </p:txBody>
      </p:sp>
      <p:sp>
        <p:nvSpPr>
          <p:cNvPr id="16" name="TextBox 15"/>
          <p:cNvSpPr txBox="1"/>
          <p:nvPr/>
        </p:nvSpPr>
        <p:spPr>
          <a:xfrm>
            <a:off x="7668344" y="3604954"/>
            <a:ext cx="1475655" cy="400110"/>
          </a:xfrm>
          <a:prstGeom prst="rect">
            <a:avLst/>
          </a:prstGeom>
          <a:solidFill>
            <a:srgbClr val="C00000"/>
          </a:solidFill>
        </p:spPr>
        <p:txBody>
          <a:bodyPr wrap="square" rtlCol="0">
            <a:spAutoFit/>
          </a:bodyPr>
          <a:lstStyle/>
          <a:p>
            <a:pPr algn="ctr"/>
            <a:r>
              <a:rPr lang="en-GB" sz="2000" dirty="0"/>
              <a:t>28g</a:t>
            </a:r>
          </a:p>
        </p:txBody>
      </p:sp>
      <p:sp>
        <p:nvSpPr>
          <p:cNvPr id="17" name="TextBox 16"/>
          <p:cNvSpPr txBox="1"/>
          <p:nvPr/>
        </p:nvSpPr>
        <p:spPr>
          <a:xfrm>
            <a:off x="7668344" y="4149080"/>
            <a:ext cx="1475655" cy="400110"/>
          </a:xfrm>
          <a:prstGeom prst="rect">
            <a:avLst/>
          </a:prstGeom>
          <a:solidFill>
            <a:srgbClr val="C00000"/>
          </a:solidFill>
        </p:spPr>
        <p:txBody>
          <a:bodyPr wrap="square" rtlCol="0">
            <a:spAutoFit/>
          </a:bodyPr>
          <a:lstStyle/>
          <a:p>
            <a:pPr algn="ctr"/>
            <a:r>
              <a:rPr lang="en-GB" sz="2000" dirty="0"/>
              <a:t>46g</a:t>
            </a:r>
          </a:p>
        </p:txBody>
      </p:sp>
      <p:sp>
        <p:nvSpPr>
          <p:cNvPr id="18" name="TextBox 17"/>
          <p:cNvSpPr txBox="1"/>
          <p:nvPr/>
        </p:nvSpPr>
        <p:spPr>
          <a:xfrm>
            <a:off x="7668344" y="4725144"/>
            <a:ext cx="1475655" cy="400110"/>
          </a:xfrm>
          <a:prstGeom prst="rect">
            <a:avLst/>
          </a:prstGeom>
          <a:solidFill>
            <a:srgbClr val="C00000"/>
          </a:solidFill>
        </p:spPr>
        <p:txBody>
          <a:bodyPr wrap="square" rtlCol="0">
            <a:spAutoFit/>
          </a:bodyPr>
          <a:lstStyle/>
          <a:p>
            <a:pPr algn="ctr"/>
            <a:r>
              <a:rPr lang="en-GB" sz="2000" dirty="0"/>
              <a:t>3 </a:t>
            </a:r>
            <a:r>
              <a:rPr lang="en-GB" sz="2000" dirty="0" err="1"/>
              <a:t>mol</a:t>
            </a:r>
            <a:endParaRPr lang="en-GB" sz="2000" dirty="0"/>
          </a:p>
        </p:txBody>
      </p:sp>
      <p:sp>
        <p:nvSpPr>
          <p:cNvPr id="19" name="TextBox 18"/>
          <p:cNvSpPr txBox="1"/>
          <p:nvPr/>
        </p:nvSpPr>
        <p:spPr>
          <a:xfrm>
            <a:off x="7668344" y="6197242"/>
            <a:ext cx="1475655" cy="400110"/>
          </a:xfrm>
          <a:prstGeom prst="rect">
            <a:avLst/>
          </a:prstGeom>
          <a:solidFill>
            <a:srgbClr val="C00000"/>
          </a:solidFill>
        </p:spPr>
        <p:txBody>
          <a:bodyPr wrap="square" rtlCol="0">
            <a:spAutoFit/>
          </a:bodyPr>
          <a:lstStyle/>
          <a:p>
            <a:pPr algn="ctr"/>
            <a:r>
              <a:rPr lang="en-GB" sz="2000" dirty="0"/>
              <a:t>1.5 </a:t>
            </a:r>
            <a:r>
              <a:rPr lang="en-GB" sz="2000" dirty="0" err="1"/>
              <a:t>mol</a:t>
            </a:r>
            <a:endParaRPr lang="en-GB" sz="2000" dirty="0"/>
          </a:p>
        </p:txBody>
      </p:sp>
      <p:sp>
        <p:nvSpPr>
          <p:cNvPr id="20" name="TextBox 19"/>
          <p:cNvSpPr txBox="1"/>
          <p:nvPr/>
        </p:nvSpPr>
        <p:spPr>
          <a:xfrm>
            <a:off x="7668344" y="5301208"/>
            <a:ext cx="1475655" cy="400110"/>
          </a:xfrm>
          <a:prstGeom prst="rect">
            <a:avLst/>
          </a:prstGeom>
          <a:solidFill>
            <a:srgbClr val="C00000"/>
          </a:solidFill>
        </p:spPr>
        <p:txBody>
          <a:bodyPr wrap="square" rtlCol="0">
            <a:spAutoFit/>
          </a:bodyPr>
          <a:lstStyle/>
          <a:p>
            <a:pPr algn="ctr"/>
            <a:r>
              <a:rPr lang="en-GB" sz="2000" dirty="0"/>
              <a:t>2 </a:t>
            </a:r>
            <a:r>
              <a:rPr lang="en-GB" sz="2000" dirty="0" err="1"/>
              <a:t>mol</a:t>
            </a:r>
            <a:endParaRPr lang="en-GB" sz="2000" dirty="0"/>
          </a:p>
        </p:txBody>
      </p:sp>
    </p:spTree>
    <p:extLst>
      <p:ext uri="{BB962C8B-B14F-4D97-AF65-F5344CB8AC3E}">
        <p14:creationId xmlns:p14="http://schemas.microsoft.com/office/powerpoint/2010/main" val="34634166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0163"/>
                                        </p:tgtEl>
                                        <p:attrNameLst>
                                          <p:attrName>style.visibility</p:attrName>
                                        </p:attrNameLst>
                                      </p:cBhvr>
                                      <p:to>
                                        <p:strVal val="visible"/>
                                      </p:to>
                                    </p:set>
                                    <p:animEffect transition="in" filter="wipe(left)">
                                      <p:cBhvr>
                                        <p:cTn id="7" dur="500"/>
                                        <p:tgtEl>
                                          <p:spTgt spid="2201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20174"/>
                                        </p:tgtEl>
                                        <p:attrNameLst>
                                          <p:attrName>style.visibility</p:attrName>
                                        </p:attrNameLst>
                                      </p:cBhvr>
                                      <p:to>
                                        <p:strVal val="visible"/>
                                      </p:to>
                                    </p:set>
                                    <p:animEffect transition="in" filter="wipe(up)">
                                      <p:cBhvr>
                                        <p:cTn id="12" dur="500"/>
                                        <p:tgtEl>
                                          <p:spTgt spid="2201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left)">
                                      <p:cBhvr>
                                        <p:cTn id="3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74" grpId="0"/>
      <p:bldP spid="16" grpId="0" animBg="1"/>
      <p:bldP spid="17" grpId="0" animBg="1"/>
      <p:bldP spid="18" grpId="0" animBg="1"/>
      <p:bldP spid="19" grpId="0" animBg="1"/>
      <p:bldP spid="20"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Date Placeholder 3"/>
          <p:cNvSpPr>
            <a:spLocks noGrp="1"/>
          </p:cNvSpPr>
          <p:nvPr>
            <p:ph type="dt" sz="quarter" idx="10"/>
          </p:nvPr>
        </p:nvSpPr>
        <p:spPr>
          <a:noFill/>
        </p:spPr>
        <p:txBody>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eaLnBrk="1" hangingPunct="1"/>
            <a:fld id="{62B7A80A-5DB7-4F3D-BC9E-D85F98F24035}" type="datetime1">
              <a:rPr lang="en-GB" sz="1800" smtClean="0">
                <a:solidFill>
                  <a:schemeClr val="folHlink"/>
                </a:solidFill>
              </a:rPr>
              <a:pPr eaLnBrk="1" hangingPunct="1"/>
              <a:t>02/06/2020</a:t>
            </a:fld>
            <a:endParaRPr lang="en-GB" sz="1800">
              <a:solidFill>
                <a:schemeClr val="folHlink"/>
              </a:solidFill>
            </a:endParaRPr>
          </a:p>
        </p:txBody>
      </p:sp>
      <p:sp>
        <p:nvSpPr>
          <p:cNvPr id="220162" name="Rectangle 2"/>
          <p:cNvSpPr>
            <a:spLocks noGrp="1" noChangeArrowheads="1"/>
          </p:cNvSpPr>
          <p:nvPr>
            <p:ph type="title"/>
          </p:nvPr>
        </p:nvSpPr>
        <p:spPr/>
        <p:txBody>
          <a:bodyPr/>
          <a:lstStyle/>
          <a:p>
            <a:pPr eaLnBrk="1" hangingPunct="1">
              <a:defRPr/>
            </a:pPr>
            <a:r>
              <a:rPr lang="en-GB" sz="4000" dirty="0"/>
              <a:t>Harder Molar Calculations (HT only)</a:t>
            </a:r>
          </a:p>
        </p:txBody>
      </p:sp>
      <p:grpSp>
        <p:nvGrpSpPr>
          <p:cNvPr id="220163" name="Group 3"/>
          <p:cNvGrpSpPr>
            <a:grpSpLocks/>
          </p:cNvGrpSpPr>
          <p:nvPr/>
        </p:nvGrpSpPr>
        <p:grpSpPr bwMode="auto">
          <a:xfrm>
            <a:off x="0" y="1125538"/>
            <a:ext cx="9144000" cy="1439862"/>
            <a:chOff x="0" y="709"/>
            <a:chExt cx="5760" cy="907"/>
          </a:xfrm>
        </p:grpSpPr>
        <p:sp>
          <p:nvSpPr>
            <p:cNvPr id="6150" name="Rectangle 4"/>
            <p:cNvSpPr>
              <a:spLocks noChangeArrowheads="1"/>
            </p:cNvSpPr>
            <p:nvPr/>
          </p:nvSpPr>
          <p:spPr bwMode="auto">
            <a:xfrm>
              <a:off x="0" y="709"/>
              <a:ext cx="5760" cy="907"/>
            </a:xfrm>
            <a:prstGeom prst="rect">
              <a:avLst/>
            </a:prstGeom>
            <a:solidFill>
              <a:srgbClr val="000080"/>
            </a:solidFill>
            <a:ln>
              <a:noFill/>
            </a:ln>
            <a:effectLst/>
            <a:extLs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1" name="Text Box 5"/>
            <p:cNvSpPr txBox="1">
              <a:spLocks noChangeArrowheads="1"/>
            </p:cNvSpPr>
            <p:nvPr/>
          </p:nvSpPr>
          <p:spPr bwMode="auto">
            <a:xfrm>
              <a:off x="22" y="845"/>
              <a:ext cx="154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algn="l" eaLnBrk="1" hangingPunct="1">
                <a:spcBef>
                  <a:spcPct val="50000"/>
                </a:spcBef>
              </a:pPr>
              <a:r>
                <a:rPr lang="en-GB" dirty="0">
                  <a:solidFill>
                    <a:srgbClr val="FF99FF"/>
                  </a:solidFill>
                  <a:cs typeface="Arial" charset="0"/>
                </a:rPr>
                <a:t>No. of moles</a:t>
              </a:r>
              <a:r>
                <a:rPr lang="en-GB" dirty="0">
                  <a:cs typeface="Arial" charset="0"/>
                </a:rPr>
                <a:t> = </a:t>
              </a:r>
            </a:p>
          </p:txBody>
        </p:sp>
        <p:sp>
          <p:nvSpPr>
            <p:cNvPr id="6152" name="Text Box 6"/>
            <p:cNvSpPr txBox="1">
              <a:spLocks noChangeArrowheads="1"/>
            </p:cNvSpPr>
            <p:nvPr/>
          </p:nvSpPr>
          <p:spPr bwMode="auto">
            <a:xfrm>
              <a:off x="1384" y="800"/>
              <a:ext cx="14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dirty="0">
                  <a:solidFill>
                    <a:srgbClr val="FFFF66"/>
                  </a:solidFill>
                  <a:cs typeface="Arial" charset="0"/>
                </a:rPr>
                <a:t>   Mass (g)</a:t>
              </a:r>
            </a:p>
          </p:txBody>
        </p:sp>
        <p:sp>
          <p:nvSpPr>
            <p:cNvPr id="6153" name="Text Box 7"/>
            <p:cNvSpPr txBox="1">
              <a:spLocks noChangeArrowheads="1"/>
            </p:cNvSpPr>
            <p:nvPr/>
          </p:nvSpPr>
          <p:spPr bwMode="auto">
            <a:xfrm>
              <a:off x="1202" y="1163"/>
              <a:ext cx="18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a:solidFill>
                    <a:srgbClr val="99FFCC"/>
                  </a:solidFill>
                  <a:cs typeface="Arial" charset="0"/>
                </a:rPr>
                <a:t>Molar mass (g/mol)</a:t>
              </a:r>
            </a:p>
          </p:txBody>
        </p:sp>
        <p:sp>
          <p:nvSpPr>
            <p:cNvPr id="6154" name="Line 8"/>
            <p:cNvSpPr>
              <a:spLocks noChangeShapeType="1"/>
            </p:cNvSpPr>
            <p:nvPr/>
          </p:nvSpPr>
          <p:spPr bwMode="auto">
            <a:xfrm>
              <a:off x="1474" y="1117"/>
              <a:ext cx="1180" cy="0"/>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nvGrpSpPr>
            <p:cNvPr id="6155" name="Group 9"/>
            <p:cNvGrpSpPr>
              <a:grpSpLocks/>
            </p:cNvGrpSpPr>
            <p:nvPr/>
          </p:nvGrpSpPr>
          <p:grpSpPr bwMode="auto">
            <a:xfrm>
              <a:off x="3379" y="800"/>
              <a:ext cx="840" cy="651"/>
              <a:chOff x="2925" y="754"/>
              <a:chExt cx="840" cy="651"/>
            </a:xfrm>
          </p:grpSpPr>
          <p:sp>
            <p:nvSpPr>
              <p:cNvPr id="6156" name="Text Box 10"/>
              <p:cNvSpPr txBox="1">
                <a:spLocks noChangeArrowheads="1"/>
              </p:cNvSpPr>
              <p:nvPr/>
            </p:nvSpPr>
            <p:spPr bwMode="auto">
              <a:xfrm>
                <a:off x="2925" y="799"/>
                <a:ext cx="52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algn="l" eaLnBrk="1" hangingPunct="1">
                  <a:spcBef>
                    <a:spcPct val="50000"/>
                  </a:spcBef>
                </a:pPr>
                <a:r>
                  <a:rPr lang="en-GB">
                    <a:solidFill>
                      <a:srgbClr val="FF99FF"/>
                    </a:solidFill>
                    <a:cs typeface="Arial" charset="0"/>
                  </a:rPr>
                  <a:t>N</a:t>
                </a:r>
                <a:r>
                  <a:rPr lang="en-GB">
                    <a:cs typeface="Arial" charset="0"/>
                  </a:rPr>
                  <a:t> = </a:t>
                </a:r>
              </a:p>
            </p:txBody>
          </p:sp>
          <p:sp>
            <p:nvSpPr>
              <p:cNvPr id="6157" name="Text Box 11"/>
              <p:cNvSpPr txBox="1">
                <a:spLocks noChangeArrowheads="1"/>
              </p:cNvSpPr>
              <p:nvPr/>
            </p:nvSpPr>
            <p:spPr bwMode="auto">
              <a:xfrm>
                <a:off x="3220" y="754"/>
                <a:ext cx="44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dirty="0">
                    <a:solidFill>
                      <a:srgbClr val="FFFF66"/>
                    </a:solidFill>
                    <a:cs typeface="Arial" charset="0"/>
                  </a:rPr>
                  <a:t> m</a:t>
                </a:r>
              </a:p>
            </p:txBody>
          </p:sp>
          <p:sp>
            <p:nvSpPr>
              <p:cNvPr id="6158" name="Text Box 12"/>
              <p:cNvSpPr txBox="1">
                <a:spLocks noChangeArrowheads="1"/>
              </p:cNvSpPr>
              <p:nvPr/>
            </p:nvSpPr>
            <p:spPr bwMode="auto">
              <a:xfrm>
                <a:off x="3197" y="1117"/>
                <a:ext cx="5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dirty="0">
                    <a:solidFill>
                      <a:srgbClr val="99FFCC"/>
                    </a:solidFill>
                    <a:cs typeface="Arial" charset="0"/>
                  </a:rPr>
                  <a:t> M</a:t>
                </a:r>
              </a:p>
            </p:txBody>
          </p:sp>
          <p:sp>
            <p:nvSpPr>
              <p:cNvPr id="6159" name="Line 13"/>
              <p:cNvSpPr>
                <a:spLocks noChangeShapeType="1"/>
              </p:cNvSpPr>
              <p:nvPr/>
            </p:nvSpPr>
            <p:spPr bwMode="auto">
              <a:xfrm>
                <a:off x="3310" y="1071"/>
                <a:ext cx="250" cy="0"/>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sp>
        <p:nvSpPr>
          <p:cNvPr id="220174" name="Text Box 14"/>
          <p:cNvSpPr txBox="1">
            <a:spLocks noChangeArrowheads="1"/>
          </p:cNvSpPr>
          <p:nvPr/>
        </p:nvSpPr>
        <p:spPr bwMode="auto">
          <a:xfrm>
            <a:off x="1" y="2852936"/>
            <a:ext cx="5436096" cy="36009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algn="l" eaLnBrk="1" hangingPunct="1">
              <a:spcBef>
                <a:spcPct val="50000"/>
              </a:spcBef>
            </a:pPr>
            <a:r>
              <a:rPr lang="en-GB" dirty="0">
                <a:solidFill>
                  <a:srgbClr val="99FFCC"/>
                </a:solidFill>
                <a:cs typeface="Arial" charset="0"/>
              </a:rPr>
              <a:t>Some example questions:</a:t>
            </a:r>
          </a:p>
          <a:p>
            <a:pPr algn="l" eaLnBrk="1" hangingPunct="1">
              <a:spcBef>
                <a:spcPct val="50000"/>
              </a:spcBef>
              <a:buFontTx/>
              <a:buAutoNum type="arabicParenR"/>
            </a:pPr>
            <a:r>
              <a:rPr lang="en-GB" dirty="0">
                <a:cs typeface="Arial" charset="0"/>
              </a:rPr>
              <a:t>How many moles and how many molecules would be in 46g of sodium?</a:t>
            </a:r>
          </a:p>
          <a:p>
            <a:pPr algn="l" eaLnBrk="1" hangingPunct="1">
              <a:spcBef>
                <a:spcPct val="50000"/>
              </a:spcBef>
              <a:buFontTx/>
              <a:buAutoNum type="arabicParenR"/>
            </a:pPr>
            <a:r>
              <a:rPr lang="en-GB" dirty="0">
                <a:solidFill>
                  <a:srgbClr val="99FFCC"/>
                </a:solidFill>
                <a:cs typeface="Arial" charset="0"/>
              </a:rPr>
              <a:t>How many grams would 1.806x10</a:t>
            </a:r>
            <a:r>
              <a:rPr lang="en-GB" baseline="30000" dirty="0">
                <a:solidFill>
                  <a:srgbClr val="99FFCC"/>
                </a:solidFill>
                <a:cs typeface="Arial" charset="0"/>
              </a:rPr>
              <a:t>24</a:t>
            </a:r>
            <a:r>
              <a:rPr lang="en-GB" dirty="0">
                <a:solidFill>
                  <a:srgbClr val="99FFCC"/>
                </a:solidFill>
                <a:cs typeface="Arial" charset="0"/>
              </a:rPr>
              <a:t> molecules of carbon weigh?</a:t>
            </a:r>
          </a:p>
          <a:p>
            <a:pPr algn="l" eaLnBrk="1" hangingPunct="1">
              <a:spcBef>
                <a:spcPct val="50000"/>
              </a:spcBef>
              <a:buFontTx/>
              <a:buAutoNum type="arabicParenR"/>
            </a:pPr>
            <a:r>
              <a:rPr lang="en-GB" dirty="0">
                <a:cs typeface="Arial" charset="0"/>
              </a:rPr>
              <a:t>How many grams would 1 millions molecules of hydrogen weigh?</a:t>
            </a:r>
          </a:p>
        </p:txBody>
      </p:sp>
      <p:sp>
        <p:nvSpPr>
          <p:cNvPr id="16" name="TextBox 15"/>
          <p:cNvSpPr txBox="1"/>
          <p:nvPr/>
        </p:nvSpPr>
        <p:spPr>
          <a:xfrm>
            <a:off x="5580064" y="3580605"/>
            <a:ext cx="3563936" cy="400110"/>
          </a:xfrm>
          <a:prstGeom prst="rect">
            <a:avLst/>
          </a:prstGeom>
          <a:solidFill>
            <a:srgbClr val="C00000"/>
          </a:solidFill>
        </p:spPr>
        <p:txBody>
          <a:bodyPr wrap="square" rtlCol="0">
            <a:spAutoFit/>
          </a:bodyPr>
          <a:lstStyle/>
          <a:p>
            <a:pPr algn="ctr"/>
            <a:r>
              <a:rPr lang="en-GB" sz="2000" dirty="0"/>
              <a:t>2 moles, 1.2x10</a:t>
            </a:r>
            <a:r>
              <a:rPr lang="en-GB" sz="2000" baseline="30000" dirty="0"/>
              <a:t>24</a:t>
            </a:r>
            <a:r>
              <a:rPr lang="en-GB" sz="2000" dirty="0"/>
              <a:t> molecules</a:t>
            </a:r>
          </a:p>
        </p:txBody>
      </p:sp>
      <p:sp>
        <p:nvSpPr>
          <p:cNvPr id="17" name="TextBox 16"/>
          <p:cNvSpPr txBox="1"/>
          <p:nvPr/>
        </p:nvSpPr>
        <p:spPr>
          <a:xfrm>
            <a:off x="5580064" y="4772877"/>
            <a:ext cx="3563936" cy="400110"/>
          </a:xfrm>
          <a:prstGeom prst="rect">
            <a:avLst/>
          </a:prstGeom>
          <a:solidFill>
            <a:srgbClr val="C00000"/>
          </a:solidFill>
        </p:spPr>
        <p:txBody>
          <a:bodyPr wrap="square" rtlCol="0">
            <a:spAutoFit/>
          </a:bodyPr>
          <a:lstStyle/>
          <a:p>
            <a:pPr algn="ctr"/>
            <a:r>
              <a:rPr lang="en-GB" sz="2000" dirty="0"/>
              <a:t>36g</a:t>
            </a:r>
          </a:p>
        </p:txBody>
      </p:sp>
      <p:sp>
        <p:nvSpPr>
          <p:cNvPr id="18" name="TextBox 17"/>
          <p:cNvSpPr txBox="1"/>
          <p:nvPr/>
        </p:nvSpPr>
        <p:spPr>
          <a:xfrm>
            <a:off x="5580064" y="5805586"/>
            <a:ext cx="3563936" cy="400110"/>
          </a:xfrm>
          <a:prstGeom prst="rect">
            <a:avLst/>
          </a:prstGeom>
          <a:solidFill>
            <a:srgbClr val="C00000"/>
          </a:solidFill>
        </p:spPr>
        <p:txBody>
          <a:bodyPr wrap="square" rtlCol="0">
            <a:spAutoFit/>
          </a:bodyPr>
          <a:lstStyle/>
          <a:p>
            <a:pPr algn="ctr"/>
            <a:r>
              <a:rPr lang="en-GB" sz="2000" dirty="0"/>
              <a:t>1.66x10-</a:t>
            </a:r>
            <a:r>
              <a:rPr lang="en-GB" sz="2000" baseline="30000" dirty="0"/>
              <a:t>18</a:t>
            </a:r>
            <a:r>
              <a:rPr lang="en-GB" sz="2000" dirty="0"/>
              <a:t>g</a:t>
            </a:r>
          </a:p>
        </p:txBody>
      </p:sp>
      <p:sp>
        <p:nvSpPr>
          <p:cNvPr id="2" name="TextBox 1"/>
          <p:cNvSpPr txBox="1"/>
          <p:nvPr/>
        </p:nvSpPr>
        <p:spPr>
          <a:xfrm>
            <a:off x="7150119" y="1198472"/>
            <a:ext cx="1804165" cy="1200329"/>
          </a:xfrm>
          <a:prstGeom prst="rect">
            <a:avLst/>
          </a:prstGeom>
          <a:noFill/>
        </p:spPr>
        <p:txBody>
          <a:bodyPr wrap="square" rtlCol="0">
            <a:spAutoFit/>
          </a:bodyPr>
          <a:lstStyle/>
          <a:p>
            <a:pPr algn="ctr"/>
            <a:r>
              <a:rPr lang="cy-GB" dirty="0">
                <a:solidFill>
                  <a:srgbClr val="FFFF99"/>
                </a:solidFill>
              </a:rPr>
              <a:t>1 mole = 6.02x10</a:t>
            </a:r>
            <a:r>
              <a:rPr lang="cy-GB" baseline="30000" dirty="0">
                <a:solidFill>
                  <a:srgbClr val="FFFF99"/>
                </a:solidFill>
              </a:rPr>
              <a:t>23</a:t>
            </a:r>
            <a:r>
              <a:rPr lang="cy-GB" dirty="0">
                <a:solidFill>
                  <a:srgbClr val="FFFF99"/>
                </a:solidFill>
              </a:rPr>
              <a:t> molecules</a:t>
            </a:r>
            <a:endParaRPr lang="en-GB" dirty="0">
              <a:solidFill>
                <a:srgbClr val="FFFF99"/>
              </a:solidFill>
            </a:endParaRPr>
          </a:p>
        </p:txBody>
      </p:sp>
    </p:spTree>
    <p:extLst>
      <p:ext uri="{BB962C8B-B14F-4D97-AF65-F5344CB8AC3E}">
        <p14:creationId xmlns:p14="http://schemas.microsoft.com/office/powerpoint/2010/main" val="30990311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20174"/>
                                        </p:tgtEl>
                                        <p:attrNameLst>
                                          <p:attrName>style.visibility</p:attrName>
                                        </p:attrNameLst>
                                      </p:cBhvr>
                                      <p:to>
                                        <p:strVal val="visible"/>
                                      </p:to>
                                    </p:set>
                                    <p:animEffect transition="in" filter="wipe(up)">
                                      <p:cBhvr>
                                        <p:cTn id="7" dur="500"/>
                                        <p:tgtEl>
                                          <p:spTgt spid="2201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74" grpId="0"/>
      <p:bldP spid="16" grpId="0" animBg="1"/>
      <p:bldP spid="17" grpId="0" animBg="1"/>
      <p:bldP spid="18"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Date Placeholder 3"/>
          <p:cNvSpPr>
            <a:spLocks noGrp="1"/>
          </p:cNvSpPr>
          <p:nvPr>
            <p:ph type="dt" sz="quarter" idx="10"/>
          </p:nvPr>
        </p:nvSpPr>
        <p:spPr>
          <a:noFill/>
        </p:spPr>
        <p:txBody>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eaLnBrk="1" hangingPunct="1"/>
            <a:fld id="{BB889940-99FB-49FB-BFA6-730FC1FB5524}" type="datetime1">
              <a:rPr lang="en-GB" sz="1800" smtClean="0">
                <a:solidFill>
                  <a:schemeClr val="folHlink"/>
                </a:solidFill>
              </a:rPr>
              <a:pPr eaLnBrk="1" hangingPunct="1"/>
              <a:t>02/06/2020</a:t>
            </a:fld>
            <a:endParaRPr lang="en-GB" sz="1800">
              <a:solidFill>
                <a:schemeClr val="folHlink"/>
              </a:solidFill>
            </a:endParaRPr>
          </a:p>
        </p:txBody>
      </p:sp>
      <p:sp>
        <p:nvSpPr>
          <p:cNvPr id="240642" name="Rectangle 2"/>
          <p:cNvSpPr>
            <a:spLocks noGrp="1" noChangeArrowheads="1"/>
          </p:cNvSpPr>
          <p:nvPr>
            <p:ph type="title"/>
          </p:nvPr>
        </p:nvSpPr>
        <p:spPr/>
        <p:txBody>
          <a:bodyPr/>
          <a:lstStyle/>
          <a:p>
            <a:pPr eaLnBrk="1" hangingPunct="1">
              <a:defRPr/>
            </a:pPr>
            <a:r>
              <a:rPr lang="en-GB"/>
              <a:t>Concentration</a:t>
            </a:r>
          </a:p>
        </p:txBody>
      </p:sp>
      <p:sp>
        <p:nvSpPr>
          <p:cNvPr id="240644" name="Text Box 4"/>
          <p:cNvSpPr txBox="1">
            <a:spLocks noChangeArrowheads="1"/>
          </p:cNvSpPr>
          <p:nvPr/>
        </p:nvSpPr>
        <p:spPr bwMode="auto">
          <a:xfrm>
            <a:off x="0" y="762000"/>
            <a:ext cx="9144000" cy="8223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algn="l" eaLnBrk="1" hangingPunct="1">
              <a:spcBef>
                <a:spcPct val="50000"/>
              </a:spcBef>
            </a:pPr>
            <a:r>
              <a:rPr lang="en-GB" dirty="0">
                <a:solidFill>
                  <a:srgbClr val="CCFFCC"/>
                </a:solidFill>
              </a:rPr>
              <a:t>Concentration means “how much of a chemical there is in a fixed volume” and can be measured in g/dm</a:t>
            </a:r>
            <a:r>
              <a:rPr lang="en-GB" baseline="30000" dirty="0">
                <a:solidFill>
                  <a:srgbClr val="CCFFCC"/>
                </a:solidFill>
              </a:rPr>
              <a:t>3</a:t>
            </a:r>
            <a:r>
              <a:rPr lang="en-GB" dirty="0">
                <a:solidFill>
                  <a:srgbClr val="CCFFCC"/>
                </a:solidFill>
              </a:rPr>
              <a:t> or </a:t>
            </a:r>
            <a:r>
              <a:rPr lang="en-GB" dirty="0" err="1">
                <a:solidFill>
                  <a:srgbClr val="CCFFCC"/>
                </a:solidFill>
              </a:rPr>
              <a:t>mol</a:t>
            </a:r>
            <a:r>
              <a:rPr lang="en-GB" dirty="0">
                <a:solidFill>
                  <a:srgbClr val="CCFFCC"/>
                </a:solidFill>
              </a:rPr>
              <a:t>/dm</a:t>
            </a:r>
            <a:r>
              <a:rPr lang="en-GB" baseline="30000" dirty="0">
                <a:solidFill>
                  <a:srgbClr val="CCFFCC"/>
                </a:solidFill>
              </a:rPr>
              <a:t>3</a:t>
            </a:r>
            <a:r>
              <a:rPr lang="en-GB" dirty="0">
                <a:solidFill>
                  <a:srgbClr val="CCFFCC"/>
                </a:solidFill>
              </a:rPr>
              <a:t>.</a:t>
            </a:r>
          </a:p>
        </p:txBody>
      </p:sp>
      <p:grpSp>
        <p:nvGrpSpPr>
          <p:cNvPr id="240721" name="Group 81"/>
          <p:cNvGrpSpPr>
            <a:grpSpLocks/>
          </p:cNvGrpSpPr>
          <p:nvPr/>
        </p:nvGrpSpPr>
        <p:grpSpPr bwMode="auto">
          <a:xfrm>
            <a:off x="490538" y="2252663"/>
            <a:ext cx="8075612" cy="4246562"/>
            <a:chOff x="309" y="1419"/>
            <a:chExt cx="5087" cy="2675"/>
          </a:xfrm>
        </p:grpSpPr>
        <p:sp>
          <p:nvSpPr>
            <p:cNvPr id="19534" name="Text Box 5"/>
            <p:cNvSpPr txBox="1">
              <a:spLocks noChangeArrowheads="1"/>
            </p:cNvSpPr>
            <p:nvPr/>
          </p:nvSpPr>
          <p:spPr bwMode="auto">
            <a:xfrm>
              <a:off x="309" y="1419"/>
              <a:ext cx="2365" cy="5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a:solidFill>
                    <a:srgbClr val="CCECFF"/>
                  </a:solidFill>
                </a:rPr>
                <a:t>A solution of low concentration (“dilute”)</a:t>
              </a:r>
            </a:p>
          </p:txBody>
        </p:sp>
        <p:sp>
          <p:nvSpPr>
            <p:cNvPr id="19535" name="Text Box 6"/>
            <p:cNvSpPr txBox="1">
              <a:spLocks noChangeArrowheads="1"/>
            </p:cNvSpPr>
            <p:nvPr/>
          </p:nvSpPr>
          <p:spPr bwMode="auto">
            <a:xfrm>
              <a:off x="3031" y="1419"/>
              <a:ext cx="2365" cy="5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a:solidFill>
                    <a:srgbClr val="FF99CC"/>
                  </a:solidFill>
                </a:rPr>
                <a:t>A solution of high concentration (“strong”)</a:t>
              </a:r>
            </a:p>
          </p:txBody>
        </p:sp>
        <p:sp>
          <p:nvSpPr>
            <p:cNvPr id="19536" name="Line 7"/>
            <p:cNvSpPr>
              <a:spLocks noChangeShapeType="1"/>
            </p:cNvSpPr>
            <p:nvPr/>
          </p:nvSpPr>
          <p:spPr bwMode="auto">
            <a:xfrm>
              <a:off x="2832" y="1419"/>
              <a:ext cx="0" cy="2675"/>
            </a:xfrm>
            <a:prstGeom prst="line">
              <a:avLst/>
            </a:prstGeom>
            <a:noFill/>
            <a:ln w="2540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40719" name="Group 79"/>
          <p:cNvGrpSpPr>
            <a:grpSpLocks/>
          </p:cNvGrpSpPr>
          <p:nvPr/>
        </p:nvGrpSpPr>
        <p:grpSpPr bwMode="auto">
          <a:xfrm>
            <a:off x="395288" y="3429000"/>
            <a:ext cx="3671887" cy="3095625"/>
            <a:chOff x="249" y="2160"/>
            <a:chExt cx="2313" cy="1950"/>
          </a:xfrm>
        </p:grpSpPr>
        <p:sp>
          <p:nvSpPr>
            <p:cNvPr id="19506" name="Oval 9"/>
            <p:cNvSpPr>
              <a:spLocks noChangeArrowheads="1"/>
            </p:cNvSpPr>
            <p:nvPr/>
          </p:nvSpPr>
          <p:spPr bwMode="auto">
            <a:xfrm>
              <a:off x="748" y="3657"/>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07" name="Oval 10"/>
            <p:cNvSpPr>
              <a:spLocks noChangeArrowheads="1"/>
            </p:cNvSpPr>
            <p:nvPr/>
          </p:nvSpPr>
          <p:spPr bwMode="auto">
            <a:xfrm>
              <a:off x="1428" y="3294"/>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08" name="Oval 11"/>
            <p:cNvSpPr>
              <a:spLocks noChangeArrowheads="1"/>
            </p:cNvSpPr>
            <p:nvPr/>
          </p:nvSpPr>
          <p:spPr bwMode="auto">
            <a:xfrm>
              <a:off x="1610" y="2568"/>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09" name="Oval 12"/>
            <p:cNvSpPr>
              <a:spLocks noChangeArrowheads="1"/>
            </p:cNvSpPr>
            <p:nvPr/>
          </p:nvSpPr>
          <p:spPr bwMode="auto">
            <a:xfrm>
              <a:off x="1973" y="3022"/>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10" name="Oval 13"/>
            <p:cNvSpPr>
              <a:spLocks noChangeArrowheads="1"/>
            </p:cNvSpPr>
            <p:nvPr/>
          </p:nvSpPr>
          <p:spPr bwMode="auto">
            <a:xfrm>
              <a:off x="1156" y="2886"/>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11" name="Oval 14"/>
            <p:cNvSpPr>
              <a:spLocks noChangeArrowheads="1"/>
            </p:cNvSpPr>
            <p:nvPr/>
          </p:nvSpPr>
          <p:spPr bwMode="auto">
            <a:xfrm>
              <a:off x="793" y="2296"/>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12" name="Oval 15"/>
            <p:cNvSpPr>
              <a:spLocks noChangeArrowheads="1"/>
            </p:cNvSpPr>
            <p:nvPr/>
          </p:nvSpPr>
          <p:spPr bwMode="auto">
            <a:xfrm>
              <a:off x="431" y="2931"/>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13" name="Oval 16"/>
            <p:cNvSpPr>
              <a:spLocks noChangeArrowheads="1"/>
            </p:cNvSpPr>
            <p:nvPr/>
          </p:nvSpPr>
          <p:spPr bwMode="auto">
            <a:xfrm>
              <a:off x="1111" y="3385"/>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14" name="Oval 17"/>
            <p:cNvSpPr>
              <a:spLocks noChangeArrowheads="1"/>
            </p:cNvSpPr>
            <p:nvPr/>
          </p:nvSpPr>
          <p:spPr bwMode="auto">
            <a:xfrm>
              <a:off x="1927" y="3884"/>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15" name="Oval 18"/>
            <p:cNvSpPr>
              <a:spLocks noChangeArrowheads="1"/>
            </p:cNvSpPr>
            <p:nvPr/>
          </p:nvSpPr>
          <p:spPr bwMode="auto">
            <a:xfrm>
              <a:off x="2336" y="3385"/>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16" name="Oval 19"/>
            <p:cNvSpPr>
              <a:spLocks noChangeArrowheads="1"/>
            </p:cNvSpPr>
            <p:nvPr/>
          </p:nvSpPr>
          <p:spPr bwMode="auto">
            <a:xfrm>
              <a:off x="2426" y="2795"/>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17" name="Oval 20"/>
            <p:cNvSpPr>
              <a:spLocks noChangeArrowheads="1"/>
            </p:cNvSpPr>
            <p:nvPr/>
          </p:nvSpPr>
          <p:spPr bwMode="auto">
            <a:xfrm>
              <a:off x="2018" y="2251"/>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18" name="Oval 21"/>
            <p:cNvSpPr>
              <a:spLocks noChangeArrowheads="1"/>
            </p:cNvSpPr>
            <p:nvPr/>
          </p:nvSpPr>
          <p:spPr bwMode="auto">
            <a:xfrm>
              <a:off x="2336" y="2160"/>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19" name="Oval 22"/>
            <p:cNvSpPr>
              <a:spLocks noChangeArrowheads="1"/>
            </p:cNvSpPr>
            <p:nvPr/>
          </p:nvSpPr>
          <p:spPr bwMode="auto">
            <a:xfrm>
              <a:off x="2200" y="2568"/>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20" name="Oval 23"/>
            <p:cNvSpPr>
              <a:spLocks noChangeArrowheads="1"/>
            </p:cNvSpPr>
            <p:nvPr/>
          </p:nvSpPr>
          <p:spPr bwMode="auto">
            <a:xfrm>
              <a:off x="1565" y="3022"/>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21" name="Oval 24"/>
            <p:cNvSpPr>
              <a:spLocks noChangeArrowheads="1"/>
            </p:cNvSpPr>
            <p:nvPr/>
          </p:nvSpPr>
          <p:spPr bwMode="auto">
            <a:xfrm>
              <a:off x="1247" y="2205"/>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22" name="Oval 25"/>
            <p:cNvSpPr>
              <a:spLocks noChangeArrowheads="1"/>
            </p:cNvSpPr>
            <p:nvPr/>
          </p:nvSpPr>
          <p:spPr bwMode="auto">
            <a:xfrm>
              <a:off x="884" y="2704"/>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23" name="Oval 26"/>
            <p:cNvSpPr>
              <a:spLocks noChangeArrowheads="1"/>
            </p:cNvSpPr>
            <p:nvPr/>
          </p:nvSpPr>
          <p:spPr bwMode="auto">
            <a:xfrm>
              <a:off x="249" y="2341"/>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24" name="Oval 27"/>
            <p:cNvSpPr>
              <a:spLocks noChangeArrowheads="1"/>
            </p:cNvSpPr>
            <p:nvPr/>
          </p:nvSpPr>
          <p:spPr bwMode="auto">
            <a:xfrm>
              <a:off x="249" y="3385"/>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25" name="Oval 28"/>
            <p:cNvSpPr>
              <a:spLocks noChangeArrowheads="1"/>
            </p:cNvSpPr>
            <p:nvPr/>
          </p:nvSpPr>
          <p:spPr bwMode="auto">
            <a:xfrm>
              <a:off x="748" y="3158"/>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26" name="Oval 29"/>
            <p:cNvSpPr>
              <a:spLocks noChangeArrowheads="1"/>
            </p:cNvSpPr>
            <p:nvPr/>
          </p:nvSpPr>
          <p:spPr bwMode="auto">
            <a:xfrm>
              <a:off x="294" y="3974"/>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27" name="Oval 30"/>
            <p:cNvSpPr>
              <a:spLocks noChangeArrowheads="1"/>
            </p:cNvSpPr>
            <p:nvPr/>
          </p:nvSpPr>
          <p:spPr bwMode="auto">
            <a:xfrm>
              <a:off x="1383" y="3838"/>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28" name="Oval 31"/>
            <p:cNvSpPr>
              <a:spLocks noChangeArrowheads="1"/>
            </p:cNvSpPr>
            <p:nvPr/>
          </p:nvSpPr>
          <p:spPr bwMode="auto">
            <a:xfrm>
              <a:off x="1837" y="3566"/>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29" name="Oval 32"/>
            <p:cNvSpPr>
              <a:spLocks noChangeArrowheads="1"/>
            </p:cNvSpPr>
            <p:nvPr/>
          </p:nvSpPr>
          <p:spPr bwMode="auto">
            <a:xfrm>
              <a:off x="1791" y="3249"/>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30" name="Oval 33"/>
            <p:cNvSpPr>
              <a:spLocks noChangeArrowheads="1"/>
            </p:cNvSpPr>
            <p:nvPr/>
          </p:nvSpPr>
          <p:spPr bwMode="auto">
            <a:xfrm>
              <a:off x="1338" y="2568"/>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31" name="Oval 34"/>
            <p:cNvSpPr>
              <a:spLocks noChangeArrowheads="1"/>
            </p:cNvSpPr>
            <p:nvPr/>
          </p:nvSpPr>
          <p:spPr bwMode="auto">
            <a:xfrm>
              <a:off x="521" y="2568"/>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32" name="Oval 35"/>
            <p:cNvSpPr>
              <a:spLocks noChangeArrowheads="1"/>
            </p:cNvSpPr>
            <p:nvPr/>
          </p:nvSpPr>
          <p:spPr bwMode="auto">
            <a:xfrm>
              <a:off x="884" y="3929"/>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33" name="Oval 36"/>
            <p:cNvSpPr>
              <a:spLocks noChangeArrowheads="1"/>
            </p:cNvSpPr>
            <p:nvPr/>
          </p:nvSpPr>
          <p:spPr bwMode="auto">
            <a:xfrm>
              <a:off x="1882" y="2704"/>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40720" name="Group 80"/>
          <p:cNvGrpSpPr>
            <a:grpSpLocks/>
          </p:cNvGrpSpPr>
          <p:nvPr/>
        </p:nvGrpSpPr>
        <p:grpSpPr bwMode="auto">
          <a:xfrm>
            <a:off x="4716463" y="3357563"/>
            <a:ext cx="4176712" cy="3500437"/>
            <a:chOff x="2971" y="2115"/>
            <a:chExt cx="2631" cy="2205"/>
          </a:xfrm>
        </p:grpSpPr>
        <p:sp>
          <p:nvSpPr>
            <p:cNvPr id="19464" name="Oval 37"/>
            <p:cNvSpPr>
              <a:spLocks noChangeArrowheads="1"/>
            </p:cNvSpPr>
            <p:nvPr/>
          </p:nvSpPr>
          <p:spPr bwMode="auto">
            <a:xfrm>
              <a:off x="3016" y="2160"/>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65" name="Oval 38"/>
            <p:cNvSpPr>
              <a:spLocks noChangeArrowheads="1"/>
            </p:cNvSpPr>
            <p:nvPr/>
          </p:nvSpPr>
          <p:spPr bwMode="auto">
            <a:xfrm>
              <a:off x="3470" y="2523"/>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66" name="Oval 39"/>
            <p:cNvSpPr>
              <a:spLocks noChangeArrowheads="1"/>
            </p:cNvSpPr>
            <p:nvPr/>
          </p:nvSpPr>
          <p:spPr bwMode="auto">
            <a:xfrm>
              <a:off x="4059" y="2387"/>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67" name="Oval 40"/>
            <p:cNvSpPr>
              <a:spLocks noChangeArrowheads="1"/>
            </p:cNvSpPr>
            <p:nvPr/>
          </p:nvSpPr>
          <p:spPr bwMode="auto">
            <a:xfrm>
              <a:off x="5148" y="3521"/>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68" name="Oval 41"/>
            <p:cNvSpPr>
              <a:spLocks noChangeArrowheads="1"/>
            </p:cNvSpPr>
            <p:nvPr/>
          </p:nvSpPr>
          <p:spPr bwMode="auto">
            <a:xfrm>
              <a:off x="3288" y="3294"/>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69" name="Oval 42"/>
            <p:cNvSpPr>
              <a:spLocks noChangeArrowheads="1"/>
            </p:cNvSpPr>
            <p:nvPr/>
          </p:nvSpPr>
          <p:spPr bwMode="auto">
            <a:xfrm>
              <a:off x="4014" y="3612"/>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70" name="Oval 43"/>
            <p:cNvSpPr>
              <a:spLocks noChangeArrowheads="1"/>
            </p:cNvSpPr>
            <p:nvPr/>
          </p:nvSpPr>
          <p:spPr bwMode="auto">
            <a:xfrm>
              <a:off x="4513" y="3067"/>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71" name="Oval 44"/>
            <p:cNvSpPr>
              <a:spLocks noChangeArrowheads="1"/>
            </p:cNvSpPr>
            <p:nvPr/>
          </p:nvSpPr>
          <p:spPr bwMode="auto">
            <a:xfrm>
              <a:off x="4830" y="2387"/>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72" name="Oval 45"/>
            <p:cNvSpPr>
              <a:spLocks noChangeArrowheads="1"/>
            </p:cNvSpPr>
            <p:nvPr/>
          </p:nvSpPr>
          <p:spPr bwMode="auto">
            <a:xfrm>
              <a:off x="5375" y="2886"/>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73" name="Oval 46"/>
            <p:cNvSpPr>
              <a:spLocks noChangeArrowheads="1"/>
            </p:cNvSpPr>
            <p:nvPr/>
          </p:nvSpPr>
          <p:spPr bwMode="auto">
            <a:xfrm>
              <a:off x="5466" y="2160"/>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74" name="Oval 47"/>
            <p:cNvSpPr>
              <a:spLocks noChangeArrowheads="1"/>
            </p:cNvSpPr>
            <p:nvPr/>
          </p:nvSpPr>
          <p:spPr bwMode="auto">
            <a:xfrm>
              <a:off x="3833" y="2976"/>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75" name="Oval 48"/>
            <p:cNvSpPr>
              <a:spLocks noChangeArrowheads="1"/>
            </p:cNvSpPr>
            <p:nvPr/>
          </p:nvSpPr>
          <p:spPr bwMode="auto">
            <a:xfrm>
              <a:off x="3288" y="3793"/>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76" name="Oval 49"/>
            <p:cNvSpPr>
              <a:spLocks noChangeArrowheads="1"/>
            </p:cNvSpPr>
            <p:nvPr/>
          </p:nvSpPr>
          <p:spPr bwMode="auto">
            <a:xfrm>
              <a:off x="4649" y="3884"/>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77" name="Oval 50"/>
            <p:cNvSpPr>
              <a:spLocks noChangeArrowheads="1"/>
            </p:cNvSpPr>
            <p:nvPr/>
          </p:nvSpPr>
          <p:spPr bwMode="auto">
            <a:xfrm>
              <a:off x="4967" y="2931"/>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78" name="Oval 51"/>
            <p:cNvSpPr>
              <a:spLocks noChangeArrowheads="1"/>
            </p:cNvSpPr>
            <p:nvPr/>
          </p:nvSpPr>
          <p:spPr bwMode="auto">
            <a:xfrm>
              <a:off x="4377" y="2795"/>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79" name="Oval 52"/>
            <p:cNvSpPr>
              <a:spLocks noChangeArrowheads="1"/>
            </p:cNvSpPr>
            <p:nvPr/>
          </p:nvSpPr>
          <p:spPr bwMode="auto">
            <a:xfrm>
              <a:off x="4558" y="2115"/>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80" name="Oval 53"/>
            <p:cNvSpPr>
              <a:spLocks noChangeArrowheads="1"/>
            </p:cNvSpPr>
            <p:nvPr/>
          </p:nvSpPr>
          <p:spPr bwMode="auto">
            <a:xfrm>
              <a:off x="3606" y="2205"/>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81" name="Oval 54"/>
            <p:cNvSpPr>
              <a:spLocks noChangeArrowheads="1"/>
            </p:cNvSpPr>
            <p:nvPr/>
          </p:nvSpPr>
          <p:spPr bwMode="auto">
            <a:xfrm>
              <a:off x="2971" y="2795"/>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82" name="Oval 55"/>
            <p:cNvSpPr>
              <a:spLocks noChangeArrowheads="1"/>
            </p:cNvSpPr>
            <p:nvPr/>
          </p:nvSpPr>
          <p:spPr bwMode="auto">
            <a:xfrm>
              <a:off x="5329" y="3929"/>
              <a:ext cx="136" cy="136"/>
            </a:xfrm>
            <a:prstGeom prst="ellipse">
              <a:avLst/>
            </a:prstGeom>
            <a:solidFill>
              <a:srgbClr val="99CCFF"/>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83" name="Oval 56"/>
            <p:cNvSpPr>
              <a:spLocks noChangeArrowheads="1"/>
            </p:cNvSpPr>
            <p:nvPr/>
          </p:nvSpPr>
          <p:spPr bwMode="auto">
            <a:xfrm>
              <a:off x="3742" y="3249"/>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84" name="Oval 57"/>
            <p:cNvSpPr>
              <a:spLocks noChangeArrowheads="1"/>
            </p:cNvSpPr>
            <p:nvPr/>
          </p:nvSpPr>
          <p:spPr bwMode="auto">
            <a:xfrm>
              <a:off x="3424" y="2931"/>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85" name="Oval 58"/>
            <p:cNvSpPr>
              <a:spLocks noChangeArrowheads="1"/>
            </p:cNvSpPr>
            <p:nvPr/>
          </p:nvSpPr>
          <p:spPr bwMode="auto">
            <a:xfrm>
              <a:off x="3243" y="2432"/>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86" name="Oval 59"/>
            <p:cNvSpPr>
              <a:spLocks noChangeArrowheads="1"/>
            </p:cNvSpPr>
            <p:nvPr/>
          </p:nvSpPr>
          <p:spPr bwMode="auto">
            <a:xfrm>
              <a:off x="4195" y="2115"/>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87" name="Oval 60"/>
            <p:cNvSpPr>
              <a:spLocks noChangeArrowheads="1"/>
            </p:cNvSpPr>
            <p:nvPr/>
          </p:nvSpPr>
          <p:spPr bwMode="auto">
            <a:xfrm>
              <a:off x="4649" y="2523"/>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88" name="Oval 61"/>
            <p:cNvSpPr>
              <a:spLocks noChangeArrowheads="1"/>
            </p:cNvSpPr>
            <p:nvPr/>
          </p:nvSpPr>
          <p:spPr bwMode="auto">
            <a:xfrm>
              <a:off x="5148" y="2205"/>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89" name="Oval 62"/>
            <p:cNvSpPr>
              <a:spLocks noChangeArrowheads="1"/>
            </p:cNvSpPr>
            <p:nvPr/>
          </p:nvSpPr>
          <p:spPr bwMode="auto">
            <a:xfrm>
              <a:off x="5239" y="2704"/>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90" name="Oval 63"/>
            <p:cNvSpPr>
              <a:spLocks noChangeArrowheads="1"/>
            </p:cNvSpPr>
            <p:nvPr/>
          </p:nvSpPr>
          <p:spPr bwMode="auto">
            <a:xfrm>
              <a:off x="5329" y="3203"/>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91" name="Oval 64"/>
            <p:cNvSpPr>
              <a:spLocks noChangeArrowheads="1"/>
            </p:cNvSpPr>
            <p:nvPr/>
          </p:nvSpPr>
          <p:spPr bwMode="auto">
            <a:xfrm>
              <a:off x="4830" y="3430"/>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92" name="Oval 65"/>
            <p:cNvSpPr>
              <a:spLocks noChangeArrowheads="1"/>
            </p:cNvSpPr>
            <p:nvPr/>
          </p:nvSpPr>
          <p:spPr bwMode="auto">
            <a:xfrm>
              <a:off x="4150" y="3203"/>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93" name="Oval 66"/>
            <p:cNvSpPr>
              <a:spLocks noChangeArrowheads="1"/>
            </p:cNvSpPr>
            <p:nvPr/>
          </p:nvSpPr>
          <p:spPr bwMode="auto">
            <a:xfrm>
              <a:off x="4377" y="3566"/>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94" name="Oval 67"/>
            <p:cNvSpPr>
              <a:spLocks noChangeArrowheads="1"/>
            </p:cNvSpPr>
            <p:nvPr/>
          </p:nvSpPr>
          <p:spPr bwMode="auto">
            <a:xfrm>
              <a:off x="5012" y="3929"/>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95" name="Oval 68"/>
            <p:cNvSpPr>
              <a:spLocks noChangeArrowheads="1"/>
            </p:cNvSpPr>
            <p:nvPr/>
          </p:nvSpPr>
          <p:spPr bwMode="auto">
            <a:xfrm>
              <a:off x="4059" y="4184"/>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96" name="Oval 69"/>
            <p:cNvSpPr>
              <a:spLocks noChangeArrowheads="1"/>
            </p:cNvSpPr>
            <p:nvPr/>
          </p:nvSpPr>
          <p:spPr bwMode="auto">
            <a:xfrm>
              <a:off x="3696" y="3884"/>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97" name="Oval 70"/>
            <p:cNvSpPr>
              <a:spLocks noChangeArrowheads="1"/>
            </p:cNvSpPr>
            <p:nvPr/>
          </p:nvSpPr>
          <p:spPr bwMode="auto">
            <a:xfrm>
              <a:off x="3107" y="3521"/>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98" name="Oval 71"/>
            <p:cNvSpPr>
              <a:spLocks noChangeArrowheads="1"/>
            </p:cNvSpPr>
            <p:nvPr/>
          </p:nvSpPr>
          <p:spPr bwMode="auto">
            <a:xfrm>
              <a:off x="3833" y="2659"/>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499" name="Oval 72"/>
            <p:cNvSpPr>
              <a:spLocks noChangeArrowheads="1"/>
            </p:cNvSpPr>
            <p:nvPr/>
          </p:nvSpPr>
          <p:spPr bwMode="auto">
            <a:xfrm>
              <a:off x="3878" y="2160"/>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00" name="Oval 73"/>
            <p:cNvSpPr>
              <a:spLocks noChangeArrowheads="1"/>
            </p:cNvSpPr>
            <p:nvPr/>
          </p:nvSpPr>
          <p:spPr bwMode="auto">
            <a:xfrm>
              <a:off x="4377" y="2478"/>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01" name="Oval 74"/>
            <p:cNvSpPr>
              <a:spLocks noChangeArrowheads="1"/>
            </p:cNvSpPr>
            <p:nvPr/>
          </p:nvSpPr>
          <p:spPr bwMode="auto">
            <a:xfrm>
              <a:off x="4694" y="2886"/>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02" name="Oval 75"/>
            <p:cNvSpPr>
              <a:spLocks noChangeArrowheads="1"/>
            </p:cNvSpPr>
            <p:nvPr/>
          </p:nvSpPr>
          <p:spPr bwMode="auto">
            <a:xfrm>
              <a:off x="4921" y="2523"/>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03" name="Oval 76"/>
            <p:cNvSpPr>
              <a:spLocks noChangeArrowheads="1"/>
            </p:cNvSpPr>
            <p:nvPr/>
          </p:nvSpPr>
          <p:spPr bwMode="auto">
            <a:xfrm>
              <a:off x="3470" y="3566"/>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04" name="Oval 77"/>
            <p:cNvSpPr>
              <a:spLocks noChangeArrowheads="1"/>
            </p:cNvSpPr>
            <p:nvPr/>
          </p:nvSpPr>
          <p:spPr bwMode="auto">
            <a:xfrm>
              <a:off x="4241" y="3929"/>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505" name="Oval 78"/>
            <p:cNvSpPr>
              <a:spLocks noChangeArrowheads="1"/>
            </p:cNvSpPr>
            <p:nvPr/>
          </p:nvSpPr>
          <p:spPr bwMode="auto">
            <a:xfrm>
              <a:off x="3424" y="4065"/>
              <a:ext cx="136" cy="136"/>
            </a:xfrm>
            <a:prstGeom prst="ellipse">
              <a:avLst/>
            </a:prstGeom>
            <a:solidFill>
              <a:srgbClr val="FF0000"/>
            </a:solidFill>
            <a:ln w="254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25158289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0644"/>
                                        </p:tgtEl>
                                        <p:attrNameLst>
                                          <p:attrName>style.visibility</p:attrName>
                                        </p:attrNameLst>
                                      </p:cBhvr>
                                      <p:to>
                                        <p:strVal val="visible"/>
                                      </p:to>
                                    </p:set>
                                    <p:animEffect transition="in" filter="wipe(left)">
                                      <p:cBhvr>
                                        <p:cTn id="7" dur="500"/>
                                        <p:tgtEl>
                                          <p:spTgt spid="2406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40721"/>
                                        </p:tgtEl>
                                        <p:attrNameLst>
                                          <p:attrName>style.visibility</p:attrName>
                                        </p:attrNameLst>
                                      </p:cBhvr>
                                      <p:to>
                                        <p:strVal val="visible"/>
                                      </p:to>
                                    </p:set>
                                    <p:animEffect transition="in" filter="wipe(up)">
                                      <p:cBhvr>
                                        <p:cTn id="12" dur="500"/>
                                        <p:tgtEl>
                                          <p:spTgt spid="2407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40719"/>
                                        </p:tgtEl>
                                        <p:attrNameLst>
                                          <p:attrName>style.visibility</p:attrName>
                                        </p:attrNameLst>
                                      </p:cBhvr>
                                      <p:to>
                                        <p:strVal val="visible"/>
                                      </p:to>
                                    </p:set>
                                    <p:animEffect transition="in" filter="wipe(up)">
                                      <p:cBhvr>
                                        <p:cTn id="17" dur="500"/>
                                        <p:tgtEl>
                                          <p:spTgt spid="2407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240720"/>
                                        </p:tgtEl>
                                        <p:attrNameLst>
                                          <p:attrName>style.visibility</p:attrName>
                                        </p:attrNameLst>
                                      </p:cBhvr>
                                      <p:to>
                                        <p:strVal val="visible"/>
                                      </p:to>
                                    </p:set>
                                    <p:animEffect transition="in" filter="wipe(up)">
                                      <p:cBhvr>
                                        <p:cTn id="22" dur="500"/>
                                        <p:tgtEl>
                                          <p:spTgt spid="2407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4"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Date Placeholder 3"/>
          <p:cNvSpPr>
            <a:spLocks noGrp="1"/>
          </p:cNvSpPr>
          <p:nvPr>
            <p:ph type="dt" sz="quarter" idx="10"/>
          </p:nvPr>
        </p:nvSpPr>
        <p:spPr>
          <a:noFill/>
        </p:spPr>
        <p:txBody>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eaLnBrk="1" hangingPunct="1"/>
            <a:fld id="{F12AF55E-4212-450B-ACE4-04110C491673}" type="datetime1">
              <a:rPr lang="en-GB" sz="1800" smtClean="0">
                <a:solidFill>
                  <a:schemeClr val="folHlink"/>
                </a:solidFill>
              </a:rPr>
              <a:pPr eaLnBrk="1" hangingPunct="1"/>
              <a:t>02/06/2020</a:t>
            </a:fld>
            <a:endParaRPr lang="en-GB" sz="1800">
              <a:solidFill>
                <a:schemeClr val="folHlink"/>
              </a:solidFill>
            </a:endParaRPr>
          </a:p>
        </p:txBody>
      </p:sp>
      <p:sp>
        <p:nvSpPr>
          <p:cNvPr id="242690" name="Rectangle 2"/>
          <p:cNvSpPr>
            <a:spLocks noGrp="1" noChangeArrowheads="1"/>
          </p:cNvSpPr>
          <p:nvPr>
            <p:ph type="title"/>
          </p:nvPr>
        </p:nvSpPr>
        <p:spPr/>
        <p:txBody>
          <a:bodyPr/>
          <a:lstStyle/>
          <a:p>
            <a:pPr eaLnBrk="1" hangingPunct="1">
              <a:defRPr/>
            </a:pPr>
            <a:r>
              <a:rPr lang="en-GB"/>
              <a:t>Questions on Concentration</a:t>
            </a:r>
          </a:p>
        </p:txBody>
      </p:sp>
      <p:sp>
        <p:nvSpPr>
          <p:cNvPr id="20484" name="Text Box 4"/>
          <p:cNvSpPr txBox="1">
            <a:spLocks noChangeArrowheads="1"/>
          </p:cNvSpPr>
          <p:nvPr/>
        </p:nvSpPr>
        <p:spPr bwMode="auto">
          <a:xfrm>
            <a:off x="0" y="908050"/>
            <a:ext cx="9144000" cy="83099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algn="l" eaLnBrk="1" hangingPunct="1">
              <a:spcBef>
                <a:spcPct val="50000"/>
              </a:spcBef>
            </a:pPr>
            <a:r>
              <a:rPr lang="en-GB" dirty="0">
                <a:solidFill>
                  <a:srgbClr val="FFCCCC"/>
                </a:solidFill>
              </a:rPr>
              <a:t>To calculate the concentration of a substance you could use this formula:</a:t>
            </a:r>
          </a:p>
        </p:txBody>
      </p:sp>
      <p:grpSp>
        <p:nvGrpSpPr>
          <p:cNvPr id="242697" name="Group 9"/>
          <p:cNvGrpSpPr>
            <a:grpSpLocks/>
          </p:cNvGrpSpPr>
          <p:nvPr/>
        </p:nvGrpSpPr>
        <p:grpSpPr bwMode="auto">
          <a:xfrm>
            <a:off x="2267744" y="1916832"/>
            <a:ext cx="4067175" cy="854075"/>
            <a:chOff x="0" y="1253"/>
            <a:chExt cx="2562" cy="538"/>
          </a:xfrm>
        </p:grpSpPr>
        <p:sp>
          <p:nvSpPr>
            <p:cNvPr id="20487" name="Text Box 5"/>
            <p:cNvSpPr txBox="1">
              <a:spLocks noChangeArrowheads="1"/>
            </p:cNvSpPr>
            <p:nvPr/>
          </p:nvSpPr>
          <p:spPr bwMode="auto">
            <a:xfrm>
              <a:off x="0" y="1253"/>
              <a:ext cx="2562" cy="538"/>
            </a:xfrm>
            <a:prstGeom prst="rect">
              <a:avLst/>
            </a:prstGeom>
            <a:solidFill>
              <a:srgbClr val="800000"/>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algn="l" eaLnBrk="1" hangingPunct="1">
                <a:spcBef>
                  <a:spcPct val="50000"/>
                </a:spcBef>
              </a:pPr>
              <a:r>
                <a:rPr lang="en-GB" sz="2000"/>
                <a:t>Conc. = Mass of substance (g)</a:t>
              </a:r>
            </a:p>
            <a:p>
              <a:pPr algn="l" eaLnBrk="1" hangingPunct="1">
                <a:spcBef>
                  <a:spcPct val="50000"/>
                </a:spcBef>
              </a:pPr>
              <a:r>
                <a:rPr lang="en-GB" sz="2000"/>
                <a:t>           Volume of solvent (dm</a:t>
              </a:r>
              <a:r>
                <a:rPr lang="en-GB" sz="2000" baseline="30000"/>
                <a:t>3</a:t>
              </a:r>
              <a:r>
                <a:rPr lang="en-GB" sz="2000"/>
                <a:t>)</a:t>
              </a:r>
            </a:p>
          </p:txBody>
        </p:sp>
        <p:sp>
          <p:nvSpPr>
            <p:cNvPr id="20488" name="Line 6"/>
            <p:cNvSpPr>
              <a:spLocks noChangeShapeType="1"/>
            </p:cNvSpPr>
            <p:nvPr/>
          </p:nvSpPr>
          <p:spPr bwMode="auto">
            <a:xfrm>
              <a:off x="612" y="1525"/>
              <a:ext cx="1678" cy="0"/>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42698" name="Text Box 10"/>
          <p:cNvSpPr txBox="1">
            <a:spLocks noChangeArrowheads="1"/>
          </p:cNvSpPr>
          <p:nvPr/>
        </p:nvSpPr>
        <p:spPr bwMode="auto">
          <a:xfrm>
            <a:off x="0" y="3213100"/>
            <a:ext cx="9144000" cy="32316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algn="ctr" eaLnBrk="0" fontAlgn="base" hangingPunct="0">
              <a:spcBef>
                <a:spcPct val="0"/>
              </a:spcBef>
              <a:spcAft>
                <a:spcPct val="0"/>
              </a:spcAft>
              <a:defRPr sz="2400">
                <a:solidFill>
                  <a:schemeClr val="bg1"/>
                </a:solidFill>
                <a:latin typeface="Comic Sans MS" pitchFamily="66" charset="0"/>
              </a:defRPr>
            </a:lvl6pPr>
            <a:lvl7pPr marL="2971800" indent="-228600" algn="ctr" eaLnBrk="0" fontAlgn="base" hangingPunct="0">
              <a:spcBef>
                <a:spcPct val="0"/>
              </a:spcBef>
              <a:spcAft>
                <a:spcPct val="0"/>
              </a:spcAft>
              <a:defRPr sz="2400">
                <a:solidFill>
                  <a:schemeClr val="bg1"/>
                </a:solidFill>
                <a:latin typeface="Comic Sans MS" pitchFamily="66" charset="0"/>
              </a:defRPr>
            </a:lvl7pPr>
            <a:lvl8pPr marL="3429000" indent="-228600" algn="ctr" eaLnBrk="0" fontAlgn="base" hangingPunct="0">
              <a:spcBef>
                <a:spcPct val="0"/>
              </a:spcBef>
              <a:spcAft>
                <a:spcPct val="0"/>
              </a:spcAft>
              <a:defRPr sz="2400">
                <a:solidFill>
                  <a:schemeClr val="bg1"/>
                </a:solidFill>
                <a:latin typeface="Comic Sans MS" pitchFamily="66" charset="0"/>
              </a:defRPr>
            </a:lvl8pPr>
            <a:lvl9pPr marL="3886200" indent="-228600" algn="ctr" eaLnBrk="0" fontAlgn="base" hangingPunct="0">
              <a:spcBef>
                <a:spcPct val="0"/>
              </a:spcBef>
              <a:spcAft>
                <a:spcPct val="0"/>
              </a:spcAft>
              <a:defRPr sz="2400">
                <a:solidFill>
                  <a:schemeClr val="bg1"/>
                </a:solidFill>
                <a:latin typeface="Comic Sans MS" pitchFamily="66" charset="0"/>
              </a:defRPr>
            </a:lvl9pPr>
          </a:lstStyle>
          <a:p>
            <a:pPr algn="l" eaLnBrk="1" hangingPunct="1">
              <a:spcBef>
                <a:spcPct val="50000"/>
              </a:spcBef>
            </a:pPr>
            <a:r>
              <a:rPr lang="en-GB" dirty="0">
                <a:solidFill>
                  <a:srgbClr val="CCCCFF"/>
                </a:solidFill>
              </a:rPr>
              <a:t>Calculate, with units, the concentration of the following:</a:t>
            </a:r>
          </a:p>
          <a:p>
            <a:pPr algn="l" eaLnBrk="1" hangingPunct="1">
              <a:spcBef>
                <a:spcPct val="50000"/>
              </a:spcBef>
              <a:buFontTx/>
              <a:buAutoNum type="arabicParenR"/>
            </a:pPr>
            <a:r>
              <a:rPr lang="en-GB" dirty="0"/>
              <a:t>A solution of 10g salt in 1dm</a:t>
            </a:r>
            <a:r>
              <a:rPr lang="en-GB" baseline="30000" dirty="0"/>
              <a:t>3</a:t>
            </a:r>
            <a:r>
              <a:rPr lang="en-GB" dirty="0"/>
              <a:t> of water</a:t>
            </a:r>
          </a:p>
          <a:p>
            <a:pPr algn="l" eaLnBrk="1" hangingPunct="1">
              <a:spcBef>
                <a:spcPct val="50000"/>
              </a:spcBef>
              <a:buFontTx/>
              <a:buAutoNum type="arabicParenR"/>
            </a:pPr>
            <a:r>
              <a:rPr lang="en-GB" dirty="0">
                <a:solidFill>
                  <a:srgbClr val="CCCCFF"/>
                </a:solidFill>
              </a:rPr>
              <a:t>2g of hydrochloric acid in 500cm</a:t>
            </a:r>
            <a:r>
              <a:rPr lang="en-GB" baseline="30000" dirty="0">
                <a:solidFill>
                  <a:srgbClr val="CCCCFF"/>
                </a:solidFill>
              </a:rPr>
              <a:t>3</a:t>
            </a:r>
            <a:r>
              <a:rPr lang="en-GB" dirty="0">
                <a:solidFill>
                  <a:srgbClr val="CCCCFF"/>
                </a:solidFill>
              </a:rPr>
              <a:t> of water</a:t>
            </a:r>
          </a:p>
          <a:p>
            <a:pPr algn="l" eaLnBrk="1" hangingPunct="1">
              <a:spcBef>
                <a:spcPct val="50000"/>
              </a:spcBef>
              <a:buFontTx/>
              <a:buAutoNum type="arabicParenR"/>
            </a:pPr>
            <a:r>
              <a:rPr lang="en-GB" dirty="0"/>
              <a:t>10kg of salt in 200dm</a:t>
            </a:r>
            <a:r>
              <a:rPr lang="en-GB" baseline="30000" dirty="0"/>
              <a:t>3</a:t>
            </a:r>
            <a:r>
              <a:rPr lang="en-GB" dirty="0"/>
              <a:t> of water</a:t>
            </a:r>
          </a:p>
          <a:p>
            <a:pPr algn="l" eaLnBrk="1" hangingPunct="1">
              <a:spcBef>
                <a:spcPct val="50000"/>
              </a:spcBef>
              <a:buFontTx/>
              <a:buAutoNum type="arabicParenR"/>
            </a:pPr>
            <a:r>
              <a:rPr lang="en-GB" dirty="0">
                <a:solidFill>
                  <a:srgbClr val="CCCCFF"/>
                </a:solidFill>
              </a:rPr>
              <a:t>0.5g of sodium hydroxide in 100cm</a:t>
            </a:r>
            <a:r>
              <a:rPr lang="en-GB" baseline="30000" dirty="0">
                <a:solidFill>
                  <a:srgbClr val="CCCCFF"/>
                </a:solidFill>
              </a:rPr>
              <a:t>3</a:t>
            </a:r>
            <a:r>
              <a:rPr lang="en-GB" dirty="0">
                <a:solidFill>
                  <a:srgbClr val="CCCCFF"/>
                </a:solidFill>
              </a:rPr>
              <a:t> of water</a:t>
            </a:r>
          </a:p>
          <a:p>
            <a:pPr algn="l" eaLnBrk="1" hangingPunct="1">
              <a:spcBef>
                <a:spcPct val="50000"/>
              </a:spcBef>
              <a:buFontTx/>
              <a:buAutoNum type="arabicParenR"/>
            </a:pPr>
            <a:endParaRPr lang="en-GB" dirty="0"/>
          </a:p>
        </p:txBody>
      </p:sp>
    </p:spTree>
    <p:extLst>
      <p:ext uri="{BB962C8B-B14F-4D97-AF65-F5344CB8AC3E}">
        <p14:creationId xmlns:p14="http://schemas.microsoft.com/office/powerpoint/2010/main" val="23499033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42697"/>
                                        </p:tgtEl>
                                        <p:attrNameLst>
                                          <p:attrName>style.visibility</p:attrName>
                                        </p:attrNameLst>
                                      </p:cBhvr>
                                      <p:to>
                                        <p:strVal val="visible"/>
                                      </p:to>
                                    </p:set>
                                    <p:animEffect transition="in" filter="wipe(left)">
                                      <p:cBhvr>
                                        <p:cTn id="7" dur="500"/>
                                        <p:tgtEl>
                                          <p:spTgt spid="2426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2698"/>
                                        </p:tgtEl>
                                        <p:attrNameLst>
                                          <p:attrName>style.visibility</p:attrName>
                                        </p:attrNameLst>
                                      </p:cBhvr>
                                      <p:to>
                                        <p:strVal val="visible"/>
                                      </p:to>
                                    </p:set>
                                    <p:animEffect transition="in" filter="wipe(left)">
                                      <p:cBhvr>
                                        <p:cTn id="12" dur="500"/>
                                        <p:tgtEl>
                                          <p:spTgt spid="2426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Date Placeholder 2"/>
          <p:cNvSpPr>
            <a:spLocks noGrp="1"/>
          </p:cNvSpPr>
          <p:nvPr>
            <p:ph type="dt" sz="quarter" idx="10"/>
          </p:nvPr>
        </p:nvSpPr>
        <p:spPr>
          <a:noFill/>
        </p:spPr>
        <p:txBody>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fld id="{FF2AF556-E4BA-409D-83AC-44993E61CC33}" type="datetime1">
              <a:rPr lang="en-GB" sz="1800" smtClean="0">
                <a:solidFill>
                  <a:schemeClr val="folHlink"/>
                </a:solidFill>
              </a:rPr>
              <a:pPr eaLnBrk="1" hangingPunct="1"/>
              <a:t>02/06/2020</a:t>
            </a:fld>
            <a:endParaRPr lang="en-GB" sz="1800">
              <a:solidFill>
                <a:schemeClr val="folHlink"/>
              </a:solidFill>
            </a:endParaRPr>
          </a:p>
        </p:txBody>
      </p:sp>
      <p:sp>
        <p:nvSpPr>
          <p:cNvPr id="97282" name="Rectangle 2"/>
          <p:cNvSpPr>
            <a:spLocks noGrp="1" noChangeArrowheads="1"/>
          </p:cNvSpPr>
          <p:nvPr>
            <p:ph type="title"/>
          </p:nvPr>
        </p:nvSpPr>
        <p:spPr>
          <a:xfrm>
            <a:off x="6896" y="332656"/>
            <a:ext cx="9144000" cy="558800"/>
          </a:xfrm>
        </p:spPr>
        <p:txBody>
          <a:bodyPr/>
          <a:lstStyle/>
          <a:p>
            <a:pPr eaLnBrk="1" hangingPunct="1">
              <a:defRPr/>
            </a:pPr>
            <a:r>
              <a:rPr lang="en-GB" sz="4000" dirty="0"/>
              <a:t>Calculating the mass of a product using moles (higher only)</a:t>
            </a:r>
          </a:p>
        </p:txBody>
      </p:sp>
      <p:sp>
        <p:nvSpPr>
          <p:cNvPr id="97283" name="Text Box 3"/>
          <p:cNvSpPr txBox="1">
            <a:spLocks noChangeArrowheads="1"/>
          </p:cNvSpPr>
          <p:nvPr/>
        </p:nvSpPr>
        <p:spPr bwMode="auto">
          <a:xfrm>
            <a:off x="-12468" y="1365592"/>
            <a:ext cx="91564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i="1" dirty="0">
                <a:solidFill>
                  <a:srgbClr val="99FFCC"/>
                </a:solidFill>
              </a:rPr>
              <a:t>Let’s try this question again but using moles:</a:t>
            </a:r>
          </a:p>
        </p:txBody>
      </p:sp>
      <p:grpSp>
        <p:nvGrpSpPr>
          <p:cNvPr id="97284" name="Group 4"/>
          <p:cNvGrpSpPr>
            <a:grpSpLocks/>
          </p:cNvGrpSpPr>
          <p:nvPr/>
        </p:nvGrpSpPr>
        <p:grpSpPr bwMode="auto">
          <a:xfrm>
            <a:off x="228600" y="2095500"/>
            <a:ext cx="8686800" cy="1311275"/>
            <a:chOff x="144" y="1488"/>
            <a:chExt cx="5472" cy="826"/>
          </a:xfrm>
        </p:grpSpPr>
        <p:sp>
          <p:nvSpPr>
            <p:cNvPr id="54284" name="Text Box 5"/>
            <p:cNvSpPr txBox="1">
              <a:spLocks noChangeArrowheads="1"/>
            </p:cNvSpPr>
            <p:nvPr/>
          </p:nvSpPr>
          <p:spPr bwMode="auto">
            <a:xfrm>
              <a:off x="144" y="1488"/>
              <a:ext cx="5472" cy="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sz="2000" b="1" dirty="0">
                  <a:solidFill>
                    <a:schemeClr val="hlink"/>
                  </a:solidFill>
                </a:rPr>
                <a:t>Step 1: READ the equation:</a:t>
              </a:r>
            </a:p>
            <a:p>
              <a:pPr algn="ctr" eaLnBrk="1" hangingPunct="1">
                <a:spcBef>
                  <a:spcPct val="50000"/>
                </a:spcBef>
              </a:pPr>
              <a:r>
                <a:rPr lang="en-GB" sz="2000" dirty="0"/>
                <a:t>2Mg + O</a:t>
              </a:r>
              <a:r>
                <a:rPr lang="en-GB" sz="2000" baseline="-25000" dirty="0"/>
                <a:t>2</a:t>
              </a:r>
              <a:r>
                <a:rPr lang="en-GB" sz="2000" dirty="0"/>
                <a:t>       	 2MgO</a:t>
              </a:r>
            </a:p>
            <a:p>
              <a:pPr eaLnBrk="1" hangingPunct="1">
                <a:spcBef>
                  <a:spcPct val="50000"/>
                </a:spcBef>
              </a:pPr>
              <a:endParaRPr lang="en-GB" sz="2000" dirty="0"/>
            </a:p>
          </p:txBody>
        </p:sp>
        <p:sp>
          <p:nvSpPr>
            <p:cNvPr id="54285" name="Line 6"/>
            <p:cNvSpPr>
              <a:spLocks noChangeShapeType="1"/>
            </p:cNvSpPr>
            <p:nvPr/>
          </p:nvSpPr>
          <p:spPr bwMode="auto">
            <a:xfrm>
              <a:off x="2784" y="1920"/>
              <a:ext cx="432" cy="0"/>
            </a:xfrm>
            <a:prstGeom prst="line">
              <a:avLst/>
            </a:prstGeom>
            <a:noFill/>
            <a:ln w="381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97291" name="Text Box 11"/>
          <p:cNvSpPr txBox="1">
            <a:spLocks noChangeArrowheads="1"/>
          </p:cNvSpPr>
          <p:nvPr/>
        </p:nvSpPr>
        <p:spPr bwMode="auto">
          <a:xfrm>
            <a:off x="228600" y="4953000"/>
            <a:ext cx="8686800"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sz="2000" b="1" dirty="0">
                <a:solidFill>
                  <a:schemeClr val="hlink"/>
                </a:solidFill>
              </a:rPr>
              <a:t>Step 3: Apply these steps:</a:t>
            </a:r>
          </a:p>
          <a:p>
            <a:pPr algn="ctr" eaLnBrk="1" hangingPunct="1">
              <a:spcBef>
                <a:spcPct val="50000"/>
              </a:spcBef>
              <a:buFontTx/>
              <a:buAutoNum type="arabicParenR"/>
            </a:pPr>
            <a:r>
              <a:rPr lang="en-GB" sz="2000" dirty="0"/>
              <a:t>60g of Mg is equal to 1.25 moles (60/48)</a:t>
            </a:r>
          </a:p>
          <a:p>
            <a:pPr algn="ctr" eaLnBrk="1" hangingPunct="1">
              <a:spcBef>
                <a:spcPct val="50000"/>
              </a:spcBef>
              <a:buFontTx/>
              <a:buAutoNum type="arabicParenR"/>
            </a:pPr>
            <a:r>
              <a:rPr lang="en-GB" sz="2000" dirty="0"/>
              <a:t>Therefore we will make 1.25 moles of magnesium oxide</a:t>
            </a:r>
          </a:p>
          <a:p>
            <a:pPr algn="ctr" eaLnBrk="1" hangingPunct="1">
              <a:spcBef>
                <a:spcPct val="50000"/>
              </a:spcBef>
              <a:buFontTx/>
              <a:buAutoNum type="arabicParenR"/>
            </a:pPr>
            <a:r>
              <a:rPr lang="en-GB" sz="2000" dirty="0"/>
              <a:t>Therefore we make 100g of </a:t>
            </a:r>
            <a:r>
              <a:rPr lang="en-GB" sz="2000" dirty="0" err="1"/>
              <a:t>MgO</a:t>
            </a:r>
            <a:r>
              <a:rPr lang="en-GB" sz="2000" dirty="0"/>
              <a:t> (1.25 moles)</a:t>
            </a:r>
            <a:endParaRPr lang="en-GB" dirty="0"/>
          </a:p>
        </p:txBody>
      </p:sp>
      <p:sp>
        <p:nvSpPr>
          <p:cNvPr id="97292" name="Text Box 12"/>
          <p:cNvSpPr txBox="1">
            <a:spLocks noChangeArrowheads="1"/>
          </p:cNvSpPr>
          <p:nvPr/>
        </p:nvSpPr>
        <p:spPr bwMode="auto">
          <a:xfrm>
            <a:off x="228600" y="3733800"/>
            <a:ext cx="8915400" cy="1415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bg1"/>
                </a:solidFill>
                <a:latin typeface="Comic Sans MS" pitchFamily="66" charset="0"/>
              </a:defRPr>
            </a:lvl1pPr>
            <a:lvl2pPr marL="742950" indent="-285750" eaLnBrk="0" hangingPunct="0">
              <a:defRPr sz="2400">
                <a:solidFill>
                  <a:schemeClr val="bg1"/>
                </a:solidFill>
                <a:latin typeface="Comic Sans MS" pitchFamily="66" charset="0"/>
              </a:defRPr>
            </a:lvl2pPr>
            <a:lvl3pPr marL="1143000" indent="-228600" eaLnBrk="0" hangingPunct="0">
              <a:defRPr sz="2400">
                <a:solidFill>
                  <a:schemeClr val="bg1"/>
                </a:solidFill>
                <a:latin typeface="Comic Sans MS" pitchFamily="66" charset="0"/>
              </a:defRPr>
            </a:lvl3pPr>
            <a:lvl4pPr marL="1600200" indent="-228600" eaLnBrk="0" hangingPunct="0">
              <a:defRPr sz="2400">
                <a:solidFill>
                  <a:schemeClr val="bg1"/>
                </a:solidFill>
                <a:latin typeface="Comic Sans MS" pitchFamily="66" charset="0"/>
              </a:defRPr>
            </a:lvl4pPr>
            <a:lvl5pPr marL="2057400" indent="-228600" eaLnBrk="0" hangingPunct="0">
              <a:defRPr sz="2400">
                <a:solidFill>
                  <a:schemeClr val="bg1"/>
                </a:solidFill>
                <a:latin typeface="Comic Sans MS" pitchFamily="66" charset="0"/>
              </a:defRPr>
            </a:lvl5pPr>
            <a:lvl6pPr marL="2514600" indent="-228600" eaLnBrk="0" fontAlgn="base" hangingPunct="0">
              <a:spcBef>
                <a:spcPct val="0"/>
              </a:spcBef>
              <a:spcAft>
                <a:spcPct val="0"/>
              </a:spcAft>
              <a:defRPr sz="2400">
                <a:solidFill>
                  <a:schemeClr val="bg1"/>
                </a:solidFill>
                <a:latin typeface="Comic Sans MS" pitchFamily="66" charset="0"/>
              </a:defRPr>
            </a:lvl6pPr>
            <a:lvl7pPr marL="2971800" indent="-228600" eaLnBrk="0" fontAlgn="base" hangingPunct="0">
              <a:spcBef>
                <a:spcPct val="0"/>
              </a:spcBef>
              <a:spcAft>
                <a:spcPct val="0"/>
              </a:spcAft>
              <a:defRPr sz="2400">
                <a:solidFill>
                  <a:schemeClr val="bg1"/>
                </a:solidFill>
                <a:latin typeface="Comic Sans MS" pitchFamily="66" charset="0"/>
              </a:defRPr>
            </a:lvl7pPr>
            <a:lvl8pPr marL="3429000" indent="-228600" eaLnBrk="0" fontAlgn="base" hangingPunct="0">
              <a:spcBef>
                <a:spcPct val="0"/>
              </a:spcBef>
              <a:spcAft>
                <a:spcPct val="0"/>
              </a:spcAft>
              <a:defRPr sz="2400">
                <a:solidFill>
                  <a:schemeClr val="bg1"/>
                </a:solidFill>
                <a:latin typeface="Comic Sans MS" pitchFamily="66" charset="0"/>
              </a:defRPr>
            </a:lvl8pPr>
            <a:lvl9pPr marL="3886200" indent="-228600" eaLnBrk="0" fontAlgn="base" hangingPunct="0">
              <a:spcBef>
                <a:spcPct val="0"/>
              </a:spcBef>
              <a:spcAft>
                <a:spcPct val="0"/>
              </a:spcAft>
              <a:defRPr sz="2400">
                <a:solidFill>
                  <a:schemeClr val="bg1"/>
                </a:solidFill>
                <a:latin typeface="Comic Sans MS" pitchFamily="66" charset="0"/>
              </a:defRPr>
            </a:lvl9pPr>
          </a:lstStyle>
          <a:p>
            <a:pPr eaLnBrk="1" hangingPunct="1">
              <a:spcBef>
                <a:spcPct val="50000"/>
              </a:spcBef>
            </a:pPr>
            <a:r>
              <a:rPr lang="en-GB" sz="2000" b="1" dirty="0">
                <a:solidFill>
                  <a:schemeClr val="hlink"/>
                </a:solidFill>
              </a:rPr>
              <a:t>Step 2: WORK OUT the relative formula masses (M</a:t>
            </a:r>
            <a:r>
              <a:rPr lang="en-GB" sz="2000" b="1" baseline="-25000" dirty="0">
                <a:solidFill>
                  <a:schemeClr val="hlink"/>
                </a:solidFill>
              </a:rPr>
              <a:t>r</a:t>
            </a:r>
            <a:r>
              <a:rPr lang="en-GB" sz="2000" b="1" dirty="0">
                <a:solidFill>
                  <a:schemeClr val="hlink"/>
                </a:solidFill>
              </a:rPr>
              <a:t>) of </a:t>
            </a:r>
            <a:r>
              <a:rPr lang="en-GB" sz="2000" b="1" dirty="0" err="1">
                <a:solidFill>
                  <a:schemeClr val="hlink"/>
                </a:solidFill>
              </a:rPr>
              <a:t>MgO</a:t>
            </a:r>
            <a:r>
              <a:rPr lang="en-GB" sz="2000" b="1" dirty="0">
                <a:solidFill>
                  <a:schemeClr val="hlink"/>
                </a:solidFill>
              </a:rPr>
              <a:t>:</a:t>
            </a:r>
          </a:p>
          <a:p>
            <a:pPr algn="ctr" eaLnBrk="1" hangingPunct="1">
              <a:spcBef>
                <a:spcPct val="50000"/>
              </a:spcBef>
            </a:pPr>
            <a:r>
              <a:rPr lang="en-GB" sz="2000" dirty="0"/>
              <a:t>2MgO = 2 x (24+16) = 80</a:t>
            </a:r>
          </a:p>
          <a:p>
            <a:pPr eaLnBrk="1" hangingPunct="1">
              <a:spcBef>
                <a:spcPct val="50000"/>
              </a:spcBef>
            </a:pPr>
            <a:endParaRPr lang="en-GB" dirty="0"/>
          </a:p>
        </p:txBody>
      </p:sp>
      <p:sp>
        <p:nvSpPr>
          <p:cNvPr id="2" name="TextBox 1"/>
          <p:cNvSpPr txBox="1"/>
          <p:nvPr/>
        </p:nvSpPr>
        <p:spPr>
          <a:xfrm>
            <a:off x="0" y="2996952"/>
            <a:ext cx="9144000" cy="707886"/>
          </a:xfrm>
          <a:prstGeom prst="rect">
            <a:avLst/>
          </a:prstGeom>
          <a:noFill/>
        </p:spPr>
        <p:txBody>
          <a:bodyPr wrap="square" rtlCol="0">
            <a:spAutoFit/>
          </a:bodyPr>
          <a:lstStyle/>
          <a:p>
            <a:pPr algn="ctr"/>
            <a:r>
              <a:rPr lang="en-GB" sz="2000" dirty="0"/>
              <a:t>“2 moles of magnesium + 1 mole of oxygen forms 2 moles of magnesium oxide”</a:t>
            </a:r>
          </a:p>
        </p:txBody>
      </p:sp>
    </p:spTree>
    <p:extLst>
      <p:ext uri="{BB962C8B-B14F-4D97-AF65-F5344CB8AC3E}">
        <p14:creationId xmlns:p14="http://schemas.microsoft.com/office/powerpoint/2010/main" val="34427984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7283"/>
                                        </p:tgtEl>
                                        <p:attrNameLst>
                                          <p:attrName>style.visibility</p:attrName>
                                        </p:attrNameLst>
                                      </p:cBhvr>
                                      <p:to>
                                        <p:strVal val="visible"/>
                                      </p:to>
                                    </p:set>
                                    <p:animEffect transition="in" filter="wipe(left)">
                                      <p:cBhvr>
                                        <p:cTn id="7" dur="500"/>
                                        <p:tgtEl>
                                          <p:spTgt spid="972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7284"/>
                                        </p:tgtEl>
                                        <p:attrNameLst>
                                          <p:attrName>style.visibility</p:attrName>
                                        </p:attrNameLst>
                                      </p:cBhvr>
                                      <p:to>
                                        <p:strVal val="visible"/>
                                      </p:to>
                                    </p:set>
                                    <p:animEffect transition="in" filter="wipe(left)">
                                      <p:cBhvr>
                                        <p:cTn id="12" dur="500"/>
                                        <p:tgtEl>
                                          <p:spTgt spid="9728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7292">
                                            <p:txEl>
                                              <p:pRg st="0" end="0"/>
                                            </p:txEl>
                                          </p:spTgt>
                                        </p:tgtEl>
                                        <p:attrNameLst>
                                          <p:attrName>style.visibility</p:attrName>
                                        </p:attrNameLst>
                                      </p:cBhvr>
                                      <p:to>
                                        <p:strVal val="visible"/>
                                      </p:to>
                                    </p:set>
                                    <p:animEffect transition="in" filter="wipe(left)">
                                      <p:cBhvr>
                                        <p:cTn id="22" dur="500"/>
                                        <p:tgtEl>
                                          <p:spTgt spid="9729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7292">
                                            <p:txEl>
                                              <p:pRg st="1" end="1"/>
                                            </p:txEl>
                                          </p:spTgt>
                                        </p:tgtEl>
                                        <p:attrNameLst>
                                          <p:attrName>style.visibility</p:attrName>
                                        </p:attrNameLst>
                                      </p:cBhvr>
                                      <p:to>
                                        <p:strVal val="visible"/>
                                      </p:to>
                                    </p:set>
                                    <p:animEffect transition="in" filter="wipe(left)">
                                      <p:cBhvr>
                                        <p:cTn id="27" dur="500"/>
                                        <p:tgtEl>
                                          <p:spTgt spid="97292">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7291">
                                            <p:txEl>
                                              <p:pRg st="0" end="0"/>
                                            </p:txEl>
                                          </p:spTgt>
                                        </p:tgtEl>
                                        <p:attrNameLst>
                                          <p:attrName>style.visibility</p:attrName>
                                        </p:attrNameLst>
                                      </p:cBhvr>
                                      <p:to>
                                        <p:strVal val="visible"/>
                                      </p:to>
                                    </p:set>
                                    <p:animEffect transition="in" filter="wipe(left)">
                                      <p:cBhvr>
                                        <p:cTn id="32" dur="500"/>
                                        <p:tgtEl>
                                          <p:spTgt spid="97291">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7291">
                                            <p:txEl>
                                              <p:pRg st="1" end="1"/>
                                            </p:txEl>
                                          </p:spTgt>
                                        </p:tgtEl>
                                        <p:attrNameLst>
                                          <p:attrName>style.visibility</p:attrName>
                                        </p:attrNameLst>
                                      </p:cBhvr>
                                      <p:to>
                                        <p:strVal val="visible"/>
                                      </p:to>
                                    </p:set>
                                    <p:animEffect transition="in" filter="wipe(left)">
                                      <p:cBhvr>
                                        <p:cTn id="37" dur="500"/>
                                        <p:tgtEl>
                                          <p:spTgt spid="97291">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7291">
                                            <p:txEl>
                                              <p:pRg st="2" end="2"/>
                                            </p:txEl>
                                          </p:spTgt>
                                        </p:tgtEl>
                                        <p:attrNameLst>
                                          <p:attrName>style.visibility</p:attrName>
                                        </p:attrNameLst>
                                      </p:cBhvr>
                                      <p:to>
                                        <p:strVal val="visible"/>
                                      </p:to>
                                    </p:set>
                                    <p:animEffect transition="in" filter="wipe(left)">
                                      <p:cBhvr>
                                        <p:cTn id="42" dur="500"/>
                                        <p:tgtEl>
                                          <p:spTgt spid="97291">
                                            <p:txEl>
                                              <p:pRg st="2" end="2"/>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7291">
                                            <p:txEl>
                                              <p:pRg st="3" end="3"/>
                                            </p:txEl>
                                          </p:spTgt>
                                        </p:tgtEl>
                                        <p:attrNameLst>
                                          <p:attrName>style.visibility</p:attrName>
                                        </p:attrNameLst>
                                      </p:cBhvr>
                                      <p:to>
                                        <p:strVal val="visible"/>
                                      </p:to>
                                    </p:set>
                                    <p:animEffect transition="in" filter="wipe(left)">
                                      <p:cBhvr>
                                        <p:cTn id="47" dur="500"/>
                                        <p:tgtEl>
                                          <p:spTgt spid="972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autoUpdateAnimBg="0"/>
      <p:bldP spid="97291" grpId="0" build="p" autoUpdateAnimBg="0"/>
      <p:bldP spid="97292" grpId="0" build="p" autoUpdateAnimBg="0"/>
      <p:bldP spid="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dirty="0"/>
              <a:t>Limiting Reactants (higher only)</a:t>
            </a:r>
          </a:p>
        </p:txBody>
      </p:sp>
      <p:sp>
        <p:nvSpPr>
          <p:cNvPr id="3" name="Date Placeholder 2"/>
          <p:cNvSpPr>
            <a:spLocks noGrp="1"/>
          </p:cNvSpPr>
          <p:nvPr>
            <p:ph type="dt" sz="half" idx="10"/>
          </p:nvPr>
        </p:nvSpPr>
        <p:spPr/>
        <p:txBody>
          <a:bodyPr/>
          <a:lstStyle/>
          <a:p>
            <a:fld id="{775D4CA3-105B-45A8-A366-77F2C442CE1B}" type="datetime1">
              <a:rPr lang="en-GB" altLang="en-US" smtClean="0"/>
              <a:pPr/>
              <a:t>02/06/2020</a:t>
            </a:fld>
            <a:endParaRPr lang="en-GB" altLang="en-US"/>
          </a:p>
        </p:txBody>
      </p:sp>
      <p:sp>
        <p:nvSpPr>
          <p:cNvPr id="4" name="TextBox 3"/>
          <p:cNvSpPr txBox="1"/>
          <p:nvPr/>
        </p:nvSpPr>
        <p:spPr>
          <a:xfrm>
            <a:off x="0" y="624279"/>
            <a:ext cx="9144000" cy="1200329"/>
          </a:xfrm>
          <a:prstGeom prst="rect">
            <a:avLst/>
          </a:prstGeom>
          <a:noFill/>
        </p:spPr>
        <p:txBody>
          <a:bodyPr wrap="square" rtlCol="0">
            <a:spAutoFit/>
          </a:bodyPr>
          <a:lstStyle/>
          <a:p>
            <a:r>
              <a:rPr lang="en-GB" dirty="0">
                <a:solidFill>
                  <a:srgbClr val="CCFFCC"/>
                </a:solidFill>
              </a:rPr>
              <a:t>What happens if you use too much of one compound?  Example question:</a:t>
            </a:r>
          </a:p>
          <a:p>
            <a:endParaRPr lang="en-GB" dirty="0">
              <a:solidFill>
                <a:srgbClr val="CCFFCC"/>
              </a:solidFill>
            </a:endParaRPr>
          </a:p>
        </p:txBody>
      </p:sp>
      <p:sp>
        <p:nvSpPr>
          <p:cNvPr id="5" name="TextBox 4"/>
          <p:cNvSpPr txBox="1"/>
          <p:nvPr/>
        </p:nvSpPr>
        <p:spPr>
          <a:xfrm>
            <a:off x="215516" y="1552724"/>
            <a:ext cx="8784976" cy="2308324"/>
          </a:xfrm>
          <a:prstGeom prst="rect">
            <a:avLst/>
          </a:prstGeom>
          <a:noFill/>
          <a:ln w="28575">
            <a:solidFill>
              <a:srgbClr val="FF0000"/>
            </a:solidFill>
          </a:ln>
        </p:spPr>
        <p:txBody>
          <a:bodyPr wrap="square" rtlCol="0">
            <a:spAutoFit/>
          </a:bodyPr>
          <a:lstStyle/>
          <a:p>
            <a:r>
              <a:rPr lang="en-GB" dirty="0"/>
              <a:t>Consider the reaction you have when you burn methane:</a:t>
            </a:r>
          </a:p>
          <a:p>
            <a:endParaRPr lang="en-GB" dirty="0"/>
          </a:p>
          <a:p>
            <a:pPr algn="ctr"/>
            <a:r>
              <a:rPr lang="en-GB" dirty="0"/>
              <a:t>CH</a:t>
            </a:r>
            <a:r>
              <a:rPr lang="en-GB" baseline="-25000" dirty="0"/>
              <a:t>4</a:t>
            </a:r>
            <a:r>
              <a:rPr lang="en-GB" dirty="0"/>
              <a:t> + 2O</a:t>
            </a:r>
            <a:r>
              <a:rPr lang="en-GB" baseline="-25000" dirty="0"/>
              <a:t>2</a:t>
            </a:r>
            <a:r>
              <a:rPr lang="en-GB" dirty="0"/>
              <a:t>          CO</a:t>
            </a:r>
            <a:r>
              <a:rPr lang="en-GB" baseline="-25000" dirty="0"/>
              <a:t>2</a:t>
            </a:r>
            <a:r>
              <a:rPr lang="en-GB" dirty="0"/>
              <a:t> + 2H</a:t>
            </a:r>
            <a:r>
              <a:rPr lang="en-GB" baseline="-25000" dirty="0"/>
              <a:t>2</a:t>
            </a:r>
            <a:r>
              <a:rPr lang="en-GB" dirty="0"/>
              <a:t>O</a:t>
            </a:r>
          </a:p>
          <a:p>
            <a:endParaRPr lang="en-GB" dirty="0"/>
          </a:p>
          <a:p>
            <a:r>
              <a:rPr lang="en-GB" dirty="0"/>
              <a:t>A student burns 32g of methane in 72g of oxygen.  Which reactant is used up completely?</a:t>
            </a:r>
          </a:p>
        </p:txBody>
      </p:sp>
      <p:sp>
        <p:nvSpPr>
          <p:cNvPr id="7" name="TextBox 6"/>
          <p:cNvSpPr txBox="1"/>
          <p:nvPr/>
        </p:nvSpPr>
        <p:spPr>
          <a:xfrm>
            <a:off x="215516" y="3964994"/>
            <a:ext cx="8784976" cy="1569660"/>
          </a:xfrm>
          <a:prstGeom prst="rect">
            <a:avLst/>
          </a:prstGeom>
          <a:solidFill>
            <a:srgbClr val="7030A0"/>
          </a:solidFill>
        </p:spPr>
        <p:txBody>
          <a:bodyPr wrap="square" rtlCol="0">
            <a:spAutoFit/>
          </a:bodyPr>
          <a:lstStyle/>
          <a:p>
            <a:pPr algn="ctr"/>
            <a:r>
              <a:rPr lang="en-GB" dirty="0"/>
              <a:t>32g of methane is 2 moles.  72g of oxygen is 2.25 moles of O</a:t>
            </a:r>
            <a:r>
              <a:rPr lang="en-GB" baseline="-25000" dirty="0"/>
              <a:t>2</a:t>
            </a:r>
            <a:r>
              <a:rPr lang="en-GB" dirty="0"/>
              <a:t>.  Therefore this reaction is limited by the 2 moles of methane – the “limiting reactant” (i.e. the reactant that is not in excess). </a:t>
            </a:r>
            <a:endParaRPr lang="en-GB" baseline="-25000" dirty="0"/>
          </a:p>
        </p:txBody>
      </p:sp>
      <p:cxnSp>
        <p:nvCxnSpPr>
          <p:cNvPr id="12" name="Straight Arrow Connector 11"/>
          <p:cNvCxnSpPr/>
          <p:nvPr/>
        </p:nvCxnSpPr>
        <p:spPr bwMode="auto">
          <a:xfrm>
            <a:off x="4139952" y="2348880"/>
            <a:ext cx="720080" cy="0"/>
          </a:xfrm>
          <a:prstGeom prst="straightConnector1">
            <a:avLst/>
          </a:prstGeom>
          <a:solidFill>
            <a:schemeClr val="accent1"/>
          </a:solidFill>
          <a:ln w="25400"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Box 12"/>
          <p:cNvSpPr txBox="1"/>
          <p:nvPr/>
        </p:nvSpPr>
        <p:spPr>
          <a:xfrm>
            <a:off x="215516" y="5807006"/>
            <a:ext cx="7884876" cy="461665"/>
          </a:xfrm>
          <a:prstGeom prst="rect">
            <a:avLst/>
          </a:prstGeom>
          <a:noFill/>
        </p:spPr>
        <p:txBody>
          <a:bodyPr wrap="square" rtlCol="0">
            <a:spAutoFit/>
          </a:bodyPr>
          <a:lstStyle/>
          <a:p>
            <a:r>
              <a:rPr lang="en-GB" dirty="0">
                <a:solidFill>
                  <a:srgbClr val="FFCCCC"/>
                </a:solidFill>
              </a:rPr>
              <a:t>Q. How much CO</a:t>
            </a:r>
            <a:r>
              <a:rPr lang="en-GB" baseline="-25000" dirty="0">
                <a:solidFill>
                  <a:srgbClr val="FFCCCC"/>
                </a:solidFill>
              </a:rPr>
              <a:t>2</a:t>
            </a:r>
            <a:r>
              <a:rPr lang="en-GB" dirty="0">
                <a:solidFill>
                  <a:srgbClr val="FFCCCC"/>
                </a:solidFill>
              </a:rPr>
              <a:t> would we expect to produce?</a:t>
            </a:r>
          </a:p>
        </p:txBody>
      </p:sp>
      <p:sp>
        <p:nvSpPr>
          <p:cNvPr id="14" name="TextBox 13"/>
          <p:cNvSpPr txBox="1"/>
          <p:nvPr/>
        </p:nvSpPr>
        <p:spPr>
          <a:xfrm>
            <a:off x="7380312" y="5622339"/>
            <a:ext cx="1620180" cy="830997"/>
          </a:xfrm>
          <a:prstGeom prst="rect">
            <a:avLst/>
          </a:prstGeom>
          <a:solidFill>
            <a:srgbClr val="C00000"/>
          </a:solidFill>
        </p:spPr>
        <p:txBody>
          <a:bodyPr wrap="square" rtlCol="0">
            <a:spAutoFit/>
          </a:bodyPr>
          <a:lstStyle/>
          <a:p>
            <a:pPr algn="ctr"/>
            <a:r>
              <a:rPr lang="en-GB" dirty="0"/>
              <a:t>2 moles  (88g)</a:t>
            </a:r>
          </a:p>
        </p:txBody>
      </p:sp>
    </p:spTree>
    <p:extLst>
      <p:ext uri="{BB962C8B-B14F-4D97-AF65-F5344CB8AC3E}">
        <p14:creationId xmlns:p14="http://schemas.microsoft.com/office/powerpoint/2010/main" val="3202236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p:bldP spid="14"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800" dirty="0"/>
              <a:t>Using Moles to balance equations higher only)</a:t>
            </a:r>
          </a:p>
        </p:txBody>
      </p:sp>
      <p:sp>
        <p:nvSpPr>
          <p:cNvPr id="3" name="Date Placeholder 2"/>
          <p:cNvSpPr>
            <a:spLocks noGrp="1"/>
          </p:cNvSpPr>
          <p:nvPr>
            <p:ph type="dt" sz="half" idx="10"/>
          </p:nvPr>
        </p:nvSpPr>
        <p:spPr/>
        <p:txBody>
          <a:bodyPr/>
          <a:lstStyle/>
          <a:p>
            <a:fld id="{775D4CA3-105B-45A8-A366-77F2C442CE1B}" type="datetime1">
              <a:rPr lang="en-GB" altLang="en-US" smtClean="0"/>
              <a:pPr/>
              <a:t>02/06/2020</a:t>
            </a:fld>
            <a:endParaRPr lang="en-GB" altLang="en-US"/>
          </a:p>
        </p:txBody>
      </p:sp>
      <p:sp>
        <p:nvSpPr>
          <p:cNvPr id="4" name="TextBox 3"/>
          <p:cNvSpPr txBox="1"/>
          <p:nvPr/>
        </p:nvSpPr>
        <p:spPr>
          <a:xfrm>
            <a:off x="0" y="813309"/>
            <a:ext cx="9144000" cy="830997"/>
          </a:xfrm>
          <a:prstGeom prst="rect">
            <a:avLst/>
          </a:prstGeom>
          <a:noFill/>
        </p:spPr>
        <p:txBody>
          <a:bodyPr wrap="square" rtlCol="0">
            <a:spAutoFit/>
          </a:bodyPr>
          <a:lstStyle/>
          <a:p>
            <a:r>
              <a:rPr lang="en-GB" dirty="0">
                <a:solidFill>
                  <a:srgbClr val="CCFFCC"/>
                </a:solidFill>
              </a:rPr>
              <a:t>Example question:</a:t>
            </a:r>
          </a:p>
          <a:p>
            <a:endParaRPr lang="en-GB" dirty="0">
              <a:solidFill>
                <a:srgbClr val="CCFFCC"/>
              </a:solidFill>
            </a:endParaRPr>
          </a:p>
        </p:txBody>
      </p:sp>
      <p:sp>
        <p:nvSpPr>
          <p:cNvPr id="5" name="TextBox 4"/>
          <p:cNvSpPr txBox="1"/>
          <p:nvPr/>
        </p:nvSpPr>
        <p:spPr>
          <a:xfrm>
            <a:off x="179512" y="1412776"/>
            <a:ext cx="8784976" cy="5262979"/>
          </a:xfrm>
          <a:prstGeom prst="rect">
            <a:avLst/>
          </a:prstGeom>
          <a:noFill/>
          <a:ln w="28575">
            <a:solidFill>
              <a:srgbClr val="FF0000"/>
            </a:solidFill>
          </a:ln>
        </p:spPr>
        <p:txBody>
          <a:bodyPr wrap="square" rtlCol="0">
            <a:spAutoFit/>
          </a:bodyPr>
          <a:lstStyle/>
          <a:p>
            <a:r>
              <a:rPr lang="en-GB" dirty="0">
                <a:solidFill>
                  <a:srgbClr val="CCECFF"/>
                </a:solidFill>
              </a:rPr>
              <a:t>130g of zinc reacts with 146g of hydrochloric acid (</a:t>
            </a:r>
            <a:r>
              <a:rPr lang="en-GB" dirty="0" err="1">
                <a:solidFill>
                  <a:srgbClr val="CCECFF"/>
                </a:solidFill>
              </a:rPr>
              <a:t>HCl</a:t>
            </a:r>
            <a:r>
              <a:rPr lang="en-GB" dirty="0">
                <a:solidFill>
                  <a:srgbClr val="CCECFF"/>
                </a:solidFill>
              </a:rPr>
              <a:t>) to form 272g of zinc chloride (ZnCl</a:t>
            </a:r>
            <a:r>
              <a:rPr lang="en-GB" baseline="-25000" dirty="0">
                <a:solidFill>
                  <a:srgbClr val="CCECFF"/>
                </a:solidFill>
              </a:rPr>
              <a:t>2</a:t>
            </a:r>
            <a:r>
              <a:rPr lang="en-GB" dirty="0">
                <a:solidFill>
                  <a:srgbClr val="CCECFF"/>
                </a:solidFill>
              </a:rPr>
              <a:t>) and some hydrogen (H</a:t>
            </a:r>
            <a:r>
              <a:rPr lang="en-GB" baseline="-25000" dirty="0">
                <a:solidFill>
                  <a:srgbClr val="CCECFF"/>
                </a:solidFill>
              </a:rPr>
              <a:t>2</a:t>
            </a:r>
            <a:r>
              <a:rPr lang="en-GB" dirty="0">
                <a:solidFill>
                  <a:srgbClr val="CCECFF"/>
                </a:solidFill>
              </a:rPr>
              <a:t>).  Answer the following:</a:t>
            </a:r>
          </a:p>
          <a:p>
            <a:endParaRPr lang="en-GB" dirty="0"/>
          </a:p>
          <a:p>
            <a:pPr marL="457200" indent="-457200">
              <a:buAutoNum type="arabicParenR"/>
            </a:pPr>
            <a:r>
              <a:rPr lang="en-GB" dirty="0"/>
              <a:t>How much hydrogen was produced?</a:t>
            </a:r>
          </a:p>
          <a:p>
            <a:pPr marL="457200" indent="-457200">
              <a:buAutoNum type="arabicParenR"/>
            </a:pPr>
            <a:endParaRPr lang="en-GB" dirty="0"/>
          </a:p>
          <a:p>
            <a:pPr marL="457200" indent="-457200">
              <a:buAutoNum type="arabicParenR"/>
            </a:pPr>
            <a:endParaRPr lang="en-GB" dirty="0"/>
          </a:p>
          <a:p>
            <a:pPr marL="457200" indent="-457200">
              <a:buAutoNum type="arabicParenR"/>
            </a:pPr>
            <a:r>
              <a:rPr lang="en-GB" dirty="0">
                <a:solidFill>
                  <a:srgbClr val="CCECFF"/>
                </a:solidFill>
              </a:rPr>
              <a:t>How many moles of each substance were reacted/produced?</a:t>
            </a:r>
          </a:p>
          <a:p>
            <a:pPr marL="457200" indent="-457200">
              <a:buAutoNum type="arabicParenR"/>
            </a:pPr>
            <a:endParaRPr lang="en-GB" dirty="0"/>
          </a:p>
          <a:p>
            <a:pPr marL="457200" indent="-457200">
              <a:buAutoNum type="arabicParenR"/>
            </a:pPr>
            <a:endParaRPr lang="en-GB" dirty="0"/>
          </a:p>
          <a:p>
            <a:pPr marL="457200" indent="-457200">
              <a:buAutoNum type="arabicParenR"/>
            </a:pPr>
            <a:r>
              <a:rPr lang="en-GB" dirty="0"/>
              <a:t>Write a balanced chemical equation for this reaction.</a:t>
            </a:r>
          </a:p>
          <a:p>
            <a:pPr marL="457200" indent="-457200">
              <a:buAutoNum type="arabicParenR"/>
            </a:pPr>
            <a:endParaRPr lang="en-GB" dirty="0"/>
          </a:p>
          <a:p>
            <a:pPr marL="457200" indent="-457200">
              <a:buAutoNum type="arabicParenR"/>
            </a:pPr>
            <a:endParaRPr lang="en-GB" dirty="0"/>
          </a:p>
        </p:txBody>
      </p:sp>
      <p:sp>
        <p:nvSpPr>
          <p:cNvPr id="6" name="TextBox 5"/>
          <p:cNvSpPr txBox="1"/>
          <p:nvPr/>
        </p:nvSpPr>
        <p:spPr>
          <a:xfrm>
            <a:off x="6732240" y="2895327"/>
            <a:ext cx="1944216" cy="461665"/>
          </a:xfrm>
          <a:prstGeom prst="rect">
            <a:avLst/>
          </a:prstGeom>
          <a:solidFill>
            <a:srgbClr val="0070C0"/>
          </a:solidFill>
        </p:spPr>
        <p:txBody>
          <a:bodyPr wrap="square" rtlCol="0">
            <a:spAutoFit/>
          </a:bodyPr>
          <a:lstStyle/>
          <a:p>
            <a:pPr algn="ctr"/>
            <a:r>
              <a:rPr lang="en-GB" dirty="0"/>
              <a:t>4g</a:t>
            </a:r>
          </a:p>
        </p:txBody>
      </p:sp>
      <p:sp>
        <p:nvSpPr>
          <p:cNvPr id="7" name="TextBox 6"/>
          <p:cNvSpPr txBox="1"/>
          <p:nvPr/>
        </p:nvSpPr>
        <p:spPr>
          <a:xfrm>
            <a:off x="6732240" y="4149080"/>
            <a:ext cx="2088232" cy="1015663"/>
          </a:xfrm>
          <a:prstGeom prst="rect">
            <a:avLst/>
          </a:prstGeom>
          <a:solidFill>
            <a:srgbClr val="0070C0"/>
          </a:solidFill>
        </p:spPr>
        <p:txBody>
          <a:bodyPr wrap="square" rtlCol="0">
            <a:spAutoFit/>
          </a:bodyPr>
          <a:lstStyle/>
          <a:p>
            <a:pPr algn="ctr"/>
            <a:r>
              <a:rPr lang="en-GB" sz="2000" dirty="0"/>
              <a:t>1 of Zn, 2 of </a:t>
            </a:r>
            <a:r>
              <a:rPr lang="en-GB" sz="2000" dirty="0" err="1"/>
              <a:t>HCl</a:t>
            </a:r>
            <a:r>
              <a:rPr lang="en-GB" sz="2000" dirty="0"/>
              <a:t>, 1 of ZnCl</a:t>
            </a:r>
            <a:r>
              <a:rPr lang="en-GB" sz="2000" baseline="-25000" dirty="0"/>
              <a:t>2</a:t>
            </a:r>
            <a:r>
              <a:rPr lang="en-GB" sz="2000" dirty="0"/>
              <a:t>, 1 of H</a:t>
            </a:r>
            <a:r>
              <a:rPr lang="en-GB" sz="2000" baseline="-25000" dirty="0"/>
              <a:t>2</a:t>
            </a:r>
          </a:p>
        </p:txBody>
      </p:sp>
      <p:grpSp>
        <p:nvGrpSpPr>
          <p:cNvPr id="11" name="Group 10"/>
          <p:cNvGrpSpPr/>
          <p:nvPr/>
        </p:nvGrpSpPr>
        <p:grpSpPr>
          <a:xfrm>
            <a:off x="467544" y="6076475"/>
            <a:ext cx="8352928" cy="461665"/>
            <a:chOff x="467544" y="6076475"/>
            <a:chExt cx="8352928" cy="461665"/>
          </a:xfrm>
        </p:grpSpPr>
        <p:sp>
          <p:nvSpPr>
            <p:cNvPr id="8" name="TextBox 7"/>
            <p:cNvSpPr txBox="1"/>
            <p:nvPr/>
          </p:nvSpPr>
          <p:spPr>
            <a:xfrm>
              <a:off x="467544" y="6076475"/>
              <a:ext cx="8352928" cy="461665"/>
            </a:xfrm>
            <a:prstGeom prst="rect">
              <a:avLst/>
            </a:prstGeom>
            <a:solidFill>
              <a:srgbClr val="0070C0"/>
            </a:solidFill>
          </p:spPr>
          <p:txBody>
            <a:bodyPr wrap="square" rtlCol="0">
              <a:spAutoFit/>
            </a:bodyPr>
            <a:lstStyle/>
            <a:p>
              <a:pPr algn="ctr"/>
              <a:r>
                <a:rPr lang="en-GB" dirty="0"/>
                <a:t>Zn + 2HCl             ZnCl</a:t>
              </a:r>
              <a:r>
                <a:rPr lang="en-GB" baseline="-25000" dirty="0"/>
                <a:t>2</a:t>
              </a:r>
              <a:r>
                <a:rPr lang="en-GB" dirty="0"/>
                <a:t> + H</a:t>
              </a:r>
              <a:r>
                <a:rPr lang="en-GB" baseline="-25000" dirty="0"/>
                <a:t>2</a:t>
              </a:r>
            </a:p>
          </p:txBody>
        </p:sp>
        <p:cxnSp>
          <p:nvCxnSpPr>
            <p:cNvPr id="10" name="Straight Arrow Connector 9"/>
            <p:cNvCxnSpPr/>
            <p:nvPr/>
          </p:nvCxnSpPr>
          <p:spPr bwMode="auto">
            <a:xfrm>
              <a:off x="4139952" y="6307307"/>
              <a:ext cx="936104" cy="0"/>
            </a:xfrm>
            <a:prstGeom prst="straightConnector1">
              <a:avLst/>
            </a:prstGeom>
            <a:solidFill>
              <a:schemeClr val="accent1"/>
            </a:solidFill>
            <a:ln w="25400"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692598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theme/theme1.xml><?xml version="1.0" encoding="utf-8"?>
<a:theme xmlns:a="http://schemas.openxmlformats.org/drawingml/2006/main" name="Presentation1">
  <a:themeElements>
    <a:clrScheme name="Presentation1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Presentation1">
      <a:majorFont>
        <a:latin typeface="Comic Sans MS"/>
        <a:ea typeface="ＭＳ Ｐゴシック"/>
        <a:cs typeface=""/>
      </a:majorFont>
      <a:minorFont>
        <a:latin typeface="Comic Sans MS"/>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a:ln>
              <a:noFill/>
            </a:ln>
            <a:solidFill>
              <a:schemeClr val="bg1"/>
            </a:solidFill>
            <a:effectLst/>
            <a:latin typeface="Comic Sans MS" charset="0"/>
            <a:ea typeface="ＭＳ Ｐゴシック" charset="0"/>
          </a:defRPr>
        </a:defPPr>
      </a:lstStyle>
    </a:spDef>
    <a:lnDef>
      <a:spPr bwMode="auto">
        <a:solidFill>
          <a:schemeClr val="accent1"/>
        </a:solidFill>
        <a:ln w="25400" cap="flat" cmpd="sng" algn="ctr">
          <a:solidFill>
            <a:srgbClr val="47FFD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a:lstStyle/>
    </a:lnDef>
  </a:objectDefaults>
  <a:extraClrSchemeLst>
    <a:extraClrScheme>
      <a:clrScheme name="Presentation1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Presentation1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resentation1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resentation1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resentation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resentation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Presentation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C:\WINDOWS\Application Data\Microsoft\Templates\Presentation1.pot</Template>
  <TotalTime>13046</TotalTime>
  <Words>4803</Words>
  <Application>Microsoft Office PowerPoint</Application>
  <PresentationFormat>On-screen Show (4:3)</PresentationFormat>
  <Paragraphs>1120</Paragraphs>
  <Slides>72</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72</vt:i4>
      </vt:variant>
    </vt:vector>
  </HeadingPairs>
  <TitlesOfParts>
    <vt:vector size="80" baseType="lpstr">
      <vt:lpstr>ＭＳ Ｐゴシック</vt:lpstr>
      <vt:lpstr>ＭＳ Ｐゴシック</vt:lpstr>
      <vt:lpstr>Arial</vt:lpstr>
      <vt:lpstr>Arial Black</vt:lpstr>
      <vt:lpstr>Comic Sans MS</vt:lpstr>
      <vt:lpstr>Times New Roman</vt:lpstr>
      <vt:lpstr>Presentation1</vt:lpstr>
      <vt:lpstr>CorelDRAW 6.0</vt:lpstr>
      <vt:lpstr>PowerPoint Presentation</vt:lpstr>
      <vt:lpstr>Atomic Structure</vt:lpstr>
      <vt:lpstr>The structure of the atom</vt:lpstr>
      <vt:lpstr>The structure of the atom</vt:lpstr>
      <vt:lpstr>Mass and atomic number</vt:lpstr>
      <vt:lpstr>The structure of the atom in more detail</vt:lpstr>
      <vt:lpstr>Isotopes</vt:lpstr>
      <vt:lpstr>Strange atomic masses</vt:lpstr>
      <vt:lpstr>Periodic Table Introduction</vt:lpstr>
      <vt:lpstr>Periodic table</vt:lpstr>
      <vt:lpstr>Development of the Periodic Table</vt:lpstr>
      <vt:lpstr>The Periodic Table</vt:lpstr>
      <vt:lpstr>The Periodic Table</vt:lpstr>
      <vt:lpstr>Electron structure</vt:lpstr>
      <vt:lpstr>Electron structure</vt:lpstr>
      <vt:lpstr>The Periodic Table</vt:lpstr>
      <vt:lpstr>The Periodic Table</vt:lpstr>
      <vt:lpstr>Ionic Bonding</vt:lpstr>
      <vt:lpstr>Compounds</vt:lpstr>
      <vt:lpstr>Introduction to Bonding</vt:lpstr>
      <vt:lpstr>Ionic Bonding</vt:lpstr>
      <vt:lpstr>Ions</vt:lpstr>
      <vt:lpstr>Ionic bonding</vt:lpstr>
      <vt:lpstr>Mass and atomic number</vt:lpstr>
      <vt:lpstr>The Periodic Table</vt:lpstr>
      <vt:lpstr>Naming compounds</vt:lpstr>
      <vt:lpstr>Naming compounds</vt:lpstr>
      <vt:lpstr>Some examples of ionic bonds</vt:lpstr>
      <vt:lpstr>Balancing ions</vt:lpstr>
      <vt:lpstr>Giant Ionic Structures</vt:lpstr>
      <vt:lpstr>Covalent Bonding</vt:lpstr>
      <vt:lpstr>Introduction to Bonding Revision</vt:lpstr>
      <vt:lpstr>Covalent Bonding</vt:lpstr>
      <vt:lpstr>Covalent bonding</vt:lpstr>
      <vt:lpstr>Types of Substance</vt:lpstr>
      <vt:lpstr>Dot and Cross Diagrams for Covalent Molecules</vt:lpstr>
      <vt:lpstr>Dot and Cross Diagrams for Covalent Molecules</vt:lpstr>
      <vt:lpstr>Dot and cross diagrams</vt:lpstr>
      <vt:lpstr>Dot and cross diagrams</vt:lpstr>
      <vt:lpstr>Different forms of elements and compounds</vt:lpstr>
      <vt:lpstr>Giant Ionic Structures recap</vt:lpstr>
      <vt:lpstr>Dissolving Ionic Structures</vt:lpstr>
      <vt:lpstr>A closer look at metals</vt:lpstr>
      <vt:lpstr>Simple Covalent Molecules</vt:lpstr>
      <vt:lpstr>Giant Covalent structures (“lattices”)</vt:lpstr>
      <vt:lpstr>Using Covalent Structures</vt:lpstr>
      <vt:lpstr>Graphene</vt:lpstr>
      <vt:lpstr>Fullerenes</vt:lpstr>
      <vt:lpstr>Polymers</vt:lpstr>
      <vt:lpstr>Polymers</vt:lpstr>
      <vt:lpstr>Metals and Alloys</vt:lpstr>
      <vt:lpstr>Calculations involving Masses</vt:lpstr>
      <vt:lpstr>Other ways of drawing covalent bonds</vt:lpstr>
      <vt:lpstr>Metals vs Non-metals</vt:lpstr>
      <vt:lpstr>Relative formula mass, Mr</vt:lpstr>
      <vt:lpstr>Empirical formulae</vt:lpstr>
      <vt:lpstr>Example questions</vt:lpstr>
      <vt:lpstr>Determining Empirical Formulae</vt:lpstr>
      <vt:lpstr>An example of Conservation of Mass</vt:lpstr>
      <vt:lpstr>Example Questions</vt:lpstr>
      <vt:lpstr>Calculating the mass of a product</vt:lpstr>
      <vt:lpstr>PowerPoint Presentation</vt:lpstr>
      <vt:lpstr>A note about volume…</vt:lpstr>
      <vt:lpstr>A “Mole” in numbers (higher only)</vt:lpstr>
      <vt:lpstr>A “Mole” (higher only)</vt:lpstr>
      <vt:lpstr>Molar Calculations (higher only)</vt:lpstr>
      <vt:lpstr>Harder Molar Calculations (HT only)</vt:lpstr>
      <vt:lpstr>Concentration</vt:lpstr>
      <vt:lpstr>Questions on Concentration</vt:lpstr>
      <vt:lpstr>Calculating the mass of a product using moles (higher only)</vt:lpstr>
      <vt:lpstr>Limiting Reactants (higher only)</vt:lpstr>
      <vt:lpstr>Using Moles to balance equations higher only)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Structures and Bonding</dc:title>
  <dc:creator>W Richards</dc:creator>
  <cp:lastModifiedBy>Will Richards</cp:lastModifiedBy>
  <cp:revision>332</cp:revision>
  <cp:lastPrinted>2002-11-22T11:05:55Z</cp:lastPrinted>
  <dcterms:created xsi:type="dcterms:W3CDTF">2002-11-18T19:29:53Z</dcterms:created>
  <dcterms:modified xsi:type="dcterms:W3CDTF">2020-06-02T13:02:48Z</dcterms:modified>
</cp:coreProperties>
</file>